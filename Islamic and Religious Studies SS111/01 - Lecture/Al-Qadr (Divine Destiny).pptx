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8" r:id="rId1"/>
  </p:sldMasterIdLst>
  <p:sldIdLst>
    <p:sldId id="256" r:id="rId2"/>
    <p:sldId id="257" r:id="rId3"/>
    <p:sldId id="258" r:id="rId4"/>
    <p:sldId id="259" r:id="rId5"/>
    <p:sldId id="260" r:id="rId6"/>
    <p:sldId id="261" r:id="rId7"/>
    <p:sldId id="262" r:id="rId8"/>
    <p:sldId id="263" r:id="rId9"/>
    <p:sldId id="268" r:id="rId10"/>
    <p:sldId id="269" r:id="rId11"/>
    <p:sldId id="264" r:id="rId12"/>
    <p:sldId id="265"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386"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D7004EAA-77AC-419C-BEC2-01D5578E82C8}" type="datetimeFigureOut">
              <a:rPr lang="en-GB" smtClean="0"/>
              <a:t>19/09/2015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3D78914-9144-4CD3-8E99-81DF44461EB7}" type="slidenum">
              <a:rPr lang="en-GB" smtClean="0"/>
              <a:t>‹#›</a:t>
            </a:fld>
            <a:endParaRPr lang="en-GB"/>
          </a:p>
        </p:txBody>
      </p:sp>
    </p:spTree>
    <p:extLst>
      <p:ext uri="{BB962C8B-B14F-4D97-AF65-F5344CB8AC3E}">
        <p14:creationId xmlns:p14="http://schemas.microsoft.com/office/powerpoint/2010/main" val="3492229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D7004EAA-77AC-419C-BEC2-01D5578E82C8}" type="datetimeFigureOut">
              <a:rPr lang="en-GB" smtClean="0"/>
              <a:t>19/09/2015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3D78914-9144-4CD3-8E99-81DF44461EB7}" type="slidenum">
              <a:rPr lang="en-GB" smtClean="0"/>
              <a:t>‹#›</a:t>
            </a:fld>
            <a:endParaRPr lang="en-GB"/>
          </a:p>
        </p:txBody>
      </p:sp>
    </p:spTree>
    <p:extLst>
      <p:ext uri="{BB962C8B-B14F-4D97-AF65-F5344CB8AC3E}">
        <p14:creationId xmlns:p14="http://schemas.microsoft.com/office/powerpoint/2010/main" val="33972871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7004EAA-77AC-419C-BEC2-01D5578E82C8}" type="datetimeFigureOut">
              <a:rPr lang="en-GB" smtClean="0"/>
              <a:t>19/09/2015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3D78914-9144-4CD3-8E99-81DF44461EB7}" type="slidenum">
              <a:rPr lang="en-GB" smtClean="0"/>
              <a:t>‹#›</a:t>
            </a:fld>
            <a:endParaRPr lang="en-GB"/>
          </a:p>
        </p:txBody>
      </p:sp>
    </p:spTree>
    <p:extLst>
      <p:ext uri="{BB962C8B-B14F-4D97-AF65-F5344CB8AC3E}">
        <p14:creationId xmlns:p14="http://schemas.microsoft.com/office/powerpoint/2010/main" val="24672696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D7004EAA-77AC-419C-BEC2-01D5578E82C8}" type="datetimeFigureOut">
              <a:rPr lang="en-GB" smtClean="0"/>
              <a:t>19/09/2015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3D78914-9144-4CD3-8E99-81DF44461EB7}" type="slidenum">
              <a:rPr lang="en-GB" smtClean="0"/>
              <a:t>‹#›</a:t>
            </a:fld>
            <a:endParaRPr lang="en-GB"/>
          </a:p>
        </p:txBody>
      </p:sp>
    </p:spTree>
    <p:extLst>
      <p:ext uri="{BB962C8B-B14F-4D97-AF65-F5344CB8AC3E}">
        <p14:creationId xmlns:p14="http://schemas.microsoft.com/office/powerpoint/2010/main" val="9004805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D7004EAA-77AC-419C-BEC2-01D5578E82C8}" type="datetimeFigureOut">
              <a:rPr lang="en-GB" smtClean="0"/>
              <a:t>19/09/2015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23D78914-9144-4CD3-8E99-81DF44461EB7}" type="slidenum">
              <a:rPr lang="en-GB" smtClean="0"/>
              <a:t>‹#›</a:t>
            </a:fld>
            <a:endParaRPr lang="en-GB"/>
          </a:p>
        </p:txBody>
      </p:sp>
    </p:spTree>
    <p:extLst>
      <p:ext uri="{BB962C8B-B14F-4D97-AF65-F5344CB8AC3E}">
        <p14:creationId xmlns:p14="http://schemas.microsoft.com/office/powerpoint/2010/main" val="7590995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D7004EAA-77AC-419C-BEC2-01D5578E82C8}" type="datetimeFigureOut">
              <a:rPr lang="en-GB" smtClean="0"/>
              <a:t>19/09/2015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23D78914-9144-4CD3-8E99-81DF44461EB7}" type="slidenum">
              <a:rPr lang="en-GB" smtClean="0"/>
              <a:t>‹#›</a:t>
            </a:fld>
            <a:endParaRPr lang="en-GB"/>
          </a:p>
        </p:txBody>
      </p:sp>
    </p:spTree>
    <p:extLst>
      <p:ext uri="{BB962C8B-B14F-4D97-AF65-F5344CB8AC3E}">
        <p14:creationId xmlns:p14="http://schemas.microsoft.com/office/powerpoint/2010/main" val="18111566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7004EAA-77AC-419C-BEC2-01D5578E82C8}" type="datetimeFigureOut">
              <a:rPr lang="en-GB" smtClean="0"/>
              <a:t>19/09/2015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23D78914-9144-4CD3-8E99-81DF44461EB7}" type="slidenum">
              <a:rPr lang="en-GB" smtClean="0"/>
              <a:t>‹#›</a:t>
            </a:fld>
            <a:endParaRPr lang="en-GB"/>
          </a:p>
        </p:txBody>
      </p:sp>
    </p:spTree>
    <p:extLst>
      <p:ext uri="{BB962C8B-B14F-4D97-AF65-F5344CB8AC3E}">
        <p14:creationId xmlns:p14="http://schemas.microsoft.com/office/powerpoint/2010/main" val="42374786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7004EAA-77AC-419C-BEC2-01D5578E82C8}" type="datetimeFigureOut">
              <a:rPr lang="en-GB" smtClean="0"/>
              <a:t>19/09/2015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3D78914-9144-4CD3-8E99-81DF44461EB7}" type="slidenum">
              <a:rPr lang="en-GB" smtClean="0"/>
              <a:t>‹#›</a:t>
            </a:fld>
            <a:endParaRPr lang="en-GB"/>
          </a:p>
        </p:txBody>
      </p:sp>
    </p:spTree>
    <p:extLst>
      <p:ext uri="{BB962C8B-B14F-4D97-AF65-F5344CB8AC3E}">
        <p14:creationId xmlns:p14="http://schemas.microsoft.com/office/powerpoint/2010/main" val="6656037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7004EAA-77AC-419C-BEC2-01D5578E82C8}" type="datetimeFigureOut">
              <a:rPr lang="en-GB" smtClean="0"/>
              <a:t>19/09/2015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3D78914-9144-4CD3-8E99-81DF44461EB7}" type="slidenum">
              <a:rPr lang="en-GB" smtClean="0"/>
              <a:t>‹#›</a:t>
            </a:fld>
            <a:endParaRPr lang="en-GB"/>
          </a:p>
        </p:txBody>
      </p:sp>
    </p:spTree>
    <p:extLst>
      <p:ext uri="{BB962C8B-B14F-4D97-AF65-F5344CB8AC3E}">
        <p14:creationId xmlns:p14="http://schemas.microsoft.com/office/powerpoint/2010/main" val="16262944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D7004EAA-77AC-419C-BEC2-01D5578E82C8}" type="datetimeFigureOut">
              <a:rPr lang="en-GB" smtClean="0"/>
              <a:t>19/09/2015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3D78914-9144-4CD3-8E99-81DF44461EB7}" type="slidenum">
              <a:rPr lang="en-GB" smtClean="0"/>
              <a:t>‹#›</a:t>
            </a:fld>
            <a:endParaRPr lang="en-GB"/>
          </a:p>
        </p:txBody>
      </p:sp>
    </p:spTree>
    <p:extLst>
      <p:ext uri="{BB962C8B-B14F-4D97-AF65-F5344CB8AC3E}">
        <p14:creationId xmlns:p14="http://schemas.microsoft.com/office/powerpoint/2010/main" val="41230975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D7004EAA-77AC-419C-BEC2-01D5578E82C8}" type="datetimeFigureOut">
              <a:rPr lang="en-GB" smtClean="0"/>
              <a:t>19/09/2015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3D78914-9144-4CD3-8E99-81DF44461EB7}" type="slidenum">
              <a:rPr lang="en-GB" smtClean="0"/>
              <a:t>‹#›</a:t>
            </a:fld>
            <a:endParaRPr lang="en-GB"/>
          </a:p>
        </p:txBody>
      </p:sp>
    </p:spTree>
    <p:extLst>
      <p:ext uri="{BB962C8B-B14F-4D97-AF65-F5344CB8AC3E}">
        <p14:creationId xmlns:p14="http://schemas.microsoft.com/office/powerpoint/2010/main" val="29321473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7004EAA-77AC-419C-BEC2-01D5578E82C8}" type="datetimeFigureOut">
              <a:rPr lang="en-GB" smtClean="0"/>
              <a:t>19/09/2015</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3D78914-9144-4CD3-8E99-81DF44461EB7}" type="slidenum">
              <a:rPr lang="en-GB" smtClean="0"/>
              <a:t>‹#›</a:t>
            </a:fld>
            <a:endParaRPr lang="en-GB"/>
          </a:p>
        </p:txBody>
      </p:sp>
    </p:spTree>
    <p:extLst>
      <p:ext uri="{BB962C8B-B14F-4D97-AF65-F5344CB8AC3E}">
        <p14:creationId xmlns:p14="http://schemas.microsoft.com/office/powerpoint/2010/main" val="672881984"/>
      </p:ext>
    </p:extLst>
  </p:cSld>
  <p:clrMap bg1="dk1" tx1="lt1" bg2="dk2" tx2="lt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b="1" dirty="0" smtClean="0"/>
              <a:t>Al-</a:t>
            </a:r>
            <a:r>
              <a:rPr lang="en-US" b="1" dirty="0" err="1" smtClean="0"/>
              <a:t>Qadr</a:t>
            </a:r>
            <a:r>
              <a:rPr lang="en-US" dirty="0" smtClean="0"/>
              <a:t>  (</a:t>
            </a:r>
            <a:r>
              <a:rPr lang="en-GB" dirty="0"/>
              <a:t>Divine Destiny</a:t>
            </a:r>
            <a:r>
              <a:rPr lang="en-US" dirty="0" smtClean="0"/>
              <a:t>)</a:t>
            </a:r>
            <a:endParaRPr lang="en-GB" dirty="0"/>
          </a:p>
        </p:txBody>
      </p:sp>
      <p:sp>
        <p:nvSpPr>
          <p:cNvPr id="3" name="Subtitle 2"/>
          <p:cNvSpPr>
            <a:spLocks noGrp="1"/>
          </p:cNvSpPr>
          <p:nvPr>
            <p:ph type="subTitle" idx="1"/>
          </p:nvPr>
        </p:nvSpPr>
        <p:spPr/>
        <p:txBody>
          <a:bodyPr/>
          <a:lstStyle/>
          <a:p>
            <a:endParaRPr lang="en-GB"/>
          </a:p>
        </p:txBody>
      </p:sp>
    </p:spTree>
    <p:extLst>
      <p:ext uri="{BB962C8B-B14F-4D97-AF65-F5344CB8AC3E}">
        <p14:creationId xmlns:p14="http://schemas.microsoft.com/office/powerpoint/2010/main" val="8716181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English Synonyms of Al-</a:t>
            </a:r>
            <a:r>
              <a:rPr lang="en-US" dirty="0" err="1" smtClean="0"/>
              <a:t>Qadr</a:t>
            </a:r>
            <a:endParaRPr lang="en-GB" dirty="0"/>
          </a:p>
        </p:txBody>
      </p:sp>
      <p:sp>
        <p:nvSpPr>
          <p:cNvPr id="3" name="Content Placeholder 2"/>
          <p:cNvSpPr>
            <a:spLocks noGrp="1"/>
          </p:cNvSpPr>
          <p:nvPr>
            <p:ph idx="1"/>
          </p:nvPr>
        </p:nvSpPr>
        <p:spPr/>
        <p:txBody>
          <a:bodyPr/>
          <a:lstStyle/>
          <a:p>
            <a:r>
              <a:rPr lang="en-US" dirty="0" smtClean="0"/>
              <a:t>Fate</a:t>
            </a:r>
          </a:p>
          <a:p>
            <a:r>
              <a:rPr lang="en-US" dirty="0" smtClean="0"/>
              <a:t>Destiny</a:t>
            </a:r>
          </a:p>
          <a:p>
            <a:r>
              <a:rPr lang="en-US" dirty="0" smtClean="0"/>
              <a:t>Pre-Destination</a:t>
            </a:r>
          </a:p>
          <a:p>
            <a:r>
              <a:rPr lang="en-US" dirty="0" smtClean="0"/>
              <a:t>Doom</a:t>
            </a:r>
          </a:p>
          <a:p>
            <a:r>
              <a:rPr lang="en-US" dirty="0" smtClean="0"/>
              <a:t>Decree</a:t>
            </a:r>
          </a:p>
          <a:p>
            <a:endParaRPr lang="en-US" dirty="0" smtClean="0"/>
          </a:p>
          <a:p>
            <a:endParaRPr lang="en-GB" dirty="0"/>
          </a:p>
        </p:txBody>
      </p:sp>
    </p:spTree>
    <p:extLst>
      <p:ext uri="{BB962C8B-B14F-4D97-AF65-F5344CB8AC3E}">
        <p14:creationId xmlns:p14="http://schemas.microsoft.com/office/powerpoint/2010/main" val="364843772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Al-</a:t>
            </a:r>
            <a:r>
              <a:rPr lang="en-US" dirty="0" err="1" smtClean="0"/>
              <a:t>Qadr</a:t>
            </a:r>
            <a:r>
              <a:rPr lang="en-US" dirty="0" smtClean="0"/>
              <a:t> vs. Al-</a:t>
            </a:r>
            <a:r>
              <a:rPr lang="en-US" dirty="0" err="1" smtClean="0"/>
              <a:t>Qada</a:t>
            </a:r>
            <a:endParaRPr lang="en-GB" dirty="0"/>
          </a:p>
        </p:txBody>
      </p:sp>
      <p:sp>
        <p:nvSpPr>
          <p:cNvPr id="3" name="Content Placeholder 2"/>
          <p:cNvSpPr>
            <a:spLocks noGrp="1"/>
          </p:cNvSpPr>
          <p:nvPr>
            <p:ph idx="1"/>
          </p:nvPr>
        </p:nvSpPr>
        <p:spPr/>
        <p:txBody>
          <a:bodyPr>
            <a:normAutofit fontScale="92500" lnSpcReduction="20000"/>
          </a:bodyPr>
          <a:lstStyle/>
          <a:p>
            <a:r>
              <a:rPr lang="en-GB" dirty="0" smtClean="0"/>
              <a:t>Faith in Al-</a:t>
            </a:r>
            <a:r>
              <a:rPr lang="en-GB" dirty="0" err="1" smtClean="0"/>
              <a:t>Qadr</a:t>
            </a:r>
            <a:r>
              <a:rPr lang="en-GB" dirty="0" smtClean="0"/>
              <a:t> is one </a:t>
            </a:r>
            <a:r>
              <a:rPr lang="en-GB" dirty="0"/>
              <a:t>of the six articles of </a:t>
            </a:r>
            <a:r>
              <a:rPr lang="en-GB" dirty="0" smtClean="0"/>
              <a:t>faith.</a:t>
            </a:r>
          </a:p>
          <a:p>
            <a:endParaRPr lang="en-GB" dirty="0" smtClean="0"/>
          </a:p>
          <a:p>
            <a:r>
              <a:rPr lang="en-GB" dirty="0" smtClean="0"/>
              <a:t>This </a:t>
            </a:r>
            <a:r>
              <a:rPr lang="en-GB" dirty="0"/>
              <a:t>concept has also been mentioned in the Quran as </a:t>
            </a:r>
            <a:r>
              <a:rPr lang="en-GB" dirty="0" smtClean="0"/>
              <a:t>     </a:t>
            </a:r>
            <a:r>
              <a:rPr lang="en-GB" b="1" dirty="0" smtClean="0"/>
              <a:t>" </a:t>
            </a:r>
            <a:r>
              <a:rPr lang="en-GB" b="1" dirty="0"/>
              <a:t>Allah's Decree</a:t>
            </a:r>
            <a:r>
              <a:rPr lang="en-GB" b="1" dirty="0" smtClean="0"/>
              <a:t>".</a:t>
            </a:r>
          </a:p>
          <a:p>
            <a:endParaRPr lang="en-GB" b="1" dirty="0" smtClean="0"/>
          </a:p>
          <a:p>
            <a:r>
              <a:rPr lang="en-US" b="1" dirty="0" smtClean="0"/>
              <a:t>Al-</a:t>
            </a:r>
            <a:r>
              <a:rPr lang="en-US" b="1" dirty="0" err="1" smtClean="0"/>
              <a:t>Qada</a:t>
            </a:r>
            <a:r>
              <a:rPr lang="en-US" b="1" dirty="0" smtClean="0"/>
              <a:t> </a:t>
            </a:r>
            <a:r>
              <a:rPr lang="en-US" dirty="0" smtClean="0"/>
              <a:t>denotes a general decree of Allah, as every living being shall die, whereas, </a:t>
            </a:r>
            <a:r>
              <a:rPr lang="en-US" b="1" dirty="0" smtClean="0"/>
              <a:t>Al-</a:t>
            </a:r>
            <a:r>
              <a:rPr lang="en-US" b="1" dirty="0" err="1" smtClean="0"/>
              <a:t>Qadr</a:t>
            </a:r>
            <a:r>
              <a:rPr lang="en-US" dirty="0" smtClean="0"/>
              <a:t> signifies a particular decree of Allah or the execution of Al-</a:t>
            </a:r>
            <a:r>
              <a:rPr lang="en-US" dirty="0" err="1" smtClean="0"/>
              <a:t>Qada</a:t>
            </a:r>
            <a:r>
              <a:rPr lang="en-US" dirty="0" smtClean="0"/>
              <a:t> that certain person shall die at a particular time and in a particular way</a:t>
            </a:r>
            <a:endParaRPr lang="en-GB" dirty="0"/>
          </a:p>
        </p:txBody>
      </p:sp>
    </p:spTree>
    <p:extLst>
      <p:ext uri="{BB962C8B-B14F-4D97-AF65-F5344CB8AC3E}">
        <p14:creationId xmlns:p14="http://schemas.microsoft.com/office/powerpoint/2010/main" val="39745857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Free will vs. Predestination</a:t>
            </a:r>
            <a:endParaRPr lang="en-GB" dirty="0"/>
          </a:p>
        </p:txBody>
      </p:sp>
      <p:sp>
        <p:nvSpPr>
          <p:cNvPr id="3" name="Content Placeholder 2"/>
          <p:cNvSpPr>
            <a:spLocks noGrp="1"/>
          </p:cNvSpPr>
          <p:nvPr>
            <p:ph idx="1"/>
          </p:nvPr>
        </p:nvSpPr>
        <p:spPr/>
        <p:txBody>
          <a:bodyPr/>
          <a:lstStyle/>
          <a:p>
            <a:r>
              <a:rPr lang="en-US" dirty="0" smtClean="0"/>
              <a:t>The issue that </a:t>
            </a:r>
            <a:r>
              <a:rPr lang="en-US" b="1" dirty="0" smtClean="0"/>
              <a:t>Has man free will or everything is predestined</a:t>
            </a:r>
            <a:r>
              <a:rPr lang="en-US" dirty="0" smtClean="0"/>
              <a:t> is very ancient. </a:t>
            </a:r>
            <a:r>
              <a:rPr lang="en-US" dirty="0"/>
              <a:t>Mankind from very beginning of the world </a:t>
            </a:r>
            <a:r>
              <a:rPr lang="en-US" dirty="0" smtClean="0"/>
              <a:t>was different in this regard.</a:t>
            </a:r>
          </a:p>
          <a:p>
            <a:endParaRPr lang="en-US" dirty="0"/>
          </a:p>
          <a:p>
            <a:r>
              <a:rPr lang="en-US" dirty="0" smtClean="0"/>
              <a:t>Some people were in the </a:t>
            </a:r>
            <a:r>
              <a:rPr lang="en-US" dirty="0" err="1" smtClean="0"/>
              <a:t>favour</a:t>
            </a:r>
            <a:r>
              <a:rPr lang="en-US" dirty="0" smtClean="0"/>
              <a:t> of human free will ,while others had faith in predestination</a:t>
            </a:r>
          </a:p>
          <a:p>
            <a:endParaRPr lang="en-GB" dirty="0"/>
          </a:p>
        </p:txBody>
      </p:sp>
    </p:spTree>
    <p:extLst>
      <p:ext uri="{BB962C8B-B14F-4D97-AF65-F5344CB8AC3E}">
        <p14:creationId xmlns:p14="http://schemas.microsoft.com/office/powerpoint/2010/main" val="374628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Theory of Fatalism</a:t>
            </a:r>
            <a:endParaRPr lang="en-GB" dirty="0"/>
          </a:p>
        </p:txBody>
      </p:sp>
      <p:sp>
        <p:nvSpPr>
          <p:cNvPr id="3" name="Content Placeholder 2"/>
          <p:cNvSpPr>
            <a:spLocks noGrp="1"/>
          </p:cNvSpPr>
          <p:nvPr>
            <p:ph idx="1"/>
          </p:nvPr>
        </p:nvSpPr>
        <p:spPr/>
        <p:txBody>
          <a:bodyPr>
            <a:normAutofit lnSpcReduction="10000"/>
          </a:bodyPr>
          <a:lstStyle/>
          <a:p>
            <a:r>
              <a:rPr lang="en-US" dirty="0" smtClean="0"/>
              <a:t>Fatalism/ predestination/ determinism/lack of freedom is the belief </a:t>
            </a:r>
            <a:r>
              <a:rPr lang="en-GB" dirty="0" smtClean="0"/>
              <a:t>that the human will is </a:t>
            </a:r>
            <a:r>
              <a:rPr lang="en-GB" b="1" dirty="0" smtClean="0"/>
              <a:t>dependent</a:t>
            </a:r>
            <a:r>
              <a:rPr lang="en-GB" dirty="0" smtClean="0"/>
              <a:t>, conditioned, un-free. Thus events are </a:t>
            </a:r>
            <a:r>
              <a:rPr lang="en-GB" b="1" dirty="0" smtClean="0"/>
              <a:t>decided by fate </a:t>
            </a:r>
            <a:r>
              <a:rPr lang="en-GB" dirty="0" smtClean="0"/>
              <a:t>and man cannot control them. So he is </a:t>
            </a:r>
            <a:r>
              <a:rPr lang="en-GB" b="1" dirty="0" smtClean="0"/>
              <a:t>bound to think and act</a:t>
            </a:r>
            <a:r>
              <a:rPr lang="en-GB" dirty="0" smtClean="0"/>
              <a:t> according to his fate</a:t>
            </a:r>
          </a:p>
          <a:p>
            <a:r>
              <a:rPr lang="en-US" dirty="0" smtClean="0"/>
              <a:t>Example of </a:t>
            </a:r>
            <a:r>
              <a:rPr lang="en-US" b="1" dirty="0" smtClean="0"/>
              <a:t>football</a:t>
            </a:r>
            <a:r>
              <a:rPr lang="en-US" dirty="0" smtClean="0"/>
              <a:t> in the control of a football player and the </a:t>
            </a:r>
            <a:r>
              <a:rPr lang="en-US" b="1" dirty="0" smtClean="0"/>
              <a:t>puppet </a:t>
            </a:r>
            <a:r>
              <a:rPr lang="en-US" dirty="0" smtClean="0"/>
              <a:t>in the control of a puppet master</a:t>
            </a:r>
            <a:endParaRPr lang="en-GB" dirty="0"/>
          </a:p>
        </p:txBody>
      </p:sp>
    </p:spTree>
    <p:extLst>
      <p:ext uri="{BB962C8B-B14F-4D97-AF65-F5344CB8AC3E}">
        <p14:creationId xmlns:p14="http://schemas.microsoft.com/office/powerpoint/2010/main" val="59490039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Theory of Free-Will</a:t>
            </a:r>
            <a:endParaRPr lang="en-GB" dirty="0"/>
          </a:p>
        </p:txBody>
      </p:sp>
      <p:sp>
        <p:nvSpPr>
          <p:cNvPr id="3" name="Content Placeholder 2"/>
          <p:cNvSpPr>
            <a:spLocks noGrp="1"/>
          </p:cNvSpPr>
          <p:nvPr>
            <p:ph idx="1"/>
          </p:nvPr>
        </p:nvSpPr>
        <p:spPr/>
        <p:txBody>
          <a:bodyPr/>
          <a:lstStyle/>
          <a:p>
            <a:r>
              <a:rPr lang="en-US" dirty="0" smtClean="0"/>
              <a:t>Free-Will / </a:t>
            </a:r>
            <a:r>
              <a:rPr lang="en-GB" dirty="0" smtClean="0"/>
              <a:t>indeterminism is the belief that the human will is </a:t>
            </a:r>
            <a:r>
              <a:rPr lang="en-GB" b="1" dirty="0" smtClean="0"/>
              <a:t>independent</a:t>
            </a:r>
            <a:r>
              <a:rPr lang="en-GB" dirty="0" smtClean="0"/>
              <a:t>, unconditioned and free to act. Thus events are </a:t>
            </a:r>
            <a:r>
              <a:rPr lang="en-GB" b="1" dirty="0" smtClean="0"/>
              <a:t>designed and controlled by human free will </a:t>
            </a:r>
            <a:r>
              <a:rPr lang="en-GB" dirty="0" smtClean="0"/>
              <a:t>and are totally in human control. </a:t>
            </a:r>
            <a:endParaRPr lang="en-GB" dirty="0"/>
          </a:p>
        </p:txBody>
      </p:sp>
    </p:spTree>
    <p:extLst>
      <p:ext uri="{BB962C8B-B14F-4D97-AF65-F5344CB8AC3E}">
        <p14:creationId xmlns:p14="http://schemas.microsoft.com/office/powerpoint/2010/main" val="171787030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J</a:t>
            </a:r>
            <a:r>
              <a:rPr lang="en-US" dirty="0" err="1" smtClean="0"/>
              <a:t>abrites</a:t>
            </a:r>
            <a:r>
              <a:rPr lang="en-US" dirty="0" smtClean="0"/>
              <a:t> vs. </a:t>
            </a:r>
            <a:r>
              <a:rPr lang="en-US" dirty="0" err="1" smtClean="0"/>
              <a:t>Qadrites</a:t>
            </a:r>
            <a:endParaRPr lang="en-GB" dirty="0"/>
          </a:p>
        </p:txBody>
      </p:sp>
      <p:sp>
        <p:nvSpPr>
          <p:cNvPr id="3" name="Content Placeholder 2"/>
          <p:cNvSpPr>
            <a:spLocks noGrp="1"/>
          </p:cNvSpPr>
          <p:nvPr>
            <p:ph idx="1"/>
          </p:nvPr>
        </p:nvSpPr>
        <p:spPr/>
        <p:txBody>
          <a:bodyPr>
            <a:normAutofit fontScale="92500" lnSpcReduction="20000"/>
          </a:bodyPr>
          <a:lstStyle/>
          <a:p>
            <a:r>
              <a:rPr lang="en-US" dirty="0" smtClean="0"/>
              <a:t>In past Muslim history tells us about two Muslim groups which were extremist about fate.</a:t>
            </a:r>
          </a:p>
          <a:p>
            <a:endParaRPr lang="en-US" dirty="0" smtClean="0"/>
          </a:p>
          <a:p>
            <a:r>
              <a:rPr lang="en-US" b="1" dirty="0" smtClean="0"/>
              <a:t>(1) </a:t>
            </a:r>
            <a:r>
              <a:rPr lang="en-US" b="1" dirty="0" err="1" smtClean="0"/>
              <a:t>Jabrites</a:t>
            </a:r>
            <a:r>
              <a:rPr lang="en-US" b="1" dirty="0" smtClean="0"/>
              <a:t> </a:t>
            </a:r>
            <a:r>
              <a:rPr lang="en-US" i="1" dirty="0" smtClean="0"/>
              <a:t>(</a:t>
            </a:r>
            <a:r>
              <a:rPr lang="en-US" i="1" dirty="0" err="1" smtClean="0"/>
              <a:t>Jabriyyah</a:t>
            </a:r>
            <a:r>
              <a:rPr lang="en-US" i="1" dirty="0" smtClean="0"/>
              <a:t>) </a:t>
            </a:r>
            <a:r>
              <a:rPr lang="en-US" dirty="0" smtClean="0"/>
              <a:t>were </a:t>
            </a:r>
            <a:r>
              <a:rPr lang="en-GB" dirty="0"/>
              <a:t>of the opinion that </a:t>
            </a:r>
            <a:r>
              <a:rPr lang="en-GB" dirty="0" smtClean="0"/>
              <a:t>humans have </a:t>
            </a:r>
            <a:r>
              <a:rPr lang="en-GB" dirty="0"/>
              <a:t>no control over their actions and everything is dictated by </a:t>
            </a:r>
            <a:r>
              <a:rPr lang="en-GB" dirty="0" smtClean="0"/>
              <a:t>Allah</a:t>
            </a:r>
          </a:p>
          <a:p>
            <a:pPr marL="0" indent="0">
              <a:buNone/>
            </a:pPr>
            <a:endParaRPr lang="en-GB" dirty="0" smtClean="0"/>
          </a:p>
          <a:p>
            <a:r>
              <a:rPr lang="en-US" b="1" dirty="0" smtClean="0"/>
              <a:t>(2) </a:t>
            </a:r>
            <a:r>
              <a:rPr lang="en-US" b="1" dirty="0" err="1"/>
              <a:t>Qadrites</a:t>
            </a:r>
            <a:r>
              <a:rPr lang="en-US" b="1" dirty="0"/>
              <a:t> </a:t>
            </a:r>
            <a:r>
              <a:rPr lang="en-US" i="1" dirty="0" smtClean="0"/>
              <a:t>(</a:t>
            </a:r>
            <a:r>
              <a:rPr lang="en-US" i="1" dirty="0" err="1" smtClean="0"/>
              <a:t>Qadriyyah</a:t>
            </a:r>
            <a:r>
              <a:rPr lang="en-US" i="1" dirty="0" smtClean="0"/>
              <a:t>) </a:t>
            </a:r>
            <a:r>
              <a:rPr lang="en-GB" dirty="0" smtClean="0"/>
              <a:t>had the </a:t>
            </a:r>
            <a:r>
              <a:rPr lang="en-GB" dirty="0"/>
              <a:t>opinion </a:t>
            </a:r>
            <a:r>
              <a:rPr lang="en-GB" dirty="0" smtClean="0"/>
              <a:t>that </a:t>
            </a:r>
            <a:r>
              <a:rPr lang="en-GB" dirty="0"/>
              <a:t>humans </a:t>
            </a:r>
            <a:r>
              <a:rPr lang="en-GB" dirty="0" smtClean="0"/>
              <a:t>have complete </a:t>
            </a:r>
            <a:r>
              <a:rPr lang="en-GB" dirty="0"/>
              <a:t>control over their destiny, to the extent that Allah does not even know what </a:t>
            </a:r>
            <a:r>
              <a:rPr lang="en-GB" dirty="0" smtClean="0"/>
              <a:t>they </a:t>
            </a:r>
            <a:r>
              <a:rPr lang="en-GB" dirty="0"/>
              <a:t>will choose to do. </a:t>
            </a:r>
          </a:p>
        </p:txBody>
      </p:sp>
    </p:spTree>
    <p:extLst>
      <p:ext uri="{BB962C8B-B14F-4D97-AF65-F5344CB8AC3E}">
        <p14:creationId xmlns:p14="http://schemas.microsoft.com/office/powerpoint/2010/main" val="237829576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Sunni View of Al-</a:t>
            </a:r>
            <a:r>
              <a:rPr lang="en-US" dirty="0" err="1" smtClean="0"/>
              <a:t>Qadr</a:t>
            </a:r>
            <a:endParaRPr lang="en-GB" dirty="0"/>
          </a:p>
        </p:txBody>
      </p:sp>
      <p:sp>
        <p:nvSpPr>
          <p:cNvPr id="3" name="Content Placeholder 2"/>
          <p:cNvSpPr>
            <a:spLocks noGrp="1"/>
          </p:cNvSpPr>
          <p:nvPr>
            <p:ph idx="1"/>
          </p:nvPr>
        </p:nvSpPr>
        <p:spPr/>
        <p:txBody>
          <a:bodyPr/>
          <a:lstStyle/>
          <a:p>
            <a:r>
              <a:rPr lang="en-GB" dirty="0"/>
              <a:t>The Sunni view is in </a:t>
            </a:r>
            <a:r>
              <a:rPr lang="en-GB" dirty="0" smtClean="0"/>
              <a:t>between </a:t>
            </a:r>
            <a:r>
              <a:rPr lang="en-GB" dirty="0"/>
              <a:t>these two </a:t>
            </a:r>
            <a:r>
              <a:rPr lang="en-GB" dirty="0" smtClean="0"/>
              <a:t>extreme views</a:t>
            </a:r>
            <a:r>
              <a:rPr lang="en-GB" dirty="0"/>
              <a:t>, where they believe that Allah has knowledge of everything that will be, but that humans have freedom of choice</a:t>
            </a:r>
            <a:r>
              <a:rPr lang="en-GB" dirty="0" smtClean="0"/>
              <a:t>. Some of their actions are predetermined by the Allah.</a:t>
            </a:r>
            <a:endParaRPr lang="en-GB" dirty="0"/>
          </a:p>
        </p:txBody>
      </p:sp>
    </p:spTree>
    <p:extLst>
      <p:ext uri="{BB962C8B-B14F-4D97-AF65-F5344CB8AC3E}">
        <p14:creationId xmlns:p14="http://schemas.microsoft.com/office/powerpoint/2010/main" val="34473870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Four Important Points</a:t>
            </a:r>
            <a:endParaRPr lang="en-GB" dirty="0"/>
          </a:p>
        </p:txBody>
      </p:sp>
      <p:sp>
        <p:nvSpPr>
          <p:cNvPr id="3" name="Content Placeholder 2"/>
          <p:cNvSpPr>
            <a:spLocks noGrp="1"/>
          </p:cNvSpPr>
          <p:nvPr>
            <p:ph idx="1"/>
          </p:nvPr>
        </p:nvSpPr>
        <p:spPr/>
        <p:txBody>
          <a:bodyPr>
            <a:normAutofit fontScale="70000" lnSpcReduction="20000"/>
          </a:bodyPr>
          <a:lstStyle/>
          <a:p>
            <a:r>
              <a:rPr lang="ar-SA" b="1" dirty="0"/>
              <a:t>– العلم </a:t>
            </a:r>
            <a:r>
              <a:rPr lang="en-GB" dirty="0" smtClean="0"/>
              <a:t>(Knowledge) Allah </a:t>
            </a:r>
            <a:r>
              <a:rPr lang="en-GB" dirty="0"/>
              <a:t>knows </a:t>
            </a:r>
            <a:r>
              <a:rPr lang="en-GB" dirty="0" smtClean="0"/>
              <a:t>whatsoever </a:t>
            </a:r>
            <a:r>
              <a:rPr lang="en-GB" dirty="0"/>
              <a:t>His creation will do, by virtue of His eternal knowledge, including their choices that will take place</a:t>
            </a:r>
            <a:r>
              <a:rPr lang="en-GB" dirty="0" smtClean="0"/>
              <a:t>.</a:t>
            </a:r>
          </a:p>
          <a:p>
            <a:endParaRPr lang="en-GB" dirty="0"/>
          </a:p>
          <a:p>
            <a:r>
              <a:rPr lang="ar-SA" b="1" dirty="0" smtClean="0"/>
              <a:t>كتابة</a:t>
            </a:r>
            <a:r>
              <a:rPr lang="ar-SA" dirty="0" smtClean="0"/>
              <a:t> </a:t>
            </a:r>
            <a:r>
              <a:rPr lang="en-US" dirty="0" smtClean="0"/>
              <a:t> </a:t>
            </a:r>
            <a:r>
              <a:rPr lang="en-GB" dirty="0" smtClean="0"/>
              <a:t>(Writing) Allah </a:t>
            </a:r>
            <a:r>
              <a:rPr lang="en-GB" dirty="0"/>
              <a:t>has written every thing that exists including the destiny of all creatures in al-</a:t>
            </a:r>
            <a:r>
              <a:rPr lang="en-GB" dirty="0" err="1"/>
              <a:t>Lauh</a:t>
            </a:r>
            <a:r>
              <a:rPr lang="en-GB" dirty="0"/>
              <a:t> </a:t>
            </a:r>
            <a:r>
              <a:rPr lang="en-GB" dirty="0" smtClean="0"/>
              <a:t>al-</a:t>
            </a:r>
            <a:r>
              <a:rPr lang="en-GB" dirty="0" err="1" smtClean="0"/>
              <a:t>Mahfuz</a:t>
            </a:r>
            <a:r>
              <a:rPr lang="en-GB" dirty="0" smtClean="0"/>
              <a:t> (The preserved tablet) </a:t>
            </a:r>
            <a:r>
              <a:rPr lang="en-GB" dirty="0"/>
              <a:t>prior to creation</a:t>
            </a:r>
            <a:r>
              <a:rPr lang="en-GB" dirty="0" smtClean="0"/>
              <a:t>.</a:t>
            </a:r>
          </a:p>
          <a:p>
            <a:endParaRPr lang="en-GB" dirty="0"/>
          </a:p>
          <a:p>
            <a:r>
              <a:rPr lang="en-US" dirty="0" smtClean="0"/>
              <a:t> </a:t>
            </a:r>
            <a:r>
              <a:rPr lang="ar-SA" b="1" dirty="0" smtClean="0"/>
              <a:t>مشيئة</a:t>
            </a:r>
            <a:r>
              <a:rPr lang="ar-SA" dirty="0" smtClean="0"/>
              <a:t> </a:t>
            </a:r>
            <a:r>
              <a:rPr lang="en-US" dirty="0" smtClean="0"/>
              <a:t> </a:t>
            </a:r>
            <a:r>
              <a:rPr lang="en-GB" dirty="0" smtClean="0"/>
              <a:t>(Will) What </a:t>
            </a:r>
            <a:r>
              <a:rPr lang="en-GB" dirty="0"/>
              <a:t>Allah </a:t>
            </a:r>
            <a:r>
              <a:rPr lang="en-GB" dirty="0" smtClean="0"/>
              <a:t>wills, </a:t>
            </a:r>
            <a:r>
              <a:rPr lang="en-GB" dirty="0"/>
              <a:t>happens and what He does not </a:t>
            </a:r>
            <a:r>
              <a:rPr lang="en-GB" dirty="0" smtClean="0"/>
              <a:t>will, </a:t>
            </a:r>
            <a:r>
              <a:rPr lang="en-GB" dirty="0"/>
              <a:t>does not happen. There is no movement in the heavens or on earth but happens by His will. This does not mean that He forces things to happen the way they happen in the area of human beings' voluntary actions. It means that He knew what they will chose, wrote it and now lets it </a:t>
            </a:r>
            <a:r>
              <a:rPr lang="en-GB" dirty="0" smtClean="0"/>
              <a:t>happen</a:t>
            </a:r>
            <a:endParaRPr lang="en-GB" dirty="0"/>
          </a:p>
          <a:p>
            <a:endParaRPr lang="en-GB" dirty="0"/>
          </a:p>
        </p:txBody>
      </p:sp>
    </p:spTree>
    <p:extLst>
      <p:ext uri="{BB962C8B-B14F-4D97-AF65-F5344CB8AC3E}">
        <p14:creationId xmlns:p14="http://schemas.microsoft.com/office/powerpoint/2010/main" val="2859305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 calcmode="lin" valueType="num">
                                      <p:cBhvr additive="base">
                                        <p:cTn id="12"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nodeType="click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barn(inVertical)">
                                      <p:cBhvr>
                                        <p:cTn id="18"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ar-SA" b="1" dirty="0"/>
              <a:t>الخلق </a:t>
            </a:r>
            <a:r>
              <a:rPr lang="en-US" dirty="0"/>
              <a:t> </a:t>
            </a:r>
            <a:r>
              <a:rPr lang="en-GB" dirty="0"/>
              <a:t>(Creation and formation) Allah is the Creator of all things and </a:t>
            </a:r>
            <a:r>
              <a:rPr lang="en-GB" dirty="0" smtClean="0"/>
              <a:t>actions, good or bad according to us, </a:t>
            </a:r>
            <a:r>
              <a:rPr lang="en-GB" dirty="0"/>
              <a:t>including the actions of His servants. They do their actions in a real sense, and Allah is the Creator of them and of their actions</a:t>
            </a:r>
            <a:r>
              <a:rPr lang="en-GB" dirty="0" smtClean="0"/>
              <a:t>.</a:t>
            </a:r>
          </a:p>
          <a:p>
            <a:r>
              <a:rPr lang="en-GB" dirty="0" smtClean="0"/>
              <a:t>Al-</a:t>
            </a:r>
            <a:r>
              <a:rPr lang="en-GB" dirty="0" err="1" smtClean="0"/>
              <a:t>Kasb</a:t>
            </a:r>
            <a:r>
              <a:rPr lang="en-GB" dirty="0" smtClean="0"/>
              <a:t> (</a:t>
            </a:r>
            <a:r>
              <a:rPr lang="ar-SA" dirty="0" smtClean="0"/>
              <a:t>الكسب</a:t>
            </a:r>
            <a:r>
              <a:rPr lang="en-GB" dirty="0" smtClean="0"/>
              <a:t>) Man is also the creator of his good or bad actions. But he can do or perform what Allah has created</a:t>
            </a:r>
            <a:endParaRPr lang="en-GB" dirty="0"/>
          </a:p>
          <a:p>
            <a:endParaRPr lang="en-US" dirty="0"/>
          </a:p>
        </p:txBody>
      </p:sp>
    </p:spTree>
    <p:extLst>
      <p:ext uri="{BB962C8B-B14F-4D97-AF65-F5344CB8AC3E}">
        <p14:creationId xmlns:p14="http://schemas.microsoft.com/office/powerpoint/2010/main" val="36160300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94122"/>
          </a:xfrm>
        </p:spPr>
        <p:txBody>
          <a:bodyPr/>
          <a:lstStyle/>
          <a:p>
            <a:r>
              <a:rPr lang="en-US" dirty="0" smtClean="0"/>
              <a:t>Two Types of Al-</a:t>
            </a:r>
            <a:r>
              <a:rPr lang="en-US" dirty="0" err="1" smtClean="0"/>
              <a:t>Qadr</a:t>
            </a:r>
            <a:endParaRPr lang="en-GB" dirty="0"/>
          </a:p>
        </p:txBody>
      </p:sp>
      <p:sp>
        <p:nvSpPr>
          <p:cNvPr id="3" name="Content Placeholder 2"/>
          <p:cNvSpPr>
            <a:spLocks noGrp="1"/>
          </p:cNvSpPr>
          <p:nvPr>
            <p:ph idx="1"/>
          </p:nvPr>
        </p:nvSpPr>
        <p:spPr>
          <a:xfrm>
            <a:off x="457200" y="1340768"/>
            <a:ext cx="8229600" cy="4785395"/>
          </a:xfrm>
        </p:spPr>
        <p:txBody>
          <a:bodyPr>
            <a:normAutofit fontScale="92500" lnSpcReduction="20000"/>
          </a:bodyPr>
          <a:lstStyle/>
          <a:p>
            <a:pPr marL="514350" indent="-514350" algn="ctr">
              <a:buAutoNum type="alphaLcParenR"/>
            </a:pPr>
            <a:r>
              <a:rPr lang="en-GB" sz="4200" b="1" dirty="0" err="1" smtClean="0"/>
              <a:t>Mu’allaq</a:t>
            </a:r>
            <a:r>
              <a:rPr lang="en-GB" dirty="0" smtClean="0"/>
              <a:t> </a:t>
            </a:r>
            <a:r>
              <a:rPr lang="en-GB" dirty="0"/>
              <a:t>(revocable</a:t>
            </a:r>
            <a:r>
              <a:rPr lang="en-GB" dirty="0" smtClean="0"/>
              <a:t>):</a:t>
            </a:r>
          </a:p>
          <a:p>
            <a:pPr marL="0" indent="0" algn="ctr">
              <a:buNone/>
            </a:pPr>
            <a:endParaRPr lang="en-GB" dirty="0"/>
          </a:p>
          <a:p>
            <a:r>
              <a:rPr lang="en-GB" dirty="0"/>
              <a:t>W</a:t>
            </a:r>
            <a:r>
              <a:rPr lang="en-GB" dirty="0" smtClean="0"/>
              <a:t>ritten </a:t>
            </a:r>
            <a:r>
              <a:rPr lang="en-GB" dirty="0"/>
              <a:t>on ‘The Preserved Tablet’ </a:t>
            </a:r>
            <a:endParaRPr lang="en-GB" dirty="0" smtClean="0"/>
          </a:p>
          <a:p>
            <a:r>
              <a:rPr lang="en-GB" dirty="0" smtClean="0"/>
              <a:t>Subject </a:t>
            </a:r>
            <a:r>
              <a:rPr lang="en-GB" dirty="0"/>
              <a:t>to change and alteration through the omission or commission of certain deeds. </a:t>
            </a:r>
            <a:endParaRPr lang="en-GB" dirty="0" smtClean="0"/>
          </a:p>
          <a:p>
            <a:r>
              <a:rPr lang="en-US" dirty="0" smtClean="0"/>
              <a:t>Known by Allah already</a:t>
            </a:r>
            <a:endParaRPr lang="en-GB" dirty="0" smtClean="0"/>
          </a:p>
          <a:p>
            <a:r>
              <a:rPr lang="en-GB" dirty="0" smtClean="0"/>
              <a:t>For </a:t>
            </a:r>
            <a:r>
              <a:rPr lang="en-GB" dirty="0"/>
              <a:t>example: </a:t>
            </a:r>
            <a:r>
              <a:rPr lang="en-US" dirty="0" smtClean="0"/>
              <a:t>A man will suffer from some disease or </a:t>
            </a:r>
            <a:r>
              <a:rPr lang="en-US" smtClean="0"/>
              <a:t>problem </a:t>
            </a:r>
            <a:r>
              <a:rPr lang="en-GB" smtClean="0"/>
              <a:t>or </a:t>
            </a:r>
            <a:r>
              <a:rPr lang="en-GB" dirty="0"/>
              <a:t>a certain calamity is to befall him unless he averts it by spending in charity. </a:t>
            </a:r>
            <a:endParaRPr lang="en-GB" dirty="0" smtClean="0"/>
          </a:p>
          <a:p>
            <a:r>
              <a:rPr lang="en-US" dirty="0" err="1" smtClean="0"/>
              <a:t>Dua</a:t>
            </a:r>
            <a:r>
              <a:rPr lang="en-US" dirty="0" smtClean="0"/>
              <a:t> and </a:t>
            </a:r>
            <a:r>
              <a:rPr lang="en-US" dirty="0" err="1" smtClean="0"/>
              <a:t>Sadqah</a:t>
            </a:r>
            <a:r>
              <a:rPr lang="en-US" dirty="0" smtClean="0"/>
              <a:t> affect our </a:t>
            </a:r>
            <a:r>
              <a:rPr lang="en-US" dirty="0" err="1" smtClean="0"/>
              <a:t>Mu’allaq</a:t>
            </a:r>
            <a:r>
              <a:rPr lang="en-US" dirty="0" smtClean="0"/>
              <a:t> fate</a:t>
            </a:r>
          </a:p>
          <a:p>
            <a:endParaRPr lang="en-GB" dirty="0"/>
          </a:p>
        </p:txBody>
      </p:sp>
    </p:spTree>
    <p:extLst>
      <p:ext uri="{BB962C8B-B14F-4D97-AF65-F5344CB8AC3E}">
        <p14:creationId xmlns:p14="http://schemas.microsoft.com/office/powerpoint/2010/main" val="203948418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Two Types of Al-</a:t>
            </a:r>
            <a:r>
              <a:rPr lang="en-US" dirty="0" err="1" smtClean="0"/>
              <a:t>Qadr</a:t>
            </a:r>
            <a:r>
              <a:rPr lang="en-US" dirty="0" smtClean="0"/>
              <a:t> (b)</a:t>
            </a:r>
            <a:endParaRPr lang="en-GB" dirty="0"/>
          </a:p>
        </p:txBody>
      </p:sp>
      <p:sp>
        <p:nvSpPr>
          <p:cNvPr id="3" name="Content Placeholder 2"/>
          <p:cNvSpPr>
            <a:spLocks noGrp="1"/>
          </p:cNvSpPr>
          <p:nvPr>
            <p:ph idx="1"/>
          </p:nvPr>
        </p:nvSpPr>
        <p:spPr/>
        <p:txBody>
          <a:bodyPr/>
          <a:lstStyle/>
          <a:p>
            <a:pPr marL="0" indent="0" algn="ctr">
              <a:buNone/>
            </a:pPr>
            <a:r>
              <a:rPr lang="en-GB" dirty="0" smtClean="0"/>
              <a:t>b) </a:t>
            </a:r>
            <a:r>
              <a:rPr lang="en-GB" sz="4400" b="1" dirty="0" err="1" smtClean="0"/>
              <a:t>Mubram</a:t>
            </a:r>
            <a:r>
              <a:rPr lang="en-GB" dirty="0" smtClean="0"/>
              <a:t> (irrevocable):</a:t>
            </a:r>
          </a:p>
          <a:p>
            <a:r>
              <a:rPr lang="en-US" dirty="0" smtClean="0"/>
              <a:t>Predestined destiny</a:t>
            </a:r>
            <a:endParaRPr lang="en-GB" dirty="0" smtClean="0"/>
          </a:p>
          <a:p>
            <a:r>
              <a:rPr lang="en-GB" dirty="0"/>
              <a:t>T</a:t>
            </a:r>
            <a:r>
              <a:rPr lang="en-GB" dirty="0" smtClean="0"/>
              <a:t>he final result of the </a:t>
            </a:r>
            <a:r>
              <a:rPr lang="en-GB" dirty="0" err="1" smtClean="0"/>
              <a:t>Muallaq</a:t>
            </a:r>
            <a:r>
              <a:rPr lang="en-GB" dirty="0" smtClean="0"/>
              <a:t> destiny </a:t>
            </a:r>
          </a:p>
          <a:p>
            <a:r>
              <a:rPr lang="en-GB" dirty="0" smtClean="0"/>
              <a:t>For example: time of death, sustenance etc.</a:t>
            </a:r>
          </a:p>
          <a:p>
            <a:endParaRPr lang="en-GB" dirty="0"/>
          </a:p>
        </p:txBody>
      </p:sp>
    </p:spTree>
    <p:extLst>
      <p:ext uri="{BB962C8B-B14F-4D97-AF65-F5344CB8AC3E}">
        <p14:creationId xmlns:p14="http://schemas.microsoft.com/office/powerpoint/2010/main" val="228528433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102</TotalTime>
  <Words>686</Words>
  <Application>Microsoft Office PowerPoint</Application>
  <PresentationFormat>On-screen Show (4:3)</PresentationFormat>
  <Paragraphs>51</Paragraphs>
  <Slides>12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Al-Qadr  (Divine Destiny)</vt:lpstr>
      <vt:lpstr>English Synonyms of Al-Qadr</vt:lpstr>
      <vt:lpstr>Al-Qadr vs. Al-Qada</vt:lpstr>
      <vt:lpstr>Free will vs. Predestination</vt:lpstr>
      <vt:lpstr>Theory of Fatalism</vt:lpstr>
      <vt:lpstr>Theory of Free-Will</vt:lpstr>
      <vt:lpstr>Jabrites vs. Qadrites</vt:lpstr>
      <vt:lpstr>Sunni View of Al-Qadr</vt:lpstr>
      <vt:lpstr>Four Important Points</vt:lpstr>
      <vt:lpstr>PowerPoint Presentation</vt:lpstr>
      <vt:lpstr>Two Types of Al-Qadr</vt:lpstr>
      <vt:lpstr>Two Types of Al-Qadr (b)</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Al-Qadr (Divine Destiny)</dc:title>
  <dc:creator>Abid Naeem</dc:creator>
  <cp:lastModifiedBy>Abid Naeem</cp:lastModifiedBy>
  <cp:revision>63</cp:revision>
  <dcterms:created xsi:type="dcterms:W3CDTF">2013-09-29T14:19:01Z</dcterms:created>
  <dcterms:modified xsi:type="dcterms:W3CDTF">2015-09-19T04:59:28Z</dcterms:modified>
</cp:coreProperties>
</file>