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257" r:id="rId3"/>
    <p:sldId id="268" r:id="rId4"/>
    <p:sldId id="258" r:id="rId5"/>
    <p:sldId id="260" r:id="rId6"/>
    <p:sldId id="261" r:id="rId7"/>
    <p:sldId id="259" r:id="rId8"/>
    <p:sldId id="273" r:id="rId9"/>
    <p:sldId id="274" r:id="rId10"/>
    <p:sldId id="275" r:id="rId11"/>
    <p:sldId id="262" r:id="rId12"/>
    <p:sldId id="269" r:id="rId13"/>
    <p:sldId id="270" r:id="rId14"/>
    <p:sldId id="271" r:id="rId15"/>
    <p:sldId id="272" r:id="rId16"/>
    <p:sldId id="263" r:id="rId17"/>
    <p:sldId id="264" r:id="rId18"/>
    <p:sldId id="265" r:id="rId19"/>
    <p:sldId id="266" r:id="rId20"/>
    <p:sldId id="267" r:id="rId21"/>
  </p:sldIdLst>
  <p:sldSz cx="9144000" cy="6858000" type="screen4x3"/>
  <p:notesSz cx="6858000" cy="9144000"/>
  <p:custDataLst>
    <p:tags r:id="rId2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B325253-A254-433D-BA9E-7CACBCE52833}" type="datetimeFigureOut">
              <a:rPr lang="en-US" smtClean="0"/>
              <a:pPr/>
              <a:t>16/4/2015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0F269A1-7466-45E0-A14A-AB653D98133B}" type="slidenum">
              <a:rPr lang="en-US" smtClean="0"/>
              <a:pPr/>
              <a:t>‹#›</a:t>
            </a:fld>
            <a:endParaRPr lang="en-US"/>
          </a:p>
        </p:txBody>
      </p:sp>
    </p:spTree>
    <p:extLst>
      <p:ext uri="{BB962C8B-B14F-4D97-AF65-F5344CB8AC3E}">
        <p14:creationId xmlns:p14="http://schemas.microsoft.com/office/powerpoint/2010/main" val="19669180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CE9B0072-3CD2-4867-A28A-CB32C1758A52}" type="datetime2">
              <a:rPr lang="en-US" smtClean="0"/>
              <a:pPr/>
              <a:t>Thursday, April 16, 2015</a:t>
            </a:fld>
            <a:endParaRPr lang="en-US"/>
          </a:p>
        </p:txBody>
      </p:sp>
      <p:sp>
        <p:nvSpPr>
          <p:cNvPr id="19" name="Footer Placeholder 18"/>
          <p:cNvSpPr>
            <a:spLocks noGrp="1"/>
          </p:cNvSpPr>
          <p:nvPr>
            <p:ph type="ftr" sz="quarter" idx="11"/>
          </p:nvPr>
        </p:nvSpPr>
        <p:spPr/>
        <p:txBody>
          <a:bodyPr/>
          <a:lstStyle/>
          <a:p>
            <a:r>
              <a:rPr lang="en-US" smtClean="0"/>
              <a:t>Islamic &amp; Religious Studies                               Instructor: Prof. Abid Naeem</a:t>
            </a:r>
            <a:endParaRPr lang="en-US"/>
          </a:p>
        </p:txBody>
      </p:sp>
      <p:sp>
        <p:nvSpPr>
          <p:cNvPr id="27" name="Slide Number Placeholder 26"/>
          <p:cNvSpPr>
            <a:spLocks noGrp="1"/>
          </p:cNvSpPr>
          <p:nvPr>
            <p:ph type="sldNum" sz="quarter" idx="12"/>
          </p:nvPr>
        </p:nvSpPr>
        <p:spPr/>
        <p:txBody>
          <a:bodyPr/>
          <a:lstStyle/>
          <a:p>
            <a:fld id="{BDC78611-5E9A-402C-B872-4F7E2FF0AA88}" type="slidenum">
              <a:rPr lang="en-US" smtClean="0"/>
              <a:pPr/>
              <a:t>‹#›</a:t>
            </a:fld>
            <a:endParaRPr lang="en-US"/>
          </a:p>
        </p:txBody>
      </p:sp>
    </p:spTree>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2B50ADB-18C1-4057-A03E-F3B80FBDD8FF}" type="datetime2">
              <a:rPr lang="en-US" smtClean="0"/>
              <a:pPr/>
              <a:t>Thursday, April 16, 2015</a:t>
            </a:fld>
            <a:endParaRPr lang="en-US"/>
          </a:p>
        </p:txBody>
      </p:sp>
      <p:sp>
        <p:nvSpPr>
          <p:cNvPr id="5" name="Footer Placeholder 4"/>
          <p:cNvSpPr>
            <a:spLocks noGrp="1"/>
          </p:cNvSpPr>
          <p:nvPr>
            <p:ph type="ftr" sz="quarter" idx="11"/>
          </p:nvPr>
        </p:nvSpPr>
        <p:spPr/>
        <p:txBody>
          <a:bodyPr/>
          <a:lstStyle/>
          <a:p>
            <a:r>
              <a:rPr lang="en-US" smtClean="0"/>
              <a:t>Islamic &amp; Religious Studies                               Instructor: Prof. Abid Naeem</a:t>
            </a:r>
            <a:endParaRPr lang="en-US"/>
          </a:p>
        </p:txBody>
      </p:sp>
      <p:sp>
        <p:nvSpPr>
          <p:cNvPr id="6" name="Slide Number Placeholder 5"/>
          <p:cNvSpPr>
            <a:spLocks noGrp="1"/>
          </p:cNvSpPr>
          <p:nvPr>
            <p:ph type="sldNum" sz="quarter" idx="12"/>
          </p:nvPr>
        </p:nvSpPr>
        <p:spPr/>
        <p:txBody>
          <a:bodyPr/>
          <a:lstStyle/>
          <a:p>
            <a:fld id="{BDC78611-5E9A-402C-B872-4F7E2FF0AA88}" type="slidenum">
              <a:rPr lang="en-US" smtClean="0"/>
              <a:pPr/>
              <a:t>‹#›</a:t>
            </a:fld>
            <a:endParaRPr lang="en-US"/>
          </a:p>
        </p:txBody>
      </p:sp>
    </p:spTree>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CE5C08FD-224C-47BF-A77E-892E4218A7F5}" type="datetime2">
              <a:rPr lang="en-US" smtClean="0"/>
              <a:pPr/>
              <a:t>Thursday, April 16, 2015</a:t>
            </a:fld>
            <a:endParaRPr lang="en-US"/>
          </a:p>
        </p:txBody>
      </p:sp>
      <p:sp>
        <p:nvSpPr>
          <p:cNvPr id="5" name="Footer Placeholder 4"/>
          <p:cNvSpPr>
            <a:spLocks noGrp="1"/>
          </p:cNvSpPr>
          <p:nvPr>
            <p:ph type="ftr" sz="quarter" idx="11"/>
          </p:nvPr>
        </p:nvSpPr>
        <p:spPr/>
        <p:txBody>
          <a:bodyPr/>
          <a:lstStyle/>
          <a:p>
            <a:r>
              <a:rPr lang="en-US" smtClean="0"/>
              <a:t>Islamic &amp; Religious Studies                               Instructor: Prof. Abid Naeem</a:t>
            </a:r>
            <a:endParaRPr lang="en-US"/>
          </a:p>
        </p:txBody>
      </p:sp>
      <p:sp>
        <p:nvSpPr>
          <p:cNvPr id="6" name="Slide Number Placeholder 5"/>
          <p:cNvSpPr>
            <a:spLocks noGrp="1"/>
          </p:cNvSpPr>
          <p:nvPr>
            <p:ph type="sldNum" sz="quarter" idx="12"/>
          </p:nvPr>
        </p:nvSpPr>
        <p:spPr/>
        <p:txBody>
          <a:bodyPr/>
          <a:lstStyle/>
          <a:p>
            <a:fld id="{BDC78611-5E9A-402C-B872-4F7E2FF0AA88}" type="slidenum">
              <a:rPr lang="en-US" smtClean="0"/>
              <a:pPr/>
              <a:t>‹#›</a:t>
            </a:fld>
            <a:endParaRPr lang="en-US"/>
          </a:p>
        </p:txBody>
      </p:sp>
    </p:spTree>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6BEDCAFB-FA3A-42BC-ADF0-3D06BD9EC4DF}" type="datetime2">
              <a:rPr lang="en-US" smtClean="0"/>
              <a:pPr/>
              <a:t>Thursday, April 16, 2015</a:t>
            </a:fld>
            <a:endParaRPr lang="en-US"/>
          </a:p>
        </p:txBody>
      </p:sp>
      <p:sp>
        <p:nvSpPr>
          <p:cNvPr id="6" name="Footer Placeholder 5"/>
          <p:cNvSpPr>
            <a:spLocks noGrp="1"/>
          </p:cNvSpPr>
          <p:nvPr>
            <p:ph type="ftr" sz="quarter" idx="11"/>
          </p:nvPr>
        </p:nvSpPr>
        <p:spPr/>
        <p:txBody>
          <a:bodyPr/>
          <a:lstStyle/>
          <a:p>
            <a:r>
              <a:rPr lang="en-US" smtClean="0"/>
              <a:t>Islamic &amp; Religious Studies                               Instructor: Prof. Abid Naeem</a:t>
            </a:r>
            <a:endParaRPr lang="en-US"/>
          </a:p>
        </p:txBody>
      </p:sp>
      <p:sp>
        <p:nvSpPr>
          <p:cNvPr id="7" name="Slide Number Placeholder 6"/>
          <p:cNvSpPr>
            <a:spLocks noGrp="1"/>
          </p:cNvSpPr>
          <p:nvPr>
            <p:ph type="sldNum" sz="quarter" idx="12"/>
          </p:nvPr>
        </p:nvSpPr>
        <p:spPr/>
        <p:txBody>
          <a:bodyPr/>
          <a:lstStyle/>
          <a:p>
            <a:fld id="{BDC78611-5E9A-402C-B872-4F7E2FF0AA88}" type="slidenum">
              <a:rPr lang="en-US" smtClean="0"/>
              <a:pPr/>
              <a:t>‹#›</a:t>
            </a:fld>
            <a:endParaRPr lang="en-US"/>
          </a:p>
        </p:txBody>
      </p:sp>
    </p:spTree>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3962667-5B18-43E8-A910-82BEA0AAA265}" type="datetime2">
              <a:rPr lang="en-US" smtClean="0"/>
              <a:pPr/>
              <a:t>Thursday, April 16, 2015</a:t>
            </a:fld>
            <a:endParaRPr lang="en-US"/>
          </a:p>
        </p:txBody>
      </p:sp>
      <p:sp>
        <p:nvSpPr>
          <p:cNvPr id="8" name="Footer Placeholder 7"/>
          <p:cNvSpPr>
            <a:spLocks noGrp="1"/>
          </p:cNvSpPr>
          <p:nvPr>
            <p:ph type="ftr" sz="quarter" idx="11"/>
          </p:nvPr>
        </p:nvSpPr>
        <p:spPr/>
        <p:txBody>
          <a:bodyPr/>
          <a:lstStyle/>
          <a:p>
            <a:r>
              <a:rPr lang="en-US" smtClean="0"/>
              <a:t>Islamic &amp; Religious Studies                               Instructor: Prof. Abid Naeem</a:t>
            </a:r>
            <a:endParaRPr lang="en-US"/>
          </a:p>
        </p:txBody>
      </p:sp>
      <p:sp>
        <p:nvSpPr>
          <p:cNvPr id="9" name="Slide Number Placeholder 8"/>
          <p:cNvSpPr>
            <a:spLocks noGrp="1"/>
          </p:cNvSpPr>
          <p:nvPr>
            <p:ph type="sldNum" sz="quarter" idx="12"/>
          </p:nvPr>
        </p:nvSpPr>
        <p:spPr/>
        <p:txBody>
          <a:bodyPr/>
          <a:lstStyle/>
          <a:p>
            <a:fld id="{BDC78611-5E9A-402C-B872-4F7E2FF0AA88}" type="slidenum">
              <a:rPr lang="en-US" smtClean="0"/>
              <a:pPr/>
              <a:t>‹#›</a:t>
            </a:fld>
            <a:endParaRPr lang="en-US"/>
          </a:p>
        </p:txBody>
      </p:sp>
    </p:spTree>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82EFCC52-5970-42B1-BC55-76C758A94C28}" type="datetime2">
              <a:rPr lang="en-US" smtClean="0"/>
              <a:pPr/>
              <a:t>Thursday, April 16, 2015</a:t>
            </a:fld>
            <a:endParaRPr lang="en-US"/>
          </a:p>
        </p:txBody>
      </p:sp>
      <p:sp>
        <p:nvSpPr>
          <p:cNvPr id="4" name="Footer Placeholder 3"/>
          <p:cNvSpPr>
            <a:spLocks noGrp="1"/>
          </p:cNvSpPr>
          <p:nvPr>
            <p:ph type="ftr" sz="quarter" idx="11"/>
          </p:nvPr>
        </p:nvSpPr>
        <p:spPr/>
        <p:txBody>
          <a:bodyPr/>
          <a:lstStyle/>
          <a:p>
            <a:r>
              <a:rPr lang="en-US" smtClean="0"/>
              <a:t>Islamic &amp; Religious Studies                               Instructor: Prof. Abid Naeem</a:t>
            </a:r>
            <a:endParaRPr lang="en-US"/>
          </a:p>
        </p:txBody>
      </p:sp>
      <p:sp>
        <p:nvSpPr>
          <p:cNvPr id="5" name="Slide Number Placeholder 4"/>
          <p:cNvSpPr>
            <a:spLocks noGrp="1"/>
          </p:cNvSpPr>
          <p:nvPr>
            <p:ph type="sldNum" sz="quarter" idx="12"/>
          </p:nvPr>
        </p:nvSpPr>
        <p:spPr/>
        <p:txBody>
          <a:bodyPr/>
          <a:lstStyle/>
          <a:p>
            <a:fld id="{BDC78611-5E9A-402C-B872-4F7E2FF0AA88}" type="slidenum">
              <a:rPr lang="en-US" smtClean="0"/>
              <a:pPr/>
              <a:t>‹#›</a:t>
            </a:fld>
            <a:endParaRPr lang="en-US"/>
          </a:p>
        </p:txBody>
      </p:sp>
    </p:spTree>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76FD89-617A-456D-9983-77AACE4D3813}" type="datetime2">
              <a:rPr lang="en-US" smtClean="0"/>
              <a:pPr/>
              <a:t>Thursday, April 16, 2015</a:t>
            </a:fld>
            <a:endParaRPr lang="en-US"/>
          </a:p>
        </p:txBody>
      </p:sp>
      <p:sp>
        <p:nvSpPr>
          <p:cNvPr id="3" name="Footer Placeholder 2"/>
          <p:cNvSpPr>
            <a:spLocks noGrp="1"/>
          </p:cNvSpPr>
          <p:nvPr>
            <p:ph type="ftr" sz="quarter" idx="11"/>
          </p:nvPr>
        </p:nvSpPr>
        <p:spPr/>
        <p:txBody>
          <a:bodyPr/>
          <a:lstStyle/>
          <a:p>
            <a:r>
              <a:rPr lang="en-US" smtClean="0"/>
              <a:t>Islamic &amp; Religious Studies                               Instructor: Prof. Abid Naeem</a:t>
            </a:r>
            <a:endParaRPr lang="en-US"/>
          </a:p>
        </p:txBody>
      </p:sp>
      <p:sp>
        <p:nvSpPr>
          <p:cNvPr id="4" name="Slide Number Placeholder 3"/>
          <p:cNvSpPr>
            <a:spLocks noGrp="1"/>
          </p:cNvSpPr>
          <p:nvPr>
            <p:ph type="sldNum" sz="quarter" idx="12"/>
          </p:nvPr>
        </p:nvSpPr>
        <p:spPr/>
        <p:txBody>
          <a:bodyPr/>
          <a:lstStyle/>
          <a:p>
            <a:fld id="{BDC78611-5E9A-402C-B872-4F7E2FF0AA88}" type="slidenum">
              <a:rPr lang="en-US" smtClean="0"/>
              <a:pPr/>
              <a:t>‹#›</a:t>
            </a:fld>
            <a:endParaRPr lang="en-US"/>
          </a:p>
        </p:txBody>
      </p:sp>
    </p:spTree>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B3A48453-DC5B-44A0-BFBF-1EF9BF48650B}" type="datetime2">
              <a:rPr lang="en-US" smtClean="0"/>
              <a:pPr/>
              <a:t>Thursday, April 16, 2015</a:t>
            </a:fld>
            <a:endParaRPr lang="en-US"/>
          </a:p>
        </p:txBody>
      </p:sp>
      <p:sp>
        <p:nvSpPr>
          <p:cNvPr id="6" name="Footer Placeholder 5"/>
          <p:cNvSpPr>
            <a:spLocks noGrp="1"/>
          </p:cNvSpPr>
          <p:nvPr>
            <p:ph type="ftr" sz="quarter" idx="11"/>
          </p:nvPr>
        </p:nvSpPr>
        <p:spPr/>
        <p:txBody>
          <a:bodyPr/>
          <a:lstStyle/>
          <a:p>
            <a:r>
              <a:rPr lang="en-US" smtClean="0"/>
              <a:t>Islamic &amp; Religious Studies                               Instructor: Prof. Abid Naeem</a:t>
            </a:r>
            <a:endParaRPr lang="en-US"/>
          </a:p>
        </p:txBody>
      </p:sp>
      <p:sp>
        <p:nvSpPr>
          <p:cNvPr id="7" name="Slide Number Placeholder 6"/>
          <p:cNvSpPr>
            <a:spLocks noGrp="1"/>
          </p:cNvSpPr>
          <p:nvPr>
            <p:ph type="sldNum" sz="quarter" idx="12"/>
          </p:nvPr>
        </p:nvSpPr>
        <p:spPr/>
        <p:txBody>
          <a:bodyPr/>
          <a:lstStyle/>
          <a:p>
            <a:fld id="{BDC78611-5E9A-402C-B872-4F7E2FF0AA88}" type="slidenum">
              <a:rPr lang="en-US" smtClean="0"/>
              <a:pPr/>
              <a:t>‹#›</a:t>
            </a:fld>
            <a:endParaRPr lang="en-US"/>
          </a:p>
        </p:txBody>
      </p:sp>
    </p:spTree>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81888AEF-2B0C-4A38-8FC9-9B52337ED79B}" type="datetime2">
              <a:rPr lang="en-US" smtClean="0"/>
              <a:pPr/>
              <a:t>Thursday, April 16, 2015</a:t>
            </a:fld>
            <a:endParaRPr lang="en-US"/>
          </a:p>
        </p:txBody>
      </p:sp>
      <p:sp>
        <p:nvSpPr>
          <p:cNvPr id="6" name="Footer Placeholder 5"/>
          <p:cNvSpPr>
            <a:spLocks noGrp="1"/>
          </p:cNvSpPr>
          <p:nvPr>
            <p:ph type="ftr" sz="quarter" idx="11"/>
          </p:nvPr>
        </p:nvSpPr>
        <p:spPr/>
        <p:txBody>
          <a:bodyPr/>
          <a:lstStyle/>
          <a:p>
            <a:r>
              <a:rPr lang="en-US" smtClean="0"/>
              <a:t>Islamic &amp; Religious Studies                               Instructor: Prof. Abid Naeem</a:t>
            </a:r>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BDC78611-5E9A-402C-B872-4F7E2FF0AA88}"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a:p>
        </p:txBody>
      </p:sp>
      <p:sp>
        <p:nvSpPr>
          <p:cNvPr id="10" name="Freeform 9"/>
          <p:cNvSpPr/>
          <p:nvPr/>
        </p:nvSpPr>
        <p:spPr>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tileRect/>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p:nvPr/>
        </p:nvSpPr>
        <p:spPr>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tileRect/>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8435ED0-9F80-46F9-90D6-205E2B5EA3B6}" type="datetime2">
              <a:rPr lang="en-US" smtClean="0"/>
              <a:pPr/>
              <a:t>Thursday, April 16, 2015</a:t>
            </a:fld>
            <a:endParaRPr lang="en-US"/>
          </a:p>
        </p:txBody>
      </p:sp>
      <p:sp>
        <p:nvSpPr>
          <p:cNvPr id="5" name="Footer Placeholder 4"/>
          <p:cNvSpPr>
            <a:spLocks noGrp="1"/>
          </p:cNvSpPr>
          <p:nvPr>
            <p:ph type="ftr" sz="quarter" idx="11"/>
          </p:nvPr>
        </p:nvSpPr>
        <p:spPr/>
        <p:txBody>
          <a:bodyPr/>
          <a:lstStyle/>
          <a:p>
            <a:r>
              <a:rPr lang="en-US" smtClean="0"/>
              <a:t>Islamic &amp; Religious Studies                               Instructor: Prof. Abid Naeem</a:t>
            </a:r>
            <a:endParaRPr lang="en-US"/>
          </a:p>
        </p:txBody>
      </p:sp>
      <p:sp>
        <p:nvSpPr>
          <p:cNvPr id="6" name="Slide Number Placeholder 5"/>
          <p:cNvSpPr>
            <a:spLocks noGrp="1"/>
          </p:cNvSpPr>
          <p:nvPr>
            <p:ph type="sldNum" sz="quarter" idx="12"/>
          </p:nvPr>
        </p:nvSpPr>
        <p:spPr/>
        <p:txBody>
          <a:bodyPr/>
          <a:lstStyle/>
          <a:p>
            <a:fld id="{BDC78611-5E9A-402C-B872-4F7E2FF0AA88}" type="slidenum">
              <a:rPr lang="en-US" smtClean="0"/>
              <a:pPr/>
              <a:t>‹#›</a:t>
            </a:fld>
            <a:endParaRPr lang="en-US"/>
          </a:p>
        </p:txBody>
      </p:sp>
    </p:spTree>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F0B816E-0F8C-4288-A512-46CD9A7E8837}" type="datetime2">
              <a:rPr lang="en-US" smtClean="0"/>
              <a:pPr/>
              <a:t>Thursday, April 16, 2015</a:t>
            </a:fld>
            <a:endParaRPr lang="en-US"/>
          </a:p>
        </p:txBody>
      </p:sp>
      <p:sp>
        <p:nvSpPr>
          <p:cNvPr id="5" name="Footer Placeholder 4"/>
          <p:cNvSpPr>
            <a:spLocks noGrp="1"/>
          </p:cNvSpPr>
          <p:nvPr>
            <p:ph type="ftr" sz="quarter" idx="11"/>
          </p:nvPr>
        </p:nvSpPr>
        <p:spPr/>
        <p:txBody>
          <a:bodyPr/>
          <a:lstStyle/>
          <a:p>
            <a:r>
              <a:rPr lang="en-US" smtClean="0"/>
              <a:t>Islamic &amp; Religious Studies                               Instructor: Prof. Abid Naeem</a:t>
            </a:r>
            <a:endParaRPr lang="en-US"/>
          </a:p>
        </p:txBody>
      </p:sp>
      <p:sp>
        <p:nvSpPr>
          <p:cNvPr id="6" name="Slide Number Placeholder 5"/>
          <p:cNvSpPr>
            <a:spLocks noGrp="1"/>
          </p:cNvSpPr>
          <p:nvPr>
            <p:ph type="sldNum" sz="quarter" idx="12"/>
          </p:nvPr>
        </p:nvSpPr>
        <p:spPr/>
        <p:txBody>
          <a:bodyPr/>
          <a:lstStyle/>
          <a:p>
            <a:fld id="{BDC78611-5E9A-402C-B872-4F7E2FF0AA88}" type="slidenum">
              <a:rPr lang="en-US" smtClean="0"/>
              <a:pPr/>
              <a:t>‹#›</a:t>
            </a:fld>
            <a:endParaRPr lang="en-US"/>
          </a:p>
        </p:txBody>
      </p:sp>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Freeform 6"/>
          <p:cNvSpPr/>
          <p:nvPr/>
        </p:nvSpPr>
        <p:spPr>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tileRect/>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p:nvPr/>
        </p:nvSpPr>
        <p:spPr>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tileRect/>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B757AAD1-3A0D-4A6A-8164-C5F093EB7CDB}" type="datetime2">
              <a:rPr lang="en-US" smtClean="0"/>
              <a:pPr/>
              <a:t>Thursday, April 16, 2015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r>
              <a:rPr lang="en-US" smtClean="0"/>
              <a:t>Islamic &amp; Religious Studies                               Instructor: Prof. Abid Naeem</a:t>
            </a:r>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DC78611-5E9A-402C-B872-4F7E2FF0AA88}"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p:nvPr/>
          </p:nvSpPr>
          <p:spPr>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p:nvPr/>
          </p:nvSpPr>
          <p:spPr>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slow">
    <p:push dir="u"/>
  </p:transition>
  <p:hf hdr="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33401"/>
            <a:ext cx="7772400" cy="3067050"/>
          </a:xfrm>
        </p:spPr>
        <p:txBody>
          <a:bodyPr>
            <a:normAutofit/>
          </a:bodyPr>
          <a:lstStyle/>
          <a:p>
            <a:r>
              <a:rPr lang="en-US" sz="8000" b="1" u="sng" dirty="0" smtClean="0"/>
              <a:t>THE DAY </a:t>
            </a:r>
            <a:r>
              <a:rPr lang="en-US" sz="8000" b="1" u="sng" smtClean="0"/>
              <a:t>OF </a:t>
            </a:r>
            <a:r>
              <a:rPr lang="en-US" sz="8000" b="1" u="sng" smtClean="0"/>
              <a:t>JUDGEMENT</a:t>
            </a:r>
            <a:endParaRPr lang="en-US" sz="8000" b="1" u="sng" dirty="0"/>
          </a:p>
        </p:txBody>
      </p:sp>
      <p:sp>
        <p:nvSpPr>
          <p:cNvPr id="3" name="Subtitle 2"/>
          <p:cNvSpPr>
            <a:spLocks noGrp="1"/>
          </p:cNvSpPr>
          <p:nvPr>
            <p:ph type="subTitle" idx="1"/>
          </p:nvPr>
        </p:nvSpPr>
        <p:spPr/>
        <p:txBody>
          <a:bodyPr/>
          <a:lstStyle/>
          <a:p>
            <a:endParaRPr lang="en-US" dirty="0"/>
          </a:p>
        </p:txBody>
      </p:sp>
      <p:sp>
        <p:nvSpPr>
          <p:cNvPr id="4" name="Date Placeholder 3"/>
          <p:cNvSpPr>
            <a:spLocks noGrp="1"/>
          </p:cNvSpPr>
          <p:nvPr>
            <p:ph type="dt" sz="half" idx="10"/>
          </p:nvPr>
        </p:nvSpPr>
        <p:spPr/>
        <p:txBody>
          <a:bodyPr/>
          <a:lstStyle/>
          <a:p>
            <a:fld id="{6868E03B-4724-4B52-9694-50DBE8447E85}" type="datetime2">
              <a:rPr lang="en-US" smtClean="0"/>
              <a:pPr/>
              <a:t>Thursday, April 16, 2015</a:t>
            </a:fld>
            <a:endParaRPr lang="en-US" dirty="0"/>
          </a:p>
        </p:txBody>
      </p:sp>
      <p:sp>
        <p:nvSpPr>
          <p:cNvPr id="5" name="Slide Number Placeholder 4"/>
          <p:cNvSpPr>
            <a:spLocks noGrp="1"/>
          </p:cNvSpPr>
          <p:nvPr>
            <p:ph type="sldNum" sz="quarter" idx="12"/>
          </p:nvPr>
        </p:nvSpPr>
        <p:spPr/>
        <p:txBody>
          <a:bodyPr/>
          <a:lstStyle/>
          <a:p>
            <a:fld id="{BDC78611-5E9A-402C-B872-4F7E2FF0AA88}" type="slidenum">
              <a:rPr lang="en-US" smtClean="0"/>
              <a:pPr/>
              <a:t>1</a:t>
            </a:fld>
            <a:endParaRPr lang="en-US" dirty="0"/>
          </a:p>
        </p:txBody>
      </p:sp>
      <p:sp>
        <p:nvSpPr>
          <p:cNvPr id="6" name="Footer Placeholder 5"/>
          <p:cNvSpPr>
            <a:spLocks noGrp="1"/>
          </p:cNvSpPr>
          <p:nvPr>
            <p:ph type="ftr" sz="quarter" idx="11"/>
          </p:nvPr>
        </p:nvSpPr>
        <p:spPr/>
        <p:txBody>
          <a:bodyPr/>
          <a:lstStyle/>
          <a:p>
            <a:r>
              <a:rPr lang="en-US" dirty="0" smtClean="0"/>
              <a:t>Islamic &amp; Religious Studies                               Instructor: Prof. </a:t>
            </a:r>
            <a:r>
              <a:rPr lang="en-US" dirty="0" err="1" smtClean="0"/>
              <a:t>Abid</a:t>
            </a:r>
            <a:r>
              <a:rPr lang="en-US" smtClean="0"/>
              <a:t> Naeem</a:t>
            </a:r>
            <a:endParaRPr lang="en-US"/>
          </a:p>
        </p:txBody>
      </p:sp>
    </p:spTree>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endParaRPr lang="en-US" sz="4400" b="1" dirty="0" smtClean="0"/>
          </a:p>
          <a:p>
            <a:pPr algn="ctr">
              <a:buNone/>
            </a:pPr>
            <a:endParaRPr lang="en-US" sz="4400" b="1" dirty="0"/>
          </a:p>
          <a:p>
            <a:pPr algn="ctr">
              <a:buNone/>
            </a:pPr>
            <a:r>
              <a:rPr lang="en-US" sz="4400" b="1" dirty="0" smtClean="0"/>
              <a:t>WHAT IS THE DAY OF JUDGMENT?</a:t>
            </a:r>
            <a:endParaRPr lang="en-US" sz="4400" b="1" dirty="0"/>
          </a:p>
        </p:txBody>
      </p:sp>
      <p:sp>
        <p:nvSpPr>
          <p:cNvPr id="4" name="Date Placeholder 3"/>
          <p:cNvSpPr>
            <a:spLocks noGrp="1"/>
          </p:cNvSpPr>
          <p:nvPr>
            <p:ph type="dt" sz="half" idx="10"/>
          </p:nvPr>
        </p:nvSpPr>
        <p:spPr/>
        <p:txBody>
          <a:bodyPr/>
          <a:lstStyle/>
          <a:p>
            <a:fld id="{B54BD790-E437-4AFA-937C-60D36D7E0CD2}" type="datetime2">
              <a:rPr lang="en-US" smtClean="0"/>
              <a:pPr/>
              <a:t>Thursday, April 16, 2015</a:t>
            </a:fld>
            <a:endParaRPr lang="en-US"/>
          </a:p>
        </p:txBody>
      </p:sp>
      <p:sp>
        <p:nvSpPr>
          <p:cNvPr id="5" name="Slide Number Placeholder 4"/>
          <p:cNvSpPr>
            <a:spLocks noGrp="1"/>
          </p:cNvSpPr>
          <p:nvPr>
            <p:ph type="sldNum" sz="quarter" idx="12"/>
          </p:nvPr>
        </p:nvSpPr>
        <p:spPr/>
        <p:txBody>
          <a:bodyPr/>
          <a:lstStyle/>
          <a:p>
            <a:fld id="{BDC78611-5E9A-402C-B872-4F7E2FF0AA88}" type="slidenum">
              <a:rPr lang="en-US" smtClean="0"/>
              <a:pPr/>
              <a:t>2</a:t>
            </a:fld>
            <a:endParaRPr lang="en-US"/>
          </a:p>
        </p:txBody>
      </p:sp>
      <p:sp>
        <p:nvSpPr>
          <p:cNvPr id="6" name="Footer Placeholder 5"/>
          <p:cNvSpPr>
            <a:spLocks noGrp="1"/>
          </p:cNvSpPr>
          <p:nvPr>
            <p:ph type="ftr" sz="quarter" idx="11"/>
          </p:nvPr>
        </p:nvSpPr>
        <p:spPr/>
        <p:txBody>
          <a:bodyPr/>
          <a:lstStyle/>
          <a:p>
            <a:r>
              <a:rPr lang="en-US" smtClean="0"/>
              <a:t>Islamic &amp; Religious Studies                               Instructor: Prof. Abid Naeem</a:t>
            </a:r>
            <a:endParaRPr lang="en-US"/>
          </a:p>
        </p:txBody>
      </p:sp>
    </p:spTree>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smtClean="0"/>
              <a:t>Names for the Day of Judgment</a:t>
            </a:r>
            <a:endParaRPr lang="en-US" b="1" dirty="0"/>
          </a:p>
        </p:txBody>
      </p:sp>
      <p:sp>
        <p:nvSpPr>
          <p:cNvPr id="3" name="Content Placeholder 2"/>
          <p:cNvSpPr>
            <a:spLocks noGrp="1"/>
          </p:cNvSpPr>
          <p:nvPr>
            <p:ph idx="1"/>
          </p:nvPr>
        </p:nvSpPr>
        <p:spPr/>
        <p:txBody>
          <a:bodyPr/>
          <a:lstStyle/>
          <a:p>
            <a:r>
              <a:rPr lang="en-US" dirty="0" smtClean="0"/>
              <a:t>The Day of Judgment </a:t>
            </a:r>
            <a:r>
              <a:rPr lang="en-US" b="1" dirty="0" smtClean="0"/>
              <a:t>(</a:t>
            </a:r>
            <a:r>
              <a:rPr lang="ar-SA" b="1" dirty="0"/>
              <a:t>يوم الدين‎</a:t>
            </a:r>
            <a:r>
              <a:rPr lang="en-US" b="1" dirty="0" smtClean="0"/>
              <a:t>)</a:t>
            </a:r>
          </a:p>
          <a:p>
            <a:r>
              <a:rPr lang="en-US" dirty="0" smtClean="0"/>
              <a:t>The Day </a:t>
            </a:r>
            <a:r>
              <a:rPr lang="en-US" dirty="0"/>
              <a:t>of </a:t>
            </a:r>
            <a:r>
              <a:rPr lang="en-US" dirty="0" smtClean="0"/>
              <a:t>Resurrection </a:t>
            </a:r>
            <a:r>
              <a:rPr lang="en-US" b="1" dirty="0" smtClean="0"/>
              <a:t>(</a:t>
            </a:r>
            <a:r>
              <a:rPr lang="ar-SA" b="1" dirty="0"/>
              <a:t>يوم القيامة</a:t>
            </a:r>
            <a:r>
              <a:rPr lang="en-US" b="1" dirty="0" smtClean="0"/>
              <a:t>)</a:t>
            </a:r>
          </a:p>
          <a:p>
            <a:r>
              <a:rPr lang="en-US" dirty="0" smtClean="0"/>
              <a:t>The </a:t>
            </a:r>
            <a:r>
              <a:rPr lang="en-US" dirty="0"/>
              <a:t>Day of </a:t>
            </a:r>
            <a:r>
              <a:rPr lang="en-US" dirty="0" smtClean="0"/>
              <a:t>Reckoning </a:t>
            </a:r>
            <a:r>
              <a:rPr lang="en-US" sz="1800" dirty="0" smtClean="0"/>
              <a:t>[calculation] </a:t>
            </a:r>
            <a:r>
              <a:rPr lang="en-US" b="1" dirty="0" smtClean="0"/>
              <a:t>(</a:t>
            </a:r>
            <a:r>
              <a:rPr lang="ar-SA" b="1" dirty="0"/>
              <a:t>يوم الحساب</a:t>
            </a:r>
            <a:r>
              <a:rPr lang="en-US" b="1" dirty="0" smtClean="0"/>
              <a:t>)</a:t>
            </a:r>
          </a:p>
          <a:p>
            <a:r>
              <a:rPr lang="en-US" dirty="0" smtClean="0"/>
              <a:t>The Hour/ The Final Hour </a:t>
            </a:r>
            <a:r>
              <a:rPr lang="en-US" b="1" dirty="0" smtClean="0"/>
              <a:t>(</a:t>
            </a:r>
            <a:r>
              <a:rPr lang="ar-SA" b="1" dirty="0"/>
              <a:t>الساعه</a:t>
            </a:r>
            <a:r>
              <a:rPr lang="en-US" b="1" dirty="0" smtClean="0"/>
              <a:t>)</a:t>
            </a:r>
            <a:endParaRPr lang="en-US" b="1" dirty="0"/>
          </a:p>
          <a:p>
            <a:r>
              <a:rPr lang="en-US" dirty="0" smtClean="0"/>
              <a:t>Last Day </a:t>
            </a:r>
          </a:p>
          <a:p>
            <a:r>
              <a:rPr lang="en-US" dirty="0" smtClean="0"/>
              <a:t>Final Day</a:t>
            </a:r>
          </a:p>
          <a:p>
            <a:r>
              <a:rPr lang="en-US" dirty="0" smtClean="0"/>
              <a:t>Day of Justice</a:t>
            </a:r>
          </a:p>
          <a:p>
            <a:r>
              <a:rPr lang="en-US" dirty="0" smtClean="0"/>
              <a:t>Doomsday</a:t>
            </a:r>
          </a:p>
          <a:p>
            <a:endParaRPr lang="en-US" dirty="0"/>
          </a:p>
        </p:txBody>
      </p:sp>
      <p:sp>
        <p:nvSpPr>
          <p:cNvPr id="4" name="Date Placeholder 3"/>
          <p:cNvSpPr>
            <a:spLocks noGrp="1"/>
          </p:cNvSpPr>
          <p:nvPr>
            <p:ph type="dt" sz="half" idx="10"/>
          </p:nvPr>
        </p:nvSpPr>
        <p:spPr/>
        <p:txBody>
          <a:bodyPr/>
          <a:lstStyle/>
          <a:p>
            <a:fld id="{52B50ADB-18C1-4057-A03E-F3B80FBDD8FF}" type="datetime2">
              <a:rPr lang="en-US" smtClean="0"/>
              <a:pPr/>
              <a:t>Thursday, April 16, 2015</a:t>
            </a:fld>
            <a:endParaRPr lang="en-US"/>
          </a:p>
        </p:txBody>
      </p:sp>
      <p:sp>
        <p:nvSpPr>
          <p:cNvPr id="5" name="Footer Placeholder 4"/>
          <p:cNvSpPr>
            <a:spLocks noGrp="1"/>
          </p:cNvSpPr>
          <p:nvPr>
            <p:ph type="ftr" sz="quarter" idx="11"/>
          </p:nvPr>
        </p:nvSpPr>
        <p:spPr/>
        <p:txBody>
          <a:bodyPr/>
          <a:lstStyle/>
          <a:p>
            <a:r>
              <a:rPr lang="en-US" smtClean="0"/>
              <a:t>Islamic &amp; Religious Studies                               Instructor: Prof. Abid Naeem</a:t>
            </a:r>
            <a:endParaRPr lang="en-US"/>
          </a:p>
        </p:txBody>
      </p:sp>
      <p:sp>
        <p:nvSpPr>
          <p:cNvPr id="6" name="Slide Number Placeholder 5"/>
          <p:cNvSpPr>
            <a:spLocks noGrp="1"/>
          </p:cNvSpPr>
          <p:nvPr>
            <p:ph type="sldNum" sz="quarter" idx="12"/>
          </p:nvPr>
        </p:nvSpPr>
        <p:spPr/>
        <p:txBody>
          <a:bodyPr/>
          <a:lstStyle/>
          <a:p>
            <a:fld id="{BDC78611-5E9A-402C-B872-4F7E2FF0AA88}" type="slidenum">
              <a:rPr lang="en-US" smtClean="0"/>
              <a:pPr/>
              <a:t>3</a:t>
            </a:fld>
            <a:endParaRPr lang="en-US"/>
          </a:p>
        </p:txBody>
      </p:sp>
    </p:spTree>
    <p:extLst>
      <p:ext uri="{BB962C8B-B14F-4D97-AF65-F5344CB8AC3E}">
        <p14:creationId xmlns:p14="http://schemas.microsoft.com/office/powerpoint/2010/main" val="1565092615"/>
      </p:ext>
    </p:extLst>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pPr algn="ctr"/>
            <a:r>
              <a:rPr lang="en-US" b="1" u="sng" smtClean="0"/>
              <a:t>IMPORTANT POINTS</a:t>
            </a:r>
            <a:endParaRPr lang="en-US" b="1" u="sng"/>
          </a:p>
        </p:txBody>
      </p:sp>
      <p:sp>
        <p:nvSpPr>
          <p:cNvPr id="3" name="Content Placeholder 2"/>
          <p:cNvSpPr>
            <a:spLocks noGrp="1"/>
          </p:cNvSpPr>
          <p:nvPr>
            <p:ph idx="1"/>
          </p:nvPr>
        </p:nvSpPr>
        <p:spPr>
          <a:xfrm>
            <a:off x="457200" y="1219200"/>
            <a:ext cx="8229600" cy="4906963"/>
          </a:xfrm>
        </p:spPr>
        <p:txBody>
          <a:bodyPr/>
          <a:lstStyle/>
          <a:p>
            <a:pPr>
              <a:buFont typeface="Wingdings" pitchFamily="2" charset="2"/>
              <a:buChar char="Ø"/>
            </a:pPr>
            <a:r>
              <a:rPr lang="en-US" b="1" dirty="0" smtClean="0"/>
              <a:t>Death</a:t>
            </a:r>
          </a:p>
          <a:p>
            <a:pPr>
              <a:buFont typeface="Wingdings" pitchFamily="2" charset="2"/>
              <a:buChar char="Ø"/>
            </a:pPr>
            <a:r>
              <a:rPr lang="en-US" b="1" dirty="0" err="1" smtClean="0"/>
              <a:t>Barzakh</a:t>
            </a:r>
            <a:r>
              <a:rPr lang="en-US" dirty="0" smtClean="0"/>
              <a:t> (Life between death and the day of 			judgment)</a:t>
            </a:r>
          </a:p>
          <a:p>
            <a:pPr>
              <a:buFont typeface="Wingdings" pitchFamily="2" charset="2"/>
              <a:buChar char="Ø"/>
            </a:pPr>
            <a:r>
              <a:rPr lang="en-US" b="1" dirty="0" smtClean="0"/>
              <a:t>The Day of Judgment</a:t>
            </a:r>
          </a:p>
          <a:p>
            <a:pPr marL="571500" indent="-571500" algn="ctr">
              <a:buAutoNum type="romanLcParenBoth"/>
            </a:pPr>
            <a:r>
              <a:rPr lang="en-US" dirty="0" smtClean="0"/>
              <a:t>End of the world &amp; worldly life</a:t>
            </a:r>
          </a:p>
          <a:p>
            <a:pPr marL="571500" indent="-571500" algn="ctr">
              <a:buAutoNum type="romanLcParenBoth"/>
            </a:pPr>
            <a:r>
              <a:rPr lang="en-US" dirty="0"/>
              <a:t>Resurrection </a:t>
            </a:r>
            <a:r>
              <a:rPr lang="en-US" dirty="0" smtClean="0"/>
              <a:t>of all creatures</a:t>
            </a:r>
          </a:p>
          <a:p>
            <a:pPr marL="571500" indent="-571500" algn="ctr">
              <a:buAutoNum type="romanLcParenBoth"/>
            </a:pPr>
            <a:r>
              <a:rPr lang="en-US" dirty="0"/>
              <a:t> </a:t>
            </a:r>
            <a:r>
              <a:rPr lang="en-US" dirty="0" smtClean="0"/>
              <a:t>Accountability &amp; weigh of actions</a:t>
            </a:r>
          </a:p>
          <a:p>
            <a:pPr marL="571500" indent="-571500" algn="ctr">
              <a:buAutoNum type="romanLcParenBoth"/>
            </a:pPr>
            <a:r>
              <a:rPr lang="en-US" dirty="0" smtClean="0"/>
              <a:t>Heaven &amp; Hell</a:t>
            </a:r>
          </a:p>
          <a:p>
            <a:pPr marL="571500" indent="-571500" algn="ctr">
              <a:buAutoNum type="romanLcParenBoth"/>
            </a:pPr>
            <a:r>
              <a:rPr lang="en-US" dirty="0" smtClean="0"/>
              <a:t>An eternal Life</a:t>
            </a:r>
            <a:endParaRPr lang="en-US" dirty="0"/>
          </a:p>
        </p:txBody>
      </p:sp>
      <p:sp>
        <p:nvSpPr>
          <p:cNvPr id="4" name="Date Placeholder 3"/>
          <p:cNvSpPr>
            <a:spLocks noGrp="1"/>
          </p:cNvSpPr>
          <p:nvPr>
            <p:ph type="dt" sz="half" idx="10"/>
          </p:nvPr>
        </p:nvSpPr>
        <p:spPr/>
        <p:txBody>
          <a:bodyPr/>
          <a:lstStyle/>
          <a:p>
            <a:fld id="{50C5881C-8122-48DD-AF30-8686F1407E4A}" type="datetime2">
              <a:rPr lang="en-US" smtClean="0"/>
              <a:pPr/>
              <a:t>Thursday, April 16, 2015</a:t>
            </a:fld>
            <a:endParaRPr lang="en-US"/>
          </a:p>
        </p:txBody>
      </p:sp>
      <p:sp>
        <p:nvSpPr>
          <p:cNvPr id="5" name="Slide Number Placeholder 4"/>
          <p:cNvSpPr>
            <a:spLocks noGrp="1"/>
          </p:cNvSpPr>
          <p:nvPr>
            <p:ph type="sldNum" sz="quarter" idx="12"/>
          </p:nvPr>
        </p:nvSpPr>
        <p:spPr/>
        <p:txBody>
          <a:bodyPr/>
          <a:lstStyle/>
          <a:p>
            <a:fld id="{BDC78611-5E9A-402C-B872-4F7E2FF0AA88}" type="slidenum">
              <a:rPr lang="en-US" smtClean="0"/>
              <a:pPr/>
              <a:t>4</a:t>
            </a:fld>
            <a:endParaRPr lang="en-US"/>
          </a:p>
        </p:txBody>
      </p:sp>
      <p:sp>
        <p:nvSpPr>
          <p:cNvPr id="6" name="Footer Placeholder 5"/>
          <p:cNvSpPr>
            <a:spLocks noGrp="1"/>
          </p:cNvSpPr>
          <p:nvPr>
            <p:ph type="ftr" sz="quarter" idx="11"/>
          </p:nvPr>
        </p:nvSpPr>
        <p:spPr/>
        <p:txBody>
          <a:bodyPr/>
          <a:lstStyle/>
          <a:p>
            <a:r>
              <a:rPr lang="en-US" smtClean="0"/>
              <a:t>Islamic &amp; Religious Studies                               Instructor: Prof. Abid Naeem</a:t>
            </a:r>
            <a:endParaRPr 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rLst="">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rLst="">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rLst="">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rLst="">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rLst="">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rLst="">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rLst="">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rLst="">
                                      <p:cBhvr>
                                        <p:cTn id="42"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smtClean="0"/>
              <a:t>EXACT TIME OF THE DAY OF JUDGMENT</a:t>
            </a:r>
            <a:endParaRPr lang="en-US" b="1" u="sng"/>
          </a:p>
        </p:txBody>
      </p:sp>
      <p:sp>
        <p:nvSpPr>
          <p:cNvPr id="3" name="Content Placeholder 2"/>
          <p:cNvSpPr>
            <a:spLocks noGrp="1"/>
          </p:cNvSpPr>
          <p:nvPr>
            <p:ph idx="1"/>
          </p:nvPr>
        </p:nvSpPr>
        <p:spPr/>
        <p:txBody>
          <a:bodyPr/>
          <a:lstStyle/>
          <a:p>
            <a:r>
              <a:rPr lang="en-US" smtClean="0"/>
              <a:t>The timing of the Final Day is known to Allah only. </a:t>
            </a:r>
          </a:p>
          <a:p>
            <a:pPr algn="ctr">
              <a:buNone/>
            </a:pPr>
            <a:endParaRPr lang="en-US" b="1" u="sng" smtClean="0"/>
          </a:p>
          <a:p>
            <a:pPr algn="ctr">
              <a:buNone/>
            </a:pPr>
            <a:r>
              <a:rPr lang="en-US" b="1" u="sng" smtClean="0"/>
              <a:t>STATEMENT </a:t>
            </a:r>
          </a:p>
          <a:p>
            <a:pPr algn="ctr">
              <a:buNone/>
            </a:pPr>
            <a:r>
              <a:rPr lang="en-US" b="1" u="sng" smtClean="0"/>
              <a:t>OF HOLY QURAN</a:t>
            </a:r>
          </a:p>
          <a:p>
            <a:pPr algn="ctr">
              <a:buNone/>
            </a:pPr>
            <a:r>
              <a:rPr lang="en-US" smtClean="0"/>
              <a:t>“People ask you concerning the Final Hour. Say to them; The knowledge about it is with Allah </a:t>
            </a:r>
          </a:p>
          <a:p>
            <a:pPr algn="ctr">
              <a:buNone/>
            </a:pPr>
            <a:r>
              <a:rPr lang="en-US" smtClean="0"/>
              <a:t>alone. How do you know? It may be about to happen”</a:t>
            </a:r>
          </a:p>
          <a:p>
            <a:pPr algn="ctr">
              <a:buNone/>
            </a:pPr>
            <a:r>
              <a:rPr lang="en-US" smtClean="0"/>
              <a:t>(Surah 33 Al-Ahzab Ayah 36)</a:t>
            </a:r>
          </a:p>
          <a:p>
            <a:pPr algn="ctr">
              <a:buNone/>
            </a:pPr>
            <a:endParaRPr lang="en-US" b="1" u="sng"/>
          </a:p>
        </p:txBody>
      </p:sp>
      <p:sp>
        <p:nvSpPr>
          <p:cNvPr id="4" name="Date Placeholder 3"/>
          <p:cNvSpPr>
            <a:spLocks noGrp="1"/>
          </p:cNvSpPr>
          <p:nvPr>
            <p:ph type="dt" sz="half" idx="10"/>
          </p:nvPr>
        </p:nvSpPr>
        <p:spPr/>
        <p:txBody>
          <a:bodyPr/>
          <a:lstStyle/>
          <a:p>
            <a:fld id="{DB2D32C5-E70C-440B-BC00-2BFA1BB3A88C}" type="datetime2">
              <a:rPr lang="en-US" smtClean="0"/>
              <a:pPr/>
              <a:t>Thursday, April 16, 2015</a:t>
            </a:fld>
            <a:endParaRPr lang="en-US"/>
          </a:p>
        </p:txBody>
      </p:sp>
      <p:sp>
        <p:nvSpPr>
          <p:cNvPr id="5" name="Slide Number Placeholder 4"/>
          <p:cNvSpPr>
            <a:spLocks noGrp="1"/>
          </p:cNvSpPr>
          <p:nvPr>
            <p:ph type="sldNum" sz="quarter" idx="12"/>
          </p:nvPr>
        </p:nvSpPr>
        <p:spPr/>
        <p:txBody>
          <a:bodyPr/>
          <a:lstStyle/>
          <a:p>
            <a:fld id="{BDC78611-5E9A-402C-B872-4F7E2FF0AA88}" type="slidenum">
              <a:rPr lang="en-US" smtClean="0"/>
              <a:pPr/>
              <a:t>5</a:t>
            </a:fld>
            <a:endParaRPr lang="en-US"/>
          </a:p>
        </p:txBody>
      </p:sp>
      <p:sp>
        <p:nvSpPr>
          <p:cNvPr id="6" name="Footer Placeholder 5"/>
          <p:cNvSpPr>
            <a:spLocks noGrp="1"/>
          </p:cNvSpPr>
          <p:nvPr>
            <p:ph type="ftr" sz="quarter" idx="11"/>
          </p:nvPr>
        </p:nvSpPr>
        <p:spPr/>
        <p:txBody>
          <a:bodyPr/>
          <a:lstStyle/>
          <a:p>
            <a:r>
              <a:rPr lang="en-US" smtClean="0"/>
              <a:t>Islamic &amp; Religious Studies                               Instructor: Prof. Abid Naeem</a:t>
            </a:r>
            <a:endParaRPr 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rLs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rLs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rLs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rLs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rLs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rLst="">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smtClean="0"/>
              <a:t>STATEMENT OF HADITH</a:t>
            </a:r>
            <a:endParaRPr lang="en-US" b="1" u="sng"/>
          </a:p>
        </p:txBody>
      </p:sp>
      <p:sp>
        <p:nvSpPr>
          <p:cNvPr id="3" name="Content Placeholder 2"/>
          <p:cNvSpPr>
            <a:spLocks noGrp="1"/>
          </p:cNvSpPr>
          <p:nvPr>
            <p:ph idx="1"/>
          </p:nvPr>
        </p:nvSpPr>
        <p:spPr/>
        <p:txBody>
          <a:bodyPr/>
          <a:lstStyle/>
          <a:p>
            <a:endParaRPr lang="en-US" dirty="0" smtClean="0"/>
          </a:p>
          <a:p>
            <a:endParaRPr lang="en-US" dirty="0" smtClean="0"/>
          </a:p>
          <a:p>
            <a:r>
              <a:rPr lang="en-US" dirty="0" smtClean="0"/>
              <a:t>In Hadith-e-</a:t>
            </a:r>
            <a:r>
              <a:rPr lang="en-US" dirty="0" err="1" smtClean="0"/>
              <a:t>Jibrail</a:t>
            </a:r>
            <a:r>
              <a:rPr lang="en-US" dirty="0" smtClean="0"/>
              <a:t>, in reply of </a:t>
            </a:r>
            <a:r>
              <a:rPr lang="en-US" dirty="0" err="1" smtClean="0"/>
              <a:t>Hazrat</a:t>
            </a:r>
            <a:r>
              <a:rPr lang="en-US" dirty="0" smtClean="0"/>
              <a:t> </a:t>
            </a:r>
            <a:r>
              <a:rPr lang="en-US" dirty="0" err="1" smtClean="0"/>
              <a:t>Jibrail</a:t>
            </a:r>
            <a:r>
              <a:rPr lang="en-US" dirty="0" smtClean="0"/>
              <a:t> about timing of Final Day, Holy Prophet (S.A.W.) said that he does not know about its exact time but he told its major signs.</a:t>
            </a:r>
            <a:endParaRPr lang="en-US" dirty="0"/>
          </a:p>
        </p:txBody>
      </p:sp>
      <p:sp>
        <p:nvSpPr>
          <p:cNvPr id="4" name="Date Placeholder 3"/>
          <p:cNvSpPr>
            <a:spLocks noGrp="1"/>
          </p:cNvSpPr>
          <p:nvPr>
            <p:ph type="dt" sz="half" idx="10"/>
          </p:nvPr>
        </p:nvSpPr>
        <p:spPr/>
        <p:txBody>
          <a:bodyPr/>
          <a:lstStyle/>
          <a:p>
            <a:fld id="{4440D47F-CD12-4404-8C27-55562B577EBF}" type="datetime2">
              <a:rPr lang="en-US" smtClean="0"/>
              <a:pPr/>
              <a:t>Thursday, April 16, 2015</a:t>
            </a:fld>
            <a:endParaRPr lang="en-US"/>
          </a:p>
        </p:txBody>
      </p:sp>
      <p:sp>
        <p:nvSpPr>
          <p:cNvPr id="5" name="Slide Number Placeholder 4"/>
          <p:cNvSpPr>
            <a:spLocks noGrp="1"/>
          </p:cNvSpPr>
          <p:nvPr>
            <p:ph type="sldNum" sz="quarter" idx="12"/>
          </p:nvPr>
        </p:nvSpPr>
        <p:spPr/>
        <p:txBody>
          <a:bodyPr/>
          <a:lstStyle/>
          <a:p>
            <a:fld id="{BDC78611-5E9A-402C-B872-4F7E2FF0AA88}" type="slidenum">
              <a:rPr lang="en-US" smtClean="0"/>
              <a:pPr/>
              <a:t>6</a:t>
            </a:fld>
            <a:endParaRPr lang="en-US"/>
          </a:p>
        </p:txBody>
      </p:sp>
      <p:sp>
        <p:nvSpPr>
          <p:cNvPr id="6" name="Footer Placeholder 5"/>
          <p:cNvSpPr>
            <a:spLocks noGrp="1"/>
          </p:cNvSpPr>
          <p:nvPr>
            <p:ph type="ftr" sz="quarter" idx="11"/>
          </p:nvPr>
        </p:nvSpPr>
        <p:spPr/>
        <p:txBody>
          <a:bodyPr/>
          <a:lstStyle/>
          <a:p>
            <a:r>
              <a:rPr lang="en-US" smtClean="0"/>
              <a:t>Islamic &amp; Religious Studies                               Instructor: Prof. Abid Naeem</a:t>
            </a:r>
            <a:endParaRPr lang="en-US"/>
          </a:p>
        </p:txBody>
      </p:sp>
    </p:spTree>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smtClean="0"/>
              <a:t>SIGNS OF THE DAY OF JUDGEMENT</a:t>
            </a:r>
            <a:endParaRPr lang="en-US" b="1" u="sng" dirty="0"/>
          </a:p>
        </p:txBody>
      </p:sp>
      <p:sp>
        <p:nvSpPr>
          <p:cNvPr id="3" name="Content Placeholder 2"/>
          <p:cNvSpPr>
            <a:spLocks noGrp="1"/>
          </p:cNvSpPr>
          <p:nvPr>
            <p:ph idx="1"/>
          </p:nvPr>
        </p:nvSpPr>
        <p:spPr/>
        <p:txBody>
          <a:bodyPr/>
          <a:lstStyle/>
          <a:p>
            <a:pPr>
              <a:buNone/>
            </a:pPr>
            <a:r>
              <a:rPr lang="en-US" dirty="0" smtClean="0"/>
              <a:t/>
            </a:r>
            <a:br>
              <a:rPr lang="en-US" dirty="0" smtClean="0"/>
            </a:br>
            <a:endParaRPr lang="en-US" dirty="0" smtClean="0"/>
          </a:p>
          <a:p>
            <a:r>
              <a:rPr lang="en-US" dirty="0" smtClean="0"/>
              <a:t>Signs of the Day of Judgment are of </a:t>
            </a:r>
            <a:r>
              <a:rPr lang="en-US" b="1" dirty="0" smtClean="0"/>
              <a:t>TWO</a:t>
            </a:r>
            <a:r>
              <a:rPr lang="en-US" dirty="0" smtClean="0"/>
              <a:t> kinds:</a:t>
            </a:r>
          </a:p>
          <a:p>
            <a:pPr marL="571500" indent="-571500" algn="ctr">
              <a:buAutoNum type="romanLcParenBoth"/>
            </a:pPr>
            <a:r>
              <a:rPr lang="en-US" dirty="0" smtClean="0"/>
              <a:t>Minor Signs</a:t>
            </a:r>
          </a:p>
          <a:p>
            <a:pPr marL="571500" indent="-571500" algn="ctr">
              <a:buAutoNum type="romanLcParenBoth"/>
            </a:pPr>
            <a:r>
              <a:rPr lang="en-US" dirty="0" smtClean="0"/>
              <a:t>Major Signs</a:t>
            </a:r>
            <a:endParaRPr lang="en-US" dirty="0"/>
          </a:p>
        </p:txBody>
      </p:sp>
      <p:sp>
        <p:nvSpPr>
          <p:cNvPr id="4" name="Date Placeholder 3"/>
          <p:cNvSpPr>
            <a:spLocks noGrp="1"/>
          </p:cNvSpPr>
          <p:nvPr>
            <p:ph type="dt" sz="half" idx="10"/>
          </p:nvPr>
        </p:nvSpPr>
        <p:spPr/>
        <p:txBody>
          <a:bodyPr/>
          <a:lstStyle/>
          <a:p>
            <a:fld id="{71256376-753C-4D82-8E40-284C09A397DF}" type="datetime2">
              <a:rPr lang="en-US" smtClean="0"/>
              <a:pPr/>
              <a:t>Thursday, April 16, 2015</a:t>
            </a:fld>
            <a:endParaRPr lang="en-US"/>
          </a:p>
        </p:txBody>
      </p:sp>
      <p:sp>
        <p:nvSpPr>
          <p:cNvPr id="5" name="Slide Number Placeholder 4"/>
          <p:cNvSpPr>
            <a:spLocks noGrp="1"/>
          </p:cNvSpPr>
          <p:nvPr>
            <p:ph type="sldNum" sz="quarter" idx="12"/>
          </p:nvPr>
        </p:nvSpPr>
        <p:spPr/>
        <p:txBody>
          <a:bodyPr/>
          <a:lstStyle/>
          <a:p>
            <a:fld id="{BDC78611-5E9A-402C-B872-4F7E2FF0AA88}" type="slidenum">
              <a:rPr lang="en-US" smtClean="0"/>
              <a:pPr/>
              <a:t>7</a:t>
            </a:fld>
            <a:endParaRPr lang="en-US"/>
          </a:p>
        </p:txBody>
      </p:sp>
      <p:sp>
        <p:nvSpPr>
          <p:cNvPr id="6" name="Footer Placeholder 5"/>
          <p:cNvSpPr>
            <a:spLocks noGrp="1"/>
          </p:cNvSpPr>
          <p:nvPr>
            <p:ph type="ftr" sz="quarter" idx="11"/>
          </p:nvPr>
        </p:nvSpPr>
        <p:spPr/>
        <p:txBody>
          <a:bodyPr/>
          <a:lstStyle/>
          <a:p>
            <a:r>
              <a:rPr lang="en-US" smtClean="0"/>
              <a:t>Islamic &amp; Religious Studies                               Instructor: Prof. Abid Naeem</a:t>
            </a:r>
            <a:endParaRPr lang="en-US"/>
          </a:p>
        </p:txBody>
      </p:sp>
    </p:spTree>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Minor Signs</a:t>
            </a:r>
            <a:endParaRPr lang="en-US" dirty="0"/>
          </a:p>
        </p:txBody>
      </p:sp>
      <p:sp>
        <p:nvSpPr>
          <p:cNvPr id="3" name="Content Placeholder 2"/>
          <p:cNvSpPr>
            <a:spLocks noGrp="1"/>
          </p:cNvSpPr>
          <p:nvPr>
            <p:ph idx="1"/>
          </p:nvPr>
        </p:nvSpPr>
        <p:spPr/>
        <p:txBody>
          <a:bodyPr/>
          <a:lstStyle/>
          <a:p>
            <a:pPr algn="ctr">
              <a:buNone/>
            </a:pPr>
            <a:r>
              <a:rPr lang="en-US" b="1" dirty="0" smtClean="0"/>
              <a:t>Far Signs</a:t>
            </a:r>
            <a:endParaRPr lang="en-US" dirty="0" smtClean="0"/>
          </a:p>
          <a:p>
            <a:pPr lvl="0"/>
            <a:r>
              <a:rPr lang="en-US" dirty="0" smtClean="0"/>
              <a:t>Splitting of the moon</a:t>
            </a:r>
          </a:p>
          <a:p>
            <a:pPr lvl="0"/>
            <a:r>
              <a:rPr lang="en-US" dirty="0" smtClean="0"/>
              <a:t>Advent of the Holy Prophet </a:t>
            </a:r>
            <a:r>
              <a:rPr lang="en-US" dirty="0" err="1" smtClean="0"/>
              <a:t>Hazrat</a:t>
            </a:r>
            <a:r>
              <a:rPr lang="en-US" dirty="0" smtClean="0"/>
              <a:t> Muhammad (SAW) as Prophet of Allah</a:t>
            </a:r>
          </a:p>
          <a:p>
            <a:pPr lvl="0"/>
            <a:r>
              <a:rPr lang="en-US" dirty="0" smtClean="0"/>
              <a:t>Demise of the Holy Prophet </a:t>
            </a:r>
            <a:r>
              <a:rPr lang="en-US" dirty="0" err="1" smtClean="0"/>
              <a:t>Hazrat</a:t>
            </a:r>
            <a:r>
              <a:rPr lang="en-US" dirty="0" smtClean="0"/>
              <a:t> Muhammad (SAW)</a:t>
            </a:r>
          </a:p>
          <a:p>
            <a:pPr lvl="0"/>
            <a:r>
              <a:rPr lang="en-US" dirty="0" smtClean="0"/>
              <a:t>The Muslim conquest of Jerusalem</a:t>
            </a:r>
          </a:p>
          <a:p>
            <a:pPr lvl="0"/>
            <a:r>
              <a:rPr lang="en-US" dirty="0" smtClean="0"/>
              <a:t>The Muslim conquest of Constantinople </a:t>
            </a:r>
          </a:p>
          <a:p>
            <a:endParaRPr lang="en-US" dirty="0"/>
          </a:p>
        </p:txBody>
      </p:sp>
      <p:sp>
        <p:nvSpPr>
          <p:cNvPr id="4" name="Date Placeholder 3"/>
          <p:cNvSpPr>
            <a:spLocks noGrp="1"/>
          </p:cNvSpPr>
          <p:nvPr>
            <p:ph type="dt" sz="half" idx="10"/>
          </p:nvPr>
        </p:nvSpPr>
        <p:spPr/>
        <p:txBody>
          <a:bodyPr/>
          <a:lstStyle/>
          <a:p>
            <a:fld id="{52B50ADB-18C1-4057-A03E-F3B80FBDD8FF}" type="datetime2">
              <a:rPr lang="en-US" smtClean="0"/>
              <a:pPr/>
              <a:t>Thursday, April 16, 2015</a:t>
            </a:fld>
            <a:endParaRPr lang="en-US"/>
          </a:p>
        </p:txBody>
      </p:sp>
      <p:sp>
        <p:nvSpPr>
          <p:cNvPr id="5" name="Footer Placeholder 4"/>
          <p:cNvSpPr>
            <a:spLocks noGrp="1"/>
          </p:cNvSpPr>
          <p:nvPr>
            <p:ph type="ftr" sz="quarter" idx="11"/>
          </p:nvPr>
        </p:nvSpPr>
        <p:spPr/>
        <p:txBody>
          <a:bodyPr/>
          <a:lstStyle/>
          <a:p>
            <a:r>
              <a:rPr lang="en-US" smtClean="0"/>
              <a:t>Islamic &amp; Religious Studies                               Instructor: Prof. Abid Naeem</a:t>
            </a:r>
            <a:endParaRPr lang="en-US"/>
          </a:p>
        </p:txBody>
      </p:sp>
      <p:sp>
        <p:nvSpPr>
          <p:cNvPr id="6" name="Slide Number Placeholder 5"/>
          <p:cNvSpPr>
            <a:spLocks noGrp="1"/>
          </p:cNvSpPr>
          <p:nvPr>
            <p:ph type="sldNum" sz="quarter" idx="12"/>
          </p:nvPr>
        </p:nvSpPr>
        <p:spPr/>
        <p:txBody>
          <a:bodyPr/>
          <a:lstStyle/>
          <a:p>
            <a:fld id="{BDC78611-5E9A-402C-B872-4F7E2FF0AA88}" type="slidenum">
              <a:rPr lang="en-US" smtClean="0"/>
              <a:pPr/>
              <a:t>8</a:t>
            </a:fld>
            <a:endParaRPr lang="en-US"/>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90600"/>
          </a:xfrm>
        </p:spPr>
        <p:txBody>
          <a:bodyPr>
            <a:normAutofit fontScale="90000"/>
          </a:bodyPr>
          <a:lstStyle/>
          <a:p>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Intermediate Signs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pPr lvl="0"/>
            <a:r>
              <a:rPr lang="en-US" dirty="0" smtClean="0"/>
              <a:t>Naked, destitute, barefooted shepherds will compete in building tall buildings</a:t>
            </a:r>
          </a:p>
          <a:p>
            <a:pPr lvl="0"/>
            <a:r>
              <a:rPr lang="en-US" dirty="0" smtClean="0"/>
              <a:t>Knowledge will be taken away (by the death of people of knowledge) and ignorance will take place </a:t>
            </a:r>
          </a:p>
          <a:p>
            <a:pPr lvl="0"/>
            <a:r>
              <a:rPr lang="en-US" dirty="0" smtClean="0"/>
              <a:t>Wine (Intoxicants) will be drunk in great quantities</a:t>
            </a:r>
          </a:p>
          <a:p>
            <a:pPr lvl="0"/>
            <a:r>
              <a:rPr lang="en-US" dirty="0" smtClean="0"/>
              <a:t>Fornication will be widespread</a:t>
            </a:r>
          </a:p>
          <a:p>
            <a:pPr lvl="0"/>
            <a:r>
              <a:rPr lang="en-US" dirty="0" smtClean="0"/>
              <a:t>Earthquakes will increase </a:t>
            </a:r>
          </a:p>
          <a:p>
            <a:pPr lvl="0"/>
            <a:r>
              <a:rPr lang="en-US" dirty="0" smtClean="0"/>
              <a:t>Time will pass more quickly </a:t>
            </a:r>
          </a:p>
          <a:p>
            <a:pPr lvl="0"/>
            <a:r>
              <a:rPr lang="en-US" b="1" i="1" dirty="0" err="1" smtClean="0"/>
              <a:t>Fitan</a:t>
            </a:r>
            <a:r>
              <a:rPr lang="en-US" dirty="0" smtClean="0"/>
              <a:t> (tribulations) will prevail </a:t>
            </a:r>
          </a:p>
          <a:p>
            <a:pPr lvl="0"/>
            <a:r>
              <a:rPr lang="en-US" dirty="0" smtClean="0"/>
              <a:t>Bloodshed will increase </a:t>
            </a:r>
          </a:p>
          <a:p>
            <a:pPr lvl="0"/>
            <a:r>
              <a:rPr lang="en-US" dirty="0" smtClean="0"/>
              <a:t>Trustworthiness will be lost</a:t>
            </a:r>
          </a:p>
          <a:p>
            <a:endParaRPr lang="en-US" dirty="0"/>
          </a:p>
        </p:txBody>
      </p:sp>
      <p:sp>
        <p:nvSpPr>
          <p:cNvPr id="4" name="Date Placeholder 3"/>
          <p:cNvSpPr>
            <a:spLocks noGrp="1"/>
          </p:cNvSpPr>
          <p:nvPr>
            <p:ph type="dt" sz="half" idx="10"/>
          </p:nvPr>
        </p:nvSpPr>
        <p:spPr/>
        <p:txBody>
          <a:bodyPr/>
          <a:lstStyle/>
          <a:p>
            <a:fld id="{52B50ADB-18C1-4057-A03E-F3B80FBDD8FF}" type="datetime2">
              <a:rPr lang="en-US" smtClean="0"/>
              <a:pPr/>
              <a:t>Thursday, April 16, 2015</a:t>
            </a:fld>
            <a:endParaRPr lang="en-US"/>
          </a:p>
        </p:txBody>
      </p:sp>
      <p:sp>
        <p:nvSpPr>
          <p:cNvPr id="5" name="Footer Placeholder 4"/>
          <p:cNvSpPr>
            <a:spLocks noGrp="1"/>
          </p:cNvSpPr>
          <p:nvPr>
            <p:ph type="ftr" sz="quarter" idx="11"/>
          </p:nvPr>
        </p:nvSpPr>
        <p:spPr/>
        <p:txBody>
          <a:bodyPr/>
          <a:lstStyle/>
          <a:p>
            <a:r>
              <a:rPr lang="en-US" smtClean="0"/>
              <a:t>Islamic &amp; Religious Studies                               Instructor: Prof. Abid Naeem</a:t>
            </a:r>
            <a:endParaRPr lang="en-US"/>
          </a:p>
        </p:txBody>
      </p:sp>
      <p:sp>
        <p:nvSpPr>
          <p:cNvPr id="6" name="Slide Number Placeholder 5"/>
          <p:cNvSpPr>
            <a:spLocks noGrp="1"/>
          </p:cNvSpPr>
          <p:nvPr>
            <p:ph type="sldNum" sz="quarter" idx="12"/>
          </p:nvPr>
        </p:nvSpPr>
        <p:spPr/>
        <p:txBody>
          <a:bodyPr/>
          <a:lstStyle/>
          <a:p>
            <a:fld id="{BDC78611-5E9A-402C-B872-4F7E2FF0AA88}" type="slidenum">
              <a:rPr lang="en-US" smtClean="0"/>
              <a:pPr/>
              <a:t>9</a:t>
            </a:fld>
            <a:endParaRPr lang="en-US"/>
          </a:p>
        </p:txBody>
      </p:sp>
    </p:spTree>
  </p:cSld>
  <p:clrMapOvr>
    <a:masterClrMapping/>
  </p:clrMapOvr>
  <p:transition spd="slow">
    <p:push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smtClean="0"/>
              <a:t>People will stop offering the prayers</a:t>
            </a:r>
          </a:p>
          <a:p>
            <a:r>
              <a:rPr lang="en-US" dirty="0" smtClean="0"/>
              <a:t>Dishonesty will be the way of life</a:t>
            </a:r>
          </a:p>
          <a:p>
            <a:r>
              <a:rPr lang="en-US" dirty="0" smtClean="0"/>
              <a:t>Falsehood will become a virtue</a:t>
            </a:r>
          </a:p>
          <a:p>
            <a:r>
              <a:rPr lang="en-US" dirty="0" smtClean="0"/>
              <a:t>People will mortgage their faith for worldly gain</a:t>
            </a:r>
          </a:p>
          <a:p>
            <a:r>
              <a:rPr lang="en-US" dirty="0" smtClean="0"/>
              <a:t>Usury and bribery will become legitimate</a:t>
            </a:r>
          </a:p>
          <a:p>
            <a:r>
              <a:rPr lang="en-US" dirty="0" smtClean="0"/>
              <a:t>Imbeciles would rule over the wise</a:t>
            </a:r>
          </a:p>
          <a:p>
            <a:r>
              <a:rPr lang="en-US" dirty="0" smtClean="0"/>
              <a:t>Blood of innocents would be shed</a:t>
            </a:r>
          </a:p>
          <a:p>
            <a:r>
              <a:rPr lang="en-US" dirty="0" smtClean="0"/>
              <a:t>Pride will be taken on acts of oppression</a:t>
            </a:r>
          </a:p>
          <a:p>
            <a:r>
              <a:rPr lang="en-US" dirty="0" smtClean="0"/>
              <a:t>The rulers will be corrupt</a:t>
            </a:r>
          </a:p>
          <a:p>
            <a:r>
              <a:rPr lang="en-US" dirty="0" smtClean="0"/>
              <a:t>The scholars will be hypocrites</a:t>
            </a:r>
          </a:p>
          <a:p>
            <a:r>
              <a:rPr lang="en-US" dirty="0" smtClean="0"/>
              <a:t>There will be acute famine at the time</a:t>
            </a:r>
          </a:p>
          <a:p>
            <a:r>
              <a:rPr lang="en-US" dirty="0" smtClean="0"/>
              <a:t>There will be no shame amongst people</a:t>
            </a:r>
          </a:p>
          <a:p>
            <a:r>
              <a:rPr lang="en-US" dirty="0" smtClean="0"/>
              <a:t>Many people would worship Satan</a:t>
            </a:r>
            <a:endParaRPr lang="en-US" dirty="0"/>
          </a:p>
        </p:txBody>
      </p:sp>
      <p:sp>
        <p:nvSpPr>
          <p:cNvPr id="4" name="Date Placeholder 3"/>
          <p:cNvSpPr>
            <a:spLocks noGrp="1"/>
          </p:cNvSpPr>
          <p:nvPr>
            <p:ph type="dt" sz="half" idx="10"/>
          </p:nvPr>
        </p:nvSpPr>
        <p:spPr/>
        <p:txBody>
          <a:bodyPr/>
          <a:lstStyle/>
          <a:p>
            <a:fld id="{52B50ADB-18C1-4057-A03E-F3B80FBDD8FF}" type="datetime2">
              <a:rPr lang="en-US" smtClean="0"/>
              <a:pPr/>
              <a:t>Thursday, April 16, 2015</a:t>
            </a:fld>
            <a:endParaRPr lang="en-US"/>
          </a:p>
        </p:txBody>
      </p:sp>
      <p:sp>
        <p:nvSpPr>
          <p:cNvPr id="5" name="Footer Placeholder 4"/>
          <p:cNvSpPr>
            <a:spLocks noGrp="1"/>
          </p:cNvSpPr>
          <p:nvPr>
            <p:ph type="ftr" sz="quarter" idx="11"/>
          </p:nvPr>
        </p:nvSpPr>
        <p:spPr/>
        <p:txBody>
          <a:bodyPr/>
          <a:lstStyle/>
          <a:p>
            <a:r>
              <a:rPr lang="en-US" smtClean="0"/>
              <a:t>Islamic &amp; Religious Studies                               Instructor: Prof. Abid Naeem</a:t>
            </a:r>
            <a:endParaRPr lang="en-US"/>
          </a:p>
        </p:txBody>
      </p:sp>
      <p:sp>
        <p:nvSpPr>
          <p:cNvPr id="6" name="Slide Number Placeholder 5"/>
          <p:cNvSpPr>
            <a:spLocks noGrp="1"/>
          </p:cNvSpPr>
          <p:nvPr>
            <p:ph type="sldNum" sz="quarter" idx="12"/>
          </p:nvPr>
        </p:nvSpPr>
        <p:spPr/>
        <p:txBody>
          <a:bodyPr/>
          <a:lstStyle/>
          <a:p>
            <a:fld id="{BDC78611-5E9A-402C-B872-4F7E2FF0AA88}" type="slidenum">
              <a:rPr lang="en-US" smtClean="0"/>
              <a:pPr/>
              <a:t>10</a:t>
            </a:fld>
            <a:endParaRPr lang="en-US"/>
          </a:p>
        </p:txBody>
      </p:sp>
    </p:spTree>
  </p:cSld>
  <p:clrMapOvr>
    <a:masterClrMapping/>
  </p:clrMapOvr>
  <p:transition spd="slow">
    <p:cover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20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20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20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20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19912"/>
          </a:xfrm>
        </p:spPr>
        <p:txBody>
          <a:bodyPr/>
          <a:lstStyle/>
          <a:p>
            <a:pPr algn="ctr"/>
            <a:r>
              <a:rPr lang="en-US" b="1" u="sng" smtClean="0"/>
              <a:t>MAJOR SIGNS</a:t>
            </a:r>
            <a:endParaRPr lang="en-US" b="1" u="sng"/>
          </a:p>
        </p:txBody>
      </p:sp>
      <p:sp>
        <p:nvSpPr>
          <p:cNvPr id="3" name="Content Placeholder 2"/>
          <p:cNvSpPr>
            <a:spLocks noGrp="1"/>
          </p:cNvSpPr>
          <p:nvPr>
            <p:ph idx="1"/>
          </p:nvPr>
        </p:nvSpPr>
        <p:spPr>
          <a:xfrm>
            <a:off x="457200" y="1600200"/>
            <a:ext cx="8229600" cy="4724400"/>
          </a:xfrm>
        </p:spPr>
        <p:txBody>
          <a:bodyPr>
            <a:normAutofit fontScale="92500" lnSpcReduction="10000"/>
          </a:bodyPr>
          <a:lstStyle/>
          <a:p>
            <a:pPr algn="ctr">
              <a:buNone/>
            </a:pPr>
            <a:r>
              <a:rPr lang="en-US" b="1" u="sng" dirty="0" smtClean="0"/>
              <a:t>THE ADVENT OF THE DAJJAL (</a:t>
            </a:r>
            <a:r>
              <a:rPr lang="ar-SA" b="1" u="sng" dirty="0"/>
              <a:t>المسيح الدجّال</a:t>
            </a:r>
            <a:r>
              <a:rPr lang="en-US" b="1" u="sng" dirty="0" smtClean="0"/>
              <a:t>)</a:t>
            </a:r>
          </a:p>
          <a:p>
            <a:pPr algn="ctr">
              <a:buNone/>
            </a:pPr>
            <a:endParaRPr lang="en-US" b="1" u="sng" dirty="0" smtClean="0"/>
          </a:p>
          <a:p>
            <a:r>
              <a:rPr lang="en-US" dirty="0" err="1" smtClean="0"/>
              <a:t>Dajjal</a:t>
            </a:r>
            <a:r>
              <a:rPr lang="en-US" dirty="0" smtClean="0"/>
              <a:t> (Pseudo-Christ/ Anti-Christ) </a:t>
            </a:r>
            <a:r>
              <a:rPr lang="en-US" dirty="0"/>
              <a:t>is </a:t>
            </a:r>
            <a:r>
              <a:rPr lang="en-US" b="1" dirty="0"/>
              <a:t>ONE EYED </a:t>
            </a:r>
            <a:r>
              <a:rPr lang="en-US" dirty="0"/>
              <a:t>(blind in the right eye) </a:t>
            </a:r>
            <a:r>
              <a:rPr lang="en-US" b="1" dirty="0" smtClean="0"/>
              <a:t>impostor</a:t>
            </a:r>
            <a:r>
              <a:rPr lang="en-US" dirty="0" smtClean="0"/>
              <a:t> who will first claim to be a Prophet and then a god. </a:t>
            </a:r>
            <a:endParaRPr lang="en-US" dirty="0"/>
          </a:p>
          <a:p>
            <a:pPr marL="0" indent="0">
              <a:buNone/>
            </a:pPr>
            <a:endParaRPr lang="en-US" dirty="0" smtClean="0"/>
          </a:p>
          <a:p>
            <a:r>
              <a:rPr lang="en-US" dirty="0" smtClean="0"/>
              <a:t>His followers will be mostly Jews, women and all those who have weak faith including Muslims . </a:t>
            </a:r>
          </a:p>
          <a:p>
            <a:endParaRPr lang="en-US" dirty="0" smtClean="0"/>
          </a:p>
          <a:p>
            <a:r>
              <a:rPr lang="en-US" dirty="0" smtClean="0"/>
              <a:t>He will march over the whole earth, except for the two cities of </a:t>
            </a:r>
            <a:r>
              <a:rPr lang="en-US" dirty="0" err="1" smtClean="0"/>
              <a:t>Makkah</a:t>
            </a:r>
            <a:r>
              <a:rPr lang="en-US" dirty="0" smtClean="0"/>
              <a:t> and </a:t>
            </a:r>
            <a:r>
              <a:rPr lang="en-US" dirty="0" err="1" smtClean="0"/>
              <a:t>Madinah</a:t>
            </a:r>
            <a:r>
              <a:rPr lang="en-US" dirty="0" smtClean="0"/>
              <a:t>, into which he will be banned from entering by the angels. </a:t>
            </a:r>
          </a:p>
          <a:p>
            <a:endParaRPr lang="en-US" dirty="0"/>
          </a:p>
        </p:txBody>
      </p:sp>
      <p:sp>
        <p:nvSpPr>
          <p:cNvPr id="4" name="Date Placeholder 3"/>
          <p:cNvSpPr>
            <a:spLocks noGrp="1"/>
          </p:cNvSpPr>
          <p:nvPr>
            <p:ph type="dt" sz="half" idx="10"/>
          </p:nvPr>
        </p:nvSpPr>
        <p:spPr/>
        <p:txBody>
          <a:bodyPr/>
          <a:lstStyle/>
          <a:p>
            <a:fld id="{C03D2062-4209-4665-9AB8-76809294E2CD}" type="datetime2">
              <a:rPr lang="en-US" smtClean="0"/>
              <a:pPr/>
              <a:t>Thursday, April 16, 2015</a:t>
            </a:fld>
            <a:endParaRPr lang="en-US"/>
          </a:p>
        </p:txBody>
      </p:sp>
      <p:sp>
        <p:nvSpPr>
          <p:cNvPr id="5" name="Slide Number Placeholder 4"/>
          <p:cNvSpPr>
            <a:spLocks noGrp="1"/>
          </p:cNvSpPr>
          <p:nvPr>
            <p:ph type="sldNum" sz="quarter" idx="12"/>
          </p:nvPr>
        </p:nvSpPr>
        <p:spPr>
          <a:xfrm>
            <a:off x="8001000" y="6356350"/>
            <a:ext cx="762000" cy="365125"/>
          </a:xfrm>
        </p:spPr>
        <p:txBody>
          <a:bodyPr/>
          <a:lstStyle/>
          <a:p>
            <a:fld id="{BDC78611-5E9A-402C-B872-4F7E2FF0AA88}" type="slidenum">
              <a:rPr lang="en-US" smtClean="0"/>
              <a:pPr/>
              <a:t>11</a:t>
            </a:fld>
            <a:endParaRPr lang="en-US"/>
          </a:p>
        </p:txBody>
      </p:sp>
      <p:sp>
        <p:nvSpPr>
          <p:cNvPr id="6" name="Footer Placeholder 5"/>
          <p:cNvSpPr>
            <a:spLocks noGrp="1"/>
          </p:cNvSpPr>
          <p:nvPr>
            <p:ph type="ftr" sz="quarter" idx="11"/>
          </p:nvPr>
        </p:nvSpPr>
        <p:spPr>
          <a:xfrm>
            <a:off x="2743200" y="6356350"/>
            <a:ext cx="3352800" cy="365125"/>
          </a:xfrm>
        </p:spPr>
        <p:txBody>
          <a:bodyPr/>
          <a:lstStyle/>
          <a:p>
            <a:r>
              <a:rPr lang="en-US" smtClean="0"/>
              <a:t>Islamic &amp; Religious Studies                               Instructor: Prof. Abid Naeem</a:t>
            </a:r>
            <a:endParaRPr 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rLst="">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rLst="">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rLst="">
                                      <p:cBhvr>
                                        <p:cTn id="17" dur="20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rLst="">
                                      <p:cBhvr>
                                        <p:cTn id="22"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05800" cy="1752600"/>
          </a:xfrm>
        </p:spPr>
        <p:txBody>
          <a:bodyPr>
            <a:normAutofit fontScale="90000"/>
          </a:bodyPr>
          <a:lstStyle/>
          <a:p>
            <a:r>
              <a:rPr lang="en-US" b="1" dirty="0" smtClean="0"/>
              <a:t/>
            </a:r>
            <a:br>
              <a:rPr lang="en-US" b="1" dirty="0" smtClean="0"/>
            </a:br>
            <a:r>
              <a:rPr lang="en-US" b="1" dirty="0"/>
              <a:t/>
            </a:r>
            <a:br>
              <a:rPr lang="en-US" b="1" dirty="0"/>
            </a:br>
            <a:r>
              <a:rPr lang="en-US" b="1" dirty="0" smtClean="0"/>
              <a:t/>
            </a:r>
            <a:br>
              <a:rPr lang="en-US" b="1" dirty="0" smtClean="0"/>
            </a:br>
            <a:r>
              <a:rPr lang="en-US" b="1" dirty="0"/>
              <a:t/>
            </a:r>
            <a:br>
              <a:rPr lang="en-US" b="1" dirty="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a:t/>
            </a:r>
            <a:br>
              <a:rPr lang="en-US" b="1" dirty="0"/>
            </a:br>
            <a:r>
              <a:rPr lang="en-US" b="1" dirty="0" smtClean="0"/>
              <a:t>THE </a:t>
            </a:r>
            <a:r>
              <a:rPr lang="en-US" b="1" dirty="0"/>
              <a:t>ADVENT OF THE DAJJAL</a:t>
            </a:r>
            <a:br>
              <a:rPr lang="en-US" b="1" dirty="0"/>
            </a:br>
            <a:endParaRPr lang="en-US" b="1" dirty="0"/>
          </a:p>
        </p:txBody>
      </p:sp>
      <p:sp>
        <p:nvSpPr>
          <p:cNvPr id="3" name="Content Placeholder 2"/>
          <p:cNvSpPr>
            <a:spLocks noGrp="1"/>
          </p:cNvSpPr>
          <p:nvPr>
            <p:ph idx="1"/>
          </p:nvPr>
        </p:nvSpPr>
        <p:spPr/>
        <p:txBody>
          <a:bodyPr/>
          <a:lstStyle/>
          <a:p>
            <a:endParaRPr lang="en-US" dirty="0" smtClean="0"/>
          </a:p>
          <a:p>
            <a:r>
              <a:rPr lang="en-US" dirty="0" smtClean="0"/>
              <a:t>The </a:t>
            </a:r>
            <a:r>
              <a:rPr lang="en-US" dirty="0"/>
              <a:t>appearance of the </a:t>
            </a:r>
            <a:r>
              <a:rPr lang="en-US" dirty="0" err="1"/>
              <a:t>Dajjal</a:t>
            </a:r>
            <a:r>
              <a:rPr lang="en-US" dirty="0"/>
              <a:t> will be a tremendous affliction. </a:t>
            </a:r>
          </a:p>
          <a:p>
            <a:r>
              <a:rPr lang="en-US" dirty="0"/>
              <a:t>He </a:t>
            </a:r>
            <a:r>
              <a:rPr lang="en-US" dirty="0" smtClean="0"/>
              <a:t>will have some God like powers e.g. he will </a:t>
            </a:r>
            <a:r>
              <a:rPr lang="en-US" dirty="0"/>
              <a:t>command the sky to rain, and it will, and the earth to give out its produce and it will. </a:t>
            </a:r>
          </a:p>
          <a:p>
            <a:r>
              <a:rPr lang="en-US" dirty="0"/>
              <a:t>The Holy Messenger warned against following him, or believing </a:t>
            </a:r>
            <a:r>
              <a:rPr lang="en-US" dirty="0" smtClean="0"/>
              <a:t>in him</a:t>
            </a:r>
            <a:r>
              <a:rPr lang="en-US" dirty="0"/>
              <a:t>. </a:t>
            </a:r>
          </a:p>
          <a:p>
            <a:endParaRPr lang="en-US" dirty="0"/>
          </a:p>
        </p:txBody>
      </p:sp>
      <p:sp>
        <p:nvSpPr>
          <p:cNvPr id="4" name="Date Placeholder 3"/>
          <p:cNvSpPr>
            <a:spLocks noGrp="1"/>
          </p:cNvSpPr>
          <p:nvPr>
            <p:ph type="dt" sz="half" idx="10"/>
          </p:nvPr>
        </p:nvSpPr>
        <p:spPr/>
        <p:txBody>
          <a:bodyPr/>
          <a:lstStyle/>
          <a:p>
            <a:fld id="{52B50ADB-18C1-4057-A03E-F3B80FBDD8FF}" type="datetime2">
              <a:rPr lang="en-US" smtClean="0"/>
              <a:pPr/>
              <a:t>Thursday, April 16, 2015</a:t>
            </a:fld>
            <a:endParaRPr lang="en-US"/>
          </a:p>
        </p:txBody>
      </p:sp>
      <p:sp>
        <p:nvSpPr>
          <p:cNvPr id="5" name="Footer Placeholder 4"/>
          <p:cNvSpPr>
            <a:spLocks noGrp="1"/>
          </p:cNvSpPr>
          <p:nvPr>
            <p:ph type="ftr" sz="quarter" idx="11"/>
          </p:nvPr>
        </p:nvSpPr>
        <p:spPr/>
        <p:txBody>
          <a:bodyPr/>
          <a:lstStyle/>
          <a:p>
            <a:r>
              <a:rPr lang="en-US" smtClean="0"/>
              <a:t>Islamic &amp; Religious Studies                               Instructor: Prof. Abid Naeem</a:t>
            </a:r>
            <a:endParaRPr lang="en-US"/>
          </a:p>
        </p:txBody>
      </p:sp>
      <p:sp>
        <p:nvSpPr>
          <p:cNvPr id="6" name="Slide Number Placeholder 5"/>
          <p:cNvSpPr>
            <a:spLocks noGrp="1"/>
          </p:cNvSpPr>
          <p:nvPr>
            <p:ph type="sldNum" sz="quarter" idx="12"/>
          </p:nvPr>
        </p:nvSpPr>
        <p:spPr/>
        <p:txBody>
          <a:bodyPr/>
          <a:lstStyle/>
          <a:p>
            <a:fld id="{BDC78611-5E9A-402C-B872-4F7E2FF0AA88}" type="slidenum">
              <a:rPr lang="en-US" smtClean="0"/>
              <a:pPr/>
              <a:t>12</a:t>
            </a:fld>
            <a:endParaRPr lang="en-US"/>
          </a:p>
        </p:txBody>
      </p:sp>
    </p:spTree>
    <p:extLst>
      <p:ext uri="{BB962C8B-B14F-4D97-AF65-F5344CB8AC3E}">
        <p14:creationId xmlns:p14="http://schemas.microsoft.com/office/powerpoint/2010/main" val="127493395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iterate type="wd">
                                    <p:tmPct val="10000"/>
                                  </p:iterate>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iterate type="wd">
                                    <p:tmPct val="10000"/>
                                  </p:iterate>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iterate type="wd">
                                    <p:tmPct val="10000"/>
                                  </p:iterate>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972312"/>
          </a:xfrm>
        </p:spPr>
        <p:txBody>
          <a:bodyPr/>
          <a:lstStyle/>
          <a:p>
            <a:pPr algn="ctr"/>
            <a:r>
              <a:rPr lang="en-US" b="1" dirty="0" err="1" smtClean="0"/>
              <a:t>Ahadith</a:t>
            </a:r>
            <a:r>
              <a:rPr lang="en-US" b="1" dirty="0" smtClean="0"/>
              <a:t> about </a:t>
            </a:r>
            <a:r>
              <a:rPr lang="en-US" b="1" dirty="0" err="1" smtClean="0"/>
              <a:t>Dajjal</a:t>
            </a:r>
            <a:r>
              <a:rPr lang="en-US" b="1" dirty="0" smtClean="0"/>
              <a:t> (1)</a:t>
            </a:r>
            <a:endParaRPr lang="en-US" b="1" dirty="0"/>
          </a:p>
        </p:txBody>
      </p:sp>
      <p:sp>
        <p:nvSpPr>
          <p:cNvPr id="3" name="Content Placeholder 2"/>
          <p:cNvSpPr>
            <a:spLocks noGrp="1"/>
          </p:cNvSpPr>
          <p:nvPr>
            <p:ph idx="1"/>
          </p:nvPr>
        </p:nvSpPr>
        <p:spPr>
          <a:xfrm>
            <a:off x="457200" y="1752600"/>
            <a:ext cx="8229600" cy="4572000"/>
          </a:xfrm>
        </p:spPr>
        <p:txBody>
          <a:bodyPr>
            <a:normAutofit fontScale="92500"/>
          </a:bodyPr>
          <a:lstStyle/>
          <a:p>
            <a:r>
              <a:rPr lang="en-US" dirty="0" smtClean="0"/>
              <a:t>“Allah </a:t>
            </a:r>
            <a:r>
              <a:rPr lang="en-US" dirty="0"/>
              <a:t>is not one eyed while Messiah, Ad-</a:t>
            </a:r>
            <a:r>
              <a:rPr lang="en-US" dirty="0" err="1"/>
              <a:t>Dajjal</a:t>
            </a:r>
            <a:r>
              <a:rPr lang="en-US" dirty="0"/>
              <a:t> is blind in the right eye and his </a:t>
            </a:r>
            <a:r>
              <a:rPr lang="en-US" dirty="0" smtClean="0"/>
              <a:t>[left] eye </a:t>
            </a:r>
            <a:r>
              <a:rPr lang="en-US" dirty="0"/>
              <a:t>looks like a </a:t>
            </a:r>
            <a:r>
              <a:rPr lang="en-US" dirty="0" smtClean="0"/>
              <a:t>swollen grape”</a:t>
            </a:r>
          </a:p>
          <a:p>
            <a:pPr marL="0" indent="0">
              <a:buNone/>
            </a:pPr>
            <a:endParaRPr lang="en-US" dirty="0" smtClean="0"/>
          </a:p>
          <a:p>
            <a:r>
              <a:rPr lang="en-US" dirty="0"/>
              <a:t> "While I was sleeping, I saw myself (in a dream) performing </a:t>
            </a:r>
            <a:r>
              <a:rPr lang="en-US" dirty="0" err="1"/>
              <a:t>Tawaf</a:t>
            </a:r>
            <a:r>
              <a:rPr lang="en-US" dirty="0"/>
              <a:t> around the </a:t>
            </a:r>
            <a:r>
              <a:rPr lang="en-US" dirty="0" err="1"/>
              <a:t>Ka'ba</a:t>
            </a:r>
            <a:r>
              <a:rPr lang="en-US" dirty="0"/>
              <a:t>. Behold, I saw a reddish-white man with lank hair, and water was dropping from his head. I asked, "Who is this?' </a:t>
            </a:r>
            <a:r>
              <a:rPr lang="en-US" dirty="0" smtClean="0"/>
              <a:t>They [angels] </a:t>
            </a:r>
            <a:r>
              <a:rPr lang="en-US" dirty="0"/>
              <a:t>replied, 'The son of Mary.' Then I turned my face to see another man with a huge body, red complexion and curly hair and blind in one eye. His eye looked like a </a:t>
            </a:r>
            <a:r>
              <a:rPr lang="en-US" dirty="0" smtClean="0"/>
              <a:t>protruding out grape</a:t>
            </a:r>
            <a:r>
              <a:rPr lang="en-US" dirty="0"/>
              <a:t>. They said (to me), He is Ad-</a:t>
            </a:r>
            <a:r>
              <a:rPr lang="en-US" dirty="0" err="1"/>
              <a:t>Dajjal</a:t>
            </a:r>
            <a:r>
              <a:rPr lang="en-US" dirty="0" smtClean="0"/>
              <a:t>."</a:t>
            </a:r>
            <a:endParaRPr lang="en-US" dirty="0"/>
          </a:p>
        </p:txBody>
      </p:sp>
      <p:sp>
        <p:nvSpPr>
          <p:cNvPr id="4" name="Date Placeholder 3"/>
          <p:cNvSpPr>
            <a:spLocks noGrp="1"/>
          </p:cNvSpPr>
          <p:nvPr>
            <p:ph type="dt" sz="half" idx="10"/>
          </p:nvPr>
        </p:nvSpPr>
        <p:spPr/>
        <p:txBody>
          <a:bodyPr/>
          <a:lstStyle/>
          <a:p>
            <a:fld id="{52B50ADB-18C1-4057-A03E-F3B80FBDD8FF}" type="datetime2">
              <a:rPr lang="en-US" smtClean="0"/>
              <a:pPr/>
              <a:t>Thursday, April 16, 2015</a:t>
            </a:fld>
            <a:endParaRPr lang="en-US"/>
          </a:p>
        </p:txBody>
      </p:sp>
      <p:sp>
        <p:nvSpPr>
          <p:cNvPr id="5" name="Footer Placeholder 4"/>
          <p:cNvSpPr>
            <a:spLocks noGrp="1"/>
          </p:cNvSpPr>
          <p:nvPr>
            <p:ph type="ftr" sz="quarter" idx="11"/>
          </p:nvPr>
        </p:nvSpPr>
        <p:spPr/>
        <p:txBody>
          <a:bodyPr/>
          <a:lstStyle/>
          <a:p>
            <a:r>
              <a:rPr lang="en-US" smtClean="0"/>
              <a:t>Islamic &amp; Religious Studies                               Instructor: Prof. Abid Naeem</a:t>
            </a:r>
            <a:endParaRPr lang="en-US"/>
          </a:p>
        </p:txBody>
      </p:sp>
      <p:sp>
        <p:nvSpPr>
          <p:cNvPr id="6" name="Slide Number Placeholder 5"/>
          <p:cNvSpPr>
            <a:spLocks noGrp="1"/>
          </p:cNvSpPr>
          <p:nvPr>
            <p:ph type="sldNum" sz="quarter" idx="12"/>
          </p:nvPr>
        </p:nvSpPr>
        <p:spPr/>
        <p:txBody>
          <a:bodyPr/>
          <a:lstStyle/>
          <a:p>
            <a:fld id="{BDC78611-5E9A-402C-B872-4F7E2FF0AA88}" type="slidenum">
              <a:rPr lang="en-US" smtClean="0"/>
              <a:pPr/>
              <a:t>13</a:t>
            </a:fld>
            <a:endParaRPr lang="en-US"/>
          </a:p>
        </p:txBody>
      </p:sp>
    </p:spTree>
    <p:extLst>
      <p:ext uri="{BB962C8B-B14F-4D97-AF65-F5344CB8AC3E}">
        <p14:creationId xmlns:p14="http://schemas.microsoft.com/office/powerpoint/2010/main" val="420642625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p:cTn id="15"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p:cTn id="23"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4"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5"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26"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43712"/>
          </a:xfrm>
        </p:spPr>
        <p:txBody>
          <a:bodyPr>
            <a:normAutofit fontScale="90000"/>
          </a:bodyPr>
          <a:lstStyle/>
          <a:p>
            <a:pPr algn="ctr"/>
            <a:r>
              <a:rPr lang="en-US" b="1" dirty="0" err="1"/>
              <a:t>Ahadith</a:t>
            </a:r>
            <a:r>
              <a:rPr lang="en-US" b="1" dirty="0"/>
              <a:t> about </a:t>
            </a:r>
            <a:r>
              <a:rPr lang="en-US" b="1" dirty="0" err="1" smtClean="0"/>
              <a:t>Dajjal</a:t>
            </a:r>
            <a:r>
              <a:rPr lang="en-US" b="1" dirty="0" smtClean="0"/>
              <a:t> (2)</a:t>
            </a:r>
            <a:endParaRPr lang="en-US" b="1" dirty="0"/>
          </a:p>
        </p:txBody>
      </p:sp>
      <p:sp>
        <p:nvSpPr>
          <p:cNvPr id="3" name="Content Placeholder 2"/>
          <p:cNvSpPr>
            <a:spLocks noGrp="1"/>
          </p:cNvSpPr>
          <p:nvPr>
            <p:ph idx="1"/>
          </p:nvPr>
        </p:nvSpPr>
        <p:spPr>
          <a:xfrm>
            <a:off x="457200" y="1524000"/>
            <a:ext cx="8229600" cy="4800600"/>
          </a:xfrm>
        </p:spPr>
        <p:txBody>
          <a:bodyPr>
            <a:normAutofit fontScale="85000" lnSpcReduction="20000"/>
          </a:bodyPr>
          <a:lstStyle/>
          <a:p>
            <a:r>
              <a:rPr lang="en-US" dirty="0" smtClean="0"/>
              <a:t>“There </a:t>
            </a:r>
            <a:r>
              <a:rPr lang="en-US" dirty="0"/>
              <a:t>is never a prophet who has not warned the </a:t>
            </a:r>
            <a:r>
              <a:rPr lang="en-US" dirty="0" err="1"/>
              <a:t>Ummah</a:t>
            </a:r>
            <a:r>
              <a:rPr lang="en-US" dirty="0"/>
              <a:t> of that one-eyed liar; behold he is one-eyed and your Lord is not one-eyed. On his forehead are the letters k. f. r. (</a:t>
            </a:r>
            <a:r>
              <a:rPr lang="en-US" dirty="0" err="1"/>
              <a:t>Kafir</a:t>
            </a:r>
            <a:r>
              <a:rPr lang="en-US" dirty="0" smtClean="0"/>
              <a:t>)”</a:t>
            </a:r>
          </a:p>
          <a:p>
            <a:pPr marL="0" indent="0" algn="ctr">
              <a:buNone/>
            </a:pPr>
            <a:endParaRPr lang="en-US" sz="2800" b="1" dirty="0" smtClean="0"/>
          </a:p>
          <a:p>
            <a:pPr marL="0" indent="0" algn="ctr">
              <a:buNone/>
            </a:pPr>
            <a:r>
              <a:rPr lang="en-US" sz="2800" b="1" dirty="0" smtClean="0"/>
              <a:t>Saying of </a:t>
            </a:r>
            <a:r>
              <a:rPr lang="en-US" sz="2800" b="1" dirty="0" err="1" smtClean="0"/>
              <a:t>Hazrat</a:t>
            </a:r>
            <a:r>
              <a:rPr lang="en-US" sz="2800" b="1" dirty="0" smtClean="0"/>
              <a:t> Ali (R.A.)</a:t>
            </a:r>
            <a:endParaRPr lang="en-US" sz="2800" b="1" dirty="0"/>
          </a:p>
          <a:p>
            <a:r>
              <a:rPr lang="en-US" dirty="0" smtClean="0"/>
              <a:t>“His </a:t>
            </a:r>
            <a:r>
              <a:rPr lang="en-US" dirty="0"/>
              <a:t>right eye will be punctured, and his left eye would be raised to his forehead and will be sparkling like a star. Only the believers will be able to read the word ‘</a:t>
            </a:r>
            <a:r>
              <a:rPr lang="en-US" dirty="0" err="1"/>
              <a:t>Kufr</a:t>
            </a:r>
            <a:r>
              <a:rPr lang="en-US" dirty="0"/>
              <a:t>’ [disbelief], inscribed in bold letters, on his forehead. There will be big mountains of smoke at both front and backsides of his caravan. People will anticipate food within those mountains, during the severe famine</a:t>
            </a:r>
            <a:r>
              <a:rPr lang="en-US" dirty="0" smtClean="0"/>
              <a:t>. All </a:t>
            </a:r>
            <a:r>
              <a:rPr lang="en-US" dirty="0"/>
              <a:t>rivers, falling in his way, will become dry and he will call upon people in aloud voice, </a:t>
            </a:r>
            <a:r>
              <a:rPr lang="en-US" b="1" dirty="0"/>
              <a:t>"O my friends come to me! I am your lord who has made your limbs and given you </a:t>
            </a:r>
            <a:r>
              <a:rPr lang="en-US" b="1" dirty="0" smtClean="0"/>
              <a:t>sustenance”</a:t>
            </a:r>
            <a:endParaRPr lang="en-US" b="1" dirty="0"/>
          </a:p>
        </p:txBody>
      </p:sp>
      <p:sp>
        <p:nvSpPr>
          <p:cNvPr id="4" name="Date Placeholder 3"/>
          <p:cNvSpPr>
            <a:spLocks noGrp="1"/>
          </p:cNvSpPr>
          <p:nvPr>
            <p:ph type="dt" sz="half" idx="10"/>
          </p:nvPr>
        </p:nvSpPr>
        <p:spPr/>
        <p:txBody>
          <a:bodyPr/>
          <a:lstStyle/>
          <a:p>
            <a:fld id="{52B50ADB-18C1-4057-A03E-F3B80FBDD8FF}" type="datetime2">
              <a:rPr lang="en-US" smtClean="0"/>
              <a:pPr/>
              <a:t>Thursday, April 16, 2015</a:t>
            </a:fld>
            <a:endParaRPr lang="en-US" dirty="0"/>
          </a:p>
        </p:txBody>
      </p:sp>
      <p:sp>
        <p:nvSpPr>
          <p:cNvPr id="5" name="Footer Placeholder 4"/>
          <p:cNvSpPr>
            <a:spLocks noGrp="1"/>
          </p:cNvSpPr>
          <p:nvPr>
            <p:ph type="ftr" sz="quarter" idx="11"/>
          </p:nvPr>
        </p:nvSpPr>
        <p:spPr/>
        <p:txBody>
          <a:bodyPr/>
          <a:lstStyle/>
          <a:p>
            <a:r>
              <a:rPr lang="en-US" dirty="0" smtClean="0"/>
              <a:t>Islamic &amp; Religious Studies                               Instructor: Prof. </a:t>
            </a:r>
            <a:r>
              <a:rPr lang="en-US" dirty="0" err="1" smtClean="0"/>
              <a:t>Abid</a:t>
            </a:r>
            <a:r>
              <a:rPr lang="en-US" dirty="0" smtClean="0"/>
              <a:t> </a:t>
            </a:r>
            <a:r>
              <a:rPr lang="en-US" dirty="0" err="1" smtClean="0"/>
              <a:t>Naeem</a:t>
            </a:r>
            <a:endParaRPr lang="en-US" dirty="0"/>
          </a:p>
        </p:txBody>
      </p:sp>
      <p:sp>
        <p:nvSpPr>
          <p:cNvPr id="6" name="Slide Number Placeholder 5"/>
          <p:cNvSpPr>
            <a:spLocks noGrp="1"/>
          </p:cNvSpPr>
          <p:nvPr>
            <p:ph type="sldNum" sz="quarter" idx="12"/>
          </p:nvPr>
        </p:nvSpPr>
        <p:spPr/>
        <p:txBody>
          <a:bodyPr/>
          <a:lstStyle/>
          <a:p>
            <a:fld id="{BDC78611-5E9A-402C-B872-4F7E2FF0AA88}" type="slidenum">
              <a:rPr lang="en-US" smtClean="0"/>
              <a:pPr/>
              <a:t>14</a:t>
            </a:fld>
            <a:endParaRPr lang="en-US"/>
          </a:p>
        </p:txBody>
      </p:sp>
    </p:spTree>
    <p:extLst>
      <p:ext uri="{BB962C8B-B14F-4D97-AF65-F5344CB8AC3E}">
        <p14:creationId xmlns:p14="http://schemas.microsoft.com/office/powerpoint/2010/main" val="280431470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fade">
                                      <p:cBhvr>
                                        <p:cTn id="11" dur="500"/>
                                        <p:tgtEl>
                                          <p:spTgt spid="3">
                                            <p:txEl>
                                              <p:pRg st="2" end="2"/>
                                            </p:tx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19912"/>
          </a:xfrm>
        </p:spPr>
        <p:txBody>
          <a:bodyPr>
            <a:normAutofit fontScale="90000"/>
          </a:bodyPr>
          <a:lstStyle/>
          <a:p>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smtClean="0"/>
              <a:t>Signs </a:t>
            </a:r>
            <a:r>
              <a:rPr lang="en-US" dirty="0"/>
              <a:t>of his coming</a:t>
            </a:r>
            <a:br>
              <a:rPr lang="en-US" dirty="0"/>
            </a:br>
            <a:endParaRPr lang="en-US" dirty="0"/>
          </a:p>
        </p:txBody>
      </p:sp>
      <p:sp>
        <p:nvSpPr>
          <p:cNvPr id="3" name="Content Placeholder 2"/>
          <p:cNvSpPr>
            <a:spLocks noGrp="1"/>
          </p:cNvSpPr>
          <p:nvPr>
            <p:ph idx="1"/>
          </p:nvPr>
        </p:nvSpPr>
        <p:spPr>
          <a:xfrm>
            <a:off x="457200" y="1143000"/>
            <a:ext cx="8229600" cy="5181600"/>
          </a:xfrm>
        </p:spPr>
        <p:txBody>
          <a:bodyPr>
            <a:normAutofit fontScale="77500" lnSpcReduction="20000"/>
          </a:bodyPr>
          <a:lstStyle/>
          <a:p>
            <a:r>
              <a:rPr lang="en-US" dirty="0" smtClean="0"/>
              <a:t>Hadith exhorted </a:t>
            </a:r>
            <a:r>
              <a:rPr lang="en-US" dirty="0"/>
              <a:t>his followers to recite the first and last ten verses of </a:t>
            </a:r>
            <a:r>
              <a:rPr lang="en-US" dirty="0" err="1"/>
              <a:t>Sura</a:t>
            </a:r>
            <a:r>
              <a:rPr lang="en-US" dirty="0"/>
              <a:t> Al-</a:t>
            </a:r>
            <a:r>
              <a:rPr lang="en-US" dirty="0" err="1"/>
              <a:t>Kahf</a:t>
            </a:r>
            <a:r>
              <a:rPr lang="en-US" dirty="0"/>
              <a:t>, as protection from the trials and mischief of the </a:t>
            </a:r>
            <a:r>
              <a:rPr lang="en-US" dirty="0" err="1" smtClean="0"/>
              <a:t>Dajjal</a:t>
            </a:r>
            <a:r>
              <a:rPr lang="en-US" dirty="0" smtClean="0"/>
              <a:t>.</a:t>
            </a:r>
            <a:endParaRPr lang="en-US" dirty="0"/>
          </a:p>
          <a:p>
            <a:endParaRPr lang="en-US" dirty="0" smtClean="0"/>
          </a:p>
          <a:p>
            <a:r>
              <a:rPr lang="en-US" dirty="0" smtClean="0"/>
              <a:t>People </a:t>
            </a:r>
            <a:r>
              <a:rPr lang="en-US" dirty="0"/>
              <a:t>will stop offering the prayers</a:t>
            </a:r>
          </a:p>
          <a:p>
            <a:r>
              <a:rPr lang="en-US" dirty="0"/>
              <a:t>Dishonesty will be the way of life</a:t>
            </a:r>
          </a:p>
          <a:p>
            <a:r>
              <a:rPr lang="en-US" dirty="0"/>
              <a:t>Falsehood will become a virtue</a:t>
            </a:r>
          </a:p>
          <a:p>
            <a:r>
              <a:rPr lang="en-US" dirty="0"/>
              <a:t>People will mortgage their faith for worldly gain</a:t>
            </a:r>
          </a:p>
          <a:p>
            <a:r>
              <a:rPr lang="en-US" dirty="0"/>
              <a:t>Usury and bribery will become legitimate</a:t>
            </a:r>
          </a:p>
          <a:p>
            <a:r>
              <a:rPr lang="en-US" dirty="0"/>
              <a:t>Imbeciles would rule over the wise</a:t>
            </a:r>
          </a:p>
          <a:p>
            <a:r>
              <a:rPr lang="en-US" dirty="0"/>
              <a:t>Blood of innocents would be shed</a:t>
            </a:r>
          </a:p>
          <a:p>
            <a:r>
              <a:rPr lang="en-US" dirty="0"/>
              <a:t>Pride will be taken on acts of oppression</a:t>
            </a:r>
          </a:p>
          <a:p>
            <a:r>
              <a:rPr lang="en-US" dirty="0"/>
              <a:t>The rulers will be corrupt</a:t>
            </a:r>
          </a:p>
          <a:p>
            <a:r>
              <a:rPr lang="en-US" dirty="0"/>
              <a:t>The scholars will be hypocrites</a:t>
            </a:r>
          </a:p>
          <a:p>
            <a:r>
              <a:rPr lang="en-US" dirty="0"/>
              <a:t>There will be acute famine at the time</a:t>
            </a:r>
          </a:p>
          <a:p>
            <a:r>
              <a:rPr lang="en-US" dirty="0"/>
              <a:t>There will be no shame amongst people</a:t>
            </a:r>
          </a:p>
          <a:p>
            <a:r>
              <a:rPr lang="en-US" dirty="0"/>
              <a:t>Many people would worship Satan</a:t>
            </a:r>
          </a:p>
          <a:p>
            <a:r>
              <a:rPr lang="en-US" dirty="0"/>
              <a:t>There would be no respect for elderly people</a:t>
            </a:r>
          </a:p>
        </p:txBody>
      </p:sp>
      <p:sp>
        <p:nvSpPr>
          <p:cNvPr id="4" name="Date Placeholder 3"/>
          <p:cNvSpPr>
            <a:spLocks noGrp="1"/>
          </p:cNvSpPr>
          <p:nvPr>
            <p:ph type="dt" sz="half" idx="10"/>
          </p:nvPr>
        </p:nvSpPr>
        <p:spPr/>
        <p:txBody>
          <a:bodyPr/>
          <a:lstStyle/>
          <a:p>
            <a:fld id="{52B50ADB-18C1-4057-A03E-F3B80FBDD8FF}" type="datetime2">
              <a:rPr lang="en-US" smtClean="0"/>
              <a:pPr/>
              <a:t>Thursday, April 16, 2015</a:t>
            </a:fld>
            <a:endParaRPr lang="en-US"/>
          </a:p>
        </p:txBody>
      </p:sp>
      <p:sp>
        <p:nvSpPr>
          <p:cNvPr id="5" name="Footer Placeholder 4"/>
          <p:cNvSpPr>
            <a:spLocks noGrp="1"/>
          </p:cNvSpPr>
          <p:nvPr>
            <p:ph type="ftr" sz="quarter" idx="11"/>
          </p:nvPr>
        </p:nvSpPr>
        <p:spPr/>
        <p:txBody>
          <a:bodyPr/>
          <a:lstStyle/>
          <a:p>
            <a:r>
              <a:rPr lang="en-US" smtClean="0"/>
              <a:t>Islamic &amp; Religious Studies                               Instructor: Prof. Abid Naeem</a:t>
            </a:r>
            <a:endParaRPr lang="en-US"/>
          </a:p>
        </p:txBody>
      </p:sp>
      <p:sp>
        <p:nvSpPr>
          <p:cNvPr id="6" name="Slide Number Placeholder 5"/>
          <p:cNvSpPr>
            <a:spLocks noGrp="1"/>
          </p:cNvSpPr>
          <p:nvPr>
            <p:ph type="sldNum" sz="quarter" idx="12"/>
          </p:nvPr>
        </p:nvSpPr>
        <p:spPr/>
        <p:txBody>
          <a:bodyPr/>
          <a:lstStyle/>
          <a:p>
            <a:fld id="{BDC78611-5E9A-402C-B872-4F7E2FF0AA88}" type="slidenum">
              <a:rPr lang="en-US" smtClean="0"/>
              <a:pPr/>
              <a:t>15</a:t>
            </a:fld>
            <a:endParaRPr lang="en-US"/>
          </a:p>
        </p:txBody>
      </p:sp>
    </p:spTree>
    <p:extLst>
      <p:ext uri="{BB962C8B-B14F-4D97-AF65-F5344CB8AC3E}">
        <p14:creationId xmlns:p14="http://schemas.microsoft.com/office/powerpoint/2010/main" val="3338567834"/>
      </p:ext>
    </p:extLst>
  </p:cSld>
  <p:clrMapOvr>
    <a:masterClrMapping/>
  </p:clrMapOvr>
  <p:transition spd="slow">
    <p:newsfla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20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20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20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20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2000"/>
                                        <p:tgtEl>
                                          <p:spTgt spid="3">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Effect transition="in" filter="fade">
                                      <p:cBhvr>
                                        <p:cTn id="57" dur="2000"/>
                                        <p:tgtEl>
                                          <p:spTgt spid="3">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2" end="12"/>
                                            </p:txEl>
                                          </p:spTgt>
                                        </p:tgtEl>
                                        <p:attrNameLst>
                                          <p:attrName>style.visibility</p:attrName>
                                        </p:attrNameLst>
                                      </p:cBhvr>
                                      <p:to>
                                        <p:strVal val="visible"/>
                                      </p:to>
                                    </p:set>
                                    <p:animEffect transition="in" filter="fade">
                                      <p:cBhvr>
                                        <p:cTn id="62" dur="2000"/>
                                        <p:tgtEl>
                                          <p:spTgt spid="3">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3" end="13"/>
                                            </p:txEl>
                                          </p:spTgt>
                                        </p:tgtEl>
                                        <p:attrNameLst>
                                          <p:attrName>style.visibility</p:attrName>
                                        </p:attrNameLst>
                                      </p:cBhvr>
                                      <p:to>
                                        <p:strVal val="visible"/>
                                      </p:to>
                                    </p:set>
                                    <p:animEffect transition="in" filter="fade">
                                      <p:cBhvr>
                                        <p:cTn id="67" dur="2000"/>
                                        <p:tgtEl>
                                          <p:spTgt spid="3">
                                            <p:txEl>
                                              <p:pRg st="13" end="1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4" end="14"/>
                                            </p:txEl>
                                          </p:spTgt>
                                        </p:tgtEl>
                                        <p:attrNameLst>
                                          <p:attrName>style.visibility</p:attrName>
                                        </p:attrNameLst>
                                      </p:cBhvr>
                                      <p:to>
                                        <p:strVal val="visible"/>
                                      </p:to>
                                    </p:set>
                                    <p:animEffect transition="in" filter="fade">
                                      <p:cBhvr>
                                        <p:cTn id="72" dur="2000"/>
                                        <p:tgtEl>
                                          <p:spTgt spid="3">
                                            <p:txEl>
                                              <p:pRg st="14" end="14"/>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
                                            <p:txEl>
                                              <p:pRg st="15" end="15"/>
                                            </p:txEl>
                                          </p:spTgt>
                                        </p:tgtEl>
                                        <p:attrNameLst>
                                          <p:attrName>style.visibility</p:attrName>
                                        </p:attrNameLst>
                                      </p:cBhvr>
                                      <p:to>
                                        <p:strVal val="visible"/>
                                      </p:to>
                                    </p:set>
                                    <p:animEffect transition="in" filter="fade">
                                      <p:cBhvr>
                                        <p:cTn id="77" dur="2000"/>
                                        <p:tgtEl>
                                          <p:spTgt spid="3">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t>The Descent of Isa (A.H.)</a:t>
            </a:r>
            <a:endParaRPr lang="en-US" b="1" u="sng" dirty="0"/>
          </a:p>
        </p:txBody>
      </p:sp>
      <p:sp>
        <p:nvSpPr>
          <p:cNvPr id="3" name="Content Placeholder 2"/>
          <p:cNvSpPr>
            <a:spLocks noGrp="1"/>
          </p:cNvSpPr>
          <p:nvPr>
            <p:ph idx="1"/>
          </p:nvPr>
        </p:nvSpPr>
        <p:spPr/>
        <p:txBody>
          <a:bodyPr/>
          <a:lstStyle/>
          <a:p>
            <a:r>
              <a:rPr lang="en-US" dirty="0" smtClean="0"/>
              <a:t>The descent of Isa (Jesus Christ) from the heaven to Damascus, where he will land by the side of a white minaret of a Mosque. </a:t>
            </a:r>
          </a:p>
          <a:p>
            <a:pPr>
              <a:buNone/>
            </a:pPr>
            <a:endParaRPr lang="en-US" dirty="0" smtClean="0"/>
          </a:p>
          <a:p>
            <a:r>
              <a:rPr lang="en-US" dirty="0" smtClean="0"/>
              <a:t>He will kill the </a:t>
            </a:r>
            <a:r>
              <a:rPr lang="en-US" dirty="0" err="1" smtClean="0"/>
              <a:t>Dajjal</a:t>
            </a:r>
            <a:r>
              <a:rPr lang="en-US" dirty="0" smtClean="0"/>
              <a:t>, invite the people to Islam, break the cross, kill the swine, and waive the </a:t>
            </a:r>
            <a:r>
              <a:rPr lang="en-US" dirty="0" err="1" smtClean="0"/>
              <a:t>jizyah</a:t>
            </a:r>
            <a:r>
              <a:rPr lang="en-US" dirty="0" smtClean="0"/>
              <a:t>.</a:t>
            </a:r>
          </a:p>
          <a:p>
            <a:pPr>
              <a:buNone/>
            </a:pPr>
            <a:endParaRPr lang="en-US" dirty="0" smtClean="0"/>
          </a:p>
          <a:p>
            <a:r>
              <a:rPr lang="en-US" dirty="0" smtClean="0"/>
              <a:t>Finally, he will die, and Muslims will perform his </a:t>
            </a:r>
            <a:r>
              <a:rPr lang="en-US" dirty="0" err="1" smtClean="0"/>
              <a:t>janazah</a:t>
            </a:r>
            <a:r>
              <a:rPr lang="en-US" dirty="0" smtClean="0"/>
              <a:t> (funeral) Salah. </a:t>
            </a:r>
          </a:p>
          <a:p>
            <a:endParaRPr lang="en-US" dirty="0"/>
          </a:p>
        </p:txBody>
      </p:sp>
      <p:sp>
        <p:nvSpPr>
          <p:cNvPr id="4" name="Date Placeholder 3"/>
          <p:cNvSpPr>
            <a:spLocks noGrp="1"/>
          </p:cNvSpPr>
          <p:nvPr>
            <p:ph type="dt" sz="half" idx="10"/>
          </p:nvPr>
        </p:nvSpPr>
        <p:spPr/>
        <p:txBody>
          <a:bodyPr/>
          <a:lstStyle/>
          <a:p>
            <a:fld id="{0D960463-D1FF-45E4-9FF9-983D3CA25CE4}" type="datetime2">
              <a:rPr lang="en-US" smtClean="0"/>
              <a:pPr/>
              <a:t>Thursday, April 16, 2015</a:t>
            </a:fld>
            <a:endParaRPr lang="en-US"/>
          </a:p>
        </p:txBody>
      </p:sp>
      <p:sp>
        <p:nvSpPr>
          <p:cNvPr id="5" name="Slide Number Placeholder 4"/>
          <p:cNvSpPr>
            <a:spLocks noGrp="1"/>
          </p:cNvSpPr>
          <p:nvPr>
            <p:ph type="sldNum" sz="quarter" idx="12"/>
          </p:nvPr>
        </p:nvSpPr>
        <p:spPr/>
        <p:txBody>
          <a:bodyPr/>
          <a:lstStyle/>
          <a:p>
            <a:fld id="{BDC78611-5E9A-402C-B872-4F7E2FF0AA88}" type="slidenum">
              <a:rPr lang="en-US" smtClean="0"/>
              <a:pPr/>
              <a:t>16</a:t>
            </a:fld>
            <a:endParaRPr lang="en-US"/>
          </a:p>
        </p:txBody>
      </p:sp>
      <p:sp>
        <p:nvSpPr>
          <p:cNvPr id="6" name="Footer Placeholder 5"/>
          <p:cNvSpPr>
            <a:spLocks noGrp="1"/>
          </p:cNvSpPr>
          <p:nvPr>
            <p:ph type="ftr" sz="quarter" idx="11"/>
          </p:nvPr>
        </p:nvSpPr>
        <p:spPr/>
        <p:txBody>
          <a:bodyPr/>
          <a:lstStyle/>
          <a:p>
            <a:r>
              <a:rPr lang="en-US" smtClean="0"/>
              <a:t>Islamic &amp; Religious Studies                               Instructor: Prof. Abid Naeem</a:t>
            </a:r>
            <a:endParaRPr 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u="sng" dirty="0" smtClean="0"/>
              <a:t>The  Emergence of </a:t>
            </a:r>
            <a:r>
              <a:rPr lang="en-US" b="1" u="sng" dirty="0" err="1" smtClean="0"/>
              <a:t>Yajooj</a:t>
            </a:r>
            <a:r>
              <a:rPr lang="en-US" b="1" u="sng" dirty="0" smtClean="0"/>
              <a:t>  and </a:t>
            </a:r>
            <a:r>
              <a:rPr lang="en-US" b="1" u="sng" dirty="0" err="1" smtClean="0"/>
              <a:t>Majooj</a:t>
            </a:r>
            <a:r>
              <a:rPr lang="en-US" b="1" u="sng" dirty="0" smtClean="0"/>
              <a:t> </a:t>
            </a:r>
            <a:endParaRPr lang="en-US" b="1" u="sng" dirty="0"/>
          </a:p>
        </p:txBody>
      </p:sp>
      <p:sp>
        <p:nvSpPr>
          <p:cNvPr id="3" name="Content Placeholder 2"/>
          <p:cNvSpPr>
            <a:spLocks noGrp="1"/>
          </p:cNvSpPr>
          <p:nvPr>
            <p:ph idx="1"/>
          </p:nvPr>
        </p:nvSpPr>
        <p:spPr/>
        <p:txBody>
          <a:bodyPr/>
          <a:lstStyle/>
          <a:p>
            <a:r>
              <a:rPr lang="en-US" dirty="0" smtClean="0"/>
              <a:t>The  emergence  of  </a:t>
            </a:r>
            <a:r>
              <a:rPr lang="en-US" dirty="0" err="1" smtClean="0"/>
              <a:t>Yajooj</a:t>
            </a:r>
            <a:r>
              <a:rPr lang="en-US" dirty="0" smtClean="0"/>
              <a:t>  and </a:t>
            </a:r>
            <a:r>
              <a:rPr lang="en-US" dirty="0" err="1" smtClean="0"/>
              <a:t>Majooj</a:t>
            </a:r>
            <a:r>
              <a:rPr lang="en-US" dirty="0" smtClean="0"/>
              <a:t> (Gog &amp; </a:t>
            </a:r>
            <a:r>
              <a:rPr lang="en-US" dirty="0" err="1" smtClean="0"/>
              <a:t>Magog</a:t>
            </a:r>
            <a:r>
              <a:rPr lang="en-US" dirty="0" smtClean="0"/>
              <a:t>), two large  human  nations. </a:t>
            </a:r>
          </a:p>
          <a:p>
            <a:r>
              <a:rPr lang="en-US" dirty="0" smtClean="0"/>
              <a:t>They will emerge before the death of </a:t>
            </a:r>
            <a:r>
              <a:rPr lang="en-US" dirty="0" err="1" smtClean="0"/>
              <a:t>Esa</a:t>
            </a:r>
            <a:r>
              <a:rPr lang="en-US" dirty="0" smtClean="0"/>
              <a:t> (A. H.)</a:t>
            </a:r>
          </a:p>
          <a:p>
            <a:pPr>
              <a:buNone/>
            </a:pPr>
            <a:r>
              <a:rPr lang="en-US" dirty="0" smtClean="0"/>
              <a:t>  </a:t>
            </a:r>
          </a:p>
          <a:p>
            <a:r>
              <a:rPr lang="en-US" dirty="0" smtClean="0"/>
              <a:t>They will spread destruction on the earth. </a:t>
            </a:r>
          </a:p>
          <a:p>
            <a:pPr>
              <a:buNone/>
            </a:pPr>
            <a:endParaRPr lang="en-US" dirty="0" smtClean="0"/>
          </a:p>
          <a:p>
            <a:r>
              <a:rPr lang="en-US" dirty="0" smtClean="0"/>
              <a:t>Isa and the believers, who will be in their hideout, will then pray to Allah to put an end to them, and Allah will respond favorably. </a:t>
            </a:r>
            <a:endParaRPr lang="en-US" dirty="0"/>
          </a:p>
        </p:txBody>
      </p:sp>
      <p:sp>
        <p:nvSpPr>
          <p:cNvPr id="4" name="Date Placeholder 3"/>
          <p:cNvSpPr>
            <a:spLocks noGrp="1"/>
          </p:cNvSpPr>
          <p:nvPr>
            <p:ph type="dt" sz="half" idx="10"/>
          </p:nvPr>
        </p:nvSpPr>
        <p:spPr/>
        <p:txBody>
          <a:bodyPr/>
          <a:lstStyle/>
          <a:p>
            <a:fld id="{D66C2255-631B-4BC2-943E-1B88FF29B413}" type="datetime2">
              <a:rPr lang="en-US" smtClean="0"/>
              <a:pPr/>
              <a:t>Thursday, April 16, 2015</a:t>
            </a:fld>
            <a:endParaRPr lang="en-US"/>
          </a:p>
        </p:txBody>
      </p:sp>
      <p:sp>
        <p:nvSpPr>
          <p:cNvPr id="5" name="Slide Number Placeholder 4"/>
          <p:cNvSpPr>
            <a:spLocks noGrp="1"/>
          </p:cNvSpPr>
          <p:nvPr>
            <p:ph type="sldNum" sz="quarter" idx="12"/>
          </p:nvPr>
        </p:nvSpPr>
        <p:spPr/>
        <p:txBody>
          <a:bodyPr/>
          <a:lstStyle/>
          <a:p>
            <a:fld id="{BDC78611-5E9A-402C-B872-4F7E2FF0AA88}" type="slidenum">
              <a:rPr lang="en-US" smtClean="0"/>
              <a:pPr/>
              <a:t>17</a:t>
            </a:fld>
            <a:endParaRPr lang="en-US"/>
          </a:p>
        </p:txBody>
      </p:sp>
      <p:sp>
        <p:nvSpPr>
          <p:cNvPr id="6" name="Footer Placeholder 5"/>
          <p:cNvSpPr>
            <a:spLocks noGrp="1"/>
          </p:cNvSpPr>
          <p:nvPr>
            <p:ph type="ftr" sz="quarter" idx="11"/>
          </p:nvPr>
        </p:nvSpPr>
        <p:spPr/>
        <p:txBody>
          <a:bodyPr/>
          <a:lstStyle/>
          <a:p>
            <a:r>
              <a:rPr lang="en-US" smtClean="0"/>
              <a:t>Islamic &amp; Religious Studies                               Instructor: Prof. Abid Naeem</a:t>
            </a:r>
            <a:endParaRPr 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u="sng" dirty="0" smtClean="0"/>
              <a:t>The Emergence of the Beast of the Earth</a:t>
            </a:r>
            <a:endParaRPr lang="en-US" b="1" u="sng" dirty="0"/>
          </a:p>
        </p:txBody>
      </p:sp>
      <p:sp>
        <p:nvSpPr>
          <p:cNvPr id="3" name="Content Placeholder 2"/>
          <p:cNvSpPr>
            <a:spLocks noGrp="1"/>
          </p:cNvSpPr>
          <p:nvPr>
            <p:ph idx="1"/>
          </p:nvPr>
        </p:nvSpPr>
        <p:spPr/>
        <p:txBody>
          <a:bodyPr/>
          <a:lstStyle/>
          <a:p>
            <a:r>
              <a:rPr lang="en-US" smtClean="0"/>
              <a:t>The emergence of the Beast of the Earth just before the Final Hour. A beast which will speak to people   and warn them against the imminent torment and   destruction. </a:t>
            </a:r>
          </a:p>
          <a:p>
            <a:pPr algn="ctr">
              <a:buNone/>
            </a:pPr>
            <a:r>
              <a:rPr lang="en-US" b="1" u="sng" smtClean="0"/>
              <a:t>QURANIC STATEMENT</a:t>
            </a:r>
          </a:p>
          <a:p>
            <a:r>
              <a:rPr lang="en-US" smtClean="0"/>
              <a:t>“And when the sentence is passed against them, We shall bring forth out of the earth a beast Which will tell them that people are not certain about Our signs”</a:t>
            </a:r>
          </a:p>
          <a:p>
            <a:pPr algn="ctr">
              <a:buNone/>
            </a:pPr>
            <a:r>
              <a:rPr lang="en-US" smtClean="0"/>
              <a:t>(Surah 27 An-Naml Ayah 82)</a:t>
            </a:r>
          </a:p>
          <a:p>
            <a:pPr>
              <a:buNone/>
            </a:pPr>
            <a:endParaRPr lang="en-US"/>
          </a:p>
        </p:txBody>
      </p:sp>
      <p:sp>
        <p:nvSpPr>
          <p:cNvPr id="4" name="Date Placeholder 3"/>
          <p:cNvSpPr>
            <a:spLocks noGrp="1"/>
          </p:cNvSpPr>
          <p:nvPr>
            <p:ph type="dt" sz="half" idx="10"/>
          </p:nvPr>
        </p:nvSpPr>
        <p:spPr/>
        <p:txBody>
          <a:bodyPr/>
          <a:lstStyle/>
          <a:p>
            <a:fld id="{52B50ADB-18C1-4057-A03E-F3B80FBDD8FF}" type="datetime2">
              <a:rPr lang="en-US" smtClean="0"/>
              <a:pPr/>
              <a:t>Thursday, April 16, 2015</a:t>
            </a:fld>
            <a:endParaRPr lang="en-US"/>
          </a:p>
        </p:txBody>
      </p:sp>
      <p:sp>
        <p:nvSpPr>
          <p:cNvPr id="5" name="Footer Placeholder 4"/>
          <p:cNvSpPr>
            <a:spLocks noGrp="1"/>
          </p:cNvSpPr>
          <p:nvPr>
            <p:ph type="ftr" sz="quarter" idx="11"/>
          </p:nvPr>
        </p:nvSpPr>
        <p:spPr/>
        <p:txBody>
          <a:bodyPr/>
          <a:lstStyle/>
          <a:p>
            <a:r>
              <a:rPr lang="en-US" smtClean="0"/>
              <a:t>Islamic &amp; Religious Studies                               Instructor: Prof. Abid Naeem</a:t>
            </a:r>
            <a:endParaRPr lang="en-US"/>
          </a:p>
        </p:txBody>
      </p:sp>
      <p:sp>
        <p:nvSpPr>
          <p:cNvPr id="6" name="Slide Number Placeholder 5"/>
          <p:cNvSpPr>
            <a:spLocks noGrp="1"/>
          </p:cNvSpPr>
          <p:nvPr>
            <p:ph type="sldNum" sz="quarter" idx="12"/>
          </p:nvPr>
        </p:nvSpPr>
        <p:spPr/>
        <p:txBody>
          <a:bodyPr/>
          <a:lstStyle/>
          <a:p>
            <a:fld id="{BDC78611-5E9A-402C-B872-4F7E2FF0AA88}" type="slidenum">
              <a:rPr lang="en-US" smtClean="0"/>
              <a:pPr/>
              <a:t>18</a:t>
            </a:fld>
            <a:endParaRPr 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u="sng" smtClean="0"/>
              <a:t>The Rising </a:t>
            </a:r>
            <a:r>
              <a:rPr lang="en-US" b="1" u="sng" dirty="0" smtClean="0"/>
              <a:t>of the Sun from the West</a:t>
            </a:r>
            <a:endParaRPr lang="en-US" b="1" u="sng" dirty="0"/>
          </a:p>
        </p:txBody>
      </p:sp>
      <p:sp>
        <p:nvSpPr>
          <p:cNvPr id="3" name="Content Placeholder 2"/>
          <p:cNvSpPr>
            <a:spLocks noGrp="1"/>
          </p:cNvSpPr>
          <p:nvPr>
            <p:ph idx="1"/>
          </p:nvPr>
        </p:nvSpPr>
        <p:spPr/>
        <p:txBody>
          <a:bodyPr/>
          <a:lstStyle/>
          <a:p>
            <a:r>
              <a:rPr lang="en-US" smtClean="0"/>
              <a:t>The rising of the Sun from the West. </a:t>
            </a:r>
          </a:p>
          <a:p>
            <a:endParaRPr lang="en-US" smtClean="0"/>
          </a:p>
          <a:p>
            <a:r>
              <a:rPr lang="en-US" smtClean="0"/>
              <a:t>At that time, all mankind will declare their belief in Allah but it will be too late</a:t>
            </a:r>
          </a:p>
          <a:p>
            <a:endParaRPr lang="en-US"/>
          </a:p>
        </p:txBody>
      </p:sp>
      <p:sp>
        <p:nvSpPr>
          <p:cNvPr id="4" name="Date Placeholder 3"/>
          <p:cNvSpPr>
            <a:spLocks noGrp="1"/>
          </p:cNvSpPr>
          <p:nvPr>
            <p:ph type="dt" sz="half" idx="10"/>
          </p:nvPr>
        </p:nvSpPr>
        <p:spPr/>
        <p:txBody>
          <a:bodyPr/>
          <a:lstStyle/>
          <a:p>
            <a:fld id="{52B50ADB-18C1-4057-A03E-F3B80FBDD8FF}" type="datetime2">
              <a:rPr lang="en-US" smtClean="0"/>
              <a:pPr/>
              <a:t>Thursday, April 16, 2015</a:t>
            </a:fld>
            <a:endParaRPr lang="en-US"/>
          </a:p>
        </p:txBody>
      </p:sp>
      <p:sp>
        <p:nvSpPr>
          <p:cNvPr id="5" name="Footer Placeholder 4"/>
          <p:cNvSpPr>
            <a:spLocks noGrp="1"/>
          </p:cNvSpPr>
          <p:nvPr>
            <p:ph type="ftr" sz="quarter" idx="11"/>
          </p:nvPr>
        </p:nvSpPr>
        <p:spPr/>
        <p:txBody>
          <a:bodyPr/>
          <a:lstStyle/>
          <a:p>
            <a:r>
              <a:rPr lang="en-US" smtClean="0"/>
              <a:t>Islamic &amp; Religious Studies                               Instructor: Prof. Abid Naeem</a:t>
            </a:r>
            <a:endParaRPr lang="en-US"/>
          </a:p>
        </p:txBody>
      </p:sp>
      <p:sp>
        <p:nvSpPr>
          <p:cNvPr id="6" name="Slide Number Placeholder 5"/>
          <p:cNvSpPr>
            <a:spLocks noGrp="1"/>
          </p:cNvSpPr>
          <p:nvPr>
            <p:ph type="sldNum" sz="quarter" idx="12"/>
          </p:nvPr>
        </p:nvSpPr>
        <p:spPr/>
        <p:txBody>
          <a:bodyPr/>
          <a:lstStyle/>
          <a:p>
            <a:fld id="{BDC78611-5E9A-402C-B872-4F7E2FF0AA88}" type="slidenum">
              <a:rPr lang="en-US" smtClean="0"/>
              <a:pPr/>
              <a:t>19</a:t>
            </a:fld>
            <a:endParaRPr 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rLst="">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rLst="">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smtClean="0"/>
              <a:t>HADITH STATEMENT</a:t>
            </a:r>
            <a:endParaRPr lang="en-US" b="1" u="sng"/>
          </a:p>
        </p:txBody>
      </p:sp>
      <p:sp>
        <p:nvSpPr>
          <p:cNvPr id="3" name="Content Placeholder 2"/>
          <p:cNvSpPr>
            <a:spLocks noGrp="1"/>
          </p:cNvSpPr>
          <p:nvPr>
            <p:ph idx="1"/>
          </p:nvPr>
        </p:nvSpPr>
        <p:spPr/>
        <p:txBody>
          <a:bodyPr>
            <a:normAutofit fontScale="85000" lnSpcReduction="10000"/>
          </a:bodyPr>
          <a:lstStyle/>
          <a:p>
            <a:pPr algn="ctr">
              <a:buNone/>
            </a:pPr>
            <a:r>
              <a:rPr lang="en-US" b="1" u="sng" dirty="0" smtClean="0"/>
              <a:t>Some Signs Described in Hadith</a:t>
            </a:r>
          </a:p>
          <a:p>
            <a:r>
              <a:rPr lang="en-US" dirty="0" smtClean="0"/>
              <a:t>The Final Hour will not be established until you have witnessed ten signs: (of them): </a:t>
            </a:r>
          </a:p>
          <a:p>
            <a:pPr marL="514350" indent="-514350">
              <a:buAutoNum type="arabicParenBoth"/>
            </a:pPr>
            <a:r>
              <a:rPr lang="en-US" dirty="0" smtClean="0"/>
              <a:t>the rising of the sun from the West</a:t>
            </a:r>
          </a:p>
          <a:p>
            <a:pPr marL="514350" indent="-514350">
              <a:buAutoNum type="arabicParenBoth"/>
            </a:pPr>
            <a:r>
              <a:rPr lang="en-US" dirty="0" smtClean="0"/>
              <a:t> the smoke</a:t>
            </a:r>
          </a:p>
          <a:p>
            <a:pPr marL="514350" indent="-514350">
              <a:buAutoNum type="arabicParenBoth"/>
            </a:pPr>
            <a:r>
              <a:rPr lang="en-US" dirty="0" smtClean="0"/>
              <a:t> the emergence of the Beast out of the earth</a:t>
            </a:r>
          </a:p>
          <a:p>
            <a:pPr marL="514350" indent="-514350">
              <a:buAutoNum type="arabicParenBoth"/>
            </a:pPr>
            <a:r>
              <a:rPr lang="en-US" dirty="0" smtClean="0"/>
              <a:t> the appearance of Gog and </a:t>
            </a:r>
            <a:r>
              <a:rPr lang="en-US" dirty="0" err="1" smtClean="0"/>
              <a:t>Magog</a:t>
            </a:r>
            <a:endParaRPr lang="en-US" dirty="0" smtClean="0"/>
          </a:p>
          <a:p>
            <a:pPr marL="514350" indent="-514350">
              <a:buAutoNum type="arabicParenBoth"/>
            </a:pPr>
            <a:r>
              <a:rPr lang="en-US" dirty="0" smtClean="0"/>
              <a:t>the descending of </a:t>
            </a:r>
            <a:r>
              <a:rPr lang="en-US" dirty="0" err="1" smtClean="0"/>
              <a:t>Eesa</a:t>
            </a:r>
            <a:r>
              <a:rPr lang="en-US" dirty="0" smtClean="0"/>
              <a:t>, son of Maryam from the heaven</a:t>
            </a:r>
          </a:p>
          <a:p>
            <a:pPr marL="514350" indent="-514350">
              <a:buAutoNum type="arabicParenBoth"/>
            </a:pPr>
            <a:r>
              <a:rPr lang="en-US" dirty="0" smtClean="0"/>
              <a:t>the appearance of the </a:t>
            </a:r>
            <a:r>
              <a:rPr lang="en-US" dirty="0" err="1" smtClean="0"/>
              <a:t>Dajjal</a:t>
            </a:r>
            <a:endParaRPr lang="en-US" dirty="0" smtClean="0"/>
          </a:p>
          <a:p>
            <a:pPr marL="514350" indent="-514350">
              <a:buAutoNum type="arabicParenBoth"/>
            </a:pPr>
            <a:r>
              <a:rPr lang="en-US" dirty="0" smtClean="0"/>
              <a:t>and three earthquakes; one in the East, one in the West, and the third in the Arabian Peninsula,</a:t>
            </a:r>
          </a:p>
          <a:p>
            <a:pPr marL="514350" indent="-514350" algn="ctr">
              <a:buNone/>
            </a:pPr>
            <a:r>
              <a:rPr lang="en-US" dirty="0" smtClean="0"/>
              <a:t>(Muslim)</a:t>
            </a:r>
            <a:endParaRPr lang="en-US" b="1" u="sng" dirty="0"/>
          </a:p>
        </p:txBody>
      </p:sp>
      <p:sp>
        <p:nvSpPr>
          <p:cNvPr id="4" name="Date Placeholder 3"/>
          <p:cNvSpPr>
            <a:spLocks noGrp="1"/>
          </p:cNvSpPr>
          <p:nvPr>
            <p:ph type="dt" sz="half" idx="10"/>
          </p:nvPr>
        </p:nvSpPr>
        <p:spPr/>
        <p:txBody>
          <a:bodyPr/>
          <a:lstStyle/>
          <a:p>
            <a:fld id="{52B50ADB-18C1-4057-A03E-F3B80FBDD8FF}" type="datetime2">
              <a:rPr lang="en-US" smtClean="0"/>
              <a:pPr/>
              <a:t>Thursday, April 16, 2015</a:t>
            </a:fld>
            <a:endParaRPr lang="en-US"/>
          </a:p>
        </p:txBody>
      </p:sp>
      <p:sp>
        <p:nvSpPr>
          <p:cNvPr id="5" name="Footer Placeholder 4"/>
          <p:cNvSpPr>
            <a:spLocks noGrp="1"/>
          </p:cNvSpPr>
          <p:nvPr>
            <p:ph type="ftr" sz="quarter" idx="11"/>
          </p:nvPr>
        </p:nvSpPr>
        <p:spPr/>
        <p:txBody>
          <a:bodyPr/>
          <a:lstStyle/>
          <a:p>
            <a:r>
              <a:rPr lang="en-US" smtClean="0"/>
              <a:t>Islamic &amp; Religious Studies                               Instructor: Prof. Abid Naeem</a:t>
            </a:r>
            <a:endParaRPr lang="en-US"/>
          </a:p>
        </p:txBody>
      </p:sp>
      <p:sp>
        <p:nvSpPr>
          <p:cNvPr id="6" name="Slide Number Placeholder 5"/>
          <p:cNvSpPr>
            <a:spLocks noGrp="1"/>
          </p:cNvSpPr>
          <p:nvPr>
            <p:ph type="sldNum" sz="quarter" idx="12"/>
          </p:nvPr>
        </p:nvSpPr>
        <p:spPr/>
        <p:txBody>
          <a:bodyPr/>
          <a:lstStyle/>
          <a:p>
            <a:fld id="{BDC78611-5E9A-402C-B872-4F7E2FF0AA88}" type="slidenum">
              <a:rPr lang="en-US" smtClean="0"/>
              <a:pPr/>
              <a:t>20</a:t>
            </a:fld>
            <a:endParaRPr 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rLst="">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rLst="">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rLst="">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rLst="">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rLst="">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rLst="">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rLst="">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rLst="">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rLst="">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rLst="">
                                      <p:cBhvr>
                                        <p:cTn id="52" dur="2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ags/tag1.xml><?xml version="1.0" encoding="utf-8"?>
<p:tagLst xmlns:a="http://schemas.openxmlformats.org/drawingml/2006/main" xmlns:r="http://schemas.openxmlformats.org/officeDocument/2006/relationships" xmlns:p="http://schemas.openxmlformats.org/presentationml/2006/main">
  <p:tag name="AS_TITLE" val="Aspose.Slides for .NET 3.5 Client Profile"/>
  <p:tag name="AS_VERSION" val="5.2.0.0"/>
  <p:tag name="AS_RELEASE_DATE" val="2011.05.11"/>
  <p:tag name="AS_OS" val="Microsoft Windows NT 6.1.7601 Service Pack 1"/>
  <p:tag name="AS_NET" val="4.0.30319.239"/>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tileRect/>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tileRect/>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tileRect/>
        </a:gradFill>
        <a:blipFill>
          <a:blip xmlns:r="http://schemas.openxmlformats.org/officeDocument/2006/relationships" r:embed="rId1">
            <a:duotone>
              <a:schemeClr val="phClr">
                <a:shade val="90000"/>
                <a:satMod val="150000"/>
              </a:schemeClr>
              <a:schemeClr val="phClr">
                <a:tint val="88000"/>
                <a:satMod val="150000"/>
              </a:schemeClr>
            </a:duotone>
          </a:blip>
          <a:srcRect/>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243</TotalTime>
  <Words>1554</Words>
  <Application>Microsoft Office PowerPoint</Application>
  <PresentationFormat>On-screen Show (4:3)</PresentationFormat>
  <Paragraphs>201</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Wingdings</vt:lpstr>
      <vt:lpstr>Wingdings 2</vt:lpstr>
      <vt:lpstr>Flow</vt:lpstr>
      <vt:lpstr>THE DAY OF JUDGEMENT</vt:lpstr>
      <vt:lpstr>PowerPoint Presentation</vt:lpstr>
      <vt:lpstr>Names for the Day of Judgment</vt:lpstr>
      <vt:lpstr>IMPORTANT POINTS</vt:lpstr>
      <vt:lpstr>EXACT TIME OF THE DAY OF JUDGMENT</vt:lpstr>
      <vt:lpstr>STATEMENT OF HADITH</vt:lpstr>
      <vt:lpstr>SIGNS OF THE DAY OF JUDGEMENT</vt:lpstr>
      <vt:lpstr>Minor Signs</vt:lpstr>
      <vt:lpstr>     Intermediate Signs </vt:lpstr>
      <vt:lpstr>PowerPoint Presentation</vt:lpstr>
      <vt:lpstr>MAJOR SIGNS</vt:lpstr>
      <vt:lpstr>        THE ADVENT OF THE DAJJAL </vt:lpstr>
      <vt:lpstr>Ahadith about Dajjal (1)</vt:lpstr>
      <vt:lpstr>Ahadith about Dajjal (2)</vt:lpstr>
      <vt:lpstr>      Signs of his coming </vt:lpstr>
      <vt:lpstr>The Descent of Isa (A.H.)</vt:lpstr>
      <vt:lpstr>The  Emergence of Yajooj  and Majooj </vt:lpstr>
      <vt:lpstr>The Emergence of the Beast of the Earth</vt:lpstr>
      <vt:lpstr>The Rising of the Sun from the West</vt:lpstr>
      <vt:lpstr>HADITH STATEMENT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OF JUDGMENT</dc:title>
  <dc:creator>Abid Naeem Wathra</dc:creator>
  <cp:lastModifiedBy>Abid Naeem</cp:lastModifiedBy>
  <cp:revision>111</cp:revision>
  <dcterms:created xsi:type="dcterms:W3CDTF">2012-02-17T09:57:43Z</dcterms:created>
  <dcterms:modified xsi:type="dcterms:W3CDTF">2015-04-16T03:41:19Z</dcterms:modified>
</cp:coreProperties>
</file>