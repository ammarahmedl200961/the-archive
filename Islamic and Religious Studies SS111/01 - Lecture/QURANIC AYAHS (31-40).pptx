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75"/>
  </p:notesMasterIdLst>
  <p:sldIdLst>
    <p:sldId id="256" r:id="rId2"/>
    <p:sldId id="257" r:id="rId3"/>
    <p:sldId id="258" r:id="rId4"/>
    <p:sldId id="259" r:id="rId5"/>
    <p:sldId id="272" r:id="rId6"/>
    <p:sldId id="273" r:id="rId7"/>
    <p:sldId id="274" r:id="rId8"/>
    <p:sldId id="260" r:id="rId9"/>
    <p:sldId id="261" r:id="rId10"/>
    <p:sldId id="263" r:id="rId11"/>
    <p:sldId id="264" r:id="rId12"/>
    <p:sldId id="265" r:id="rId13"/>
    <p:sldId id="262" r:id="rId14"/>
    <p:sldId id="266" r:id="rId15"/>
    <p:sldId id="270" r:id="rId16"/>
    <p:sldId id="269" r:id="rId17"/>
    <p:sldId id="268" r:id="rId18"/>
    <p:sldId id="271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321" r:id="rId42"/>
    <p:sldId id="322" r:id="rId43"/>
    <p:sldId id="323" r:id="rId44"/>
    <p:sldId id="324" r:id="rId45"/>
    <p:sldId id="325" r:id="rId46"/>
    <p:sldId id="327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28" r:id="rId69"/>
    <p:sldId id="318" r:id="rId70"/>
    <p:sldId id="319" r:id="rId71"/>
    <p:sldId id="329" r:id="rId72"/>
    <p:sldId id="320" r:id="rId73"/>
    <p:sldId id="330" r:id="rId7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5BE485-1EA1-40A9-A51D-2B66C3A7980D}" type="doc">
      <dgm:prSet loTypeId="urn:microsoft.com/office/officeart/2005/8/layout/venn1" loCatId="relationship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1765ED54-DAC2-4F7F-B68B-AC7F92A8512A}">
      <dgm:prSet/>
      <dgm:spPr/>
      <dgm:t>
        <a:bodyPr/>
        <a:lstStyle/>
        <a:p>
          <a:pPr rtl="0"/>
          <a:r>
            <a:rPr lang="en-GB" b="1" baseline="0" dirty="0" smtClean="0"/>
            <a:t>QURANIC</a:t>
          </a:r>
          <a:br>
            <a:rPr lang="en-GB" b="1" baseline="0" dirty="0" smtClean="0"/>
          </a:br>
          <a:r>
            <a:rPr lang="en-GB" b="1" baseline="0" dirty="0" smtClean="0"/>
            <a:t>AYAHS</a:t>
          </a:r>
          <a:br>
            <a:rPr lang="en-GB" b="1" baseline="0" dirty="0" smtClean="0"/>
          </a:br>
          <a:r>
            <a:rPr lang="en-GB" b="1" baseline="0" smtClean="0"/>
            <a:t>(31-40</a:t>
          </a:r>
          <a:r>
            <a:rPr lang="en-GB" b="1" baseline="0" dirty="0" smtClean="0"/>
            <a:t>)</a:t>
          </a:r>
          <a:br>
            <a:rPr lang="en-GB" b="1" baseline="0" dirty="0" smtClean="0"/>
          </a:br>
          <a:endParaRPr lang="en-GB" dirty="0"/>
        </a:p>
      </dgm:t>
    </dgm:pt>
    <dgm:pt modelId="{63DC64D0-0383-4670-9A3A-7F22C857D53F}" type="parTrans" cxnId="{5D5AD499-9B39-4C47-B48A-F0A27DEAD5CB}">
      <dgm:prSet/>
      <dgm:spPr/>
      <dgm:t>
        <a:bodyPr/>
        <a:lstStyle/>
        <a:p>
          <a:endParaRPr lang="en-GB"/>
        </a:p>
      </dgm:t>
    </dgm:pt>
    <dgm:pt modelId="{7338C36B-FA47-4BCF-BC24-895D2286FDF7}" type="sibTrans" cxnId="{5D5AD499-9B39-4C47-B48A-F0A27DEAD5CB}">
      <dgm:prSet/>
      <dgm:spPr/>
      <dgm:t>
        <a:bodyPr/>
        <a:lstStyle/>
        <a:p>
          <a:endParaRPr lang="en-GB"/>
        </a:p>
      </dgm:t>
    </dgm:pt>
    <dgm:pt modelId="{CB5B9497-2A6C-4024-BDB1-52B4C3D83D43}" type="pres">
      <dgm:prSet presAssocID="{845BE485-1EA1-40A9-A51D-2B66C3A7980D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AA7FEFE3-F084-48CF-A9B6-7B48134BE4B6}" type="pres">
      <dgm:prSet presAssocID="{1765ED54-DAC2-4F7F-B68B-AC7F92A8512A}" presName="circ1TxSh" presStyleLbl="vennNode1" presStyleIdx="0" presStyleCnt="1"/>
      <dgm:spPr/>
      <dgm:t>
        <a:bodyPr/>
        <a:lstStyle/>
        <a:p>
          <a:endParaRPr lang="en-GB"/>
        </a:p>
      </dgm:t>
    </dgm:pt>
  </dgm:ptLst>
  <dgm:cxnLst>
    <dgm:cxn modelId="{5D5AD499-9B39-4C47-B48A-F0A27DEAD5CB}" srcId="{845BE485-1EA1-40A9-A51D-2B66C3A7980D}" destId="{1765ED54-DAC2-4F7F-B68B-AC7F92A8512A}" srcOrd="0" destOrd="0" parTransId="{63DC64D0-0383-4670-9A3A-7F22C857D53F}" sibTransId="{7338C36B-FA47-4BCF-BC24-895D2286FDF7}"/>
    <dgm:cxn modelId="{8630C802-AA34-49FB-95D4-C2214C4BFF4E}" type="presOf" srcId="{1765ED54-DAC2-4F7F-B68B-AC7F92A8512A}" destId="{AA7FEFE3-F084-48CF-A9B6-7B48134BE4B6}" srcOrd="0" destOrd="0" presId="urn:microsoft.com/office/officeart/2005/8/layout/venn1"/>
    <dgm:cxn modelId="{9D958BC6-A05A-447D-8913-E494C0D0A7BF}" type="presOf" srcId="{845BE485-1EA1-40A9-A51D-2B66C3A7980D}" destId="{CB5B9497-2A6C-4024-BDB1-52B4C3D83D43}" srcOrd="0" destOrd="0" presId="urn:microsoft.com/office/officeart/2005/8/layout/venn1"/>
    <dgm:cxn modelId="{31ED3DC3-C025-4C17-B987-A8EBF37880ED}" type="presParOf" srcId="{CB5B9497-2A6C-4024-BDB1-52B4C3D83D43}" destId="{AA7FEFE3-F084-48CF-A9B6-7B48134BE4B6}" srcOrd="0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7FEFE3-F084-48CF-A9B6-7B48134BE4B6}">
      <dsp:nvSpPr>
        <dsp:cNvPr id="0" name=""/>
        <dsp:cNvSpPr/>
      </dsp:nvSpPr>
      <dsp:spPr>
        <a:xfrm>
          <a:off x="2428875" y="0"/>
          <a:ext cx="2838450" cy="2838450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alpha val="50000"/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25400" dir="5400000" rotWithShape="0">
            <a:srgbClr val="000000">
              <a:alpha val="43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13200000"/>
          </a:lightRig>
        </a:scene3d>
        <a:sp3d prstMaterial="dkEdge">
          <a:bevelT w="63500" h="508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100" b="1" kern="1200" baseline="0" dirty="0" smtClean="0"/>
            <a:t>QURANIC</a:t>
          </a:r>
          <a:br>
            <a:rPr lang="en-GB" sz="3100" b="1" kern="1200" baseline="0" dirty="0" smtClean="0"/>
          </a:br>
          <a:r>
            <a:rPr lang="en-GB" sz="3100" b="1" kern="1200" baseline="0" dirty="0" smtClean="0"/>
            <a:t>AYAHS</a:t>
          </a:r>
          <a:br>
            <a:rPr lang="en-GB" sz="3100" b="1" kern="1200" baseline="0" dirty="0" smtClean="0"/>
          </a:br>
          <a:r>
            <a:rPr lang="en-GB" sz="3100" b="1" kern="1200" baseline="0" smtClean="0"/>
            <a:t>(31-40</a:t>
          </a:r>
          <a:r>
            <a:rPr lang="en-GB" sz="3100" b="1" kern="1200" baseline="0" dirty="0" smtClean="0"/>
            <a:t>)</a:t>
          </a:r>
          <a:br>
            <a:rPr lang="en-GB" sz="3100" b="1" kern="1200" baseline="0" dirty="0" smtClean="0"/>
          </a:br>
          <a:endParaRPr lang="en-GB" sz="3100" kern="1200" dirty="0"/>
        </a:p>
      </dsp:txBody>
      <dsp:txXfrm>
        <a:off x="2844556" y="415681"/>
        <a:ext cx="2007088" cy="20070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11D622-43F3-4A53-A14A-D9ECF46631D3}" type="datetimeFigureOut">
              <a:rPr lang="en-GB" smtClean="0"/>
              <a:pPr/>
              <a:t>16/11/2015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84C03A-939F-4C5C-8740-0E28EA8629D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344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/>
          <p:cNvGrpSpPr/>
          <p:nvPr/>
        </p:nvGrpSpPr>
        <p:grpSpPr>
          <a:xfrm>
            <a:off x="0" y="-30477"/>
            <a:ext cx="9067800" cy="6889273"/>
            <a:chOff x="0" y="-30477"/>
            <a:chExt cx="9067800" cy="6889273"/>
          </a:xfrm>
        </p:grpSpPr>
        <p:cxnSp>
          <p:nvCxnSpPr>
            <p:cNvPr id="110" name="Straight Connector 109"/>
            <p:cNvCxnSpPr/>
            <p:nvPr/>
          </p:nvCxnSpPr>
          <p:spPr>
            <a:xfrm rot="16200000" flipH="1">
              <a:off x="-14478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 rot="16200000" flipH="1">
              <a:off x="-16383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rot="5400000">
              <a:off x="-14859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rot="5400000">
              <a:off x="-3238500" y="3314700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rot="16200000" flipH="1">
              <a:off x="-3314700" y="3314700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rot="16200000" flipH="1">
              <a:off x="-1371600" y="2971800"/>
              <a:ext cx="6858000" cy="9144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/>
          </p:nvCxnSpPr>
          <p:spPr>
            <a:xfrm rot="16200000" flipH="1">
              <a:off x="-2819400" y="3200400"/>
              <a:ext cx="6858000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 rot="5400000">
              <a:off x="-2705099" y="3238500"/>
              <a:ext cx="6858000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 rot="16200000" flipH="1">
              <a:off x="-2133600" y="3200400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 rot="16200000" flipH="1">
              <a:off x="-31242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>
            <a:xfrm rot="16200000" flipH="1">
              <a:off x="-1828799" y="3352799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 rot="16200000" flipH="1">
              <a:off x="-28194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 rot="16200000" flipH="1">
              <a:off x="-2438400" y="3124200"/>
              <a:ext cx="6858000" cy="609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>
            <a:xfrm rot="5400000">
              <a:off x="-1731645" y="2722245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>
            <a:xfrm rot="5400000">
              <a:off x="-1142048" y="3277552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rot="5400000">
              <a:off x="-9144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>
            <a:xfrm rot="5400000">
              <a:off x="-1855470" y="3227070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rot="16200000" flipH="1">
              <a:off x="-2643187" y="3252788"/>
              <a:ext cx="6858000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 rot="16200000" flipH="1">
              <a:off x="-1954530" y="3326130"/>
              <a:ext cx="6858000" cy="20574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 rot="16200000" flipH="1">
              <a:off x="-23622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rot="16200000" flipH="1">
              <a:off x="-21336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rot="16200000" flipH="1">
              <a:off x="10668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rot="16200000" flipH="1">
              <a:off x="8763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rot="5400000">
              <a:off x="1028700" y="3238500"/>
              <a:ext cx="6858000" cy="3810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rot="5400000">
              <a:off x="-723900" y="3314700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rot="16200000" flipH="1">
              <a:off x="-800100" y="3314700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/>
          </p:nvCxnSpPr>
          <p:spPr>
            <a:xfrm rot="5400000">
              <a:off x="-152400" y="3429000"/>
              <a:ext cx="6858000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/>
          </p:nvCxnSpPr>
          <p:spPr>
            <a:xfrm rot="16200000" flipH="1">
              <a:off x="-304800" y="3200400"/>
              <a:ext cx="6858000" cy="4572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/>
          </p:nvCxnSpPr>
          <p:spPr>
            <a:xfrm rot="5400000">
              <a:off x="-190499" y="3238500"/>
              <a:ext cx="6858000" cy="3810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rot="16200000" flipH="1">
              <a:off x="381000" y="3200400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rot="16200000" flipH="1">
              <a:off x="-6096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rot="16200000" flipH="1">
              <a:off x="685801" y="3352799"/>
              <a:ext cx="6858000" cy="152401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rot="16200000" flipH="1">
              <a:off x="-3048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rot="5400000">
              <a:off x="-1028700" y="3314700"/>
              <a:ext cx="6858000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rot="5400000">
              <a:off x="782955" y="2722245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 rot="5400000">
              <a:off x="1372552" y="3277552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/>
          </p:nvCxnSpPr>
          <p:spPr>
            <a:xfrm rot="5400000">
              <a:off x="16002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/>
          </p:nvCxnSpPr>
          <p:spPr>
            <a:xfrm rot="5400000">
              <a:off x="659130" y="3227070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rot="16200000" flipH="1">
              <a:off x="-128587" y="3252788"/>
              <a:ext cx="6858000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rot="16200000" flipH="1">
              <a:off x="560070" y="3326130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rot="16200000" flipH="1">
              <a:off x="1524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rot="16200000" flipH="1">
              <a:off x="3810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/>
          </p:nvCxnSpPr>
          <p:spPr>
            <a:xfrm rot="16200000" flipH="1">
              <a:off x="2743200" y="3352801"/>
              <a:ext cx="6858000" cy="1524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>
            <a:xfrm rot="16200000" flipH="1">
              <a:off x="2095501" y="3238501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/>
          </p:nvCxnSpPr>
          <p:spPr>
            <a:xfrm rot="5400000">
              <a:off x="2705100" y="3238501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/>
          </p:nvCxnSpPr>
          <p:spPr>
            <a:xfrm rot="5400000">
              <a:off x="1828801" y="3276600"/>
              <a:ext cx="6857999" cy="3048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/>
          </p:nvCxnSpPr>
          <p:spPr>
            <a:xfrm rot="16200000" flipH="1">
              <a:off x="1066800" y="3200402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/>
          </p:nvCxnSpPr>
          <p:spPr>
            <a:xfrm rot="16200000" flipH="1">
              <a:off x="2362201" y="3352800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/>
          </p:nvCxnSpPr>
          <p:spPr>
            <a:xfrm rot="5400000">
              <a:off x="2646045" y="2722246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5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/>
          </p:nvCxnSpPr>
          <p:spPr>
            <a:xfrm rot="5400000">
              <a:off x="3048952" y="3277553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/>
          </p:nvCxnSpPr>
          <p:spPr>
            <a:xfrm rot="5400000">
              <a:off x="2895600" y="3276601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/>
          </p:nvCxnSpPr>
          <p:spPr>
            <a:xfrm rot="5400000">
              <a:off x="2388870" y="3227071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/>
          </p:nvCxnSpPr>
          <p:spPr>
            <a:xfrm rot="16200000" flipH="1">
              <a:off x="2236470" y="3326131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/>
          </p:nvCxnSpPr>
          <p:spPr>
            <a:xfrm rot="16200000" flipH="1">
              <a:off x="1752600" y="3352801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/>
          </p:nvCxnSpPr>
          <p:spPr>
            <a:xfrm rot="16200000" flipH="1">
              <a:off x="19812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/>
          </p:nvCxnSpPr>
          <p:spPr>
            <a:xfrm rot="5400000">
              <a:off x="3467100" y="3314701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/>
          </p:nvCxnSpPr>
          <p:spPr>
            <a:xfrm rot="16200000" flipH="1">
              <a:off x="3467099" y="3314701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/>
          </p:nvCxnSpPr>
          <p:spPr>
            <a:xfrm rot="5400000">
              <a:off x="4038600" y="3429001"/>
              <a:ext cx="6858000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/>
          </p:nvCxnSpPr>
          <p:spPr>
            <a:xfrm rot="16200000" flipH="1">
              <a:off x="3886200" y="3200401"/>
              <a:ext cx="6858000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/>
          </p:nvCxnSpPr>
          <p:spPr>
            <a:xfrm rot="5400000">
              <a:off x="4000501" y="3238501"/>
              <a:ext cx="6858000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/>
          </p:nvCxnSpPr>
          <p:spPr>
            <a:xfrm rot="16200000" flipH="1">
              <a:off x="4572000" y="3200401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/>
          </p:nvCxnSpPr>
          <p:spPr>
            <a:xfrm rot="16200000" flipH="1">
              <a:off x="37338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/>
          </p:nvCxnSpPr>
          <p:spPr>
            <a:xfrm rot="5400000">
              <a:off x="3619500" y="3314700"/>
              <a:ext cx="6858000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/>
          </p:nvCxnSpPr>
          <p:spPr>
            <a:xfrm rot="16200000" flipH="1">
              <a:off x="4214813" y="3252788"/>
              <a:ext cx="6858000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/>
          </p:nvCxnSpPr>
          <p:spPr>
            <a:xfrm rot="16200000" flipH="1">
              <a:off x="4751070" y="3326131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/>
          </p:nvCxnSpPr>
          <p:spPr>
            <a:xfrm rot="16200000" flipH="1">
              <a:off x="4343400" y="3352801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/>
          </p:nvCxnSpPr>
          <p:spPr>
            <a:xfrm rot="16200000" flipH="1">
              <a:off x="4572000" y="3352801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/>
          </p:nvCxnSpPr>
          <p:spPr>
            <a:xfrm rot="16200000" flipH="1">
              <a:off x="5257800" y="3352802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 rot="16200000" flipH="1">
              <a:off x="5067300" y="3238502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/>
          </p:nvCxnSpPr>
          <p:spPr>
            <a:xfrm rot="5400000">
              <a:off x="5219700" y="3238502"/>
              <a:ext cx="6858000" cy="3810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/>
          </p:nvCxnSpPr>
          <p:spPr>
            <a:xfrm rot="16200000" flipH="1">
              <a:off x="4876801" y="3352801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/>
          </p:nvCxnSpPr>
          <p:spPr>
            <a:xfrm rot="5400000">
              <a:off x="5527994" y="3318196"/>
              <a:ext cx="6888479" cy="191133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/>
          </p:nvCxnSpPr>
          <p:spPr>
            <a:xfrm rot="5400000">
              <a:off x="4850130" y="3227072"/>
              <a:ext cx="6858000" cy="40386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 rot="16200000" flipH="1">
              <a:off x="4751070" y="3326132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/>
            <p:nvPr/>
          </p:nvCxnSpPr>
          <p:spPr>
            <a:xfrm rot="5400000">
              <a:off x="5562599" y="3429001"/>
              <a:ext cx="6858002" cy="1588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/>
          </p:nvCxnSpPr>
          <p:spPr>
            <a:xfrm rot="5400000">
              <a:off x="2552700" y="3390900"/>
              <a:ext cx="6858000" cy="76200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/>
            <p:cNvCxnSpPr/>
            <p:nvPr/>
          </p:nvCxnSpPr>
          <p:spPr>
            <a:xfrm rot="16200000" flipH="1">
              <a:off x="3048000" y="3352800"/>
              <a:ext cx="6858000" cy="1524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/>
          </p:nvCxnSpPr>
          <p:spPr>
            <a:xfrm rot="16200000" flipH="1">
              <a:off x="3238500" y="3238500"/>
              <a:ext cx="6858000" cy="381000"/>
            </a:xfrm>
            <a:prstGeom prst="line">
              <a:avLst/>
            </a:prstGeom>
            <a:ln w="19050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 rot="5400000">
              <a:off x="2133600" y="3276600"/>
              <a:ext cx="6858000" cy="3048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/>
          </p:nvCxnSpPr>
          <p:spPr>
            <a:xfrm rot="16200000" flipH="1">
              <a:off x="3148013" y="3252789"/>
              <a:ext cx="6858000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/>
          </p:nvCxnSpPr>
          <p:spPr>
            <a:xfrm rot="5400000">
              <a:off x="37719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/>
          </p:nvCxnSpPr>
          <p:spPr>
            <a:xfrm rot="5400000">
              <a:off x="4229100" y="2933700"/>
              <a:ext cx="6858000" cy="990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/>
            <p:cNvCxnSpPr/>
            <p:nvPr/>
          </p:nvCxnSpPr>
          <p:spPr>
            <a:xfrm rot="16200000" flipH="1">
              <a:off x="1371600" y="3200403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06BC5-2104-4DA9-AFE7-EFBD6C824F43}" type="datetime2">
              <a:rPr lang="en-GB" smtClean="0"/>
              <a:pPr/>
              <a:t>Monday, 16 November 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3" name="Rectangle 112"/>
          <p:cNvSpPr/>
          <p:nvPr/>
        </p:nvSpPr>
        <p:spPr>
          <a:xfrm>
            <a:off x="0" y="1905000"/>
            <a:ext cx="4953000" cy="3124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grpSp>
        <p:nvGrpSpPr>
          <p:cNvPr id="94" name="Group 93"/>
          <p:cNvGrpSpPr/>
          <p:nvPr/>
        </p:nvGrpSpPr>
        <p:grpSpPr>
          <a:xfrm>
            <a:off x="0" y="2057400"/>
            <a:ext cx="4801394" cy="2820988"/>
            <a:chOff x="0" y="2057400"/>
            <a:chExt cx="4801394" cy="2820988"/>
          </a:xfrm>
        </p:grpSpPr>
        <p:cxnSp>
          <p:nvCxnSpPr>
            <p:cNvPr id="117" name="Straight Connector 116"/>
            <p:cNvCxnSpPr/>
            <p:nvPr/>
          </p:nvCxnSpPr>
          <p:spPr>
            <a:xfrm>
              <a:off x="0" y="2057400"/>
              <a:ext cx="4800600" cy="1588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/>
          </p:nvCxnSpPr>
          <p:spPr>
            <a:xfrm>
              <a:off x="0" y="4876800"/>
              <a:ext cx="4800600" cy="1588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rot="5400000">
              <a:off x="3391694" y="3467100"/>
              <a:ext cx="2818606" cy="794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130425"/>
            <a:ext cx="4419600" cy="1600327"/>
          </a:xfrm>
        </p:spPr>
        <p:txBody>
          <a:bodyPr anchor="b">
            <a:normAutofit/>
          </a:bodyPr>
          <a:lstStyle>
            <a:lvl1pPr algn="l">
              <a:defRPr sz="3600" b="1" cap="none" spc="40" baseline="0">
                <a:ln w="13335" cmpd="sng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733800"/>
            <a:ext cx="4419600" cy="1066800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D187C-3E46-4473-B9E3-6FB8D00F7AC4}" type="datetime2">
              <a:rPr lang="en-GB" smtClean="0"/>
              <a:pPr/>
              <a:t>Monday, 16 November 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92"/>
          <p:cNvGrpSpPr/>
          <p:nvPr/>
        </p:nvGrpSpPr>
        <p:grpSpPr>
          <a:xfrm>
            <a:off x="1" y="-30478"/>
            <a:ext cx="9067799" cy="4846320"/>
            <a:chOff x="1" y="-30477"/>
            <a:chExt cx="9067799" cy="4526277"/>
          </a:xfrm>
        </p:grpSpPr>
        <p:cxnSp>
          <p:nvCxnSpPr>
            <p:cNvPr id="8" name="Straight Connector 7"/>
            <p:cNvCxnSpPr/>
            <p:nvPr/>
          </p:nvCxnSpPr>
          <p:spPr>
            <a:xfrm rot="16200000" flipH="1">
              <a:off x="-27166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6200000" flipH="1">
              <a:off x="-46216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rot="5400000">
              <a:off x="-30976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5400000">
              <a:off x="-206236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H="1">
              <a:off x="-2138565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16200000" flipH="1">
              <a:off x="-195465" y="1785212"/>
              <a:ext cx="4505731" cy="9144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6200000" flipH="1">
              <a:off x="-1643265" y="2013812"/>
              <a:ext cx="4505731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5400000">
              <a:off x="-1528964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H="1">
              <a:off x="-957465" y="2013812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6200000" flipH="1">
              <a:off x="-194806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6200000" flipH="1">
              <a:off x="-652664" y="2166211"/>
              <a:ext cx="4505731" cy="152401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16200000" flipH="1">
              <a:off x="-164326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H="1">
              <a:off x="-1790700" y="2019300"/>
              <a:ext cx="4495800" cy="4572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>
              <a:off x="-55551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5400000">
              <a:off x="34087" y="2090964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5400000">
              <a:off x="2617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rot="5400000">
              <a:off x="-67933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rot="16200000" flipH="1">
              <a:off x="-1467052" y="2066200"/>
              <a:ext cx="4505731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6200000" flipH="1">
              <a:off x="-77839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16200000" flipH="1">
              <a:off x="-118606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16200000" flipH="1">
              <a:off x="-95746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16200000" flipH="1">
              <a:off x="22429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16200000" flipH="1">
              <a:off x="20524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5400000">
              <a:off x="2204835" y="2051912"/>
              <a:ext cx="4505731" cy="3810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45223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16200000" flipH="1">
              <a:off x="376035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1023735" y="2242139"/>
              <a:ext cx="4505731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16200000" flipH="1">
              <a:off x="871335" y="2013812"/>
              <a:ext cx="4505731" cy="4572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985636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6200000" flipH="1">
              <a:off x="1557135" y="2013812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16200000" flipH="1">
              <a:off x="5665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16200000" flipH="1">
              <a:off x="1861936" y="2166211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16200000" flipH="1">
              <a:off x="8713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147435" y="2128112"/>
              <a:ext cx="4505731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195909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2548687" y="2090964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27763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83526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16200000" flipH="1">
              <a:off x="1047548" y="2066200"/>
              <a:ext cx="4505731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16200000" flipH="1">
              <a:off x="17362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16200000" flipH="1">
              <a:off x="13285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16200000" flipH="1">
              <a:off x="1557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16200000" flipH="1">
              <a:off x="3919335" y="2166212"/>
              <a:ext cx="4505731" cy="152400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16200000" flipH="1">
              <a:off x="3271636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8812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004936" y="2090012"/>
              <a:ext cx="4505730" cy="3048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rot="16200000" flipH="1">
              <a:off x="2242935" y="2013813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16200000" flipH="1">
              <a:off x="3538336" y="2166212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382218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5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4225087" y="2090965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40717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356500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16200000" flipH="1">
              <a:off x="34126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rot="16200000" flipH="1">
              <a:off x="2928735" y="2166212"/>
              <a:ext cx="4505731" cy="152400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rot="16200000" flipH="1">
              <a:off x="3081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464323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16200000" flipH="1">
              <a:off x="4643234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5214735" y="2242140"/>
              <a:ext cx="4505731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16200000" flipH="1">
              <a:off x="5062335" y="2013812"/>
              <a:ext cx="4505731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5176636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16200000" flipH="1">
              <a:off x="5748135" y="2013813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16200000" flipH="1">
              <a:off x="49099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4795635" y="2128112"/>
              <a:ext cx="4505731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16200000" flipH="1">
              <a:off x="5390948" y="2066200"/>
              <a:ext cx="4505731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16200000" flipH="1">
              <a:off x="59272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rot="16200000" flipH="1">
              <a:off x="55195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rot="16200000" flipH="1">
              <a:off x="5748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rot="16200000" flipH="1">
              <a:off x="6433935" y="2166213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rot="16200000" flipH="1">
              <a:off x="6243435" y="2051913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rot="5400000">
              <a:off x="6395835" y="2051913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 rot="16200000" flipH="1">
              <a:off x="6052936" y="2166212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rot="5400000">
              <a:off x="6709356" y="2136834"/>
              <a:ext cx="4525755" cy="191133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rot="5400000">
              <a:off x="6026265" y="2040483"/>
              <a:ext cx="4505731" cy="40386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16200000" flipH="1">
              <a:off x="5927205" y="2139543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rot="5400000">
              <a:off x="6738734" y="2242140"/>
              <a:ext cx="4505732" cy="1588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rot="5400000">
              <a:off x="3728835" y="2204312"/>
              <a:ext cx="4505731" cy="76200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 rot="16200000" flipH="1">
              <a:off x="4224135" y="2166212"/>
              <a:ext cx="4505731" cy="1524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rot="16200000" flipH="1">
              <a:off x="4414635" y="2051912"/>
              <a:ext cx="4505731" cy="381000"/>
            </a:xfrm>
            <a:prstGeom prst="line">
              <a:avLst/>
            </a:prstGeom>
            <a:ln w="19050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rot="5400000">
              <a:off x="3309735" y="2090012"/>
              <a:ext cx="4505731" cy="3048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rot="16200000" flipH="1">
              <a:off x="4324148" y="2066200"/>
              <a:ext cx="4505731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 rot="5400000">
              <a:off x="49480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rot="5400000">
              <a:off x="5405235" y="1747112"/>
              <a:ext cx="4505731" cy="990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 rot="16200000" flipH="1">
              <a:off x="2547735" y="2013814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Rectangle 93"/>
          <p:cNvSpPr/>
          <p:nvPr/>
        </p:nvSpPr>
        <p:spPr>
          <a:xfrm>
            <a:off x="0" y="4311168"/>
            <a:ext cx="9144000" cy="1905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96" name="Straight Connector 95"/>
          <p:cNvCxnSpPr/>
          <p:nvPr/>
        </p:nvCxnSpPr>
        <p:spPr>
          <a:xfrm>
            <a:off x="0" y="4387368"/>
            <a:ext cx="914400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0" y="6138380"/>
            <a:ext cx="914400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621364"/>
            <a:ext cx="8305800" cy="414649"/>
          </a:xfrm>
        </p:spPr>
        <p:txBody>
          <a:bodyPr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5" name="Title 94"/>
          <p:cNvSpPr>
            <a:spLocks noGrp="1"/>
          </p:cNvSpPr>
          <p:nvPr>
            <p:ph type="title"/>
          </p:nvPr>
        </p:nvSpPr>
        <p:spPr>
          <a:xfrm>
            <a:off x="457200" y="4463568"/>
            <a:ext cx="8305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8759E-593B-4F3E-99A1-7B279B223C44}" type="datetime2">
              <a:rPr lang="en-GB" smtClean="0"/>
              <a:pPr/>
              <a:t>Monday, 16 November 2015</a:t>
            </a:fld>
            <a:endParaRPr lang="en-GB"/>
          </a:p>
        </p:txBody>
      </p:sp>
      <p:sp>
        <p:nvSpPr>
          <p:cNvPr id="91" name="Footer Placeholder 9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92" name="Slide Number Placeholder 9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36C80-261B-4700-9F7C-F578CAA6AB77}" type="datetime2">
              <a:rPr lang="en-GB" smtClean="0"/>
              <a:pPr/>
              <a:t>Monday, 16 November 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A7B8-57B5-4B6E-9A44-46C1E62C457D}" type="datetime2">
              <a:rPr lang="en-GB" smtClean="0"/>
              <a:pPr/>
              <a:t>Monday, 16 November 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E5825-2E89-4630-801F-2860501B71CA}" type="datetime2">
              <a:rPr lang="en-GB" smtClean="0"/>
              <a:pPr/>
              <a:t>Monday, 16 November 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7474-D571-4C6C-9577-DCEFACE56421}" type="datetime2">
              <a:rPr lang="en-GB" smtClean="0"/>
              <a:pPr/>
              <a:t>Monday, 16 November 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0400" y="273050"/>
            <a:ext cx="54864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6EB63-61B2-42EE-B2D1-B586623515C5}" type="datetime2">
              <a:rPr lang="en-GB" smtClean="0"/>
              <a:pPr/>
              <a:t>Monday, 16 November 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7" name="Rectangle 36"/>
          <p:cNvSpPr/>
          <p:nvPr/>
        </p:nvSpPr>
        <p:spPr>
          <a:xfrm>
            <a:off x="0" y="1563624"/>
            <a:ext cx="2761488" cy="331317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 rot="5400000">
            <a:off x="1128157" y="3221339"/>
            <a:ext cx="3017520" cy="794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0" y="1712976"/>
            <a:ext cx="265176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0" y="4733544"/>
            <a:ext cx="265176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901952"/>
            <a:ext cx="2377440" cy="1371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tabLst>
                <a:tab pos="3830638" algn="l"/>
              </a:tabLst>
              <a:defRPr lang="en-US" sz="2600" b="1" kern="1200" cap="none" spc="20" baseline="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400" y="3273552"/>
            <a:ext cx="2377440" cy="13716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200400" y="381000"/>
            <a:ext cx="5562600" cy="5638800"/>
          </a:xfrm>
          <a:solidFill>
            <a:schemeClr val="bg2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2AB4F-C778-4856-8FB7-9E825AB5AF56}" type="datetime2">
              <a:rPr lang="en-GB" smtClean="0"/>
              <a:pPr/>
              <a:t>Monday, 16 November 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3" name="Rectangle 32"/>
          <p:cNvSpPr/>
          <p:nvPr/>
        </p:nvSpPr>
        <p:spPr>
          <a:xfrm>
            <a:off x="0" y="1563624"/>
            <a:ext cx="2761488" cy="331317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1128157" y="3221339"/>
            <a:ext cx="3017520" cy="794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0" y="1712976"/>
            <a:ext cx="265176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0" y="4733544"/>
            <a:ext cx="265176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" y="1905000"/>
            <a:ext cx="2377440" cy="1371600"/>
          </a:xfrm>
        </p:spPr>
        <p:txBody>
          <a:bodyPr anchor="b">
            <a:normAutofit/>
          </a:bodyPr>
          <a:lstStyle>
            <a:lvl1pPr algn="l">
              <a:defRPr sz="2600" b="1" cap="none" spc="20" baseline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400" y="3276600"/>
            <a:ext cx="2377440" cy="13716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5F62-4C9E-48BA-B082-FE2F98A08F7D}" type="datetime2">
              <a:rPr lang="en-GB" smtClean="0"/>
              <a:pPr/>
              <a:t>Monday, 16 November 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5EDD7-F9CC-4229-A64E-CF63D678F5F4}" type="datetime2">
              <a:rPr lang="en-GB" smtClean="0"/>
              <a:pPr/>
              <a:t>Monday, 16 November 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89"/>
          <p:cNvSpPr/>
          <p:nvPr/>
        </p:nvSpPr>
        <p:spPr>
          <a:xfrm>
            <a:off x="149352" y="137160"/>
            <a:ext cx="8869680" cy="6583680"/>
          </a:xfrm>
          <a:prstGeom prst="rect">
            <a:avLst/>
          </a:prstGeom>
          <a:noFill/>
          <a:ln w="19050" cmpd="sng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1240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1D526C64-A35E-4AC9-8827-DB92D5CE5F1F}" type="datetime2">
              <a:rPr lang="en-GB" smtClean="0"/>
              <a:pPr/>
              <a:t>Monday, 16 November 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31123" y="6312408"/>
            <a:ext cx="34817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1240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E49192BF-1547-4690-8514-213397476292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tabLst>
          <a:tab pos="3830638" algn="l"/>
        </a:tabLst>
        <a:defRPr sz="3600" b="1" kern="1200" cap="none" spc="50">
          <a:ln w="13335" cmpd="sng">
            <a:solidFill>
              <a:schemeClr val="accent1">
                <a:lumMod val="50000"/>
              </a:schemeClr>
            </a:solidFill>
            <a:prstDash val="solid"/>
          </a:ln>
          <a:solidFill>
            <a:schemeClr val="accent6">
              <a:tint val="1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8872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91640" indent="-18288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888783127"/>
              </p:ext>
            </p:extLst>
          </p:nvPr>
        </p:nvGraphicFramePr>
        <p:xfrm>
          <a:off x="762000" y="762001"/>
          <a:ext cx="7696200" cy="2838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0943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/>
            </a:r>
            <a:br>
              <a:rPr lang="en-GB" b="1" dirty="0"/>
            </a:br>
            <a:r>
              <a:rPr lang="en-GB" b="1" dirty="0" smtClean="0"/>
              <a:t>AYAH # 31</a:t>
            </a:r>
            <a:r>
              <a:rPr lang="en-GB" b="1" dirty="0"/>
              <a:t/>
            </a:r>
            <a:br>
              <a:rPr lang="en-GB" b="1" dirty="0"/>
            </a:b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 rtl="1">
              <a:buNone/>
            </a:pPr>
            <a:endParaRPr lang="en-US" b="1" dirty="0" smtClean="0">
              <a:latin typeface="_PDMS_IslamicFont" pitchFamily="2" charset="-78"/>
              <a:cs typeface="_PDMS_IslamicFont" pitchFamily="2" charset="-78"/>
            </a:endParaRPr>
          </a:p>
          <a:p>
            <a:pPr marL="0" indent="0" algn="r" rtl="1">
              <a:buNone/>
            </a:pPr>
            <a:r>
              <a:rPr lang="ar-SA" b="1" dirty="0" smtClean="0">
                <a:latin typeface="_PDMS_IslamicFont" pitchFamily="2" charset="-78"/>
              </a:rPr>
              <a:t>وَلَا </a:t>
            </a:r>
            <a:r>
              <a:rPr lang="ar-SA" b="1" dirty="0">
                <a:latin typeface="_PDMS_IslamicFont" pitchFamily="2" charset="-78"/>
              </a:rPr>
              <a:t>تَقۡتُلُوۡۤا اَوۡلَادَكُمۡ خَشۡيَةَ اِمۡلَاقٍ‌ؕ نَحۡنُ نَرۡزُقُهُمۡ  وَاِيَّاكُمۡ‌ؕ اِنَّ قَتۡلَهُمۡ كَانَ خِطۡاً كَبِيۡرًا</a:t>
            </a:r>
            <a:endParaRPr lang="en-GB" b="1" dirty="0" smtClean="0">
              <a:latin typeface="_PDMS_IslamicFont" pitchFamily="2" charset="-78"/>
            </a:endParaRP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b="1" dirty="0" smtClean="0"/>
              <a:t>TRANSLATION</a:t>
            </a:r>
            <a:endParaRPr lang="en-GB" b="1" dirty="0"/>
          </a:p>
          <a:p>
            <a:pPr marL="0" indent="0" algn="ctr">
              <a:buNone/>
            </a:pPr>
            <a:r>
              <a:rPr lang="en-GB" dirty="0"/>
              <a:t>“And kill not your children for fear </a:t>
            </a:r>
            <a:r>
              <a:rPr lang="en-GB" dirty="0" smtClean="0"/>
              <a:t>of poverty</a:t>
            </a:r>
            <a:r>
              <a:rPr lang="en-GB" dirty="0"/>
              <a:t>. We shall provide for them </a:t>
            </a:r>
            <a:r>
              <a:rPr lang="en-GB" sz="1800" dirty="0" smtClean="0"/>
              <a:t>[children] </a:t>
            </a:r>
            <a:r>
              <a:rPr lang="en-GB" dirty="0" smtClean="0"/>
              <a:t>as well </a:t>
            </a:r>
            <a:r>
              <a:rPr lang="en-GB" dirty="0"/>
              <a:t>as for </a:t>
            </a:r>
            <a:r>
              <a:rPr lang="en-GB" dirty="0" smtClean="0"/>
              <a:t>you </a:t>
            </a:r>
            <a:r>
              <a:rPr lang="en-GB" sz="1800" dirty="0" smtClean="0"/>
              <a:t>[parents]. </a:t>
            </a:r>
          </a:p>
          <a:p>
            <a:pPr marL="0" indent="0" algn="ctr">
              <a:buNone/>
            </a:pPr>
            <a:r>
              <a:rPr lang="en-GB" dirty="0" smtClean="0"/>
              <a:t>Surely</a:t>
            </a:r>
            <a:r>
              <a:rPr lang="en-GB" dirty="0"/>
              <a:t>, the killing </a:t>
            </a:r>
            <a:r>
              <a:rPr lang="en-GB" dirty="0" smtClean="0"/>
              <a:t>of them </a:t>
            </a:r>
            <a:r>
              <a:rPr lang="en-GB" dirty="0"/>
              <a:t>is a great sin”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1122" y="6312408"/>
            <a:ext cx="4026878" cy="365125"/>
          </a:xfrm>
        </p:spPr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0375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MAIN THEME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/>
              <a:t>Killing </a:t>
            </a:r>
            <a:r>
              <a:rPr lang="en-GB" dirty="0"/>
              <a:t>a child by any mean e.g. </a:t>
            </a:r>
            <a:r>
              <a:rPr lang="en-GB" dirty="0">
                <a:solidFill>
                  <a:schemeClr val="tx2"/>
                </a:solidFill>
              </a:rPr>
              <a:t>to </a:t>
            </a:r>
            <a:r>
              <a:rPr lang="en-GB" dirty="0" smtClean="0">
                <a:solidFill>
                  <a:schemeClr val="tx2"/>
                </a:solidFill>
              </a:rPr>
              <a:t>bury a daughter </a:t>
            </a:r>
            <a:r>
              <a:rPr lang="en-GB" dirty="0">
                <a:solidFill>
                  <a:schemeClr val="tx2"/>
                </a:solidFill>
              </a:rPr>
              <a:t>alive</a:t>
            </a:r>
            <a:r>
              <a:rPr lang="en-GB" dirty="0"/>
              <a:t> or by </a:t>
            </a:r>
            <a:r>
              <a:rPr lang="en-GB" dirty="0" smtClean="0"/>
              <a:t>abortion/ </a:t>
            </a:r>
            <a:r>
              <a:rPr lang="en-GB" dirty="0" smtClean="0">
                <a:solidFill>
                  <a:schemeClr val="tx2"/>
                </a:solidFill>
              </a:rPr>
              <a:t>family </a:t>
            </a:r>
            <a:r>
              <a:rPr lang="en-GB" dirty="0">
                <a:solidFill>
                  <a:schemeClr val="tx2"/>
                </a:solidFill>
              </a:rPr>
              <a:t>planning</a:t>
            </a:r>
            <a:r>
              <a:rPr lang="en-GB" dirty="0"/>
              <a:t> </a:t>
            </a:r>
            <a:r>
              <a:rPr lang="en-GB" dirty="0" smtClean="0"/>
              <a:t>is </a:t>
            </a:r>
            <a:r>
              <a:rPr lang="en-GB" b="1" dirty="0" smtClean="0">
                <a:solidFill>
                  <a:srgbClr val="002060"/>
                </a:solidFill>
              </a:rPr>
              <a:t>Haram</a:t>
            </a:r>
            <a:r>
              <a:rPr lang="en-GB" dirty="0" smtClean="0">
                <a:solidFill>
                  <a:srgbClr val="FF0000"/>
                </a:solidFill>
              </a:rPr>
              <a:t> </a:t>
            </a:r>
            <a:r>
              <a:rPr lang="en-GB" dirty="0"/>
              <a:t>and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smtClean="0">
                <a:solidFill>
                  <a:srgbClr val="002060"/>
                </a:solidFill>
              </a:rPr>
              <a:t>a</a:t>
            </a:r>
            <a:r>
              <a:rPr lang="en-GB" dirty="0" smtClean="0">
                <a:solidFill>
                  <a:srgbClr val="FF0000"/>
                </a:solidFill>
              </a:rPr>
              <a:t> </a:t>
            </a:r>
            <a:r>
              <a:rPr lang="en-GB" b="1" dirty="0" smtClean="0">
                <a:solidFill>
                  <a:srgbClr val="002060"/>
                </a:solidFill>
              </a:rPr>
              <a:t>greatest sin</a:t>
            </a:r>
            <a:r>
              <a:rPr lang="en-GB" dirty="0" smtClean="0">
                <a:solidFill>
                  <a:srgbClr val="002060"/>
                </a:solidFill>
              </a:rPr>
              <a:t> </a:t>
            </a:r>
            <a:r>
              <a:rPr lang="en-GB" dirty="0" smtClean="0"/>
              <a:t>after Shirk.</a:t>
            </a: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(The word used for this kind of killing </a:t>
            </a:r>
            <a:r>
              <a:rPr lang="en-GB" dirty="0" smtClean="0"/>
              <a:t>in Quran </a:t>
            </a:r>
            <a:r>
              <a:rPr lang="en-GB" dirty="0"/>
              <a:t>is </a:t>
            </a:r>
            <a:r>
              <a:rPr lang="en-GB" b="1" dirty="0">
                <a:solidFill>
                  <a:schemeClr val="tx2"/>
                </a:solidFill>
              </a:rPr>
              <a:t>“</a:t>
            </a:r>
            <a:r>
              <a:rPr lang="en-GB" b="1" dirty="0" err="1">
                <a:solidFill>
                  <a:schemeClr val="tx2"/>
                </a:solidFill>
              </a:rPr>
              <a:t>Qatl</a:t>
            </a:r>
            <a:r>
              <a:rPr lang="en-GB" b="1" dirty="0">
                <a:solidFill>
                  <a:schemeClr val="tx2"/>
                </a:solidFill>
              </a:rPr>
              <a:t>”</a:t>
            </a:r>
            <a:r>
              <a:rPr lang="en-GB" dirty="0"/>
              <a:t>)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447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EXPLANATION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/>
              <a:t>Killing </a:t>
            </a:r>
            <a:r>
              <a:rPr lang="en-GB" dirty="0"/>
              <a:t>of a child has two famous meanings:</a:t>
            </a:r>
          </a:p>
          <a:p>
            <a:pPr marL="0" indent="0" algn="ctr">
              <a:buNone/>
            </a:pPr>
            <a:r>
              <a:rPr lang="en-GB" dirty="0"/>
              <a:t>(1) To </a:t>
            </a:r>
            <a:r>
              <a:rPr lang="en-GB" dirty="0" smtClean="0"/>
              <a:t>bury </a:t>
            </a:r>
            <a:r>
              <a:rPr lang="en-GB" dirty="0"/>
              <a:t>one’s daughter alive as it</a:t>
            </a:r>
          </a:p>
          <a:p>
            <a:pPr marL="0" indent="0" algn="ctr">
              <a:buNone/>
            </a:pPr>
            <a:r>
              <a:rPr lang="en-GB" dirty="0"/>
              <a:t>was a custom in Arabia before the</a:t>
            </a:r>
          </a:p>
          <a:p>
            <a:pPr marL="0" indent="0" algn="ctr">
              <a:buNone/>
            </a:pPr>
            <a:r>
              <a:rPr lang="en-GB" dirty="0"/>
              <a:t>advent of </a:t>
            </a:r>
            <a:r>
              <a:rPr lang="en-GB" dirty="0" smtClean="0"/>
              <a:t>Islam. </a:t>
            </a:r>
          </a:p>
          <a:p>
            <a:pPr marL="0" indent="0" algn="ctr">
              <a:buNone/>
            </a:pPr>
            <a:r>
              <a:rPr lang="en-GB" dirty="0" smtClean="0"/>
              <a:t>This is in actual belongs to </a:t>
            </a:r>
            <a:r>
              <a:rPr lang="en-GB" b="1" dirty="0" smtClean="0"/>
              <a:t>gender discrimination</a:t>
            </a:r>
            <a:r>
              <a:rPr lang="en-GB" dirty="0" smtClean="0"/>
              <a:t>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(2) </a:t>
            </a:r>
            <a:r>
              <a:rPr lang="en-GB" dirty="0">
                <a:solidFill>
                  <a:schemeClr val="tx2"/>
                </a:solidFill>
              </a:rPr>
              <a:t>Family planning</a:t>
            </a:r>
            <a:r>
              <a:rPr lang="en-GB" dirty="0"/>
              <a:t> and </a:t>
            </a:r>
            <a:r>
              <a:rPr lang="en-GB" dirty="0" smtClean="0">
                <a:solidFill>
                  <a:schemeClr val="tx2"/>
                </a:solidFill>
              </a:rPr>
              <a:t>contraception</a:t>
            </a:r>
            <a:r>
              <a:rPr lang="en-GB" dirty="0" smtClean="0"/>
              <a:t> </a:t>
            </a:r>
            <a:r>
              <a:rPr lang="en-GB" sz="2400" dirty="0" smtClean="0"/>
              <a:t>(birth control) </a:t>
            </a:r>
            <a:r>
              <a:rPr lang="en-GB" dirty="0" smtClean="0"/>
              <a:t>due to the fear </a:t>
            </a:r>
            <a:r>
              <a:rPr lang="en-GB" dirty="0"/>
              <a:t>of </a:t>
            </a:r>
            <a:r>
              <a:rPr lang="en-GB" dirty="0" smtClean="0"/>
              <a:t>poverty. </a:t>
            </a:r>
          </a:p>
          <a:p>
            <a:pPr marL="0" indent="0" algn="ctr">
              <a:buNone/>
            </a:pPr>
            <a:endParaRPr lang="en-GB" dirty="0" smtClean="0"/>
          </a:p>
          <a:p>
            <a:pPr marL="0" indent="0" algn="ctr">
              <a:buNone/>
            </a:pPr>
            <a:r>
              <a:rPr lang="en-GB" dirty="0" smtClean="0"/>
              <a:t>In this case, it is not based on gender discrimination.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268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BURYING DAUGHTER ALIVE IS FORBIDDEN IN ISLAM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It was a custom in Arab before Islam that some people, </a:t>
            </a:r>
            <a:r>
              <a:rPr lang="en-US" b="1" dirty="0" smtClean="0"/>
              <a:t>NOT ALL</a:t>
            </a:r>
            <a:r>
              <a:rPr lang="en-US" dirty="0" smtClean="0"/>
              <a:t>, used to bury their daughters alive considering them symbol of weakness and shamefulness for them. </a:t>
            </a:r>
          </a:p>
          <a:p>
            <a:r>
              <a:rPr lang="en-US" dirty="0" smtClean="0"/>
              <a:t>Islam has condemned this wicked custom strictly and bestowed them a status of respect and </a:t>
            </a:r>
            <a:r>
              <a:rPr lang="en-US" dirty="0" err="1" smtClean="0"/>
              <a:t>honour</a:t>
            </a:r>
            <a:r>
              <a:rPr lang="en-US" dirty="0" smtClean="0"/>
              <a:t> in the society. Since birth and up bringing of girls in good manner is declared </a:t>
            </a:r>
            <a:r>
              <a:rPr lang="en-US" b="1" dirty="0" smtClean="0">
                <a:solidFill>
                  <a:srgbClr val="002060"/>
                </a:solidFill>
              </a:rPr>
              <a:t>blessing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002060"/>
                </a:solidFill>
              </a:rPr>
              <a:t>source of entering into paradise </a:t>
            </a:r>
            <a:r>
              <a:rPr lang="en-US" dirty="0" smtClean="0"/>
              <a:t>for parents.</a:t>
            </a:r>
          </a:p>
          <a:p>
            <a:r>
              <a:rPr lang="en-US" dirty="0" smtClean="0"/>
              <a:t>Quran says: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 rtl="1">
              <a:buNone/>
            </a:pPr>
            <a:r>
              <a:rPr lang="ar-SA" dirty="0">
                <a:latin typeface="Arial" panose="020B0604020202020204" pitchFamily="34" charset="0"/>
                <a:cs typeface="Arial" panose="020B0604020202020204" pitchFamily="34" charset="0"/>
              </a:rPr>
              <a:t> وَإِذَا ٱلۡمَوۡءُ ۥدَةُ سُٮِٕلَتۡ  بِأَىِّ ذَنۢبٍ۬ قُتِلَتۡ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endParaRPr lang="en-GB" dirty="0" smtClean="0"/>
          </a:p>
          <a:p>
            <a:pPr marL="0" indent="0" algn="ctr">
              <a:buNone/>
            </a:pPr>
            <a:r>
              <a:rPr lang="en-GB" dirty="0" smtClean="0"/>
              <a:t>“And (at the Day of Judgment) when </a:t>
            </a:r>
            <a:r>
              <a:rPr lang="en-GB" dirty="0"/>
              <a:t>the female (infant) buried alive (as the pagan Arabs used to do) is </a:t>
            </a:r>
            <a:r>
              <a:rPr lang="en-GB" dirty="0" smtClean="0"/>
              <a:t>questioned </a:t>
            </a:r>
            <a:r>
              <a:rPr lang="en-GB" dirty="0"/>
              <a:t>For what sin was she </a:t>
            </a:r>
            <a:r>
              <a:rPr lang="en-GB" dirty="0" smtClean="0"/>
              <a:t>killed?”</a:t>
            </a:r>
          </a:p>
          <a:p>
            <a:pPr marL="0" indent="0" algn="ctr">
              <a:buNone/>
            </a:pPr>
            <a:r>
              <a:rPr lang="en-US" sz="1700" dirty="0" smtClean="0">
                <a:latin typeface="_PDMS_IslamicFont" pitchFamily="2" charset="-78"/>
                <a:cs typeface="_PDMS_IslamicFont" pitchFamily="2" charset="-78"/>
              </a:rPr>
              <a:t>(Surah </a:t>
            </a:r>
            <a:r>
              <a:rPr lang="en-US" sz="1700" dirty="0" err="1" smtClean="0">
                <a:latin typeface="_PDMS_IslamicFont" pitchFamily="2" charset="-78"/>
                <a:cs typeface="_PDMS_IslamicFont" pitchFamily="2" charset="-78"/>
              </a:rPr>
              <a:t>Takweer</a:t>
            </a:r>
            <a:r>
              <a:rPr lang="en-US" sz="1700" dirty="0" smtClean="0">
                <a:latin typeface="_PDMS_IslamicFont" pitchFamily="2" charset="-78"/>
                <a:cs typeface="_PDMS_IslamicFont" pitchFamily="2" charset="-78"/>
              </a:rPr>
              <a:t>, Ayahs 8-9)</a:t>
            </a:r>
            <a:endParaRPr lang="en-GB" sz="1700" dirty="0">
              <a:latin typeface="_PDMS_IslamicFont" pitchFamily="2" charset="-78"/>
              <a:cs typeface="_PDMS_IslamicFont" pitchFamily="2" charset="-7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295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QURANIC QUOTATIONS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“</a:t>
            </a:r>
            <a:r>
              <a:rPr lang="en-GB" dirty="0"/>
              <a:t>To </a:t>
            </a:r>
            <a:r>
              <a:rPr lang="en-GB" dirty="0" smtClean="0"/>
              <a:t>Allah </a:t>
            </a:r>
            <a:r>
              <a:rPr lang="en-GB" dirty="0"/>
              <a:t>belongs the dominion of the heavens and the earth; </a:t>
            </a:r>
            <a:r>
              <a:rPr lang="en-GB" b="1" dirty="0">
                <a:solidFill>
                  <a:srgbClr val="002060"/>
                </a:solidFill>
              </a:rPr>
              <a:t>He creates what He wills</a:t>
            </a:r>
            <a:r>
              <a:rPr lang="en-GB" dirty="0"/>
              <a:t>. He gives to whom He wills </a:t>
            </a:r>
            <a:r>
              <a:rPr lang="en-GB" b="1" dirty="0" smtClean="0">
                <a:solidFill>
                  <a:srgbClr val="002060"/>
                </a:solidFill>
              </a:rPr>
              <a:t>females</a:t>
            </a:r>
            <a:r>
              <a:rPr lang="en-GB" dirty="0" smtClean="0"/>
              <a:t> </a:t>
            </a:r>
            <a:r>
              <a:rPr lang="en-GB" dirty="0"/>
              <a:t>[children], and He gives to whom He wills </a:t>
            </a:r>
            <a:r>
              <a:rPr lang="en-GB" b="1" dirty="0">
                <a:solidFill>
                  <a:srgbClr val="002060"/>
                </a:solidFill>
              </a:rPr>
              <a:t>males</a:t>
            </a:r>
            <a:r>
              <a:rPr lang="en-GB" dirty="0"/>
              <a:t>. Or He makes them [both] </a:t>
            </a:r>
            <a:r>
              <a:rPr lang="en-GB" b="1" dirty="0">
                <a:solidFill>
                  <a:srgbClr val="002060"/>
                </a:solidFill>
              </a:rPr>
              <a:t>males and females</a:t>
            </a:r>
            <a:r>
              <a:rPr lang="en-GB" dirty="0"/>
              <a:t>, and He renders whom He wills </a:t>
            </a:r>
            <a:r>
              <a:rPr lang="en-GB" b="1" dirty="0">
                <a:solidFill>
                  <a:srgbClr val="002060"/>
                </a:solidFill>
              </a:rPr>
              <a:t>barren</a:t>
            </a:r>
            <a:r>
              <a:rPr lang="en-GB" dirty="0"/>
              <a:t>. Indeed, He is Knowing and </a:t>
            </a:r>
            <a:r>
              <a:rPr lang="en-GB" dirty="0" smtClean="0"/>
              <a:t>Competent”</a:t>
            </a:r>
          </a:p>
          <a:p>
            <a:pPr algn="ctr">
              <a:buNone/>
            </a:pPr>
            <a:r>
              <a:rPr lang="en-GB" sz="1800" dirty="0" smtClean="0"/>
              <a:t>[Surah </a:t>
            </a:r>
            <a:r>
              <a:rPr lang="en-GB" sz="1800" dirty="0" err="1" smtClean="0"/>
              <a:t>Shura</a:t>
            </a:r>
            <a:r>
              <a:rPr lang="en-GB" sz="1800" dirty="0" smtClean="0"/>
              <a:t>’ </a:t>
            </a:r>
            <a:r>
              <a:rPr lang="en-GB" sz="1800" dirty="0"/>
              <a:t>49:50]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854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HADITH QUOTATIONS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b="1" dirty="0" smtClean="0"/>
              <a:t>“He </a:t>
            </a:r>
            <a:r>
              <a:rPr lang="en-GB" b="1" dirty="0"/>
              <a:t>who raises two daughters until their </a:t>
            </a:r>
            <a:r>
              <a:rPr lang="en-GB" b="1" dirty="0" smtClean="0"/>
              <a:t>puberty, </a:t>
            </a:r>
            <a:r>
              <a:rPr lang="en-GB" b="1" dirty="0"/>
              <a:t>will be with me in Paradise like this", and he symbolized the proximity by showing two of his fingers with a slight gap between them</a:t>
            </a:r>
            <a:r>
              <a:rPr lang="en-GB" b="1" dirty="0" smtClean="0"/>
              <a:t>.“</a:t>
            </a:r>
          </a:p>
          <a:p>
            <a:pPr marL="0" indent="0" algn="ctr">
              <a:buNone/>
            </a:pPr>
            <a:r>
              <a:rPr lang="en-GB" b="1" dirty="0" smtClean="0"/>
              <a:t> </a:t>
            </a:r>
            <a:r>
              <a:rPr lang="en-GB" b="1" dirty="0"/>
              <a:t>(Muslim</a:t>
            </a:r>
            <a:r>
              <a:rPr lang="en-GB" b="1" dirty="0" smtClean="0"/>
              <a:t>)</a:t>
            </a:r>
          </a:p>
          <a:p>
            <a:pPr algn="ctr"/>
            <a:r>
              <a:rPr lang="en-GB" b="1" dirty="0"/>
              <a:t>“Whoever </a:t>
            </a:r>
            <a:r>
              <a:rPr lang="en-GB" b="1" dirty="0" smtClean="0"/>
              <a:t>Allah </a:t>
            </a:r>
            <a:r>
              <a:rPr lang="en-GB" b="1" dirty="0"/>
              <a:t>has given two daughters and is kind towards them, will have them as a reason for him to be admitted into Paradise.” </a:t>
            </a:r>
            <a:endParaRPr lang="en-GB" b="1" dirty="0" smtClean="0"/>
          </a:p>
          <a:p>
            <a:pPr marL="0" indent="0" algn="ctr">
              <a:buNone/>
            </a:pPr>
            <a:r>
              <a:rPr lang="en-GB" b="1" dirty="0" smtClean="0"/>
              <a:t>And</a:t>
            </a:r>
            <a:r>
              <a:rPr lang="en-GB" b="1" dirty="0"/>
              <a:t>: </a:t>
            </a:r>
            <a:endParaRPr lang="en-GB" b="1" dirty="0" smtClean="0"/>
          </a:p>
          <a:p>
            <a:pPr algn="ctr"/>
            <a:r>
              <a:rPr lang="en-GB" b="1" dirty="0" smtClean="0"/>
              <a:t>“</a:t>
            </a:r>
            <a:r>
              <a:rPr lang="en-GB" b="1" dirty="0"/>
              <a:t>Whoever </a:t>
            </a:r>
            <a:r>
              <a:rPr lang="en-GB" b="1" dirty="0" smtClean="0"/>
              <a:t>Allah </a:t>
            </a:r>
            <a:r>
              <a:rPr lang="en-GB" b="1" dirty="0"/>
              <a:t>has given three daughters and he </a:t>
            </a:r>
            <a:r>
              <a:rPr lang="en-GB" b="1" dirty="0" smtClean="0"/>
              <a:t>endures </a:t>
            </a:r>
            <a:r>
              <a:rPr lang="en-GB" b="1" dirty="0"/>
              <a:t>through raising them, will have them as a shield for him from the Hellfire on the Day of Resurrection.”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668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IS FAMILY PLANNING?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dirty="0" smtClean="0"/>
              <a:t>(</a:t>
            </a:r>
            <a:r>
              <a:rPr lang="en-GB" dirty="0"/>
              <a:t>1) “Planning intended to determine the number </a:t>
            </a:r>
            <a:r>
              <a:rPr lang="en-GB" dirty="0" smtClean="0"/>
              <a:t>and spacing of </a:t>
            </a:r>
            <a:r>
              <a:rPr lang="en-GB" dirty="0"/>
              <a:t>one's children through birth control”</a:t>
            </a:r>
          </a:p>
          <a:p>
            <a:pPr marL="0" indent="0" algn="ctr">
              <a:buNone/>
            </a:pPr>
            <a:r>
              <a:rPr lang="en-GB" sz="1700" dirty="0" smtClean="0"/>
              <a:t>	</a:t>
            </a:r>
            <a:r>
              <a:rPr lang="en-GB" sz="1700" dirty="0" smtClean="0">
                <a:solidFill>
                  <a:schemeClr val="tx2"/>
                </a:solidFill>
              </a:rPr>
              <a:t>(</a:t>
            </a:r>
            <a:r>
              <a:rPr lang="en-GB" sz="1700" dirty="0">
                <a:solidFill>
                  <a:schemeClr val="tx2"/>
                </a:solidFill>
              </a:rPr>
              <a:t>Merriam-Webster</a:t>
            </a:r>
            <a:r>
              <a:rPr lang="en-GB" sz="1700" dirty="0" smtClean="0">
                <a:solidFill>
                  <a:schemeClr val="tx2"/>
                </a:solidFill>
              </a:rPr>
              <a:t>)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(2) “</a:t>
            </a:r>
            <a:r>
              <a:rPr lang="en-GB" dirty="0">
                <a:solidFill>
                  <a:schemeClr val="tx2"/>
                </a:solidFill>
              </a:rPr>
              <a:t>Planned parenthood</a:t>
            </a:r>
            <a:r>
              <a:rPr lang="en-GB" dirty="0"/>
              <a:t>, also called family planning, </a:t>
            </a:r>
            <a:r>
              <a:rPr lang="en-GB" dirty="0" smtClean="0"/>
              <a:t>is a </a:t>
            </a:r>
            <a:r>
              <a:rPr lang="en-GB" dirty="0"/>
              <a:t>practice of measures designed to regulate </a:t>
            </a:r>
            <a:r>
              <a:rPr lang="en-GB" dirty="0" smtClean="0"/>
              <a:t>the number </a:t>
            </a:r>
            <a:r>
              <a:rPr lang="en-GB" dirty="0"/>
              <a:t>and spacing of children within a family”</a:t>
            </a:r>
          </a:p>
          <a:p>
            <a:pPr marL="0" indent="0" algn="ctr">
              <a:buNone/>
            </a:pPr>
            <a:r>
              <a:rPr lang="en-GB" dirty="0" smtClean="0"/>
              <a:t>		</a:t>
            </a:r>
            <a:r>
              <a:rPr lang="en-GB" sz="1700" dirty="0" smtClean="0">
                <a:solidFill>
                  <a:schemeClr val="tx2"/>
                </a:solidFill>
              </a:rPr>
              <a:t>(Encyclopaedia </a:t>
            </a:r>
            <a:r>
              <a:rPr lang="en-GB" sz="1700" dirty="0">
                <a:solidFill>
                  <a:schemeClr val="tx2"/>
                </a:solidFill>
              </a:rPr>
              <a:t>of Britannica</a:t>
            </a:r>
            <a:r>
              <a:rPr lang="en-GB" sz="1700" dirty="0" smtClean="0">
                <a:solidFill>
                  <a:schemeClr val="tx2"/>
                </a:solidFill>
              </a:rPr>
              <a:t>)</a:t>
            </a:r>
          </a:p>
          <a:p>
            <a:pPr marL="0" indent="0" algn="ctr">
              <a:buNone/>
            </a:pPr>
            <a:endParaRPr lang="en-GB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r>
              <a:rPr lang="en-GB" dirty="0"/>
              <a:t>(3) “The concept or a program of limiting the size </a:t>
            </a:r>
            <a:r>
              <a:rPr lang="en-GB" dirty="0" smtClean="0"/>
              <a:t>of families through </a:t>
            </a:r>
            <a:r>
              <a:rPr lang="en-GB" dirty="0"/>
              <a:t>the spacing or prevention </a:t>
            </a:r>
            <a:r>
              <a:rPr lang="en-GB" dirty="0" smtClean="0"/>
              <a:t>of pregnancies</a:t>
            </a:r>
            <a:r>
              <a:rPr lang="en-GB" dirty="0"/>
              <a:t>, especially for </a:t>
            </a:r>
            <a:r>
              <a:rPr lang="en-GB" b="1" dirty="0">
                <a:solidFill>
                  <a:srgbClr val="002060"/>
                </a:solidFill>
              </a:rPr>
              <a:t>economic reasons</a:t>
            </a:r>
            <a:r>
              <a:rPr lang="en-GB" dirty="0"/>
              <a:t>” </a:t>
            </a:r>
            <a:endParaRPr lang="en-GB" dirty="0" smtClean="0"/>
          </a:p>
          <a:p>
            <a:pPr marL="0" indent="0" algn="ctr">
              <a:buNone/>
            </a:pPr>
            <a:r>
              <a:rPr lang="en-GB" dirty="0" smtClean="0"/>
              <a:t>	</a:t>
            </a:r>
            <a:r>
              <a:rPr lang="en-GB" sz="1700" dirty="0" smtClean="0">
                <a:solidFill>
                  <a:schemeClr val="tx2"/>
                </a:solidFill>
              </a:rPr>
              <a:t>(dictionary.com</a:t>
            </a:r>
            <a:r>
              <a:rPr lang="en-GB" sz="1700" dirty="0">
                <a:solidFill>
                  <a:schemeClr val="tx2"/>
                </a:solidFill>
              </a:rPr>
              <a:t>)</a:t>
            </a:r>
          </a:p>
          <a:p>
            <a:pPr marL="0" indent="0" algn="ctr">
              <a:buNone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6264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REASONS OF FAMILY PLANNING?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GB" dirty="0"/>
              <a:t>All the </a:t>
            </a:r>
            <a:r>
              <a:rPr lang="en-GB" dirty="0" smtClean="0"/>
              <a:t>numerous </a:t>
            </a:r>
            <a:r>
              <a:rPr lang="en-GB" dirty="0"/>
              <a:t>reasons for family planning can be </a:t>
            </a:r>
            <a:r>
              <a:rPr lang="en-GB" dirty="0" smtClean="0"/>
              <a:t>summed up </a:t>
            </a:r>
            <a:r>
              <a:rPr lang="en-GB" dirty="0"/>
              <a:t>into </a:t>
            </a:r>
            <a:r>
              <a:rPr lang="en-GB" b="1" dirty="0" smtClean="0"/>
              <a:t>TWO</a:t>
            </a:r>
            <a:r>
              <a:rPr lang="en-GB" dirty="0" smtClean="0"/>
              <a:t> </a:t>
            </a:r>
            <a:r>
              <a:rPr lang="en-GB" dirty="0"/>
              <a:t>categories:</a:t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dirty="0"/>
              <a:t>1. Either </a:t>
            </a:r>
            <a:r>
              <a:rPr lang="en-GB" dirty="0" smtClean="0"/>
              <a:t>due to </a:t>
            </a:r>
            <a:r>
              <a:rPr lang="en-GB" b="1" dirty="0">
                <a:solidFill>
                  <a:srgbClr val="002060"/>
                </a:solidFill>
              </a:rPr>
              <a:t>poverty </a:t>
            </a:r>
            <a:endParaRPr lang="en-GB" b="1" dirty="0" smtClean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GB" dirty="0" smtClean="0"/>
              <a:t>or</a:t>
            </a:r>
            <a:r>
              <a:rPr lang="en-GB" dirty="0"/>
              <a:t> </a:t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dirty="0"/>
              <a:t>2. </a:t>
            </a:r>
            <a:r>
              <a:rPr lang="en-GB" b="1" dirty="0">
                <a:solidFill>
                  <a:srgbClr val="002060"/>
                </a:solidFill>
              </a:rPr>
              <a:t>Giving special attention to children </a:t>
            </a:r>
            <a:r>
              <a:rPr lang="en-GB" dirty="0"/>
              <a:t>by having fewer children. 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963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METHODS OF FAMILY PLANNING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(1) </a:t>
            </a:r>
            <a:r>
              <a:rPr lang="en-US" b="1" dirty="0" smtClean="0"/>
              <a:t>Permanent Method: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e.g. </a:t>
            </a:r>
            <a:r>
              <a:rPr lang="en-US" b="1" dirty="0" smtClean="0"/>
              <a:t>Vasectomy</a:t>
            </a:r>
            <a:r>
              <a:rPr lang="en-GB" dirty="0"/>
              <a:t> </a:t>
            </a:r>
            <a:r>
              <a:rPr lang="en-GB" dirty="0" smtClean="0"/>
              <a:t>for men </a:t>
            </a:r>
            <a:r>
              <a:rPr lang="en-US" dirty="0" smtClean="0"/>
              <a:t>and </a:t>
            </a:r>
            <a:r>
              <a:rPr lang="en-US" b="1" dirty="0" smtClean="0"/>
              <a:t>Tubectomy </a:t>
            </a:r>
            <a:r>
              <a:rPr lang="en-US" dirty="0" smtClean="0"/>
              <a:t>for 	women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US" dirty="0" smtClean="0"/>
              <a:t>(2) </a:t>
            </a:r>
            <a:r>
              <a:rPr lang="en-US" b="1" dirty="0" smtClean="0"/>
              <a:t>Temporary Methods:</a:t>
            </a:r>
          </a:p>
          <a:p>
            <a:pPr marL="0" indent="0">
              <a:buNone/>
            </a:pPr>
            <a:r>
              <a:rPr lang="en-US" dirty="0" smtClean="0"/>
              <a:t>	e.g. </a:t>
            </a:r>
            <a:r>
              <a:rPr lang="en-US" b="1" dirty="0" smtClean="0"/>
              <a:t>abortion/ use of different preventions</a:t>
            </a:r>
            <a:endParaRPr lang="en-GB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876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ISLAMIC VERDICT 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the </a:t>
            </a:r>
            <a:r>
              <a:rPr lang="en-US" dirty="0" smtClean="0"/>
              <a:t>Islamic scholars </a:t>
            </a:r>
            <a:r>
              <a:rPr lang="en-US" dirty="0"/>
              <a:t>unanimously agree that </a:t>
            </a:r>
            <a:r>
              <a:rPr lang="en-US" b="1" dirty="0"/>
              <a:t>permanent methods </a:t>
            </a:r>
            <a:r>
              <a:rPr lang="en-US" dirty="0"/>
              <a:t>of family planning are </a:t>
            </a:r>
            <a:r>
              <a:rPr lang="en-US" b="1" dirty="0">
                <a:solidFill>
                  <a:schemeClr val="tx2"/>
                </a:solidFill>
              </a:rPr>
              <a:t>prohibited</a:t>
            </a:r>
            <a:r>
              <a:rPr lang="en-US" dirty="0"/>
              <a:t> since they involve changing human </a:t>
            </a:r>
            <a:r>
              <a:rPr lang="en-US" dirty="0" smtClean="0"/>
              <a:t>physiology.</a:t>
            </a:r>
            <a:r>
              <a:rPr lang="en-US" dirty="0"/>
              <a:t> 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All the </a:t>
            </a:r>
            <a:r>
              <a:rPr lang="en-US" dirty="0" smtClean="0"/>
              <a:t>Islamic scholars agree </a:t>
            </a:r>
            <a:r>
              <a:rPr lang="en-US" dirty="0"/>
              <a:t>that </a:t>
            </a:r>
            <a:r>
              <a:rPr lang="en-US" dirty="0" smtClean="0"/>
              <a:t>almost all </a:t>
            </a:r>
            <a:r>
              <a:rPr lang="en-US" b="1" dirty="0" smtClean="0"/>
              <a:t>temporary </a:t>
            </a:r>
            <a:r>
              <a:rPr lang="en-US" b="1" dirty="0"/>
              <a:t>methods </a:t>
            </a:r>
            <a:r>
              <a:rPr lang="en-US" dirty="0"/>
              <a:t>of family planning </a:t>
            </a:r>
            <a:r>
              <a:rPr lang="en-US" dirty="0" smtClean="0"/>
              <a:t>except of a few, are </a:t>
            </a:r>
            <a:r>
              <a:rPr lang="en-US" b="1" dirty="0" smtClean="0">
                <a:solidFill>
                  <a:schemeClr val="tx2"/>
                </a:solidFill>
              </a:rPr>
              <a:t>prohibited</a:t>
            </a:r>
            <a:r>
              <a:rPr lang="en-US" dirty="0" smtClean="0"/>
              <a:t> as </a:t>
            </a:r>
            <a:r>
              <a:rPr lang="en-US" dirty="0"/>
              <a:t>they involve changing human </a:t>
            </a:r>
            <a:r>
              <a:rPr lang="en-US" dirty="0" smtClean="0"/>
              <a:t>physiology and have side effects on human health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235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WHEN FAMILY PLANNING IS PERMISSIBLE?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Islamic scholars </a:t>
            </a:r>
            <a:r>
              <a:rPr lang="en-US" dirty="0"/>
              <a:t>unanimously </a:t>
            </a:r>
            <a:r>
              <a:rPr lang="en-US" dirty="0" smtClean="0"/>
              <a:t>come to an agreement </a:t>
            </a:r>
            <a:r>
              <a:rPr lang="en-US" dirty="0"/>
              <a:t>that any permanent method of family </a:t>
            </a:r>
            <a:r>
              <a:rPr lang="en-US" dirty="0" smtClean="0"/>
              <a:t>planning and temporary method, </a:t>
            </a:r>
            <a:r>
              <a:rPr lang="en-US" dirty="0"/>
              <a:t>can be done </a:t>
            </a:r>
            <a:r>
              <a:rPr lang="en-US" dirty="0" smtClean="0"/>
              <a:t>only after consultation with an </a:t>
            </a:r>
            <a:r>
              <a:rPr lang="en-US" b="1" dirty="0" smtClean="0"/>
              <a:t>expert</a:t>
            </a:r>
            <a:r>
              <a:rPr lang="en-US" dirty="0" smtClean="0"/>
              <a:t> and </a:t>
            </a:r>
            <a:r>
              <a:rPr lang="en-US" b="1" dirty="0" smtClean="0"/>
              <a:t>religious</a:t>
            </a:r>
            <a:r>
              <a:rPr lang="en-US" dirty="0" smtClean="0"/>
              <a:t> medical physician in following cases:</a:t>
            </a:r>
          </a:p>
          <a:p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When the </a:t>
            </a:r>
            <a:r>
              <a:rPr lang="en-US" dirty="0"/>
              <a:t>life of the mother is in danger. For </a:t>
            </a:r>
            <a:r>
              <a:rPr lang="en-US" dirty="0" smtClean="0"/>
              <a:t>instance </a:t>
            </a:r>
            <a:r>
              <a:rPr lang="en-US" dirty="0"/>
              <a:t>if the woman is suffering from certain </a:t>
            </a:r>
            <a:r>
              <a:rPr lang="en-US" dirty="0" smtClean="0"/>
              <a:t>disease </a:t>
            </a:r>
            <a:r>
              <a:rPr lang="en-US" dirty="0"/>
              <a:t>like </a:t>
            </a:r>
            <a:r>
              <a:rPr lang="en-US" b="1" dirty="0"/>
              <a:t>heart disease</a:t>
            </a:r>
            <a:r>
              <a:rPr lang="en-US" dirty="0"/>
              <a:t> </a:t>
            </a:r>
            <a:r>
              <a:rPr lang="en-US" dirty="0" smtClean="0"/>
              <a:t>or if pregnancy </a:t>
            </a:r>
            <a:r>
              <a:rPr lang="en-US" dirty="0"/>
              <a:t>may be </a:t>
            </a:r>
            <a:r>
              <a:rPr lang="en-US" b="1" dirty="0"/>
              <a:t>detrimental</a:t>
            </a:r>
            <a:r>
              <a:rPr lang="en-US" dirty="0"/>
              <a:t> to her </a:t>
            </a:r>
            <a:r>
              <a:rPr lang="en-US" dirty="0" smtClean="0"/>
              <a:t>child. In this case, family planning is allowed to </a:t>
            </a:r>
            <a:r>
              <a:rPr lang="en-US" dirty="0"/>
              <a:t>save the life of the </a:t>
            </a:r>
            <a:r>
              <a:rPr lang="en-US" dirty="0" smtClean="0"/>
              <a:t>mother and her baby.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9576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/>
            <a:r>
              <a:rPr lang="en-US" b="1" dirty="0" smtClean="0"/>
              <a:t>WHY  FAMILY PLANNING IS PROHIBITED IN ISLAM?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 smtClean="0"/>
              <a:t>Because:</a:t>
            </a:r>
            <a:endParaRPr lang="en-GB" dirty="0"/>
          </a:p>
          <a:p>
            <a:pPr marL="0" indent="0" algn="ctr">
              <a:buNone/>
            </a:pPr>
            <a:r>
              <a:rPr lang="en-GB" dirty="0"/>
              <a:t>(1) </a:t>
            </a:r>
            <a:r>
              <a:rPr lang="en-GB" dirty="0" smtClean="0"/>
              <a:t>Family planning </a:t>
            </a:r>
            <a:r>
              <a:rPr lang="en-GB" dirty="0"/>
              <a:t>is </a:t>
            </a:r>
            <a:r>
              <a:rPr lang="en-GB" dirty="0" smtClean="0"/>
              <a:t>based on the concept that is </a:t>
            </a:r>
            <a:r>
              <a:rPr lang="en-GB" b="1" dirty="0" smtClean="0"/>
              <a:t>against </a:t>
            </a:r>
            <a:r>
              <a:rPr lang="en-GB" b="1" dirty="0"/>
              <a:t>Islamic </a:t>
            </a:r>
            <a:r>
              <a:rPr lang="en-GB" b="1" dirty="0" smtClean="0"/>
              <a:t>belief in providence of Allah </a:t>
            </a:r>
            <a:r>
              <a:rPr lang="en-GB" dirty="0" smtClean="0"/>
              <a:t>and </a:t>
            </a:r>
            <a:r>
              <a:rPr lang="en-GB" dirty="0"/>
              <a:t>lack of </a:t>
            </a:r>
            <a:r>
              <a:rPr lang="en-GB" dirty="0" smtClean="0"/>
              <a:t>faith in Him</a:t>
            </a:r>
            <a:endParaRPr lang="en-GB" dirty="0"/>
          </a:p>
          <a:p>
            <a:pPr marL="0" indent="0" algn="ctr">
              <a:buNone/>
            </a:pPr>
            <a:r>
              <a:rPr lang="en-GB" dirty="0" smtClean="0"/>
              <a:t>(</a:t>
            </a:r>
            <a:r>
              <a:rPr lang="en-GB" dirty="0"/>
              <a:t>2) The Holy Prophet Muhammad (S.A.W.)</a:t>
            </a:r>
          </a:p>
          <a:p>
            <a:pPr marL="0" indent="0" algn="ctr">
              <a:buNone/>
            </a:pPr>
            <a:r>
              <a:rPr lang="en-GB" b="1" dirty="0"/>
              <a:t>wants </a:t>
            </a:r>
            <a:r>
              <a:rPr lang="en-GB" b="1" dirty="0" smtClean="0"/>
              <a:t>his </a:t>
            </a:r>
            <a:r>
              <a:rPr lang="en-GB" b="1" dirty="0"/>
              <a:t>nation to be in a large </a:t>
            </a:r>
            <a:r>
              <a:rPr lang="en-GB" b="1" dirty="0" smtClean="0"/>
              <a:t>number</a:t>
            </a:r>
          </a:p>
          <a:p>
            <a:pPr marL="0" indent="0" algn="ctr">
              <a:buNone/>
            </a:pPr>
            <a:r>
              <a:rPr lang="ar-SA" b="1" dirty="0"/>
              <a:t>تزوجوا الودود الولود فإني مكاثر بكم الأمم يوم القيامة</a:t>
            </a:r>
            <a:endParaRPr lang="en-GB" b="1" dirty="0"/>
          </a:p>
          <a:p>
            <a:pPr marL="0" indent="0" algn="ctr">
              <a:buNone/>
            </a:pPr>
            <a:r>
              <a:rPr lang="en-GB" dirty="0" smtClean="0"/>
              <a:t>(</a:t>
            </a:r>
            <a:r>
              <a:rPr lang="en-GB" dirty="0"/>
              <a:t>3) </a:t>
            </a:r>
            <a:r>
              <a:rPr lang="en-GB" dirty="0" smtClean="0"/>
              <a:t>It is </a:t>
            </a:r>
            <a:r>
              <a:rPr lang="en-GB" b="1" dirty="0" smtClean="0"/>
              <a:t>wastage </a:t>
            </a:r>
            <a:r>
              <a:rPr lang="en-GB" b="1" dirty="0"/>
              <a:t>of wealth</a:t>
            </a:r>
            <a:r>
              <a:rPr lang="en-GB" dirty="0"/>
              <a:t> and </a:t>
            </a:r>
            <a:r>
              <a:rPr lang="en-GB" b="1" dirty="0" smtClean="0"/>
              <a:t>resources</a:t>
            </a:r>
          </a:p>
          <a:p>
            <a:pPr marL="0" indent="0" algn="ctr">
              <a:buNone/>
            </a:pPr>
            <a:r>
              <a:rPr lang="en-US" dirty="0" smtClean="0"/>
              <a:t>(4) It causes </a:t>
            </a:r>
            <a:r>
              <a:rPr lang="en-US" b="1" dirty="0" smtClean="0"/>
              <a:t>lack of man power</a:t>
            </a:r>
            <a:endParaRPr lang="en-GB" b="1" dirty="0"/>
          </a:p>
          <a:p>
            <a:pPr marL="0" indent="0" algn="ctr">
              <a:buNone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812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REFUTATION OF FAMILY PLANNING THEORY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Theory of family planning is mainly </a:t>
            </a:r>
            <a:r>
              <a:rPr lang="en-US" dirty="0"/>
              <a:t>based on </a:t>
            </a:r>
            <a:r>
              <a:rPr lang="en-US" dirty="0" smtClean="0"/>
              <a:t>the research of </a:t>
            </a:r>
            <a:r>
              <a:rPr lang="en-US" b="1" dirty="0" smtClean="0">
                <a:solidFill>
                  <a:srgbClr val="002060"/>
                </a:solidFill>
              </a:rPr>
              <a:t>Reverend </a:t>
            </a:r>
            <a:r>
              <a:rPr lang="en-GB" b="1" dirty="0" smtClean="0">
                <a:solidFill>
                  <a:srgbClr val="002060"/>
                </a:solidFill>
              </a:rPr>
              <a:t>Thomas </a:t>
            </a:r>
            <a:r>
              <a:rPr lang="en-GB" b="1" dirty="0">
                <a:solidFill>
                  <a:srgbClr val="002060"/>
                </a:solidFill>
              </a:rPr>
              <a:t>Robert </a:t>
            </a:r>
            <a:r>
              <a:rPr lang="en-GB" b="1" dirty="0" smtClean="0">
                <a:solidFill>
                  <a:srgbClr val="002060"/>
                </a:solidFill>
              </a:rPr>
              <a:t>Malthus</a:t>
            </a:r>
            <a:r>
              <a:rPr lang="en-GB" dirty="0" smtClean="0"/>
              <a:t>,</a:t>
            </a:r>
            <a:r>
              <a:rPr lang="en-US" dirty="0" smtClean="0"/>
              <a:t> </a:t>
            </a:r>
            <a:r>
              <a:rPr lang="en-GB" dirty="0"/>
              <a:t>a British economist and a </a:t>
            </a:r>
            <a:r>
              <a:rPr lang="en-GB" dirty="0" smtClean="0"/>
              <a:t>demographer</a:t>
            </a:r>
            <a:r>
              <a:rPr lang="en-US" dirty="0" smtClean="0"/>
              <a:t>. </a:t>
            </a:r>
            <a:r>
              <a:rPr lang="en-US" dirty="0"/>
              <a:t>This theory states that, to maintain prosperity and welfare of human race, its increase should be checked to correspond with the production of foodstuff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Now it has been realized </a:t>
            </a:r>
            <a:r>
              <a:rPr lang="en-US" dirty="0"/>
              <a:t>that </a:t>
            </a:r>
            <a:r>
              <a:rPr lang="en-US" dirty="0" smtClean="0"/>
              <a:t>Malthus's </a:t>
            </a:r>
            <a:r>
              <a:rPr lang="en-US" dirty="0"/>
              <a:t>theory has been proved </a:t>
            </a:r>
            <a:r>
              <a:rPr lang="en-US" b="1" dirty="0"/>
              <a:t>wrong</a:t>
            </a:r>
            <a:r>
              <a:rPr lang="en-US" dirty="0"/>
              <a:t> and there is no shortage of food grains. </a:t>
            </a:r>
            <a:r>
              <a:rPr lang="en-US" dirty="0" smtClean="0"/>
              <a:t>If it is anywhere, so due to </a:t>
            </a:r>
            <a:r>
              <a:rPr lang="en-US" b="1" dirty="0" smtClean="0"/>
              <a:t>human mismanagement</a:t>
            </a:r>
            <a:r>
              <a:rPr lang="en-US" dirty="0" smtClean="0"/>
              <a:t>, not due to Allah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Moreover</a:t>
            </a:r>
            <a:r>
              <a:rPr lang="en-US" dirty="0"/>
              <a:t>, in spite of the amount of </a:t>
            </a:r>
            <a:r>
              <a:rPr lang="en-US" dirty="0" smtClean="0"/>
              <a:t>land used for agriculture, almost all agricultural countries of the world including Pakistan, </a:t>
            </a:r>
            <a:r>
              <a:rPr lang="en-US" dirty="0"/>
              <a:t>there is still much more </a:t>
            </a:r>
            <a:r>
              <a:rPr lang="en-US" dirty="0" smtClean="0"/>
              <a:t>unused land could be </a:t>
            </a:r>
            <a:r>
              <a:rPr lang="en-US" dirty="0"/>
              <a:t>utilized </a:t>
            </a:r>
            <a:r>
              <a:rPr lang="en-US" dirty="0" smtClean="0"/>
              <a:t>for agricultural purposes and as a result could produce more </a:t>
            </a:r>
            <a:r>
              <a:rPr lang="en-US" dirty="0"/>
              <a:t>food grains.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304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QURANIC QUOTATIONS (1)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 rtl="1">
              <a:buNone/>
            </a:pPr>
            <a:r>
              <a:rPr lang="ar-SA" sz="2400" b="1" dirty="0">
                <a:latin typeface="_PDMS_Saleem_QuranFont" pitchFamily="2" charset="-78"/>
              </a:rPr>
              <a:t>و</a:t>
            </a:r>
            <a:r>
              <a:rPr lang="ar-SA" sz="2400" b="1" dirty="0">
                <a:latin typeface="Arial" panose="020B0604020202020204" pitchFamily="34" charset="0"/>
              </a:rPr>
              <a:t>َلَا</a:t>
            </a:r>
            <a:r>
              <a:rPr lang="ar-SA" sz="2400" b="1" dirty="0">
                <a:latin typeface="Arial" panose="020B0604020202020204" pitchFamily="34" charset="0"/>
                <a:cs typeface="Arial" panose="020B0604020202020204" pitchFamily="34" charset="0"/>
              </a:rPr>
              <a:t> تَقۡتُلُوۡۤا اَوۡلَادَكُمۡ مِّنۡ اِمۡلَاقٍ‌ؕ نَحۡنُ نَرۡزُقُكُمۡ وَاِيَّاهُمۡ‌ ۚ </a:t>
            </a: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2400" b="1" dirty="0"/>
              <a:t>TRANSLATION</a:t>
            </a:r>
          </a:p>
          <a:p>
            <a:pPr marL="0" indent="0" algn="ctr">
              <a:buNone/>
            </a:pPr>
            <a:r>
              <a:rPr lang="en-GB" sz="2400" dirty="0"/>
              <a:t>“And kill not your children </a:t>
            </a:r>
            <a:r>
              <a:rPr lang="en-GB" sz="2400" dirty="0" smtClean="0"/>
              <a:t>because of </a:t>
            </a:r>
            <a:r>
              <a:rPr lang="en-GB" sz="2400" dirty="0"/>
              <a:t>poverty. We shall provide for </a:t>
            </a:r>
            <a:r>
              <a:rPr lang="en-GB" sz="2400" dirty="0" smtClean="0"/>
              <a:t>you </a:t>
            </a:r>
            <a:r>
              <a:rPr lang="en-GB" sz="1800" dirty="0" smtClean="0"/>
              <a:t>[parents] </a:t>
            </a:r>
            <a:r>
              <a:rPr lang="en-GB" sz="2400" dirty="0" smtClean="0"/>
              <a:t>as </a:t>
            </a:r>
            <a:r>
              <a:rPr lang="en-GB" sz="2400" dirty="0"/>
              <a:t>well as for </a:t>
            </a:r>
            <a:r>
              <a:rPr lang="en-GB" dirty="0" smtClean="0"/>
              <a:t>them </a:t>
            </a:r>
            <a:r>
              <a:rPr lang="en-GB" sz="1800" dirty="0" smtClean="0"/>
              <a:t>[children]. </a:t>
            </a:r>
            <a:endParaRPr lang="en-GB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chemeClr val="tx2"/>
                </a:solidFill>
                <a:latin typeface="_PDMS_Saleem_QuranFont" pitchFamily="2" charset="-78"/>
                <a:cs typeface="_PDMS_Saleem_QuranFont" pitchFamily="2" charset="-78"/>
              </a:rPr>
              <a:t>(Surah Al-</a:t>
            </a:r>
            <a:r>
              <a:rPr lang="en-US" sz="1800" dirty="0" err="1">
                <a:solidFill>
                  <a:schemeClr val="tx2"/>
                </a:solidFill>
                <a:latin typeface="_PDMS_Saleem_QuranFont" pitchFamily="2" charset="-78"/>
                <a:cs typeface="_PDMS_Saleem_QuranFont" pitchFamily="2" charset="-78"/>
              </a:rPr>
              <a:t>An’am</a:t>
            </a:r>
            <a:r>
              <a:rPr lang="en-US" sz="1800" dirty="0">
                <a:solidFill>
                  <a:schemeClr val="tx2"/>
                </a:solidFill>
                <a:latin typeface="_PDMS_Saleem_QuranFont" pitchFamily="2" charset="-78"/>
                <a:cs typeface="_PDMS_Saleem_QuranFont" pitchFamily="2" charset="-78"/>
              </a:rPr>
              <a:t> Ayah 151</a:t>
            </a:r>
            <a:r>
              <a:rPr lang="en-US" sz="1800" dirty="0" smtClean="0">
                <a:solidFill>
                  <a:schemeClr val="tx2"/>
                </a:solidFill>
                <a:latin typeface="_PDMS_Saleem_QuranFont" pitchFamily="2" charset="-78"/>
                <a:cs typeface="_PDMS_Saleem_QuranFont" pitchFamily="2" charset="-78"/>
              </a:rPr>
              <a:t>)</a:t>
            </a:r>
          </a:p>
          <a:p>
            <a:pPr marL="0" indent="0" algn="ctr">
              <a:buNone/>
            </a:pPr>
            <a:endParaRPr lang="en-US" sz="2400" dirty="0">
              <a:latin typeface="_PDMS_Saleem_QuranFont" pitchFamily="2" charset="-78"/>
              <a:cs typeface="_PDMS_Saleem_QuranFont" pitchFamily="2" charset="-78"/>
            </a:endParaRPr>
          </a:p>
          <a:p>
            <a:pPr marL="0" indent="0" algn="ctr" rtl="1">
              <a:buNone/>
            </a:pPr>
            <a:r>
              <a:rPr lang="ar-SA" sz="2400" b="1" dirty="0">
                <a:latin typeface="Arial" panose="020B0604020202020204" pitchFamily="34" charset="0"/>
                <a:cs typeface="Arial" panose="020B0604020202020204" pitchFamily="34" charset="0"/>
              </a:rPr>
              <a:t>وَلَا تَقۡتُلُوۡۤا اَوۡلَادَكُمۡ خَشۡيَةَ اِمۡلَاقٍ‌ؕ نَحۡنُ نَرۡزُقُهُمۡ  وَاِيَّاكُمۡ‌ؕ اِنَّ قَتۡلَهُمۡ كَانَ خِطۡاً كَبِيۡرًا</a:t>
            </a: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2400" b="1" dirty="0"/>
              <a:t>TRANSLATION</a:t>
            </a:r>
          </a:p>
          <a:p>
            <a:pPr marL="0" indent="0" algn="ctr">
              <a:buNone/>
            </a:pPr>
            <a:r>
              <a:rPr lang="en-GB" dirty="0"/>
              <a:t>“And kill not your children for fear of poverty. We shall provide for them </a:t>
            </a:r>
            <a:r>
              <a:rPr lang="en-GB" sz="1800" dirty="0"/>
              <a:t>[children] </a:t>
            </a:r>
            <a:r>
              <a:rPr lang="en-GB" dirty="0"/>
              <a:t>as well as for you </a:t>
            </a:r>
            <a:r>
              <a:rPr lang="en-GB" sz="1800" dirty="0"/>
              <a:t>[parents]. </a:t>
            </a:r>
          </a:p>
          <a:p>
            <a:pPr marL="0" indent="0" algn="ctr">
              <a:buNone/>
            </a:pPr>
            <a:r>
              <a:rPr lang="en-GB" dirty="0"/>
              <a:t>Surely, the killing of them is a great sin”</a:t>
            </a:r>
          </a:p>
          <a:p>
            <a:pPr marL="0" indent="0" algn="ctr">
              <a:buNone/>
            </a:pPr>
            <a:r>
              <a:rPr lang="en-US" sz="1600" dirty="0" smtClean="0">
                <a:solidFill>
                  <a:schemeClr val="tx2"/>
                </a:solidFill>
                <a:latin typeface="_PDMS_Saleem_QuranFont" pitchFamily="2" charset="-78"/>
                <a:cs typeface="_PDMS_Saleem_QuranFont" pitchFamily="2" charset="-78"/>
              </a:rPr>
              <a:t>(</a:t>
            </a:r>
            <a:r>
              <a:rPr lang="en-US" sz="1600" dirty="0">
                <a:solidFill>
                  <a:schemeClr val="tx2"/>
                </a:solidFill>
                <a:latin typeface="_PDMS_Saleem_QuranFont" pitchFamily="2" charset="-78"/>
                <a:cs typeface="_PDMS_Saleem_QuranFont" pitchFamily="2" charset="-78"/>
              </a:rPr>
              <a:t>Surah </a:t>
            </a:r>
            <a:r>
              <a:rPr lang="en-US" sz="1600" dirty="0" err="1">
                <a:solidFill>
                  <a:schemeClr val="tx2"/>
                </a:solidFill>
                <a:latin typeface="_PDMS_Saleem_QuranFont" pitchFamily="2" charset="-78"/>
                <a:cs typeface="_PDMS_Saleem_QuranFont" pitchFamily="2" charset="-78"/>
              </a:rPr>
              <a:t>Isra</a:t>
            </a:r>
            <a:r>
              <a:rPr lang="en-US" sz="1600" dirty="0" smtClean="0">
                <a:solidFill>
                  <a:schemeClr val="tx2"/>
                </a:solidFill>
                <a:latin typeface="_PDMS_Saleem_QuranFont" pitchFamily="2" charset="-78"/>
                <a:cs typeface="_PDMS_Saleem_QuranFont" pitchFamily="2" charset="-78"/>
              </a:rPr>
              <a:t>’, </a:t>
            </a:r>
            <a:r>
              <a:rPr lang="en-US" sz="1600" dirty="0">
                <a:solidFill>
                  <a:schemeClr val="tx2"/>
                </a:solidFill>
                <a:latin typeface="_PDMS_Saleem_QuranFont" pitchFamily="2" charset="-78"/>
                <a:cs typeface="_PDMS_Saleem_QuranFont" pitchFamily="2" charset="-78"/>
              </a:rPr>
              <a:t>Ayah 31)</a:t>
            </a:r>
          </a:p>
          <a:p>
            <a:pPr marL="0" indent="0" algn="ctr">
              <a:buNone/>
            </a:pPr>
            <a:endParaRPr lang="en-US" sz="2400" dirty="0">
              <a:latin typeface="_PDMS_Saleem_QuranFont" pitchFamily="2" charset="-78"/>
              <a:cs typeface="_PDMS_Saleem_QuranFont" pitchFamily="2" charset="-78"/>
            </a:endParaRPr>
          </a:p>
          <a:p>
            <a:endParaRPr lang="en-GB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090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INTERPRETATION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 fontScale="92500"/>
          </a:bodyPr>
          <a:lstStyle/>
          <a:p>
            <a:r>
              <a:rPr lang="en-US" dirty="0"/>
              <a:t>Both these </a:t>
            </a:r>
            <a:r>
              <a:rPr lang="en-US" dirty="0" smtClean="0"/>
              <a:t>Ayahs seem </a:t>
            </a:r>
            <a:r>
              <a:rPr lang="en-US" dirty="0"/>
              <a:t>to convey the same message but on scrutiny we realize that the </a:t>
            </a:r>
            <a:r>
              <a:rPr lang="en-US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FIRST</a:t>
            </a:r>
            <a:r>
              <a:rPr lang="en-US" dirty="0" smtClean="0"/>
              <a:t> Ayah </a:t>
            </a:r>
            <a:r>
              <a:rPr lang="en-US" dirty="0"/>
              <a:t>is meant for </a:t>
            </a:r>
            <a: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poor parents</a:t>
            </a:r>
            <a:r>
              <a:rPr lang="en-US" dirty="0"/>
              <a:t>, who fear that if one more child is born in the family neither they will be able to survive nor the child, thus Allah </a:t>
            </a:r>
            <a:r>
              <a:rPr lang="en-US" dirty="0" smtClean="0"/>
              <a:t>says </a:t>
            </a:r>
            <a:r>
              <a:rPr lang="en-US" dirty="0"/>
              <a:t>W</a:t>
            </a:r>
            <a:r>
              <a:rPr lang="en-US" dirty="0" smtClean="0"/>
              <a:t>e </a:t>
            </a:r>
            <a:r>
              <a:rPr lang="en-US" dirty="0"/>
              <a:t>provide sustenance for </a:t>
            </a:r>
            <a:r>
              <a:rPr lang="en-US" dirty="0" smtClean="0"/>
              <a:t>you (parents) and </a:t>
            </a:r>
            <a:r>
              <a:rPr lang="en-US" dirty="0"/>
              <a:t>for </a:t>
            </a:r>
            <a:r>
              <a:rPr lang="en-US" dirty="0" smtClean="0"/>
              <a:t>them (children).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r>
              <a:rPr lang="en-US" dirty="0" smtClean="0"/>
              <a:t>In </a:t>
            </a:r>
            <a:r>
              <a:rPr lang="en-US" dirty="0"/>
              <a:t>the </a:t>
            </a:r>
            <a:r>
              <a:rPr lang="en-US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SECOND</a:t>
            </a:r>
            <a:r>
              <a:rPr lang="en-US" dirty="0" smtClean="0"/>
              <a:t> Ayah </a:t>
            </a:r>
            <a:r>
              <a:rPr lang="en-US" dirty="0"/>
              <a:t>Allah </a:t>
            </a:r>
            <a:r>
              <a:rPr lang="en-US" dirty="0" smtClean="0"/>
              <a:t>says </a:t>
            </a:r>
            <a:r>
              <a:rPr lang="en-US" dirty="0"/>
              <a:t>We </a:t>
            </a:r>
            <a:r>
              <a:rPr lang="en-US" dirty="0" smtClean="0"/>
              <a:t>shall provide </a:t>
            </a:r>
            <a:r>
              <a:rPr lang="en-US" dirty="0"/>
              <a:t>sustenance for </a:t>
            </a:r>
            <a:r>
              <a:rPr lang="en-US" dirty="0" smtClean="0"/>
              <a:t>them (children) </a:t>
            </a:r>
            <a:r>
              <a:rPr lang="en-US" dirty="0"/>
              <a:t>and as well as for </a:t>
            </a:r>
            <a:r>
              <a:rPr lang="en-US" dirty="0" smtClean="0"/>
              <a:t>you (parents), </a:t>
            </a:r>
            <a:r>
              <a:rPr lang="en-US" dirty="0"/>
              <a:t>referring to </a:t>
            </a:r>
            <a: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rich parents </a:t>
            </a:r>
            <a:r>
              <a:rPr lang="en-US" dirty="0"/>
              <a:t>who feel that if they have less children they can concentrate on them better and give them better education and quality life. Here </a:t>
            </a:r>
            <a:r>
              <a:rPr lang="en-US" dirty="0" smtClean="0"/>
              <a:t>Allah reverses </a:t>
            </a:r>
            <a:r>
              <a:rPr lang="en-US" dirty="0"/>
              <a:t>the order and mentions first the children and then the parents.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127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HADITH </a:t>
            </a:r>
            <a:r>
              <a:rPr lang="en-US" b="1" dirty="0"/>
              <a:t>QUOTATIONS </a:t>
            </a:r>
            <a:r>
              <a:rPr lang="en-US" b="1" dirty="0" smtClean="0"/>
              <a:t>(1)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In Two </a:t>
            </a:r>
            <a:r>
              <a:rPr lang="en-US" b="1" dirty="0" err="1"/>
              <a:t>Sahihs</a:t>
            </a:r>
            <a:r>
              <a:rPr lang="en-US" dirty="0"/>
              <a:t> </a:t>
            </a:r>
            <a:r>
              <a:rPr lang="en-US" dirty="0" smtClean="0"/>
              <a:t>(</a:t>
            </a:r>
            <a:r>
              <a:rPr lang="en-US" dirty="0" err="1" smtClean="0"/>
              <a:t>Bukhari</a:t>
            </a:r>
            <a:r>
              <a:rPr lang="en-US" dirty="0" smtClean="0"/>
              <a:t> &amp; Muslim) it </a:t>
            </a:r>
            <a:r>
              <a:rPr lang="en-US" dirty="0"/>
              <a:t>is recorded that Abdullah bin </a:t>
            </a:r>
            <a:r>
              <a:rPr lang="en-US" dirty="0" err="1"/>
              <a:t>Mas`ud</a:t>
            </a:r>
            <a:r>
              <a:rPr lang="en-US" dirty="0"/>
              <a:t> </a:t>
            </a:r>
            <a:r>
              <a:rPr lang="en-US" dirty="0" smtClean="0"/>
              <a:t>said:</a:t>
            </a:r>
            <a:endParaRPr lang="en-GB" dirty="0"/>
          </a:p>
          <a:p>
            <a:pPr marL="0" indent="0" algn="ctr">
              <a:buNone/>
            </a:pPr>
            <a:r>
              <a:rPr lang="en-US" dirty="0"/>
              <a:t>"I </a:t>
            </a:r>
            <a:r>
              <a:rPr lang="en-US" dirty="0" smtClean="0"/>
              <a:t>questioned, </a:t>
            </a:r>
            <a:r>
              <a:rPr lang="en-US" dirty="0"/>
              <a:t>`O Messenger of </a:t>
            </a:r>
            <a:r>
              <a:rPr lang="en-US" dirty="0" smtClean="0"/>
              <a:t>Allah! </a:t>
            </a:r>
            <a:r>
              <a:rPr lang="en-US" dirty="0"/>
              <a:t>which sin is the worst?'</a:t>
            </a:r>
            <a:endParaRPr lang="en-GB" dirty="0"/>
          </a:p>
          <a:p>
            <a:pPr marL="0" indent="0" algn="ctr">
              <a:buNone/>
            </a:pPr>
            <a:r>
              <a:rPr lang="en-US" dirty="0"/>
              <a:t>He said,</a:t>
            </a:r>
            <a:endParaRPr lang="en-GB" dirty="0"/>
          </a:p>
          <a:p>
            <a:pPr marL="0" indent="0" algn="ctr" rtl="1">
              <a:buNone/>
            </a:pPr>
            <a:r>
              <a:rPr lang="ar-SA" dirty="0">
                <a:latin typeface="Lotus Linotype" pitchFamily="2" charset="-78"/>
              </a:rPr>
              <a:t>أَنْ تَجْعَلَ لِلّهِ نِدًّا وَهُوَ خَلَقَكَ </a:t>
            </a:r>
            <a:r>
              <a:rPr lang="ar-SA" dirty="0" smtClean="0">
                <a:latin typeface="Lotus Linotype" pitchFamily="2" charset="-78"/>
              </a:rPr>
              <a:t>.</a:t>
            </a:r>
            <a:endParaRPr lang="en-US" dirty="0" smtClean="0">
              <a:latin typeface="Lotus Linotype" pitchFamily="2" charset="-78"/>
            </a:endParaRPr>
          </a:p>
          <a:p>
            <a:pPr marL="0" indent="0" algn="ctr" rtl="1">
              <a:buNone/>
            </a:pPr>
            <a:r>
              <a:rPr lang="en-US" dirty="0" smtClean="0"/>
              <a:t>To </a:t>
            </a:r>
            <a:r>
              <a:rPr lang="en-US" dirty="0"/>
              <a:t>appoint rivals of Allah when He has created you.</a:t>
            </a:r>
            <a:endParaRPr lang="en-GB" dirty="0"/>
          </a:p>
          <a:p>
            <a:pPr marL="0" indent="0" algn="ctr">
              <a:buNone/>
            </a:pPr>
            <a:r>
              <a:rPr lang="en-US" dirty="0"/>
              <a:t>I asked, `Then what?'</a:t>
            </a:r>
            <a:endParaRPr lang="en-GB" dirty="0"/>
          </a:p>
          <a:p>
            <a:pPr marL="0" indent="0" algn="ctr">
              <a:buNone/>
            </a:pPr>
            <a:r>
              <a:rPr lang="en-US" dirty="0"/>
              <a:t>He said,</a:t>
            </a:r>
            <a:endParaRPr lang="en-GB" dirty="0"/>
          </a:p>
          <a:p>
            <a:pPr marL="0" indent="0" algn="ctr" rtl="1">
              <a:buNone/>
            </a:pPr>
            <a:r>
              <a:rPr lang="ar-SA" b="1" dirty="0">
                <a:latin typeface="Lotus Linotype" pitchFamily="2" charset="-78"/>
              </a:rPr>
              <a:t>قَالَ: أَنْ تَقْتُلَ وَلَدَكَ خَشْيَةَ أَنْ يَطْعَمَ مَعَكَ</a:t>
            </a:r>
            <a:endParaRPr lang="en-GB" b="1" dirty="0">
              <a:latin typeface="Lotus Linotype" pitchFamily="2" charset="-78"/>
            </a:endParaRPr>
          </a:p>
          <a:p>
            <a:pPr marL="0" indent="0" algn="ctr">
              <a:buNone/>
            </a:pPr>
            <a:r>
              <a:rPr lang="en-US" b="1" dirty="0"/>
              <a:t>To kill your child lest he should eat with you.</a:t>
            </a:r>
            <a:endParaRPr lang="en-GB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731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HADITH QUOTATIONS </a:t>
            </a:r>
            <a:r>
              <a:rPr lang="en-US" b="1" dirty="0" smtClean="0"/>
              <a:t>(2)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pPr algn="r" rtl="1"/>
            <a:r>
              <a:rPr lang="ar-SA" dirty="0"/>
              <a:t>ما من نسمة </a:t>
            </a:r>
            <a:r>
              <a:rPr lang="ar-SA" dirty="0" smtClean="0"/>
              <a:t>كائنة </a:t>
            </a:r>
            <a:r>
              <a:rPr lang="ar-SA" dirty="0"/>
              <a:t>إلى يوم القيامة إلا وهي كائنة</a:t>
            </a:r>
            <a:r>
              <a:rPr lang="ar-SA" dirty="0" smtClean="0"/>
              <a:t>.</a:t>
            </a:r>
            <a:endParaRPr lang="en-US" dirty="0" smtClean="0"/>
          </a:p>
          <a:p>
            <a:pPr marL="0" indent="0" algn="r" rtl="1">
              <a:buNone/>
            </a:pPr>
            <a:endParaRPr lang="en-US" dirty="0"/>
          </a:p>
          <a:p>
            <a:r>
              <a:rPr lang="en-GB" dirty="0"/>
              <a:t>“Any soul which is to come into being till the </a:t>
            </a:r>
            <a:r>
              <a:rPr lang="en-GB" dirty="0" smtClean="0"/>
              <a:t>Day of </a:t>
            </a:r>
            <a:r>
              <a:rPr lang="en-GB" dirty="0"/>
              <a:t>Judgment, will certainly come”</a:t>
            </a:r>
          </a:p>
          <a:p>
            <a:pPr marL="0" indent="0" algn="ctr">
              <a:buNone/>
            </a:pPr>
            <a:r>
              <a:rPr lang="en-US" sz="21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(</a:t>
            </a:r>
            <a:r>
              <a:rPr lang="en-US" sz="2100" dirty="0" err="1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Sahih</a:t>
            </a:r>
            <a:r>
              <a:rPr lang="en-US" sz="21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100" dirty="0" err="1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Bukhari</a:t>
            </a:r>
            <a:r>
              <a:rPr lang="en-US" sz="21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 &amp; Muslim)</a:t>
            </a:r>
          </a:p>
          <a:p>
            <a:pPr algn="r" rtl="1"/>
            <a:endParaRPr lang="en-US" dirty="0"/>
          </a:p>
          <a:p>
            <a:pPr algn="r" rtl="1"/>
            <a:r>
              <a:rPr lang="ar-SA" dirty="0"/>
              <a:t>ما من كل الماء يكون الولد, وإذا أراد الله خلق شيء لم يمنعه </a:t>
            </a:r>
            <a:r>
              <a:rPr lang="ar-SA" dirty="0" smtClean="0"/>
              <a:t>شيء</a:t>
            </a:r>
            <a:endParaRPr lang="en-US" dirty="0" smtClean="0"/>
          </a:p>
          <a:p>
            <a:r>
              <a:rPr lang="en-GB" dirty="0" smtClean="0"/>
              <a:t>“Not every sperm produces a child but when </a:t>
            </a:r>
            <a:r>
              <a:rPr lang="en-GB" dirty="0"/>
              <a:t>Allah decides to create </a:t>
            </a:r>
            <a:r>
              <a:rPr lang="en-GB" dirty="0" smtClean="0"/>
              <a:t>something, nothing </a:t>
            </a:r>
            <a:r>
              <a:rPr lang="en-GB" dirty="0"/>
              <a:t>can </a:t>
            </a:r>
            <a:r>
              <a:rPr lang="en-GB" dirty="0" smtClean="0"/>
              <a:t>stop it </a:t>
            </a:r>
            <a:r>
              <a:rPr lang="en-GB" dirty="0"/>
              <a:t>from coming into being</a:t>
            </a:r>
            <a:r>
              <a:rPr lang="en-GB" dirty="0" smtClean="0"/>
              <a:t>”</a:t>
            </a:r>
            <a:endParaRPr lang="en-US" dirty="0"/>
          </a:p>
          <a:p>
            <a:pPr marL="0" indent="0" algn="ctr">
              <a:buNone/>
            </a:pPr>
            <a:r>
              <a:rPr lang="en-US" sz="2100" dirty="0" smtClean="0">
                <a:solidFill>
                  <a:schemeClr val="bg2"/>
                </a:solidFill>
              </a:rPr>
              <a:t>(</a:t>
            </a:r>
            <a:r>
              <a:rPr lang="en-US" sz="2100" dirty="0" err="1" smtClean="0">
                <a:solidFill>
                  <a:schemeClr val="bg2"/>
                </a:solidFill>
              </a:rPr>
              <a:t>Sahih</a:t>
            </a:r>
            <a:r>
              <a:rPr lang="en-US" sz="2100" dirty="0" smtClean="0">
                <a:solidFill>
                  <a:schemeClr val="bg2"/>
                </a:solidFill>
              </a:rPr>
              <a:t> Muslim Hadith #</a:t>
            </a:r>
            <a:r>
              <a:rPr lang="ar-SA" sz="2100" dirty="0" smtClean="0">
                <a:solidFill>
                  <a:schemeClr val="bg2"/>
                </a:solidFill>
              </a:rPr>
              <a:t>1438</a:t>
            </a:r>
            <a:r>
              <a:rPr lang="en-US" sz="2100" dirty="0" smtClean="0">
                <a:solidFill>
                  <a:schemeClr val="bg2"/>
                </a:solidFill>
              </a:rPr>
              <a:t>)</a:t>
            </a:r>
            <a:endParaRPr lang="en-US" sz="2100" dirty="0">
              <a:solidFill>
                <a:schemeClr val="bg2"/>
              </a:solidFill>
            </a:endParaRPr>
          </a:p>
          <a:p>
            <a:pPr algn="r" rtl="1"/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7586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AYAH# 32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 rtl="1">
              <a:buNone/>
            </a:pPr>
            <a:endParaRPr lang="en-US" b="1" dirty="0" smtClean="0">
              <a:latin typeface="Ayaat Circle-2" pitchFamily="2" charset="2"/>
            </a:endParaRPr>
          </a:p>
          <a:p>
            <a:pPr marL="0" indent="0" algn="ctr" rtl="1">
              <a:buNone/>
            </a:pPr>
            <a:r>
              <a:rPr lang="ar-SA" b="1" dirty="0" smtClean="0">
                <a:latin typeface="Ayaat Circle-2" pitchFamily="2" charset="2"/>
              </a:rPr>
              <a:t>وَلَا </a:t>
            </a:r>
            <a:r>
              <a:rPr lang="ar-SA" b="1" dirty="0">
                <a:latin typeface="Ayaat Circle-2" pitchFamily="2" charset="2"/>
              </a:rPr>
              <a:t>تَقۡرَبُواْ </a:t>
            </a:r>
            <a:r>
              <a:rPr lang="ar-SA" b="1" dirty="0" smtClean="0">
                <a:latin typeface="Ayaat Circle-2" pitchFamily="2" charset="2"/>
              </a:rPr>
              <a:t>ٱلزِّنَىٰٓ‌</a:t>
            </a:r>
            <a:r>
              <a:rPr lang="en-US" b="1" dirty="0">
                <a:latin typeface="Ayaat Circle-2" pitchFamily="2" charset="2"/>
              </a:rPr>
              <a:t> </a:t>
            </a:r>
            <a:r>
              <a:rPr lang="ar-SA" b="1" dirty="0" smtClean="0">
                <a:latin typeface="Ayaat Circle-2" pitchFamily="2" charset="2"/>
              </a:rPr>
              <a:t>إِنَّهُ</a:t>
            </a:r>
            <a:r>
              <a:rPr lang="ar-SA" b="1" dirty="0">
                <a:latin typeface="Ayaat Circle-2" pitchFamily="2" charset="2"/>
              </a:rPr>
              <a:t> ۥ كَانَ فَـٰحِشَةً۬ وَسَآءَ سَبِيلاً۬ </a:t>
            </a:r>
            <a:endParaRPr lang="en-US" b="1" dirty="0" smtClean="0">
              <a:latin typeface="Ayaat Circle-2" pitchFamily="2" charset="2"/>
            </a:endParaRPr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“And </a:t>
            </a:r>
            <a:r>
              <a:rPr lang="en-US" dirty="0"/>
              <a:t>come not near to </a:t>
            </a:r>
            <a:r>
              <a:rPr lang="en-US" i="1" dirty="0" err="1" smtClean="0"/>
              <a:t>Zina</a:t>
            </a:r>
            <a:r>
              <a:rPr lang="en-US" dirty="0" smtClean="0"/>
              <a:t> </a:t>
            </a:r>
            <a:r>
              <a:rPr lang="en-US" sz="1600" dirty="0" smtClean="0"/>
              <a:t>(the </a:t>
            </a:r>
            <a:r>
              <a:rPr lang="en-US" sz="1600" dirty="0"/>
              <a:t>unlawful sexual </a:t>
            </a:r>
            <a:r>
              <a:rPr lang="en-US" sz="1600" dirty="0" smtClean="0"/>
              <a:t>intercourse)</a:t>
            </a:r>
            <a:r>
              <a:rPr lang="en-US" dirty="0" smtClean="0"/>
              <a:t>. </a:t>
            </a:r>
            <a:r>
              <a:rPr lang="en-US" dirty="0"/>
              <a:t>Verily, it is a Fâhishah </a:t>
            </a:r>
            <a:r>
              <a:rPr lang="en-US" sz="1800" dirty="0"/>
              <a:t>[i.e. anything that transgresses its limits (a great sin)]</a:t>
            </a:r>
            <a:r>
              <a:rPr lang="en-US" dirty="0"/>
              <a:t>, and an evil way (that leads one to </a:t>
            </a:r>
            <a:r>
              <a:rPr lang="en-US" dirty="0" smtClean="0"/>
              <a:t>Hell)”</a:t>
            </a:r>
            <a:endParaRPr lang="en-GB" b="1" dirty="0">
              <a:latin typeface="Ayaat Circle-2" pitchFamily="2" charset="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1665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MAIN THEME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 smtClean="0"/>
          </a:p>
          <a:p>
            <a:pPr marL="0" indent="0" algn="ctr">
              <a:buNone/>
            </a:pPr>
            <a:r>
              <a:rPr lang="en-GB" dirty="0" smtClean="0"/>
              <a:t>Not only </a:t>
            </a:r>
            <a:r>
              <a:rPr lang="en-GB" b="1" dirty="0" smtClean="0">
                <a:solidFill>
                  <a:srgbClr val="C00000"/>
                </a:solidFill>
              </a:rPr>
              <a:t>FORNICATION</a:t>
            </a:r>
            <a:r>
              <a:rPr lang="en-GB" dirty="0" smtClean="0">
                <a:solidFill>
                  <a:schemeClr val="bg2"/>
                </a:solidFill>
              </a:rPr>
              <a:t> </a:t>
            </a:r>
            <a:r>
              <a:rPr lang="en-GB" sz="2000" dirty="0" smtClean="0"/>
              <a:t>[intentional </a:t>
            </a:r>
            <a:r>
              <a:rPr lang="en-GB" sz="2000" dirty="0"/>
              <a:t>sexual</a:t>
            </a:r>
          </a:p>
          <a:p>
            <a:pPr marL="0" indent="0" algn="ctr">
              <a:buNone/>
            </a:pPr>
            <a:r>
              <a:rPr lang="en-GB" sz="2000" dirty="0"/>
              <a:t>intercourse between two </a:t>
            </a:r>
            <a:r>
              <a:rPr lang="en-GB" sz="2000" dirty="0" smtClean="0"/>
              <a:t>unmarried </a:t>
            </a:r>
            <a:r>
              <a:rPr lang="en-GB" sz="2000" dirty="0"/>
              <a:t>persons or two </a:t>
            </a:r>
            <a:r>
              <a:rPr lang="en-GB" sz="2000" dirty="0" smtClean="0"/>
              <a:t>persons not married </a:t>
            </a:r>
            <a:r>
              <a:rPr lang="en-GB" sz="2000" dirty="0"/>
              <a:t>to each </a:t>
            </a:r>
            <a:r>
              <a:rPr lang="en-GB" sz="2000" dirty="0" smtClean="0"/>
              <a:t>other] </a:t>
            </a:r>
            <a:r>
              <a:rPr lang="en-GB" dirty="0"/>
              <a:t>and </a:t>
            </a:r>
            <a:r>
              <a:rPr lang="en-GB" b="1" dirty="0">
                <a:solidFill>
                  <a:srgbClr val="C00000"/>
                </a:solidFill>
              </a:rPr>
              <a:t>ADULTERY</a:t>
            </a:r>
          </a:p>
          <a:p>
            <a:pPr marL="0" indent="0" algn="ctr">
              <a:buNone/>
            </a:pPr>
            <a:r>
              <a:rPr lang="en-GB" sz="2000" dirty="0" smtClean="0"/>
              <a:t>[intentional </a:t>
            </a:r>
            <a:r>
              <a:rPr lang="en-GB" sz="2000" dirty="0"/>
              <a:t>sexual intercourse between a married person </a:t>
            </a:r>
            <a:r>
              <a:rPr lang="en-GB" sz="2000" dirty="0" smtClean="0"/>
              <a:t>and between someone </a:t>
            </a:r>
            <a:r>
              <a:rPr lang="en-GB" sz="2000" dirty="0"/>
              <a:t>other than his or her lawful </a:t>
            </a:r>
            <a:r>
              <a:rPr lang="en-GB" sz="2000" dirty="0" smtClean="0"/>
              <a:t>spouse] </a:t>
            </a:r>
            <a:r>
              <a:rPr lang="en-GB" dirty="0"/>
              <a:t>but </a:t>
            </a:r>
            <a:r>
              <a:rPr lang="en-GB" b="1" dirty="0" smtClean="0">
                <a:solidFill>
                  <a:srgbClr val="C00000"/>
                </a:solidFill>
              </a:rPr>
              <a:t>ALL</a:t>
            </a:r>
            <a:r>
              <a:rPr lang="en-GB" dirty="0" smtClean="0"/>
              <a:t> the</a:t>
            </a:r>
            <a:r>
              <a:rPr lang="en-GB" dirty="0"/>
              <a:t> </a:t>
            </a:r>
            <a:r>
              <a:rPr lang="en-GB" dirty="0" smtClean="0"/>
              <a:t>actions that lead to them, are also</a:t>
            </a:r>
            <a:r>
              <a:rPr lang="en-GB" dirty="0"/>
              <a:t> </a:t>
            </a:r>
            <a:r>
              <a:rPr lang="en-GB" b="1" dirty="0" smtClean="0">
                <a:solidFill>
                  <a:srgbClr val="C00000"/>
                </a:solidFill>
              </a:rPr>
              <a:t>HARAM</a:t>
            </a:r>
            <a:endParaRPr lang="en-GB" b="1" dirty="0">
              <a:solidFill>
                <a:srgbClr val="C00000"/>
              </a:solidFill>
            </a:endParaRP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8998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SHARIAH VERDICT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 smtClean="0"/>
              <a:t>According to Islamic teachings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ar-SA" sz="3200" b="1" dirty="0" smtClean="0">
                <a:latin typeface="Arial" pitchFamily="34" charset="0"/>
                <a:cs typeface="Arial" pitchFamily="34" charset="0"/>
              </a:rPr>
              <a:t>ٱلزِّنَىٰٓ</a:t>
            </a:r>
            <a:r>
              <a:rPr lang="en-GB" sz="32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GB" dirty="0"/>
              <a:t>” </a:t>
            </a:r>
            <a:r>
              <a:rPr lang="en-GB" dirty="0" smtClean="0"/>
              <a:t>is</a:t>
            </a:r>
            <a:r>
              <a:rPr lang="en-GB" dirty="0"/>
              <a:t> </a:t>
            </a:r>
            <a:r>
              <a:rPr lang="en-GB" dirty="0" smtClean="0"/>
              <a:t>considered </a:t>
            </a:r>
            <a:r>
              <a:rPr lang="en-GB" dirty="0"/>
              <a:t>as</a:t>
            </a:r>
            <a:r>
              <a:rPr lang="en-GB" dirty="0" smtClean="0"/>
              <a:t>:</a:t>
            </a:r>
          </a:p>
          <a:p>
            <a:pPr marL="0" indent="0">
              <a:buNone/>
            </a:pPr>
            <a:endParaRPr lang="en-GB" dirty="0"/>
          </a:p>
          <a:p>
            <a:pPr>
              <a:buFont typeface="Wingdings" pitchFamily="2" charset="2"/>
              <a:buChar char="Ø"/>
            </a:pPr>
            <a:r>
              <a:rPr lang="en-GB" dirty="0"/>
              <a:t> </a:t>
            </a:r>
            <a:r>
              <a:rPr lang="en-GB" dirty="0" smtClean="0"/>
              <a:t>A Great Sin</a:t>
            </a:r>
            <a:endParaRPr lang="en-GB" dirty="0"/>
          </a:p>
          <a:p>
            <a:pPr>
              <a:buFont typeface="Wingdings" pitchFamily="2" charset="2"/>
              <a:buChar char="Ø"/>
            </a:pPr>
            <a:r>
              <a:rPr lang="en-GB" dirty="0"/>
              <a:t> </a:t>
            </a:r>
            <a:r>
              <a:rPr lang="en-GB" dirty="0" smtClean="0"/>
              <a:t>A Vulgar and an indecent Act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 Crossing boundry of Allah &amp; humans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An Action leads to Hell</a:t>
            </a:r>
            <a:endParaRPr lang="en-GB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b="1" dirty="0">
                <a:solidFill>
                  <a:schemeClr val="bg1"/>
                </a:solidFill>
              </a:rPr>
              <a:t>QURANIC STATEMENT</a:t>
            </a:r>
          </a:p>
          <a:p>
            <a:pPr marL="0" indent="0" algn="ctr">
              <a:buNone/>
            </a:pPr>
            <a:r>
              <a:rPr lang="en-GB" dirty="0"/>
              <a:t>"Nay, Allah never commands of </a:t>
            </a:r>
            <a:r>
              <a:rPr lang="en-GB" dirty="0" smtClean="0"/>
              <a:t>Fahisha </a:t>
            </a:r>
            <a:r>
              <a:rPr lang="en-GB" dirty="0"/>
              <a:t>(vulgarity)”</a:t>
            </a:r>
          </a:p>
          <a:p>
            <a:pPr marL="0" indent="0" algn="ctr">
              <a:buNone/>
            </a:pPr>
            <a:r>
              <a:rPr lang="en-GB" sz="1800" dirty="0">
                <a:solidFill>
                  <a:schemeClr val="bg1"/>
                </a:solidFill>
              </a:rPr>
              <a:t>(Al-A’raf Ayah 28)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586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HADITH QUOTATIONS (1)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r" rtl="1">
              <a:buNone/>
            </a:pPr>
            <a:r>
              <a:rPr lang="ar-SA" dirty="0"/>
              <a:t> </a:t>
            </a:r>
            <a:r>
              <a:rPr lang="en-US" dirty="0" smtClean="0"/>
              <a:t>			</a:t>
            </a:r>
            <a:r>
              <a:rPr lang="ar-SA" dirty="0" smtClean="0"/>
              <a:t>إذا </a:t>
            </a:r>
            <a:r>
              <a:rPr lang="ar-SA" dirty="0"/>
              <a:t>زنى العبد خرج منه الإيمان </a:t>
            </a:r>
            <a:endParaRPr lang="en-US" dirty="0" smtClean="0"/>
          </a:p>
          <a:p>
            <a:pPr marL="0" indent="0" algn="l">
              <a:buNone/>
            </a:pPr>
            <a:r>
              <a:rPr lang="en-GB" dirty="0" smtClean="0"/>
              <a:t>			</a:t>
            </a:r>
          </a:p>
          <a:p>
            <a:pPr marL="0" indent="0" algn="ctr">
              <a:buNone/>
            </a:pPr>
            <a:r>
              <a:rPr lang="en-GB" b="1" dirty="0" smtClean="0"/>
              <a:t>TRANSLATION</a:t>
            </a:r>
          </a:p>
          <a:p>
            <a:pPr marL="0" indent="0" algn="ctr">
              <a:buNone/>
            </a:pPr>
            <a:r>
              <a:rPr lang="en-GB" dirty="0" smtClean="0"/>
              <a:t>“While a person commits fornication, the </a:t>
            </a:r>
            <a:r>
              <a:rPr lang="en-GB" smtClean="0"/>
              <a:t>faith goes out </a:t>
            </a:r>
            <a:r>
              <a:rPr lang="en-GB" dirty="0" smtClean="0"/>
              <a:t>of him”</a:t>
            </a:r>
          </a:p>
          <a:p>
            <a:pPr marL="0" indent="0" algn="ctr">
              <a:buNone/>
            </a:pPr>
            <a:endParaRPr lang="en-GB" b="1" dirty="0" smtClean="0"/>
          </a:p>
          <a:p>
            <a:pPr marL="0" indent="0" algn="ctr">
              <a:buNone/>
            </a:pPr>
            <a:endParaRPr lang="en-GB" b="1" dirty="0" smtClean="0"/>
          </a:p>
          <a:p>
            <a:pPr marL="0" indent="0" algn="ctr">
              <a:buNone/>
            </a:pPr>
            <a:r>
              <a:rPr lang="en-GB" b="1" dirty="0" smtClean="0"/>
              <a:t>ANOTHER HADITH</a:t>
            </a:r>
          </a:p>
          <a:p>
            <a:pPr marL="0" indent="0" algn="ctr">
              <a:buNone/>
            </a:pPr>
            <a:r>
              <a:rPr lang="en-GB" dirty="0" smtClean="0"/>
              <a:t>"The heavens and the earth, the seven of them each, curse the married</a:t>
            </a:r>
          </a:p>
          <a:p>
            <a:pPr marL="0" indent="0" algn="ctr">
              <a:buNone/>
            </a:pPr>
            <a:r>
              <a:rPr lang="en-GB" dirty="0" smtClean="0"/>
              <a:t>person who commits adultery. And the strong unpleasant smell which</a:t>
            </a:r>
          </a:p>
          <a:p>
            <a:pPr marL="0" indent="0" algn="ctr">
              <a:buNone/>
            </a:pPr>
            <a:r>
              <a:rPr lang="en-GB" dirty="0" smtClean="0"/>
              <a:t>spreads out from the private parts of such </a:t>
            </a:r>
            <a:r>
              <a:rPr lang="en-GB" dirty="0"/>
              <a:t>(</a:t>
            </a:r>
            <a:r>
              <a:rPr lang="en-GB" dirty="0" smtClean="0"/>
              <a:t>fornicating) people will</a:t>
            </a:r>
          </a:p>
          <a:p>
            <a:pPr marL="0" indent="0" algn="ctr">
              <a:buNone/>
            </a:pPr>
            <a:r>
              <a:rPr lang="en-GB" dirty="0" smtClean="0"/>
              <a:t>embarrass even the people condemned to Hell and thus there in Hell</a:t>
            </a:r>
          </a:p>
          <a:p>
            <a:pPr marL="0" indent="0" algn="ctr">
              <a:buNone/>
            </a:pPr>
            <a:r>
              <a:rPr lang="en-GB" dirty="0" smtClean="0"/>
              <a:t>they will be suffering from the punishment of fire and disgrace both."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13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ctr"/>
            <a:r>
              <a:rPr lang="en-US" dirty="0"/>
              <a:t>HADITH QUOTATIONS </a:t>
            </a:r>
            <a:r>
              <a:rPr lang="en-US" dirty="0" smtClean="0"/>
              <a:t>(2)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 smtClean="0"/>
              <a:t>Once a </a:t>
            </a:r>
            <a:r>
              <a:rPr lang="en-US" sz="1600" dirty="0"/>
              <a:t>young man came to the </a:t>
            </a:r>
            <a:r>
              <a:rPr lang="en-US" sz="1600" dirty="0" smtClean="0"/>
              <a:t>holy Prophet  (S.A.W.) and </a:t>
            </a:r>
            <a:r>
              <a:rPr lang="en-US" sz="1600" dirty="0"/>
              <a:t>said,</a:t>
            </a:r>
            <a:endParaRPr lang="en-GB" sz="1600" dirty="0"/>
          </a:p>
          <a:p>
            <a:pPr marL="0" indent="0">
              <a:buNone/>
            </a:pPr>
            <a:r>
              <a:rPr lang="en-US" sz="1600" dirty="0"/>
              <a:t>"O Messenger of Allah! </a:t>
            </a:r>
            <a:r>
              <a:rPr lang="en-US" sz="1600" b="1" dirty="0"/>
              <a:t>Give me permission to commit Zina</a:t>
            </a:r>
            <a:r>
              <a:rPr lang="en-US" sz="1600" dirty="0"/>
              <a:t> </a:t>
            </a:r>
            <a:r>
              <a:rPr lang="en-US" sz="1600" dirty="0" smtClean="0"/>
              <a:t>.''</a:t>
            </a:r>
            <a:endParaRPr lang="en-GB" sz="1600" dirty="0"/>
          </a:p>
          <a:p>
            <a:pPr marL="0" indent="0">
              <a:buNone/>
            </a:pPr>
            <a:r>
              <a:rPr lang="en-US" sz="1600" dirty="0"/>
              <a:t>The people surrounded him and rebuked him, </a:t>
            </a:r>
            <a:r>
              <a:rPr lang="en-US" sz="1600" dirty="0" smtClean="0"/>
              <a:t>saying</a:t>
            </a:r>
            <a:r>
              <a:rPr lang="en-US" sz="1600" dirty="0"/>
              <a:t>, "Stop! Stop!''</a:t>
            </a:r>
            <a:endParaRPr lang="en-GB" sz="1600" dirty="0"/>
          </a:p>
          <a:p>
            <a:pPr marL="0" indent="0">
              <a:buNone/>
            </a:pPr>
            <a:r>
              <a:rPr lang="en-US" sz="1600" dirty="0"/>
              <a:t>But the Prophet said, </a:t>
            </a:r>
            <a:r>
              <a:rPr lang="ar-SA" sz="1600" b="1" dirty="0"/>
              <a:t>ادْنُه</a:t>
            </a:r>
            <a:r>
              <a:rPr lang="en-US" sz="1600" dirty="0"/>
              <a:t>  (Come close).</a:t>
            </a:r>
            <a:endParaRPr lang="en-GB" sz="1600" dirty="0"/>
          </a:p>
          <a:p>
            <a:pPr marL="0" indent="0">
              <a:buNone/>
            </a:pPr>
            <a:r>
              <a:rPr lang="en-US" sz="1600" dirty="0"/>
              <a:t>The young man came to him, and he said, </a:t>
            </a:r>
            <a:r>
              <a:rPr lang="ar-SA" sz="1600" b="1" dirty="0"/>
              <a:t>اجْلِس</a:t>
            </a:r>
            <a:r>
              <a:rPr lang="en-US" sz="1600" dirty="0"/>
              <a:t>  (Sit down), so he sat down.</a:t>
            </a:r>
            <a:endParaRPr lang="en-GB" sz="1600" dirty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The </a:t>
            </a:r>
            <a:r>
              <a:rPr lang="en-US" sz="1600" dirty="0"/>
              <a:t>Prophet said, </a:t>
            </a:r>
            <a:r>
              <a:rPr lang="ar-SA" sz="1600" b="1" dirty="0"/>
              <a:t>أَتُحِبُّهُ لِأُمِّك</a:t>
            </a:r>
            <a:r>
              <a:rPr lang="en-US" sz="1600" b="1" dirty="0"/>
              <a:t> </a:t>
            </a:r>
            <a:r>
              <a:rPr lang="en-US" sz="1600" dirty="0"/>
              <a:t> (Would you like </a:t>
            </a:r>
            <a:r>
              <a:rPr lang="en-US" sz="1600" i="1" dirty="0" err="1" smtClean="0"/>
              <a:t>Zina</a:t>
            </a:r>
            <a:r>
              <a:rPr lang="en-US" sz="1600" dirty="0" smtClean="0"/>
              <a:t> for </a:t>
            </a:r>
            <a:r>
              <a:rPr lang="en-US" sz="1600" dirty="0"/>
              <a:t>your mother</a:t>
            </a:r>
            <a:r>
              <a:rPr lang="en-US" sz="1600" dirty="0" smtClean="0"/>
              <a:t>)?</a:t>
            </a:r>
            <a:endParaRPr lang="en-GB" sz="1600" dirty="0"/>
          </a:p>
          <a:p>
            <a:pPr marL="0" indent="0">
              <a:buNone/>
            </a:pPr>
            <a:r>
              <a:rPr lang="en-US" sz="1600" dirty="0"/>
              <a:t>He said, "No, by Allah, may I be ransomed for you.''</a:t>
            </a:r>
            <a:endParaRPr lang="en-GB" sz="1600" dirty="0"/>
          </a:p>
          <a:p>
            <a:pPr marL="0" indent="0">
              <a:buNone/>
            </a:pPr>
            <a:r>
              <a:rPr lang="en-US" sz="1600" dirty="0"/>
              <a:t>The Prophet said,</a:t>
            </a:r>
            <a:endParaRPr lang="en-GB" sz="1600" dirty="0"/>
          </a:p>
          <a:p>
            <a:pPr marL="0" indent="0" rtl="1">
              <a:buNone/>
            </a:pPr>
            <a:r>
              <a:rPr lang="ar-SA" sz="1600" dirty="0"/>
              <a:t>وَلَا النَّاسُ يُحِبُّونَهُ </a:t>
            </a:r>
            <a:r>
              <a:rPr lang="ar-SA" sz="1600" dirty="0" smtClean="0"/>
              <a:t>لِأُمَّهَاتِهِم</a:t>
            </a:r>
            <a:r>
              <a:rPr lang="en-US" sz="1600" dirty="0" smtClean="0"/>
              <a:t>Neither </a:t>
            </a:r>
            <a:r>
              <a:rPr lang="en-US" sz="1600" dirty="0"/>
              <a:t>do the people like it for their </a:t>
            </a:r>
            <a:r>
              <a:rPr lang="en-US" sz="1600" dirty="0" smtClean="0"/>
              <a:t>mothers .</a:t>
            </a:r>
            <a:endParaRPr lang="en-GB" sz="1600" dirty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The </a:t>
            </a:r>
            <a:r>
              <a:rPr lang="en-US" sz="1600" dirty="0"/>
              <a:t>Prophet said, </a:t>
            </a:r>
            <a:r>
              <a:rPr lang="ar-SA" sz="1600" b="1" dirty="0"/>
              <a:t>أَفَتُحِبُّهُ لِابْنَتِكَ</a:t>
            </a:r>
            <a:r>
              <a:rPr lang="en-US" sz="1600" b="1" dirty="0"/>
              <a:t> </a:t>
            </a:r>
            <a:r>
              <a:rPr lang="en-US" sz="1600" dirty="0"/>
              <a:t> (Would you like it for your daughter)?</a:t>
            </a:r>
            <a:endParaRPr lang="en-GB" sz="1600" dirty="0"/>
          </a:p>
          <a:p>
            <a:pPr marL="0" indent="0">
              <a:buNone/>
            </a:pPr>
            <a:r>
              <a:rPr lang="en-US" sz="1600" dirty="0"/>
              <a:t>He said, "No, by Allah, may I be ransomed for you.''</a:t>
            </a:r>
            <a:endParaRPr lang="en-GB" sz="1600" dirty="0"/>
          </a:p>
          <a:p>
            <a:pPr marL="0" indent="0">
              <a:buNone/>
            </a:pPr>
            <a:r>
              <a:rPr lang="en-US" sz="1600" dirty="0"/>
              <a:t>The Prophet said,</a:t>
            </a:r>
            <a:endParaRPr lang="en-GB" sz="1600" dirty="0"/>
          </a:p>
          <a:p>
            <a:pPr marL="0" indent="0" rtl="1">
              <a:buNone/>
            </a:pPr>
            <a:r>
              <a:rPr lang="ar-SA" sz="1600" dirty="0"/>
              <a:t>وَلَا النَّاسُ يُحِبُّونَهُ </a:t>
            </a:r>
            <a:r>
              <a:rPr lang="ar-SA" sz="1600" dirty="0" smtClean="0"/>
              <a:t>لِبَنَاتِهِم</a:t>
            </a:r>
            <a:r>
              <a:rPr lang="en-US" sz="1600" dirty="0" smtClean="0"/>
              <a:t>Neither </a:t>
            </a:r>
            <a:r>
              <a:rPr lang="en-US" sz="1600" dirty="0"/>
              <a:t>do the people like it for their </a:t>
            </a:r>
            <a:r>
              <a:rPr lang="en-US" sz="1600" dirty="0" smtClean="0"/>
              <a:t>daughters  .</a:t>
            </a:r>
            <a:endParaRPr lang="en-GB" sz="1600" dirty="0"/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5239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pPr algn="ctr"/>
            <a:r>
              <a:rPr lang="en-US" dirty="0" smtClean="0"/>
              <a:t>Continuation…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The Prophet said, </a:t>
            </a:r>
            <a:r>
              <a:rPr lang="ar-SA" b="1" dirty="0"/>
              <a:t>أَفَتُحِبُّهُ لِأُخْتِكَ</a:t>
            </a:r>
            <a:r>
              <a:rPr lang="en-US" b="1" dirty="0"/>
              <a:t> </a:t>
            </a:r>
            <a:r>
              <a:rPr lang="en-US" dirty="0"/>
              <a:t> (Would you like it for your sister)?</a:t>
            </a:r>
            <a:endParaRPr lang="en-GB" dirty="0"/>
          </a:p>
          <a:p>
            <a:pPr marL="0" indent="0">
              <a:buNone/>
            </a:pPr>
            <a:r>
              <a:rPr lang="en-US" dirty="0"/>
              <a:t>He said, "No, by Allah, may I be ransomed for you.''</a:t>
            </a:r>
            <a:endParaRPr lang="en-GB" dirty="0"/>
          </a:p>
          <a:p>
            <a:pPr marL="0" indent="0">
              <a:buNone/>
            </a:pPr>
            <a:r>
              <a:rPr lang="en-US" dirty="0"/>
              <a:t>The Prophet said,</a:t>
            </a:r>
            <a:endParaRPr lang="en-GB" dirty="0"/>
          </a:p>
          <a:p>
            <a:pPr marL="0" indent="0" rtl="1">
              <a:buNone/>
            </a:pPr>
            <a:r>
              <a:rPr lang="ar-SA" dirty="0"/>
              <a:t>وَلَا النَّاسُ يُحِبُّونَهُ لِأَخَوَاتِهِم</a:t>
            </a:r>
            <a:r>
              <a:rPr lang="en-US" dirty="0"/>
              <a:t>Neither do the people like it for their sisters  .</a:t>
            </a:r>
            <a:endParaRPr lang="en-GB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Prophet said, </a:t>
            </a:r>
            <a:r>
              <a:rPr lang="ar-SA" b="1" dirty="0"/>
              <a:t>أَفَتُحِبُّهُ لِعَمَّتِكَ</a:t>
            </a:r>
            <a:r>
              <a:rPr lang="en-US" dirty="0"/>
              <a:t> (Would you like it for your paternal aunt)?</a:t>
            </a:r>
            <a:endParaRPr lang="en-GB" dirty="0"/>
          </a:p>
          <a:p>
            <a:pPr marL="0" indent="0">
              <a:buNone/>
            </a:pPr>
            <a:r>
              <a:rPr lang="en-US" dirty="0"/>
              <a:t>He said, "No, by Allah, O Allah's Messenger! may I be ransomed for you.''</a:t>
            </a:r>
            <a:endParaRPr lang="en-GB" dirty="0"/>
          </a:p>
          <a:p>
            <a:pPr marL="0" indent="0">
              <a:buNone/>
            </a:pPr>
            <a:r>
              <a:rPr lang="en-US" dirty="0"/>
              <a:t>The Prophet said,</a:t>
            </a:r>
            <a:endParaRPr lang="en-GB" dirty="0"/>
          </a:p>
          <a:p>
            <a:pPr marL="0" indent="0" rtl="1">
              <a:buNone/>
            </a:pPr>
            <a:r>
              <a:rPr lang="ar-SA" dirty="0"/>
              <a:t>وَلَا النَّاسُ يُحِبُّونَهُ </a:t>
            </a:r>
            <a:r>
              <a:rPr lang="ar-SA" dirty="0" smtClean="0"/>
              <a:t>لِعَمَّاتِهِم</a:t>
            </a:r>
            <a:r>
              <a:rPr lang="en-US" dirty="0" smtClean="0"/>
              <a:t>Neither </a:t>
            </a:r>
            <a:r>
              <a:rPr lang="en-US" dirty="0"/>
              <a:t>do the people like it for their paternal aunts</a:t>
            </a:r>
            <a:r>
              <a:rPr lang="en-US" dirty="0" smtClean="0"/>
              <a:t>.   </a:t>
            </a:r>
            <a:endParaRPr lang="en-GB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Prophet said, </a:t>
            </a:r>
            <a:r>
              <a:rPr lang="ar-SA" b="1" dirty="0"/>
              <a:t>أَفَتُحِبُّهُ لِخَالَتِكَ</a:t>
            </a:r>
            <a:r>
              <a:rPr lang="en-US" b="1" dirty="0"/>
              <a:t> </a:t>
            </a:r>
            <a:r>
              <a:rPr lang="en-US" dirty="0"/>
              <a:t> (Would you like it for your maternal aunt)?</a:t>
            </a:r>
            <a:endParaRPr lang="en-GB" dirty="0"/>
          </a:p>
          <a:p>
            <a:pPr marL="0" indent="0">
              <a:buNone/>
            </a:pPr>
            <a:r>
              <a:rPr lang="en-US" dirty="0"/>
              <a:t>He said, "No, by Allah, O Allah's Messenger! may I be ransomed for you.''</a:t>
            </a:r>
            <a:endParaRPr lang="en-GB" dirty="0"/>
          </a:p>
          <a:p>
            <a:pPr marL="0" indent="0">
              <a:buNone/>
            </a:pPr>
            <a:r>
              <a:rPr lang="en-US" dirty="0"/>
              <a:t>The Prophet said,</a:t>
            </a:r>
            <a:endParaRPr lang="en-GB" dirty="0"/>
          </a:p>
          <a:p>
            <a:pPr marL="0" indent="0" rtl="1">
              <a:buNone/>
            </a:pPr>
            <a:r>
              <a:rPr lang="ar-SA" dirty="0"/>
              <a:t>وَلَا النَّاسُ يُحِبُّونَهُ </a:t>
            </a:r>
            <a:r>
              <a:rPr lang="ar-SA" dirty="0" smtClean="0"/>
              <a:t>لِخَالَاتِهِم</a:t>
            </a:r>
            <a:r>
              <a:rPr lang="en-US" dirty="0" smtClean="0"/>
              <a:t>Neither </a:t>
            </a:r>
            <a:r>
              <a:rPr lang="en-US" dirty="0"/>
              <a:t>do the people like it for their maternal aunts</a:t>
            </a:r>
            <a:r>
              <a:rPr lang="en-US" dirty="0" smtClean="0"/>
              <a:t>. </a:t>
            </a:r>
            <a:endParaRPr lang="en-GB" dirty="0"/>
          </a:p>
          <a:p>
            <a:pPr marL="0" indent="0">
              <a:buNone/>
            </a:pPr>
            <a:r>
              <a:rPr lang="en-US" dirty="0"/>
              <a:t>Then the Prophet put his hand on him and </a:t>
            </a:r>
            <a:r>
              <a:rPr lang="en-US" dirty="0" smtClean="0"/>
              <a:t>prayed,</a:t>
            </a:r>
            <a:endParaRPr lang="en-GB" dirty="0"/>
          </a:p>
          <a:p>
            <a:pPr marL="0" indent="0" algn="ctr" rtl="1">
              <a:buNone/>
            </a:pPr>
            <a:r>
              <a:rPr lang="ar-SA" dirty="0"/>
              <a:t>اللَّهُمَّ اغْفِرْ ذَنْبَهُ، وَطَهِّرْ قَلْبَهُ، وَأَحْصِنْ فَرْجَه</a:t>
            </a:r>
            <a:endParaRPr lang="en-GB" dirty="0"/>
          </a:p>
          <a:p>
            <a:pPr marL="0" indent="0">
              <a:buNone/>
            </a:pPr>
            <a:r>
              <a:rPr lang="en-US" dirty="0"/>
              <a:t>O Allah, forgive his sin, purify his heart and guard his chastity.</a:t>
            </a:r>
            <a:endParaRPr lang="en-GB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After that, </a:t>
            </a:r>
            <a:r>
              <a:rPr lang="en-US" b="1" dirty="0"/>
              <a:t>the young man never paid attention to anything of that nature.</a:t>
            </a:r>
            <a:endParaRPr lang="en-GB" b="1" dirty="0"/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05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HADITH QUOTATIONS </a:t>
            </a:r>
            <a:r>
              <a:rPr lang="en-US" dirty="0" smtClean="0"/>
              <a:t>(3)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 rtl="1">
              <a:buNone/>
            </a:pPr>
            <a:r>
              <a:rPr lang="ar-SA" b="1" dirty="0"/>
              <a:t> إذا ظهر الزنا و الربا في قرية فقد أحلوا بأنفسهم عذاب الله </a:t>
            </a:r>
            <a:endParaRPr lang="en-GB" b="1" dirty="0" smtClean="0"/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b="1" dirty="0" smtClean="0">
                <a:solidFill>
                  <a:schemeClr val="tx1"/>
                </a:solidFill>
              </a:rPr>
              <a:t>TRANSLATION</a:t>
            </a:r>
            <a:endParaRPr lang="en-GB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GB" dirty="0"/>
              <a:t>“When </a:t>
            </a:r>
            <a:r>
              <a:rPr lang="en-GB" dirty="0" smtClean="0"/>
              <a:t>fornication </a:t>
            </a:r>
            <a:r>
              <a:rPr lang="en-GB" dirty="0"/>
              <a:t>and usury become common </a:t>
            </a:r>
            <a:r>
              <a:rPr lang="en-GB" dirty="0" smtClean="0"/>
              <a:t>in</a:t>
            </a:r>
            <a:endParaRPr lang="en-GB" dirty="0"/>
          </a:p>
          <a:p>
            <a:pPr marL="0" indent="0" algn="ctr">
              <a:buNone/>
            </a:pPr>
            <a:r>
              <a:rPr lang="en-GB" dirty="0"/>
              <a:t>some </a:t>
            </a:r>
            <a:r>
              <a:rPr lang="en-GB" dirty="0" smtClean="0"/>
              <a:t>town, the natives of the town </a:t>
            </a:r>
            <a:r>
              <a:rPr lang="en-GB" dirty="0"/>
              <a:t>deserve </a:t>
            </a:r>
            <a:r>
              <a:rPr lang="en-GB" dirty="0" smtClean="0"/>
              <a:t>TORMENT </a:t>
            </a:r>
            <a:r>
              <a:rPr lang="en-GB" sz="1800" dirty="0" smtClean="0"/>
              <a:t>[severe</a:t>
            </a:r>
            <a:r>
              <a:rPr lang="en-GB" sz="1800" dirty="0"/>
              <a:t> </a:t>
            </a:r>
            <a:r>
              <a:rPr lang="en-GB" sz="1800" dirty="0" smtClean="0"/>
              <a:t>Punishment]</a:t>
            </a:r>
            <a:r>
              <a:rPr lang="en-GB" dirty="0" smtClean="0"/>
              <a:t> from Allah</a:t>
            </a:r>
            <a:r>
              <a:rPr lang="en-GB" dirty="0"/>
              <a:t>”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835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VICES OF ADULTRY (1)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/>
              <a:t>Adultery </a:t>
            </a:r>
            <a:r>
              <a:rPr lang="en-GB" dirty="0"/>
              <a:t>is not only shameful in itself and inconsistent</a:t>
            </a:r>
          </a:p>
          <a:p>
            <a:pPr marL="0" indent="0">
              <a:buNone/>
            </a:pPr>
            <a:r>
              <a:rPr lang="en-GB" dirty="0"/>
              <a:t>with </a:t>
            </a:r>
            <a:r>
              <a:rPr lang="en-GB" dirty="0" smtClean="0"/>
              <a:t>self-respect </a:t>
            </a:r>
            <a:r>
              <a:rPr lang="en-GB" dirty="0"/>
              <a:t>or respect for others, but </a:t>
            </a:r>
            <a:r>
              <a:rPr lang="en-GB" dirty="0" smtClean="0"/>
              <a:t>it paves the way to </a:t>
            </a:r>
            <a:r>
              <a:rPr lang="en-GB" dirty="0"/>
              <a:t>many </a:t>
            </a:r>
            <a:r>
              <a:rPr lang="en-GB" dirty="0" smtClean="0"/>
              <a:t>evils:</a:t>
            </a: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(</a:t>
            </a:r>
            <a:r>
              <a:rPr lang="en-GB" dirty="0" smtClean="0"/>
              <a:t>1)</a:t>
            </a:r>
            <a:r>
              <a:rPr lang="en-GB" dirty="0"/>
              <a:t> </a:t>
            </a:r>
            <a:r>
              <a:rPr lang="en-GB" dirty="0" smtClean="0"/>
              <a:t>It </a:t>
            </a:r>
            <a:r>
              <a:rPr lang="en-GB" dirty="0"/>
              <a:t>generates limitless social </a:t>
            </a:r>
            <a:r>
              <a:rPr lang="en-GB" dirty="0" smtClean="0"/>
              <a:t>disorder, the</a:t>
            </a:r>
            <a:endParaRPr lang="en-GB" dirty="0"/>
          </a:p>
          <a:p>
            <a:pPr marL="0" indent="0" algn="ctr">
              <a:buNone/>
            </a:pPr>
            <a:r>
              <a:rPr lang="en-GB" dirty="0"/>
              <a:t>consequences of which sometimes destroy whole</a:t>
            </a:r>
          </a:p>
          <a:p>
            <a:pPr marL="0" indent="0" algn="ctr">
              <a:buNone/>
            </a:pPr>
            <a:r>
              <a:rPr lang="en-GB" dirty="0"/>
              <a:t>society</a:t>
            </a:r>
          </a:p>
          <a:p>
            <a:pPr marL="0" indent="0" algn="ctr">
              <a:buNone/>
            </a:pPr>
            <a:r>
              <a:rPr lang="en-GB" dirty="0" smtClean="0"/>
              <a:t>(2) </a:t>
            </a:r>
            <a:r>
              <a:rPr lang="en-GB" dirty="0"/>
              <a:t>It destroys the basis of the </a:t>
            </a:r>
            <a:r>
              <a:rPr lang="en-GB" dirty="0" smtClean="0"/>
              <a:t>family</a:t>
            </a:r>
          </a:p>
          <a:p>
            <a:pPr marL="0" indent="0" algn="ctr">
              <a:buNone/>
            </a:pPr>
            <a:r>
              <a:rPr lang="en-GB" dirty="0" smtClean="0"/>
              <a:t>(3) It works against the interests of children born or to</a:t>
            </a:r>
          </a:p>
          <a:p>
            <a:pPr marL="0" indent="0" algn="ctr">
              <a:buNone/>
            </a:pPr>
            <a:r>
              <a:rPr lang="en-GB" dirty="0" smtClean="0"/>
              <a:t>be born</a:t>
            </a:r>
          </a:p>
          <a:p>
            <a:pPr marL="0" indent="0" algn="ctr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08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VICES OF ADULTRY </a:t>
            </a:r>
            <a:r>
              <a:rPr lang="en-US" dirty="0" smtClean="0"/>
              <a:t>(2)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 smtClean="0"/>
          </a:p>
          <a:p>
            <a:pPr marL="0" indent="0" algn="ctr">
              <a:buNone/>
            </a:pPr>
            <a:r>
              <a:rPr lang="en-GB" dirty="0" smtClean="0"/>
              <a:t>(4) </a:t>
            </a:r>
            <a:r>
              <a:rPr lang="en-GB" dirty="0"/>
              <a:t>It may cause murders and feuds and loss of</a:t>
            </a:r>
          </a:p>
          <a:p>
            <a:pPr marL="0" indent="0" algn="ctr">
              <a:buNone/>
            </a:pPr>
            <a:r>
              <a:rPr lang="en-GB" dirty="0"/>
              <a:t>reputation and property</a:t>
            </a:r>
          </a:p>
          <a:p>
            <a:pPr marL="0" indent="0" algn="ctr">
              <a:buNone/>
            </a:pPr>
            <a:r>
              <a:rPr lang="en-GB" dirty="0" smtClean="0"/>
              <a:t>(5) </a:t>
            </a:r>
            <a:r>
              <a:rPr lang="en-GB" dirty="0"/>
              <a:t>It loosens permanently the bonds of </a:t>
            </a:r>
            <a:r>
              <a:rPr lang="en-GB" dirty="0" smtClean="0"/>
              <a:t>society</a:t>
            </a: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b="1" dirty="0"/>
              <a:t>Therefore not only </a:t>
            </a:r>
            <a:r>
              <a:rPr lang="en-GB" b="1" dirty="0" smtClean="0"/>
              <a:t>ADULTRY must be </a:t>
            </a:r>
            <a:r>
              <a:rPr lang="en-GB" b="1" dirty="0"/>
              <a:t>avoided as a sin, but</a:t>
            </a:r>
          </a:p>
          <a:p>
            <a:pPr marL="0" indent="0" algn="ctr">
              <a:buNone/>
            </a:pPr>
            <a:r>
              <a:rPr lang="en-GB" b="1" dirty="0"/>
              <a:t>any approach or temptation to it should be avoided.</a:t>
            </a:r>
          </a:p>
          <a:p>
            <a:pPr algn="ctr"/>
            <a:endParaRPr lang="en-GB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829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 algn="ctr"/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/>
              <a:t>HOW A HOW A PERSON CAN </a:t>
            </a:r>
            <a:r>
              <a:rPr lang="en-GB" dirty="0" smtClean="0"/>
              <a:t>SAVE HIMSELF FROM </a:t>
            </a:r>
            <a:r>
              <a:rPr lang="en-GB" dirty="0"/>
              <a:t>THIS SIN?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Following are the steps which can help prevent people from this sin: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 algn="ctr">
              <a:buNone/>
            </a:pPr>
            <a:r>
              <a:rPr lang="en-GB" dirty="0" smtClean="0"/>
              <a:t>(</a:t>
            </a:r>
            <a:r>
              <a:rPr lang="en-GB" dirty="0"/>
              <a:t>i) By </a:t>
            </a:r>
            <a:r>
              <a:rPr lang="en-GB" dirty="0" smtClean="0"/>
              <a:t>lowering the gaze </a:t>
            </a:r>
            <a:r>
              <a:rPr lang="en-GB" sz="1900" dirty="0" smtClean="0"/>
              <a:t>(for men and women both)</a:t>
            </a:r>
            <a:endParaRPr lang="en-GB" sz="1900" dirty="0"/>
          </a:p>
          <a:p>
            <a:pPr marL="0" indent="0" algn="ctr">
              <a:buNone/>
            </a:pPr>
            <a:r>
              <a:rPr lang="en-GB" dirty="0"/>
              <a:t>(</a:t>
            </a:r>
            <a:r>
              <a:rPr lang="en-GB" dirty="0" smtClean="0"/>
              <a:t>ii) </a:t>
            </a:r>
            <a:r>
              <a:rPr lang="en-GB" dirty="0"/>
              <a:t>By </a:t>
            </a:r>
            <a:r>
              <a:rPr lang="en-GB" dirty="0" smtClean="0"/>
              <a:t>being </a:t>
            </a:r>
            <a:r>
              <a:rPr lang="en-GB" dirty="0"/>
              <a:t>modest</a:t>
            </a:r>
          </a:p>
          <a:p>
            <a:pPr marL="0" indent="0" algn="ctr">
              <a:buNone/>
            </a:pPr>
            <a:r>
              <a:rPr lang="en-GB" dirty="0"/>
              <a:t>(iii) By </a:t>
            </a:r>
            <a:r>
              <a:rPr lang="en-GB" dirty="0" smtClean="0"/>
              <a:t>protecting the private </a:t>
            </a:r>
            <a:r>
              <a:rPr lang="en-GB" dirty="0"/>
              <a:t>parts </a:t>
            </a:r>
            <a:r>
              <a:rPr lang="en-GB" dirty="0" smtClean="0"/>
              <a:t>of body </a:t>
            </a:r>
            <a:r>
              <a:rPr lang="en-GB" sz="1900" dirty="0" smtClean="0"/>
              <a:t>(for women as well as for men )</a:t>
            </a:r>
            <a:endParaRPr lang="en-GB" sz="1900" dirty="0"/>
          </a:p>
          <a:p>
            <a:pPr marL="0" indent="0" algn="ctr">
              <a:buNone/>
            </a:pPr>
            <a:r>
              <a:rPr lang="en-GB" dirty="0"/>
              <a:t>(iv) By </a:t>
            </a:r>
            <a:r>
              <a:rPr lang="en-GB" dirty="0" smtClean="0"/>
              <a:t>wearing Hijab (for </a:t>
            </a:r>
            <a:r>
              <a:rPr lang="en-GB" dirty="0"/>
              <a:t>women </a:t>
            </a:r>
            <a:r>
              <a:rPr lang="en-GB" dirty="0" smtClean="0"/>
              <a:t>only</a:t>
            </a:r>
            <a:r>
              <a:rPr lang="en-GB" dirty="0"/>
              <a:t>)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 algn="ctr">
              <a:buNone/>
            </a:pPr>
            <a:r>
              <a:rPr lang="en-GB" b="1" dirty="0" smtClean="0"/>
              <a:t>QURNIC </a:t>
            </a:r>
            <a:r>
              <a:rPr lang="en-GB" b="1" dirty="0"/>
              <a:t>DIRECTIONS TO MEN</a:t>
            </a:r>
          </a:p>
          <a:p>
            <a:pPr marL="0" indent="0" algn="ctr">
              <a:buNone/>
            </a:pPr>
            <a:r>
              <a:rPr lang="en-GB" dirty="0"/>
              <a:t>“Tell the believing men to lower their gaze </a:t>
            </a:r>
            <a:r>
              <a:rPr lang="en-GB" sz="1700" dirty="0" smtClean="0"/>
              <a:t>(from looking at forbidden</a:t>
            </a:r>
            <a:endParaRPr lang="en-GB" sz="1700" dirty="0"/>
          </a:p>
          <a:p>
            <a:pPr marL="0" indent="0" algn="ctr">
              <a:buNone/>
            </a:pPr>
            <a:r>
              <a:rPr lang="en-GB" sz="1700" dirty="0" smtClean="0"/>
              <a:t>things)</a:t>
            </a:r>
            <a:r>
              <a:rPr lang="en-GB" dirty="0" smtClean="0"/>
              <a:t>,and </a:t>
            </a:r>
            <a:r>
              <a:rPr lang="en-GB" dirty="0"/>
              <a:t>protect their private parts </a:t>
            </a:r>
            <a:r>
              <a:rPr lang="en-GB" sz="1900" dirty="0" smtClean="0"/>
              <a:t>(from illegall sexual acts, etc.).</a:t>
            </a:r>
            <a:endParaRPr lang="en-GB" sz="1900" dirty="0"/>
          </a:p>
          <a:p>
            <a:pPr marL="0" indent="0" algn="ctr">
              <a:buNone/>
            </a:pPr>
            <a:r>
              <a:rPr lang="en-GB" dirty="0"/>
              <a:t>That is purer for them”</a:t>
            </a:r>
          </a:p>
          <a:p>
            <a:pPr marL="0" indent="0" algn="ctr">
              <a:buNone/>
            </a:pPr>
            <a:r>
              <a:rPr lang="en-GB" sz="1600" dirty="0">
                <a:solidFill>
                  <a:srgbClr val="C00000"/>
                </a:solidFill>
              </a:rPr>
              <a:t>(Surah An-Noor Ayah 30)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4024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>QURANIC DIRECTIONS FOR WOMEN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u="sng" dirty="0" smtClean="0"/>
              <a:t>INJUNCTIONS OF HIJAB IN QURAN (1)</a:t>
            </a:r>
          </a:p>
          <a:p>
            <a:pPr marL="0" indent="0" algn="ctr">
              <a:buNone/>
            </a:pPr>
            <a:endParaRPr lang="en-GB" b="1" u="sng" dirty="0" smtClean="0"/>
          </a:p>
          <a:p>
            <a:pPr marL="0" indent="0" algn="ctr">
              <a:buNone/>
            </a:pPr>
            <a:r>
              <a:rPr lang="en-GB" dirty="0" smtClean="0"/>
              <a:t>“</a:t>
            </a:r>
            <a:r>
              <a:rPr lang="en-GB" dirty="0"/>
              <a:t>And </a:t>
            </a:r>
            <a:r>
              <a:rPr lang="en-GB" dirty="0" smtClean="0"/>
              <a:t>tell the believing </a:t>
            </a:r>
            <a:r>
              <a:rPr lang="en-GB" dirty="0"/>
              <a:t>women </a:t>
            </a:r>
            <a:r>
              <a:rPr lang="en-GB" dirty="0" smtClean="0"/>
              <a:t>to lower their </a:t>
            </a:r>
            <a:r>
              <a:rPr lang="en-GB" dirty="0"/>
              <a:t>gaze </a:t>
            </a:r>
            <a:r>
              <a:rPr lang="en-GB" sz="1800" dirty="0"/>
              <a:t>(from</a:t>
            </a:r>
          </a:p>
          <a:p>
            <a:pPr marL="0" indent="0" algn="ctr">
              <a:buNone/>
            </a:pPr>
            <a:r>
              <a:rPr lang="en-GB" sz="1800" dirty="0"/>
              <a:t>looking at forbidden things), </a:t>
            </a:r>
            <a:r>
              <a:rPr lang="en-GB" dirty="0"/>
              <a:t>and </a:t>
            </a:r>
            <a:r>
              <a:rPr lang="en-GB" dirty="0" smtClean="0"/>
              <a:t>protect their private parts </a:t>
            </a:r>
            <a:r>
              <a:rPr lang="en-GB" sz="1800" dirty="0"/>
              <a:t>(</a:t>
            </a:r>
            <a:r>
              <a:rPr lang="en-GB" sz="1800" dirty="0" smtClean="0"/>
              <a:t>from illegal </a:t>
            </a:r>
            <a:r>
              <a:rPr lang="en-GB" sz="1800" dirty="0"/>
              <a:t>sexual acts, etc.)</a:t>
            </a:r>
            <a:r>
              <a:rPr lang="en-GB" dirty="0"/>
              <a:t> and </a:t>
            </a:r>
            <a:r>
              <a:rPr lang="en-GB" dirty="0" smtClean="0"/>
              <a:t>not to </a:t>
            </a:r>
            <a:r>
              <a:rPr lang="en-GB" dirty="0"/>
              <a:t>show </a:t>
            </a:r>
            <a:r>
              <a:rPr lang="en-GB" dirty="0" smtClean="0"/>
              <a:t>off their adornment </a:t>
            </a:r>
            <a:r>
              <a:rPr lang="en-GB" sz="1800" dirty="0" smtClean="0"/>
              <a:t>[</a:t>
            </a:r>
            <a:r>
              <a:rPr lang="en-GB" sz="1800" dirty="0"/>
              <a:t>something that adds attractiveness</a:t>
            </a:r>
            <a:r>
              <a:rPr lang="en-GB" sz="1800" dirty="0" smtClean="0"/>
              <a:t>] </a:t>
            </a:r>
            <a:r>
              <a:rPr lang="en-GB" dirty="0" smtClean="0"/>
              <a:t>except only that which is apparent </a:t>
            </a:r>
            <a:r>
              <a:rPr lang="en-GB" sz="1800" dirty="0"/>
              <a:t>(like palms of hands or </a:t>
            </a:r>
            <a:r>
              <a:rPr lang="en-GB" sz="1800" dirty="0" smtClean="0"/>
              <a:t>both eyes </a:t>
            </a:r>
            <a:r>
              <a:rPr lang="en-GB" sz="1800" dirty="0"/>
              <a:t>for necessity to see the way, or outer dress like veil, gloves, head-cover, </a:t>
            </a:r>
            <a:r>
              <a:rPr lang="en-GB" sz="1800" dirty="0" smtClean="0"/>
              <a:t>apron, etc</a:t>
            </a:r>
            <a:r>
              <a:rPr lang="en-GB" sz="1800" dirty="0"/>
              <a:t>.)</a:t>
            </a:r>
            <a:r>
              <a:rPr lang="en-GB" dirty="0"/>
              <a:t>, and </a:t>
            </a:r>
            <a:r>
              <a:rPr lang="en-GB" dirty="0" smtClean="0"/>
              <a:t>to </a:t>
            </a:r>
            <a:r>
              <a:rPr lang="en-GB" dirty="0"/>
              <a:t>draw </a:t>
            </a:r>
            <a:r>
              <a:rPr lang="en-GB" dirty="0" smtClean="0"/>
              <a:t>their veils all </a:t>
            </a:r>
            <a:r>
              <a:rPr lang="en-GB" dirty="0"/>
              <a:t>over </a:t>
            </a:r>
            <a:r>
              <a:rPr lang="en-GB" b="1" i="1" dirty="0" smtClean="0"/>
              <a:t>Juyubihinna</a:t>
            </a:r>
            <a:r>
              <a:rPr lang="en-GB" dirty="0" smtClean="0"/>
              <a:t> </a:t>
            </a:r>
            <a:r>
              <a:rPr lang="en-GB" sz="1800" dirty="0"/>
              <a:t>(i.e. </a:t>
            </a:r>
            <a:r>
              <a:rPr lang="en-GB" sz="1800" dirty="0" smtClean="0"/>
              <a:t>their bodies</a:t>
            </a:r>
            <a:r>
              <a:rPr lang="en-GB" sz="1800" dirty="0"/>
              <a:t>, faces, necks and bosoms, etc</a:t>
            </a:r>
            <a:r>
              <a:rPr lang="en-GB" sz="1800" dirty="0" smtClean="0"/>
              <a:t>.)</a:t>
            </a:r>
            <a:r>
              <a:rPr lang="en-GB" dirty="0" smtClean="0"/>
              <a:t>“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sz="1600" b="1" dirty="0" smtClean="0">
                <a:solidFill>
                  <a:srgbClr val="C00000"/>
                </a:solidFill>
              </a:rPr>
              <a:t>(</a:t>
            </a:r>
            <a:r>
              <a:rPr lang="en-GB" sz="1600" b="1" dirty="0" err="1">
                <a:solidFill>
                  <a:srgbClr val="C00000"/>
                </a:solidFill>
              </a:rPr>
              <a:t>Surah</a:t>
            </a:r>
            <a:r>
              <a:rPr lang="en-GB" sz="1600" b="1">
                <a:solidFill>
                  <a:srgbClr val="C00000"/>
                </a:solidFill>
              </a:rPr>
              <a:t> </a:t>
            </a:r>
            <a:r>
              <a:rPr lang="en-GB" sz="1600" b="1" smtClean="0">
                <a:solidFill>
                  <a:srgbClr val="C00000"/>
                </a:solidFill>
              </a:rPr>
              <a:t>An-</a:t>
            </a:r>
            <a:r>
              <a:rPr lang="en-GB" sz="1600" b="1" dirty="0" err="1" smtClean="0">
                <a:solidFill>
                  <a:srgbClr val="C00000"/>
                </a:solidFill>
              </a:rPr>
              <a:t>Noor</a:t>
            </a:r>
            <a:r>
              <a:rPr lang="en-GB" sz="1600" b="1" dirty="0" smtClean="0">
                <a:solidFill>
                  <a:srgbClr val="C00000"/>
                </a:solidFill>
              </a:rPr>
              <a:t> </a:t>
            </a:r>
            <a:r>
              <a:rPr lang="en-GB" sz="1600" b="1" dirty="0">
                <a:solidFill>
                  <a:srgbClr val="C00000"/>
                </a:solidFill>
              </a:rPr>
              <a:t>Ayah 31</a:t>
            </a:r>
            <a:r>
              <a:rPr lang="en-GB" sz="1600" b="1" dirty="0" smtClean="0">
                <a:solidFill>
                  <a:srgbClr val="C00000"/>
                </a:solidFill>
              </a:rPr>
              <a:t>)</a:t>
            </a:r>
            <a:endParaRPr lang="en-GB" sz="1600" b="1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679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96962"/>
          </a:xfrm>
        </p:spPr>
        <p:txBody>
          <a:bodyPr>
            <a:normAutofit fontScale="90000"/>
          </a:bodyPr>
          <a:lstStyle/>
          <a:p>
            <a:pPr algn="ctr"/>
            <a:r>
              <a:rPr lang="en-US" u="sng" dirty="0" smtClean="0"/>
              <a:t/>
            </a:r>
            <a:br>
              <a:rPr lang="en-US" u="sng" dirty="0" smtClean="0"/>
            </a:br>
            <a:r>
              <a:rPr lang="en-US" u="sng" dirty="0" smtClean="0"/>
              <a:t>INJUNCTIONS </a:t>
            </a:r>
            <a:r>
              <a:rPr lang="en-US" u="sng" dirty="0"/>
              <a:t>OF HIJAB </a:t>
            </a:r>
            <a:r>
              <a:rPr lang="en-US" u="sng" dirty="0" smtClean="0"/>
              <a:t>IN QURAN (2)</a:t>
            </a:r>
            <a:r>
              <a:rPr lang="en-US" u="sng" dirty="0"/>
              <a:t/>
            </a:r>
            <a:br>
              <a:rPr lang="en-US" u="sng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 smtClean="0"/>
              <a:t>“</a:t>
            </a:r>
            <a:r>
              <a:rPr lang="en-GB" dirty="0"/>
              <a:t>O Prophet! Tell your wives and </a:t>
            </a:r>
            <a:r>
              <a:rPr lang="en-GB" dirty="0" smtClean="0"/>
              <a:t>daughters </a:t>
            </a:r>
            <a:r>
              <a:rPr lang="en-GB" dirty="0"/>
              <a:t>and</a:t>
            </a:r>
          </a:p>
          <a:p>
            <a:pPr marL="0" indent="0" algn="ctr">
              <a:buNone/>
            </a:pPr>
            <a:r>
              <a:rPr lang="en-GB" dirty="0" smtClean="0"/>
              <a:t>the </a:t>
            </a:r>
            <a:r>
              <a:rPr lang="en-GB" dirty="0"/>
              <a:t>women </a:t>
            </a:r>
            <a:r>
              <a:rPr lang="en-GB" dirty="0" smtClean="0"/>
              <a:t>of the believers to </a:t>
            </a:r>
            <a:r>
              <a:rPr lang="en-GB" dirty="0"/>
              <a:t>draw </a:t>
            </a:r>
            <a:r>
              <a:rPr lang="en-GB" dirty="0" smtClean="0"/>
              <a:t>their cloaks</a:t>
            </a:r>
            <a:endParaRPr lang="en-GB" dirty="0"/>
          </a:p>
          <a:p>
            <a:pPr marL="0" indent="0" algn="ctr">
              <a:buNone/>
            </a:pPr>
            <a:r>
              <a:rPr lang="en-GB" dirty="0" smtClean="0"/>
              <a:t>all </a:t>
            </a:r>
            <a:r>
              <a:rPr lang="en-GB" dirty="0"/>
              <a:t>over </a:t>
            </a:r>
            <a:r>
              <a:rPr lang="en-GB" dirty="0" smtClean="0"/>
              <a:t>their bodies </a:t>
            </a:r>
            <a:r>
              <a:rPr lang="en-GB" sz="1800" dirty="0" smtClean="0"/>
              <a:t>(i.e. screen themselves completely except</a:t>
            </a:r>
            <a:r>
              <a:rPr lang="en-GB" sz="1800" dirty="0"/>
              <a:t> </a:t>
            </a:r>
            <a:r>
              <a:rPr lang="en-GB" sz="1800" dirty="0" smtClean="0"/>
              <a:t>the </a:t>
            </a:r>
            <a:r>
              <a:rPr lang="en-GB" sz="1800" dirty="0"/>
              <a:t>eyes </a:t>
            </a:r>
            <a:r>
              <a:rPr lang="en-GB" sz="1800" dirty="0" smtClean="0"/>
              <a:t>to </a:t>
            </a:r>
            <a:r>
              <a:rPr lang="en-GB" sz="1800" dirty="0"/>
              <a:t>see </a:t>
            </a:r>
            <a:r>
              <a:rPr lang="en-GB" sz="1800" dirty="0" smtClean="0"/>
              <a:t>the </a:t>
            </a:r>
            <a:r>
              <a:rPr lang="en-GB" sz="1800" dirty="0"/>
              <a:t>way</a:t>
            </a:r>
            <a:r>
              <a:rPr lang="en-GB" sz="1800" dirty="0" smtClean="0"/>
              <a:t>). </a:t>
            </a:r>
            <a:r>
              <a:rPr lang="en-GB" dirty="0" smtClean="0"/>
              <a:t>That will </a:t>
            </a:r>
            <a:r>
              <a:rPr lang="en-GB" dirty="0"/>
              <a:t>be </a:t>
            </a:r>
            <a:r>
              <a:rPr lang="en-GB" dirty="0" smtClean="0"/>
              <a:t>better, that they should </a:t>
            </a:r>
            <a:r>
              <a:rPr lang="en-GB" dirty="0"/>
              <a:t>be known </a:t>
            </a:r>
            <a:r>
              <a:rPr lang="en-GB" sz="1800" dirty="0"/>
              <a:t>(as free respectable women</a:t>
            </a:r>
            <a:r>
              <a:rPr lang="en-GB" dirty="0"/>
              <a:t>) so as </a:t>
            </a:r>
            <a:r>
              <a:rPr lang="en-GB" dirty="0" smtClean="0"/>
              <a:t>not to</a:t>
            </a:r>
            <a:r>
              <a:rPr lang="en-GB" dirty="0"/>
              <a:t> </a:t>
            </a:r>
            <a:r>
              <a:rPr lang="en-GB" dirty="0" smtClean="0"/>
              <a:t>be </a:t>
            </a:r>
            <a:r>
              <a:rPr lang="en-GB" dirty="0"/>
              <a:t>annoyed”</a:t>
            </a:r>
          </a:p>
          <a:p>
            <a:pPr marL="0" indent="0" algn="ctr">
              <a:buNone/>
            </a:pPr>
            <a:r>
              <a:rPr lang="en-GB" sz="1800" b="1" dirty="0" smtClean="0">
                <a:solidFill>
                  <a:srgbClr val="C00000"/>
                </a:solidFill>
              </a:rPr>
              <a:t>(</a:t>
            </a:r>
            <a:r>
              <a:rPr lang="en-GB" sz="1800" b="1" dirty="0">
                <a:solidFill>
                  <a:srgbClr val="C00000"/>
                </a:solidFill>
              </a:rPr>
              <a:t>Surah </a:t>
            </a:r>
            <a:r>
              <a:rPr lang="en-GB" sz="1800" b="1" dirty="0" smtClean="0">
                <a:solidFill>
                  <a:srgbClr val="C00000"/>
                </a:solidFill>
              </a:rPr>
              <a:t>Al-Ahzaab </a:t>
            </a:r>
            <a:r>
              <a:rPr lang="en-GB" sz="1800" b="1" dirty="0">
                <a:solidFill>
                  <a:srgbClr val="C00000"/>
                </a:solidFill>
              </a:rPr>
              <a:t>Ayah 59</a:t>
            </a:r>
            <a:r>
              <a:rPr lang="en-GB" sz="1800" b="1" dirty="0" smtClean="0">
                <a:solidFill>
                  <a:srgbClr val="C00000"/>
                </a:solidFill>
              </a:rPr>
              <a:t>)</a:t>
            </a:r>
          </a:p>
          <a:p>
            <a:pPr marL="0" indent="0" algn="ctr">
              <a:buNone/>
            </a:pPr>
            <a:endParaRPr lang="en-GB" sz="1800" b="1" dirty="0">
              <a:solidFill>
                <a:schemeClr val="bg2"/>
              </a:solidFill>
            </a:endParaRPr>
          </a:p>
          <a:p>
            <a:pPr marL="0" indent="0" algn="ctr">
              <a:buNone/>
            </a:pPr>
            <a:r>
              <a:rPr lang="en-GB" dirty="0" smtClean="0"/>
              <a:t>“</a:t>
            </a:r>
            <a:r>
              <a:rPr lang="en-US" dirty="0"/>
              <a:t>O you who believe! Enter not the Prophet's houses, unless permission is given to </a:t>
            </a:r>
            <a:r>
              <a:rPr lang="en-US" dirty="0" smtClean="0"/>
              <a:t>you… And </a:t>
            </a:r>
            <a:r>
              <a:rPr lang="en-US" dirty="0"/>
              <a:t>when you ask </a:t>
            </a:r>
            <a:r>
              <a:rPr lang="en-US" dirty="0" smtClean="0"/>
              <a:t>(Prophet’s </a:t>
            </a:r>
            <a:r>
              <a:rPr lang="en-US" dirty="0"/>
              <a:t>wives) for anything you want, ask them from behind a screen, that is purer for your hearts and for their hearts. </a:t>
            </a:r>
            <a:r>
              <a:rPr lang="en-GB" dirty="0" smtClean="0"/>
              <a:t>“</a:t>
            </a:r>
          </a:p>
          <a:p>
            <a:pPr marL="0" indent="0" algn="ctr">
              <a:buNone/>
            </a:pPr>
            <a:r>
              <a:rPr lang="en-GB" sz="1800" b="1" dirty="0" smtClean="0">
                <a:solidFill>
                  <a:srgbClr val="C00000"/>
                </a:solidFill>
              </a:rPr>
              <a:t> (Surah Al-Ahzaab Ayah 53)</a:t>
            </a:r>
            <a:r>
              <a:rPr lang="en-GB" sz="1800" b="1" dirty="0">
                <a:solidFill>
                  <a:srgbClr val="C00000"/>
                </a:solidFill>
              </a:rPr>
              <a:t> 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943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INJUNCTIONS OF HIJAB IN </a:t>
            </a:r>
            <a:r>
              <a:rPr lang="en-US" u="sng" dirty="0" smtClean="0"/>
              <a:t>HADITH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Hazrat Umme Salamah (R.A) narrates that once Hazrat Maimoona (R.A) and I were in the presence of the Holy Prophet </a:t>
            </a:r>
            <a:r>
              <a:rPr lang="en-US" dirty="0"/>
              <a:t>(S.A.W.) </a:t>
            </a:r>
            <a:r>
              <a:rPr lang="en-GB" dirty="0" smtClean="0"/>
              <a:t>when (a blind companion) Hazrat </a:t>
            </a:r>
            <a:r>
              <a:rPr lang="en-GB" dirty="0"/>
              <a:t>Abdullah Ibne Umme Maktoom (R.A) arrived. As he was blind it never occured to us that it was necessary to observe hijaab, therefore we remained seated. The Holy Prophet </a:t>
            </a:r>
            <a:r>
              <a:rPr lang="en-US" dirty="0"/>
              <a:t>(S.A.W.)</a:t>
            </a:r>
            <a:r>
              <a:rPr lang="en-GB" dirty="0" smtClean="0"/>
              <a:t> </a:t>
            </a:r>
            <a:r>
              <a:rPr lang="en-GB" dirty="0"/>
              <a:t>ordered us to observe hijaab. I replied "Oh Prophet of </a:t>
            </a:r>
            <a:r>
              <a:rPr lang="en-GB" dirty="0" smtClean="0"/>
              <a:t>Allah! </a:t>
            </a:r>
            <a:r>
              <a:rPr lang="en-GB" dirty="0"/>
              <a:t>he is unable to see us." Upon hearing </a:t>
            </a:r>
            <a:r>
              <a:rPr lang="en-GB" dirty="0" smtClean="0"/>
              <a:t>this, </a:t>
            </a:r>
            <a:r>
              <a:rPr lang="en-GB" dirty="0"/>
              <a:t>the Holy Prophet </a:t>
            </a:r>
            <a:r>
              <a:rPr lang="en-US" dirty="0"/>
              <a:t>(S.A.W.) </a:t>
            </a:r>
            <a:r>
              <a:rPr lang="en-GB" dirty="0" smtClean="0"/>
              <a:t>said</a:t>
            </a:r>
            <a:r>
              <a:rPr lang="en-GB" dirty="0"/>
              <a:t>, </a:t>
            </a:r>
            <a:r>
              <a:rPr lang="en-GB" b="1" dirty="0"/>
              <a:t>"Are you both also blind? Are you not casting your sight upon him?"</a:t>
            </a:r>
            <a:r>
              <a:rPr lang="en-GB" dirty="0"/>
              <a:t> </a:t>
            </a:r>
            <a:endParaRPr lang="en-GB" dirty="0" smtClean="0"/>
          </a:p>
          <a:p>
            <a:pPr marL="0" indent="0" algn="ctr">
              <a:buNone/>
            </a:pPr>
            <a:r>
              <a:rPr lang="en-GB" sz="1800" dirty="0" smtClean="0">
                <a:solidFill>
                  <a:srgbClr val="C00000"/>
                </a:solidFill>
              </a:rPr>
              <a:t>(</a:t>
            </a:r>
            <a:r>
              <a:rPr lang="en-GB" sz="1800" dirty="0">
                <a:solidFill>
                  <a:srgbClr val="C00000"/>
                </a:solidFill>
              </a:rPr>
              <a:t>Mishkaat, Tirmizi and Abu Dawood) 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444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ctr"/>
            <a:r>
              <a:rPr lang="en-US" dirty="0" smtClean="0"/>
              <a:t>SOME ABOUT HIJAB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Autofit/>
          </a:bodyPr>
          <a:lstStyle/>
          <a:p>
            <a:r>
              <a:rPr lang="en-GB" sz="1800" dirty="0"/>
              <a:t>The actual date of the revelation governing </a:t>
            </a:r>
            <a:r>
              <a:rPr lang="en-GB" sz="1800" dirty="0" smtClean="0"/>
              <a:t>Hijab </a:t>
            </a:r>
            <a:r>
              <a:rPr lang="en-GB" sz="1800" dirty="0"/>
              <a:t>is one of differing </a:t>
            </a:r>
            <a:r>
              <a:rPr lang="en-GB" sz="1800" dirty="0" smtClean="0"/>
              <a:t>opinions. However</a:t>
            </a:r>
            <a:r>
              <a:rPr lang="en-GB" sz="1800" dirty="0"/>
              <a:t>, Hijaab was ordained as compulsory within </a:t>
            </a:r>
            <a:r>
              <a:rPr lang="en-GB" sz="1800" b="1" dirty="0" smtClean="0"/>
              <a:t>3.A.H.</a:t>
            </a:r>
            <a:r>
              <a:rPr lang="en-GB" sz="1800" dirty="0" smtClean="0"/>
              <a:t> </a:t>
            </a:r>
            <a:r>
              <a:rPr lang="en-GB" sz="1800" dirty="0"/>
              <a:t>or </a:t>
            </a:r>
            <a:r>
              <a:rPr lang="en-GB" sz="1800" b="1" dirty="0"/>
              <a:t>5.A.H. </a:t>
            </a:r>
            <a:endParaRPr lang="en-GB" sz="1800" b="1" dirty="0" smtClean="0"/>
          </a:p>
          <a:p>
            <a:r>
              <a:rPr lang="en-GB" sz="1800" dirty="0" err="1" smtClean="0"/>
              <a:t>Hazrat</a:t>
            </a:r>
            <a:r>
              <a:rPr lang="en-GB" sz="1800" dirty="0" smtClean="0"/>
              <a:t> </a:t>
            </a:r>
            <a:r>
              <a:rPr lang="en-GB" sz="1800" dirty="0" err="1" smtClean="0"/>
              <a:t>Umar</a:t>
            </a:r>
            <a:r>
              <a:rPr lang="en-GB" sz="1800" dirty="0" smtClean="0"/>
              <a:t> (R.A) once suggested to the Holy Prophet </a:t>
            </a:r>
            <a:r>
              <a:rPr lang="en-US" sz="1800" dirty="0" smtClean="0"/>
              <a:t>(S.A.W.) </a:t>
            </a:r>
            <a:r>
              <a:rPr lang="en-GB" sz="1800" dirty="0" smtClean="0"/>
              <a:t>that the wives of the Prophet </a:t>
            </a:r>
            <a:r>
              <a:rPr lang="en-US" sz="1800" dirty="0" smtClean="0"/>
              <a:t>(S.A.W.) </a:t>
            </a:r>
            <a:r>
              <a:rPr lang="en-GB" sz="1800" dirty="0" smtClean="0"/>
              <a:t>should observe the veil as many differing persons of differing manners and natures visit the houses of the Prophet </a:t>
            </a:r>
            <a:r>
              <a:rPr lang="en-US" sz="1800" dirty="0" smtClean="0"/>
              <a:t>(S.A.W.) </a:t>
            </a:r>
            <a:r>
              <a:rPr lang="en-GB" sz="1800" dirty="0" smtClean="0"/>
              <a:t>The Holy Prophet </a:t>
            </a:r>
            <a:r>
              <a:rPr lang="en-US" sz="1800" dirty="0" smtClean="0"/>
              <a:t>(S.A.W.) </a:t>
            </a:r>
            <a:r>
              <a:rPr lang="en-GB" sz="1800" dirty="0" smtClean="0"/>
              <a:t>himself found this a desirable suggestion. However, he was unable to turn the suggestion into a practicality as the Prophet </a:t>
            </a:r>
            <a:r>
              <a:rPr lang="en-US" sz="1800" dirty="0" smtClean="0"/>
              <a:t>(S.A.W.) </a:t>
            </a:r>
            <a:r>
              <a:rPr lang="en-GB" sz="1800" dirty="0" smtClean="0"/>
              <a:t>was in wait of divine revelation. Shortly afterwards the revelations of </a:t>
            </a:r>
            <a:r>
              <a:rPr lang="en-GB" sz="1800" dirty="0" err="1" smtClean="0"/>
              <a:t>Hijaab</a:t>
            </a:r>
            <a:r>
              <a:rPr lang="en-GB" sz="1800" dirty="0" smtClean="0"/>
              <a:t> were revealed successively.</a:t>
            </a:r>
          </a:p>
          <a:p>
            <a:endParaRPr lang="en-US" sz="1800" dirty="0"/>
          </a:p>
          <a:p>
            <a:r>
              <a:rPr lang="en-GB" sz="1800" dirty="0"/>
              <a:t>The Holy Quran contains </a:t>
            </a:r>
            <a:r>
              <a:rPr lang="en-GB" sz="1800" b="1" dirty="0">
                <a:solidFill>
                  <a:srgbClr val="C00000"/>
                </a:solidFill>
              </a:rPr>
              <a:t>7 verses </a:t>
            </a:r>
            <a:r>
              <a:rPr lang="en-GB" sz="1800" dirty="0"/>
              <a:t>altogether concerning Hijaab, 3 of these are featured within Surah Noor and 4 in Surah Ahzaab. From amongst the 7 Quranic verses, scholars are unanimous upon the fact that the verses within Surah </a:t>
            </a:r>
            <a:r>
              <a:rPr lang="en-GB" sz="1800" dirty="0" err="1"/>
              <a:t>Ahzaab</a:t>
            </a:r>
            <a:r>
              <a:rPr lang="en-GB" sz="1800" dirty="0"/>
              <a:t> were revealed before those of Surah Noor. </a:t>
            </a:r>
            <a:endParaRPr lang="en-GB" sz="1800" dirty="0" smtClean="0"/>
          </a:p>
          <a:p>
            <a:r>
              <a:rPr lang="en-GB" sz="1800" dirty="0" smtClean="0"/>
              <a:t>There </a:t>
            </a:r>
            <a:r>
              <a:rPr lang="en-GB" sz="1800" dirty="0"/>
              <a:t>are more than </a:t>
            </a:r>
            <a:r>
              <a:rPr lang="en-GB" sz="1800" b="1" dirty="0">
                <a:solidFill>
                  <a:srgbClr val="C00000"/>
                </a:solidFill>
              </a:rPr>
              <a:t>70 </a:t>
            </a:r>
            <a:r>
              <a:rPr lang="en-GB" sz="1800" b="1" dirty="0" smtClean="0">
                <a:solidFill>
                  <a:srgbClr val="C00000"/>
                </a:solidFill>
              </a:rPr>
              <a:t>Ahadith</a:t>
            </a:r>
            <a:r>
              <a:rPr lang="en-GB" sz="1800" b="1" dirty="0" smtClean="0">
                <a:solidFill>
                  <a:schemeClr val="bg2"/>
                </a:solidFill>
              </a:rPr>
              <a:t> </a:t>
            </a:r>
            <a:r>
              <a:rPr lang="en-GB" sz="1800" dirty="0"/>
              <a:t>which are concerned with matters regarding Hijaab. </a:t>
            </a:r>
          </a:p>
          <a:p>
            <a:r>
              <a:rPr lang="en-GB" sz="1800" dirty="0"/>
              <a:t> 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280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HADITH STATEMENT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 smtClean="0"/>
              <a:t>TRANSLATION</a:t>
            </a:r>
          </a:p>
          <a:p>
            <a:pPr marL="0" indent="0" algn="ctr">
              <a:buNone/>
            </a:pPr>
            <a:r>
              <a:rPr lang="ar-SA" b="1" dirty="0"/>
              <a:t>العينان تزنيان وزناهما النظر واليدان تزنيان وزناهما البطش والرجلان تزنيان وزناهما المشي و زنا اللسان المنطق</a:t>
            </a:r>
            <a:r>
              <a:rPr lang="en-US" b="1" dirty="0"/>
              <a:t> </a:t>
            </a:r>
            <a:endParaRPr lang="en-GB" b="1" dirty="0" smtClean="0"/>
          </a:p>
          <a:p>
            <a:pPr marL="0" indent="0" algn="ctr">
              <a:buNone/>
            </a:pPr>
            <a:endParaRPr lang="en-GB" b="1" dirty="0"/>
          </a:p>
          <a:p>
            <a:pPr marL="0" indent="0" algn="ctr">
              <a:buNone/>
            </a:pPr>
            <a:r>
              <a:rPr lang="en-GB" dirty="0"/>
              <a:t>“Eyes commit fornication and their fornication is to watch</a:t>
            </a:r>
          </a:p>
          <a:p>
            <a:pPr marL="0" indent="0" algn="ctr">
              <a:buNone/>
            </a:pPr>
            <a:r>
              <a:rPr lang="en-GB" dirty="0"/>
              <a:t>(with lust), hands also fornicate and their fornication is to</a:t>
            </a:r>
          </a:p>
          <a:p>
            <a:pPr marL="0" indent="0" algn="ctr">
              <a:buNone/>
            </a:pPr>
            <a:r>
              <a:rPr lang="en-GB" dirty="0"/>
              <a:t>catch (some unlawful thing with lust), </a:t>
            </a:r>
            <a:r>
              <a:rPr lang="en-GB" dirty="0" smtClean="0"/>
              <a:t>feet </a:t>
            </a:r>
            <a:r>
              <a:rPr lang="en-GB" dirty="0"/>
              <a:t>also do</a:t>
            </a:r>
          </a:p>
          <a:p>
            <a:pPr marL="0" indent="0" algn="ctr">
              <a:buNone/>
            </a:pPr>
            <a:r>
              <a:rPr lang="en-GB" dirty="0"/>
              <a:t>fornication and their fornication is to walk (towards wrong</a:t>
            </a:r>
          </a:p>
          <a:p>
            <a:pPr marL="0" indent="0" algn="ctr">
              <a:buNone/>
            </a:pPr>
            <a:r>
              <a:rPr lang="en-GB" dirty="0"/>
              <a:t>direction with lust) and fornication of tongue is to talk</a:t>
            </a:r>
          </a:p>
          <a:p>
            <a:pPr marL="0" indent="0" algn="ctr">
              <a:buNone/>
            </a:pPr>
            <a:r>
              <a:rPr lang="en-GB" dirty="0"/>
              <a:t>(vulgarly)”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659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/>
              <a:t>DEFINITION OF “HUDOOD”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/>
              <a:t>“</a:t>
            </a:r>
            <a:r>
              <a:rPr lang="en-GB" dirty="0"/>
              <a:t>HUDOOD” </a:t>
            </a:r>
            <a:r>
              <a:rPr lang="en-GB" dirty="0" smtClean="0"/>
              <a:t>is plural of </a:t>
            </a:r>
            <a:r>
              <a:rPr lang="en-GB" dirty="0">
                <a:solidFill>
                  <a:srgbClr val="C00000"/>
                </a:solidFill>
              </a:rPr>
              <a:t>“HAD” </a:t>
            </a:r>
            <a:r>
              <a:rPr lang="en-GB" dirty="0" smtClean="0"/>
              <a:t>which </a:t>
            </a:r>
            <a:r>
              <a:rPr lang="en-GB" dirty="0"/>
              <a:t>means</a:t>
            </a:r>
            <a:r>
              <a:rPr lang="en-GB" dirty="0" smtClean="0"/>
              <a:t>:</a:t>
            </a: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“Any </a:t>
            </a:r>
            <a:r>
              <a:rPr lang="en-GB" dirty="0" smtClean="0"/>
              <a:t>punishment which Allah the Almighty Himself has</a:t>
            </a:r>
            <a:endParaRPr lang="en-GB" dirty="0"/>
          </a:p>
          <a:p>
            <a:pPr marL="0" indent="0" algn="ctr">
              <a:buNone/>
            </a:pPr>
            <a:r>
              <a:rPr lang="en-GB" dirty="0" smtClean="0"/>
              <a:t>stated in the Holy </a:t>
            </a:r>
            <a:r>
              <a:rPr lang="en-GB" dirty="0"/>
              <a:t>Quran and </a:t>
            </a:r>
            <a:r>
              <a:rPr lang="en-GB" dirty="0" smtClean="0"/>
              <a:t>did not leave it upto </a:t>
            </a:r>
            <a:r>
              <a:rPr lang="en-GB" dirty="0"/>
              <a:t>humans</a:t>
            </a:r>
            <a:r>
              <a:rPr lang="en-GB" dirty="0" smtClean="0"/>
              <a:t>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FORNICATION </a:t>
            </a:r>
            <a:r>
              <a:rPr lang="en-GB" dirty="0" smtClean="0"/>
              <a:t>has </a:t>
            </a:r>
            <a:r>
              <a:rPr lang="en-GB" dirty="0"/>
              <a:t>a HAD </a:t>
            </a:r>
            <a:r>
              <a:rPr lang="en-GB" dirty="0" smtClean="0"/>
              <a:t>which is clearly described</a:t>
            </a:r>
            <a:endParaRPr lang="en-GB" dirty="0"/>
          </a:p>
          <a:p>
            <a:pPr marL="0" indent="0" algn="ctr">
              <a:buNone/>
            </a:pPr>
            <a:r>
              <a:rPr lang="en-GB" dirty="0"/>
              <a:t>by </a:t>
            </a:r>
            <a:r>
              <a:rPr lang="en-GB" dirty="0" smtClean="0"/>
              <a:t>Allah in Holy </a:t>
            </a:r>
            <a:r>
              <a:rPr lang="en-GB" dirty="0"/>
              <a:t>Quran and </a:t>
            </a:r>
            <a:r>
              <a:rPr lang="en-GB" dirty="0" smtClean="0"/>
              <a:t>in Old Testament </a:t>
            </a:r>
            <a:r>
              <a:rPr lang="en-GB" dirty="0"/>
              <a:t>as</a:t>
            </a:r>
          </a:p>
          <a:p>
            <a:pPr marL="0" indent="0" algn="ctr">
              <a:buNone/>
            </a:pPr>
            <a:r>
              <a:rPr lang="en-GB" dirty="0" smtClean="0"/>
              <a:t>well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140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/>
              <a:t>KINDS OF FORNICATION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(1) </a:t>
            </a:r>
            <a:r>
              <a:rPr lang="en-GB" b="1" dirty="0"/>
              <a:t>EXTRA-MARITAL SEX </a:t>
            </a:r>
            <a:r>
              <a:rPr lang="en-GB" dirty="0"/>
              <a:t>occurs when a </a:t>
            </a:r>
            <a:r>
              <a:rPr lang="en-GB" dirty="0" smtClean="0"/>
              <a:t>married</a:t>
            </a:r>
            <a:endParaRPr lang="en-GB" dirty="0"/>
          </a:p>
          <a:p>
            <a:pPr marL="0" indent="0" algn="ctr">
              <a:buNone/>
            </a:pPr>
            <a:r>
              <a:rPr lang="en-GB" dirty="0"/>
              <a:t>person engages </a:t>
            </a:r>
            <a:r>
              <a:rPr lang="en-GB" dirty="0" smtClean="0"/>
              <a:t>in sexual activity with </a:t>
            </a:r>
            <a:r>
              <a:rPr lang="en-GB" dirty="0"/>
              <a:t>someone</a:t>
            </a:r>
          </a:p>
          <a:p>
            <a:pPr marL="0" indent="0" algn="ctr">
              <a:buNone/>
            </a:pPr>
            <a:r>
              <a:rPr lang="en-GB" dirty="0" smtClean="0"/>
              <a:t>other than his </a:t>
            </a:r>
            <a:r>
              <a:rPr lang="en-GB" dirty="0"/>
              <a:t>or her </a:t>
            </a:r>
            <a:r>
              <a:rPr lang="en-GB" dirty="0" smtClean="0"/>
              <a:t>marriage partner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(2) </a:t>
            </a:r>
            <a:r>
              <a:rPr lang="en-GB" b="1" dirty="0"/>
              <a:t>PRE-MARITAL SEX </a:t>
            </a:r>
            <a:r>
              <a:rPr lang="en-GB" dirty="0" smtClean="0"/>
              <a:t>(also called non-marital</a:t>
            </a:r>
            <a:endParaRPr lang="en-GB" dirty="0"/>
          </a:p>
          <a:p>
            <a:pPr marL="0" indent="0" algn="ctr">
              <a:buNone/>
            </a:pPr>
            <a:r>
              <a:rPr lang="en-GB" dirty="0"/>
              <a:t>sex) </a:t>
            </a:r>
            <a:r>
              <a:rPr lang="en-GB" dirty="0" smtClean="0"/>
              <a:t>is sexual activity, practiced </a:t>
            </a:r>
            <a:r>
              <a:rPr lang="en-GB" dirty="0"/>
              <a:t>by persons who</a:t>
            </a:r>
          </a:p>
          <a:p>
            <a:pPr marL="0" indent="0" algn="ctr">
              <a:buNone/>
            </a:pPr>
            <a:r>
              <a:rPr lang="en-GB" dirty="0"/>
              <a:t>are </a:t>
            </a:r>
            <a:r>
              <a:rPr lang="en-GB" dirty="0" smtClean="0"/>
              <a:t>unmaried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86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PUNISHMENT (1)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/>
              <a:t>(</a:t>
            </a:r>
            <a:r>
              <a:rPr lang="en-GB" dirty="0"/>
              <a:t>1) In case of PRE-MARITAL SEX</a:t>
            </a:r>
            <a:r>
              <a:rPr lang="en-GB" dirty="0" smtClean="0"/>
              <a:t>, </a:t>
            </a:r>
            <a:r>
              <a:rPr lang="en-GB" dirty="0"/>
              <a:t>fornicator man and</a:t>
            </a:r>
          </a:p>
          <a:p>
            <a:pPr marL="0" indent="0">
              <a:buNone/>
            </a:pPr>
            <a:r>
              <a:rPr lang="en-GB" dirty="0" smtClean="0"/>
              <a:t>woman </a:t>
            </a:r>
            <a:r>
              <a:rPr lang="en-GB" dirty="0"/>
              <a:t>will be flogged </a:t>
            </a:r>
            <a:r>
              <a:rPr lang="en-GB" b="1" dirty="0">
                <a:solidFill>
                  <a:srgbClr val="C00000"/>
                </a:solidFill>
              </a:rPr>
              <a:t>100 LASHES </a:t>
            </a:r>
            <a:r>
              <a:rPr lang="en-GB" dirty="0"/>
              <a:t>each (if both were</a:t>
            </a:r>
          </a:p>
          <a:p>
            <a:pPr marL="0" indent="0">
              <a:buNone/>
            </a:pPr>
            <a:r>
              <a:rPr lang="en-GB" dirty="0"/>
              <a:t>agreed in committing the sin</a:t>
            </a:r>
            <a:r>
              <a:rPr lang="en-GB" dirty="0" smtClean="0"/>
              <a:t>)</a:t>
            </a: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b="1" dirty="0"/>
              <a:t>STATEMENT OF QURAN</a:t>
            </a:r>
          </a:p>
          <a:p>
            <a:pPr marL="0" indent="0" algn="ctr">
              <a:buNone/>
            </a:pPr>
            <a:r>
              <a:rPr lang="en-GB" dirty="0"/>
              <a:t>“The (unmarried) woman and the man guilty of illegal </a:t>
            </a:r>
            <a:r>
              <a:rPr lang="en-GB" dirty="0" smtClean="0"/>
              <a:t>sexual intercourse</a:t>
            </a:r>
            <a:r>
              <a:rPr lang="en-GB" dirty="0"/>
              <a:t>, flog each of them with a </a:t>
            </a:r>
            <a:r>
              <a:rPr lang="en-GB" b="1" dirty="0" smtClean="0">
                <a:solidFill>
                  <a:srgbClr val="C00000"/>
                </a:solidFill>
              </a:rPr>
              <a:t>HUNDRED STRIPES</a:t>
            </a:r>
            <a:r>
              <a:rPr lang="en-GB" dirty="0" smtClean="0"/>
              <a:t>. Let not </a:t>
            </a:r>
            <a:r>
              <a:rPr lang="en-GB" dirty="0"/>
              <a:t>pity withhold you in their case, in a </a:t>
            </a:r>
            <a:r>
              <a:rPr lang="en-GB" dirty="0" smtClean="0"/>
              <a:t>punishment prescribed </a:t>
            </a:r>
            <a:r>
              <a:rPr lang="en-GB" dirty="0"/>
              <a:t>by Allah”</a:t>
            </a:r>
          </a:p>
          <a:p>
            <a:pPr marL="0" indent="0" algn="ctr">
              <a:buNone/>
            </a:pPr>
            <a:r>
              <a:rPr lang="en-GB" sz="1800" dirty="0"/>
              <a:t>(Surah An-Noor Ayah 2)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414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PUNISHMENT </a:t>
            </a:r>
            <a:r>
              <a:rPr lang="en-US" dirty="0" smtClean="0"/>
              <a:t>(2)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 smtClean="0"/>
              <a:t>(</a:t>
            </a:r>
            <a:r>
              <a:rPr lang="en-GB" dirty="0"/>
              <a:t>2) </a:t>
            </a:r>
            <a:r>
              <a:rPr lang="en-GB" dirty="0" smtClean="0"/>
              <a:t>The Had/ punishment of EXTRA-MARITAL SEX is </a:t>
            </a:r>
            <a:r>
              <a:rPr lang="en-GB" b="1" dirty="0" smtClean="0"/>
              <a:t>Lapidation</a:t>
            </a:r>
            <a:r>
              <a:rPr lang="en-GB" dirty="0" smtClean="0"/>
              <a:t> (</a:t>
            </a:r>
            <a:r>
              <a:rPr lang="ar-SA" dirty="0" smtClean="0"/>
              <a:t>الرجم</a:t>
            </a:r>
            <a:r>
              <a:rPr lang="en-US" dirty="0" smtClean="0"/>
              <a:t>). It means that </a:t>
            </a:r>
            <a:r>
              <a:rPr lang="en-GB" dirty="0" smtClean="0"/>
              <a:t>adulterer </a:t>
            </a:r>
            <a:r>
              <a:rPr lang="en-GB" dirty="0"/>
              <a:t>man and</a:t>
            </a:r>
          </a:p>
          <a:p>
            <a:pPr marL="0" indent="0">
              <a:buNone/>
            </a:pPr>
            <a:r>
              <a:rPr lang="en-GB" dirty="0"/>
              <a:t>adulteress </a:t>
            </a:r>
            <a:r>
              <a:rPr lang="en-GB" dirty="0" smtClean="0"/>
              <a:t>woman </a:t>
            </a:r>
            <a:r>
              <a:rPr lang="en-GB" dirty="0"/>
              <a:t>will be stoned to death (if both were</a:t>
            </a:r>
          </a:p>
          <a:p>
            <a:pPr marL="0" indent="0">
              <a:buNone/>
            </a:pPr>
            <a:r>
              <a:rPr lang="en-GB" dirty="0"/>
              <a:t>agreed in committing the sin)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  <a:p>
            <a:pPr marL="533400" indent="-533400" algn="ctr">
              <a:buFont typeface="Wingdings" panose="05000000000000000000" pitchFamily="2" charset="2"/>
              <a:buNone/>
            </a:pPr>
            <a:r>
              <a:rPr lang="en-US" b="1" u="sng" dirty="0"/>
              <a:t>STATEMENT OF HADITH</a:t>
            </a:r>
          </a:p>
          <a:p>
            <a:pPr marL="533400" indent="-533400" algn="ctr">
              <a:buFont typeface="Wingdings" panose="05000000000000000000" pitchFamily="2" charset="2"/>
              <a:buNone/>
            </a:pPr>
            <a:r>
              <a:rPr lang="ar-SA" dirty="0"/>
              <a:t>خذوا عني خذوا عني قد جعل الله لهن سبيلا البكر بالبكر جلد مائة ونفي سنة والثيب بالثيب جلد مائة والرجم</a:t>
            </a:r>
            <a:endParaRPr lang="en-US" dirty="0"/>
          </a:p>
          <a:p>
            <a:pPr marL="533400" indent="-533400" algn="ctr">
              <a:buFont typeface="Wingdings" panose="05000000000000000000" pitchFamily="2" charset="2"/>
              <a:buNone/>
            </a:pPr>
            <a:r>
              <a:rPr lang="en-US" dirty="0"/>
              <a:t>“Take from me, take from me, Allah has made a way for them (fornicator women), for Virgin fornicator one hundred lashes and exile for one year, and previously married hundred lashes and stoning to death“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505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>CONDITIONS OBSEREVED FOR PUNISHMENT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/>
              <a:t>To prove the penalty of stoning to death </a:t>
            </a:r>
            <a:r>
              <a:rPr lang="en-GB" dirty="0"/>
              <a:t>very </a:t>
            </a:r>
            <a:r>
              <a:rPr lang="en-GB" dirty="0" smtClean="0"/>
              <a:t>strict conditions are imposed:</a:t>
            </a:r>
          </a:p>
          <a:p>
            <a:pPr marL="0" indent="0">
              <a:buNone/>
            </a:pPr>
            <a:endParaRPr lang="en-GB" dirty="0" smtClean="0"/>
          </a:p>
          <a:p>
            <a:pPr algn="ctr">
              <a:buFont typeface="Wingdings" pitchFamily="2" charset="2"/>
              <a:buChar char="Ø"/>
            </a:pPr>
            <a:r>
              <a:rPr lang="en-US" dirty="0" smtClean="0"/>
              <a:t>Confession</a:t>
            </a:r>
          </a:p>
          <a:p>
            <a:pPr algn="ctr">
              <a:buFont typeface="Wingdings" pitchFamily="2" charset="2"/>
              <a:buChar char="Ø"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OR</a:t>
            </a:r>
          </a:p>
          <a:p>
            <a:pPr marL="0" indent="0" algn="ctr">
              <a:buNone/>
            </a:pPr>
            <a:endParaRPr lang="en-GB" dirty="0"/>
          </a:p>
          <a:p>
            <a:pPr algn="ctr">
              <a:buFont typeface="Wingdings" pitchFamily="2" charset="2"/>
              <a:buChar char="Ø"/>
            </a:pPr>
            <a:r>
              <a:rPr lang="en-GB" dirty="0"/>
              <a:t>“</a:t>
            </a:r>
            <a:r>
              <a:rPr lang="en-GB" b="1" dirty="0">
                <a:solidFill>
                  <a:srgbClr val="C00000"/>
                </a:solidFill>
              </a:rPr>
              <a:t>Four eye </a:t>
            </a:r>
            <a:r>
              <a:rPr lang="en-GB" b="1" dirty="0" smtClean="0">
                <a:solidFill>
                  <a:srgbClr val="C00000"/>
                </a:solidFill>
              </a:rPr>
              <a:t>witnes </a:t>
            </a:r>
            <a:r>
              <a:rPr lang="en-GB" b="1" dirty="0">
                <a:solidFill>
                  <a:srgbClr val="C00000"/>
                </a:solidFill>
              </a:rPr>
              <a:t>men </a:t>
            </a:r>
            <a:r>
              <a:rPr lang="en-GB" dirty="0"/>
              <a:t>who are </a:t>
            </a:r>
            <a:r>
              <a:rPr lang="en-GB" dirty="0" smtClean="0"/>
              <a:t>pious </a:t>
            </a:r>
            <a:r>
              <a:rPr lang="en-GB" dirty="0"/>
              <a:t>and </a:t>
            </a:r>
            <a:r>
              <a:rPr lang="en-GB" dirty="0" smtClean="0"/>
              <a:t>reliable,</a:t>
            </a:r>
            <a:endParaRPr lang="en-GB" dirty="0"/>
          </a:p>
          <a:p>
            <a:pPr marL="0" indent="0" algn="ctr">
              <a:buNone/>
            </a:pPr>
            <a:r>
              <a:rPr lang="en-GB" dirty="0"/>
              <a:t>bear </a:t>
            </a:r>
            <a:r>
              <a:rPr lang="en-GB" dirty="0" smtClean="0"/>
              <a:t>witness that they </a:t>
            </a:r>
            <a:r>
              <a:rPr lang="en-GB" dirty="0"/>
              <a:t>saw </a:t>
            </a:r>
            <a:r>
              <a:rPr lang="en-GB" dirty="0" smtClean="0"/>
              <a:t>adulterer </a:t>
            </a:r>
            <a:r>
              <a:rPr lang="en-GB" dirty="0"/>
              <a:t>man </a:t>
            </a:r>
            <a:r>
              <a:rPr lang="en-GB" dirty="0" smtClean="0"/>
              <a:t>and</a:t>
            </a:r>
            <a:endParaRPr lang="en-GB" dirty="0"/>
          </a:p>
          <a:p>
            <a:pPr marL="0" indent="0" algn="ctr">
              <a:buNone/>
            </a:pPr>
            <a:r>
              <a:rPr lang="en-GB" dirty="0" smtClean="0"/>
              <a:t>adulteress woman commiting this sin</a:t>
            </a:r>
            <a:r>
              <a:rPr lang="en-GB" dirty="0"/>
              <a:t>”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928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AYAH # 33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ar-SA" b="1" dirty="0"/>
              <a:t> وَلَا تَقۡتُلُواْ ٱلنَّفۡسَ ٱلَّتِى حَرَّمَ ٱللَّهُ إِلَّا بِٱلۡحَقِّ‌ۗ وَمَن قُتِلَ مَظۡلُومً۬ا فَقَدۡ جَعَلۡنَا لِوَلِيِّهِۦ سُلۡطَـٰنً۬ا فَلَا يُسۡرِف فِّى ٱلۡقَتۡلِ‌ۖ إِنَّهُ ۥ كَانَ مَنصُورً۬ا </a:t>
            </a:r>
            <a:endParaRPr lang="en-US" b="1" dirty="0" smtClean="0"/>
          </a:p>
          <a:p>
            <a:pPr marL="0" indent="0" algn="ctr">
              <a:buNone/>
            </a:pPr>
            <a:endParaRPr lang="en-US" sz="3600" b="1" dirty="0" smtClean="0"/>
          </a:p>
          <a:p>
            <a:pPr marL="0" indent="0" algn="ctr">
              <a:buNone/>
            </a:pPr>
            <a:r>
              <a:rPr lang="en-US" sz="3600" b="1" dirty="0" smtClean="0"/>
              <a:t>Translation:</a:t>
            </a:r>
          </a:p>
          <a:p>
            <a:pPr marL="0" indent="0" algn="ctr">
              <a:buNone/>
            </a:pPr>
            <a:r>
              <a:rPr lang="en-US" dirty="0" smtClean="0"/>
              <a:t>“And </a:t>
            </a:r>
            <a:r>
              <a:rPr lang="en-US" dirty="0"/>
              <a:t>do not kill anyone whose killing Allâh has forbidden, except for a just cause. And whoever is killed wrongfully </a:t>
            </a:r>
            <a:r>
              <a:rPr lang="en-US" sz="1800" dirty="0" smtClean="0"/>
              <a:t>(intentionally </a:t>
            </a:r>
            <a:r>
              <a:rPr lang="en-US" sz="1800" dirty="0"/>
              <a:t>with hostility and oppression and not by mistake), </a:t>
            </a:r>
            <a:r>
              <a:rPr lang="en-US" dirty="0"/>
              <a:t>We have given his heir the authority </a:t>
            </a:r>
            <a:r>
              <a:rPr lang="en-US" sz="1800" dirty="0"/>
              <a:t>[(to demand Qisâs, Law of Equality in punishment— or to forgive, or to take </a:t>
            </a:r>
            <a:r>
              <a:rPr lang="en-US" sz="1800" i="1" dirty="0" err="1" smtClean="0"/>
              <a:t>Diyyaa</a:t>
            </a:r>
            <a:r>
              <a:rPr lang="en-US" sz="1800" dirty="0" smtClean="0"/>
              <a:t> </a:t>
            </a:r>
            <a:r>
              <a:rPr lang="en-US" sz="1800" dirty="0"/>
              <a:t>(blood - money)]</a:t>
            </a:r>
            <a:r>
              <a:rPr lang="en-US" dirty="0"/>
              <a:t>. But let him not exceed limits in the matter of taking </a:t>
            </a:r>
            <a:r>
              <a:rPr lang="en-US" dirty="0" smtClean="0"/>
              <a:t>life</a:t>
            </a:r>
            <a:r>
              <a:rPr lang="en-US" sz="1800" dirty="0" smtClean="0"/>
              <a:t>. </a:t>
            </a:r>
            <a:r>
              <a:rPr lang="en-US" dirty="0"/>
              <a:t>Verily, he </a:t>
            </a:r>
            <a:r>
              <a:rPr lang="en-US" dirty="0" smtClean="0"/>
              <a:t>is </a:t>
            </a:r>
            <a:r>
              <a:rPr lang="en-US" dirty="0"/>
              <a:t>helped </a:t>
            </a:r>
            <a:r>
              <a:rPr lang="en-US" sz="1800" dirty="0"/>
              <a:t>(by the Islâmic law</a:t>
            </a:r>
            <a:r>
              <a:rPr lang="en-US" sz="1800" dirty="0" smtClean="0"/>
              <a:t>)]”</a:t>
            </a:r>
            <a:endParaRPr lang="en-GB" sz="18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212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MAIN THEME	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GB" sz="4400" dirty="0" smtClean="0"/>
          </a:p>
          <a:p>
            <a:pPr algn="ctr"/>
            <a:r>
              <a:rPr lang="en-GB" sz="4400" dirty="0" smtClean="0"/>
              <a:t>Slaying of every human being, either Muslim or Non-Muslim, is forbidden</a:t>
            </a:r>
            <a:endParaRPr lang="en-GB" sz="4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2424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INTERPRETATION OF A KEY WORD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In Ayah 33, Allah has said that He has forbidden </a:t>
            </a:r>
            <a:r>
              <a:rPr lang="en-US" dirty="0" smtClean="0"/>
              <a:t>killing of every human being, </a:t>
            </a:r>
            <a:r>
              <a:rPr lang="en-US" dirty="0"/>
              <a:t>except for a </a:t>
            </a:r>
            <a:r>
              <a:rPr lang="en-US" dirty="0" smtClean="0"/>
              <a:t>just </a:t>
            </a:r>
            <a:r>
              <a:rPr lang="en-US" dirty="0"/>
              <a:t>cause. </a:t>
            </a:r>
            <a:r>
              <a:rPr lang="en-US" dirty="0" smtClean="0"/>
              <a:t>The word employed by the Holy Quran is </a:t>
            </a:r>
            <a:r>
              <a:rPr lang="ar-SA" b="1" dirty="0" smtClean="0"/>
              <a:t>ٱلۡحَق</a:t>
            </a:r>
            <a:r>
              <a:rPr lang="en-GB" b="1" dirty="0" smtClean="0"/>
              <a:t> </a:t>
            </a:r>
            <a:r>
              <a:rPr lang="en-GB" dirty="0" smtClean="0"/>
              <a:t>which means </a:t>
            </a:r>
            <a:r>
              <a:rPr lang="en-US" b="1" dirty="0" smtClean="0"/>
              <a:t>“</a:t>
            </a:r>
            <a:r>
              <a:rPr lang="en-GB" b="1" dirty="0" smtClean="0"/>
              <a:t>Justified reason”. </a:t>
            </a:r>
          </a:p>
          <a:p>
            <a:endParaRPr lang="en-US" dirty="0" smtClean="0"/>
          </a:p>
          <a:p>
            <a:r>
              <a:rPr lang="en-US" dirty="0" smtClean="0"/>
              <a:t>According to the holy Quran killing of a human is in fact, killing of humanity. Therefore, Islam declares it </a:t>
            </a:r>
            <a:r>
              <a:rPr lang="en-GB" b="1" dirty="0" smtClean="0"/>
              <a:t>among Great Sins</a:t>
            </a:r>
            <a:endParaRPr lang="en-US" b="1" dirty="0" smtClean="0"/>
          </a:p>
          <a:p>
            <a:endParaRPr lang="en-US" dirty="0"/>
          </a:p>
          <a:p>
            <a:r>
              <a:rPr lang="en-US" dirty="0" smtClean="0"/>
              <a:t>But few people who are problem for Islamic society shall be killed by an Islamic government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389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LAWFUL KILLING IN ISLAM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In </a:t>
            </a:r>
            <a:r>
              <a:rPr lang="en-US" dirty="0"/>
              <a:t>the light of </a:t>
            </a:r>
            <a:r>
              <a:rPr lang="en-US" dirty="0" smtClean="0"/>
              <a:t>earlier quoted </a:t>
            </a:r>
            <a:r>
              <a:rPr lang="en-US" dirty="0" err="1" smtClean="0"/>
              <a:t>Quranic</a:t>
            </a:r>
            <a:r>
              <a:rPr lang="en-US" dirty="0" smtClean="0"/>
              <a:t> </a:t>
            </a:r>
            <a:r>
              <a:rPr lang="en-US" dirty="0"/>
              <a:t>Ayah, killing of </a:t>
            </a:r>
            <a:r>
              <a:rPr lang="en-US" b="1" dirty="0">
                <a:solidFill>
                  <a:schemeClr val="accent1"/>
                </a:solidFill>
              </a:rPr>
              <a:t>three </a:t>
            </a:r>
            <a:r>
              <a:rPr lang="en-US" dirty="0" smtClean="0"/>
              <a:t>kinds </a:t>
            </a:r>
            <a:r>
              <a:rPr lang="en-US" dirty="0"/>
              <a:t>of people is lawful by </a:t>
            </a:r>
            <a:r>
              <a:rPr lang="en-US" dirty="0" smtClean="0"/>
              <a:t>an Islamic </a:t>
            </a:r>
            <a:r>
              <a:rPr lang="en-US" dirty="0"/>
              <a:t>Government. The detail is under:</a:t>
            </a:r>
          </a:p>
          <a:p>
            <a:pPr marL="0" indent="0" algn="ctr">
              <a:buNone/>
            </a:pPr>
            <a:r>
              <a:rPr lang="ar-SA" b="1" dirty="0"/>
              <a:t>قال رسول الله صلى الله عليه وسلم :  لا يحل دم امرئ مسلم يشهد أن لا إله إلا الله ، وأني رسول الله ، إلا بإحدى ثلاث : الثيّب الزاني ، </a:t>
            </a:r>
            <a:r>
              <a:rPr lang="ar-SA" b="1" dirty="0" smtClean="0"/>
              <a:t>النفس </a:t>
            </a:r>
            <a:r>
              <a:rPr lang="ar-SA" b="1" dirty="0"/>
              <a:t>بالنفس ، والتارك لدينه المفارق </a:t>
            </a:r>
            <a:r>
              <a:rPr lang="ar-SA" b="1" dirty="0" smtClean="0"/>
              <a:t>للجماعة</a:t>
            </a:r>
            <a:endParaRPr lang="en-GB" dirty="0"/>
          </a:p>
          <a:p>
            <a:pPr marL="0" indent="0" algn="ctr">
              <a:buNone/>
            </a:pPr>
            <a:endParaRPr lang="en-US" sz="3500" b="1" dirty="0" smtClean="0"/>
          </a:p>
          <a:p>
            <a:pPr marL="0" indent="0" algn="ctr">
              <a:buNone/>
            </a:pPr>
            <a:r>
              <a:rPr lang="en-US" sz="3500" b="1" dirty="0" smtClean="0"/>
              <a:t>Translation:</a:t>
            </a:r>
          </a:p>
          <a:p>
            <a:pPr marL="0" indent="0" algn="ctr">
              <a:buNone/>
            </a:pPr>
            <a:r>
              <a:rPr lang="en-US" dirty="0" smtClean="0"/>
              <a:t>“</a:t>
            </a:r>
            <a:r>
              <a:rPr lang="en-GB" dirty="0"/>
              <a:t>The blood of a Muslim who testifies that there is no deity worthy of worship except Allah and that I </a:t>
            </a:r>
            <a:r>
              <a:rPr lang="en-US" dirty="0"/>
              <a:t>(Muhammad) </a:t>
            </a:r>
            <a:r>
              <a:rPr lang="en-GB" dirty="0" smtClean="0"/>
              <a:t>am </a:t>
            </a:r>
            <a:r>
              <a:rPr lang="en-GB" dirty="0"/>
              <a:t>the Messenger of Allah, is sacred, except in three </a:t>
            </a:r>
            <a:r>
              <a:rPr lang="en-GB" dirty="0" smtClean="0"/>
              <a:t>instances: [They are]</a:t>
            </a:r>
            <a:endParaRPr lang="en-US" dirty="0" smtClean="0"/>
          </a:p>
          <a:p>
            <a:pPr marL="514350" indent="-514350" algn="ctr">
              <a:buAutoNum type="romanLcParenBoth"/>
            </a:pPr>
            <a:r>
              <a:rPr lang="en-US" dirty="0"/>
              <a:t>T</a:t>
            </a:r>
            <a:r>
              <a:rPr lang="en-US" dirty="0" smtClean="0"/>
              <a:t>he married adulterer </a:t>
            </a:r>
            <a:r>
              <a:rPr lang="en-US" dirty="0"/>
              <a:t> </a:t>
            </a:r>
            <a:r>
              <a:rPr lang="en-US" dirty="0" smtClean="0"/>
              <a:t>[or adulteress] </a:t>
            </a:r>
          </a:p>
          <a:p>
            <a:pPr marL="514350" indent="-514350" algn="ctr">
              <a:buFont typeface="Arial" pitchFamily="34" charset="0"/>
              <a:buAutoNum type="romanLcParenBoth"/>
            </a:pPr>
            <a:r>
              <a:rPr lang="en-US" dirty="0" smtClean="0"/>
              <a:t>Life for life [The </a:t>
            </a:r>
            <a:r>
              <a:rPr lang="en-US" smtClean="0"/>
              <a:t>homicider</a:t>
            </a:r>
            <a:r>
              <a:rPr lang="en-GB" smtClean="0"/>
              <a:t>]</a:t>
            </a:r>
            <a:endParaRPr lang="en-US" dirty="0" smtClean="0"/>
          </a:p>
          <a:p>
            <a:pPr marL="514350" indent="-514350" algn="ctr">
              <a:buAutoNum type="romanLcParenBoth"/>
            </a:pPr>
            <a:r>
              <a:rPr lang="en-GB" dirty="0"/>
              <a:t>W</a:t>
            </a:r>
            <a:r>
              <a:rPr lang="en-GB" dirty="0" smtClean="0"/>
              <a:t>hoever </a:t>
            </a:r>
            <a:r>
              <a:rPr lang="en-GB" dirty="0"/>
              <a:t>reverts from the religion </a:t>
            </a:r>
            <a:r>
              <a:rPr lang="en-GB" dirty="0" smtClean="0"/>
              <a:t>of Islam and </a:t>
            </a:r>
            <a:r>
              <a:rPr lang="en-GB" dirty="0"/>
              <a:t>abandons the </a:t>
            </a:r>
            <a:r>
              <a:rPr lang="en-GB" dirty="0" err="1"/>
              <a:t>Jama`ah</a:t>
            </a:r>
            <a:r>
              <a:rPr lang="en-GB" dirty="0"/>
              <a:t> </a:t>
            </a:r>
            <a:r>
              <a:rPr lang="en-GB" dirty="0" smtClean="0"/>
              <a:t>(Muslim community)</a:t>
            </a:r>
            <a:r>
              <a:rPr lang="en-US" dirty="0" smtClean="0"/>
              <a:t> (i.e. an apostate)”</a:t>
            </a:r>
          </a:p>
          <a:p>
            <a:pPr marL="0" indent="0" algn="ctr">
              <a:buNone/>
            </a:pPr>
            <a:endParaRPr lang="en-US" dirty="0" smtClean="0"/>
          </a:p>
          <a:p>
            <a:pPr algn="ctr"/>
            <a:r>
              <a:rPr lang="en-US" dirty="0" smtClean="0"/>
              <a:t>According to Islam, any killing other than above mentioned three reasons is </a:t>
            </a:r>
            <a:r>
              <a:rPr lang="en-US" b="1" dirty="0" smtClean="0"/>
              <a:t>Unlawful Killing</a:t>
            </a:r>
            <a:endParaRPr lang="en-GB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077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TYPES OF KILLING &amp; THEIR PUNISHMENT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arenBoth"/>
            </a:pPr>
            <a:r>
              <a:rPr lang="en-US" dirty="0" smtClean="0"/>
              <a:t>Intentional killing</a:t>
            </a:r>
          </a:p>
          <a:p>
            <a:pPr marL="457200" indent="-457200">
              <a:buAutoNum type="arabicParenBoth"/>
            </a:pPr>
            <a:r>
              <a:rPr lang="en-US" dirty="0" smtClean="0"/>
              <a:t>Unintentional killing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Punishment for </a:t>
            </a:r>
            <a:r>
              <a:rPr lang="en-US" b="1" dirty="0" smtClean="0"/>
              <a:t>intentional killing</a:t>
            </a:r>
            <a:r>
              <a:rPr lang="en-US" dirty="0" smtClean="0"/>
              <a:t> is one of following:</a:t>
            </a:r>
          </a:p>
          <a:p>
            <a:pPr marL="457200" indent="-457200" algn="ctr">
              <a:buAutoNum type="arabicParenBoth"/>
            </a:pPr>
            <a:r>
              <a:rPr lang="en-US" b="1" i="1" dirty="0" err="1" smtClean="0"/>
              <a:t>Qisas</a:t>
            </a:r>
            <a:r>
              <a:rPr lang="en-US" dirty="0" smtClean="0"/>
              <a:t> (Equal Retaliation)</a:t>
            </a:r>
          </a:p>
          <a:p>
            <a:pPr marL="457200" indent="-457200" algn="ctr">
              <a:buAutoNum type="arabicParenBoth"/>
            </a:pPr>
            <a:r>
              <a:rPr lang="en-US" b="1" i="1" dirty="0" err="1" smtClean="0"/>
              <a:t>Diyyat</a:t>
            </a:r>
            <a:r>
              <a:rPr lang="en-US" dirty="0" smtClean="0"/>
              <a:t> (Blood Money)</a:t>
            </a:r>
          </a:p>
          <a:p>
            <a:pPr marL="457200" indent="-457200" algn="ctr">
              <a:buAutoNum type="arabicParenBoth"/>
            </a:pPr>
            <a:r>
              <a:rPr lang="en-US" dirty="0" smtClean="0"/>
              <a:t>Forgiveness</a:t>
            </a:r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/>
              <a:t>Punishment for </a:t>
            </a:r>
            <a:r>
              <a:rPr lang="en-US" b="1" dirty="0" smtClean="0"/>
              <a:t>unintentional </a:t>
            </a:r>
            <a:r>
              <a:rPr lang="en-US" b="1" dirty="0"/>
              <a:t>killing</a:t>
            </a:r>
            <a:r>
              <a:rPr lang="en-US" dirty="0"/>
              <a:t> is one of following:</a:t>
            </a:r>
          </a:p>
          <a:p>
            <a:pPr marL="457200" indent="-457200" algn="ctr">
              <a:buAutoNum type="arabicParenBoth"/>
            </a:pPr>
            <a:r>
              <a:rPr lang="en-US" b="1" i="1" dirty="0" err="1" smtClean="0"/>
              <a:t>Diyyat</a:t>
            </a:r>
            <a:r>
              <a:rPr lang="en-US" dirty="0" smtClean="0"/>
              <a:t> </a:t>
            </a:r>
            <a:r>
              <a:rPr lang="en-US" dirty="0"/>
              <a:t>(Blood Money)</a:t>
            </a:r>
          </a:p>
          <a:p>
            <a:pPr marL="457200" indent="-457200" algn="ctr">
              <a:buAutoNum type="arabicParenBoth"/>
            </a:pPr>
            <a:r>
              <a:rPr lang="en-US" dirty="0"/>
              <a:t>Forgiveness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457200" indent="-457200">
              <a:buAutoNum type="arabicParenBoth"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241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(1) RIGHT OF TAKE </a:t>
            </a:r>
            <a:r>
              <a:rPr lang="en-US" i="1" dirty="0" smtClean="0"/>
              <a:t>QISAS</a:t>
            </a:r>
            <a:br>
              <a:rPr lang="en-US" i="1" dirty="0" smtClean="0"/>
            </a:br>
            <a:r>
              <a:rPr lang="en-US" dirty="0" smtClean="0"/>
              <a:t>(2) INSTRUCTIONS FOR TAKING QISAS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en-GB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en-US" dirty="0" smtClean="0"/>
              <a:t>An heir </a:t>
            </a:r>
            <a:r>
              <a:rPr lang="en-US" sz="1700" dirty="0" smtClean="0"/>
              <a:t>(</a:t>
            </a:r>
            <a:r>
              <a:rPr lang="en-GB" sz="1700" dirty="0" smtClean="0"/>
              <a:t>a </a:t>
            </a:r>
            <a:r>
              <a:rPr lang="en-GB" sz="1700" dirty="0"/>
              <a:t>person who has the legal right to receive </a:t>
            </a:r>
            <a:r>
              <a:rPr lang="en-GB" sz="1700" dirty="0" smtClean="0"/>
              <a:t>somebody's </a:t>
            </a:r>
            <a:r>
              <a:rPr lang="en-GB" sz="1700" dirty="0"/>
              <a:t>property, money or title when that person dies</a:t>
            </a:r>
            <a:r>
              <a:rPr lang="en-US" sz="1700" dirty="0" smtClean="0"/>
              <a:t>) </a:t>
            </a:r>
            <a:r>
              <a:rPr lang="en-US" dirty="0" smtClean="0"/>
              <a:t>of the murdered</a:t>
            </a:r>
          </a:p>
          <a:p>
            <a:pPr marL="0" indent="0" algn="ctr">
              <a:buNone/>
            </a:pPr>
            <a:r>
              <a:rPr lang="en-US" dirty="0" smtClean="0"/>
              <a:t>or</a:t>
            </a:r>
          </a:p>
          <a:p>
            <a:pPr algn="ctr"/>
            <a:r>
              <a:rPr lang="en-US" dirty="0"/>
              <a:t>H</a:t>
            </a:r>
            <a:r>
              <a:rPr lang="en-US" dirty="0" smtClean="0"/>
              <a:t>ead of the Islamic state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600" b="1" dirty="0" smtClean="0"/>
              <a:t>Instructions for taking </a:t>
            </a:r>
            <a:r>
              <a:rPr lang="en-US" sz="3600" b="1" i="1" dirty="0" err="1" smtClean="0"/>
              <a:t>Qisas</a:t>
            </a:r>
            <a:r>
              <a:rPr lang="en-US" sz="3600" b="1" dirty="0" smtClean="0"/>
              <a:t>:</a:t>
            </a:r>
          </a:p>
          <a:p>
            <a:pPr marL="457200" indent="-457200" algn="ctr">
              <a:buAutoNum type="arabicParenBoth"/>
            </a:pPr>
            <a:r>
              <a:rPr lang="en-US" dirty="0" smtClean="0"/>
              <a:t>Not to kill anyone other than killer</a:t>
            </a:r>
          </a:p>
          <a:p>
            <a:pPr marL="457200" indent="-457200" algn="ctr">
              <a:buAutoNum type="arabicParenBoth"/>
            </a:pPr>
            <a:r>
              <a:rPr lang="en-US" dirty="0" smtClean="0"/>
              <a:t>Not to kill in brutal way</a:t>
            </a:r>
          </a:p>
          <a:p>
            <a:pPr marL="457200" indent="-457200" algn="ctr">
              <a:buAutoNum type="arabicParenBoth"/>
            </a:pPr>
            <a:r>
              <a:rPr lang="en-US" dirty="0" smtClean="0"/>
              <a:t>Not to kill without fair judicial trial</a:t>
            </a:r>
          </a:p>
          <a:p>
            <a:pPr marL="457200" indent="-457200" algn="ctr">
              <a:buAutoNum type="arabicParenBoth"/>
            </a:pPr>
            <a:r>
              <a:rPr lang="en-US" dirty="0" smtClean="0"/>
              <a:t>Not to be punished by an individual but by the government</a:t>
            </a:r>
          </a:p>
          <a:p>
            <a:pPr marL="0" indent="0" algn="ctr">
              <a:buNone/>
            </a:pPr>
            <a:endParaRPr lang="en-US" b="1" dirty="0" smtClean="0"/>
          </a:p>
          <a:p>
            <a:pPr marL="457200" indent="-457200" algn="ctr">
              <a:buAutoNum type="arabicParenBoth"/>
            </a:pPr>
            <a:endParaRPr lang="en-US" b="1" dirty="0" smtClean="0"/>
          </a:p>
          <a:p>
            <a:pPr marL="457200" indent="-457200" algn="ctr">
              <a:buAutoNum type="arabicParenBoth"/>
            </a:pPr>
            <a:endParaRPr lang="en-US" b="1" dirty="0" smtClean="0"/>
          </a:p>
          <a:p>
            <a:pPr marL="0" indent="0">
              <a:buNone/>
            </a:pPr>
            <a:endParaRPr lang="en-US" dirty="0" smtClean="0"/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0004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QURANIC QUOTATIONS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ar-SA" b="1" dirty="0" smtClean="0"/>
              <a:t>ۥ </a:t>
            </a:r>
            <a:r>
              <a:rPr lang="ar-SA" b="1" dirty="0"/>
              <a:t>مَن قَتَلَ نَفۡسَۢا بِغَيۡرِ نَفۡسٍ أَوۡ فَسَادٍ۬ فِى ٱلۡأَرۡضِ فَڪَأَنَّمَا قَتَلَ ٱلنَّاسَ </a:t>
            </a:r>
            <a:r>
              <a:rPr lang="ar-SA" b="1" dirty="0" smtClean="0"/>
              <a:t>جَمِيعً۬ا</a:t>
            </a:r>
            <a:endParaRPr lang="en-US" b="1" dirty="0" smtClean="0"/>
          </a:p>
          <a:p>
            <a:pPr marL="0" indent="0" algn="ctr">
              <a:buNone/>
            </a:pPr>
            <a:r>
              <a:rPr lang="en-US" sz="2800" b="1" dirty="0" smtClean="0"/>
              <a:t>Translation:</a:t>
            </a:r>
          </a:p>
          <a:p>
            <a:pPr marL="0" indent="0" algn="ctr">
              <a:buNone/>
            </a:pPr>
            <a:r>
              <a:rPr lang="en-GB" dirty="0" smtClean="0"/>
              <a:t>“whosoever killed </a:t>
            </a:r>
            <a:r>
              <a:rPr lang="en-GB" dirty="0"/>
              <a:t>a human being for other than manslaughter or corruption in the earth, it shall be as if he had killed all </a:t>
            </a:r>
            <a:r>
              <a:rPr lang="en-GB" dirty="0" smtClean="0"/>
              <a:t>mankind”</a:t>
            </a:r>
          </a:p>
          <a:p>
            <a:pPr marL="0" indent="0" algn="ctr">
              <a:buNone/>
            </a:pPr>
            <a:r>
              <a:rPr lang="en-US" sz="1400" dirty="0" smtClean="0"/>
              <a:t>(Surah Al-</a:t>
            </a:r>
            <a:r>
              <a:rPr lang="en-US" sz="1400" dirty="0" err="1" smtClean="0"/>
              <a:t>Maidah</a:t>
            </a:r>
            <a:r>
              <a:rPr lang="en-US" sz="1400" dirty="0" smtClean="0"/>
              <a:t> Ayah 32)</a:t>
            </a:r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ar-SA" b="1" dirty="0"/>
              <a:t>وَمَن يَقۡتُلۡ مُؤۡمِنً۬ا مُّتَعَمِّدً۬ا فَجَزَآؤُهُ ۥ جَهَنَّمُ خَـٰلِدً۬ا فِيہَا وَغَضِبَ ٱللَّهُ عَلَيۡهِ وَلَعَنَهُ ۥ وَأَعَدَّ لَهُ ۥ </a:t>
            </a:r>
            <a:endParaRPr lang="en-US" b="1" dirty="0" smtClean="0"/>
          </a:p>
          <a:p>
            <a:pPr marL="0" indent="0" algn="ctr">
              <a:buNone/>
            </a:pPr>
            <a:r>
              <a:rPr lang="ar-SA" b="1" dirty="0" smtClean="0"/>
              <a:t>عَذَابًا عَظِيمً۬ا</a:t>
            </a:r>
            <a:endParaRPr lang="en-US" b="1" dirty="0" smtClean="0"/>
          </a:p>
          <a:p>
            <a:pPr marL="0" indent="0" algn="ctr">
              <a:buNone/>
            </a:pPr>
            <a:r>
              <a:rPr lang="en-US" sz="2800" b="1" dirty="0"/>
              <a:t>Translation:</a:t>
            </a:r>
          </a:p>
          <a:p>
            <a:pPr marL="0" indent="0" algn="ctr">
              <a:buNone/>
            </a:pPr>
            <a:r>
              <a:rPr lang="en-GB" dirty="0" smtClean="0"/>
              <a:t>“</a:t>
            </a:r>
            <a:r>
              <a:rPr lang="en-GB" dirty="0"/>
              <a:t>And whoever kills a believer intentionally, his recompense is Hell to abide therein, and the Wrath and the Curse of </a:t>
            </a:r>
            <a:r>
              <a:rPr lang="en-GB" dirty="0" err="1"/>
              <a:t>Allâh</a:t>
            </a:r>
            <a:r>
              <a:rPr lang="en-GB" dirty="0"/>
              <a:t> are upon him, and a great punishment is prepared for him</a:t>
            </a:r>
            <a:r>
              <a:rPr lang="en-GB" dirty="0" smtClean="0"/>
              <a:t>”</a:t>
            </a:r>
            <a:endParaRPr lang="en-GB" dirty="0"/>
          </a:p>
          <a:p>
            <a:pPr marL="0" indent="0" algn="ctr">
              <a:buNone/>
            </a:pPr>
            <a:r>
              <a:rPr lang="en-US" sz="1400" dirty="0"/>
              <a:t>(Surah </a:t>
            </a:r>
            <a:r>
              <a:rPr lang="en-US" sz="1400" dirty="0" smtClean="0"/>
              <a:t>An-</a:t>
            </a:r>
            <a:r>
              <a:rPr lang="en-US" sz="1400" dirty="0" err="1" smtClean="0"/>
              <a:t>Nisa</a:t>
            </a:r>
            <a:r>
              <a:rPr lang="en-US" sz="1400" dirty="0" smtClean="0"/>
              <a:t>  </a:t>
            </a:r>
            <a:r>
              <a:rPr lang="en-US" sz="1400" dirty="0"/>
              <a:t>Ayah </a:t>
            </a:r>
            <a:r>
              <a:rPr lang="en-US" sz="1400" dirty="0" smtClean="0"/>
              <a:t>93)</a:t>
            </a:r>
            <a:endParaRPr lang="en-US" sz="1400" dirty="0"/>
          </a:p>
          <a:p>
            <a:pPr marL="0" indent="0" algn="ctr">
              <a:buNone/>
            </a:pPr>
            <a:endParaRPr lang="en-GB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smtClean="0"/>
              <a:t>Islamic &amp;  Religious Studies          </a:t>
            </a:r>
          </a:p>
          <a:p>
            <a:r>
              <a:rPr lang="en-GB" dirty="0" smtClean="0"/>
              <a:t>Instructor: Prof. </a:t>
            </a:r>
            <a:r>
              <a:rPr lang="en-GB" dirty="0" err="1" smtClean="0"/>
              <a:t>Abid</a:t>
            </a:r>
            <a:r>
              <a:rPr lang="en-GB" dirty="0" smtClean="0"/>
              <a:t> </a:t>
            </a:r>
            <a:r>
              <a:rPr lang="en-GB" dirty="0" err="1" smtClean="0"/>
              <a:t>Naeem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4463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HADITH QUOTATIONS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arenBoth"/>
            </a:pPr>
            <a:r>
              <a:rPr lang="en-US" dirty="0" smtClean="0"/>
              <a:t>“If all in the heavens and earth have joined hands to kill a believer, Allah will put them all in the hell”</a:t>
            </a:r>
          </a:p>
          <a:p>
            <a:pPr marL="457200" indent="-457200">
              <a:buAutoNum type="arabicParenBoth"/>
            </a:pPr>
            <a:endParaRPr lang="en-US" dirty="0"/>
          </a:p>
          <a:p>
            <a:pPr marL="457200" indent="-457200">
              <a:buAutoNum type="arabicParenBoth"/>
            </a:pPr>
            <a:r>
              <a:rPr lang="en-GB" dirty="0" smtClean="0"/>
              <a:t>“The </a:t>
            </a:r>
            <a:r>
              <a:rPr lang="en-GB" dirty="0"/>
              <a:t>destruction of this earthly life is less significant before Allah than killing a Muslim man </a:t>
            </a:r>
            <a:r>
              <a:rPr lang="en-GB" dirty="0" smtClean="0"/>
              <a:t>[or woman]”</a:t>
            </a:r>
          </a:p>
          <a:p>
            <a:pPr marL="457200" indent="-457200">
              <a:buAutoNum type="arabicParenBoth"/>
            </a:pPr>
            <a:endParaRPr lang="en-GB" dirty="0"/>
          </a:p>
          <a:p>
            <a:pPr marL="457200" indent="-457200">
              <a:buAutoNum type="arabicParenBoth"/>
            </a:pPr>
            <a:r>
              <a:rPr lang="en-GB" dirty="0" smtClean="0"/>
              <a:t>“Blood </a:t>
            </a:r>
            <a:r>
              <a:rPr lang="en-GB" dirty="0"/>
              <a:t>offenses are the first disputes to be judged between the people on the Day of </a:t>
            </a:r>
            <a:r>
              <a:rPr lang="en-GB" dirty="0" smtClean="0"/>
              <a:t>Resurrection”</a:t>
            </a:r>
          </a:p>
          <a:p>
            <a:pPr marL="457200" indent="-457200">
              <a:buAutoNum type="arabicParenBoth"/>
            </a:pPr>
            <a:endParaRPr lang="en-GB" dirty="0"/>
          </a:p>
          <a:p>
            <a:pPr marL="457200" indent="-457200">
              <a:buAutoNum type="arabicParenBoth"/>
            </a:pPr>
            <a:r>
              <a:rPr lang="en-US" dirty="0" smtClean="0"/>
              <a:t>“</a:t>
            </a:r>
            <a:r>
              <a:rPr lang="en-GB" dirty="0"/>
              <a:t>The believer will remain unburdened in righteousness as long as he does not shed prohibited blood. When he sheds forbidden blood, he will become </a:t>
            </a:r>
            <a:r>
              <a:rPr lang="en-GB" dirty="0" smtClean="0"/>
              <a:t>burdened”</a:t>
            </a:r>
          </a:p>
          <a:p>
            <a:pPr marL="457200" indent="-457200">
              <a:buAutoNum type="arabicParenBoth"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408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AYAH# 34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ar-SA" b="1" dirty="0"/>
              <a:t>وَلاَ تَقْرَبُواْ مَالَ الْيَتِيمِ إِلاَّ بِالَّتِى هِىَ أَحْسَنُ حَتَّى يَبْلُغَ أَشُدَّهُ وَأَوْفُواْ بِالْعَهْدِ إِنَّ الْعَهْدَ كَانَ مَسْؤُولاً</a:t>
            </a:r>
            <a:endParaRPr lang="en-US" b="1" dirty="0"/>
          </a:p>
          <a:p>
            <a:pPr algn="ctr">
              <a:buFont typeface="Wingdings" panose="05000000000000000000" pitchFamily="2" charset="2"/>
              <a:buNone/>
            </a:pPr>
            <a:endParaRPr lang="en-US" b="1" u="sng" dirty="0" smtClean="0"/>
          </a:p>
          <a:p>
            <a:pPr algn="ctr">
              <a:buFont typeface="Wingdings" panose="05000000000000000000" pitchFamily="2" charset="2"/>
              <a:buNone/>
            </a:pPr>
            <a:r>
              <a:rPr lang="en-US" b="1" u="sng" dirty="0" smtClean="0"/>
              <a:t>TRANSLATION</a:t>
            </a:r>
            <a:r>
              <a:rPr lang="en-US" b="1" u="sng" dirty="0"/>
              <a:t>: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dirty="0"/>
              <a:t>“And come not near to the orphan's property except in a good manner, until he attains the age of full </a:t>
            </a:r>
            <a:r>
              <a:rPr lang="en-US" dirty="0" smtClean="0"/>
              <a:t>strength </a:t>
            </a:r>
            <a:r>
              <a:rPr lang="en-US" sz="2000" dirty="0" smtClean="0"/>
              <a:t>[puberty]. </a:t>
            </a:r>
            <a:r>
              <a:rPr lang="en-US" dirty="0"/>
              <a:t>And fulfill (every) covenant.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dirty="0"/>
              <a:t>Verily! the covenant, will be questioned about”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96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MAIN THEME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 algn="ctr">
              <a:buFont typeface="Wingdings" panose="05000000000000000000" pitchFamily="2" charset="2"/>
              <a:buNone/>
            </a:pPr>
            <a:r>
              <a:rPr lang="en-US" b="1" u="sng" dirty="0"/>
              <a:t>TWO THEMES OF THE AYAH</a:t>
            </a:r>
          </a:p>
          <a:p>
            <a:pPr marL="609600" indent="-609600" algn="ctr">
              <a:buFont typeface="Wingdings" panose="05000000000000000000" pitchFamily="2" charset="2"/>
              <a:buNone/>
            </a:pPr>
            <a:r>
              <a:rPr lang="en-US" dirty="0"/>
              <a:t>(1) Property of an orphan must be safeguarded until he reaches the age of physical and mental maturity (</a:t>
            </a:r>
            <a:r>
              <a:rPr lang="ar-SA" dirty="0"/>
              <a:t>بلوغت</a:t>
            </a:r>
            <a:r>
              <a:rPr lang="en-US" dirty="0"/>
              <a:t>). To devour the property of an orphan is a great sin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dirty="0"/>
              <a:t>(2) Fulfillment of promises and covenants is binding on every Muslim about which every one will be questioned at the Day of Judgment</a:t>
            </a:r>
          </a:p>
          <a:p>
            <a:pPr marL="609600" indent="-609600"/>
            <a:endParaRPr lang="en-US" dirty="0"/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3544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WHO IS AN ORPHAN?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en-US" dirty="0"/>
              <a:t>According to Islamic Studies, the definition of an orphan is mentioned below:</a:t>
            </a:r>
          </a:p>
          <a:p>
            <a:pPr algn="ctr">
              <a:buFont typeface="Wingdings" panose="05000000000000000000" pitchFamily="2" charset="2"/>
              <a:buNone/>
            </a:pPr>
            <a:endParaRPr lang="en-US" dirty="0"/>
          </a:p>
          <a:p>
            <a:pPr algn="ctr">
              <a:buFont typeface="Wingdings" panose="05000000000000000000" pitchFamily="2" charset="2"/>
              <a:buNone/>
            </a:pPr>
            <a:r>
              <a:rPr lang="en-US" b="1" dirty="0"/>
              <a:t>“An immature (</a:t>
            </a:r>
            <a:r>
              <a:rPr lang="ar-SA" b="1" dirty="0"/>
              <a:t>نابالغ</a:t>
            </a:r>
            <a:r>
              <a:rPr lang="en-US" b="1" dirty="0"/>
              <a:t>) person (male or female) whose father has passed away”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438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REFERENCES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b="1" u="sng" dirty="0"/>
              <a:t>TEACHINGS OF </a:t>
            </a:r>
            <a:r>
              <a:rPr lang="en-US" b="1" u="sng" dirty="0" smtClean="0"/>
              <a:t>the Holy QURAN</a:t>
            </a:r>
            <a:endParaRPr lang="en-US" b="1" u="sng" dirty="0"/>
          </a:p>
          <a:p>
            <a:pPr marL="609600" indent="-609600"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(1) “And give unto orphans their property and do not exchange (your) bad things for (their) good ones; and devour not their substance (by adding it) to your substance. Surely, this is a great sin”</a:t>
            </a:r>
          </a:p>
          <a:p>
            <a:pPr marL="609600" indent="-609600"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 (Surah An-</a:t>
            </a:r>
            <a:r>
              <a:rPr lang="en-US" dirty="0" err="1"/>
              <a:t>Nisa</a:t>
            </a:r>
            <a:r>
              <a:rPr lang="en-US" dirty="0"/>
              <a:t> Ayah 2)</a:t>
            </a:r>
          </a:p>
          <a:p>
            <a:pPr marL="609600" indent="-609600" algn="ctr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dirty="0"/>
          </a:p>
          <a:p>
            <a:pPr marL="609600" indent="-609600"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(2) “Verily, those who unjustly eat up the property of orphans, they eat up only a fire into their bellies, and they will be burnt in the blazing Fire”</a:t>
            </a:r>
          </a:p>
          <a:p>
            <a:pPr marL="609600" indent="-609600"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 (Surah An-</a:t>
            </a:r>
            <a:r>
              <a:rPr lang="en-US" dirty="0" err="1"/>
              <a:t>Nisa</a:t>
            </a:r>
            <a:r>
              <a:rPr lang="en-US" dirty="0"/>
              <a:t> Ayah 10)</a:t>
            </a:r>
          </a:p>
          <a:p>
            <a:pPr marL="609600" indent="-609600" algn="ctr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dirty="0"/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899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TEACHINGS OF HADITH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en-US" dirty="0"/>
              <a:t>“I and the cherisher of an orphan will be there in heaven like this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dirty="0"/>
              <a:t>(He joined his index and middle fingers)”</a:t>
            </a:r>
          </a:p>
          <a:p>
            <a:pPr algn="ctr">
              <a:buFont typeface="Wingdings" panose="05000000000000000000" pitchFamily="2" charset="2"/>
              <a:buNone/>
            </a:pPr>
            <a:endParaRPr lang="en-US" b="1" u="sng" dirty="0"/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133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u="sng" dirty="0"/>
              <a:t>WHAT IS GOOD MANNER?</a:t>
            </a:r>
            <a:br>
              <a:rPr lang="en-US" u="sng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en-US" dirty="0" smtClean="0"/>
              <a:t>Every </a:t>
            </a:r>
            <a:r>
              <a:rPr lang="en-US" dirty="0"/>
              <a:t>possible way which causes to save and increase the wealth of an orphan like making an investment in </a:t>
            </a:r>
            <a:r>
              <a:rPr lang="en-US" dirty="0" smtClean="0"/>
              <a:t>some profitable business </a:t>
            </a:r>
            <a:endParaRPr lang="en-US" dirty="0"/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4300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AGE OF </a:t>
            </a:r>
            <a:r>
              <a:rPr lang="en-US" u="sng" dirty="0" smtClean="0"/>
              <a:t>PUBERTY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b="1" u="sng" dirty="0"/>
              <a:t>According to Pakistani law:</a:t>
            </a:r>
            <a:r>
              <a:rPr lang="en-US" dirty="0"/>
              <a:t> 18 years for both </a:t>
            </a:r>
            <a:r>
              <a:rPr lang="en-US" dirty="0" smtClean="0"/>
              <a:t>girls </a:t>
            </a:r>
            <a:r>
              <a:rPr lang="en-US" dirty="0"/>
              <a:t>and </a:t>
            </a:r>
            <a:r>
              <a:rPr lang="en-US" dirty="0" smtClean="0"/>
              <a:t>boys</a:t>
            </a:r>
            <a:endParaRPr lang="en-US" dirty="0"/>
          </a:p>
          <a:p>
            <a:pPr>
              <a:buFont typeface="Wingdings" panose="05000000000000000000" pitchFamily="2" charset="2"/>
              <a:buNone/>
            </a:pPr>
            <a:endParaRPr lang="en-US" dirty="0"/>
          </a:p>
          <a:p>
            <a:pPr>
              <a:buFont typeface="Wingdings" panose="05000000000000000000" pitchFamily="2" charset="2"/>
              <a:buNone/>
            </a:pPr>
            <a:r>
              <a:rPr lang="en-US" b="1" u="sng" dirty="0"/>
              <a:t>According to Islamic law:</a:t>
            </a:r>
            <a:r>
              <a:rPr lang="en-US" dirty="0"/>
              <a:t> </a:t>
            </a:r>
            <a:r>
              <a:rPr lang="en-US" dirty="0" smtClean="0"/>
              <a:t>Around 15 </a:t>
            </a:r>
            <a:r>
              <a:rPr lang="en-US" dirty="0"/>
              <a:t>years for boys and 14 year for girls</a:t>
            </a:r>
          </a:p>
          <a:p>
            <a:pPr>
              <a:buFont typeface="Wingdings" panose="05000000000000000000" pitchFamily="2" charset="2"/>
              <a:buNone/>
            </a:pPr>
            <a:endParaRPr lang="en-US" b="1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b="1" dirty="0"/>
              <a:t>Puberty OR </a:t>
            </a:r>
            <a:r>
              <a:rPr lang="en-US" b="1" dirty="0" smtClean="0"/>
              <a:t>Adolescence </a:t>
            </a:r>
            <a:r>
              <a:rPr lang="en-US" dirty="0" smtClean="0"/>
              <a:t>means </a:t>
            </a:r>
            <a:r>
              <a:rPr lang="en-US" dirty="0"/>
              <a:t>to be capable to understand one’s profit and loss. So today legal limit will be followed</a:t>
            </a:r>
          </a:p>
          <a:p>
            <a:pPr>
              <a:buFont typeface="Wingdings" panose="05000000000000000000" pitchFamily="2" charset="2"/>
              <a:buNone/>
            </a:pPr>
            <a:endParaRPr lang="en-US" dirty="0"/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80420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DIRECTIONS ABOUT COVENANTS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 algn="ctr">
              <a:buFont typeface="Wingdings" panose="05000000000000000000" pitchFamily="2" charset="2"/>
              <a:buNone/>
            </a:pPr>
            <a:r>
              <a:rPr lang="en-US" b="1" u="sng" dirty="0"/>
              <a:t>TYPES OF PROMISES AND COVENANTS:</a:t>
            </a:r>
          </a:p>
          <a:p>
            <a:pPr marL="609600" indent="-609600" algn="ctr">
              <a:buFont typeface="Wingdings" panose="05000000000000000000" pitchFamily="2" charset="2"/>
              <a:buNone/>
            </a:pPr>
            <a:r>
              <a:rPr lang="en-US" dirty="0"/>
              <a:t>Covenants and promises are classified into </a:t>
            </a:r>
            <a:r>
              <a:rPr lang="en-US" b="1" dirty="0"/>
              <a:t>TWO</a:t>
            </a:r>
            <a:r>
              <a:rPr lang="en-US" dirty="0"/>
              <a:t> categories:</a:t>
            </a:r>
          </a:p>
          <a:p>
            <a:pPr marL="609600" indent="-609600">
              <a:buNone/>
            </a:pPr>
            <a:endParaRPr lang="en-US" dirty="0"/>
          </a:p>
          <a:p>
            <a:pPr marL="609600" indent="-609600">
              <a:buNone/>
            </a:pPr>
            <a:r>
              <a:rPr lang="en-US" dirty="0" smtClean="0"/>
              <a:t>(1)   Promises </a:t>
            </a:r>
            <a:r>
              <a:rPr lang="en-US" dirty="0"/>
              <a:t>made with </a:t>
            </a:r>
            <a:r>
              <a:rPr lang="en-US" dirty="0" smtClean="0"/>
              <a:t>Allah</a:t>
            </a:r>
          </a:p>
          <a:p>
            <a:pPr marL="609600" indent="-609600">
              <a:buNone/>
            </a:pPr>
            <a:endParaRPr lang="en-US" dirty="0"/>
          </a:p>
          <a:p>
            <a:pPr marL="609600" indent="-609600">
              <a:buNone/>
            </a:pPr>
            <a:r>
              <a:rPr lang="en-US" dirty="0" smtClean="0"/>
              <a:t>(2)   Promises </a:t>
            </a:r>
            <a:r>
              <a:rPr lang="en-US" dirty="0"/>
              <a:t>made with humans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71513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COVENANTS WITH ALLAH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arenBoth"/>
            </a:pPr>
            <a:r>
              <a:rPr lang="en-US" dirty="0"/>
              <a:t>Famous covenant which had been made by humans before their birth and when they were spirits only. It is know as “</a:t>
            </a:r>
            <a:r>
              <a:rPr lang="ar-SA" dirty="0"/>
              <a:t>عهد الست</a:t>
            </a:r>
            <a:r>
              <a:rPr lang="en-US" dirty="0"/>
              <a:t>” </a:t>
            </a:r>
          </a:p>
          <a:p>
            <a:pPr marL="609600" indent="-609600" algn="ctr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b="1" u="sng" dirty="0" smtClean="0"/>
          </a:p>
          <a:p>
            <a:pPr marL="609600" indent="-609600"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b="1" u="sng" dirty="0" smtClean="0"/>
              <a:t>QURANIC </a:t>
            </a:r>
            <a:r>
              <a:rPr lang="en-US" b="1" u="sng" dirty="0"/>
              <a:t>STATEMENET</a:t>
            </a:r>
            <a:endParaRPr lang="en-US" dirty="0"/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“And (remember) when your Lord brought forth from the Children of Adam, from their loins </a:t>
            </a:r>
            <a:r>
              <a:rPr lang="en-US" sz="1800" dirty="0"/>
              <a:t>[the part of the body around the hips between the waist and the tops of the legs],</a:t>
            </a:r>
            <a:r>
              <a:rPr lang="en-US" dirty="0"/>
              <a:t> their seed and made them testify as to themselves (saying): "Am I not your Lord?" They said: "Yes! We testify," lest you should say on the Day of Resurrection: "Verily, we have been unaware of this." </a:t>
            </a:r>
          </a:p>
          <a:p>
            <a:pPr marL="609600" indent="-609600"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(Surah Al-</a:t>
            </a:r>
            <a:r>
              <a:rPr lang="en-US" dirty="0" err="1"/>
              <a:t>A’raf</a:t>
            </a:r>
            <a:r>
              <a:rPr lang="en-US" dirty="0"/>
              <a:t> Ayah 172)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23348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(2) Acceptance of Islam is a covenant with Allah that we will follow his commands in letter and spirit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b="1" u="sng" dirty="0"/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b="1" u="sng" dirty="0"/>
              <a:t>QURANIC STATEMENET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“And fulfill the Covenant of Allah </a:t>
            </a:r>
            <a:r>
              <a:rPr lang="en-US" sz="1600" dirty="0"/>
              <a:t>(pledge for Islam)</a:t>
            </a:r>
            <a:r>
              <a:rPr lang="en-US" dirty="0"/>
              <a:t> when you have covenanted, and break not the oaths after you have confirmed them” 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(Surah An-</a:t>
            </a:r>
            <a:r>
              <a:rPr lang="en-US" dirty="0" err="1"/>
              <a:t>Nahl</a:t>
            </a:r>
            <a:r>
              <a:rPr lang="en-US" dirty="0"/>
              <a:t> Ayah 91)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dirty="0"/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9730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COVENANTS WITH HUMANS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Covenants and promises made by humans with humans are divided into </a:t>
            </a:r>
            <a:r>
              <a:rPr lang="en-US" b="1" dirty="0"/>
              <a:t>TWO</a:t>
            </a:r>
            <a:r>
              <a:rPr lang="en-US" dirty="0"/>
              <a:t> categories: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arenBoth"/>
            </a:pPr>
            <a:r>
              <a:rPr lang="en-US" dirty="0"/>
              <a:t>One sided covenant that a person makes with others</a:t>
            </a:r>
          </a:p>
          <a:p>
            <a:pPr marL="609600" indent="-609600" algn="ctr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b="1" u="sng" dirty="0" smtClean="0"/>
          </a:p>
          <a:p>
            <a:pPr marL="609600" indent="-609600" algn="ctr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b="1" u="sng" dirty="0"/>
          </a:p>
          <a:p>
            <a:pPr marL="609600" indent="-609600"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b="1" u="sng" dirty="0" smtClean="0"/>
              <a:t>QURANIC </a:t>
            </a:r>
            <a:r>
              <a:rPr lang="en-US" b="1" u="sng" dirty="0"/>
              <a:t>STATEMENET</a:t>
            </a:r>
            <a:endParaRPr lang="en-US" dirty="0"/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“And (success is attained by ) those who are faithfully true to their </a:t>
            </a:r>
            <a:r>
              <a:rPr lang="en-US" i="1" dirty="0" err="1"/>
              <a:t>Amanat</a:t>
            </a:r>
            <a:r>
              <a:rPr lang="en-US" i="1" dirty="0"/>
              <a:t> (trusts) </a:t>
            </a:r>
            <a:r>
              <a:rPr lang="en-US" dirty="0"/>
              <a:t>and to their covenants”</a:t>
            </a:r>
          </a:p>
          <a:p>
            <a:pPr marL="609600" indent="-609600"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(Surah Al-</a:t>
            </a:r>
            <a:r>
              <a:rPr lang="en-US" dirty="0" err="1"/>
              <a:t>Mominon</a:t>
            </a:r>
            <a:r>
              <a:rPr lang="en-US" dirty="0"/>
              <a:t> Ayah 8)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1717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dirty="0"/>
              <a:t>(2) Dual sided covenants which are known as </a:t>
            </a:r>
            <a:r>
              <a:rPr lang="en-US" b="1" dirty="0"/>
              <a:t>AGREEMENTS</a:t>
            </a:r>
            <a:r>
              <a:rPr lang="en-US" dirty="0"/>
              <a:t> and </a:t>
            </a:r>
            <a:r>
              <a:rPr lang="en-US" b="1" dirty="0"/>
              <a:t>PACTS</a:t>
            </a:r>
          </a:p>
          <a:p>
            <a:pPr>
              <a:buFont typeface="Wingdings" panose="05000000000000000000" pitchFamily="2" charset="2"/>
              <a:buNone/>
            </a:pPr>
            <a:endParaRPr lang="en-US" b="1" dirty="0"/>
          </a:p>
          <a:p>
            <a:pPr algn="ctr">
              <a:buFont typeface="Wingdings" panose="05000000000000000000" pitchFamily="2" charset="2"/>
              <a:buNone/>
            </a:pPr>
            <a:r>
              <a:rPr lang="en-US" b="1" u="sng" dirty="0"/>
              <a:t>QURANIC STATEMENET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dirty="0"/>
              <a:t>“O you who believe! Fulfill (your) contracts“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dirty="0"/>
              <a:t>(Surah Al-</a:t>
            </a:r>
            <a:r>
              <a:rPr lang="en-US" dirty="0" err="1"/>
              <a:t>Maidah</a:t>
            </a:r>
            <a:r>
              <a:rPr lang="en-US" dirty="0"/>
              <a:t> Ayah 1)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02373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STATEMENTS OF HADITH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 algn="ctr">
              <a:buFont typeface="Wingdings" panose="05000000000000000000" pitchFamily="2" charset="2"/>
              <a:buNone/>
            </a:pPr>
            <a:r>
              <a:rPr lang="en-US" b="1" u="sng" dirty="0"/>
              <a:t>BREAKING A PROMISE IS A SIGN OF WEEK FAITH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dirty="0"/>
              <a:t>(1) “The person is without (true) faith, who does not keep promise”</a:t>
            </a:r>
          </a:p>
          <a:p>
            <a:pPr marL="609600" indent="-609600">
              <a:buFont typeface="Wingdings" panose="05000000000000000000" pitchFamily="2" charset="2"/>
              <a:buNone/>
            </a:pPr>
            <a:endParaRPr lang="en-US" dirty="0"/>
          </a:p>
          <a:p>
            <a:pPr marL="609600" indent="-609600" algn="ctr">
              <a:buFont typeface="Wingdings" panose="05000000000000000000" pitchFamily="2" charset="2"/>
              <a:buNone/>
            </a:pPr>
            <a:r>
              <a:rPr lang="en-US" b="1" u="sng" dirty="0"/>
              <a:t>ONE OF THE SIGNS OF HYPOCRITES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dirty="0"/>
              <a:t>(2) “There are three signs of a hypocrites</a:t>
            </a:r>
            <a:r>
              <a:rPr lang="en-US" dirty="0" smtClean="0"/>
              <a:t>:</a:t>
            </a:r>
          </a:p>
          <a:p>
            <a:pPr marL="609600" indent="-609600">
              <a:buFont typeface="Wingdings" panose="05000000000000000000" pitchFamily="2" charset="2"/>
              <a:buNone/>
            </a:pPr>
            <a:endParaRPr lang="en-US" dirty="0"/>
          </a:p>
          <a:p>
            <a:pPr marL="609600" indent="-609600">
              <a:buFont typeface="Wingdings" panose="05000000000000000000" pitchFamily="2" charset="2"/>
              <a:buAutoNum type="alphaLcParenBoth"/>
            </a:pPr>
            <a:r>
              <a:rPr lang="en-US" dirty="0"/>
              <a:t>Whenever he speaks, he tells a lie</a:t>
            </a:r>
          </a:p>
          <a:p>
            <a:pPr marL="609600" indent="-609600">
              <a:buFont typeface="Wingdings" panose="05000000000000000000" pitchFamily="2" charset="2"/>
              <a:buAutoNum type="alphaLcParenBoth"/>
            </a:pPr>
            <a:r>
              <a:rPr lang="en-US" dirty="0"/>
              <a:t>Whenever he makes a promise, he never keeps it</a:t>
            </a:r>
          </a:p>
          <a:p>
            <a:pPr marL="609600" indent="-609600">
              <a:buFont typeface="Wingdings" panose="05000000000000000000" pitchFamily="2" charset="2"/>
              <a:buAutoNum type="alphaLcParenBoth"/>
            </a:pPr>
            <a:r>
              <a:rPr lang="en-US" dirty="0"/>
              <a:t>Whenever he is given a trust, he </a:t>
            </a:r>
            <a:r>
              <a:rPr lang="en-US" dirty="0" smtClean="0"/>
              <a:t>embezzles </a:t>
            </a:r>
            <a:r>
              <a:rPr lang="en-US" dirty="0"/>
              <a:t>it”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143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AYAH # 35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ar-SA" b="1" dirty="0"/>
              <a:t>وَأَوْفُوا الْكَيْلَ إِذا كِلْتُمْ وَزِنُواْ بِالقِسْطَاسِ الْمُسْتَقِيمِ ذَلِكَ خَيْرٌ وَأَحْسَنُ تَأْوِيلاً</a:t>
            </a:r>
            <a:endParaRPr lang="en-US" b="1" dirty="0"/>
          </a:p>
          <a:p>
            <a:pPr algn="ctr">
              <a:buFont typeface="Wingdings" panose="05000000000000000000" pitchFamily="2" charset="2"/>
              <a:buNone/>
            </a:pPr>
            <a:endParaRPr lang="en-US" b="1" u="sng" dirty="0"/>
          </a:p>
          <a:p>
            <a:pPr algn="ctr">
              <a:buFont typeface="Wingdings" panose="05000000000000000000" pitchFamily="2" charset="2"/>
              <a:buNone/>
            </a:pPr>
            <a:r>
              <a:rPr lang="en-US" b="1" u="sng" dirty="0"/>
              <a:t>TRANSLATION: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dirty="0"/>
              <a:t>“And give full measure when you measure, and weigh with a scale that is straight. That is better and fairer in the end.”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5752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 smtClean="0"/>
              <a:t>DIRECT </a:t>
            </a:r>
            <a:r>
              <a:rPr lang="en-US" u="sng" dirty="0"/>
              <a:t>THEME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Font typeface="Wingdings" panose="05000000000000000000" pitchFamily="2" charset="2"/>
              <a:buAutoNum type="arabicParenBoth"/>
            </a:pPr>
            <a:r>
              <a:rPr lang="en-US" dirty="0"/>
              <a:t>Direction about giving full measurement </a:t>
            </a:r>
          </a:p>
          <a:p>
            <a:pPr marL="609600" indent="-609600">
              <a:buFont typeface="Wingdings" panose="05000000000000000000" pitchFamily="2" charset="2"/>
              <a:buAutoNum type="arabicParenBoth"/>
            </a:pPr>
            <a:r>
              <a:rPr lang="en-US" dirty="0"/>
              <a:t>Not giving full measurement is forbidden and the reason for destruction of the </a:t>
            </a:r>
            <a:r>
              <a:rPr lang="en-US" dirty="0" smtClean="0"/>
              <a:t>nations e.g. the nation of </a:t>
            </a:r>
            <a:r>
              <a:rPr lang="en-US" dirty="0" err="1"/>
              <a:t>Hazrat</a:t>
            </a:r>
            <a:r>
              <a:rPr lang="en-US" dirty="0"/>
              <a:t> </a:t>
            </a:r>
            <a:r>
              <a:rPr lang="en-US" dirty="0" err="1" smtClean="0"/>
              <a:t>Shoiab</a:t>
            </a:r>
            <a:r>
              <a:rPr lang="en-US" dirty="0" smtClean="0"/>
              <a:t> (A.H.)</a:t>
            </a:r>
            <a:endParaRPr lang="en-US" dirty="0"/>
          </a:p>
          <a:p>
            <a:pPr marL="609600" indent="-609600"/>
            <a:endParaRPr lang="en-US" dirty="0"/>
          </a:p>
          <a:p>
            <a:pPr marL="609600" indent="-609600" algn="ctr">
              <a:buFont typeface="Wingdings" panose="05000000000000000000" pitchFamily="2" charset="2"/>
              <a:buNone/>
            </a:pPr>
            <a:r>
              <a:rPr lang="en-US" b="1" u="sng" dirty="0" smtClean="0"/>
              <a:t>INDIRECT THEME</a:t>
            </a:r>
            <a:endParaRPr lang="en-US" b="1" u="sng" dirty="0"/>
          </a:p>
          <a:p>
            <a:pPr marL="609600" indent="-609600" algn="ctr">
              <a:buFont typeface="Wingdings" panose="05000000000000000000" pitchFamily="2" charset="2"/>
              <a:buNone/>
            </a:pPr>
            <a:r>
              <a:rPr lang="en-US" dirty="0"/>
              <a:t>Being dutiful to one’s job and duty is also enjoined here indirectly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9777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QURANIC REFERENCES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en-US" dirty="0"/>
              <a:t>(1) "Give full measure, and cause no loss (to others) And weigh with straight scale”</a:t>
            </a:r>
          </a:p>
          <a:p>
            <a:pPr marL="609600" indent="-609600" algn="ctr">
              <a:buFont typeface="Wingdings" panose="05000000000000000000" pitchFamily="2" charset="2"/>
              <a:buNone/>
            </a:pPr>
            <a:r>
              <a:rPr lang="en-US" dirty="0"/>
              <a:t>(Surah </a:t>
            </a:r>
            <a:r>
              <a:rPr lang="en-US" dirty="0" err="1"/>
              <a:t>Shu’ara</a:t>
            </a:r>
            <a:r>
              <a:rPr lang="en-US" dirty="0"/>
              <a:t> Ayah 181, 182)</a:t>
            </a:r>
          </a:p>
          <a:p>
            <a:pPr marL="609600" indent="-609600" algn="ctr">
              <a:buFont typeface="Wingdings" panose="05000000000000000000" pitchFamily="2" charset="2"/>
              <a:buNone/>
            </a:pPr>
            <a:endParaRPr lang="en-US" dirty="0"/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dirty="0"/>
              <a:t>(2) “ Woe to </a:t>
            </a:r>
            <a:r>
              <a:rPr lang="en-US" i="1" dirty="0"/>
              <a:t>Al-</a:t>
            </a:r>
            <a:r>
              <a:rPr lang="en-US" i="1" dirty="0" err="1"/>
              <a:t>Mutaffifin</a:t>
            </a:r>
            <a:r>
              <a:rPr lang="en-US" i="1" dirty="0"/>
              <a:t> </a:t>
            </a:r>
            <a:r>
              <a:rPr lang="en-US" sz="1600" dirty="0"/>
              <a:t>[those who give less in measure and weight (decrease the rights of others)],</a:t>
            </a:r>
            <a:r>
              <a:rPr lang="en-US" b="1" dirty="0"/>
              <a:t> </a:t>
            </a:r>
            <a:r>
              <a:rPr lang="en-US" dirty="0"/>
              <a:t>Those who, when they have to receive by measure from people, demand full measure, And when they have to give by measure or weight to people, give less than due”</a:t>
            </a:r>
          </a:p>
          <a:p>
            <a:pPr marL="609600" indent="-609600" algn="ctr">
              <a:buFont typeface="Wingdings" panose="05000000000000000000" pitchFamily="2" charset="2"/>
              <a:buNone/>
            </a:pPr>
            <a:r>
              <a:rPr lang="en-US" dirty="0"/>
              <a:t>(Surah Al-</a:t>
            </a:r>
            <a:r>
              <a:rPr lang="en-US" dirty="0" err="1"/>
              <a:t>Mutaffifin</a:t>
            </a:r>
            <a:r>
              <a:rPr lang="en-US" dirty="0"/>
              <a:t> Ayah 1-3)</a:t>
            </a:r>
          </a:p>
          <a:p>
            <a:pPr marL="609600" indent="-609600">
              <a:buFont typeface="Wingdings" panose="05000000000000000000" pitchFamily="2" charset="2"/>
              <a:buAutoNum type="arabicParenBoth"/>
            </a:pPr>
            <a:endParaRPr lang="en-US" dirty="0"/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84811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AYAH # 36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ar-SA" b="1" dirty="0"/>
              <a:t>وَلاَ تَقْفُ مَا لَيْسَ لَكَ بِهِ عِلْمٌ إِنَّ السَّمْعَ وَالْبَصَرَ وَالْفُؤَادَ كُلُّ أُولـئِكَ كَانَ عَنْهُ مَسْؤُولاً</a:t>
            </a:r>
            <a:endParaRPr lang="en-US" b="1" dirty="0"/>
          </a:p>
          <a:p>
            <a:pPr algn="ctr">
              <a:buFont typeface="Wingdings" panose="05000000000000000000" pitchFamily="2" charset="2"/>
              <a:buNone/>
            </a:pPr>
            <a:endParaRPr lang="en-US" b="1" u="sng" dirty="0"/>
          </a:p>
          <a:p>
            <a:pPr algn="ctr">
              <a:buFont typeface="Wingdings" panose="05000000000000000000" pitchFamily="2" charset="2"/>
              <a:buNone/>
            </a:pPr>
            <a:r>
              <a:rPr lang="en-US" b="1" u="sng" dirty="0"/>
              <a:t>TRANSLATION: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dirty="0"/>
              <a:t>“And follow not that of which you have no knowledge. Verily, the hearing, and the sight, and the heart, of each of those ones will be questioned (by Allah)”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6730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MAIN THEME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en-US" dirty="0"/>
              <a:t>A golden principle about social life has been directed that</a:t>
            </a:r>
            <a:r>
              <a:rPr lang="en-US" dirty="0" smtClean="0"/>
              <a:t>:</a:t>
            </a:r>
          </a:p>
          <a:p>
            <a:pPr marL="609600" indent="-609600">
              <a:buFont typeface="Wingdings" panose="05000000000000000000" pitchFamily="2" charset="2"/>
              <a:buNone/>
            </a:pPr>
            <a:endParaRPr lang="en-US" dirty="0"/>
          </a:p>
          <a:p>
            <a:pPr marL="609600" indent="-609600">
              <a:buFont typeface="Wingdings" panose="05000000000000000000" pitchFamily="2" charset="2"/>
              <a:buAutoNum type="alphaLcParenBoth"/>
            </a:pPr>
            <a:r>
              <a:rPr lang="en-US" dirty="0"/>
              <a:t>None should follow about which he is not sure and has no confirmation </a:t>
            </a:r>
            <a:endParaRPr lang="en-US" dirty="0" smtClean="0"/>
          </a:p>
          <a:p>
            <a:pPr marL="609600" indent="-609600">
              <a:buFont typeface="Wingdings" panose="05000000000000000000" pitchFamily="2" charset="2"/>
              <a:buAutoNum type="alphaLcParenBoth"/>
            </a:pPr>
            <a:endParaRPr lang="en-US" dirty="0"/>
          </a:p>
          <a:p>
            <a:pPr marL="609600" indent="-609600">
              <a:buFont typeface="Wingdings" panose="05000000000000000000" pitchFamily="2" charset="2"/>
              <a:buAutoNum type="alphaLcParenBoth"/>
            </a:pPr>
            <a:r>
              <a:rPr lang="en-US" dirty="0"/>
              <a:t>None should follow whims and conjectures but follow the things about which he has solid knowledge</a:t>
            </a:r>
          </a:p>
          <a:p>
            <a:pPr marL="609600" indent="-609600">
              <a:buFont typeface="Wingdings" panose="05000000000000000000" pitchFamily="2" charset="2"/>
              <a:buAutoNum type="alphaLcParenBoth"/>
            </a:pPr>
            <a:endParaRPr lang="en-US" dirty="0"/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91836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REFERENCES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b="1" u="sng" dirty="0"/>
              <a:t>QURANIC STATEMENTS:</a:t>
            </a:r>
          </a:p>
          <a:p>
            <a:pPr marL="609600" indent="-609600" algn="ctr">
              <a:lnSpc>
                <a:spcPct val="90000"/>
              </a:lnSpc>
              <a:buFont typeface="Wingdings" panose="05000000000000000000" pitchFamily="2" charset="2"/>
              <a:buAutoNum type="alphaLcParenBoth"/>
            </a:pPr>
            <a:r>
              <a:rPr lang="en-US" dirty="0"/>
              <a:t>“O you who believe! If a rebellious evil person comes to you with a news, verify it, lest you harm people in ignorance, and afterwards you become regretful to what you have done”</a:t>
            </a:r>
          </a:p>
          <a:p>
            <a:pPr marL="609600" indent="-609600"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(Surah Al-</a:t>
            </a:r>
            <a:r>
              <a:rPr lang="en-US" dirty="0" err="1"/>
              <a:t>Hujurat</a:t>
            </a:r>
            <a:r>
              <a:rPr lang="en-US" dirty="0"/>
              <a:t> Ayah 6)</a:t>
            </a:r>
          </a:p>
          <a:p>
            <a:pPr marL="609600" indent="-609600" algn="ctr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dirty="0"/>
          </a:p>
          <a:p>
            <a:pPr marL="609600" indent="-609600"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(b) “O you who believe! Avoid much suspicions, indeed some suspicions are sins”</a:t>
            </a:r>
          </a:p>
          <a:p>
            <a:pPr marL="609600" indent="-609600"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(Surah Al-</a:t>
            </a:r>
            <a:r>
              <a:rPr lang="en-US" dirty="0" err="1"/>
              <a:t>Hujurat</a:t>
            </a:r>
            <a:r>
              <a:rPr lang="en-US" dirty="0"/>
              <a:t> Ayah 12)</a:t>
            </a:r>
          </a:p>
          <a:p>
            <a:pPr marL="609600" indent="-609600" algn="ctr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dirty="0"/>
          </a:p>
          <a:p>
            <a:pPr marL="609600" indent="-609600" algn="ctr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dirty="0"/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838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HADITH STATEMENT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b="1" dirty="0"/>
              <a:t> </a:t>
            </a:r>
            <a:r>
              <a:rPr lang="ar-SA" b="1" dirty="0"/>
              <a:t>كفى بالمرء كذبا أن يحدث بكل ما سمع</a:t>
            </a:r>
            <a:r>
              <a:rPr lang="en-US" dirty="0"/>
              <a:t> </a:t>
            </a:r>
            <a:r>
              <a:rPr lang="en-US" b="1" dirty="0"/>
              <a:t> </a:t>
            </a:r>
            <a:r>
              <a:rPr lang="en-US" dirty="0"/>
              <a:t> 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b="1" u="sng" dirty="0"/>
              <a:t>TRANSLATION: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“It is enough evidence for a person to prove him a liar </a:t>
            </a:r>
            <a:r>
              <a:rPr lang="en-US" sz="1600" dirty="0"/>
              <a:t>(and trustless person)</a:t>
            </a:r>
            <a:r>
              <a:rPr lang="en-US" dirty="0"/>
              <a:t> that he narrates every hearsay” </a:t>
            </a:r>
            <a:r>
              <a:rPr lang="en-US" sz="1600" dirty="0"/>
              <a:t>(without making an investigation about its veracity)”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1600" dirty="0"/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ar-SA" b="1" dirty="0"/>
              <a:t>إِيَّاكُمْ وَالظَّنّ فَإِنَّ الظَّنَّ أَكْذَبُ الْحَدِيث</a:t>
            </a:r>
            <a:endParaRPr lang="en-US" b="1" dirty="0"/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b="1" u="sng" dirty="0"/>
              <a:t>TRANSLATION: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“Beware of suspicion, for suspicion is the falsest of speech”</a:t>
            </a:r>
            <a:endParaRPr lang="en-US" sz="1600" b="1" dirty="0"/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1600" b="1" dirty="0"/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3005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Ayah 37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GB" b="1" dirty="0" smtClean="0"/>
          </a:p>
          <a:p>
            <a:pPr marL="0" indent="0" algn="ctr">
              <a:buNone/>
            </a:pPr>
            <a:r>
              <a:rPr lang="ar-AE" b="1" dirty="0" smtClean="0"/>
              <a:t>وَلَا </a:t>
            </a:r>
            <a:r>
              <a:rPr lang="ar-AE" b="1" dirty="0"/>
              <a:t>تَمۡشِ فِى ٱلۡأَرۡضِ مَرَحًا‌ۖ إِنَّكَ لَن تَخۡرِقَ ٱلۡأَرۡضَ وَلَن تَبۡلُغَ ٱلۡجِبَالَ </a:t>
            </a:r>
            <a:r>
              <a:rPr lang="ar-AE" b="1" dirty="0" smtClean="0"/>
              <a:t>طُولاً۬</a:t>
            </a:r>
            <a:endParaRPr lang="en-GB" b="1" dirty="0" smtClean="0"/>
          </a:p>
          <a:p>
            <a:pPr marL="0" indent="0" algn="ctr">
              <a:buNone/>
            </a:pPr>
            <a:endParaRPr lang="en-GB" b="1" dirty="0" smtClean="0"/>
          </a:p>
          <a:p>
            <a:pPr marL="0" indent="0" algn="ctr">
              <a:buNone/>
            </a:pPr>
            <a:endParaRPr lang="en-GB" b="1" dirty="0"/>
          </a:p>
          <a:p>
            <a:pPr marL="0" indent="0" algn="ctr">
              <a:buNone/>
            </a:pPr>
            <a:r>
              <a:rPr lang="en-GB" b="1" dirty="0" smtClean="0"/>
              <a:t>Translation</a:t>
            </a:r>
          </a:p>
          <a:p>
            <a:pPr marL="0" indent="0" algn="ctr">
              <a:buNone/>
            </a:pPr>
            <a:r>
              <a:rPr lang="en-GB" dirty="0" smtClean="0"/>
              <a:t>“And </a:t>
            </a:r>
            <a:r>
              <a:rPr lang="en-GB" dirty="0"/>
              <a:t>walk not on the earth with conceit and arrogance. Verily, you can neither rend nor penetrate the earth, nor can you attain a stature like the mountains in </a:t>
            </a:r>
            <a:r>
              <a:rPr lang="en-GB" dirty="0" smtClean="0"/>
              <a:t>height”. </a:t>
            </a:r>
            <a:endParaRPr lang="en-GB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175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MAIN THEME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Pride is forbidden in Islam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sz="3200" b="1" dirty="0" smtClean="0"/>
              <a:t>What is pride?</a:t>
            </a: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 smtClean="0"/>
              <a:t>To consider yourself superior due to any physical/ mental/God-gifted quality and consider others inferior due to lack/ inferiority of that quality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32547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Ayah 38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ks-Arab" b="1" dirty="0" smtClean="0"/>
              <a:t>ۥ</a:t>
            </a:r>
            <a:r>
              <a:rPr lang="ks-Arab" b="1" dirty="0"/>
              <a:t> ۥ </a:t>
            </a:r>
            <a:r>
              <a:rPr lang="ks-Arab" b="1" dirty="0" smtClean="0"/>
              <a:t>كُلُّ </a:t>
            </a:r>
            <a:r>
              <a:rPr lang="ks-Arab" b="1" dirty="0"/>
              <a:t>ذَٲلِكَ كَانَ </a:t>
            </a:r>
            <a:r>
              <a:rPr lang="ks-Arab" b="1" dirty="0" smtClean="0"/>
              <a:t>سَيِّئُهُ</a:t>
            </a:r>
            <a:r>
              <a:rPr lang="ks-Arab" b="1" dirty="0"/>
              <a:t> عِندَ رَبِّكَ </a:t>
            </a:r>
            <a:r>
              <a:rPr lang="ks-Arab" b="1" dirty="0" smtClean="0"/>
              <a:t>مَكۡرُوهً۬ا </a:t>
            </a:r>
            <a:endParaRPr lang="en-GB" b="1" dirty="0" smtClean="0"/>
          </a:p>
          <a:p>
            <a:pPr marL="0" indent="0" algn="ctr">
              <a:buNone/>
            </a:pPr>
            <a:endParaRPr lang="en-GB" b="1" dirty="0" smtClean="0"/>
          </a:p>
          <a:p>
            <a:pPr marL="0" indent="0" algn="ctr">
              <a:buNone/>
            </a:pPr>
            <a:r>
              <a:rPr lang="en-GB" b="1" dirty="0" smtClean="0"/>
              <a:t>Translation</a:t>
            </a:r>
          </a:p>
          <a:p>
            <a:pPr marL="0" indent="0" algn="ctr">
              <a:buNone/>
            </a:pPr>
            <a:endParaRPr lang="en-GB" b="1" dirty="0"/>
          </a:p>
          <a:p>
            <a:pPr marL="0" indent="0" algn="ctr">
              <a:buNone/>
            </a:pPr>
            <a:r>
              <a:rPr lang="en-GB" dirty="0" smtClean="0"/>
              <a:t>“All </a:t>
            </a:r>
            <a:r>
              <a:rPr lang="en-GB" dirty="0"/>
              <a:t>the bad aspects of these </a:t>
            </a:r>
            <a:r>
              <a:rPr lang="en-GB" sz="1800" dirty="0"/>
              <a:t>(the above mentioned </a:t>
            </a:r>
            <a:r>
              <a:rPr lang="en-GB" sz="1800" dirty="0" smtClean="0"/>
              <a:t>things in last fifteen Ayahs)</a:t>
            </a:r>
            <a:r>
              <a:rPr lang="en-GB" dirty="0" smtClean="0"/>
              <a:t> </a:t>
            </a:r>
            <a:r>
              <a:rPr lang="en-GB" dirty="0"/>
              <a:t>are hateful to your </a:t>
            </a:r>
            <a:r>
              <a:rPr lang="en-GB" dirty="0" smtClean="0"/>
              <a:t>Lord”.</a:t>
            </a:r>
            <a:endParaRPr lang="en-GB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156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Ayah 39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ks-Arab" b="1" dirty="0"/>
              <a:t>ذَٲلِكَ مِمَّآ أَوۡحَىٰٓ إِلَيۡكَ رَبُّكَ مِنَ ٱلۡحِكۡمَةِ‌ۗ وَلَا تَجۡعَلۡ مَعَ ٱللَّهِ إِلَـٰهًا ءَاخَرَ فَتُلۡقَىٰ فِى جَهَنَّمَ مَلُومً۬ا </a:t>
            </a:r>
            <a:r>
              <a:rPr lang="ks-Arab" b="1" dirty="0" smtClean="0"/>
              <a:t>مَّدۡحُورًا</a:t>
            </a:r>
            <a:endParaRPr lang="en-GB" b="1" dirty="0" smtClean="0"/>
          </a:p>
          <a:p>
            <a:pPr marL="0" indent="0" algn="ctr">
              <a:buNone/>
            </a:pPr>
            <a:endParaRPr lang="en-GB" b="1" dirty="0" smtClean="0"/>
          </a:p>
          <a:p>
            <a:pPr marL="0" indent="0" algn="ctr">
              <a:buNone/>
            </a:pPr>
            <a:r>
              <a:rPr lang="en-GB" b="1" dirty="0" smtClean="0"/>
              <a:t>Translation</a:t>
            </a:r>
          </a:p>
          <a:p>
            <a:pPr marL="0" indent="0" algn="ctr">
              <a:buNone/>
            </a:pPr>
            <a:endParaRPr lang="en-GB" b="1" dirty="0"/>
          </a:p>
          <a:p>
            <a:pPr marL="0" indent="0" algn="ctr">
              <a:buNone/>
            </a:pPr>
            <a:r>
              <a:rPr lang="en-GB" dirty="0" smtClean="0"/>
              <a:t>“This </a:t>
            </a:r>
            <a:r>
              <a:rPr lang="en-GB" dirty="0"/>
              <a:t>is (part) of Al-</a:t>
            </a:r>
            <a:r>
              <a:rPr lang="en-GB" dirty="0" err="1"/>
              <a:t>Hikmah</a:t>
            </a:r>
            <a:r>
              <a:rPr lang="en-GB" dirty="0"/>
              <a:t> (</a:t>
            </a:r>
            <a:r>
              <a:rPr lang="en-GB" dirty="0" smtClean="0"/>
              <a:t>wisdom) </a:t>
            </a:r>
            <a:r>
              <a:rPr lang="en-GB" dirty="0"/>
              <a:t>which your Lord has revealed to you (O Muhammad </a:t>
            </a:r>
            <a:r>
              <a:rPr lang="en-GB" dirty="0" smtClean="0"/>
              <a:t>(SAW) </a:t>
            </a:r>
            <a:r>
              <a:rPr lang="en-GB" dirty="0"/>
              <a:t>). And set not up with </a:t>
            </a:r>
            <a:r>
              <a:rPr lang="en-GB" dirty="0" err="1"/>
              <a:t>Allâh</a:t>
            </a:r>
            <a:r>
              <a:rPr lang="en-GB" dirty="0"/>
              <a:t> any other </a:t>
            </a:r>
            <a:r>
              <a:rPr lang="en-GB" dirty="0" err="1"/>
              <a:t>ilâh</a:t>
            </a:r>
            <a:r>
              <a:rPr lang="en-GB" dirty="0"/>
              <a:t> </a:t>
            </a:r>
            <a:r>
              <a:rPr lang="en-GB" dirty="0" smtClean="0"/>
              <a:t>(God), </a:t>
            </a:r>
            <a:r>
              <a:rPr lang="en-GB" dirty="0"/>
              <a:t>lest you should be thrown into Hell, blameworthy and rejected, </a:t>
            </a:r>
            <a:r>
              <a:rPr lang="en-GB" sz="1800" dirty="0"/>
              <a:t>(from </a:t>
            </a:r>
            <a:r>
              <a:rPr lang="en-GB" sz="1800" dirty="0" err="1"/>
              <a:t>Allâh's</a:t>
            </a:r>
            <a:r>
              <a:rPr lang="en-GB" sz="1800" dirty="0"/>
              <a:t> Mercy</a:t>
            </a:r>
            <a:r>
              <a:rPr lang="en-GB" sz="1800" dirty="0" smtClean="0"/>
              <a:t>)</a:t>
            </a:r>
            <a:r>
              <a:rPr lang="en-GB" dirty="0" smtClean="0"/>
              <a:t>”.</a:t>
            </a:r>
            <a:endParaRPr lang="en-GB" b="1" dirty="0" smtClean="0"/>
          </a:p>
          <a:p>
            <a:pPr marL="0" indent="0" algn="ctr">
              <a:buNone/>
            </a:pPr>
            <a:endParaRPr lang="en-GB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70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123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MAIN THEME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arenBoth"/>
            </a:pPr>
            <a:endParaRPr lang="en-GB" dirty="0" smtClean="0"/>
          </a:p>
          <a:p>
            <a:pPr marL="457200" indent="-457200">
              <a:buAutoNum type="arabicParenBoth"/>
            </a:pPr>
            <a:r>
              <a:rPr lang="en-GB" dirty="0" smtClean="0"/>
              <a:t>All the commandments given in last sixteen Ayahs are called as Al-</a:t>
            </a:r>
            <a:r>
              <a:rPr lang="en-GB" dirty="0" err="1" smtClean="0"/>
              <a:t>Hikmah</a:t>
            </a:r>
            <a:r>
              <a:rPr lang="en-GB" dirty="0" smtClean="0"/>
              <a:t> </a:t>
            </a:r>
            <a:r>
              <a:rPr lang="en-GB" sz="2000" dirty="0"/>
              <a:t>(wisdom, good manners and high </a:t>
            </a:r>
            <a:r>
              <a:rPr lang="en-GB" sz="2000" dirty="0" smtClean="0"/>
              <a:t>character)</a:t>
            </a:r>
            <a:endParaRPr lang="en-GB" sz="2000" dirty="0"/>
          </a:p>
          <a:p>
            <a:pPr marL="457200" indent="-457200">
              <a:buAutoNum type="arabicParenBoth"/>
            </a:pPr>
            <a:endParaRPr lang="en-GB" dirty="0" smtClean="0"/>
          </a:p>
          <a:p>
            <a:pPr marL="457200" indent="-457200">
              <a:buAutoNum type="arabicParenBoth"/>
            </a:pPr>
            <a:r>
              <a:rPr lang="en-GB" dirty="0" smtClean="0"/>
              <a:t>Shirk (Polytheism) is not acceptable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71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25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Ayah 40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ar-AE" b="1" dirty="0"/>
              <a:t> أَفَأَصۡفَٮٰكُمۡ رَبُّڪُم بِٱلۡبَنِينَ وَٱتَّخَذَ مِنَ ٱلۡمَلَـٰٓٮِٕكَةِ إِنَـٰثًا‌ۚ إِنَّكُمۡ لَتَقُولُونَ قَوۡلاً </a:t>
            </a:r>
            <a:r>
              <a:rPr lang="ar-AE" b="1" dirty="0" smtClean="0"/>
              <a:t>عَظِيمً۬</a:t>
            </a:r>
            <a:endParaRPr lang="en-GB" b="1" dirty="0" smtClean="0"/>
          </a:p>
          <a:p>
            <a:pPr marL="0" indent="0" algn="ctr">
              <a:buNone/>
            </a:pPr>
            <a:endParaRPr lang="en-GB" b="1" dirty="0" smtClean="0"/>
          </a:p>
          <a:p>
            <a:pPr marL="0" indent="0" algn="ctr">
              <a:buNone/>
            </a:pPr>
            <a:r>
              <a:rPr lang="en-GB" b="1" dirty="0" smtClean="0"/>
              <a:t>Translation</a:t>
            </a:r>
          </a:p>
          <a:p>
            <a:pPr marL="0" indent="0" algn="ctr">
              <a:buNone/>
            </a:pPr>
            <a:r>
              <a:rPr lang="en-GB" dirty="0" smtClean="0"/>
              <a:t>“Has </a:t>
            </a:r>
            <a:r>
              <a:rPr lang="en-GB" dirty="0"/>
              <a:t>then your Lord (O pagans of </a:t>
            </a:r>
            <a:r>
              <a:rPr lang="en-GB" dirty="0" err="1" smtClean="0"/>
              <a:t>Makkah</a:t>
            </a:r>
            <a:r>
              <a:rPr lang="en-GB" dirty="0" smtClean="0"/>
              <a:t>!) </a:t>
            </a:r>
            <a:r>
              <a:rPr lang="en-GB" dirty="0"/>
              <a:t>preferred for you sons, and taken for Himself from among the angels daughters? Verily! You indeed utter an </a:t>
            </a:r>
            <a:r>
              <a:rPr lang="en-GB"/>
              <a:t>awful </a:t>
            </a:r>
            <a:r>
              <a:rPr lang="en-GB" smtClean="0"/>
              <a:t>saying”.</a:t>
            </a:r>
            <a:endParaRPr lang="en-GB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72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2123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MAIN THEME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mtClean="0"/>
              <a:t>A specific </a:t>
            </a:r>
            <a:r>
              <a:rPr lang="en-GB" dirty="0" smtClean="0"/>
              <a:t>type of polytheism (considering angels as daughters of Allah) is condemned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Islamic &amp;  Religious Studies          Instructor: Prof. Abid Naeem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192BF-1547-4690-8514-213397476292}" type="slidenum">
              <a:rPr lang="en-GB" smtClean="0"/>
              <a:pPr/>
              <a:t>73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8010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atc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Thatch">
      <a:fillStyleLst>
        <a:solidFill>
          <a:schemeClr val="phClr"/>
        </a:solidFill>
        <a:gradFill rotWithShape="1">
          <a:gsLst>
            <a:gs pos="0">
              <a:schemeClr val="phClr">
                <a:tint val="79000"/>
                <a:satMod val="180000"/>
              </a:schemeClr>
            </a:gs>
            <a:gs pos="65000">
              <a:schemeClr val="phClr">
                <a:tint val="52000"/>
                <a:satMod val="250000"/>
              </a:schemeClr>
            </a:gs>
            <a:gs pos="100000">
              <a:schemeClr val="phClr">
                <a:tint val="29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8700000"/>
            </a:lightRig>
          </a:scene3d>
          <a:sp3d contourW="12700" prstMaterial="dkEdge">
            <a:bevelT w="0" h="0" prst="relaxedInset"/>
            <a:contourClr>
              <a:schemeClr val="phClr">
                <a:shade val="65000"/>
                <a:satMod val="15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13200000"/>
            </a:lightRig>
          </a:scene3d>
          <a:sp3d prstMaterial="dkEdge">
            <a:bevelT w="63500" h="50800" prst="relaxedIns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hade val="95000"/>
                <a:satMod val="200000"/>
              </a:schemeClr>
            </a:gs>
            <a:gs pos="53000">
              <a:schemeClr val="phClr">
                <a:shade val="60000"/>
                <a:satMod val="220000"/>
              </a:schemeClr>
            </a:gs>
            <a:gs pos="100000">
              <a:schemeClr val="phClr">
                <a:shade val="45000"/>
                <a:satMod val="22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3000"/>
                <a:shade val="97000"/>
                <a:satMod val="230000"/>
              </a:schemeClr>
            </a:gs>
            <a:gs pos="100000">
              <a:schemeClr val="phClr">
                <a:shade val="35000"/>
                <a:satMod val="250000"/>
              </a:schemeClr>
            </a:gs>
          </a:gsLst>
          <a:path path="circle">
            <a:fillToRect l="15000" t="50000" r="85000" b="6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Composite</Template>
  <TotalTime>1446</TotalTime>
  <Words>4511</Words>
  <Application>Microsoft Office PowerPoint</Application>
  <PresentationFormat>On-screen Show (4:3)</PresentationFormat>
  <Paragraphs>676</Paragraphs>
  <Slides>73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5" baseType="lpstr">
      <vt:lpstr>_PDMS_IslamicFont</vt:lpstr>
      <vt:lpstr>_PDMS_Saleem_QuranFont</vt:lpstr>
      <vt:lpstr>Arial</vt:lpstr>
      <vt:lpstr>Ayaat Circle-2</vt:lpstr>
      <vt:lpstr>Calibri</vt:lpstr>
      <vt:lpstr>Century Gothic</vt:lpstr>
      <vt:lpstr>Lotus Linotype</vt:lpstr>
      <vt:lpstr>Palatino Linotype</vt:lpstr>
      <vt:lpstr>Times New Roman</vt:lpstr>
      <vt:lpstr>Tw Cen MT</vt:lpstr>
      <vt:lpstr>Wingdings</vt:lpstr>
      <vt:lpstr>Thatch</vt:lpstr>
      <vt:lpstr>PowerPoint Presentation</vt:lpstr>
      <vt:lpstr> AYAH # 31 </vt:lpstr>
      <vt:lpstr>MAIN THEME</vt:lpstr>
      <vt:lpstr>EXPLANATION</vt:lpstr>
      <vt:lpstr>BURYING DAUGHTER ALIVE IS FORBIDDEN IN ISLAM</vt:lpstr>
      <vt:lpstr>QURANIC QUOTATIONS</vt:lpstr>
      <vt:lpstr>HADITH QUOTATIONS</vt:lpstr>
      <vt:lpstr>WHAT IS FAMILY PLANNING?</vt:lpstr>
      <vt:lpstr>REASONS OF FAMILY PLANNING?</vt:lpstr>
      <vt:lpstr>METHODS OF FAMILY PLANNING</vt:lpstr>
      <vt:lpstr>ISLAMIC VERDICT </vt:lpstr>
      <vt:lpstr>WHEN FAMILY PLANNING IS PERMISSIBLE?</vt:lpstr>
      <vt:lpstr>WHY  FAMILY PLANNING IS PROHIBITED IN ISLAM?</vt:lpstr>
      <vt:lpstr>REFUTATION OF FAMILY PLANNING THEORY</vt:lpstr>
      <vt:lpstr>QURANIC QUOTATIONS (1)</vt:lpstr>
      <vt:lpstr>INTERPRETATION</vt:lpstr>
      <vt:lpstr>HADITH QUOTATIONS (1)</vt:lpstr>
      <vt:lpstr>HADITH QUOTATIONS (2)</vt:lpstr>
      <vt:lpstr>AYAH# 32</vt:lpstr>
      <vt:lpstr>MAIN THEME</vt:lpstr>
      <vt:lpstr>SHARIAH VERDICT</vt:lpstr>
      <vt:lpstr>HADITH QUOTATIONS (1)</vt:lpstr>
      <vt:lpstr>HADITH QUOTATIONS (2)</vt:lpstr>
      <vt:lpstr>Continuation…</vt:lpstr>
      <vt:lpstr>HADITH QUOTATIONS (3)</vt:lpstr>
      <vt:lpstr>VICES OF ADULTRY (1)</vt:lpstr>
      <vt:lpstr>VICES OF ADULTRY (2)</vt:lpstr>
      <vt:lpstr>      HOW A HOW A PERSON CAN SAVE HIMSELF FROM THIS SIN?</vt:lpstr>
      <vt:lpstr>        QURANIC DIRECTIONS FOR WOMEN</vt:lpstr>
      <vt:lpstr> INJUNCTIONS OF HIJAB IN QURAN (2) </vt:lpstr>
      <vt:lpstr>INJUNCTIONS OF HIJAB IN HADITH</vt:lpstr>
      <vt:lpstr>SOME ABOUT HIJAB</vt:lpstr>
      <vt:lpstr>HADITH STATEMENT</vt:lpstr>
      <vt:lpstr>DEFINITION OF “HUDOOD” </vt:lpstr>
      <vt:lpstr>KINDS OF FORNICATION </vt:lpstr>
      <vt:lpstr>PUNISHMENT (1)</vt:lpstr>
      <vt:lpstr>PUNISHMENT (2)</vt:lpstr>
      <vt:lpstr> CONDITIONS OBSEREVED FOR PUNISHMENT</vt:lpstr>
      <vt:lpstr>AYAH # 33</vt:lpstr>
      <vt:lpstr>MAIN THEME </vt:lpstr>
      <vt:lpstr>INTERPRETATION OF A KEY WORD</vt:lpstr>
      <vt:lpstr>LAWFUL KILLING IN ISLAM</vt:lpstr>
      <vt:lpstr>TYPES OF KILLING &amp; THEIR PUNISHMENT</vt:lpstr>
      <vt:lpstr>(1) RIGHT OF TAKE QISAS (2) INSTRUCTIONS FOR TAKING QISAS </vt:lpstr>
      <vt:lpstr>QURANIC QUOTATIONS</vt:lpstr>
      <vt:lpstr>HADITH QUOTATIONS</vt:lpstr>
      <vt:lpstr>AYAH# 34</vt:lpstr>
      <vt:lpstr>MAIN THEME</vt:lpstr>
      <vt:lpstr>WHO IS AN ORPHAN?</vt:lpstr>
      <vt:lpstr>REFERENCES</vt:lpstr>
      <vt:lpstr>TEACHINGS OF HADITH</vt:lpstr>
      <vt:lpstr>WHAT IS GOOD MANNER? </vt:lpstr>
      <vt:lpstr>AGE OF PUBERTY</vt:lpstr>
      <vt:lpstr>DIRECTIONS ABOUT COVENANTS</vt:lpstr>
      <vt:lpstr>COVENANTS WITH ALLAH</vt:lpstr>
      <vt:lpstr>PowerPoint Presentation</vt:lpstr>
      <vt:lpstr>COVENANTS WITH HUMANS</vt:lpstr>
      <vt:lpstr>PowerPoint Presentation</vt:lpstr>
      <vt:lpstr>STATEMENTS OF HADITH</vt:lpstr>
      <vt:lpstr>AYAH # 35</vt:lpstr>
      <vt:lpstr>DIRECT THEME</vt:lpstr>
      <vt:lpstr>QURANIC REFERENCES</vt:lpstr>
      <vt:lpstr>AYAH # 36</vt:lpstr>
      <vt:lpstr>MAIN THEME</vt:lpstr>
      <vt:lpstr>REFERENCES</vt:lpstr>
      <vt:lpstr>HADITH STATEMENT</vt:lpstr>
      <vt:lpstr>Ayah 37</vt:lpstr>
      <vt:lpstr>MAIN THEME</vt:lpstr>
      <vt:lpstr>Ayah 38</vt:lpstr>
      <vt:lpstr>Ayah 39</vt:lpstr>
      <vt:lpstr>MAIN THEME</vt:lpstr>
      <vt:lpstr>Ayah 40</vt:lpstr>
      <vt:lpstr>MAIN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QURANIC AYAHS (32--40) </dc:title>
  <dc:creator>Abid Naeem</dc:creator>
  <cp:lastModifiedBy>Abid Naeem</cp:lastModifiedBy>
  <cp:revision>427</cp:revision>
  <dcterms:created xsi:type="dcterms:W3CDTF">2012-11-02T13:56:00Z</dcterms:created>
  <dcterms:modified xsi:type="dcterms:W3CDTF">2015-11-16T03:30:21Z</dcterms:modified>
</cp:coreProperties>
</file>