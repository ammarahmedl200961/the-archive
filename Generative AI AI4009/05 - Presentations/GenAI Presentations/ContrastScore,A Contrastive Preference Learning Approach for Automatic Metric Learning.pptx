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8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70" r:id="rId14"/>
    <p:sldId id="271" r:id="rId15"/>
    <p:sldId id="272" r:id="rId16"/>
    <p:sldId id="273" r:id="rId17"/>
    <p:sldId id="257" r:id="rId18"/>
    <p:sldId id="263" r:id="rId19"/>
    <p:sldId id="264" r:id="rId20"/>
    <p:sldId id="265" r:id="rId21"/>
    <p:sldId id="266" r:id="rId22"/>
    <p:sldId id="267" r:id="rId23"/>
    <p:sldId id="268" r:id="rId24"/>
    <p:sldId id="284" r:id="rId25"/>
    <p:sldId id="256" r:id="rId26"/>
    <p:sldId id="261" r:id="rId27"/>
    <p:sldId id="262" r:id="rId28"/>
    <p:sldId id="285" r:id="rId29"/>
    <p:sldId id="269" r:id="rId3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5B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C2807B-410E-88F8-AF60-15FF6633EF15}" v="176" dt="2025-05-10T09:45:20.195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B1C288-4F20-4532-979D-6230AEE7BE63}" type="doc">
      <dgm:prSet loTypeId="urn:microsoft.com/office/officeart/2005/8/layout/defaul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585C682-7EB8-41C6-BEE6-855AB1FC33D5}">
      <dgm:prSet/>
      <dgm:spPr/>
      <dgm:t>
        <a:bodyPr/>
        <a:lstStyle/>
        <a:p>
          <a:r>
            <a:rPr lang="en-US"/>
            <a:t>Text evaluation: as hard as text generation</a:t>
          </a:r>
        </a:p>
      </dgm:t>
    </dgm:pt>
    <dgm:pt modelId="{27B25F5E-D069-4760-9AC2-D74BE83D3979}" type="parTrans" cxnId="{C0D564AE-CFA7-4BCD-9B8E-1DB86944FFFB}">
      <dgm:prSet/>
      <dgm:spPr/>
      <dgm:t>
        <a:bodyPr/>
        <a:lstStyle/>
        <a:p>
          <a:endParaRPr lang="en-US"/>
        </a:p>
      </dgm:t>
    </dgm:pt>
    <dgm:pt modelId="{9FFB61E0-CBF9-49EE-9698-3CF0BA96291E}" type="sibTrans" cxnId="{C0D564AE-CFA7-4BCD-9B8E-1DB86944FFFB}">
      <dgm:prSet/>
      <dgm:spPr/>
      <dgm:t>
        <a:bodyPr/>
        <a:lstStyle/>
        <a:p>
          <a:endParaRPr lang="en-US"/>
        </a:p>
      </dgm:t>
    </dgm:pt>
    <dgm:pt modelId="{A1EB021B-53DD-430C-9DB2-487BCC1BC699}">
      <dgm:prSet/>
      <dgm:spPr/>
      <dgm:t>
        <a:bodyPr/>
        <a:lstStyle/>
        <a:p>
          <a:r>
            <a:rPr lang="en-US"/>
            <a:t>Existing metrics show weak alignment with human judgment</a:t>
          </a:r>
        </a:p>
      </dgm:t>
    </dgm:pt>
    <dgm:pt modelId="{64798679-1B75-4856-BEE8-1FD72BEF4E04}" type="parTrans" cxnId="{858D8813-F6EA-4137-9293-075C8E436AB3}">
      <dgm:prSet/>
      <dgm:spPr/>
      <dgm:t>
        <a:bodyPr/>
        <a:lstStyle/>
        <a:p>
          <a:endParaRPr lang="en-US"/>
        </a:p>
      </dgm:t>
    </dgm:pt>
    <dgm:pt modelId="{B31A8E28-DD90-4898-93C4-D3F7AFDBD7BF}" type="sibTrans" cxnId="{858D8813-F6EA-4137-9293-075C8E436AB3}">
      <dgm:prSet/>
      <dgm:spPr/>
      <dgm:t>
        <a:bodyPr/>
        <a:lstStyle/>
        <a:p>
          <a:endParaRPr lang="en-US"/>
        </a:p>
      </dgm:t>
    </dgm:pt>
    <dgm:pt modelId="{A4839AFE-C85B-4F66-BE2C-F1698C60FD22}">
      <dgm:prSet/>
      <dgm:spPr/>
      <dgm:t>
        <a:bodyPr/>
        <a:lstStyle/>
        <a:p>
          <a:r>
            <a:rPr lang="en-US"/>
            <a:t>New solution: ContrastScore leverages expert-amateur model contrast</a:t>
          </a:r>
        </a:p>
      </dgm:t>
    </dgm:pt>
    <dgm:pt modelId="{CBD5A154-3466-4186-8F8F-BE4327DAB12F}" type="parTrans" cxnId="{02EBED96-9ABC-48CF-A438-D5E740E6B8C4}">
      <dgm:prSet/>
      <dgm:spPr/>
      <dgm:t>
        <a:bodyPr/>
        <a:lstStyle/>
        <a:p>
          <a:endParaRPr lang="en-US"/>
        </a:p>
      </dgm:t>
    </dgm:pt>
    <dgm:pt modelId="{964D6891-5986-465D-ACB2-1823AA233E91}" type="sibTrans" cxnId="{02EBED96-9ABC-48CF-A438-D5E740E6B8C4}">
      <dgm:prSet/>
      <dgm:spPr/>
      <dgm:t>
        <a:bodyPr/>
        <a:lstStyle/>
        <a:p>
          <a:endParaRPr lang="en-US"/>
        </a:p>
      </dgm:t>
    </dgm:pt>
    <dgm:pt modelId="{E5EAB181-5A7E-49E4-8223-1AB5637667B8}" type="pres">
      <dgm:prSet presAssocID="{25B1C288-4F20-4532-979D-6230AEE7BE63}" presName="diagram" presStyleCnt="0">
        <dgm:presLayoutVars>
          <dgm:dir/>
          <dgm:resizeHandles val="exact"/>
        </dgm:presLayoutVars>
      </dgm:prSet>
      <dgm:spPr/>
    </dgm:pt>
    <dgm:pt modelId="{BA82ABC5-9C48-4BB1-8874-74D97A930375}" type="pres">
      <dgm:prSet presAssocID="{E585C682-7EB8-41C6-BEE6-855AB1FC33D5}" presName="node" presStyleLbl="node1" presStyleIdx="0" presStyleCnt="3">
        <dgm:presLayoutVars>
          <dgm:bulletEnabled val="1"/>
        </dgm:presLayoutVars>
      </dgm:prSet>
      <dgm:spPr/>
    </dgm:pt>
    <dgm:pt modelId="{1E68A654-E0BB-4AD0-94D8-241BB6E23AC5}" type="pres">
      <dgm:prSet presAssocID="{9FFB61E0-CBF9-49EE-9698-3CF0BA96291E}" presName="sibTrans" presStyleCnt="0"/>
      <dgm:spPr/>
    </dgm:pt>
    <dgm:pt modelId="{C29D2299-CFF2-4BA1-9CB7-A6D8A8D29A14}" type="pres">
      <dgm:prSet presAssocID="{A1EB021B-53DD-430C-9DB2-487BCC1BC699}" presName="node" presStyleLbl="node1" presStyleIdx="1" presStyleCnt="3">
        <dgm:presLayoutVars>
          <dgm:bulletEnabled val="1"/>
        </dgm:presLayoutVars>
      </dgm:prSet>
      <dgm:spPr/>
    </dgm:pt>
    <dgm:pt modelId="{ADCDC725-3568-4857-B52E-6B0E7DE65B89}" type="pres">
      <dgm:prSet presAssocID="{B31A8E28-DD90-4898-93C4-D3F7AFDBD7BF}" presName="sibTrans" presStyleCnt="0"/>
      <dgm:spPr/>
    </dgm:pt>
    <dgm:pt modelId="{9284A5BA-13AF-432A-BE7F-9B794F4DFD5B}" type="pres">
      <dgm:prSet presAssocID="{A4839AFE-C85B-4F66-BE2C-F1698C60FD22}" presName="node" presStyleLbl="node1" presStyleIdx="2" presStyleCnt="3">
        <dgm:presLayoutVars>
          <dgm:bulletEnabled val="1"/>
        </dgm:presLayoutVars>
      </dgm:prSet>
      <dgm:spPr/>
    </dgm:pt>
  </dgm:ptLst>
  <dgm:cxnLst>
    <dgm:cxn modelId="{858D8813-F6EA-4137-9293-075C8E436AB3}" srcId="{25B1C288-4F20-4532-979D-6230AEE7BE63}" destId="{A1EB021B-53DD-430C-9DB2-487BCC1BC699}" srcOrd="1" destOrd="0" parTransId="{64798679-1B75-4856-BEE8-1FD72BEF4E04}" sibTransId="{B31A8E28-DD90-4898-93C4-D3F7AFDBD7BF}"/>
    <dgm:cxn modelId="{357CD15B-B4AF-4FA1-9048-249E5DE5D11C}" type="presOf" srcId="{25B1C288-4F20-4532-979D-6230AEE7BE63}" destId="{E5EAB181-5A7E-49E4-8223-1AB5637667B8}" srcOrd="0" destOrd="0" presId="urn:microsoft.com/office/officeart/2005/8/layout/default"/>
    <dgm:cxn modelId="{F4F52C70-F9A2-42B0-83D1-F78AE64795E5}" type="presOf" srcId="{A1EB021B-53DD-430C-9DB2-487BCC1BC699}" destId="{C29D2299-CFF2-4BA1-9CB7-A6D8A8D29A14}" srcOrd="0" destOrd="0" presId="urn:microsoft.com/office/officeart/2005/8/layout/default"/>
    <dgm:cxn modelId="{E4E04950-4044-40F2-A825-71463399C9B0}" type="presOf" srcId="{E585C682-7EB8-41C6-BEE6-855AB1FC33D5}" destId="{BA82ABC5-9C48-4BB1-8874-74D97A930375}" srcOrd="0" destOrd="0" presId="urn:microsoft.com/office/officeart/2005/8/layout/default"/>
    <dgm:cxn modelId="{02EBED96-9ABC-48CF-A438-D5E740E6B8C4}" srcId="{25B1C288-4F20-4532-979D-6230AEE7BE63}" destId="{A4839AFE-C85B-4F66-BE2C-F1698C60FD22}" srcOrd="2" destOrd="0" parTransId="{CBD5A154-3466-4186-8F8F-BE4327DAB12F}" sibTransId="{964D6891-5986-465D-ACB2-1823AA233E91}"/>
    <dgm:cxn modelId="{63C542AC-F929-4DEC-A226-B004AEF28711}" type="presOf" srcId="{A4839AFE-C85B-4F66-BE2C-F1698C60FD22}" destId="{9284A5BA-13AF-432A-BE7F-9B794F4DFD5B}" srcOrd="0" destOrd="0" presId="urn:microsoft.com/office/officeart/2005/8/layout/default"/>
    <dgm:cxn modelId="{C0D564AE-CFA7-4BCD-9B8E-1DB86944FFFB}" srcId="{25B1C288-4F20-4532-979D-6230AEE7BE63}" destId="{E585C682-7EB8-41C6-BEE6-855AB1FC33D5}" srcOrd="0" destOrd="0" parTransId="{27B25F5E-D069-4760-9AC2-D74BE83D3979}" sibTransId="{9FFB61E0-CBF9-49EE-9698-3CF0BA96291E}"/>
    <dgm:cxn modelId="{C5F19E96-59FC-4016-B547-FAD1BC38A43B}" type="presParOf" srcId="{E5EAB181-5A7E-49E4-8223-1AB5637667B8}" destId="{BA82ABC5-9C48-4BB1-8874-74D97A930375}" srcOrd="0" destOrd="0" presId="urn:microsoft.com/office/officeart/2005/8/layout/default"/>
    <dgm:cxn modelId="{3E45DBB3-441D-49E0-9AFA-0ABCFBFDA764}" type="presParOf" srcId="{E5EAB181-5A7E-49E4-8223-1AB5637667B8}" destId="{1E68A654-E0BB-4AD0-94D8-241BB6E23AC5}" srcOrd="1" destOrd="0" presId="urn:microsoft.com/office/officeart/2005/8/layout/default"/>
    <dgm:cxn modelId="{F12F3FA3-ACFA-4845-B26E-C79ED50EADFD}" type="presParOf" srcId="{E5EAB181-5A7E-49E4-8223-1AB5637667B8}" destId="{C29D2299-CFF2-4BA1-9CB7-A6D8A8D29A14}" srcOrd="2" destOrd="0" presId="urn:microsoft.com/office/officeart/2005/8/layout/default"/>
    <dgm:cxn modelId="{7361673D-3317-4C8F-83FB-56634F151A0F}" type="presParOf" srcId="{E5EAB181-5A7E-49E4-8223-1AB5637667B8}" destId="{ADCDC725-3568-4857-B52E-6B0E7DE65B89}" srcOrd="3" destOrd="0" presId="urn:microsoft.com/office/officeart/2005/8/layout/default"/>
    <dgm:cxn modelId="{41D33762-5471-42E2-BFB8-6686D2EC25C4}" type="presParOf" srcId="{E5EAB181-5A7E-49E4-8223-1AB5637667B8}" destId="{9284A5BA-13AF-432A-BE7F-9B794F4DFD5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FF2568-3AE4-4A5E-8642-EC8ECCDE9B36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FD473C-BDC8-4673-8648-5D1913004DD7}">
      <dgm:prSet/>
      <dgm:spPr/>
      <dgm:t>
        <a:bodyPr/>
        <a:lstStyle/>
        <a:p>
          <a:r>
            <a:rPr lang="en-US"/>
            <a:t>Fundamental NLP challenge</a:t>
          </a:r>
        </a:p>
      </dgm:t>
    </dgm:pt>
    <dgm:pt modelId="{032E0682-ACCE-4892-ACD1-96ECE542FECD}" type="parTrans" cxnId="{11C5F961-DEDF-4C40-974E-76847622D9F3}">
      <dgm:prSet/>
      <dgm:spPr/>
      <dgm:t>
        <a:bodyPr/>
        <a:lstStyle/>
        <a:p>
          <a:endParaRPr lang="en-US"/>
        </a:p>
      </dgm:t>
    </dgm:pt>
    <dgm:pt modelId="{633F2AFF-2621-4D41-8531-987EB578B5AC}" type="sibTrans" cxnId="{11C5F961-DEDF-4C40-974E-76847622D9F3}">
      <dgm:prSet/>
      <dgm:spPr/>
      <dgm:t>
        <a:bodyPr/>
        <a:lstStyle/>
        <a:p>
          <a:endParaRPr lang="en-US"/>
        </a:p>
      </dgm:t>
    </dgm:pt>
    <dgm:pt modelId="{55DDD6BD-D5B4-48B6-B8EA-270DA80522A1}">
      <dgm:prSet/>
      <dgm:spPr/>
      <dgm:t>
        <a:bodyPr/>
        <a:lstStyle/>
        <a:p>
          <a:r>
            <a:rPr lang="en-US"/>
            <a:t>Hard to capture semantic quality</a:t>
          </a:r>
        </a:p>
      </dgm:t>
    </dgm:pt>
    <dgm:pt modelId="{7E0741F5-F188-46E1-A5B2-E475EA25E007}" type="parTrans" cxnId="{2E79DA53-9D36-4578-B33A-30662455E5A6}">
      <dgm:prSet/>
      <dgm:spPr/>
      <dgm:t>
        <a:bodyPr/>
        <a:lstStyle/>
        <a:p>
          <a:endParaRPr lang="en-US"/>
        </a:p>
      </dgm:t>
    </dgm:pt>
    <dgm:pt modelId="{7B58A97C-C4C5-4353-9BA3-0CC00B0D19CB}" type="sibTrans" cxnId="{2E79DA53-9D36-4578-B33A-30662455E5A6}">
      <dgm:prSet/>
      <dgm:spPr/>
      <dgm:t>
        <a:bodyPr/>
        <a:lstStyle/>
        <a:p>
          <a:endParaRPr lang="en-US"/>
        </a:p>
      </dgm:t>
    </dgm:pt>
    <dgm:pt modelId="{F3969E65-8CCB-45C6-A94A-DC5036D38CDB}">
      <dgm:prSet/>
      <dgm:spPr/>
      <dgm:t>
        <a:bodyPr/>
        <a:lstStyle/>
        <a:p>
          <a:r>
            <a:rPr lang="en-US"/>
            <a:t>Traditional metrics struggle with variability and nuance</a:t>
          </a:r>
        </a:p>
      </dgm:t>
    </dgm:pt>
    <dgm:pt modelId="{4C9D4BD5-60D1-4E7F-A168-A5C02FF03812}" type="parTrans" cxnId="{67061BAA-EFB5-4AA2-9C04-E7E95A5A3869}">
      <dgm:prSet/>
      <dgm:spPr/>
      <dgm:t>
        <a:bodyPr/>
        <a:lstStyle/>
        <a:p>
          <a:endParaRPr lang="en-US"/>
        </a:p>
      </dgm:t>
    </dgm:pt>
    <dgm:pt modelId="{B15239ED-753F-4A7E-9474-4C7DF85C9E9B}" type="sibTrans" cxnId="{67061BAA-EFB5-4AA2-9C04-E7E95A5A3869}">
      <dgm:prSet/>
      <dgm:spPr/>
      <dgm:t>
        <a:bodyPr/>
        <a:lstStyle/>
        <a:p>
          <a:endParaRPr lang="en-US"/>
        </a:p>
      </dgm:t>
    </dgm:pt>
    <dgm:pt modelId="{B8DA3BFE-3851-4E4C-82CB-961201077DE2}" type="pres">
      <dgm:prSet presAssocID="{F6FF2568-3AE4-4A5E-8642-EC8ECCDE9B3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EA095AE-5685-490D-8809-2BE12DE2177D}" type="pres">
      <dgm:prSet presAssocID="{65FD473C-BDC8-4673-8648-5D1913004DD7}" presName="hierRoot1" presStyleCnt="0"/>
      <dgm:spPr/>
    </dgm:pt>
    <dgm:pt modelId="{ECF0DE4E-7B7D-4A37-8B8F-05FEBEFBFB8A}" type="pres">
      <dgm:prSet presAssocID="{65FD473C-BDC8-4673-8648-5D1913004DD7}" presName="composite" presStyleCnt="0"/>
      <dgm:spPr/>
    </dgm:pt>
    <dgm:pt modelId="{C2138C00-9F12-4722-93CF-6EEA5F8C3FD1}" type="pres">
      <dgm:prSet presAssocID="{65FD473C-BDC8-4673-8648-5D1913004DD7}" presName="background" presStyleLbl="node0" presStyleIdx="0" presStyleCnt="3"/>
      <dgm:spPr/>
    </dgm:pt>
    <dgm:pt modelId="{8C3B7D7D-A8EE-4C4F-BCFC-64A4ED950322}" type="pres">
      <dgm:prSet presAssocID="{65FD473C-BDC8-4673-8648-5D1913004DD7}" presName="text" presStyleLbl="fgAcc0" presStyleIdx="0" presStyleCnt="3">
        <dgm:presLayoutVars>
          <dgm:chPref val="3"/>
        </dgm:presLayoutVars>
      </dgm:prSet>
      <dgm:spPr/>
    </dgm:pt>
    <dgm:pt modelId="{91EAEE57-4C43-4F54-8A92-C6FABCBE9B26}" type="pres">
      <dgm:prSet presAssocID="{65FD473C-BDC8-4673-8648-5D1913004DD7}" presName="hierChild2" presStyleCnt="0"/>
      <dgm:spPr/>
    </dgm:pt>
    <dgm:pt modelId="{112D86F8-5616-4B17-831E-8EE0559960C6}" type="pres">
      <dgm:prSet presAssocID="{55DDD6BD-D5B4-48B6-B8EA-270DA80522A1}" presName="hierRoot1" presStyleCnt="0"/>
      <dgm:spPr/>
    </dgm:pt>
    <dgm:pt modelId="{5AD94475-5171-447C-960D-6297258A40E1}" type="pres">
      <dgm:prSet presAssocID="{55DDD6BD-D5B4-48B6-B8EA-270DA80522A1}" presName="composite" presStyleCnt="0"/>
      <dgm:spPr/>
    </dgm:pt>
    <dgm:pt modelId="{2E3886F3-93E9-4109-B726-65AC41D7740F}" type="pres">
      <dgm:prSet presAssocID="{55DDD6BD-D5B4-48B6-B8EA-270DA80522A1}" presName="background" presStyleLbl="node0" presStyleIdx="1" presStyleCnt="3"/>
      <dgm:spPr/>
    </dgm:pt>
    <dgm:pt modelId="{A22A9E7A-6BC8-4B00-A3FD-6ADDD19BC0C5}" type="pres">
      <dgm:prSet presAssocID="{55DDD6BD-D5B4-48B6-B8EA-270DA80522A1}" presName="text" presStyleLbl="fgAcc0" presStyleIdx="1" presStyleCnt="3">
        <dgm:presLayoutVars>
          <dgm:chPref val="3"/>
        </dgm:presLayoutVars>
      </dgm:prSet>
      <dgm:spPr/>
    </dgm:pt>
    <dgm:pt modelId="{68D76B89-D4BE-4A11-8190-282CD63E2C42}" type="pres">
      <dgm:prSet presAssocID="{55DDD6BD-D5B4-48B6-B8EA-270DA80522A1}" presName="hierChild2" presStyleCnt="0"/>
      <dgm:spPr/>
    </dgm:pt>
    <dgm:pt modelId="{8F49C074-49E4-4682-A858-F20916ED84B0}" type="pres">
      <dgm:prSet presAssocID="{F3969E65-8CCB-45C6-A94A-DC5036D38CDB}" presName="hierRoot1" presStyleCnt="0"/>
      <dgm:spPr/>
    </dgm:pt>
    <dgm:pt modelId="{F77D14E7-7544-44AB-87A3-9A976AF22518}" type="pres">
      <dgm:prSet presAssocID="{F3969E65-8CCB-45C6-A94A-DC5036D38CDB}" presName="composite" presStyleCnt="0"/>
      <dgm:spPr/>
    </dgm:pt>
    <dgm:pt modelId="{B64C18D0-7521-4731-BECE-FC69B2BB6FC7}" type="pres">
      <dgm:prSet presAssocID="{F3969E65-8CCB-45C6-A94A-DC5036D38CDB}" presName="background" presStyleLbl="node0" presStyleIdx="2" presStyleCnt="3"/>
      <dgm:spPr/>
    </dgm:pt>
    <dgm:pt modelId="{29204380-9216-469D-AB42-FFDB84E8D499}" type="pres">
      <dgm:prSet presAssocID="{F3969E65-8CCB-45C6-A94A-DC5036D38CDB}" presName="text" presStyleLbl="fgAcc0" presStyleIdx="2" presStyleCnt="3">
        <dgm:presLayoutVars>
          <dgm:chPref val="3"/>
        </dgm:presLayoutVars>
      </dgm:prSet>
      <dgm:spPr/>
    </dgm:pt>
    <dgm:pt modelId="{9DDBA400-1AAE-442B-AB08-3E7D8681359C}" type="pres">
      <dgm:prSet presAssocID="{F3969E65-8CCB-45C6-A94A-DC5036D38CDB}" presName="hierChild2" presStyleCnt="0"/>
      <dgm:spPr/>
    </dgm:pt>
  </dgm:ptLst>
  <dgm:cxnLst>
    <dgm:cxn modelId="{11C5F961-DEDF-4C40-974E-76847622D9F3}" srcId="{F6FF2568-3AE4-4A5E-8642-EC8ECCDE9B36}" destId="{65FD473C-BDC8-4673-8648-5D1913004DD7}" srcOrd="0" destOrd="0" parTransId="{032E0682-ACCE-4892-ACD1-96ECE542FECD}" sibTransId="{633F2AFF-2621-4D41-8531-987EB578B5AC}"/>
    <dgm:cxn modelId="{7AFBD36C-ED98-4D32-8152-5F865130275F}" type="presOf" srcId="{F6FF2568-3AE4-4A5E-8642-EC8ECCDE9B36}" destId="{B8DA3BFE-3851-4E4C-82CB-961201077DE2}" srcOrd="0" destOrd="0" presId="urn:microsoft.com/office/officeart/2005/8/layout/hierarchy1"/>
    <dgm:cxn modelId="{2E79DA53-9D36-4578-B33A-30662455E5A6}" srcId="{F6FF2568-3AE4-4A5E-8642-EC8ECCDE9B36}" destId="{55DDD6BD-D5B4-48B6-B8EA-270DA80522A1}" srcOrd="1" destOrd="0" parTransId="{7E0741F5-F188-46E1-A5B2-E475EA25E007}" sibTransId="{7B58A97C-C4C5-4353-9BA3-0CC00B0D19CB}"/>
    <dgm:cxn modelId="{67061BAA-EFB5-4AA2-9C04-E7E95A5A3869}" srcId="{F6FF2568-3AE4-4A5E-8642-EC8ECCDE9B36}" destId="{F3969E65-8CCB-45C6-A94A-DC5036D38CDB}" srcOrd="2" destOrd="0" parTransId="{4C9D4BD5-60D1-4E7F-A168-A5C02FF03812}" sibTransId="{B15239ED-753F-4A7E-9474-4C7DF85C9E9B}"/>
    <dgm:cxn modelId="{64B97BAA-3290-48BC-A7C3-ECF7B407B43F}" type="presOf" srcId="{55DDD6BD-D5B4-48B6-B8EA-270DA80522A1}" destId="{A22A9E7A-6BC8-4B00-A3FD-6ADDD19BC0C5}" srcOrd="0" destOrd="0" presId="urn:microsoft.com/office/officeart/2005/8/layout/hierarchy1"/>
    <dgm:cxn modelId="{CE9F7BBD-E0B1-4F96-B862-FB92DFF9B024}" type="presOf" srcId="{65FD473C-BDC8-4673-8648-5D1913004DD7}" destId="{8C3B7D7D-A8EE-4C4F-BCFC-64A4ED950322}" srcOrd="0" destOrd="0" presId="urn:microsoft.com/office/officeart/2005/8/layout/hierarchy1"/>
    <dgm:cxn modelId="{EC20B4D3-DEAC-4061-98E2-93D441EEB3BF}" type="presOf" srcId="{F3969E65-8CCB-45C6-A94A-DC5036D38CDB}" destId="{29204380-9216-469D-AB42-FFDB84E8D499}" srcOrd="0" destOrd="0" presId="urn:microsoft.com/office/officeart/2005/8/layout/hierarchy1"/>
    <dgm:cxn modelId="{AA02ED72-209E-4668-B5E2-95A81761EB0F}" type="presParOf" srcId="{B8DA3BFE-3851-4E4C-82CB-961201077DE2}" destId="{AEA095AE-5685-490D-8809-2BE12DE2177D}" srcOrd="0" destOrd="0" presId="urn:microsoft.com/office/officeart/2005/8/layout/hierarchy1"/>
    <dgm:cxn modelId="{9E2EC54F-2735-4FA0-AC38-799A4D63F469}" type="presParOf" srcId="{AEA095AE-5685-490D-8809-2BE12DE2177D}" destId="{ECF0DE4E-7B7D-4A37-8B8F-05FEBEFBFB8A}" srcOrd="0" destOrd="0" presId="urn:microsoft.com/office/officeart/2005/8/layout/hierarchy1"/>
    <dgm:cxn modelId="{8FFC54CD-F5D7-4E67-AEE4-0A821D76E5A6}" type="presParOf" srcId="{ECF0DE4E-7B7D-4A37-8B8F-05FEBEFBFB8A}" destId="{C2138C00-9F12-4722-93CF-6EEA5F8C3FD1}" srcOrd="0" destOrd="0" presId="urn:microsoft.com/office/officeart/2005/8/layout/hierarchy1"/>
    <dgm:cxn modelId="{B0D2DB6E-917E-400F-8028-9C905AE35417}" type="presParOf" srcId="{ECF0DE4E-7B7D-4A37-8B8F-05FEBEFBFB8A}" destId="{8C3B7D7D-A8EE-4C4F-BCFC-64A4ED950322}" srcOrd="1" destOrd="0" presId="urn:microsoft.com/office/officeart/2005/8/layout/hierarchy1"/>
    <dgm:cxn modelId="{912BD60E-EA87-4455-A4CC-95E2D3CA2D9E}" type="presParOf" srcId="{AEA095AE-5685-490D-8809-2BE12DE2177D}" destId="{91EAEE57-4C43-4F54-8A92-C6FABCBE9B26}" srcOrd="1" destOrd="0" presId="urn:microsoft.com/office/officeart/2005/8/layout/hierarchy1"/>
    <dgm:cxn modelId="{516E84A2-9249-4C09-A5AD-74A793A7095E}" type="presParOf" srcId="{B8DA3BFE-3851-4E4C-82CB-961201077DE2}" destId="{112D86F8-5616-4B17-831E-8EE0559960C6}" srcOrd="1" destOrd="0" presId="urn:microsoft.com/office/officeart/2005/8/layout/hierarchy1"/>
    <dgm:cxn modelId="{13C06593-BB52-457A-ADA1-44CC902FC7D7}" type="presParOf" srcId="{112D86F8-5616-4B17-831E-8EE0559960C6}" destId="{5AD94475-5171-447C-960D-6297258A40E1}" srcOrd="0" destOrd="0" presId="urn:microsoft.com/office/officeart/2005/8/layout/hierarchy1"/>
    <dgm:cxn modelId="{F2F31292-3F79-429F-A079-6FCAD4F9B021}" type="presParOf" srcId="{5AD94475-5171-447C-960D-6297258A40E1}" destId="{2E3886F3-93E9-4109-B726-65AC41D7740F}" srcOrd="0" destOrd="0" presId="urn:microsoft.com/office/officeart/2005/8/layout/hierarchy1"/>
    <dgm:cxn modelId="{F62A3B85-67FE-4BC4-B02E-DD36E14745CF}" type="presParOf" srcId="{5AD94475-5171-447C-960D-6297258A40E1}" destId="{A22A9E7A-6BC8-4B00-A3FD-6ADDD19BC0C5}" srcOrd="1" destOrd="0" presId="urn:microsoft.com/office/officeart/2005/8/layout/hierarchy1"/>
    <dgm:cxn modelId="{B2E06A4B-F7CB-4565-9865-37EC1432E153}" type="presParOf" srcId="{112D86F8-5616-4B17-831E-8EE0559960C6}" destId="{68D76B89-D4BE-4A11-8190-282CD63E2C42}" srcOrd="1" destOrd="0" presId="urn:microsoft.com/office/officeart/2005/8/layout/hierarchy1"/>
    <dgm:cxn modelId="{D9F88CA6-4D24-401E-B60B-C63E26E1D7F9}" type="presParOf" srcId="{B8DA3BFE-3851-4E4C-82CB-961201077DE2}" destId="{8F49C074-49E4-4682-A858-F20916ED84B0}" srcOrd="2" destOrd="0" presId="urn:microsoft.com/office/officeart/2005/8/layout/hierarchy1"/>
    <dgm:cxn modelId="{68566335-89B8-438F-8603-E8191677229E}" type="presParOf" srcId="{8F49C074-49E4-4682-A858-F20916ED84B0}" destId="{F77D14E7-7544-44AB-87A3-9A976AF22518}" srcOrd="0" destOrd="0" presId="urn:microsoft.com/office/officeart/2005/8/layout/hierarchy1"/>
    <dgm:cxn modelId="{AF9DA360-79F0-4146-85AB-71B1822EB621}" type="presParOf" srcId="{F77D14E7-7544-44AB-87A3-9A976AF22518}" destId="{B64C18D0-7521-4731-BECE-FC69B2BB6FC7}" srcOrd="0" destOrd="0" presId="urn:microsoft.com/office/officeart/2005/8/layout/hierarchy1"/>
    <dgm:cxn modelId="{DCFE75F0-F710-4F6B-A0E1-449EC92EFE50}" type="presParOf" srcId="{F77D14E7-7544-44AB-87A3-9A976AF22518}" destId="{29204380-9216-469D-AB42-FFDB84E8D499}" srcOrd="1" destOrd="0" presId="urn:microsoft.com/office/officeart/2005/8/layout/hierarchy1"/>
    <dgm:cxn modelId="{EAB14633-6D7D-4249-9ABC-F7017A4026EA}" type="presParOf" srcId="{8F49C074-49E4-4682-A858-F20916ED84B0}" destId="{9DDBA400-1AAE-442B-AB08-3E7D868135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948E9D-B4FA-41C2-A1B4-411207865C9F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694F34-D776-45B8-9FEF-C31A7CBBD6A9}">
      <dgm:prSet/>
      <dgm:spPr/>
      <dgm:t>
        <a:bodyPr/>
        <a:lstStyle/>
        <a:p>
          <a:r>
            <a:rPr lang="en-US"/>
            <a:t>BLEU, ROUGE focus on n-gram overlap</a:t>
          </a:r>
        </a:p>
      </dgm:t>
    </dgm:pt>
    <dgm:pt modelId="{ECC43C23-9958-4F57-9A9B-C1DDF71A0031}" type="parTrans" cxnId="{84BECE4A-A80C-459D-9718-7552BA69CD3A}">
      <dgm:prSet/>
      <dgm:spPr/>
      <dgm:t>
        <a:bodyPr/>
        <a:lstStyle/>
        <a:p>
          <a:endParaRPr lang="en-US"/>
        </a:p>
      </dgm:t>
    </dgm:pt>
    <dgm:pt modelId="{EFDAFF37-4F7E-4AB4-A05F-3A3C6F0837A0}" type="sibTrans" cxnId="{84BECE4A-A80C-459D-9718-7552BA69CD3A}">
      <dgm:prSet/>
      <dgm:spPr/>
      <dgm:t>
        <a:bodyPr/>
        <a:lstStyle/>
        <a:p>
          <a:endParaRPr lang="en-US"/>
        </a:p>
      </dgm:t>
    </dgm:pt>
    <dgm:pt modelId="{1C6DC529-A723-4336-B93D-C6E21A4A8C7C}">
      <dgm:prSet/>
      <dgm:spPr/>
      <dgm:t>
        <a:bodyPr/>
        <a:lstStyle/>
        <a:p>
          <a:r>
            <a:rPr lang="en-US"/>
            <a:t>Fail to capture meaning or paraphrases</a:t>
          </a:r>
        </a:p>
      </dgm:t>
    </dgm:pt>
    <dgm:pt modelId="{A619AD02-A6FF-4DE4-8C7B-F9BEF3491431}" type="parTrans" cxnId="{999FECD0-62E4-4A0D-BE9D-0260A824A815}">
      <dgm:prSet/>
      <dgm:spPr/>
      <dgm:t>
        <a:bodyPr/>
        <a:lstStyle/>
        <a:p>
          <a:endParaRPr lang="en-US"/>
        </a:p>
      </dgm:t>
    </dgm:pt>
    <dgm:pt modelId="{59096B73-79CF-4D10-A49E-B85592D4637B}" type="sibTrans" cxnId="{999FECD0-62E4-4A0D-BE9D-0260A824A815}">
      <dgm:prSet/>
      <dgm:spPr/>
      <dgm:t>
        <a:bodyPr/>
        <a:lstStyle/>
        <a:p>
          <a:endParaRPr lang="en-US"/>
        </a:p>
      </dgm:t>
    </dgm:pt>
    <dgm:pt modelId="{A1E25938-4516-4588-9FC8-CC8995BBC55F}">
      <dgm:prSet/>
      <dgm:spPr/>
      <dgm:t>
        <a:bodyPr/>
        <a:lstStyle/>
        <a:p>
          <a:r>
            <a:rPr lang="en-US"/>
            <a:t>Dependence on high-quality references</a:t>
          </a:r>
        </a:p>
      </dgm:t>
    </dgm:pt>
    <dgm:pt modelId="{2AF97E99-D23F-40B9-A83E-43CA1AF2BC24}" type="parTrans" cxnId="{245A87EB-468E-4E22-B8B9-4A3B3F2DBBD2}">
      <dgm:prSet/>
      <dgm:spPr/>
      <dgm:t>
        <a:bodyPr/>
        <a:lstStyle/>
        <a:p>
          <a:endParaRPr lang="en-US"/>
        </a:p>
      </dgm:t>
    </dgm:pt>
    <dgm:pt modelId="{00661A7D-BC57-47D9-B3EB-0FD0352B5727}" type="sibTrans" cxnId="{245A87EB-468E-4E22-B8B9-4A3B3F2DBBD2}">
      <dgm:prSet/>
      <dgm:spPr/>
      <dgm:t>
        <a:bodyPr/>
        <a:lstStyle/>
        <a:p>
          <a:endParaRPr lang="en-US"/>
        </a:p>
      </dgm:t>
    </dgm:pt>
    <dgm:pt modelId="{EB0136B6-1422-4A5B-809F-257537A6B99F}">
      <dgm:prSet/>
      <dgm:spPr/>
      <dgm:t>
        <a:bodyPr/>
        <a:lstStyle/>
        <a:p>
          <a:r>
            <a:rPr lang="en-US"/>
            <a:t>BERTScore better semantically, but still limited</a:t>
          </a:r>
        </a:p>
      </dgm:t>
    </dgm:pt>
    <dgm:pt modelId="{5F93AB48-A27E-4BD4-B168-80DB21F25FE4}" type="parTrans" cxnId="{AD320B98-9225-48A9-8341-019DF71993DA}">
      <dgm:prSet/>
      <dgm:spPr/>
      <dgm:t>
        <a:bodyPr/>
        <a:lstStyle/>
        <a:p>
          <a:endParaRPr lang="en-US"/>
        </a:p>
      </dgm:t>
    </dgm:pt>
    <dgm:pt modelId="{8019CEEE-C6FD-4F9A-A881-9E9C396A9584}" type="sibTrans" cxnId="{AD320B98-9225-48A9-8341-019DF71993DA}">
      <dgm:prSet/>
      <dgm:spPr/>
      <dgm:t>
        <a:bodyPr/>
        <a:lstStyle/>
        <a:p>
          <a:endParaRPr lang="en-US"/>
        </a:p>
      </dgm:t>
    </dgm:pt>
    <dgm:pt modelId="{B16CF5D8-5318-4A61-B112-C40D5B12B0E4}" type="pres">
      <dgm:prSet presAssocID="{01948E9D-B4FA-41C2-A1B4-411207865C9F}" presName="linear" presStyleCnt="0">
        <dgm:presLayoutVars>
          <dgm:dir/>
          <dgm:animLvl val="lvl"/>
          <dgm:resizeHandles val="exact"/>
        </dgm:presLayoutVars>
      </dgm:prSet>
      <dgm:spPr/>
    </dgm:pt>
    <dgm:pt modelId="{8AD372ED-8A63-4E1B-8865-C40D60EF4F7A}" type="pres">
      <dgm:prSet presAssocID="{16694F34-D776-45B8-9FEF-C31A7CBBD6A9}" presName="parentLin" presStyleCnt="0"/>
      <dgm:spPr/>
    </dgm:pt>
    <dgm:pt modelId="{00F44FF0-7261-4044-AAAE-E4ED39A08578}" type="pres">
      <dgm:prSet presAssocID="{16694F34-D776-45B8-9FEF-C31A7CBBD6A9}" presName="parentLeftMargin" presStyleLbl="node1" presStyleIdx="0" presStyleCnt="4"/>
      <dgm:spPr/>
    </dgm:pt>
    <dgm:pt modelId="{F6838627-0145-48A1-A007-D586C3489D3F}" type="pres">
      <dgm:prSet presAssocID="{16694F34-D776-45B8-9FEF-C31A7CBBD6A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F56A486-A85F-4315-9DC7-01901661B999}" type="pres">
      <dgm:prSet presAssocID="{16694F34-D776-45B8-9FEF-C31A7CBBD6A9}" presName="negativeSpace" presStyleCnt="0"/>
      <dgm:spPr/>
    </dgm:pt>
    <dgm:pt modelId="{90E68D57-A19D-41FF-A3D8-8E4883AA5578}" type="pres">
      <dgm:prSet presAssocID="{16694F34-D776-45B8-9FEF-C31A7CBBD6A9}" presName="childText" presStyleLbl="conFgAcc1" presStyleIdx="0" presStyleCnt="4">
        <dgm:presLayoutVars>
          <dgm:bulletEnabled val="1"/>
        </dgm:presLayoutVars>
      </dgm:prSet>
      <dgm:spPr/>
    </dgm:pt>
    <dgm:pt modelId="{3FD888FF-B897-4ED8-8313-871BAC0449F5}" type="pres">
      <dgm:prSet presAssocID="{EFDAFF37-4F7E-4AB4-A05F-3A3C6F0837A0}" presName="spaceBetweenRectangles" presStyleCnt="0"/>
      <dgm:spPr/>
    </dgm:pt>
    <dgm:pt modelId="{E2E9374E-2D5E-42BB-B68E-7B72761CF7D4}" type="pres">
      <dgm:prSet presAssocID="{1C6DC529-A723-4336-B93D-C6E21A4A8C7C}" presName="parentLin" presStyleCnt="0"/>
      <dgm:spPr/>
    </dgm:pt>
    <dgm:pt modelId="{717C515B-D7B3-4713-8104-92A1D65A2012}" type="pres">
      <dgm:prSet presAssocID="{1C6DC529-A723-4336-B93D-C6E21A4A8C7C}" presName="parentLeftMargin" presStyleLbl="node1" presStyleIdx="0" presStyleCnt="4"/>
      <dgm:spPr/>
    </dgm:pt>
    <dgm:pt modelId="{03668876-5C2A-48F6-BB7B-58FBEF7DEF41}" type="pres">
      <dgm:prSet presAssocID="{1C6DC529-A723-4336-B93D-C6E21A4A8C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FEF4CF0-E08E-4463-A211-5C5A706E2EE5}" type="pres">
      <dgm:prSet presAssocID="{1C6DC529-A723-4336-B93D-C6E21A4A8C7C}" presName="negativeSpace" presStyleCnt="0"/>
      <dgm:spPr/>
    </dgm:pt>
    <dgm:pt modelId="{D686E4E3-4E8E-4F28-A681-730D0EC5EE9C}" type="pres">
      <dgm:prSet presAssocID="{1C6DC529-A723-4336-B93D-C6E21A4A8C7C}" presName="childText" presStyleLbl="conFgAcc1" presStyleIdx="1" presStyleCnt="4">
        <dgm:presLayoutVars>
          <dgm:bulletEnabled val="1"/>
        </dgm:presLayoutVars>
      </dgm:prSet>
      <dgm:spPr/>
    </dgm:pt>
    <dgm:pt modelId="{C65E59EA-E764-4489-8775-2A61B2CE23D9}" type="pres">
      <dgm:prSet presAssocID="{59096B73-79CF-4D10-A49E-B85592D4637B}" presName="spaceBetweenRectangles" presStyleCnt="0"/>
      <dgm:spPr/>
    </dgm:pt>
    <dgm:pt modelId="{CFE97A5F-46C8-45BA-A816-BEEC894717FC}" type="pres">
      <dgm:prSet presAssocID="{A1E25938-4516-4588-9FC8-CC8995BBC55F}" presName="parentLin" presStyleCnt="0"/>
      <dgm:spPr/>
    </dgm:pt>
    <dgm:pt modelId="{56B47962-B413-41F8-B04E-F9F64FA5C496}" type="pres">
      <dgm:prSet presAssocID="{A1E25938-4516-4588-9FC8-CC8995BBC55F}" presName="parentLeftMargin" presStyleLbl="node1" presStyleIdx="1" presStyleCnt="4"/>
      <dgm:spPr/>
    </dgm:pt>
    <dgm:pt modelId="{BB9815C5-BF14-4686-9134-DFD42D089319}" type="pres">
      <dgm:prSet presAssocID="{A1E25938-4516-4588-9FC8-CC8995BBC5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1D69C8-6001-46DC-AA3C-F5382CBE579E}" type="pres">
      <dgm:prSet presAssocID="{A1E25938-4516-4588-9FC8-CC8995BBC55F}" presName="negativeSpace" presStyleCnt="0"/>
      <dgm:spPr/>
    </dgm:pt>
    <dgm:pt modelId="{CC87A79F-339F-45C4-BA33-B97FCFAF2213}" type="pres">
      <dgm:prSet presAssocID="{A1E25938-4516-4588-9FC8-CC8995BBC55F}" presName="childText" presStyleLbl="conFgAcc1" presStyleIdx="2" presStyleCnt="4">
        <dgm:presLayoutVars>
          <dgm:bulletEnabled val="1"/>
        </dgm:presLayoutVars>
      </dgm:prSet>
      <dgm:spPr/>
    </dgm:pt>
    <dgm:pt modelId="{7A45B5F9-C81F-4052-BC3A-AE08B089508C}" type="pres">
      <dgm:prSet presAssocID="{00661A7D-BC57-47D9-B3EB-0FD0352B5727}" presName="spaceBetweenRectangles" presStyleCnt="0"/>
      <dgm:spPr/>
    </dgm:pt>
    <dgm:pt modelId="{626B8AE7-82DC-4D78-948F-64430FE33A32}" type="pres">
      <dgm:prSet presAssocID="{EB0136B6-1422-4A5B-809F-257537A6B99F}" presName="parentLin" presStyleCnt="0"/>
      <dgm:spPr/>
    </dgm:pt>
    <dgm:pt modelId="{6268000B-2B3F-4673-9DAF-63131627FC40}" type="pres">
      <dgm:prSet presAssocID="{EB0136B6-1422-4A5B-809F-257537A6B99F}" presName="parentLeftMargin" presStyleLbl="node1" presStyleIdx="2" presStyleCnt="4"/>
      <dgm:spPr/>
    </dgm:pt>
    <dgm:pt modelId="{333D5969-07E1-4AC2-8C8A-32C467BE1A8E}" type="pres">
      <dgm:prSet presAssocID="{EB0136B6-1422-4A5B-809F-257537A6B99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F0D7293-FC29-4275-BE25-5E1738E5FC4A}" type="pres">
      <dgm:prSet presAssocID="{EB0136B6-1422-4A5B-809F-257537A6B99F}" presName="negativeSpace" presStyleCnt="0"/>
      <dgm:spPr/>
    </dgm:pt>
    <dgm:pt modelId="{16EC4B71-97BA-45FF-84C0-2A0B3C653922}" type="pres">
      <dgm:prSet presAssocID="{EB0136B6-1422-4A5B-809F-257537A6B99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92B2804-7250-466C-8730-4E5466AADB2C}" type="presOf" srcId="{01948E9D-B4FA-41C2-A1B4-411207865C9F}" destId="{B16CF5D8-5318-4A61-B112-C40D5B12B0E4}" srcOrd="0" destOrd="0" presId="urn:microsoft.com/office/officeart/2005/8/layout/list1"/>
    <dgm:cxn modelId="{C2A0FC2C-2A59-4266-A40A-1BB707EBF616}" type="presOf" srcId="{1C6DC529-A723-4336-B93D-C6E21A4A8C7C}" destId="{03668876-5C2A-48F6-BB7B-58FBEF7DEF41}" srcOrd="1" destOrd="0" presId="urn:microsoft.com/office/officeart/2005/8/layout/list1"/>
    <dgm:cxn modelId="{44DBAA6A-E5AF-4BB6-AACB-46ABBBA1F68E}" type="presOf" srcId="{A1E25938-4516-4588-9FC8-CC8995BBC55F}" destId="{BB9815C5-BF14-4686-9134-DFD42D089319}" srcOrd="1" destOrd="0" presId="urn:microsoft.com/office/officeart/2005/8/layout/list1"/>
    <dgm:cxn modelId="{84BECE4A-A80C-459D-9718-7552BA69CD3A}" srcId="{01948E9D-B4FA-41C2-A1B4-411207865C9F}" destId="{16694F34-D776-45B8-9FEF-C31A7CBBD6A9}" srcOrd="0" destOrd="0" parTransId="{ECC43C23-9958-4F57-9A9B-C1DDF71A0031}" sibTransId="{EFDAFF37-4F7E-4AB4-A05F-3A3C6F0837A0}"/>
    <dgm:cxn modelId="{37947853-4C56-43CE-89B4-00BBD244A3B0}" type="presOf" srcId="{EB0136B6-1422-4A5B-809F-257537A6B99F}" destId="{333D5969-07E1-4AC2-8C8A-32C467BE1A8E}" srcOrd="1" destOrd="0" presId="urn:microsoft.com/office/officeart/2005/8/layout/list1"/>
    <dgm:cxn modelId="{CD7E228C-6189-47A6-94B7-49F5D4233702}" type="presOf" srcId="{1C6DC529-A723-4336-B93D-C6E21A4A8C7C}" destId="{717C515B-D7B3-4713-8104-92A1D65A2012}" srcOrd="0" destOrd="0" presId="urn:microsoft.com/office/officeart/2005/8/layout/list1"/>
    <dgm:cxn modelId="{FD28CA8D-963E-441B-A53D-B568551723F1}" type="presOf" srcId="{16694F34-D776-45B8-9FEF-C31A7CBBD6A9}" destId="{F6838627-0145-48A1-A007-D586C3489D3F}" srcOrd="1" destOrd="0" presId="urn:microsoft.com/office/officeart/2005/8/layout/list1"/>
    <dgm:cxn modelId="{AD320B98-9225-48A9-8341-019DF71993DA}" srcId="{01948E9D-B4FA-41C2-A1B4-411207865C9F}" destId="{EB0136B6-1422-4A5B-809F-257537A6B99F}" srcOrd="3" destOrd="0" parTransId="{5F93AB48-A27E-4BD4-B168-80DB21F25FE4}" sibTransId="{8019CEEE-C6FD-4F9A-A881-9E9C396A9584}"/>
    <dgm:cxn modelId="{FA1D75BA-3361-46BE-8B1A-3AD1E8B41031}" type="presOf" srcId="{EB0136B6-1422-4A5B-809F-257537A6B99F}" destId="{6268000B-2B3F-4673-9DAF-63131627FC40}" srcOrd="0" destOrd="0" presId="urn:microsoft.com/office/officeart/2005/8/layout/list1"/>
    <dgm:cxn modelId="{999FECD0-62E4-4A0D-BE9D-0260A824A815}" srcId="{01948E9D-B4FA-41C2-A1B4-411207865C9F}" destId="{1C6DC529-A723-4336-B93D-C6E21A4A8C7C}" srcOrd="1" destOrd="0" parTransId="{A619AD02-A6FF-4DE4-8C7B-F9BEF3491431}" sibTransId="{59096B73-79CF-4D10-A49E-B85592D4637B}"/>
    <dgm:cxn modelId="{E65ABFD6-0D74-4369-846F-1986E321BA8B}" type="presOf" srcId="{A1E25938-4516-4588-9FC8-CC8995BBC55F}" destId="{56B47962-B413-41F8-B04E-F9F64FA5C496}" srcOrd="0" destOrd="0" presId="urn:microsoft.com/office/officeart/2005/8/layout/list1"/>
    <dgm:cxn modelId="{84FC00D7-80D4-4E4A-B92D-7A2933686521}" type="presOf" srcId="{16694F34-D776-45B8-9FEF-C31A7CBBD6A9}" destId="{00F44FF0-7261-4044-AAAE-E4ED39A08578}" srcOrd="0" destOrd="0" presId="urn:microsoft.com/office/officeart/2005/8/layout/list1"/>
    <dgm:cxn modelId="{245A87EB-468E-4E22-B8B9-4A3B3F2DBBD2}" srcId="{01948E9D-B4FA-41C2-A1B4-411207865C9F}" destId="{A1E25938-4516-4588-9FC8-CC8995BBC55F}" srcOrd="2" destOrd="0" parTransId="{2AF97E99-D23F-40B9-A83E-43CA1AF2BC24}" sibTransId="{00661A7D-BC57-47D9-B3EB-0FD0352B5727}"/>
    <dgm:cxn modelId="{BA37F4A9-0EF9-42EF-A6F0-970A5274FB24}" type="presParOf" srcId="{B16CF5D8-5318-4A61-B112-C40D5B12B0E4}" destId="{8AD372ED-8A63-4E1B-8865-C40D60EF4F7A}" srcOrd="0" destOrd="0" presId="urn:microsoft.com/office/officeart/2005/8/layout/list1"/>
    <dgm:cxn modelId="{618C0FCD-5BB8-4CF5-9AAD-94D5B641B1B1}" type="presParOf" srcId="{8AD372ED-8A63-4E1B-8865-C40D60EF4F7A}" destId="{00F44FF0-7261-4044-AAAE-E4ED39A08578}" srcOrd="0" destOrd="0" presId="urn:microsoft.com/office/officeart/2005/8/layout/list1"/>
    <dgm:cxn modelId="{C4C43190-8C1D-4310-ACD4-E376E7DFF9FF}" type="presParOf" srcId="{8AD372ED-8A63-4E1B-8865-C40D60EF4F7A}" destId="{F6838627-0145-48A1-A007-D586C3489D3F}" srcOrd="1" destOrd="0" presId="urn:microsoft.com/office/officeart/2005/8/layout/list1"/>
    <dgm:cxn modelId="{6BE14791-91AA-492A-B0E8-09EFDE101FFE}" type="presParOf" srcId="{B16CF5D8-5318-4A61-B112-C40D5B12B0E4}" destId="{6F56A486-A85F-4315-9DC7-01901661B999}" srcOrd="1" destOrd="0" presId="urn:microsoft.com/office/officeart/2005/8/layout/list1"/>
    <dgm:cxn modelId="{5AF47402-6CE2-49EA-86C0-F991E5B0A1FB}" type="presParOf" srcId="{B16CF5D8-5318-4A61-B112-C40D5B12B0E4}" destId="{90E68D57-A19D-41FF-A3D8-8E4883AA5578}" srcOrd="2" destOrd="0" presId="urn:microsoft.com/office/officeart/2005/8/layout/list1"/>
    <dgm:cxn modelId="{74E4F423-3BD4-4FE5-89AC-4A03CE5AC0EC}" type="presParOf" srcId="{B16CF5D8-5318-4A61-B112-C40D5B12B0E4}" destId="{3FD888FF-B897-4ED8-8313-871BAC0449F5}" srcOrd="3" destOrd="0" presId="urn:microsoft.com/office/officeart/2005/8/layout/list1"/>
    <dgm:cxn modelId="{B56C652F-6400-43B0-845A-8EC4A48C227B}" type="presParOf" srcId="{B16CF5D8-5318-4A61-B112-C40D5B12B0E4}" destId="{E2E9374E-2D5E-42BB-B68E-7B72761CF7D4}" srcOrd="4" destOrd="0" presId="urn:microsoft.com/office/officeart/2005/8/layout/list1"/>
    <dgm:cxn modelId="{F0531A37-845C-4DF2-ACB3-AE5C85FDBC74}" type="presParOf" srcId="{E2E9374E-2D5E-42BB-B68E-7B72761CF7D4}" destId="{717C515B-D7B3-4713-8104-92A1D65A2012}" srcOrd="0" destOrd="0" presId="urn:microsoft.com/office/officeart/2005/8/layout/list1"/>
    <dgm:cxn modelId="{32CA22D9-CD3B-46F3-973E-49C89B605896}" type="presParOf" srcId="{E2E9374E-2D5E-42BB-B68E-7B72761CF7D4}" destId="{03668876-5C2A-48F6-BB7B-58FBEF7DEF41}" srcOrd="1" destOrd="0" presId="urn:microsoft.com/office/officeart/2005/8/layout/list1"/>
    <dgm:cxn modelId="{3AA8B71F-3DFC-4CE6-8E60-CE530DEBA46D}" type="presParOf" srcId="{B16CF5D8-5318-4A61-B112-C40D5B12B0E4}" destId="{BFEF4CF0-E08E-4463-A211-5C5A706E2EE5}" srcOrd="5" destOrd="0" presId="urn:microsoft.com/office/officeart/2005/8/layout/list1"/>
    <dgm:cxn modelId="{84659407-D4C6-41E8-BC70-CDBCD72CB713}" type="presParOf" srcId="{B16CF5D8-5318-4A61-B112-C40D5B12B0E4}" destId="{D686E4E3-4E8E-4F28-A681-730D0EC5EE9C}" srcOrd="6" destOrd="0" presId="urn:microsoft.com/office/officeart/2005/8/layout/list1"/>
    <dgm:cxn modelId="{41876370-858A-4E35-AFB4-AEBA7A20D65D}" type="presParOf" srcId="{B16CF5D8-5318-4A61-B112-C40D5B12B0E4}" destId="{C65E59EA-E764-4489-8775-2A61B2CE23D9}" srcOrd="7" destOrd="0" presId="urn:microsoft.com/office/officeart/2005/8/layout/list1"/>
    <dgm:cxn modelId="{3B2D83FA-6C1F-4FA5-A6EF-6309DCBB2FEB}" type="presParOf" srcId="{B16CF5D8-5318-4A61-B112-C40D5B12B0E4}" destId="{CFE97A5F-46C8-45BA-A816-BEEC894717FC}" srcOrd="8" destOrd="0" presId="urn:microsoft.com/office/officeart/2005/8/layout/list1"/>
    <dgm:cxn modelId="{9FA30711-93D6-42C0-9BF3-99696D6F2EEB}" type="presParOf" srcId="{CFE97A5F-46C8-45BA-A816-BEEC894717FC}" destId="{56B47962-B413-41F8-B04E-F9F64FA5C496}" srcOrd="0" destOrd="0" presId="urn:microsoft.com/office/officeart/2005/8/layout/list1"/>
    <dgm:cxn modelId="{B0127649-C187-43DD-AF78-CF1FACEF4ABB}" type="presParOf" srcId="{CFE97A5F-46C8-45BA-A816-BEEC894717FC}" destId="{BB9815C5-BF14-4686-9134-DFD42D089319}" srcOrd="1" destOrd="0" presId="urn:microsoft.com/office/officeart/2005/8/layout/list1"/>
    <dgm:cxn modelId="{02D541D5-00E4-4A8F-A87F-3235AF9BA60E}" type="presParOf" srcId="{B16CF5D8-5318-4A61-B112-C40D5B12B0E4}" destId="{451D69C8-6001-46DC-AA3C-F5382CBE579E}" srcOrd="9" destOrd="0" presId="urn:microsoft.com/office/officeart/2005/8/layout/list1"/>
    <dgm:cxn modelId="{04D01367-54A8-47A0-83FA-79DA49F23257}" type="presParOf" srcId="{B16CF5D8-5318-4A61-B112-C40D5B12B0E4}" destId="{CC87A79F-339F-45C4-BA33-B97FCFAF2213}" srcOrd="10" destOrd="0" presId="urn:microsoft.com/office/officeart/2005/8/layout/list1"/>
    <dgm:cxn modelId="{1B3CEEC7-9DE0-49C9-82A5-C2CE7D06BADA}" type="presParOf" srcId="{B16CF5D8-5318-4A61-B112-C40D5B12B0E4}" destId="{7A45B5F9-C81F-4052-BC3A-AE08B089508C}" srcOrd="11" destOrd="0" presId="urn:microsoft.com/office/officeart/2005/8/layout/list1"/>
    <dgm:cxn modelId="{8E941C63-C57E-4221-A988-9407F359A68D}" type="presParOf" srcId="{B16CF5D8-5318-4A61-B112-C40D5B12B0E4}" destId="{626B8AE7-82DC-4D78-948F-64430FE33A32}" srcOrd="12" destOrd="0" presId="urn:microsoft.com/office/officeart/2005/8/layout/list1"/>
    <dgm:cxn modelId="{0F1E8828-612D-4EA4-9645-3A35016AB3B6}" type="presParOf" srcId="{626B8AE7-82DC-4D78-948F-64430FE33A32}" destId="{6268000B-2B3F-4673-9DAF-63131627FC40}" srcOrd="0" destOrd="0" presId="urn:microsoft.com/office/officeart/2005/8/layout/list1"/>
    <dgm:cxn modelId="{91FC27BD-798A-4CCC-A811-7E1A22D6BC0C}" type="presParOf" srcId="{626B8AE7-82DC-4D78-948F-64430FE33A32}" destId="{333D5969-07E1-4AC2-8C8A-32C467BE1A8E}" srcOrd="1" destOrd="0" presId="urn:microsoft.com/office/officeart/2005/8/layout/list1"/>
    <dgm:cxn modelId="{BC8C6B91-DC4A-42E6-A3F3-545D8A0799F7}" type="presParOf" srcId="{B16CF5D8-5318-4A61-B112-C40D5B12B0E4}" destId="{1F0D7293-FC29-4275-BE25-5E1738E5FC4A}" srcOrd="13" destOrd="0" presId="urn:microsoft.com/office/officeart/2005/8/layout/list1"/>
    <dgm:cxn modelId="{F17E2006-6C49-42B3-BD2A-4B90A063B205}" type="presParOf" srcId="{B16CF5D8-5318-4A61-B112-C40D5B12B0E4}" destId="{16EC4B71-97BA-45FF-84C0-2A0B3C65392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C97EFA-5548-4571-B4C5-24AB6E93D381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238D72-87BF-4AE7-BDAA-A00675246B19}">
      <dgm:prSet/>
      <dgm:spPr/>
      <dgm:t>
        <a:bodyPr/>
        <a:lstStyle/>
        <a:p>
          <a:r>
            <a:rPr lang="en-US"/>
            <a:t>Metrics often rate semantically strong outputs poorly</a:t>
          </a:r>
        </a:p>
      </dgm:t>
    </dgm:pt>
    <dgm:pt modelId="{6ED9F5E2-03D0-48CC-AE76-C6BF1EE998F4}" type="parTrans" cxnId="{58B31E06-7E22-4E48-B014-BEB3127182F7}">
      <dgm:prSet/>
      <dgm:spPr/>
      <dgm:t>
        <a:bodyPr/>
        <a:lstStyle/>
        <a:p>
          <a:endParaRPr lang="en-US"/>
        </a:p>
      </dgm:t>
    </dgm:pt>
    <dgm:pt modelId="{E07C0E9F-CBC3-45EA-AAD1-DC1C9CBC0E6C}" type="sibTrans" cxnId="{58B31E06-7E22-4E48-B014-BEB3127182F7}">
      <dgm:prSet/>
      <dgm:spPr/>
      <dgm:t>
        <a:bodyPr/>
        <a:lstStyle/>
        <a:p>
          <a:endParaRPr lang="en-US"/>
        </a:p>
      </dgm:t>
    </dgm:pt>
    <dgm:pt modelId="{E39DD90D-95FB-420F-88F7-5C83329FD68B}">
      <dgm:prSet/>
      <dgm:spPr/>
      <dgm:t>
        <a:bodyPr/>
        <a:lstStyle/>
        <a:p>
          <a:r>
            <a:rPr lang="en-US"/>
            <a:t>Summarization tasks suffer from reference variability</a:t>
          </a:r>
        </a:p>
      </dgm:t>
    </dgm:pt>
    <dgm:pt modelId="{B56343C3-232D-4667-82E9-A7D36E5E1A1A}" type="parTrans" cxnId="{89793F58-FD0F-4496-B66F-F410E6C13F95}">
      <dgm:prSet/>
      <dgm:spPr/>
      <dgm:t>
        <a:bodyPr/>
        <a:lstStyle/>
        <a:p>
          <a:endParaRPr lang="en-US"/>
        </a:p>
      </dgm:t>
    </dgm:pt>
    <dgm:pt modelId="{C96AC0EB-6E5A-4D5D-BF54-19EFBDDBB0E1}" type="sibTrans" cxnId="{89793F58-FD0F-4496-B66F-F410E6C13F95}">
      <dgm:prSet/>
      <dgm:spPr/>
      <dgm:t>
        <a:bodyPr/>
        <a:lstStyle/>
        <a:p>
          <a:endParaRPr lang="en-US"/>
        </a:p>
      </dgm:t>
    </dgm:pt>
    <dgm:pt modelId="{341D8492-3EB3-423C-99BB-3BC5D5DBB562}">
      <dgm:prSet/>
      <dgm:spPr/>
      <dgm:t>
        <a:bodyPr/>
        <a:lstStyle/>
        <a:p>
          <a:r>
            <a:rPr lang="en-US"/>
            <a:t>BERTScore shows only moderate human agreement</a:t>
          </a:r>
        </a:p>
      </dgm:t>
    </dgm:pt>
    <dgm:pt modelId="{FA74C4C0-77CA-47EE-8E38-52A676B59223}" type="parTrans" cxnId="{26E321AF-D467-418D-955C-AB1A95297758}">
      <dgm:prSet/>
      <dgm:spPr/>
      <dgm:t>
        <a:bodyPr/>
        <a:lstStyle/>
        <a:p>
          <a:endParaRPr lang="en-US"/>
        </a:p>
      </dgm:t>
    </dgm:pt>
    <dgm:pt modelId="{CD4440A0-6583-48F5-9968-D0C3007E581C}" type="sibTrans" cxnId="{26E321AF-D467-418D-955C-AB1A95297758}">
      <dgm:prSet/>
      <dgm:spPr/>
      <dgm:t>
        <a:bodyPr/>
        <a:lstStyle/>
        <a:p>
          <a:endParaRPr lang="en-US"/>
        </a:p>
      </dgm:t>
    </dgm:pt>
    <dgm:pt modelId="{01DF08B4-96AB-4F76-BFA5-2E362471D39C}" type="pres">
      <dgm:prSet presAssocID="{1BC97EFA-5548-4571-B4C5-24AB6E93D381}" presName="linear" presStyleCnt="0">
        <dgm:presLayoutVars>
          <dgm:animLvl val="lvl"/>
          <dgm:resizeHandles val="exact"/>
        </dgm:presLayoutVars>
      </dgm:prSet>
      <dgm:spPr/>
    </dgm:pt>
    <dgm:pt modelId="{4619A02F-70FC-4D3D-9A08-7991442491C0}" type="pres">
      <dgm:prSet presAssocID="{B0238D72-87BF-4AE7-BDAA-A00675246B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A1479D3-6F52-49D7-8704-0A4C77702D35}" type="pres">
      <dgm:prSet presAssocID="{E07C0E9F-CBC3-45EA-AAD1-DC1C9CBC0E6C}" presName="spacer" presStyleCnt="0"/>
      <dgm:spPr/>
    </dgm:pt>
    <dgm:pt modelId="{6AF9E36E-DB64-45ED-B0C4-D17C267115A7}" type="pres">
      <dgm:prSet presAssocID="{E39DD90D-95FB-420F-88F7-5C83329FD68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6F129D8-653A-472E-BD79-4DF19AC58526}" type="pres">
      <dgm:prSet presAssocID="{C96AC0EB-6E5A-4D5D-BF54-19EFBDDBB0E1}" presName="spacer" presStyleCnt="0"/>
      <dgm:spPr/>
    </dgm:pt>
    <dgm:pt modelId="{9399CE4A-6810-4174-8C09-EADCBF0CFFAD}" type="pres">
      <dgm:prSet presAssocID="{341D8492-3EB3-423C-99BB-3BC5D5DBB56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8B31E06-7E22-4E48-B014-BEB3127182F7}" srcId="{1BC97EFA-5548-4571-B4C5-24AB6E93D381}" destId="{B0238D72-87BF-4AE7-BDAA-A00675246B19}" srcOrd="0" destOrd="0" parTransId="{6ED9F5E2-03D0-48CC-AE76-C6BF1EE998F4}" sibTransId="{E07C0E9F-CBC3-45EA-AAD1-DC1C9CBC0E6C}"/>
    <dgm:cxn modelId="{6EA0094A-52C9-4B1A-B3D4-8661836D43B9}" type="presOf" srcId="{E39DD90D-95FB-420F-88F7-5C83329FD68B}" destId="{6AF9E36E-DB64-45ED-B0C4-D17C267115A7}" srcOrd="0" destOrd="0" presId="urn:microsoft.com/office/officeart/2005/8/layout/vList2"/>
    <dgm:cxn modelId="{89793F58-FD0F-4496-B66F-F410E6C13F95}" srcId="{1BC97EFA-5548-4571-B4C5-24AB6E93D381}" destId="{E39DD90D-95FB-420F-88F7-5C83329FD68B}" srcOrd="1" destOrd="0" parTransId="{B56343C3-232D-4667-82E9-A7D36E5E1A1A}" sibTransId="{C96AC0EB-6E5A-4D5D-BF54-19EFBDDBB0E1}"/>
    <dgm:cxn modelId="{26E321AF-D467-418D-955C-AB1A95297758}" srcId="{1BC97EFA-5548-4571-B4C5-24AB6E93D381}" destId="{341D8492-3EB3-423C-99BB-3BC5D5DBB562}" srcOrd="2" destOrd="0" parTransId="{FA74C4C0-77CA-47EE-8E38-52A676B59223}" sibTransId="{CD4440A0-6583-48F5-9968-D0C3007E581C}"/>
    <dgm:cxn modelId="{26D4CFC8-F255-40B2-9B36-E389840DE7F5}" type="presOf" srcId="{1BC97EFA-5548-4571-B4C5-24AB6E93D381}" destId="{01DF08B4-96AB-4F76-BFA5-2E362471D39C}" srcOrd="0" destOrd="0" presId="urn:microsoft.com/office/officeart/2005/8/layout/vList2"/>
    <dgm:cxn modelId="{BD9F2EF7-ABFA-46F4-A621-1AE8379090B9}" type="presOf" srcId="{B0238D72-87BF-4AE7-BDAA-A00675246B19}" destId="{4619A02F-70FC-4D3D-9A08-7991442491C0}" srcOrd="0" destOrd="0" presId="urn:microsoft.com/office/officeart/2005/8/layout/vList2"/>
    <dgm:cxn modelId="{17D782F7-1BE0-42A4-8B54-5E58FA7F9560}" type="presOf" srcId="{341D8492-3EB3-423C-99BB-3BC5D5DBB562}" destId="{9399CE4A-6810-4174-8C09-EADCBF0CFFAD}" srcOrd="0" destOrd="0" presId="urn:microsoft.com/office/officeart/2005/8/layout/vList2"/>
    <dgm:cxn modelId="{D0DB9703-056D-486F-971B-F32D09277781}" type="presParOf" srcId="{01DF08B4-96AB-4F76-BFA5-2E362471D39C}" destId="{4619A02F-70FC-4D3D-9A08-7991442491C0}" srcOrd="0" destOrd="0" presId="urn:microsoft.com/office/officeart/2005/8/layout/vList2"/>
    <dgm:cxn modelId="{074C54B4-3921-483E-892A-7E275F5AAC5F}" type="presParOf" srcId="{01DF08B4-96AB-4F76-BFA5-2E362471D39C}" destId="{8A1479D3-6F52-49D7-8704-0A4C77702D35}" srcOrd="1" destOrd="0" presId="urn:microsoft.com/office/officeart/2005/8/layout/vList2"/>
    <dgm:cxn modelId="{B06334A9-2D8E-4791-8334-238CF50F0F6B}" type="presParOf" srcId="{01DF08B4-96AB-4F76-BFA5-2E362471D39C}" destId="{6AF9E36E-DB64-45ED-B0C4-D17C267115A7}" srcOrd="2" destOrd="0" presId="urn:microsoft.com/office/officeart/2005/8/layout/vList2"/>
    <dgm:cxn modelId="{4F4906FA-43F9-43CF-AAB5-FFE8DD145F51}" type="presParOf" srcId="{01DF08B4-96AB-4F76-BFA5-2E362471D39C}" destId="{D6F129D8-653A-472E-BD79-4DF19AC58526}" srcOrd="3" destOrd="0" presId="urn:microsoft.com/office/officeart/2005/8/layout/vList2"/>
    <dgm:cxn modelId="{FCB192C1-9227-45BD-A0DB-EF4488563A99}" type="presParOf" srcId="{01DF08B4-96AB-4F76-BFA5-2E362471D39C}" destId="{9399CE4A-6810-4174-8C09-EADCBF0CFFA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5AB372C-07BC-4ED9-81A4-4A3C1627CB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A33FB6D-AF77-407F-8DAA-752AD56D8309}">
      <dgm:prSet/>
      <dgm:spPr/>
      <dgm:t>
        <a:bodyPr/>
        <a:lstStyle/>
        <a:p>
          <a:r>
            <a:rPr lang="en-US"/>
            <a:t>Large models perform better, but are costly</a:t>
          </a:r>
        </a:p>
      </dgm:t>
    </dgm:pt>
    <dgm:pt modelId="{DF5CD7F7-3928-4B43-8D5A-79D4A7711ADB}" type="parTrans" cxnId="{6AE70618-60B6-432F-90D5-CC175823B7A4}">
      <dgm:prSet/>
      <dgm:spPr/>
      <dgm:t>
        <a:bodyPr/>
        <a:lstStyle/>
        <a:p>
          <a:endParaRPr lang="en-US"/>
        </a:p>
      </dgm:t>
    </dgm:pt>
    <dgm:pt modelId="{CE83CE93-EB79-499D-BDEF-41BA68E985EB}" type="sibTrans" cxnId="{6AE70618-60B6-432F-90D5-CC175823B7A4}">
      <dgm:prSet/>
      <dgm:spPr/>
      <dgm:t>
        <a:bodyPr/>
        <a:lstStyle/>
        <a:p>
          <a:endParaRPr lang="en-US"/>
        </a:p>
      </dgm:t>
    </dgm:pt>
    <dgm:pt modelId="{8AB28E20-B040-4A45-9479-DF464795991B}">
      <dgm:prSet/>
      <dgm:spPr/>
      <dgm:t>
        <a:bodyPr/>
        <a:lstStyle/>
        <a:p>
          <a:r>
            <a:rPr lang="en-US"/>
            <a:t>Biases: likelihood bias, length bias, social bias</a:t>
          </a:r>
        </a:p>
      </dgm:t>
    </dgm:pt>
    <dgm:pt modelId="{E73DE0E8-E8F9-4A89-B713-7478D18C896F}" type="parTrans" cxnId="{39623A2C-453A-4662-AB3B-8012054B5489}">
      <dgm:prSet/>
      <dgm:spPr/>
      <dgm:t>
        <a:bodyPr/>
        <a:lstStyle/>
        <a:p>
          <a:endParaRPr lang="en-US"/>
        </a:p>
      </dgm:t>
    </dgm:pt>
    <dgm:pt modelId="{63D9BFF2-70FA-4FDA-9527-19A5D3BFB615}" type="sibTrans" cxnId="{39623A2C-453A-4662-AB3B-8012054B5489}">
      <dgm:prSet/>
      <dgm:spPr/>
      <dgm:t>
        <a:bodyPr/>
        <a:lstStyle/>
        <a:p>
          <a:endParaRPr lang="en-US"/>
        </a:p>
      </dgm:t>
    </dgm:pt>
    <dgm:pt modelId="{54565620-13D8-4DA2-A943-CA1A5FC5CC94}">
      <dgm:prSet/>
      <dgm:spPr/>
      <dgm:t>
        <a:bodyPr/>
        <a:lstStyle/>
        <a:p>
          <a:r>
            <a:rPr lang="en-US"/>
            <a:t>Prompt sensitivity is a serious limitation</a:t>
          </a:r>
        </a:p>
      </dgm:t>
    </dgm:pt>
    <dgm:pt modelId="{72E01CE4-A716-4CB0-8586-C0CE5D8822F2}" type="parTrans" cxnId="{31883381-8094-4662-A1FA-B13F0C5319AD}">
      <dgm:prSet/>
      <dgm:spPr/>
      <dgm:t>
        <a:bodyPr/>
        <a:lstStyle/>
        <a:p>
          <a:endParaRPr lang="en-US"/>
        </a:p>
      </dgm:t>
    </dgm:pt>
    <dgm:pt modelId="{75B82A4D-3421-42AE-8EC9-8C2F4D65014B}" type="sibTrans" cxnId="{31883381-8094-4662-A1FA-B13F0C5319AD}">
      <dgm:prSet/>
      <dgm:spPr/>
      <dgm:t>
        <a:bodyPr/>
        <a:lstStyle/>
        <a:p>
          <a:endParaRPr lang="en-US"/>
        </a:p>
      </dgm:t>
    </dgm:pt>
    <dgm:pt modelId="{8177B87A-F36D-47F1-892A-A7B7FBD08209}" type="pres">
      <dgm:prSet presAssocID="{85AB372C-07BC-4ED9-81A4-4A3C1627CBA3}" presName="root" presStyleCnt="0">
        <dgm:presLayoutVars>
          <dgm:dir/>
          <dgm:resizeHandles val="exact"/>
        </dgm:presLayoutVars>
      </dgm:prSet>
      <dgm:spPr/>
    </dgm:pt>
    <dgm:pt modelId="{0AC6BDAF-B108-47B7-B8BA-9C93C4DC0755}" type="pres">
      <dgm:prSet presAssocID="{2A33FB6D-AF77-407F-8DAA-752AD56D8309}" presName="compNode" presStyleCnt="0"/>
      <dgm:spPr/>
    </dgm:pt>
    <dgm:pt modelId="{343B488D-2EA0-41AF-BF2E-1ADD55CBAA96}" type="pres">
      <dgm:prSet presAssocID="{2A33FB6D-AF77-407F-8DAA-752AD56D8309}" presName="bgRect" presStyleLbl="bgShp" presStyleIdx="0" presStyleCnt="3"/>
      <dgm:spPr/>
    </dgm:pt>
    <dgm:pt modelId="{523B0FF9-A4AC-45D1-9432-C1479C98AD3E}" type="pres">
      <dgm:prSet presAssocID="{2A33FB6D-AF77-407F-8DAA-752AD56D83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0B84A79-3C35-48BA-A16B-2AF46BB153D8}" type="pres">
      <dgm:prSet presAssocID="{2A33FB6D-AF77-407F-8DAA-752AD56D8309}" presName="spaceRect" presStyleCnt="0"/>
      <dgm:spPr/>
    </dgm:pt>
    <dgm:pt modelId="{92A5CB40-8250-4341-9AD0-EB4AE9C025E3}" type="pres">
      <dgm:prSet presAssocID="{2A33FB6D-AF77-407F-8DAA-752AD56D8309}" presName="parTx" presStyleLbl="revTx" presStyleIdx="0" presStyleCnt="3">
        <dgm:presLayoutVars>
          <dgm:chMax val="0"/>
          <dgm:chPref val="0"/>
        </dgm:presLayoutVars>
      </dgm:prSet>
      <dgm:spPr/>
    </dgm:pt>
    <dgm:pt modelId="{DEDAE1A1-5B55-4F1E-B559-C66D5989CA9C}" type="pres">
      <dgm:prSet presAssocID="{CE83CE93-EB79-499D-BDEF-41BA68E985EB}" presName="sibTrans" presStyleCnt="0"/>
      <dgm:spPr/>
    </dgm:pt>
    <dgm:pt modelId="{8BF58DEF-3AB6-4D60-9BB9-2B9846DF1481}" type="pres">
      <dgm:prSet presAssocID="{8AB28E20-B040-4A45-9479-DF464795991B}" presName="compNode" presStyleCnt="0"/>
      <dgm:spPr/>
    </dgm:pt>
    <dgm:pt modelId="{0D05361A-EC55-473E-BD42-F6DE891B11F1}" type="pres">
      <dgm:prSet presAssocID="{8AB28E20-B040-4A45-9479-DF464795991B}" presName="bgRect" presStyleLbl="bgShp" presStyleIdx="1" presStyleCnt="3"/>
      <dgm:spPr/>
    </dgm:pt>
    <dgm:pt modelId="{2F7EA2BD-806A-4EAA-8504-6B758FCCB9A7}" type="pres">
      <dgm:prSet presAssocID="{8AB28E20-B040-4A45-9479-DF464795991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B075E52-41F1-4BF0-926B-53BD919F547A}" type="pres">
      <dgm:prSet presAssocID="{8AB28E20-B040-4A45-9479-DF464795991B}" presName="spaceRect" presStyleCnt="0"/>
      <dgm:spPr/>
    </dgm:pt>
    <dgm:pt modelId="{54199BBB-377A-46EE-A373-D320E8018ADF}" type="pres">
      <dgm:prSet presAssocID="{8AB28E20-B040-4A45-9479-DF464795991B}" presName="parTx" presStyleLbl="revTx" presStyleIdx="1" presStyleCnt="3">
        <dgm:presLayoutVars>
          <dgm:chMax val="0"/>
          <dgm:chPref val="0"/>
        </dgm:presLayoutVars>
      </dgm:prSet>
      <dgm:spPr/>
    </dgm:pt>
    <dgm:pt modelId="{DAEDDAB1-9612-459D-A089-45BEAB3C09FD}" type="pres">
      <dgm:prSet presAssocID="{63D9BFF2-70FA-4FDA-9527-19A5D3BFB615}" presName="sibTrans" presStyleCnt="0"/>
      <dgm:spPr/>
    </dgm:pt>
    <dgm:pt modelId="{EB590294-B847-418A-866B-5C11B4085CD4}" type="pres">
      <dgm:prSet presAssocID="{54565620-13D8-4DA2-A943-CA1A5FC5CC94}" presName="compNode" presStyleCnt="0"/>
      <dgm:spPr/>
    </dgm:pt>
    <dgm:pt modelId="{DD5BC574-E22E-4CDD-9B5A-3D734B95E98D}" type="pres">
      <dgm:prSet presAssocID="{54565620-13D8-4DA2-A943-CA1A5FC5CC94}" presName="bgRect" presStyleLbl="bgShp" presStyleIdx="2" presStyleCnt="3"/>
      <dgm:spPr/>
    </dgm:pt>
    <dgm:pt modelId="{D834628C-2C61-4C9A-814A-09A46C666910}" type="pres">
      <dgm:prSet presAssocID="{54565620-13D8-4DA2-A943-CA1A5FC5CC9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ECE3239-3923-4A9C-9DA4-C92AE01B5412}" type="pres">
      <dgm:prSet presAssocID="{54565620-13D8-4DA2-A943-CA1A5FC5CC94}" presName="spaceRect" presStyleCnt="0"/>
      <dgm:spPr/>
    </dgm:pt>
    <dgm:pt modelId="{03BD9F4C-9CC5-4C02-B0AE-D2A45E620BA3}" type="pres">
      <dgm:prSet presAssocID="{54565620-13D8-4DA2-A943-CA1A5FC5CC9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AE70618-60B6-432F-90D5-CC175823B7A4}" srcId="{85AB372C-07BC-4ED9-81A4-4A3C1627CBA3}" destId="{2A33FB6D-AF77-407F-8DAA-752AD56D8309}" srcOrd="0" destOrd="0" parTransId="{DF5CD7F7-3928-4B43-8D5A-79D4A7711ADB}" sibTransId="{CE83CE93-EB79-499D-BDEF-41BA68E985EB}"/>
    <dgm:cxn modelId="{39623A2C-453A-4662-AB3B-8012054B5489}" srcId="{85AB372C-07BC-4ED9-81A4-4A3C1627CBA3}" destId="{8AB28E20-B040-4A45-9479-DF464795991B}" srcOrd="1" destOrd="0" parTransId="{E73DE0E8-E8F9-4A89-B713-7478D18C896F}" sibTransId="{63D9BFF2-70FA-4FDA-9527-19A5D3BFB615}"/>
    <dgm:cxn modelId="{9943692C-F926-48D4-9F3A-A8E8E66A0804}" type="presOf" srcId="{54565620-13D8-4DA2-A943-CA1A5FC5CC94}" destId="{03BD9F4C-9CC5-4C02-B0AE-D2A45E620BA3}" srcOrd="0" destOrd="0" presId="urn:microsoft.com/office/officeart/2018/2/layout/IconVerticalSolidList"/>
    <dgm:cxn modelId="{223BE97B-1B14-46A2-B425-6E44B859E026}" type="presOf" srcId="{8AB28E20-B040-4A45-9479-DF464795991B}" destId="{54199BBB-377A-46EE-A373-D320E8018ADF}" srcOrd="0" destOrd="0" presId="urn:microsoft.com/office/officeart/2018/2/layout/IconVerticalSolidList"/>
    <dgm:cxn modelId="{31883381-8094-4662-A1FA-B13F0C5319AD}" srcId="{85AB372C-07BC-4ED9-81A4-4A3C1627CBA3}" destId="{54565620-13D8-4DA2-A943-CA1A5FC5CC94}" srcOrd="2" destOrd="0" parTransId="{72E01CE4-A716-4CB0-8586-C0CE5D8822F2}" sibTransId="{75B82A4D-3421-42AE-8EC9-8C2F4D65014B}"/>
    <dgm:cxn modelId="{ECCAA8BD-21EC-4ACD-B468-25EE62C5E594}" type="presOf" srcId="{2A33FB6D-AF77-407F-8DAA-752AD56D8309}" destId="{92A5CB40-8250-4341-9AD0-EB4AE9C025E3}" srcOrd="0" destOrd="0" presId="urn:microsoft.com/office/officeart/2018/2/layout/IconVerticalSolidList"/>
    <dgm:cxn modelId="{5B3D7EC2-0E77-4613-A63E-B1D75472CBE1}" type="presOf" srcId="{85AB372C-07BC-4ED9-81A4-4A3C1627CBA3}" destId="{8177B87A-F36D-47F1-892A-A7B7FBD08209}" srcOrd="0" destOrd="0" presId="urn:microsoft.com/office/officeart/2018/2/layout/IconVerticalSolidList"/>
    <dgm:cxn modelId="{44A14360-1BC2-4966-84E3-FC14CC15B64E}" type="presParOf" srcId="{8177B87A-F36D-47F1-892A-A7B7FBD08209}" destId="{0AC6BDAF-B108-47B7-B8BA-9C93C4DC0755}" srcOrd="0" destOrd="0" presId="urn:microsoft.com/office/officeart/2018/2/layout/IconVerticalSolidList"/>
    <dgm:cxn modelId="{BDBE7B78-9338-4FA0-B60A-F860F7D532C4}" type="presParOf" srcId="{0AC6BDAF-B108-47B7-B8BA-9C93C4DC0755}" destId="{343B488D-2EA0-41AF-BF2E-1ADD55CBAA96}" srcOrd="0" destOrd="0" presId="urn:microsoft.com/office/officeart/2018/2/layout/IconVerticalSolidList"/>
    <dgm:cxn modelId="{3B74BD99-C562-42EE-903E-82BCF1FE07B9}" type="presParOf" srcId="{0AC6BDAF-B108-47B7-B8BA-9C93C4DC0755}" destId="{523B0FF9-A4AC-45D1-9432-C1479C98AD3E}" srcOrd="1" destOrd="0" presId="urn:microsoft.com/office/officeart/2018/2/layout/IconVerticalSolidList"/>
    <dgm:cxn modelId="{750FF6E0-E19A-4803-8957-670B0F712B2F}" type="presParOf" srcId="{0AC6BDAF-B108-47B7-B8BA-9C93C4DC0755}" destId="{F0B84A79-3C35-48BA-A16B-2AF46BB153D8}" srcOrd="2" destOrd="0" presId="urn:microsoft.com/office/officeart/2018/2/layout/IconVerticalSolidList"/>
    <dgm:cxn modelId="{092B6132-0466-4C75-B94A-D2250CD8D9B9}" type="presParOf" srcId="{0AC6BDAF-B108-47B7-B8BA-9C93C4DC0755}" destId="{92A5CB40-8250-4341-9AD0-EB4AE9C025E3}" srcOrd="3" destOrd="0" presId="urn:microsoft.com/office/officeart/2018/2/layout/IconVerticalSolidList"/>
    <dgm:cxn modelId="{1862C3E2-392D-4500-A510-293E0A85ACF5}" type="presParOf" srcId="{8177B87A-F36D-47F1-892A-A7B7FBD08209}" destId="{DEDAE1A1-5B55-4F1E-B559-C66D5989CA9C}" srcOrd="1" destOrd="0" presId="urn:microsoft.com/office/officeart/2018/2/layout/IconVerticalSolidList"/>
    <dgm:cxn modelId="{6F0DFEA4-4199-473F-9138-36CAB96324E6}" type="presParOf" srcId="{8177B87A-F36D-47F1-892A-A7B7FBD08209}" destId="{8BF58DEF-3AB6-4D60-9BB9-2B9846DF1481}" srcOrd="2" destOrd="0" presId="urn:microsoft.com/office/officeart/2018/2/layout/IconVerticalSolidList"/>
    <dgm:cxn modelId="{38816489-5C21-4863-B059-36727F7E5ABE}" type="presParOf" srcId="{8BF58DEF-3AB6-4D60-9BB9-2B9846DF1481}" destId="{0D05361A-EC55-473E-BD42-F6DE891B11F1}" srcOrd="0" destOrd="0" presId="urn:microsoft.com/office/officeart/2018/2/layout/IconVerticalSolidList"/>
    <dgm:cxn modelId="{ADEB45B8-2650-4A55-A588-F76C173441F4}" type="presParOf" srcId="{8BF58DEF-3AB6-4D60-9BB9-2B9846DF1481}" destId="{2F7EA2BD-806A-4EAA-8504-6B758FCCB9A7}" srcOrd="1" destOrd="0" presId="urn:microsoft.com/office/officeart/2018/2/layout/IconVerticalSolidList"/>
    <dgm:cxn modelId="{ECD80233-8612-4245-9F0E-E60337788B4F}" type="presParOf" srcId="{8BF58DEF-3AB6-4D60-9BB9-2B9846DF1481}" destId="{7B075E52-41F1-4BF0-926B-53BD919F547A}" srcOrd="2" destOrd="0" presId="urn:microsoft.com/office/officeart/2018/2/layout/IconVerticalSolidList"/>
    <dgm:cxn modelId="{78D70E93-B343-4FB4-9A4D-7C43DA2423C0}" type="presParOf" srcId="{8BF58DEF-3AB6-4D60-9BB9-2B9846DF1481}" destId="{54199BBB-377A-46EE-A373-D320E8018ADF}" srcOrd="3" destOrd="0" presId="urn:microsoft.com/office/officeart/2018/2/layout/IconVerticalSolidList"/>
    <dgm:cxn modelId="{C34EE74A-9DF6-4310-8445-9C50D108FBCD}" type="presParOf" srcId="{8177B87A-F36D-47F1-892A-A7B7FBD08209}" destId="{DAEDDAB1-9612-459D-A089-45BEAB3C09FD}" srcOrd="3" destOrd="0" presId="urn:microsoft.com/office/officeart/2018/2/layout/IconVerticalSolidList"/>
    <dgm:cxn modelId="{6BE432B3-7C04-489C-AEEB-DFD270C5203B}" type="presParOf" srcId="{8177B87A-F36D-47F1-892A-A7B7FBD08209}" destId="{EB590294-B847-418A-866B-5C11B4085CD4}" srcOrd="4" destOrd="0" presId="urn:microsoft.com/office/officeart/2018/2/layout/IconVerticalSolidList"/>
    <dgm:cxn modelId="{FB34DE8C-8DF5-4D1F-A639-76CAE235CCA8}" type="presParOf" srcId="{EB590294-B847-418A-866B-5C11B4085CD4}" destId="{DD5BC574-E22E-4CDD-9B5A-3D734B95E98D}" srcOrd="0" destOrd="0" presId="urn:microsoft.com/office/officeart/2018/2/layout/IconVerticalSolidList"/>
    <dgm:cxn modelId="{41D7A95A-DAB8-40AE-99F3-3F9F99675867}" type="presParOf" srcId="{EB590294-B847-418A-866B-5C11B4085CD4}" destId="{D834628C-2C61-4C9A-814A-09A46C666910}" srcOrd="1" destOrd="0" presId="urn:microsoft.com/office/officeart/2018/2/layout/IconVerticalSolidList"/>
    <dgm:cxn modelId="{183AAFB1-7406-4411-BE11-0FB20FD79AFA}" type="presParOf" srcId="{EB590294-B847-418A-866B-5C11B4085CD4}" destId="{CECE3239-3923-4A9C-9DA4-C92AE01B5412}" srcOrd="2" destOrd="0" presId="urn:microsoft.com/office/officeart/2018/2/layout/IconVerticalSolidList"/>
    <dgm:cxn modelId="{D0F04742-1933-409E-B928-006DF2130E57}" type="presParOf" srcId="{EB590294-B847-418A-866B-5C11B4085CD4}" destId="{03BD9F4C-9CC5-4C02-B0AE-D2A45E620B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3CBAB64-69ED-4E27-91D5-B2BDEDA4EB84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197A2F0-0AF8-476A-A4C1-246A34BA67C1}">
      <dgm:prSet/>
      <dgm:spPr/>
      <dgm:t>
        <a:bodyPr/>
        <a:lstStyle/>
        <a:p>
          <a:r>
            <a:rPr lang="en-US"/>
            <a:t>Inspired by contrastive decoding and SCMoE</a:t>
          </a:r>
        </a:p>
      </dgm:t>
    </dgm:pt>
    <dgm:pt modelId="{E4F9CE3E-B749-4C6B-B062-435A1DBECF13}" type="parTrans" cxnId="{298662BB-9B7C-4850-8B25-22DAECD2AB33}">
      <dgm:prSet/>
      <dgm:spPr/>
      <dgm:t>
        <a:bodyPr/>
        <a:lstStyle/>
        <a:p>
          <a:endParaRPr lang="en-US"/>
        </a:p>
      </dgm:t>
    </dgm:pt>
    <dgm:pt modelId="{57CA40CD-A7E6-4F88-8F17-4897CF8FC862}" type="sibTrans" cxnId="{298662BB-9B7C-4850-8B25-22DAECD2AB33}">
      <dgm:prSet/>
      <dgm:spPr/>
      <dgm:t>
        <a:bodyPr/>
        <a:lstStyle/>
        <a:p>
          <a:endParaRPr lang="en-US"/>
        </a:p>
      </dgm:t>
    </dgm:pt>
    <dgm:pt modelId="{9558EE05-3F67-43E1-AF1C-49FD51D70DFF}">
      <dgm:prSet/>
      <dgm:spPr/>
      <dgm:t>
        <a:bodyPr/>
        <a:lstStyle/>
        <a:p>
          <a:r>
            <a:rPr lang="en-US"/>
            <a:t>Models of different capacities compared</a:t>
          </a:r>
        </a:p>
      </dgm:t>
    </dgm:pt>
    <dgm:pt modelId="{4CFA33A7-F6BC-4C6D-AFAB-9ADF148A8AD7}" type="parTrans" cxnId="{A2CAFF8C-CCEA-4EB2-B8AD-26B7B27E7272}">
      <dgm:prSet/>
      <dgm:spPr/>
      <dgm:t>
        <a:bodyPr/>
        <a:lstStyle/>
        <a:p>
          <a:endParaRPr lang="en-US"/>
        </a:p>
      </dgm:t>
    </dgm:pt>
    <dgm:pt modelId="{D440E6D9-39D8-48DF-BFD9-CAAEBF61DD7A}" type="sibTrans" cxnId="{A2CAFF8C-CCEA-4EB2-B8AD-26B7B27E7272}">
      <dgm:prSet/>
      <dgm:spPr/>
      <dgm:t>
        <a:bodyPr/>
        <a:lstStyle/>
        <a:p>
          <a:endParaRPr lang="en-US"/>
        </a:p>
      </dgm:t>
    </dgm:pt>
    <dgm:pt modelId="{DCFAA499-94CC-4EDC-81A8-C5C3B82689CD}">
      <dgm:prSet/>
      <dgm:spPr/>
      <dgm:t>
        <a:bodyPr/>
        <a:lstStyle/>
        <a:p>
          <a:r>
            <a:rPr lang="en-US"/>
            <a:t>Goal: better calibration, less bias</a:t>
          </a:r>
        </a:p>
      </dgm:t>
    </dgm:pt>
    <dgm:pt modelId="{E76A7B33-A3FD-4B1C-8336-C69103F3BA05}" type="parTrans" cxnId="{3E9C1D05-8BC7-493C-9986-7F4EC427EF3B}">
      <dgm:prSet/>
      <dgm:spPr/>
      <dgm:t>
        <a:bodyPr/>
        <a:lstStyle/>
        <a:p>
          <a:endParaRPr lang="en-US"/>
        </a:p>
      </dgm:t>
    </dgm:pt>
    <dgm:pt modelId="{B99E4E39-2C9B-4AA7-BBF8-D0D92C93D0DC}" type="sibTrans" cxnId="{3E9C1D05-8BC7-493C-9986-7F4EC427EF3B}">
      <dgm:prSet/>
      <dgm:spPr/>
      <dgm:t>
        <a:bodyPr/>
        <a:lstStyle/>
        <a:p>
          <a:endParaRPr lang="en-US"/>
        </a:p>
      </dgm:t>
    </dgm:pt>
    <dgm:pt modelId="{013246F7-486A-41AB-B2AA-D146D8F16F96}" type="pres">
      <dgm:prSet presAssocID="{73CBAB64-69ED-4E27-91D5-B2BDEDA4EB84}" presName="diagram" presStyleCnt="0">
        <dgm:presLayoutVars>
          <dgm:dir/>
          <dgm:resizeHandles val="exact"/>
        </dgm:presLayoutVars>
      </dgm:prSet>
      <dgm:spPr/>
    </dgm:pt>
    <dgm:pt modelId="{530650C8-F6F5-4608-B44F-709423056220}" type="pres">
      <dgm:prSet presAssocID="{2197A2F0-0AF8-476A-A4C1-246A34BA67C1}" presName="node" presStyleLbl="node1" presStyleIdx="0" presStyleCnt="3">
        <dgm:presLayoutVars>
          <dgm:bulletEnabled val="1"/>
        </dgm:presLayoutVars>
      </dgm:prSet>
      <dgm:spPr/>
    </dgm:pt>
    <dgm:pt modelId="{CAF3A0C4-7629-4E94-A62F-16654B7ECBFE}" type="pres">
      <dgm:prSet presAssocID="{57CA40CD-A7E6-4F88-8F17-4897CF8FC862}" presName="sibTrans" presStyleLbl="sibTrans2D1" presStyleIdx="0" presStyleCnt="2"/>
      <dgm:spPr/>
    </dgm:pt>
    <dgm:pt modelId="{98D585F8-6F6A-41C1-875D-AC59F4FBE745}" type="pres">
      <dgm:prSet presAssocID="{57CA40CD-A7E6-4F88-8F17-4897CF8FC862}" presName="connectorText" presStyleLbl="sibTrans2D1" presStyleIdx="0" presStyleCnt="2"/>
      <dgm:spPr/>
    </dgm:pt>
    <dgm:pt modelId="{E8EB5F09-F31E-4ACB-8AB1-EE52CDC42871}" type="pres">
      <dgm:prSet presAssocID="{9558EE05-3F67-43E1-AF1C-49FD51D70DFF}" presName="node" presStyleLbl="node1" presStyleIdx="1" presStyleCnt="3">
        <dgm:presLayoutVars>
          <dgm:bulletEnabled val="1"/>
        </dgm:presLayoutVars>
      </dgm:prSet>
      <dgm:spPr/>
    </dgm:pt>
    <dgm:pt modelId="{D72705E8-FE52-478B-97B4-3BDCFFB0A320}" type="pres">
      <dgm:prSet presAssocID="{D440E6D9-39D8-48DF-BFD9-CAAEBF61DD7A}" presName="sibTrans" presStyleLbl="sibTrans2D1" presStyleIdx="1" presStyleCnt="2"/>
      <dgm:spPr/>
    </dgm:pt>
    <dgm:pt modelId="{1C65D1FC-0D7B-4C99-8E8C-DB3D57DB3A87}" type="pres">
      <dgm:prSet presAssocID="{D440E6D9-39D8-48DF-BFD9-CAAEBF61DD7A}" presName="connectorText" presStyleLbl="sibTrans2D1" presStyleIdx="1" presStyleCnt="2"/>
      <dgm:spPr/>
    </dgm:pt>
    <dgm:pt modelId="{A7153E98-DA56-49ED-B411-0D14CCBA676E}" type="pres">
      <dgm:prSet presAssocID="{DCFAA499-94CC-4EDC-81A8-C5C3B82689CD}" presName="node" presStyleLbl="node1" presStyleIdx="2" presStyleCnt="3">
        <dgm:presLayoutVars>
          <dgm:bulletEnabled val="1"/>
        </dgm:presLayoutVars>
      </dgm:prSet>
      <dgm:spPr/>
    </dgm:pt>
  </dgm:ptLst>
  <dgm:cxnLst>
    <dgm:cxn modelId="{3E9C1D05-8BC7-493C-9986-7F4EC427EF3B}" srcId="{73CBAB64-69ED-4E27-91D5-B2BDEDA4EB84}" destId="{DCFAA499-94CC-4EDC-81A8-C5C3B82689CD}" srcOrd="2" destOrd="0" parTransId="{E76A7B33-A3FD-4B1C-8336-C69103F3BA05}" sibTransId="{B99E4E39-2C9B-4AA7-BBF8-D0D92C93D0DC}"/>
    <dgm:cxn modelId="{388BC30A-5CE6-4A64-83AE-F988F41983A9}" type="presOf" srcId="{2197A2F0-0AF8-476A-A4C1-246A34BA67C1}" destId="{530650C8-F6F5-4608-B44F-709423056220}" srcOrd="0" destOrd="0" presId="urn:microsoft.com/office/officeart/2005/8/layout/process5"/>
    <dgm:cxn modelId="{13682B22-8922-4999-A451-147BD43012A5}" type="presOf" srcId="{57CA40CD-A7E6-4F88-8F17-4897CF8FC862}" destId="{98D585F8-6F6A-41C1-875D-AC59F4FBE745}" srcOrd="1" destOrd="0" presId="urn:microsoft.com/office/officeart/2005/8/layout/process5"/>
    <dgm:cxn modelId="{57E7772D-19A8-4A29-8084-867F35103F14}" type="presOf" srcId="{D440E6D9-39D8-48DF-BFD9-CAAEBF61DD7A}" destId="{D72705E8-FE52-478B-97B4-3BDCFFB0A320}" srcOrd="0" destOrd="0" presId="urn:microsoft.com/office/officeart/2005/8/layout/process5"/>
    <dgm:cxn modelId="{50BA943A-7EDE-4B6E-B7BE-F82CD20E6DEE}" type="presOf" srcId="{9558EE05-3F67-43E1-AF1C-49FD51D70DFF}" destId="{E8EB5F09-F31E-4ACB-8AB1-EE52CDC42871}" srcOrd="0" destOrd="0" presId="urn:microsoft.com/office/officeart/2005/8/layout/process5"/>
    <dgm:cxn modelId="{3B286A85-0C7D-455F-AF08-47B5F0F51940}" type="presOf" srcId="{DCFAA499-94CC-4EDC-81A8-C5C3B82689CD}" destId="{A7153E98-DA56-49ED-B411-0D14CCBA676E}" srcOrd="0" destOrd="0" presId="urn:microsoft.com/office/officeart/2005/8/layout/process5"/>
    <dgm:cxn modelId="{A2CAFF8C-CCEA-4EB2-B8AD-26B7B27E7272}" srcId="{73CBAB64-69ED-4E27-91D5-B2BDEDA4EB84}" destId="{9558EE05-3F67-43E1-AF1C-49FD51D70DFF}" srcOrd="1" destOrd="0" parTransId="{4CFA33A7-F6BC-4C6D-AFAB-9ADF148A8AD7}" sibTransId="{D440E6D9-39D8-48DF-BFD9-CAAEBF61DD7A}"/>
    <dgm:cxn modelId="{298662BB-9B7C-4850-8B25-22DAECD2AB33}" srcId="{73CBAB64-69ED-4E27-91D5-B2BDEDA4EB84}" destId="{2197A2F0-0AF8-476A-A4C1-246A34BA67C1}" srcOrd="0" destOrd="0" parTransId="{E4F9CE3E-B749-4C6B-B062-435A1DBECF13}" sibTransId="{57CA40CD-A7E6-4F88-8F17-4897CF8FC862}"/>
    <dgm:cxn modelId="{29D7EDC6-CE56-4649-9587-BE556EDC6279}" type="presOf" srcId="{D440E6D9-39D8-48DF-BFD9-CAAEBF61DD7A}" destId="{1C65D1FC-0D7B-4C99-8E8C-DB3D57DB3A87}" srcOrd="1" destOrd="0" presId="urn:microsoft.com/office/officeart/2005/8/layout/process5"/>
    <dgm:cxn modelId="{92D82AE4-5416-4184-8B53-C0DECCA6F586}" type="presOf" srcId="{57CA40CD-A7E6-4F88-8F17-4897CF8FC862}" destId="{CAF3A0C4-7629-4E94-A62F-16654B7ECBFE}" srcOrd="0" destOrd="0" presId="urn:microsoft.com/office/officeart/2005/8/layout/process5"/>
    <dgm:cxn modelId="{6F8F64E6-D743-4387-92E6-2D7660307004}" type="presOf" srcId="{73CBAB64-69ED-4E27-91D5-B2BDEDA4EB84}" destId="{013246F7-486A-41AB-B2AA-D146D8F16F96}" srcOrd="0" destOrd="0" presId="urn:microsoft.com/office/officeart/2005/8/layout/process5"/>
    <dgm:cxn modelId="{C8E249EF-3B50-4C37-8ED9-4127DE53AC40}" type="presParOf" srcId="{013246F7-486A-41AB-B2AA-D146D8F16F96}" destId="{530650C8-F6F5-4608-B44F-709423056220}" srcOrd="0" destOrd="0" presId="urn:microsoft.com/office/officeart/2005/8/layout/process5"/>
    <dgm:cxn modelId="{F6B89ACC-9C41-47B9-85BC-8224717C2E6F}" type="presParOf" srcId="{013246F7-486A-41AB-B2AA-D146D8F16F96}" destId="{CAF3A0C4-7629-4E94-A62F-16654B7ECBFE}" srcOrd="1" destOrd="0" presId="urn:microsoft.com/office/officeart/2005/8/layout/process5"/>
    <dgm:cxn modelId="{FB99A01B-EB9A-448B-8D00-F877EA4D013E}" type="presParOf" srcId="{CAF3A0C4-7629-4E94-A62F-16654B7ECBFE}" destId="{98D585F8-6F6A-41C1-875D-AC59F4FBE745}" srcOrd="0" destOrd="0" presId="urn:microsoft.com/office/officeart/2005/8/layout/process5"/>
    <dgm:cxn modelId="{D964B8E1-EF69-4D11-AA41-DAFECB173164}" type="presParOf" srcId="{013246F7-486A-41AB-B2AA-D146D8F16F96}" destId="{E8EB5F09-F31E-4ACB-8AB1-EE52CDC42871}" srcOrd="2" destOrd="0" presId="urn:microsoft.com/office/officeart/2005/8/layout/process5"/>
    <dgm:cxn modelId="{97113269-9702-41CE-B6E5-257EA2DD4973}" type="presParOf" srcId="{013246F7-486A-41AB-B2AA-D146D8F16F96}" destId="{D72705E8-FE52-478B-97B4-3BDCFFB0A320}" srcOrd="3" destOrd="0" presId="urn:microsoft.com/office/officeart/2005/8/layout/process5"/>
    <dgm:cxn modelId="{A5B4FA0E-FCB9-440C-856B-A84501C44F1D}" type="presParOf" srcId="{D72705E8-FE52-478B-97B4-3BDCFFB0A320}" destId="{1C65D1FC-0D7B-4C99-8E8C-DB3D57DB3A87}" srcOrd="0" destOrd="0" presId="urn:microsoft.com/office/officeart/2005/8/layout/process5"/>
    <dgm:cxn modelId="{641692D1-4B3D-4839-A753-615F8FCEC3FD}" type="presParOf" srcId="{013246F7-486A-41AB-B2AA-D146D8F16F96}" destId="{A7153E98-DA56-49ED-B411-0D14CCBA676E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1832EB-C633-4B08-BBAC-9B0F4EE58E6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28B899-55D5-4675-9FB6-E309ABCE1A24}">
      <dgm:prSet/>
      <dgm:spPr/>
      <dgm:t>
        <a:bodyPr/>
        <a:lstStyle/>
        <a:p>
          <a:r>
            <a:rPr lang="en-US"/>
            <a:t>Uses log-probability difference for better text generation</a:t>
          </a:r>
        </a:p>
      </dgm:t>
    </dgm:pt>
    <dgm:pt modelId="{A512BF4E-50F7-49B3-8223-11AFE2517C42}" type="parTrans" cxnId="{3810E48F-CB41-4DC6-93B8-2CA348280C58}">
      <dgm:prSet/>
      <dgm:spPr/>
      <dgm:t>
        <a:bodyPr/>
        <a:lstStyle/>
        <a:p>
          <a:endParaRPr lang="en-US"/>
        </a:p>
      </dgm:t>
    </dgm:pt>
    <dgm:pt modelId="{62063816-B465-41F7-8AAE-0C17E0ADE5A6}" type="sibTrans" cxnId="{3810E48F-CB41-4DC6-93B8-2CA348280C58}">
      <dgm:prSet/>
      <dgm:spPr/>
      <dgm:t>
        <a:bodyPr/>
        <a:lstStyle/>
        <a:p>
          <a:endParaRPr lang="en-US"/>
        </a:p>
      </dgm:t>
    </dgm:pt>
    <dgm:pt modelId="{18C61E9E-0722-423D-940C-45D896C09F6C}">
      <dgm:prSet/>
      <dgm:spPr/>
      <dgm:t>
        <a:bodyPr/>
        <a:lstStyle/>
        <a:p>
          <a:r>
            <a:rPr lang="en-US"/>
            <a:t>Avoids repetition and incoherence</a:t>
          </a:r>
        </a:p>
      </dgm:t>
    </dgm:pt>
    <dgm:pt modelId="{9B4CAFF6-FB6A-456A-8DF6-13932668AC02}" type="parTrans" cxnId="{67EB11F8-FE11-4114-9DED-002605E773E8}">
      <dgm:prSet/>
      <dgm:spPr/>
      <dgm:t>
        <a:bodyPr/>
        <a:lstStyle/>
        <a:p>
          <a:endParaRPr lang="en-US"/>
        </a:p>
      </dgm:t>
    </dgm:pt>
    <dgm:pt modelId="{27C0ED20-DE8C-4C9F-9B71-F4A3FDEAB2DA}" type="sibTrans" cxnId="{67EB11F8-FE11-4114-9DED-002605E773E8}">
      <dgm:prSet/>
      <dgm:spPr/>
      <dgm:t>
        <a:bodyPr/>
        <a:lstStyle/>
        <a:p>
          <a:endParaRPr lang="en-US"/>
        </a:p>
      </dgm:t>
    </dgm:pt>
    <dgm:pt modelId="{6EAC8F45-882F-46EC-8DEA-8284B9D7AD43}">
      <dgm:prSet/>
      <dgm:spPr/>
      <dgm:t>
        <a:bodyPr/>
        <a:lstStyle/>
        <a:p>
          <a:r>
            <a:rPr lang="en-US"/>
            <a:t>Ratio-based scoring unsuitable for evaluation</a:t>
          </a:r>
        </a:p>
      </dgm:t>
    </dgm:pt>
    <dgm:pt modelId="{A77CD46C-6118-4BA1-9EEB-D1CB41D300A4}" type="parTrans" cxnId="{6568E6ED-CE08-480B-9CCD-55C78112B229}">
      <dgm:prSet/>
      <dgm:spPr/>
      <dgm:t>
        <a:bodyPr/>
        <a:lstStyle/>
        <a:p>
          <a:endParaRPr lang="en-US"/>
        </a:p>
      </dgm:t>
    </dgm:pt>
    <dgm:pt modelId="{81B14D91-721C-4B01-AAA2-5DE1E219FAEA}" type="sibTrans" cxnId="{6568E6ED-CE08-480B-9CCD-55C78112B229}">
      <dgm:prSet/>
      <dgm:spPr/>
      <dgm:t>
        <a:bodyPr/>
        <a:lstStyle/>
        <a:p>
          <a:endParaRPr lang="en-US"/>
        </a:p>
      </dgm:t>
    </dgm:pt>
    <dgm:pt modelId="{5FEB2886-4AAB-4B26-AF6D-A0DA8107C14D}" type="pres">
      <dgm:prSet presAssocID="{F91832EB-C633-4B08-BBAC-9B0F4EE58E64}" presName="vert0" presStyleCnt="0">
        <dgm:presLayoutVars>
          <dgm:dir/>
          <dgm:animOne val="branch"/>
          <dgm:animLvl val="lvl"/>
        </dgm:presLayoutVars>
      </dgm:prSet>
      <dgm:spPr/>
    </dgm:pt>
    <dgm:pt modelId="{E65E57A9-F8FF-4F6F-880C-89014B29A705}" type="pres">
      <dgm:prSet presAssocID="{C028B899-55D5-4675-9FB6-E309ABCE1A24}" presName="thickLine" presStyleLbl="alignNode1" presStyleIdx="0" presStyleCnt="3"/>
      <dgm:spPr/>
    </dgm:pt>
    <dgm:pt modelId="{01E0F972-4D26-4BAD-9BC5-A9490CEDED48}" type="pres">
      <dgm:prSet presAssocID="{C028B899-55D5-4675-9FB6-E309ABCE1A24}" presName="horz1" presStyleCnt="0"/>
      <dgm:spPr/>
    </dgm:pt>
    <dgm:pt modelId="{321B25CE-E4E3-4B68-955E-2D741D4FAD67}" type="pres">
      <dgm:prSet presAssocID="{C028B899-55D5-4675-9FB6-E309ABCE1A24}" presName="tx1" presStyleLbl="revTx" presStyleIdx="0" presStyleCnt="3"/>
      <dgm:spPr/>
    </dgm:pt>
    <dgm:pt modelId="{82AADDAB-EB9B-44DE-8CD8-4782847E95B5}" type="pres">
      <dgm:prSet presAssocID="{C028B899-55D5-4675-9FB6-E309ABCE1A24}" presName="vert1" presStyleCnt="0"/>
      <dgm:spPr/>
    </dgm:pt>
    <dgm:pt modelId="{C11B6C16-F5D1-4F64-AD26-2811D41EBBE8}" type="pres">
      <dgm:prSet presAssocID="{18C61E9E-0722-423D-940C-45D896C09F6C}" presName="thickLine" presStyleLbl="alignNode1" presStyleIdx="1" presStyleCnt="3"/>
      <dgm:spPr/>
    </dgm:pt>
    <dgm:pt modelId="{0DD4F9BC-5D44-4CDD-A762-03DEA3374AD6}" type="pres">
      <dgm:prSet presAssocID="{18C61E9E-0722-423D-940C-45D896C09F6C}" presName="horz1" presStyleCnt="0"/>
      <dgm:spPr/>
    </dgm:pt>
    <dgm:pt modelId="{4B64092E-6A21-45CB-95BB-508682C11F19}" type="pres">
      <dgm:prSet presAssocID="{18C61E9E-0722-423D-940C-45D896C09F6C}" presName="tx1" presStyleLbl="revTx" presStyleIdx="1" presStyleCnt="3"/>
      <dgm:spPr/>
    </dgm:pt>
    <dgm:pt modelId="{BB616A2B-A08E-4DD0-A75F-AB0306B2F215}" type="pres">
      <dgm:prSet presAssocID="{18C61E9E-0722-423D-940C-45D896C09F6C}" presName="vert1" presStyleCnt="0"/>
      <dgm:spPr/>
    </dgm:pt>
    <dgm:pt modelId="{897C70A5-45AA-45CA-8C64-E31274BE1D6B}" type="pres">
      <dgm:prSet presAssocID="{6EAC8F45-882F-46EC-8DEA-8284B9D7AD43}" presName="thickLine" presStyleLbl="alignNode1" presStyleIdx="2" presStyleCnt="3"/>
      <dgm:spPr/>
    </dgm:pt>
    <dgm:pt modelId="{5092B296-8E4E-4304-9366-C9FF0AAAB4DE}" type="pres">
      <dgm:prSet presAssocID="{6EAC8F45-882F-46EC-8DEA-8284B9D7AD43}" presName="horz1" presStyleCnt="0"/>
      <dgm:spPr/>
    </dgm:pt>
    <dgm:pt modelId="{B3E3A71F-5904-4A80-8ECE-2705A63D4715}" type="pres">
      <dgm:prSet presAssocID="{6EAC8F45-882F-46EC-8DEA-8284B9D7AD43}" presName="tx1" presStyleLbl="revTx" presStyleIdx="2" presStyleCnt="3"/>
      <dgm:spPr/>
    </dgm:pt>
    <dgm:pt modelId="{54FE28BD-82A2-48D5-9035-B8BA20DB45CB}" type="pres">
      <dgm:prSet presAssocID="{6EAC8F45-882F-46EC-8DEA-8284B9D7AD43}" presName="vert1" presStyleCnt="0"/>
      <dgm:spPr/>
    </dgm:pt>
  </dgm:ptLst>
  <dgm:cxnLst>
    <dgm:cxn modelId="{CAC44485-E660-4D81-9FFA-2300303E38A0}" type="presOf" srcId="{F91832EB-C633-4B08-BBAC-9B0F4EE58E64}" destId="{5FEB2886-4AAB-4B26-AF6D-A0DA8107C14D}" srcOrd="0" destOrd="0" presId="urn:microsoft.com/office/officeart/2008/layout/LinedList"/>
    <dgm:cxn modelId="{3810E48F-CB41-4DC6-93B8-2CA348280C58}" srcId="{F91832EB-C633-4B08-BBAC-9B0F4EE58E64}" destId="{C028B899-55D5-4675-9FB6-E309ABCE1A24}" srcOrd="0" destOrd="0" parTransId="{A512BF4E-50F7-49B3-8223-11AFE2517C42}" sibTransId="{62063816-B465-41F7-8AAE-0C17E0ADE5A6}"/>
    <dgm:cxn modelId="{3C7B4190-E44B-40C2-BE01-C9C940131937}" type="presOf" srcId="{18C61E9E-0722-423D-940C-45D896C09F6C}" destId="{4B64092E-6A21-45CB-95BB-508682C11F19}" srcOrd="0" destOrd="0" presId="urn:microsoft.com/office/officeart/2008/layout/LinedList"/>
    <dgm:cxn modelId="{08929F98-9FDF-482D-BD09-F374F2FB4EC8}" type="presOf" srcId="{C028B899-55D5-4675-9FB6-E309ABCE1A24}" destId="{321B25CE-E4E3-4B68-955E-2D741D4FAD67}" srcOrd="0" destOrd="0" presId="urn:microsoft.com/office/officeart/2008/layout/LinedList"/>
    <dgm:cxn modelId="{13773AD3-B885-4E58-8A5E-290334288AA9}" type="presOf" srcId="{6EAC8F45-882F-46EC-8DEA-8284B9D7AD43}" destId="{B3E3A71F-5904-4A80-8ECE-2705A63D4715}" srcOrd="0" destOrd="0" presId="urn:microsoft.com/office/officeart/2008/layout/LinedList"/>
    <dgm:cxn modelId="{6568E6ED-CE08-480B-9CCD-55C78112B229}" srcId="{F91832EB-C633-4B08-BBAC-9B0F4EE58E64}" destId="{6EAC8F45-882F-46EC-8DEA-8284B9D7AD43}" srcOrd="2" destOrd="0" parTransId="{A77CD46C-6118-4BA1-9EEB-D1CB41D300A4}" sibTransId="{81B14D91-721C-4B01-AAA2-5DE1E219FAEA}"/>
    <dgm:cxn modelId="{67EB11F8-FE11-4114-9DED-002605E773E8}" srcId="{F91832EB-C633-4B08-BBAC-9B0F4EE58E64}" destId="{18C61E9E-0722-423D-940C-45D896C09F6C}" srcOrd="1" destOrd="0" parTransId="{9B4CAFF6-FB6A-456A-8DF6-13932668AC02}" sibTransId="{27C0ED20-DE8C-4C9F-9B71-F4A3FDEAB2DA}"/>
    <dgm:cxn modelId="{0D3C2FAC-9888-47DB-BEE8-EB54C44E0BBF}" type="presParOf" srcId="{5FEB2886-4AAB-4B26-AF6D-A0DA8107C14D}" destId="{E65E57A9-F8FF-4F6F-880C-89014B29A705}" srcOrd="0" destOrd="0" presId="urn:microsoft.com/office/officeart/2008/layout/LinedList"/>
    <dgm:cxn modelId="{937ED8C6-A634-43FA-B891-31F1DC8DEF3C}" type="presParOf" srcId="{5FEB2886-4AAB-4B26-AF6D-A0DA8107C14D}" destId="{01E0F972-4D26-4BAD-9BC5-A9490CEDED48}" srcOrd="1" destOrd="0" presId="urn:microsoft.com/office/officeart/2008/layout/LinedList"/>
    <dgm:cxn modelId="{E7960DBD-38CC-437F-9114-F193FB062415}" type="presParOf" srcId="{01E0F972-4D26-4BAD-9BC5-A9490CEDED48}" destId="{321B25CE-E4E3-4B68-955E-2D741D4FAD67}" srcOrd="0" destOrd="0" presId="urn:microsoft.com/office/officeart/2008/layout/LinedList"/>
    <dgm:cxn modelId="{DE124BE5-68E6-4BAC-AF8C-560DFE58B179}" type="presParOf" srcId="{01E0F972-4D26-4BAD-9BC5-A9490CEDED48}" destId="{82AADDAB-EB9B-44DE-8CD8-4782847E95B5}" srcOrd="1" destOrd="0" presId="urn:microsoft.com/office/officeart/2008/layout/LinedList"/>
    <dgm:cxn modelId="{468823B0-C0FF-48AF-B9DA-F0E3E838A87D}" type="presParOf" srcId="{5FEB2886-4AAB-4B26-AF6D-A0DA8107C14D}" destId="{C11B6C16-F5D1-4F64-AD26-2811D41EBBE8}" srcOrd="2" destOrd="0" presId="urn:microsoft.com/office/officeart/2008/layout/LinedList"/>
    <dgm:cxn modelId="{BD3FC3B8-621A-46EF-BB31-A9680C731E44}" type="presParOf" srcId="{5FEB2886-4AAB-4B26-AF6D-A0DA8107C14D}" destId="{0DD4F9BC-5D44-4CDD-A762-03DEA3374AD6}" srcOrd="3" destOrd="0" presId="urn:microsoft.com/office/officeart/2008/layout/LinedList"/>
    <dgm:cxn modelId="{84F38945-C522-45C7-9E77-A8A863060F0A}" type="presParOf" srcId="{0DD4F9BC-5D44-4CDD-A762-03DEA3374AD6}" destId="{4B64092E-6A21-45CB-95BB-508682C11F19}" srcOrd="0" destOrd="0" presId="urn:microsoft.com/office/officeart/2008/layout/LinedList"/>
    <dgm:cxn modelId="{C8DC5C8B-90A7-40F9-AB40-2E26068F5CDA}" type="presParOf" srcId="{0DD4F9BC-5D44-4CDD-A762-03DEA3374AD6}" destId="{BB616A2B-A08E-4DD0-A75F-AB0306B2F215}" srcOrd="1" destOrd="0" presId="urn:microsoft.com/office/officeart/2008/layout/LinedList"/>
    <dgm:cxn modelId="{8649B712-90DC-4B83-83B6-E1BEA1B5A08C}" type="presParOf" srcId="{5FEB2886-4AAB-4B26-AF6D-A0DA8107C14D}" destId="{897C70A5-45AA-45CA-8C64-E31274BE1D6B}" srcOrd="4" destOrd="0" presId="urn:microsoft.com/office/officeart/2008/layout/LinedList"/>
    <dgm:cxn modelId="{BC8820FE-7241-49E7-B5C0-7D86683B6903}" type="presParOf" srcId="{5FEB2886-4AAB-4B26-AF6D-A0DA8107C14D}" destId="{5092B296-8E4E-4304-9366-C9FF0AAAB4DE}" srcOrd="5" destOrd="0" presId="urn:microsoft.com/office/officeart/2008/layout/LinedList"/>
    <dgm:cxn modelId="{11F9700B-2C1F-435D-A10B-63163847D993}" type="presParOf" srcId="{5092B296-8E4E-4304-9366-C9FF0AAAB4DE}" destId="{B3E3A71F-5904-4A80-8ECE-2705A63D4715}" srcOrd="0" destOrd="0" presId="urn:microsoft.com/office/officeart/2008/layout/LinedList"/>
    <dgm:cxn modelId="{13894DD7-614D-4DA1-B7DE-C080A1EC6915}" type="presParOf" srcId="{5092B296-8E4E-4304-9366-C9FF0AAAB4DE}" destId="{54FE28BD-82A2-48D5-9035-B8BA20DB45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1589CAE-D6FA-4DC3-94C2-D54B7BE8F06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0EECEFF-31F8-4EF0-8738-336F5037AB86}">
      <dgm:prSet/>
      <dgm:spPr/>
      <dgm:t>
        <a:bodyPr/>
        <a:lstStyle/>
        <a:p>
          <a:r>
            <a:rPr lang="en-US"/>
            <a:t>Subtraction-based formula for stability</a:t>
          </a:r>
        </a:p>
      </dgm:t>
    </dgm:pt>
    <dgm:pt modelId="{DDA05450-3B14-4267-917A-4EFD3D0E1146}" type="parTrans" cxnId="{8EF4D085-DD2A-4B60-B32A-A64D4B5DC8D4}">
      <dgm:prSet/>
      <dgm:spPr/>
      <dgm:t>
        <a:bodyPr/>
        <a:lstStyle/>
        <a:p>
          <a:endParaRPr lang="en-US"/>
        </a:p>
      </dgm:t>
    </dgm:pt>
    <dgm:pt modelId="{81659439-1B52-489C-BC29-F2D3B680CC5A}" type="sibTrans" cxnId="{8EF4D085-DD2A-4B60-B32A-A64D4B5DC8D4}">
      <dgm:prSet/>
      <dgm:spPr/>
      <dgm:t>
        <a:bodyPr/>
        <a:lstStyle/>
        <a:p>
          <a:endParaRPr lang="en-US"/>
        </a:p>
      </dgm:t>
    </dgm:pt>
    <dgm:pt modelId="{6D669300-E17D-4EEA-B8E2-3BFD6C0F7FE4}">
      <dgm:prSet/>
      <dgm:spPr/>
      <dgm:t>
        <a:bodyPr/>
        <a:lstStyle/>
        <a:p>
          <a:r>
            <a:rPr lang="en-US"/>
            <a:t>Score = ∑ log(|P_EXP - γ × P_AMA|)</a:t>
          </a:r>
        </a:p>
      </dgm:t>
    </dgm:pt>
    <dgm:pt modelId="{1480328E-5300-4862-9424-0BC1C838D649}" type="parTrans" cxnId="{F3E352E1-8DEA-4460-B2B4-4BD59CFE854C}">
      <dgm:prSet/>
      <dgm:spPr/>
      <dgm:t>
        <a:bodyPr/>
        <a:lstStyle/>
        <a:p>
          <a:endParaRPr lang="en-US"/>
        </a:p>
      </dgm:t>
    </dgm:pt>
    <dgm:pt modelId="{0DF5B187-42EE-41E3-9379-42297FF1F457}" type="sibTrans" cxnId="{F3E352E1-8DEA-4460-B2B4-4BD59CFE854C}">
      <dgm:prSet/>
      <dgm:spPr/>
      <dgm:t>
        <a:bodyPr/>
        <a:lstStyle/>
        <a:p>
          <a:endParaRPr lang="en-US"/>
        </a:p>
      </dgm:t>
    </dgm:pt>
    <dgm:pt modelId="{EBC72C5A-9ED1-43AE-98E1-7DFCFC64DCF7}">
      <dgm:prSet/>
      <dgm:spPr/>
      <dgm:t>
        <a:bodyPr/>
        <a:lstStyle/>
        <a:p>
          <a:r>
            <a:rPr lang="en-US"/>
            <a:t>Handles low-probability tokens</a:t>
          </a:r>
        </a:p>
      </dgm:t>
    </dgm:pt>
    <dgm:pt modelId="{284E0720-3E27-4A6F-B8A3-77DAF3417787}" type="parTrans" cxnId="{404F4183-FA43-4BEF-AC10-5DC1353D75DE}">
      <dgm:prSet/>
      <dgm:spPr/>
      <dgm:t>
        <a:bodyPr/>
        <a:lstStyle/>
        <a:p>
          <a:endParaRPr lang="en-US"/>
        </a:p>
      </dgm:t>
    </dgm:pt>
    <dgm:pt modelId="{4B04D913-177E-4713-A868-8E281EFD5724}" type="sibTrans" cxnId="{404F4183-FA43-4BEF-AC10-5DC1353D75DE}">
      <dgm:prSet/>
      <dgm:spPr/>
      <dgm:t>
        <a:bodyPr/>
        <a:lstStyle/>
        <a:p>
          <a:endParaRPr lang="en-US"/>
        </a:p>
      </dgm:t>
    </dgm:pt>
    <dgm:pt modelId="{DED273D4-85E3-4586-B962-85C5559D2910}">
      <dgm:prSet/>
      <dgm:spPr/>
      <dgm:t>
        <a:bodyPr/>
        <a:lstStyle/>
        <a:p>
          <a:r>
            <a:rPr lang="en-US"/>
            <a:t>Better aligned with human judgment</a:t>
          </a:r>
        </a:p>
      </dgm:t>
    </dgm:pt>
    <dgm:pt modelId="{46A73D69-451A-409C-89B3-D6C9B34C4F2C}" type="parTrans" cxnId="{C2C39869-57FC-4099-A3A9-6E2910E8EB52}">
      <dgm:prSet/>
      <dgm:spPr/>
      <dgm:t>
        <a:bodyPr/>
        <a:lstStyle/>
        <a:p>
          <a:endParaRPr lang="en-US"/>
        </a:p>
      </dgm:t>
    </dgm:pt>
    <dgm:pt modelId="{C62C5908-68C7-413C-9947-F730CFC0525B}" type="sibTrans" cxnId="{C2C39869-57FC-4099-A3A9-6E2910E8EB52}">
      <dgm:prSet/>
      <dgm:spPr/>
      <dgm:t>
        <a:bodyPr/>
        <a:lstStyle/>
        <a:p>
          <a:endParaRPr lang="en-US"/>
        </a:p>
      </dgm:t>
    </dgm:pt>
    <dgm:pt modelId="{CCADAFFC-82BA-4500-B212-17FCA1A14DCB}" type="pres">
      <dgm:prSet presAssocID="{E1589CAE-D6FA-4DC3-94C2-D54B7BE8F066}" presName="linear" presStyleCnt="0">
        <dgm:presLayoutVars>
          <dgm:animLvl val="lvl"/>
          <dgm:resizeHandles val="exact"/>
        </dgm:presLayoutVars>
      </dgm:prSet>
      <dgm:spPr/>
    </dgm:pt>
    <dgm:pt modelId="{8E615F50-E701-4D92-9197-79A82683EEEE}" type="pres">
      <dgm:prSet presAssocID="{70EECEFF-31F8-4EF0-8738-336F5037AB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11CC728-90E2-4852-8826-5963C6937B36}" type="pres">
      <dgm:prSet presAssocID="{81659439-1B52-489C-BC29-F2D3B680CC5A}" presName="spacer" presStyleCnt="0"/>
      <dgm:spPr/>
    </dgm:pt>
    <dgm:pt modelId="{D6710D2E-6F09-448A-94EB-E7133BC2C70D}" type="pres">
      <dgm:prSet presAssocID="{6D669300-E17D-4EEA-B8E2-3BFD6C0F7FE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B20B7EE-467B-4390-BDDD-7324FC40FDF3}" type="pres">
      <dgm:prSet presAssocID="{0DF5B187-42EE-41E3-9379-42297FF1F457}" presName="spacer" presStyleCnt="0"/>
      <dgm:spPr/>
    </dgm:pt>
    <dgm:pt modelId="{1AF54D81-9D5B-4815-B8B9-D4C70DFC4080}" type="pres">
      <dgm:prSet presAssocID="{EBC72C5A-9ED1-43AE-98E1-7DFCFC64DC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BA97422-5799-47FE-BE54-1552599D0720}" type="pres">
      <dgm:prSet presAssocID="{4B04D913-177E-4713-A868-8E281EFD5724}" presName="spacer" presStyleCnt="0"/>
      <dgm:spPr/>
    </dgm:pt>
    <dgm:pt modelId="{303F9225-01D3-4DC8-8966-7177E3BBF734}" type="pres">
      <dgm:prSet presAssocID="{DED273D4-85E3-4586-B962-85C5559D29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C39869-57FC-4099-A3A9-6E2910E8EB52}" srcId="{E1589CAE-D6FA-4DC3-94C2-D54B7BE8F066}" destId="{DED273D4-85E3-4586-B962-85C5559D2910}" srcOrd="3" destOrd="0" parTransId="{46A73D69-451A-409C-89B3-D6C9B34C4F2C}" sibTransId="{C62C5908-68C7-413C-9947-F730CFC0525B}"/>
    <dgm:cxn modelId="{404F4183-FA43-4BEF-AC10-5DC1353D75DE}" srcId="{E1589CAE-D6FA-4DC3-94C2-D54B7BE8F066}" destId="{EBC72C5A-9ED1-43AE-98E1-7DFCFC64DCF7}" srcOrd="2" destOrd="0" parTransId="{284E0720-3E27-4A6F-B8A3-77DAF3417787}" sibTransId="{4B04D913-177E-4713-A868-8E281EFD5724}"/>
    <dgm:cxn modelId="{8EF4D085-DD2A-4B60-B32A-A64D4B5DC8D4}" srcId="{E1589CAE-D6FA-4DC3-94C2-D54B7BE8F066}" destId="{70EECEFF-31F8-4EF0-8738-336F5037AB86}" srcOrd="0" destOrd="0" parTransId="{DDA05450-3B14-4267-917A-4EFD3D0E1146}" sibTransId="{81659439-1B52-489C-BC29-F2D3B680CC5A}"/>
    <dgm:cxn modelId="{A23F3C91-6589-4F29-956D-ECF611DE91FF}" type="presOf" srcId="{70EECEFF-31F8-4EF0-8738-336F5037AB86}" destId="{8E615F50-E701-4D92-9197-79A82683EEEE}" srcOrd="0" destOrd="0" presId="urn:microsoft.com/office/officeart/2005/8/layout/vList2"/>
    <dgm:cxn modelId="{BAA48AC4-FEFE-4504-B1CF-FA34B9FC4485}" type="presOf" srcId="{E1589CAE-D6FA-4DC3-94C2-D54B7BE8F066}" destId="{CCADAFFC-82BA-4500-B212-17FCA1A14DCB}" srcOrd="0" destOrd="0" presId="urn:microsoft.com/office/officeart/2005/8/layout/vList2"/>
    <dgm:cxn modelId="{4DB6C5C5-6FF2-4753-AF40-2907869AEE10}" type="presOf" srcId="{DED273D4-85E3-4586-B962-85C5559D2910}" destId="{303F9225-01D3-4DC8-8966-7177E3BBF734}" srcOrd="0" destOrd="0" presId="urn:microsoft.com/office/officeart/2005/8/layout/vList2"/>
    <dgm:cxn modelId="{1B8D81D2-91D8-4FCD-8A44-2603A55E3ED1}" type="presOf" srcId="{EBC72C5A-9ED1-43AE-98E1-7DFCFC64DCF7}" destId="{1AF54D81-9D5B-4815-B8B9-D4C70DFC4080}" srcOrd="0" destOrd="0" presId="urn:microsoft.com/office/officeart/2005/8/layout/vList2"/>
    <dgm:cxn modelId="{F3E352E1-8DEA-4460-B2B4-4BD59CFE854C}" srcId="{E1589CAE-D6FA-4DC3-94C2-D54B7BE8F066}" destId="{6D669300-E17D-4EEA-B8E2-3BFD6C0F7FE4}" srcOrd="1" destOrd="0" parTransId="{1480328E-5300-4862-9424-0BC1C838D649}" sibTransId="{0DF5B187-42EE-41E3-9379-42297FF1F457}"/>
    <dgm:cxn modelId="{0D90BFE8-976E-4FF5-B5C2-B61DFBF9525D}" type="presOf" srcId="{6D669300-E17D-4EEA-B8E2-3BFD6C0F7FE4}" destId="{D6710D2E-6F09-448A-94EB-E7133BC2C70D}" srcOrd="0" destOrd="0" presId="urn:microsoft.com/office/officeart/2005/8/layout/vList2"/>
    <dgm:cxn modelId="{0EFBAFD4-9766-44AD-A782-6A6803334E2D}" type="presParOf" srcId="{CCADAFFC-82BA-4500-B212-17FCA1A14DCB}" destId="{8E615F50-E701-4D92-9197-79A82683EEEE}" srcOrd="0" destOrd="0" presId="urn:microsoft.com/office/officeart/2005/8/layout/vList2"/>
    <dgm:cxn modelId="{F7309152-8938-400F-BF7D-3C24EC3BD868}" type="presParOf" srcId="{CCADAFFC-82BA-4500-B212-17FCA1A14DCB}" destId="{A11CC728-90E2-4852-8826-5963C6937B36}" srcOrd="1" destOrd="0" presId="urn:microsoft.com/office/officeart/2005/8/layout/vList2"/>
    <dgm:cxn modelId="{9C0C4177-BB9F-4257-B960-6A8DDA2EF959}" type="presParOf" srcId="{CCADAFFC-82BA-4500-B212-17FCA1A14DCB}" destId="{D6710D2E-6F09-448A-94EB-E7133BC2C70D}" srcOrd="2" destOrd="0" presId="urn:microsoft.com/office/officeart/2005/8/layout/vList2"/>
    <dgm:cxn modelId="{2848CEB4-F629-4682-A64C-DBC8EBA2AB06}" type="presParOf" srcId="{CCADAFFC-82BA-4500-B212-17FCA1A14DCB}" destId="{CB20B7EE-467B-4390-BDDD-7324FC40FDF3}" srcOrd="3" destOrd="0" presId="urn:microsoft.com/office/officeart/2005/8/layout/vList2"/>
    <dgm:cxn modelId="{3AEA914A-51B9-44A0-BAC2-EBA388186BFF}" type="presParOf" srcId="{CCADAFFC-82BA-4500-B212-17FCA1A14DCB}" destId="{1AF54D81-9D5B-4815-B8B9-D4C70DFC4080}" srcOrd="4" destOrd="0" presId="urn:microsoft.com/office/officeart/2005/8/layout/vList2"/>
    <dgm:cxn modelId="{A91068D1-535F-4964-BA38-B680B46B5F0D}" type="presParOf" srcId="{CCADAFFC-82BA-4500-B212-17FCA1A14DCB}" destId="{CBA97422-5799-47FE-BE54-1552599D0720}" srcOrd="5" destOrd="0" presId="urn:microsoft.com/office/officeart/2005/8/layout/vList2"/>
    <dgm:cxn modelId="{D57F0F52-E8DC-472F-A732-6CB727720F78}" type="presParOf" srcId="{CCADAFFC-82BA-4500-B212-17FCA1A14DCB}" destId="{303F9225-01D3-4DC8-8966-7177E3BBF73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29DFA28-BFE0-43BA-99FF-2ED2A18D30D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69E053-40CC-463E-9209-B798E8528B3A}">
      <dgm:prSet/>
      <dgm:spPr/>
      <dgm:t>
        <a:bodyPr/>
        <a:lstStyle/>
        <a:p>
          <a:r>
            <a:rPr lang="en-US"/>
            <a:t>SCMoE uses internal contrast in one model</a:t>
          </a:r>
        </a:p>
      </dgm:t>
    </dgm:pt>
    <dgm:pt modelId="{B8890FB9-B6C3-4DAD-AED7-D1DBBA16CB6F}" type="parTrans" cxnId="{843361B3-0BB4-4754-8B91-6009E6872880}">
      <dgm:prSet/>
      <dgm:spPr/>
      <dgm:t>
        <a:bodyPr/>
        <a:lstStyle/>
        <a:p>
          <a:endParaRPr lang="en-US"/>
        </a:p>
      </dgm:t>
    </dgm:pt>
    <dgm:pt modelId="{B86BE1AE-D977-40B8-BC58-0C5789431C02}" type="sibTrans" cxnId="{843361B3-0BB4-4754-8B91-6009E6872880}">
      <dgm:prSet/>
      <dgm:spPr/>
      <dgm:t>
        <a:bodyPr/>
        <a:lstStyle/>
        <a:p>
          <a:endParaRPr lang="en-US"/>
        </a:p>
      </dgm:t>
    </dgm:pt>
    <dgm:pt modelId="{AA263C2E-6165-4154-89F1-2EAEFF7118A5}">
      <dgm:prSet/>
      <dgm:spPr/>
      <dgm:t>
        <a:bodyPr/>
        <a:lstStyle/>
        <a:p>
          <a:r>
            <a:rPr lang="en-US"/>
            <a:t>No need for external weak model</a:t>
          </a:r>
        </a:p>
      </dgm:t>
    </dgm:pt>
    <dgm:pt modelId="{D5D3BD16-D846-464C-B661-9CE095E1C080}" type="parTrans" cxnId="{32A0AB8C-F80B-4601-A626-002C65CB6973}">
      <dgm:prSet/>
      <dgm:spPr/>
      <dgm:t>
        <a:bodyPr/>
        <a:lstStyle/>
        <a:p>
          <a:endParaRPr lang="en-US"/>
        </a:p>
      </dgm:t>
    </dgm:pt>
    <dgm:pt modelId="{65F2AC32-E28C-4DE8-B625-A8C1B6E721D1}" type="sibTrans" cxnId="{32A0AB8C-F80B-4601-A626-002C65CB6973}">
      <dgm:prSet/>
      <dgm:spPr/>
      <dgm:t>
        <a:bodyPr/>
        <a:lstStyle/>
        <a:p>
          <a:endParaRPr lang="en-US"/>
        </a:p>
      </dgm:t>
    </dgm:pt>
    <dgm:pt modelId="{03249938-4356-4F77-B077-F0DED34A6C88}">
      <dgm:prSet/>
      <dgm:spPr/>
      <dgm:t>
        <a:bodyPr/>
        <a:lstStyle/>
        <a:p>
          <a:r>
            <a:rPr lang="en-US"/>
            <a:t>ContrastScore uses external weak model for scoring</a:t>
          </a:r>
        </a:p>
      </dgm:t>
    </dgm:pt>
    <dgm:pt modelId="{70961CF5-DFC4-47E9-B1F2-C9B3EBDA3454}" type="parTrans" cxnId="{5D26E53B-16A9-4E21-B1D2-5E26B2DCE5C5}">
      <dgm:prSet/>
      <dgm:spPr/>
      <dgm:t>
        <a:bodyPr/>
        <a:lstStyle/>
        <a:p>
          <a:endParaRPr lang="en-US"/>
        </a:p>
      </dgm:t>
    </dgm:pt>
    <dgm:pt modelId="{E68208C7-5058-45A9-807C-96648D6D9646}" type="sibTrans" cxnId="{5D26E53B-16A9-4E21-B1D2-5E26B2DCE5C5}">
      <dgm:prSet/>
      <dgm:spPr/>
      <dgm:t>
        <a:bodyPr/>
        <a:lstStyle/>
        <a:p>
          <a:endParaRPr lang="en-US"/>
        </a:p>
      </dgm:t>
    </dgm:pt>
    <dgm:pt modelId="{05C2D40D-5F38-402D-8D87-035E17B0B6B9}">
      <dgm:prSet/>
      <dgm:spPr/>
      <dgm:t>
        <a:bodyPr/>
        <a:lstStyle/>
        <a:p>
          <a:r>
            <a:rPr lang="en-US"/>
            <a:t>Inspired by structured model disagreement</a:t>
          </a:r>
        </a:p>
      </dgm:t>
    </dgm:pt>
    <dgm:pt modelId="{C9A83401-2074-423C-8398-5470CF73E651}" type="parTrans" cxnId="{2C83E0A8-2660-42E2-BE63-90F2FB4B47AA}">
      <dgm:prSet/>
      <dgm:spPr/>
      <dgm:t>
        <a:bodyPr/>
        <a:lstStyle/>
        <a:p>
          <a:endParaRPr lang="en-US"/>
        </a:p>
      </dgm:t>
    </dgm:pt>
    <dgm:pt modelId="{88923741-4246-4CEA-A2FE-47C11694B8B3}" type="sibTrans" cxnId="{2C83E0A8-2660-42E2-BE63-90F2FB4B47AA}">
      <dgm:prSet/>
      <dgm:spPr/>
      <dgm:t>
        <a:bodyPr/>
        <a:lstStyle/>
        <a:p>
          <a:endParaRPr lang="en-US"/>
        </a:p>
      </dgm:t>
    </dgm:pt>
    <dgm:pt modelId="{B52CEB29-0A4A-4944-B7D5-D6C746958D6C}" type="pres">
      <dgm:prSet presAssocID="{C29DFA28-BFE0-43BA-99FF-2ED2A18D30D8}" presName="outerComposite" presStyleCnt="0">
        <dgm:presLayoutVars>
          <dgm:chMax val="5"/>
          <dgm:dir/>
          <dgm:resizeHandles val="exact"/>
        </dgm:presLayoutVars>
      </dgm:prSet>
      <dgm:spPr/>
    </dgm:pt>
    <dgm:pt modelId="{A571AE05-0571-42E1-8A69-1857424E6496}" type="pres">
      <dgm:prSet presAssocID="{C29DFA28-BFE0-43BA-99FF-2ED2A18D30D8}" presName="dummyMaxCanvas" presStyleCnt="0">
        <dgm:presLayoutVars/>
      </dgm:prSet>
      <dgm:spPr/>
    </dgm:pt>
    <dgm:pt modelId="{2E062779-57B1-489F-94C2-5938767BC2FB}" type="pres">
      <dgm:prSet presAssocID="{C29DFA28-BFE0-43BA-99FF-2ED2A18D30D8}" presName="FourNodes_1" presStyleLbl="node1" presStyleIdx="0" presStyleCnt="4">
        <dgm:presLayoutVars>
          <dgm:bulletEnabled val="1"/>
        </dgm:presLayoutVars>
      </dgm:prSet>
      <dgm:spPr/>
    </dgm:pt>
    <dgm:pt modelId="{8875C797-8578-4677-A2DF-184F7668933D}" type="pres">
      <dgm:prSet presAssocID="{C29DFA28-BFE0-43BA-99FF-2ED2A18D30D8}" presName="FourNodes_2" presStyleLbl="node1" presStyleIdx="1" presStyleCnt="4">
        <dgm:presLayoutVars>
          <dgm:bulletEnabled val="1"/>
        </dgm:presLayoutVars>
      </dgm:prSet>
      <dgm:spPr/>
    </dgm:pt>
    <dgm:pt modelId="{AE3C1022-8B91-4B84-AA23-5748FAD79CF5}" type="pres">
      <dgm:prSet presAssocID="{C29DFA28-BFE0-43BA-99FF-2ED2A18D30D8}" presName="FourNodes_3" presStyleLbl="node1" presStyleIdx="2" presStyleCnt="4">
        <dgm:presLayoutVars>
          <dgm:bulletEnabled val="1"/>
        </dgm:presLayoutVars>
      </dgm:prSet>
      <dgm:spPr/>
    </dgm:pt>
    <dgm:pt modelId="{1BC4D3F9-C55E-4B2E-81D6-661F72A01CFB}" type="pres">
      <dgm:prSet presAssocID="{C29DFA28-BFE0-43BA-99FF-2ED2A18D30D8}" presName="FourNodes_4" presStyleLbl="node1" presStyleIdx="3" presStyleCnt="4">
        <dgm:presLayoutVars>
          <dgm:bulletEnabled val="1"/>
        </dgm:presLayoutVars>
      </dgm:prSet>
      <dgm:spPr/>
    </dgm:pt>
    <dgm:pt modelId="{387F35C0-4FFA-41AA-8A91-0709F8C0F951}" type="pres">
      <dgm:prSet presAssocID="{C29DFA28-BFE0-43BA-99FF-2ED2A18D30D8}" presName="FourConn_1-2" presStyleLbl="fgAccFollowNode1" presStyleIdx="0" presStyleCnt="3">
        <dgm:presLayoutVars>
          <dgm:bulletEnabled val="1"/>
        </dgm:presLayoutVars>
      </dgm:prSet>
      <dgm:spPr/>
    </dgm:pt>
    <dgm:pt modelId="{486CC30B-399D-4305-AB2D-B646E259495D}" type="pres">
      <dgm:prSet presAssocID="{C29DFA28-BFE0-43BA-99FF-2ED2A18D30D8}" presName="FourConn_2-3" presStyleLbl="fgAccFollowNode1" presStyleIdx="1" presStyleCnt="3">
        <dgm:presLayoutVars>
          <dgm:bulletEnabled val="1"/>
        </dgm:presLayoutVars>
      </dgm:prSet>
      <dgm:spPr/>
    </dgm:pt>
    <dgm:pt modelId="{E52204D8-2AE3-40B5-A161-34A9C98883C9}" type="pres">
      <dgm:prSet presAssocID="{C29DFA28-BFE0-43BA-99FF-2ED2A18D30D8}" presName="FourConn_3-4" presStyleLbl="fgAccFollowNode1" presStyleIdx="2" presStyleCnt="3">
        <dgm:presLayoutVars>
          <dgm:bulletEnabled val="1"/>
        </dgm:presLayoutVars>
      </dgm:prSet>
      <dgm:spPr/>
    </dgm:pt>
    <dgm:pt modelId="{945274D2-7A34-4D46-9A96-723662512CD0}" type="pres">
      <dgm:prSet presAssocID="{C29DFA28-BFE0-43BA-99FF-2ED2A18D30D8}" presName="FourNodes_1_text" presStyleLbl="node1" presStyleIdx="3" presStyleCnt="4">
        <dgm:presLayoutVars>
          <dgm:bulletEnabled val="1"/>
        </dgm:presLayoutVars>
      </dgm:prSet>
      <dgm:spPr/>
    </dgm:pt>
    <dgm:pt modelId="{169D7739-CDF6-4E58-9F84-DCFA3FCB2043}" type="pres">
      <dgm:prSet presAssocID="{C29DFA28-BFE0-43BA-99FF-2ED2A18D30D8}" presName="FourNodes_2_text" presStyleLbl="node1" presStyleIdx="3" presStyleCnt="4">
        <dgm:presLayoutVars>
          <dgm:bulletEnabled val="1"/>
        </dgm:presLayoutVars>
      </dgm:prSet>
      <dgm:spPr/>
    </dgm:pt>
    <dgm:pt modelId="{BB5207A2-9AE8-40BD-BA41-EE83259D06C6}" type="pres">
      <dgm:prSet presAssocID="{C29DFA28-BFE0-43BA-99FF-2ED2A18D30D8}" presName="FourNodes_3_text" presStyleLbl="node1" presStyleIdx="3" presStyleCnt="4">
        <dgm:presLayoutVars>
          <dgm:bulletEnabled val="1"/>
        </dgm:presLayoutVars>
      </dgm:prSet>
      <dgm:spPr/>
    </dgm:pt>
    <dgm:pt modelId="{B24665A1-46F2-4DE1-AFF6-A9DBC4400E4B}" type="pres">
      <dgm:prSet presAssocID="{C29DFA28-BFE0-43BA-99FF-2ED2A18D30D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D26E53B-16A9-4E21-B1D2-5E26B2DCE5C5}" srcId="{C29DFA28-BFE0-43BA-99FF-2ED2A18D30D8}" destId="{03249938-4356-4F77-B077-F0DED34A6C88}" srcOrd="2" destOrd="0" parTransId="{70961CF5-DFC4-47E9-B1F2-C9B3EBDA3454}" sibTransId="{E68208C7-5058-45A9-807C-96648D6D9646}"/>
    <dgm:cxn modelId="{B77A215C-D7D3-4926-8AFD-791B781883B0}" type="presOf" srcId="{C29DFA28-BFE0-43BA-99FF-2ED2A18D30D8}" destId="{B52CEB29-0A4A-4944-B7D5-D6C746958D6C}" srcOrd="0" destOrd="0" presId="urn:microsoft.com/office/officeart/2005/8/layout/vProcess5"/>
    <dgm:cxn modelId="{5D38B15E-9341-4BF7-B0D2-6C435F08D292}" type="presOf" srcId="{05C2D40D-5F38-402D-8D87-035E17B0B6B9}" destId="{1BC4D3F9-C55E-4B2E-81D6-661F72A01CFB}" srcOrd="0" destOrd="0" presId="urn:microsoft.com/office/officeart/2005/8/layout/vProcess5"/>
    <dgm:cxn modelId="{AB44646A-C014-42DC-965B-52C82DFFD4D3}" type="presOf" srcId="{03249938-4356-4F77-B077-F0DED34A6C88}" destId="{BB5207A2-9AE8-40BD-BA41-EE83259D06C6}" srcOrd="1" destOrd="0" presId="urn:microsoft.com/office/officeart/2005/8/layout/vProcess5"/>
    <dgm:cxn modelId="{11113B6B-E152-4F13-B5BE-AA456AB332B8}" type="presOf" srcId="{03249938-4356-4F77-B077-F0DED34A6C88}" destId="{AE3C1022-8B91-4B84-AA23-5748FAD79CF5}" srcOrd="0" destOrd="0" presId="urn:microsoft.com/office/officeart/2005/8/layout/vProcess5"/>
    <dgm:cxn modelId="{E9BBFC6F-1CF4-4C48-BF76-39DEEBB3A2DC}" type="presOf" srcId="{AA263C2E-6165-4154-89F1-2EAEFF7118A5}" destId="{169D7739-CDF6-4E58-9F84-DCFA3FCB2043}" srcOrd="1" destOrd="0" presId="urn:microsoft.com/office/officeart/2005/8/layout/vProcess5"/>
    <dgm:cxn modelId="{E0267D5A-78EF-4197-BEE3-8B3D456F901E}" type="presOf" srcId="{B86BE1AE-D977-40B8-BC58-0C5789431C02}" destId="{387F35C0-4FFA-41AA-8A91-0709F8C0F951}" srcOrd="0" destOrd="0" presId="urn:microsoft.com/office/officeart/2005/8/layout/vProcess5"/>
    <dgm:cxn modelId="{11F60F7F-0B1E-4A01-A9C9-7EBD90E509F3}" type="presOf" srcId="{FF69E053-40CC-463E-9209-B798E8528B3A}" destId="{2E062779-57B1-489F-94C2-5938767BC2FB}" srcOrd="0" destOrd="0" presId="urn:microsoft.com/office/officeart/2005/8/layout/vProcess5"/>
    <dgm:cxn modelId="{45AC8D88-FDC5-4AE6-BF6C-D1C3678092F1}" type="presOf" srcId="{E68208C7-5058-45A9-807C-96648D6D9646}" destId="{E52204D8-2AE3-40B5-A161-34A9C98883C9}" srcOrd="0" destOrd="0" presId="urn:microsoft.com/office/officeart/2005/8/layout/vProcess5"/>
    <dgm:cxn modelId="{32A0AB8C-F80B-4601-A626-002C65CB6973}" srcId="{C29DFA28-BFE0-43BA-99FF-2ED2A18D30D8}" destId="{AA263C2E-6165-4154-89F1-2EAEFF7118A5}" srcOrd="1" destOrd="0" parTransId="{D5D3BD16-D846-464C-B661-9CE095E1C080}" sibTransId="{65F2AC32-E28C-4DE8-B625-A8C1B6E721D1}"/>
    <dgm:cxn modelId="{2C5718A0-EFBC-4D39-8E0F-E2D1127FEACA}" type="presOf" srcId="{FF69E053-40CC-463E-9209-B798E8528B3A}" destId="{945274D2-7A34-4D46-9A96-723662512CD0}" srcOrd="1" destOrd="0" presId="urn:microsoft.com/office/officeart/2005/8/layout/vProcess5"/>
    <dgm:cxn modelId="{2C83E0A8-2660-42E2-BE63-90F2FB4B47AA}" srcId="{C29DFA28-BFE0-43BA-99FF-2ED2A18D30D8}" destId="{05C2D40D-5F38-402D-8D87-035E17B0B6B9}" srcOrd="3" destOrd="0" parTransId="{C9A83401-2074-423C-8398-5470CF73E651}" sibTransId="{88923741-4246-4CEA-A2FE-47C11694B8B3}"/>
    <dgm:cxn modelId="{829E75AF-A0FC-4130-BD5A-4B74006181C2}" type="presOf" srcId="{AA263C2E-6165-4154-89F1-2EAEFF7118A5}" destId="{8875C797-8578-4677-A2DF-184F7668933D}" srcOrd="0" destOrd="0" presId="urn:microsoft.com/office/officeart/2005/8/layout/vProcess5"/>
    <dgm:cxn modelId="{843361B3-0BB4-4754-8B91-6009E6872880}" srcId="{C29DFA28-BFE0-43BA-99FF-2ED2A18D30D8}" destId="{FF69E053-40CC-463E-9209-B798E8528B3A}" srcOrd="0" destOrd="0" parTransId="{B8890FB9-B6C3-4DAD-AED7-D1DBBA16CB6F}" sibTransId="{B86BE1AE-D977-40B8-BC58-0C5789431C02}"/>
    <dgm:cxn modelId="{D31827D5-8F77-47FB-A31C-8F20E4BB6A91}" type="presOf" srcId="{65F2AC32-E28C-4DE8-B625-A8C1B6E721D1}" destId="{486CC30B-399D-4305-AB2D-B646E259495D}" srcOrd="0" destOrd="0" presId="urn:microsoft.com/office/officeart/2005/8/layout/vProcess5"/>
    <dgm:cxn modelId="{048798F0-CF83-4105-9275-00BE0C5104CF}" type="presOf" srcId="{05C2D40D-5F38-402D-8D87-035E17B0B6B9}" destId="{B24665A1-46F2-4DE1-AFF6-A9DBC4400E4B}" srcOrd="1" destOrd="0" presId="urn:microsoft.com/office/officeart/2005/8/layout/vProcess5"/>
    <dgm:cxn modelId="{180584D8-ED75-4724-997F-86C5E41D60EE}" type="presParOf" srcId="{B52CEB29-0A4A-4944-B7D5-D6C746958D6C}" destId="{A571AE05-0571-42E1-8A69-1857424E6496}" srcOrd="0" destOrd="0" presId="urn:microsoft.com/office/officeart/2005/8/layout/vProcess5"/>
    <dgm:cxn modelId="{9DA8BC4C-5059-4A21-B376-88743B6102EA}" type="presParOf" srcId="{B52CEB29-0A4A-4944-B7D5-D6C746958D6C}" destId="{2E062779-57B1-489F-94C2-5938767BC2FB}" srcOrd="1" destOrd="0" presId="urn:microsoft.com/office/officeart/2005/8/layout/vProcess5"/>
    <dgm:cxn modelId="{A5748AF1-C4E6-4BE1-80DB-AF7E6757080C}" type="presParOf" srcId="{B52CEB29-0A4A-4944-B7D5-D6C746958D6C}" destId="{8875C797-8578-4677-A2DF-184F7668933D}" srcOrd="2" destOrd="0" presId="urn:microsoft.com/office/officeart/2005/8/layout/vProcess5"/>
    <dgm:cxn modelId="{C642E742-D165-4814-985C-CB87132CB8C0}" type="presParOf" srcId="{B52CEB29-0A4A-4944-B7D5-D6C746958D6C}" destId="{AE3C1022-8B91-4B84-AA23-5748FAD79CF5}" srcOrd="3" destOrd="0" presId="urn:microsoft.com/office/officeart/2005/8/layout/vProcess5"/>
    <dgm:cxn modelId="{EEF2D834-6C8D-4AB8-82FB-C016F9EECD6E}" type="presParOf" srcId="{B52CEB29-0A4A-4944-B7D5-D6C746958D6C}" destId="{1BC4D3F9-C55E-4B2E-81D6-661F72A01CFB}" srcOrd="4" destOrd="0" presId="urn:microsoft.com/office/officeart/2005/8/layout/vProcess5"/>
    <dgm:cxn modelId="{A563BDEA-25A4-4267-A8F6-718F59227514}" type="presParOf" srcId="{B52CEB29-0A4A-4944-B7D5-D6C746958D6C}" destId="{387F35C0-4FFA-41AA-8A91-0709F8C0F951}" srcOrd="5" destOrd="0" presId="urn:microsoft.com/office/officeart/2005/8/layout/vProcess5"/>
    <dgm:cxn modelId="{10317271-48C4-4A34-8D9A-5543C8D1076F}" type="presParOf" srcId="{B52CEB29-0A4A-4944-B7D5-D6C746958D6C}" destId="{486CC30B-399D-4305-AB2D-B646E259495D}" srcOrd="6" destOrd="0" presId="urn:microsoft.com/office/officeart/2005/8/layout/vProcess5"/>
    <dgm:cxn modelId="{1FE3C8D5-6E2F-407D-8583-49A5D3CF21BE}" type="presParOf" srcId="{B52CEB29-0A4A-4944-B7D5-D6C746958D6C}" destId="{E52204D8-2AE3-40B5-A161-34A9C98883C9}" srcOrd="7" destOrd="0" presId="urn:microsoft.com/office/officeart/2005/8/layout/vProcess5"/>
    <dgm:cxn modelId="{F9F26CA2-AD21-44FC-B158-83A24A4428C1}" type="presParOf" srcId="{B52CEB29-0A4A-4944-B7D5-D6C746958D6C}" destId="{945274D2-7A34-4D46-9A96-723662512CD0}" srcOrd="8" destOrd="0" presId="urn:microsoft.com/office/officeart/2005/8/layout/vProcess5"/>
    <dgm:cxn modelId="{BDD97450-67B7-4FE5-8F02-71BD70A516AF}" type="presParOf" srcId="{B52CEB29-0A4A-4944-B7D5-D6C746958D6C}" destId="{169D7739-CDF6-4E58-9F84-DCFA3FCB2043}" srcOrd="9" destOrd="0" presId="urn:microsoft.com/office/officeart/2005/8/layout/vProcess5"/>
    <dgm:cxn modelId="{93232790-6EFE-4C1C-9263-8CC5CAA5D6EA}" type="presParOf" srcId="{B52CEB29-0A4A-4944-B7D5-D6C746958D6C}" destId="{BB5207A2-9AE8-40BD-BA41-EE83259D06C6}" srcOrd="10" destOrd="0" presId="urn:microsoft.com/office/officeart/2005/8/layout/vProcess5"/>
    <dgm:cxn modelId="{FA4368F6-EC2C-40AC-91DF-163D7DE40AD5}" type="presParOf" srcId="{B52CEB29-0A4A-4944-B7D5-D6C746958D6C}" destId="{B24665A1-46F2-4DE1-AFF6-A9DBC4400E4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2ABC5-9C48-4BB1-8874-74D97A930375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Text evaluation: as hard as text generation</a:t>
          </a:r>
        </a:p>
      </dsp:txBody>
      <dsp:txXfrm>
        <a:off x="1748064" y="2975"/>
        <a:ext cx="3342605" cy="2005563"/>
      </dsp:txXfrm>
    </dsp:sp>
    <dsp:sp modelId="{C29D2299-CFF2-4BA1-9CB7-A6D8A8D29A14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Existing metrics show weak alignment with human judgment</a:t>
          </a:r>
        </a:p>
      </dsp:txBody>
      <dsp:txXfrm>
        <a:off x="5424930" y="2975"/>
        <a:ext cx="3342605" cy="2005563"/>
      </dsp:txXfrm>
    </dsp:sp>
    <dsp:sp modelId="{9284A5BA-13AF-432A-BE7F-9B794F4DFD5B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New solution: ContrastScore leverages expert-amateur model contrast</a:t>
          </a:r>
        </a:p>
      </dsp:txBody>
      <dsp:txXfrm>
        <a:off x="3586497" y="2342799"/>
        <a:ext cx="3342605" cy="2005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38C00-9F12-4722-93CF-6EEA5F8C3FD1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3B7D7D-A8EE-4C4F-BCFC-64A4ED950322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Fundamental NLP challenge</a:t>
          </a:r>
        </a:p>
      </dsp:txBody>
      <dsp:txXfrm>
        <a:off x="383617" y="1447754"/>
        <a:ext cx="2847502" cy="1768010"/>
      </dsp:txXfrm>
    </dsp:sp>
    <dsp:sp modelId="{2E3886F3-93E9-4109-B726-65AC41D7740F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2A9E7A-6BC8-4B00-A3FD-6ADDD19BC0C5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Hard to capture semantic quality</a:t>
          </a:r>
        </a:p>
      </dsp:txBody>
      <dsp:txXfrm>
        <a:off x="3998355" y="1447754"/>
        <a:ext cx="2847502" cy="1768010"/>
      </dsp:txXfrm>
    </dsp:sp>
    <dsp:sp modelId="{B64C18D0-7521-4731-BECE-FC69B2BB6FC7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204380-9216-469D-AB42-FFDB84E8D499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Traditional metrics struggle with variability and nuance</a:t>
          </a:r>
        </a:p>
      </dsp:txBody>
      <dsp:txXfrm>
        <a:off x="7613092" y="1447754"/>
        <a:ext cx="2847502" cy="1768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68D57-A19D-41FF-A3D8-8E4883AA5578}">
      <dsp:nvSpPr>
        <dsp:cNvPr id="0" name=""/>
        <dsp:cNvSpPr/>
      </dsp:nvSpPr>
      <dsp:spPr>
        <a:xfrm>
          <a:off x="0" y="41742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838627-0145-48A1-A007-D586C3489D3F}">
      <dsp:nvSpPr>
        <dsp:cNvPr id="0" name=""/>
        <dsp:cNvSpPr/>
      </dsp:nvSpPr>
      <dsp:spPr>
        <a:xfrm>
          <a:off x="525780" y="63189"/>
          <a:ext cx="736092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BLEU, ROUGE focus on n-gram overlap</a:t>
          </a:r>
        </a:p>
      </dsp:txBody>
      <dsp:txXfrm>
        <a:off x="560365" y="97774"/>
        <a:ext cx="7291750" cy="639310"/>
      </dsp:txXfrm>
    </dsp:sp>
    <dsp:sp modelId="{D686E4E3-4E8E-4F28-A681-730D0EC5EE9C}">
      <dsp:nvSpPr>
        <dsp:cNvPr id="0" name=""/>
        <dsp:cNvSpPr/>
      </dsp:nvSpPr>
      <dsp:spPr>
        <a:xfrm>
          <a:off x="0" y="150606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68876-5C2A-48F6-BB7B-58FBEF7DEF41}">
      <dsp:nvSpPr>
        <dsp:cNvPr id="0" name=""/>
        <dsp:cNvSpPr/>
      </dsp:nvSpPr>
      <dsp:spPr>
        <a:xfrm>
          <a:off x="525780" y="1151829"/>
          <a:ext cx="7360920" cy="70848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Fail to capture meaning or paraphrases</a:t>
          </a:r>
        </a:p>
      </dsp:txBody>
      <dsp:txXfrm>
        <a:off x="560365" y="1186414"/>
        <a:ext cx="7291750" cy="639310"/>
      </dsp:txXfrm>
    </dsp:sp>
    <dsp:sp modelId="{CC87A79F-339F-45C4-BA33-B97FCFAF2213}">
      <dsp:nvSpPr>
        <dsp:cNvPr id="0" name=""/>
        <dsp:cNvSpPr/>
      </dsp:nvSpPr>
      <dsp:spPr>
        <a:xfrm>
          <a:off x="0" y="259470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815C5-BF14-4686-9134-DFD42D089319}">
      <dsp:nvSpPr>
        <dsp:cNvPr id="0" name=""/>
        <dsp:cNvSpPr/>
      </dsp:nvSpPr>
      <dsp:spPr>
        <a:xfrm>
          <a:off x="525780" y="2240469"/>
          <a:ext cx="7360920" cy="70848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Dependence on high-quality references</a:t>
          </a:r>
        </a:p>
      </dsp:txBody>
      <dsp:txXfrm>
        <a:off x="560365" y="2275054"/>
        <a:ext cx="7291750" cy="639310"/>
      </dsp:txXfrm>
    </dsp:sp>
    <dsp:sp modelId="{16EC4B71-97BA-45FF-84C0-2A0B3C653922}">
      <dsp:nvSpPr>
        <dsp:cNvPr id="0" name=""/>
        <dsp:cNvSpPr/>
      </dsp:nvSpPr>
      <dsp:spPr>
        <a:xfrm>
          <a:off x="0" y="368334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D5969-07E1-4AC2-8C8A-32C467BE1A8E}">
      <dsp:nvSpPr>
        <dsp:cNvPr id="0" name=""/>
        <dsp:cNvSpPr/>
      </dsp:nvSpPr>
      <dsp:spPr>
        <a:xfrm>
          <a:off x="525780" y="3329109"/>
          <a:ext cx="7360920" cy="7084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BERTScore better semantically, but still limited</a:t>
          </a:r>
        </a:p>
      </dsp:txBody>
      <dsp:txXfrm>
        <a:off x="560365" y="3363694"/>
        <a:ext cx="7291750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19A02F-70FC-4D3D-9A08-7991442491C0}">
      <dsp:nvSpPr>
        <dsp:cNvPr id="0" name=""/>
        <dsp:cNvSpPr/>
      </dsp:nvSpPr>
      <dsp:spPr>
        <a:xfrm>
          <a:off x="0" y="784944"/>
          <a:ext cx="105156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Metrics often rate semantically strong outputs poorly</a:t>
          </a:r>
        </a:p>
      </dsp:txBody>
      <dsp:txXfrm>
        <a:off x="41979" y="826923"/>
        <a:ext cx="10431642" cy="775991"/>
      </dsp:txXfrm>
    </dsp:sp>
    <dsp:sp modelId="{6AF9E36E-DB64-45ED-B0C4-D17C267115A7}">
      <dsp:nvSpPr>
        <dsp:cNvPr id="0" name=""/>
        <dsp:cNvSpPr/>
      </dsp:nvSpPr>
      <dsp:spPr>
        <a:xfrm>
          <a:off x="0" y="1745694"/>
          <a:ext cx="105156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Summarization tasks suffer from reference variability</a:t>
          </a:r>
        </a:p>
      </dsp:txBody>
      <dsp:txXfrm>
        <a:off x="41979" y="1787673"/>
        <a:ext cx="10431642" cy="775991"/>
      </dsp:txXfrm>
    </dsp:sp>
    <dsp:sp modelId="{9399CE4A-6810-4174-8C09-EADCBF0CFFAD}">
      <dsp:nvSpPr>
        <dsp:cNvPr id="0" name=""/>
        <dsp:cNvSpPr/>
      </dsp:nvSpPr>
      <dsp:spPr>
        <a:xfrm>
          <a:off x="0" y="2706444"/>
          <a:ext cx="105156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BERTScore shows only moderate human agreement</a:t>
          </a:r>
        </a:p>
      </dsp:txBody>
      <dsp:txXfrm>
        <a:off x="41979" y="2748423"/>
        <a:ext cx="10431642" cy="7759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B488D-2EA0-41AF-BF2E-1ADD55CBAA96}">
      <dsp:nvSpPr>
        <dsp:cNvPr id="0" name=""/>
        <dsp:cNvSpPr/>
      </dsp:nvSpPr>
      <dsp:spPr>
        <a:xfrm>
          <a:off x="0" y="685"/>
          <a:ext cx="5849557" cy="16048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B0FF9-A4AC-45D1-9432-C1479C98AD3E}">
      <dsp:nvSpPr>
        <dsp:cNvPr id="0" name=""/>
        <dsp:cNvSpPr/>
      </dsp:nvSpPr>
      <dsp:spPr>
        <a:xfrm>
          <a:off x="485480" y="361787"/>
          <a:ext cx="882691" cy="8826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5CB40-8250-4341-9AD0-EB4AE9C025E3}">
      <dsp:nvSpPr>
        <dsp:cNvPr id="0" name=""/>
        <dsp:cNvSpPr/>
      </dsp:nvSpPr>
      <dsp:spPr>
        <a:xfrm>
          <a:off x="1853652" y="685"/>
          <a:ext cx="3995904" cy="1604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851" tIns="169851" rIns="169851" bIns="1698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Large models perform better, but are costly</a:t>
          </a:r>
        </a:p>
      </dsp:txBody>
      <dsp:txXfrm>
        <a:off x="1853652" y="685"/>
        <a:ext cx="3995904" cy="1604894"/>
      </dsp:txXfrm>
    </dsp:sp>
    <dsp:sp modelId="{0D05361A-EC55-473E-BD42-F6DE891B11F1}">
      <dsp:nvSpPr>
        <dsp:cNvPr id="0" name=""/>
        <dsp:cNvSpPr/>
      </dsp:nvSpPr>
      <dsp:spPr>
        <a:xfrm>
          <a:off x="0" y="2006803"/>
          <a:ext cx="5849557" cy="16048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EA2BD-806A-4EAA-8504-6B758FCCB9A7}">
      <dsp:nvSpPr>
        <dsp:cNvPr id="0" name=""/>
        <dsp:cNvSpPr/>
      </dsp:nvSpPr>
      <dsp:spPr>
        <a:xfrm>
          <a:off x="485480" y="2367904"/>
          <a:ext cx="882691" cy="8826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99BBB-377A-46EE-A373-D320E8018ADF}">
      <dsp:nvSpPr>
        <dsp:cNvPr id="0" name=""/>
        <dsp:cNvSpPr/>
      </dsp:nvSpPr>
      <dsp:spPr>
        <a:xfrm>
          <a:off x="1853652" y="2006803"/>
          <a:ext cx="3995904" cy="1604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851" tIns="169851" rIns="169851" bIns="1698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Biases: likelihood bias, length bias, social bias</a:t>
          </a:r>
        </a:p>
      </dsp:txBody>
      <dsp:txXfrm>
        <a:off x="1853652" y="2006803"/>
        <a:ext cx="3995904" cy="1604894"/>
      </dsp:txXfrm>
    </dsp:sp>
    <dsp:sp modelId="{DD5BC574-E22E-4CDD-9B5A-3D734B95E98D}">
      <dsp:nvSpPr>
        <dsp:cNvPr id="0" name=""/>
        <dsp:cNvSpPr/>
      </dsp:nvSpPr>
      <dsp:spPr>
        <a:xfrm>
          <a:off x="0" y="4012921"/>
          <a:ext cx="5849557" cy="16048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4628C-2C61-4C9A-814A-09A46C666910}">
      <dsp:nvSpPr>
        <dsp:cNvPr id="0" name=""/>
        <dsp:cNvSpPr/>
      </dsp:nvSpPr>
      <dsp:spPr>
        <a:xfrm>
          <a:off x="485480" y="4374022"/>
          <a:ext cx="882691" cy="8826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D9F4C-9CC5-4C02-B0AE-D2A45E620BA3}">
      <dsp:nvSpPr>
        <dsp:cNvPr id="0" name=""/>
        <dsp:cNvSpPr/>
      </dsp:nvSpPr>
      <dsp:spPr>
        <a:xfrm>
          <a:off x="1853652" y="4012921"/>
          <a:ext cx="3995904" cy="1604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851" tIns="169851" rIns="169851" bIns="1698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Prompt sensitivity is a serious limitation</a:t>
          </a:r>
        </a:p>
      </dsp:txBody>
      <dsp:txXfrm>
        <a:off x="1853652" y="4012921"/>
        <a:ext cx="3995904" cy="16048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650C8-F6F5-4608-B44F-709423056220}">
      <dsp:nvSpPr>
        <dsp:cNvPr id="0" name=""/>
        <dsp:cNvSpPr/>
      </dsp:nvSpPr>
      <dsp:spPr>
        <a:xfrm>
          <a:off x="1134" y="902823"/>
          <a:ext cx="2420357" cy="145221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Inspired by contrastive decoding and SCMoE</a:t>
          </a:r>
        </a:p>
      </dsp:txBody>
      <dsp:txXfrm>
        <a:off x="43668" y="945357"/>
        <a:ext cx="2335289" cy="1367146"/>
      </dsp:txXfrm>
    </dsp:sp>
    <dsp:sp modelId="{CAF3A0C4-7629-4E94-A62F-16654B7ECBFE}">
      <dsp:nvSpPr>
        <dsp:cNvPr id="0" name=""/>
        <dsp:cNvSpPr/>
      </dsp:nvSpPr>
      <dsp:spPr>
        <a:xfrm>
          <a:off x="2634483" y="1328806"/>
          <a:ext cx="513115" cy="6002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634483" y="1448856"/>
        <a:ext cx="359181" cy="360148"/>
      </dsp:txXfrm>
    </dsp:sp>
    <dsp:sp modelId="{E8EB5F09-F31E-4ACB-8AB1-EE52CDC42871}">
      <dsp:nvSpPr>
        <dsp:cNvPr id="0" name=""/>
        <dsp:cNvSpPr/>
      </dsp:nvSpPr>
      <dsp:spPr>
        <a:xfrm>
          <a:off x="3389635" y="902823"/>
          <a:ext cx="2420357" cy="1452214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Models of different capacities compared</a:t>
          </a:r>
        </a:p>
      </dsp:txBody>
      <dsp:txXfrm>
        <a:off x="3432169" y="945357"/>
        <a:ext cx="2335289" cy="1367146"/>
      </dsp:txXfrm>
    </dsp:sp>
    <dsp:sp modelId="{D72705E8-FE52-478B-97B4-3BDCFFB0A320}">
      <dsp:nvSpPr>
        <dsp:cNvPr id="0" name=""/>
        <dsp:cNvSpPr/>
      </dsp:nvSpPr>
      <dsp:spPr>
        <a:xfrm rot="5400000">
          <a:off x="4343256" y="2524463"/>
          <a:ext cx="513115" cy="6002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4419740" y="2568029"/>
        <a:ext cx="360148" cy="359181"/>
      </dsp:txXfrm>
    </dsp:sp>
    <dsp:sp modelId="{A7153E98-DA56-49ED-B411-0D14CCBA676E}">
      <dsp:nvSpPr>
        <dsp:cNvPr id="0" name=""/>
        <dsp:cNvSpPr/>
      </dsp:nvSpPr>
      <dsp:spPr>
        <a:xfrm>
          <a:off x="3389635" y="3323181"/>
          <a:ext cx="2420357" cy="1452214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Goal: better calibration, less bias</a:t>
          </a:r>
        </a:p>
      </dsp:txBody>
      <dsp:txXfrm>
        <a:off x="3432169" y="3365715"/>
        <a:ext cx="2335289" cy="13671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E57A9-F8FF-4F6F-880C-89014B29A70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B25CE-E4E3-4B68-955E-2D741D4FAD67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Uses log-probability difference for better text generation</a:t>
          </a:r>
        </a:p>
      </dsp:txBody>
      <dsp:txXfrm>
        <a:off x="0" y="2124"/>
        <a:ext cx="10515600" cy="1449029"/>
      </dsp:txXfrm>
    </dsp:sp>
    <dsp:sp modelId="{C11B6C16-F5D1-4F64-AD26-2811D41EBBE8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4092E-6A21-45CB-95BB-508682C11F19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Avoids repetition and incoherence</a:t>
          </a:r>
        </a:p>
      </dsp:txBody>
      <dsp:txXfrm>
        <a:off x="0" y="1451154"/>
        <a:ext cx="10515600" cy="1449029"/>
      </dsp:txXfrm>
    </dsp:sp>
    <dsp:sp modelId="{897C70A5-45AA-45CA-8C64-E31274BE1D6B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3A71F-5904-4A80-8ECE-2705A63D4715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Ratio-based scoring unsuitable for evaluation</a:t>
          </a:r>
        </a:p>
      </dsp:txBody>
      <dsp:txXfrm>
        <a:off x="0" y="2900183"/>
        <a:ext cx="10515600" cy="14490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15F50-E701-4D92-9197-79A82683EEEE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Subtraction-based formula for stability</a:t>
          </a:r>
        </a:p>
      </dsp:txBody>
      <dsp:txXfrm>
        <a:off x="47976" y="85244"/>
        <a:ext cx="10419648" cy="886848"/>
      </dsp:txXfrm>
    </dsp:sp>
    <dsp:sp modelId="{D6710D2E-6F09-448A-94EB-E7133BC2C70D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Score = ∑ log(|P_EXP - γ × P_AMA|)</a:t>
          </a:r>
        </a:p>
      </dsp:txBody>
      <dsp:txXfrm>
        <a:off x="47976" y="1183245"/>
        <a:ext cx="10419648" cy="886848"/>
      </dsp:txXfrm>
    </dsp:sp>
    <dsp:sp modelId="{1AF54D81-9D5B-4815-B8B9-D4C70DFC4080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Handles low-probability tokens</a:t>
          </a:r>
        </a:p>
      </dsp:txBody>
      <dsp:txXfrm>
        <a:off x="47976" y="2281245"/>
        <a:ext cx="10419648" cy="886848"/>
      </dsp:txXfrm>
    </dsp:sp>
    <dsp:sp modelId="{303F9225-01D3-4DC8-8966-7177E3BBF734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Better aligned with human judgment</a:t>
          </a:r>
        </a:p>
      </dsp:txBody>
      <dsp:txXfrm>
        <a:off x="47976" y="3379245"/>
        <a:ext cx="10419648" cy="8868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062779-57B1-489F-94C2-5938767BC2FB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SCMoE uses internal contrast in one model</a:t>
          </a:r>
        </a:p>
      </dsp:txBody>
      <dsp:txXfrm>
        <a:off x="28038" y="28038"/>
        <a:ext cx="7298593" cy="901218"/>
      </dsp:txXfrm>
    </dsp:sp>
    <dsp:sp modelId="{8875C797-8578-4677-A2DF-184F7668933D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need for external weak model</a:t>
          </a:r>
        </a:p>
      </dsp:txBody>
      <dsp:txXfrm>
        <a:off x="732583" y="1159385"/>
        <a:ext cx="7029617" cy="901218"/>
      </dsp:txXfrm>
    </dsp:sp>
    <dsp:sp modelId="{AE3C1022-8B91-4B84-AA23-5748FAD79CF5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ContrastScore uses external weak model for scoring</a:t>
          </a:r>
        </a:p>
      </dsp:txBody>
      <dsp:txXfrm>
        <a:off x="1426612" y="2290733"/>
        <a:ext cx="7040133" cy="901218"/>
      </dsp:txXfrm>
    </dsp:sp>
    <dsp:sp modelId="{1BC4D3F9-C55E-4B2E-81D6-661F72A01CFB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Inspired by structured model disagreement</a:t>
          </a:r>
        </a:p>
      </dsp:txBody>
      <dsp:txXfrm>
        <a:off x="2131157" y="3422081"/>
        <a:ext cx="7029617" cy="901218"/>
      </dsp:txXfrm>
    </dsp:sp>
    <dsp:sp modelId="{387F35C0-4FFA-41AA-8A91-0709F8C0F951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486CC30B-399D-4305-AB2D-B646E259495D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E52204D8-2AE3-40B5-A161-34A9C98883C9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A7A4-D237-9FF7-870E-29205E3C1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05329-73C4-C3BC-987F-5AF3118D7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71818-2BD4-D23C-6817-6F15B4E2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F744E-DDA5-9860-E2EB-1674AB8B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F5A9B-9072-2D06-72AC-7BDE44CD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9331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05A2-2B8A-6E50-C078-C682D2CD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26E5-F7B3-4CBA-5A23-3C18950EE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53848-2C38-3181-68D0-B6F1B437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84786-6808-E0FE-1468-A0358697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15E1E-E966-04F6-6999-B06F8C30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3208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632EF-23C9-259F-0ABC-59CDD49F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23500-8119-DC5C-0CDF-932856616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D6571-92B5-0A32-23BD-4FD5D16DC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D10C-24E2-CF76-021D-C4F5F6C8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4E2DB-C58D-17AF-669D-33A5F70BA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193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2019-8B3E-93E8-333C-5F6DB71F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0AAF6-C3A1-5AE2-838A-21770783B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90E77-A7AA-2D58-68DC-6F50A4423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5E8F0-2026-1BDE-0CD1-F70F806C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D9F6A-4416-57D8-8B37-BF0C7D2A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DBB46-F3BA-AC2A-F762-63F236E8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5930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A9E6-92ED-884B-5EEA-2A835FA5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BD28A-BB2D-47AC-D528-6CAD3AD0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67CF5-021D-8255-4966-43AD156CA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C6D0D-669E-B1C2-3627-9DFEB6D53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4E66C-DCF6-877B-24DE-489DFD66A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7B99EF-2B6C-BEBC-4748-87A1C814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E1602-2AB3-1963-66CF-1FB35CA5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3E823-B204-F4F1-3F7B-E80EE425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854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D7CC-38EA-8058-13D5-F3E525AB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3B5DE-B141-C332-2CCF-1E69A517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B6214-15E2-DE71-D14E-5AEDA240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9D70E-8B23-35AE-FF1C-F2EEF528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0134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DAB2A-53AE-EBC4-A3B5-DA34BDA3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0866F-6130-A7BA-3B75-E2E4D048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65692-824B-1855-9055-7C4554CAB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98024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5797-6F27-844F-0047-AC16A850E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4D8E-B43A-EBE7-AE09-CB71F1221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5CD80-F209-D4F6-A67F-178C41A5B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E2EF9-767B-59FB-114B-4E6FC004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952ED-59FA-BDB8-4AD6-8852A253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816CE-1C01-8165-CA8E-9247471E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241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3BCD-964E-0AB1-B9DE-495F54F1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031D7-5DC4-1B47-6A95-558F704C6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3D298-1B24-AED4-9278-2F220E898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0E5C2-A4BF-EB8D-7AF1-D6D6B238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4833D-D748-4767-74E0-2583D681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EC045-F622-7750-EDFC-6EEA149A5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0807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A9CED-8A14-8682-E249-CB95BC65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40931-8F8A-D633-160C-FC2ECBF28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9C3F9-3FFB-2742-197B-76253D920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C36CE-E090-2E29-A05A-8F4FC580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9B363-FF37-D688-ED3D-9B9F697C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2579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366DE-208B-86F0-F56C-F7E42DB8F4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367DC-1B91-FD55-83D2-3539BF23A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DC34E-3B13-5142-918E-42D4042B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496F3-3FAE-95FB-1F71-11250C71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D8191-2EEF-8719-AA03-5DF1EE59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989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BB14E-D2CE-5793-1919-B6E985D9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C5F4D-8A7C-1F07-ED9A-5EBD480AD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E70DD-72A0-7E38-40F9-308A1556A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B4F9A-DB59-4CD8-931F-7A48F7B958D1}" type="datetimeFigureOut">
              <a:rPr lang="en-PK" smtClean="0"/>
              <a:t>10/05/2025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A61BF-C1CA-2267-E143-92334CFAD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2849-810C-BC4D-864B-B84DA6900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D0089-39F3-45D9-A7AC-B2FAE06E32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361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60">
          <a:fgClr>
            <a:srgbClr val="002060"/>
          </a:fgClr>
          <a:bgClr>
            <a:srgbClr val="00B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4B5594-0D62-3D83-E797-E939222CE4BD}"/>
              </a:ext>
            </a:extLst>
          </p:cNvPr>
          <p:cNvSpPr txBox="1"/>
          <p:nvPr/>
        </p:nvSpPr>
        <p:spPr>
          <a:xfrm>
            <a:off x="811161" y="3108840"/>
            <a:ext cx="921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 Contrastive Preference Learning Approach for Automatic Metric Learning</a:t>
            </a:r>
            <a:endParaRPr lang="en-PK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5C9DB8-83A1-C18F-9DDC-9B6475C42D8E}"/>
              </a:ext>
            </a:extLst>
          </p:cNvPr>
          <p:cNvGrpSpPr/>
          <p:nvPr/>
        </p:nvGrpSpPr>
        <p:grpSpPr>
          <a:xfrm>
            <a:off x="811161" y="1524000"/>
            <a:ext cx="11085871" cy="1584840"/>
            <a:chOff x="811161" y="1524000"/>
            <a:chExt cx="11085871" cy="158484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F6C5A5-31FD-E101-D3CA-E89369A67687}"/>
                </a:ext>
              </a:extLst>
            </p:cNvPr>
            <p:cNvSpPr txBox="1"/>
            <p:nvPr/>
          </p:nvSpPr>
          <p:spPr>
            <a:xfrm>
              <a:off x="811161" y="1524000"/>
              <a:ext cx="1108587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0" i="1" dirty="0">
                  <a:solidFill>
                    <a:srgbClr val="F8FAFF"/>
                  </a:solidFill>
                  <a:effectLst/>
                  <a:latin typeface="DeepSeek-CJK-patch"/>
                </a:rPr>
                <a:t>ContrastScore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8AB006-F909-1614-B285-7378A687BB40}"/>
                </a:ext>
              </a:extLst>
            </p:cNvPr>
            <p:cNvSpPr txBox="1"/>
            <p:nvPr/>
          </p:nvSpPr>
          <p:spPr>
            <a:xfrm>
              <a:off x="811161" y="2462509"/>
              <a:ext cx="81457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0" i="1" dirty="0">
                  <a:solidFill>
                    <a:schemeClr val="bg2"/>
                  </a:solidFill>
                  <a:effectLst/>
                  <a:latin typeface="DeepSeek-CJK-patch"/>
                </a:rPr>
                <a:t>Smarter, Fairer, Faster Text Evaluation</a:t>
              </a:r>
              <a:endParaRPr lang="en-PK" sz="3600" dirty="0">
                <a:solidFill>
                  <a:schemeClr val="bg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60353A-1424-C70E-C9BA-F5C96A6A9124}"/>
              </a:ext>
            </a:extLst>
          </p:cNvPr>
          <p:cNvGrpSpPr/>
          <p:nvPr/>
        </p:nvGrpSpPr>
        <p:grpSpPr>
          <a:xfrm>
            <a:off x="6354096" y="4133672"/>
            <a:ext cx="7106265" cy="1491624"/>
            <a:chOff x="6354096" y="4133672"/>
            <a:chExt cx="7106265" cy="14916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A907FE5-A27E-7B45-FDA0-6712A24973E6}"/>
                </a:ext>
              </a:extLst>
            </p:cNvPr>
            <p:cNvSpPr txBox="1">
              <a:spLocks/>
            </p:cNvSpPr>
            <p:nvPr/>
          </p:nvSpPr>
          <p:spPr>
            <a:xfrm>
              <a:off x="7364361" y="4424967"/>
              <a:ext cx="60960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2"/>
                  </a:solidFill>
                  <a:latin typeface="Aptos Mono" panose="020F0502020204030204" pitchFamily="49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Hammad Anjum		21L-6271</a:t>
              </a:r>
            </a:p>
            <a:p>
              <a:r>
                <a:rPr lang="en-US" dirty="0">
                  <a:solidFill>
                    <a:schemeClr val="bg2"/>
                  </a:solidFill>
                  <a:latin typeface="Aptos Mono" panose="020F0502020204030204" pitchFamily="49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Hammad Ashraf		21L-6275</a:t>
              </a:r>
            </a:p>
            <a:p>
              <a:r>
                <a:rPr lang="en-US" dirty="0">
                  <a:solidFill>
                    <a:schemeClr val="bg2"/>
                  </a:solidFill>
                  <a:latin typeface="Aptos Mono" panose="020F0502020204030204" pitchFamily="49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Nareen Waseem		21L-6270</a:t>
              </a:r>
            </a:p>
            <a:p>
              <a:r>
                <a:rPr lang="en-US" dirty="0">
                  <a:solidFill>
                    <a:schemeClr val="bg2"/>
                  </a:solidFill>
                  <a:latin typeface="Aptos Mono" panose="020F0502020204030204" pitchFamily="49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Fiza Shehzad		21L-7693</a:t>
              </a:r>
              <a:endParaRPr lang="en-PK" dirty="0">
                <a:solidFill>
                  <a:schemeClr val="bg2"/>
                </a:solidFill>
                <a:latin typeface="Aptos Mono" panose="020F0502020204030204" pitchFamily="49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F154765-6B9C-181F-010F-D92ECB81F216}"/>
                </a:ext>
              </a:extLst>
            </p:cNvPr>
            <p:cNvSpPr txBox="1"/>
            <p:nvPr/>
          </p:nvSpPr>
          <p:spPr>
            <a:xfrm>
              <a:off x="6354096" y="4133672"/>
              <a:ext cx="6731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2"/>
                  </a:solidFill>
                  <a:latin typeface="Aptos Mono" panose="020F0502020204030204" pitchFamily="49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Presented by: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364163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C289BC-70B8-DFB3-AB66-EADE12EF6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665649"/>
              </p:ext>
            </p:extLst>
          </p:nvPr>
        </p:nvGraphicFramePr>
        <p:xfrm>
          <a:off x="955040" y="1253805"/>
          <a:ext cx="10281920" cy="52916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33116">
                  <a:extLst>
                    <a:ext uri="{9D8B030D-6E8A-4147-A177-3AD203B41FA5}">
                      <a16:colId xmlns:a16="http://schemas.microsoft.com/office/drawing/2014/main" val="1661665855"/>
                    </a:ext>
                  </a:extLst>
                </a:gridCol>
                <a:gridCol w="6248804">
                  <a:extLst>
                    <a:ext uri="{9D8B030D-6E8A-4147-A177-3AD203B41FA5}">
                      <a16:colId xmlns:a16="http://schemas.microsoft.com/office/drawing/2014/main" val="3354367364"/>
                    </a:ext>
                  </a:extLst>
                </a:gridCol>
              </a:tblGrid>
              <a:tr h="661458"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2100">
                        <a:solidFill>
                          <a:schemeClr val="bg1"/>
                        </a:solidFill>
                      </a:endParaRP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Affiliation</a:t>
                      </a:r>
                      <a:endParaRPr lang="en-US" sz="2100" dirty="0">
                        <a:solidFill>
                          <a:schemeClr val="bg1"/>
                        </a:solidFill>
                      </a:endParaRP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48484"/>
                  </a:ext>
                </a:extLst>
              </a:tr>
              <a:tr h="661458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Xiao Wang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University of Manchester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171589"/>
                  </a:ext>
                </a:extLst>
              </a:tr>
              <a:tr h="661458">
                <a:tc>
                  <a:txBody>
                    <a:bodyPr/>
                    <a:lstStyle/>
                    <a:p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Daniil Larionov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University of Mannheim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002905"/>
                  </a:ext>
                </a:extLst>
              </a:tr>
              <a:tr h="661458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Siwei Wu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University of Manchester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922712"/>
                  </a:ext>
                </a:extLst>
              </a:tr>
              <a:tr h="661458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Yiqi Liu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University of Manchester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755519"/>
                  </a:ext>
                </a:extLst>
              </a:tr>
              <a:tr h="661458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Steffen Eger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University of Technology Nuremberg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913591"/>
                  </a:ext>
                </a:extLst>
              </a:tr>
              <a:tr h="661458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Nafise Sadat Moosavi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University of Sheffield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590777"/>
                  </a:ext>
                </a:extLst>
              </a:tr>
              <a:tr h="661458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bg1"/>
                          </a:solidFill>
                        </a:rPr>
                        <a:t>Chenghua Lin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University of Manchester</a:t>
                      </a:r>
                    </a:p>
                  </a:txBody>
                  <a:tcPr marL="252213" marR="151920" marT="126107" marB="1261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9921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6D929E5-1B5B-5B76-2EB4-720ABA59DC14}"/>
              </a:ext>
            </a:extLst>
          </p:cNvPr>
          <p:cNvSpPr txBox="1"/>
          <p:nvPr/>
        </p:nvSpPr>
        <p:spPr>
          <a:xfrm>
            <a:off x="843280" y="505571"/>
            <a:ext cx="6096000" cy="59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bg1"/>
                </a:solidFill>
                <a:latin typeface="DeepSeek-CJK-patch"/>
                <a:ea typeface="+mj-ea"/>
                <a:cs typeface="+mj-cs"/>
              </a:rPr>
              <a:t>Meet the Authors</a:t>
            </a:r>
          </a:p>
        </p:txBody>
      </p:sp>
    </p:spTree>
    <p:extLst>
      <p:ext uri="{BB962C8B-B14F-4D97-AF65-F5344CB8AC3E}">
        <p14:creationId xmlns:p14="http://schemas.microsoft.com/office/powerpoint/2010/main" val="3663865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white circle and lines&#10;&#10;AI-generated content may be incorrect.">
            <a:extLst>
              <a:ext uri="{FF2B5EF4-FFF2-40B4-BE49-F238E27FC236}">
                <a16:creationId xmlns:a16="http://schemas.microsoft.com/office/drawing/2014/main" id="{30F5286C-80EA-AE09-6C09-466D82960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1132"/>
            <a:ext cx="12192000" cy="4855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FA6CB8-AA0B-E4CE-BFD8-45B659568B65}"/>
              </a:ext>
            </a:extLst>
          </p:cNvPr>
          <p:cNvSpPr txBox="1"/>
          <p:nvPr/>
        </p:nvSpPr>
        <p:spPr>
          <a:xfrm>
            <a:off x="1022554" y="406829"/>
            <a:ext cx="6096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  <a:latin typeface="DeepSeek-CJK-patch"/>
                <a:ea typeface="+mj-ea"/>
                <a:cs typeface="+mj-cs"/>
              </a:rPr>
              <a:t>Road Map</a:t>
            </a:r>
            <a:endParaRPr lang="en-US" sz="3200" b="1" kern="1200" dirty="0">
              <a:solidFill>
                <a:schemeClr val="bg1"/>
              </a:solidFill>
              <a:latin typeface="DeepSeek-CJK-patch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670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2D6033B-99C4-7C2C-11FA-8587092E41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27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39B20-59FB-4301-28B2-1203B33C0EC6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effectLst/>
                <a:latin typeface="+mj-lt"/>
                <a:ea typeface="+mj-ea"/>
                <a:cs typeface="+mj-cs"/>
              </a:rPr>
              <a:t>Introduction</a:t>
            </a:r>
            <a:endParaRPr lang="en-US" sz="44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extBox 2">
            <a:extLst>
              <a:ext uri="{FF2B5EF4-FFF2-40B4-BE49-F238E27FC236}">
                <a16:creationId xmlns:a16="http://schemas.microsoft.com/office/drawing/2014/main" id="{EA435284-3E16-27C1-ADB9-87FB0817E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5990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35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DF5C109-DF93-BC06-356F-29B2D26BB4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12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85E8-925D-307F-6E74-A1B85169AFD9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4400" b="1">
                <a:effectLst/>
                <a:latin typeface="+mj-lt"/>
                <a:ea typeface="+mj-ea"/>
                <a:cs typeface="+mj-cs"/>
              </a:rPr>
              <a:t>1. Problem of Text Evaluation</a:t>
            </a:r>
            <a:endParaRPr lang="en-US" sz="4400"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4A10B6EB-95C2-3573-DD3E-2A77D2BC0F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37072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3862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C4EFC03-60C3-0E27-4150-1A00F40C58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DB555-D8B2-65EA-8DB0-A25995342525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effectLst/>
                <a:latin typeface="+mj-lt"/>
                <a:ea typeface="+mj-ea"/>
                <a:cs typeface="+mj-cs"/>
              </a:rPr>
              <a:t>1.1 Challenges in Automatic Evaluation</a:t>
            </a:r>
            <a:endParaRPr lang="en-US" sz="44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B8404D26-1DCE-1836-6767-D9DCD95C1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74804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478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C32D68-0346-B43B-3352-E53865A98F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C65F6-A1D1-127E-4553-C50F68C100ED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effectLst/>
                <a:latin typeface="+mj-lt"/>
                <a:ea typeface="+mj-ea"/>
                <a:cs typeface="+mj-cs"/>
              </a:rPr>
              <a:t>1.2 Weak Correlation with Human Judgments</a:t>
            </a:r>
            <a:endParaRPr lang="en-US" sz="44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1B526C3-129C-C4A3-64B8-A4C732A507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34157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1606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165109B-7036-4613-93D4-579E77F6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E0092-E71D-6DDC-E49F-4328DCCA6B92}"/>
              </a:ext>
            </a:extLst>
          </p:cNvPr>
          <p:cNvSpPr txBox="1"/>
          <p:nvPr/>
        </p:nvSpPr>
        <p:spPr>
          <a:xfrm>
            <a:off x="761802" y="858982"/>
            <a:ext cx="3160341" cy="515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1.3 Limitations of LLM-Based Metrics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6707" y="0"/>
            <a:ext cx="7455294" cy="6858000"/>
          </a:xfrm>
          <a:prstGeom prst="rect">
            <a:avLst/>
          </a:prstGeom>
          <a:ln>
            <a:noFill/>
          </a:ln>
          <a:effectLst>
            <a:outerShdw blurRad="317500" dist="228600" dir="798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95019B08-5F8D-A8D8-F86F-B10A8C7E0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8637662"/>
              </p:ext>
            </p:extLst>
          </p:nvPr>
        </p:nvGraphicFramePr>
        <p:xfrm>
          <a:off x="5368169" y="601324"/>
          <a:ext cx="5849557" cy="5618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9862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E846B-450B-090C-F6A4-723ED002E65C}"/>
              </a:ext>
            </a:extLst>
          </p:cNvPr>
          <p:cNvSpPr txBox="1"/>
          <p:nvPr/>
        </p:nvSpPr>
        <p:spPr>
          <a:xfrm>
            <a:off x="838200" y="673770"/>
            <a:ext cx="3220329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2. Contrastive Principle: Inspiration</a:t>
            </a:r>
            <a:endParaRPr lang="en-US" sz="3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4" name="TextBox 4">
            <a:extLst>
              <a:ext uri="{FF2B5EF4-FFF2-40B4-BE49-F238E27FC236}">
                <a16:creationId xmlns:a16="http://schemas.microsoft.com/office/drawing/2014/main" id="{4BD98BAB-863B-7346-184C-37200D2918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465588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13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533A06-0929-1541-8917-C3F9E4B3A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DC82C-38AD-FB6E-3032-D2F4DF9EDE34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effectLst/>
                <a:latin typeface="+mj-lt"/>
                <a:ea typeface="+mj-ea"/>
                <a:cs typeface="+mj-cs"/>
              </a:rPr>
              <a:t>2.1 Contrastive Decoding</a:t>
            </a:r>
            <a:endParaRPr lang="en-US" sz="44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" name="TextBox 4">
            <a:extLst>
              <a:ext uri="{FF2B5EF4-FFF2-40B4-BE49-F238E27FC236}">
                <a16:creationId xmlns:a16="http://schemas.microsoft.com/office/drawing/2014/main" id="{529196E2-6590-6C57-F577-DFE58270B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2043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188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855D90-40E1-FDF3-89E5-A02BEA63B6C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CA484A-D0E5-7D55-241D-0293CB8F68F7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4400" b="1">
                <a:latin typeface="+mj-lt"/>
                <a:ea typeface="+mj-ea"/>
                <a:cs typeface="+mj-cs"/>
              </a:rPr>
              <a:t>2.2 </a:t>
            </a:r>
            <a:r>
              <a:rPr lang="en-US" sz="4400" b="1">
                <a:effectLst/>
                <a:latin typeface="+mj-lt"/>
                <a:ea typeface="+mj-ea"/>
                <a:cs typeface="+mj-cs"/>
              </a:rPr>
              <a:t>ContrastScore’s Evaluation Formula</a:t>
            </a:r>
            <a:endParaRPr lang="en-US" sz="4400"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1C86FF0F-599D-B0AA-F60C-77E12697B4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40043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4409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7165F-4C3D-42A1-96DF-B93D343A25C8}"/>
              </a:ext>
            </a:extLst>
          </p:cNvPr>
          <p:cNvSpPr txBox="1"/>
          <p:nvPr/>
        </p:nvSpPr>
        <p:spPr>
          <a:xfrm>
            <a:off x="838200" y="459863"/>
            <a:ext cx="10515600" cy="1004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2.3 Contrastive Model Architecture (</a:t>
            </a:r>
            <a:r>
              <a:rPr lang="en-US" sz="41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SCMoE</a:t>
            </a:r>
            <a:r>
              <a:rPr lang="en-US" sz="41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)</a:t>
            </a:r>
            <a:endParaRPr lang="en-US" sz="4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8997B622-D7B1-591D-7E16-BB5AB829EC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381436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4664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BCC81A-D4B9-B5DD-6771-5ED42A30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Methodology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12FABE-8DD5-A756-CF74-B66848222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145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Current issue: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Single-model evaluation metrics lead to bias and instability.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Solution: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ContrastScore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uses two models: an 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expert model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and an 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amateur model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Key Formula: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Benefit: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Evaluates based on disagreement between expert and amateur, addressing bias in current models.</a:t>
            </a:r>
            <a:endParaRPr lang="en-US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Outcome: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Aligns better with human judgments, produces more stable and fair evaluations.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22846F3-8F8B-86FB-6264-B260D7F29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46" y="3814022"/>
            <a:ext cx="9710054" cy="88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96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7C42-C3BF-92A9-F0C8-C5621C15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96" y="365125"/>
            <a:ext cx="10507904" cy="89453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Methodology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76757-BACE-9102-1414-8B8BEBE60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565"/>
            <a:ext cx="10515600" cy="54981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Evaluation framework: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Extends probabilistic text evaluation methods (e.g., </a:t>
            </a:r>
            <a:r>
              <a:rPr lang="en-US" sz="2400" err="1">
                <a:solidFill>
                  <a:schemeClr val="bg1"/>
                </a:solidFill>
                <a:ea typeface="+mn-lt"/>
                <a:cs typeface="+mn-lt"/>
              </a:rPr>
              <a:t>BARTScore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).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Old approach: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Contrastive Decoding assigns −∞ to tokens outside top choices, rejecting valid sequences.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Key Formula (from Contrastive Decoding):</a:t>
            </a:r>
            <a:endParaRPr lang="en-US" sz="2400" dirty="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i="1" dirty="0">
              <a:solidFill>
                <a:schemeClr val="bg1"/>
              </a:solidFill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(Used for next-token prediction but unsuitable for full evaluation.)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2400" b="1" err="1">
                <a:solidFill>
                  <a:schemeClr val="bg1"/>
                </a:solidFill>
                <a:ea typeface="+mn-lt"/>
                <a:cs typeface="+mn-lt"/>
              </a:rPr>
              <a:t>ContrastScore</a:t>
            </a:r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 formula: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Uses a subtraction-based contrastive approach with scaling factor γ.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Advantage: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 Retains all tokens, adjusts based on model disagreement, leading to stable evaluation.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BAAD62A-0C66-0840-8767-CC507C224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99" y="3270090"/>
            <a:ext cx="4970319" cy="577852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E22BC3B-0AB1-DB7F-C3AB-B310C00C8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8" y="5883053"/>
            <a:ext cx="10153738" cy="83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48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1BFC-42CC-164A-0E52-D6C140B3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Experimental Setup for </a:t>
            </a:r>
            <a:r>
              <a:rPr lang="en-US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ContrastScore</a:t>
            </a: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Evaluation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A3613-FEEE-AF9F-1893-67F17A6A3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3600" dirty="0">
                <a:solidFill>
                  <a:schemeClr val="bg1"/>
                </a:solidFill>
                <a:latin typeface="Arial"/>
                <a:cs typeface="Arial"/>
              </a:rPr>
              <a:t>•</a:t>
            </a:r>
            <a:r>
              <a:rPr lang="en-US" sz="3600" dirty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Tasks Evaluated:</a:t>
            </a:r>
            <a:endParaRPr lang="en-US" sz="36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Machine Translation: WMT23 dataset (EN-DE, ZH-EN, HE-EN)</a:t>
            </a:r>
            <a:endParaRPr lang="en-US" sz="16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Summarization: </a:t>
            </a:r>
            <a:r>
              <a:rPr lang="en-US" sz="16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SummEval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dataset (CNN/</a:t>
            </a:r>
            <a:r>
              <a:rPr lang="en-US" sz="16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DailyMail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articles)</a:t>
            </a:r>
            <a:endParaRPr lang="en-US" sz="160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3600" dirty="0">
                <a:solidFill>
                  <a:schemeClr val="bg1"/>
                </a:solidFill>
                <a:latin typeface="Arial"/>
                <a:cs typeface="Arial"/>
              </a:rPr>
              <a:t>•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Models Used:</a:t>
            </a:r>
            <a:endParaRPr lang="en-US" sz="3600" dirty="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Llama and Qwen families (0.5B, 1B, 3B, 7B, 8B) for generalizability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3600" dirty="0">
                <a:solidFill>
                  <a:schemeClr val="bg1"/>
                </a:solidFill>
                <a:latin typeface="Arial"/>
                <a:cs typeface="Arial"/>
              </a:rPr>
              <a:t>•</a:t>
            </a:r>
            <a:r>
              <a:rPr lang="en-US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Comparison:</a:t>
            </a:r>
            <a:endParaRPr lang="en-US" sz="3600" dirty="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Single-model evaluation</a:t>
            </a:r>
            <a:endParaRPr lang="en-US" sz="16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Ensemble evaluation: Averaged probabilities for expert and amateur models</a:t>
            </a:r>
            <a:endParaRPr lang="en-US" sz="16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Ensemble Probability Formula: 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A math equation on a black background&#10;&#10;AI-generated content may be incorrect.">
            <a:extLst>
              <a:ext uri="{FF2B5EF4-FFF2-40B4-BE49-F238E27FC236}">
                <a16:creationId xmlns:a16="http://schemas.microsoft.com/office/drawing/2014/main" id="{8EAC7D61-3FB4-9326-2611-EE5B80558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061" y="5316299"/>
            <a:ext cx="3425896" cy="86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72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63AC-98D9-84B8-BA48-6016D676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Evaluation Metrics &amp;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3449D-421E-28B2-7CEC-3A581CEF9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73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Evaluation Dimensions:</a:t>
            </a:r>
            <a:endParaRPr lang="en-US" sz="220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Correlation with Human Scores: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 Pearson correlation to assess alignment with human judgments.</a:t>
            </a:r>
            <a:endParaRPr lang="en-US" sz="220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Bias Evaluation:</a:t>
            </a:r>
            <a:endParaRPr lang="en-US" sz="2200">
              <a:solidFill>
                <a:schemeClr val="bg1"/>
              </a:solidFill>
            </a:endParaRPr>
          </a:p>
          <a:p>
            <a:pPr lvl="1"/>
            <a:r>
              <a:rPr lang="en-US" sz="1900" b="1" dirty="0">
                <a:solidFill>
                  <a:schemeClr val="bg1"/>
                </a:solidFill>
                <a:ea typeface="+mn-lt"/>
                <a:cs typeface="+mn-lt"/>
              </a:rPr>
              <a:t>Likelihood Bias:</a:t>
            </a:r>
            <a:r>
              <a:rPr lang="en-US" sz="1900" dirty="0">
                <a:solidFill>
                  <a:schemeClr val="bg1"/>
                </a:solidFill>
                <a:ea typeface="+mn-lt"/>
                <a:cs typeface="+mn-lt"/>
              </a:rPr>
              <a:t> Quantified using </a:t>
            </a:r>
            <a:r>
              <a:rPr lang="en-US" sz="1900" err="1">
                <a:solidFill>
                  <a:schemeClr val="bg1"/>
                </a:solidFill>
                <a:ea typeface="+mn-lt"/>
                <a:cs typeface="+mn-lt"/>
              </a:rPr>
              <a:t>BiasScore</a:t>
            </a:r>
            <a:r>
              <a:rPr lang="en-US" sz="1900" dirty="0">
                <a:solidFill>
                  <a:schemeClr val="bg1"/>
                </a:solidFill>
                <a:ea typeface="+mn-lt"/>
                <a:cs typeface="+mn-lt"/>
              </a:rPr>
              <a:t>:</a:t>
            </a:r>
          </a:p>
          <a:p>
            <a:pPr marL="457200" lvl="1" indent="0" algn="ctr">
              <a:spcBef>
                <a:spcPts val="1000"/>
              </a:spcBef>
              <a:buNone/>
            </a:pPr>
            <a:r>
              <a:rPr lang="en-US" sz="3900" dirty="0" err="1">
                <a:solidFill>
                  <a:schemeClr val="bg1"/>
                </a:solidFill>
                <a:ea typeface="+mn-lt"/>
                <a:cs typeface="+mn-lt"/>
              </a:rPr>
              <a:t>BiasScore</a:t>
            </a:r>
            <a:r>
              <a:rPr lang="en-US" sz="3900" dirty="0">
                <a:solidFill>
                  <a:schemeClr val="bg1"/>
                </a:solidFill>
                <a:ea typeface="+mn-lt"/>
                <a:cs typeface="+mn-lt"/>
              </a:rPr>
              <a:t>=ρ(LS,US)</a:t>
            </a:r>
            <a:endParaRPr lang="en-US" sz="39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Length Bias: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 Evaluates bias towards longer texts.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Efficiency: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 Number of samples processed per second.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Hyperparameters: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Scaling factor γ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 for amateur model set to </a:t>
            </a:r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0.1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Decoding Temperatures: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 τ₁ = 1.5, τ₂ = 0.5.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  <a:ea typeface="+mn-lt"/>
                <a:cs typeface="+mn-lt"/>
              </a:rPr>
              <a:t>Environment: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 Experiments run on GPU clusters (4× H100 GPUs).</a:t>
            </a:r>
            <a:endParaRPr lang="en-US" sz="22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162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a number of scores&#10;&#10;AI-generated content may be incorrect.">
            <a:extLst>
              <a:ext uri="{FF2B5EF4-FFF2-40B4-BE49-F238E27FC236}">
                <a16:creationId xmlns:a16="http://schemas.microsoft.com/office/drawing/2014/main" id="{E95AB00D-C993-45F5-98BD-F99994167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470" y="1031637"/>
            <a:ext cx="7010399" cy="55009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4A8D5C-E3AA-8977-780D-1B31F1EBDFC2}"/>
              </a:ext>
            </a:extLst>
          </p:cNvPr>
          <p:cNvSpPr txBox="1"/>
          <p:nvPr/>
        </p:nvSpPr>
        <p:spPr>
          <a:xfrm>
            <a:off x="186610" y="768457"/>
            <a:ext cx="46508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400" dirty="0">
                <a:solidFill>
                  <a:srgbClr val="FFFF00"/>
                </a:solidFill>
              </a:rPr>
              <a:t>ContrastScore can achieve correlation scores </a:t>
            </a:r>
            <a:r>
              <a:rPr lang="en-US" sz="2400" dirty="0">
                <a:solidFill>
                  <a:srgbClr val="FFFF00"/>
                </a:solidFill>
              </a:rPr>
              <a:t>better than</a:t>
            </a:r>
            <a:r>
              <a:rPr lang="en-PK" sz="2400" dirty="0">
                <a:solidFill>
                  <a:srgbClr val="FFFF00"/>
                </a:solidFill>
              </a:rPr>
              <a:t> those of the largest model—using only two smaller models.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A8460-10D1-86B8-DC86-83D62EB9E39D}"/>
              </a:ext>
            </a:extLst>
          </p:cNvPr>
          <p:cNvSpPr txBox="1"/>
          <p:nvPr/>
        </p:nvSpPr>
        <p:spPr>
          <a:xfrm>
            <a:off x="186610" y="2374079"/>
            <a:ext cx="4650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>
                <a:solidFill>
                  <a:schemeClr val="bg1"/>
                </a:solidFill>
              </a:rPr>
              <a:t>Ensemble in Llama methods produce less accurate results than the single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8B19C-8CEA-4C57-D178-B171830E0A3D}"/>
              </a:ext>
            </a:extLst>
          </p:cNvPr>
          <p:cNvSpPr txBox="1"/>
          <p:nvPr/>
        </p:nvSpPr>
        <p:spPr>
          <a:xfrm>
            <a:off x="186610" y="4349035"/>
            <a:ext cx="43952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>
                <a:solidFill>
                  <a:schemeClr val="bg1"/>
                </a:solidFill>
              </a:rPr>
              <a:t>ContrastScore</a:t>
            </a:r>
            <a:r>
              <a:rPr lang="en-US" dirty="0">
                <a:solidFill>
                  <a:schemeClr val="bg1"/>
                </a:solidFill>
              </a:rPr>
              <a:t> using </a:t>
            </a:r>
          </a:p>
          <a:p>
            <a:r>
              <a:rPr lang="en-US" dirty="0">
                <a:solidFill>
                  <a:schemeClr val="bg1"/>
                </a:solidFill>
              </a:rPr>
              <a:t>(expert, amateur)=</a:t>
            </a:r>
            <a:r>
              <a:rPr lang="en-PK" b="1" dirty="0">
                <a:solidFill>
                  <a:schemeClr val="bg1"/>
                </a:solidFill>
              </a:rPr>
              <a:t>Qwen</a:t>
            </a:r>
            <a:r>
              <a:rPr lang="en-PK" dirty="0">
                <a:solidFill>
                  <a:schemeClr val="bg1"/>
                </a:solidFill>
              </a:rPr>
              <a:t>(7B, 0.5B)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PK" dirty="0">
                <a:solidFill>
                  <a:schemeClr val="bg1"/>
                </a:solidFill>
              </a:rPr>
              <a:t> improves correlation over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PK" b="1" dirty="0">
                <a:solidFill>
                  <a:schemeClr val="bg1"/>
                </a:solidFill>
              </a:rPr>
              <a:t>single </a:t>
            </a:r>
            <a:r>
              <a:rPr lang="en-PK" dirty="0">
                <a:solidFill>
                  <a:schemeClr val="bg1"/>
                </a:solidFill>
              </a:rPr>
              <a:t>7B by 5.8% and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PK" b="1" dirty="0">
                <a:solidFill>
                  <a:schemeClr val="bg1"/>
                </a:solidFill>
              </a:rPr>
              <a:t>ensemble</a:t>
            </a:r>
            <a:r>
              <a:rPr lang="en-PK" dirty="0">
                <a:solidFill>
                  <a:schemeClr val="bg1"/>
                </a:solidFill>
              </a:rPr>
              <a:t> of </a:t>
            </a:r>
            <a:r>
              <a:rPr lang="en-PK" b="1" dirty="0">
                <a:solidFill>
                  <a:schemeClr val="bg1"/>
                </a:solidFill>
              </a:rPr>
              <a:t>Qwen</a:t>
            </a:r>
            <a:r>
              <a:rPr lang="en-PK" dirty="0">
                <a:solidFill>
                  <a:schemeClr val="bg1"/>
                </a:solidFill>
              </a:rPr>
              <a:t>(7B, 0.5B) by 5.8%.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001265-5E39-12E6-1886-B59EF8F5D5C1}"/>
              </a:ext>
            </a:extLst>
          </p:cNvPr>
          <p:cNvSpPr txBox="1"/>
          <p:nvPr/>
        </p:nvSpPr>
        <p:spPr>
          <a:xfrm>
            <a:off x="5097923" y="9832"/>
            <a:ext cx="1996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1" dirty="0">
                <a:solidFill>
                  <a:schemeClr val="bg1"/>
                </a:solidFill>
                <a:effectLst/>
                <a:latin typeface="Cooper Black" panose="0208090404030B020404" pitchFamily="18" charset="0"/>
              </a:rPr>
              <a:t>Results</a:t>
            </a:r>
            <a:endParaRPr lang="en-PK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207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649C8085-F8B8-2780-4F06-598DD673A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638" y="1759711"/>
            <a:ext cx="8003458" cy="49514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5E3884-8138-593D-5F8F-8D9A69BD415C}"/>
              </a:ext>
            </a:extLst>
          </p:cNvPr>
          <p:cNvSpPr txBox="1"/>
          <p:nvPr/>
        </p:nvSpPr>
        <p:spPr>
          <a:xfrm>
            <a:off x="5120947" y="9832"/>
            <a:ext cx="1950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1" dirty="0">
                <a:solidFill>
                  <a:schemeClr val="bg1"/>
                </a:solidFill>
                <a:effectLst/>
                <a:latin typeface="Cooper Black" panose="0208090404030B020404" pitchFamily="18" charset="0"/>
              </a:rPr>
              <a:t>Results</a:t>
            </a:r>
            <a:endParaRPr lang="en-PK" sz="3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47FB7-28F3-A78F-A573-BA3E79F42AD6}"/>
              </a:ext>
            </a:extLst>
          </p:cNvPr>
          <p:cNvSpPr txBox="1"/>
          <p:nvPr/>
        </p:nvSpPr>
        <p:spPr>
          <a:xfrm>
            <a:off x="172067" y="1896163"/>
            <a:ext cx="41147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>
                <a:solidFill>
                  <a:schemeClr val="bg1"/>
                </a:solidFill>
              </a:rPr>
              <a:t>ContrastScore with Llama(3B, 1B) exceeds the single Llama 8B by 3.7%.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PK" dirty="0">
                <a:solidFill>
                  <a:schemeClr val="bg1"/>
                </a:solidFill>
              </a:rPr>
              <a:t>ContrastScore with Qwen(3B, 0.5B) outperforms the single Qwen 7B by 5.2%.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D2B17-6008-47D0-8B42-25A4C27A1F9C}"/>
              </a:ext>
            </a:extLst>
          </p:cNvPr>
          <p:cNvSpPr txBox="1"/>
          <p:nvPr/>
        </p:nvSpPr>
        <p:spPr>
          <a:xfrm>
            <a:off x="172067" y="1113380"/>
            <a:ext cx="53782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>
                <a:solidFill>
                  <a:schemeClr val="bg1"/>
                </a:solidFill>
              </a:rPr>
              <a:t>ContrastScore with Llama(8B, 3B) improves correlation by 9.0% over the single Llama 8B.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604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96A201-754D-8976-4300-264B020D3A8D}"/>
              </a:ext>
            </a:extLst>
          </p:cNvPr>
          <p:cNvSpPr txBox="1"/>
          <p:nvPr/>
        </p:nvSpPr>
        <p:spPr>
          <a:xfrm>
            <a:off x="845575" y="1555606"/>
            <a:ext cx="96946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ContrastScore</a:t>
            </a:r>
            <a:r>
              <a:rPr lang="en-US" sz="2800" dirty="0">
                <a:solidFill>
                  <a:schemeClr val="bg1"/>
                </a:solidFill>
              </a:rPr>
              <a:t> consistently outperforms both </a:t>
            </a:r>
            <a:r>
              <a:rPr lang="en-US" sz="2800" b="1" dirty="0">
                <a:solidFill>
                  <a:schemeClr val="bg1"/>
                </a:solidFill>
              </a:rPr>
              <a:t>single-model </a:t>
            </a:r>
            <a:r>
              <a:rPr lang="en-US" sz="2800" dirty="0">
                <a:solidFill>
                  <a:schemeClr val="bg1"/>
                </a:solidFill>
              </a:rPr>
              <a:t>and </a:t>
            </a:r>
            <a:r>
              <a:rPr lang="en-US" sz="2800" b="1" dirty="0">
                <a:solidFill>
                  <a:schemeClr val="bg1"/>
                </a:solidFill>
              </a:rPr>
              <a:t>ensemble </a:t>
            </a:r>
            <a:r>
              <a:rPr lang="en-US" sz="2800" dirty="0">
                <a:solidFill>
                  <a:schemeClr val="bg1"/>
                </a:solidFill>
              </a:rPr>
              <a:t>approaches across diverse settings.</a:t>
            </a:r>
            <a:endParaRPr lang="en-PK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AC640-BFA3-2CC6-4E84-AA1DD2BBB87D}"/>
              </a:ext>
            </a:extLst>
          </p:cNvPr>
          <p:cNvSpPr txBox="1"/>
          <p:nvPr/>
        </p:nvSpPr>
        <p:spPr>
          <a:xfrm>
            <a:off x="845575" y="53308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1" dirty="0">
                <a:solidFill>
                  <a:srgbClr val="FFFF00"/>
                </a:solidFill>
                <a:effectLst/>
                <a:latin typeface="Cooper Black" panose="0208090404030B020404" pitchFamily="18" charset="0"/>
              </a:rPr>
              <a:t>Bottomline</a:t>
            </a:r>
            <a:endParaRPr lang="en-PK" sz="36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45A2A-04C0-7245-7F03-AC9EF843F168}"/>
              </a:ext>
            </a:extLst>
          </p:cNvPr>
          <p:cNvSpPr txBox="1"/>
          <p:nvPr/>
        </p:nvSpPr>
        <p:spPr>
          <a:xfrm>
            <a:off x="983225" y="4281571"/>
            <a:ext cx="10589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D85B"/>
                </a:solidFill>
              </a:rPr>
              <a:t>Accuracy </a:t>
            </a:r>
            <a:r>
              <a:rPr lang="en-PK" sz="3600" dirty="0">
                <a:solidFill>
                  <a:srgbClr val="FFD85B"/>
                </a:solidFill>
              </a:rPr>
              <a:t>↑</a:t>
            </a:r>
            <a:r>
              <a:rPr lang="en-US" sz="3600" dirty="0">
                <a:solidFill>
                  <a:srgbClr val="FFD85B"/>
                </a:solidFill>
              </a:rPr>
              <a:t>		 	Bias ↓			Speed ↑</a:t>
            </a:r>
            <a:endParaRPr lang="en-PK" sz="3600" dirty="0">
              <a:solidFill>
                <a:srgbClr val="FFD8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59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5B7BC5-6743-BFB3-C44E-A384CB0AF9ED}"/>
              </a:ext>
            </a:extLst>
          </p:cNvPr>
          <p:cNvSpPr txBox="1"/>
          <p:nvPr/>
        </p:nvSpPr>
        <p:spPr>
          <a:xfrm>
            <a:off x="4276533" y="84665"/>
            <a:ext cx="3687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1" dirty="0">
                <a:solidFill>
                  <a:schemeClr val="bg1"/>
                </a:solidFill>
                <a:effectLst/>
                <a:latin typeface="Cooper Black" panose="0208090404030B020404" pitchFamily="18" charset="0"/>
              </a:rPr>
              <a:t>Bias Analysis</a:t>
            </a:r>
            <a:endParaRPr lang="en-PK" sz="3600" dirty="0">
              <a:solidFill>
                <a:schemeClr val="bg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CB5606-1F0A-EE9C-4E56-006E78948AC1}"/>
              </a:ext>
            </a:extLst>
          </p:cNvPr>
          <p:cNvGrpSpPr/>
          <p:nvPr/>
        </p:nvGrpSpPr>
        <p:grpSpPr>
          <a:xfrm>
            <a:off x="201060" y="792551"/>
            <a:ext cx="6062085" cy="5846360"/>
            <a:chOff x="201061" y="923356"/>
            <a:chExt cx="6062085" cy="584636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3520B7A-14CA-20A8-A123-94B69F414D12}"/>
                </a:ext>
              </a:extLst>
            </p:cNvPr>
            <p:cNvSpPr txBox="1"/>
            <p:nvPr/>
          </p:nvSpPr>
          <p:spPr>
            <a:xfrm>
              <a:off x="201061" y="4738391"/>
              <a:ext cx="591902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PK" b="1" dirty="0">
                  <a:solidFill>
                    <a:schemeClr val="bg1"/>
                  </a:solidFill>
                </a:rPr>
                <a:t>ContrastScore </a:t>
              </a:r>
              <a:r>
                <a:rPr lang="en-PK" dirty="0">
                  <a:solidFill>
                    <a:schemeClr val="bg1"/>
                  </a:solidFill>
                </a:rPr>
                <a:t>with Llama (8B, 3B) reduces the </a:t>
              </a:r>
              <a:r>
                <a:rPr lang="en-PK" b="1" dirty="0">
                  <a:solidFill>
                    <a:schemeClr val="bg1"/>
                  </a:solidFill>
                </a:rPr>
                <a:t>likelihood bias </a:t>
              </a:r>
              <a:r>
                <a:rPr lang="en-PK" dirty="0">
                  <a:solidFill>
                    <a:schemeClr val="bg1"/>
                  </a:solidFill>
                </a:rPr>
                <a:t>by 37.0% and 61.1% compared to single Llama 8B in </a:t>
              </a:r>
              <a:r>
                <a:rPr lang="en-PK" b="1" dirty="0">
                  <a:solidFill>
                    <a:schemeClr val="bg1"/>
                  </a:solidFill>
                </a:rPr>
                <a:t>summarization </a:t>
              </a:r>
              <a:r>
                <a:rPr lang="en-PK" dirty="0">
                  <a:solidFill>
                    <a:schemeClr val="bg1"/>
                  </a:solidFill>
                </a:rPr>
                <a:t>and machine </a:t>
              </a:r>
              <a:r>
                <a:rPr lang="en-PK" b="1" dirty="0">
                  <a:solidFill>
                    <a:schemeClr val="bg1"/>
                  </a:solidFill>
                </a:rPr>
                <a:t>translation </a:t>
              </a:r>
              <a:r>
                <a:rPr lang="en-PK" dirty="0">
                  <a:solidFill>
                    <a:schemeClr val="bg1"/>
                  </a:solidFill>
                </a:rPr>
                <a:t>task</a:t>
              </a:r>
              <a:endParaRPr lang="en-US" dirty="0">
                <a:solidFill>
                  <a:schemeClr val="bg1"/>
                </a:solidFill>
              </a:endParaRPr>
            </a:p>
            <a:p>
              <a:endParaRPr lang="en-US" dirty="0">
                <a:solidFill>
                  <a:schemeClr val="bg1"/>
                </a:solidFill>
              </a:endParaRPr>
            </a:p>
            <a:p>
              <a:r>
                <a:rPr lang="en-PK" dirty="0">
                  <a:solidFill>
                    <a:schemeClr val="bg1"/>
                  </a:solidFill>
                </a:rPr>
                <a:t>ContrastScore with </a:t>
              </a:r>
              <a:r>
                <a:rPr lang="en-PK" b="1" dirty="0">
                  <a:solidFill>
                    <a:schemeClr val="bg1"/>
                  </a:solidFill>
                </a:rPr>
                <a:t>Qwen </a:t>
              </a:r>
              <a:r>
                <a:rPr lang="en-PK" dirty="0">
                  <a:solidFill>
                    <a:schemeClr val="bg1"/>
                  </a:solidFill>
                </a:rPr>
                <a:t>(7B, 0.5B) results in a </a:t>
              </a:r>
              <a:r>
                <a:rPr lang="en-PK" b="1" dirty="0">
                  <a:solidFill>
                    <a:schemeClr val="bg1"/>
                  </a:solidFill>
                </a:rPr>
                <a:t>reduction </a:t>
              </a:r>
              <a:r>
                <a:rPr lang="en-PK" dirty="0">
                  <a:solidFill>
                    <a:schemeClr val="bg1"/>
                  </a:solidFill>
                </a:rPr>
                <a:t>of 25.6% and 34.8% compared to single Qwen 7B model for the same tasks.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249408-79CB-4955-F857-2D151C82347F}"/>
                </a:ext>
              </a:extLst>
            </p:cNvPr>
            <p:cNvSpPr txBox="1"/>
            <p:nvPr/>
          </p:nvSpPr>
          <p:spPr>
            <a:xfrm>
              <a:off x="344129" y="923356"/>
              <a:ext cx="591901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K" sz="2800" b="1" dirty="0">
                  <a:solidFill>
                    <a:schemeClr val="bg1"/>
                  </a:solidFill>
                </a:rPr>
                <a:t>Likelihood Bias</a:t>
              </a:r>
            </a:p>
          </p:txBody>
        </p:sp>
        <p:pic>
          <p:nvPicPr>
            <p:cNvPr id="30" name="Picture 29" descr="A table with numbers and letters&#10;&#10;AI-generated content may be incorrect.">
              <a:extLst>
                <a:ext uri="{FF2B5EF4-FFF2-40B4-BE49-F238E27FC236}">
                  <a16:creationId xmlns:a16="http://schemas.microsoft.com/office/drawing/2014/main" id="{30396539-F8E7-E9A2-0704-B3665F056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556" y="1577381"/>
              <a:ext cx="5545393" cy="3161010"/>
            </a:xfrm>
            <a:prstGeom prst="rect">
              <a:avLst/>
            </a:prstGeom>
          </p:spPr>
        </p:pic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4F6A167-0FCC-C163-B8CA-EC519D09210B}"/>
              </a:ext>
            </a:extLst>
          </p:cNvPr>
          <p:cNvCxnSpPr>
            <a:cxnSpLocks/>
          </p:cNvCxnSpPr>
          <p:nvPr/>
        </p:nvCxnSpPr>
        <p:spPr>
          <a:xfrm>
            <a:off x="6096000" y="963213"/>
            <a:ext cx="0" cy="589478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761ED7D-8D63-7BD1-AA27-E0BB2167ADD6}"/>
              </a:ext>
            </a:extLst>
          </p:cNvPr>
          <p:cNvGrpSpPr/>
          <p:nvPr/>
        </p:nvGrpSpPr>
        <p:grpSpPr>
          <a:xfrm>
            <a:off x="6322642" y="792551"/>
            <a:ext cx="5835443" cy="5530456"/>
            <a:chOff x="6346723" y="963213"/>
            <a:chExt cx="5835443" cy="553045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F5A770-3A6B-77AB-6E0B-CF9D39DD896F}"/>
                </a:ext>
              </a:extLst>
            </p:cNvPr>
            <p:cNvSpPr txBox="1"/>
            <p:nvPr/>
          </p:nvSpPr>
          <p:spPr>
            <a:xfrm>
              <a:off x="6346723" y="963213"/>
              <a:ext cx="583544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Length Bias</a:t>
              </a:r>
              <a:endParaRPr lang="en-PK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37" name="Picture 36" descr="A table with numbers and a few black text&#10;&#10;AI-generated content may be incorrect.">
              <a:extLst>
                <a:ext uri="{FF2B5EF4-FFF2-40B4-BE49-F238E27FC236}">
                  <a16:creationId xmlns:a16="http://schemas.microsoft.com/office/drawing/2014/main" id="{436F79AA-5E12-07C9-47AC-C856C94C4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6723" y="1577381"/>
              <a:ext cx="5644217" cy="334801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9A63D1-29A2-CBF0-4633-0154F9C749CD}"/>
                </a:ext>
              </a:extLst>
            </p:cNvPr>
            <p:cNvSpPr txBox="1"/>
            <p:nvPr/>
          </p:nvSpPr>
          <p:spPr>
            <a:xfrm>
              <a:off x="6346723" y="5016341"/>
              <a:ext cx="5644216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PK" dirty="0">
                  <a:solidFill>
                    <a:schemeClr val="bg1"/>
                  </a:solidFill>
                </a:rPr>
                <a:t>Notably, ContrastScore with </a:t>
              </a:r>
              <a:r>
                <a:rPr lang="en-PK" b="1" dirty="0">
                  <a:solidFill>
                    <a:schemeClr val="bg1"/>
                  </a:solidFill>
                </a:rPr>
                <a:t>Llama </a:t>
              </a:r>
              <a:r>
                <a:rPr lang="en-PK" dirty="0">
                  <a:solidFill>
                    <a:schemeClr val="bg1"/>
                  </a:solidFill>
                </a:rPr>
                <a:t>(3B,1B) lowers the bias score from 0.289 to 0.086.</a:t>
              </a:r>
              <a:endParaRPr lang="en-US" dirty="0">
                <a:solidFill>
                  <a:schemeClr val="bg1"/>
                </a:solidFill>
              </a:endParaRPr>
            </a:p>
            <a:p>
              <a:endParaRPr lang="en-US" dirty="0">
                <a:solidFill>
                  <a:schemeClr val="bg1"/>
                </a:solidFill>
              </a:endParaRPr>
            </a:p>
            <a:p>
              <a:r>
                <a:rPr lang="en-PK" b="1" dirty="0">
                  <a:solidFill>
                    <a:schemeClr val="bg1"/>
                  </a:solidFill>
                </a:rPr>
                <a:t>Qwen </a:t>
              </a:r>
              <a:r>
                <a:rPr lang="en-PK" dirty="0">
                  <a:solidFill>
                    <a:schemeClr val="bg1"/>
                  </a:solidFill>
                </a:rPr>
                <a:t>(3B,0.5B), ContrastScore reduces the bias score from 0.349 to 0.253.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1517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67D572-F469-9EA9-DBBC-C74BAAD63ACE}"/>
              </a:ext>
            </a:extLst>
          </p:cNvPr>
          <p:cNvSpPr txBox="1"/>
          <p:nvPr/>
        </p:nvSpPr>
        <p:spPr>
          <a:xfrm>
            <a:off x="4758290" y="80805"/>
            <a:ext cx="2861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3600" b="1" dirty="0">
                <a:solidFill>
                  <a:schemeClr val="bg1"/>
                </a:solidFill>
                <a:latin typeface="DeepSeek-CJK-patch"/>
              </a:rPr>
              <a:t>Other Metrics</a:t>
            </a:r>
          </a:p>
        </p:txBody>
      </p:sp>
      <p:pic>
        <p:nvPicPr>
          <p:cNvPr id="5" name="Picture 4" descr="A comparison of different colored bars&#10;&#10;AI-generated content may be incorrect.">
            <a:extLst>
              <a:ext uri="{FF2B5EF4-FFF2-40B4-BE49-F238E27FC236}">
                <a16:creationId xmlns:a16="http://schemas.microsoft.com/office/drawing/2014/main" id="{4CE38489-DC5F-5A5B-EBB6-FC04E1031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6" y="2067621"/>
            <a:ext cx="6144723" cy="3533216"/>
          </a:xfrm>
          <a:prstGeom prst="rect">
            <a:avLst/>
          </a:prstGeom>
        </p:spPr>
      </p:pic>
      <p:pic>
        <p:nvPicPr>
          <p:cNvPr id="7" name="Picture 6" descr="A table with numbers and a number of numbers&#10;&#10;AI-generated content may be incorrect.">
            <a:extLst>
              <a:ext uri="{FF2B5EF4-FFF2-40B4-BE49-F238E27FC236}">
                <a16:creationId xmlns:a16="http://schemas.microsoft.com/office/drawing/2014/main" id="{8E55E725-A05A-F2E1-19EC-77097E7F3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572" y="2205934"/>
            <a:ext cx="5493694" cy="326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0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602760-7DB9-00FF-0FD6-E05A68E1887B}"/>
              </a:ext>
            </a:extLst>
          </p:cNvPr>
          <p:cNvSpPr txBox="1"/>
          <p:nvPr/>
        </p:nvSpPr>
        <p:spPr>
          <a:xfrm>
            <a:off x="3903406" y="147173"/>
            <a:ext cx="4385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3600" b="1" dirty="0">
                <a:solidFill>
                  <a:schemeClr val="bg1"/>
                </a:solidFill>
              </a:rPr>
              <a:t>Weighted Ensemble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01324-3EEE-C7BC-1E16-F3529E79A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839" y="1452322"/>
            <a:ext cx="8699401" cy="12908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5D4FB9-4A22-14A0-620C-04E921E82446}"/>
              </a:ext>
            </a:extLst>
          </p:cNvPr>
          <p:cNvSpPr txBox="1"/>
          <p:nvPr/>
        </p:nvSpPr>
        <p:spPr>
          <a:xfrm>
            <a:off x="137652" y="1029535"/>
            <a:ext cx="102255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>
                <a:solidFill>
                  <a:schemeClr val="bg1"/>
                </a:solidFill>
              </a:rPr>
              <a:t>Refers to averaging the probabilities of  next token that is predicted by both the expert and amateur model.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PK" dirty="0">
                <a:solidFill>
                  <a:schemeClr val="bg1"/>
                </a:solidFill>
              </a:rPr>
              <a:t>Conduct a parameter sweep on the summarization task using Llama3.2 (3B, 1B), varying γ from 0 to 1 with a step size of 0.05.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PK" dirty="0">
                <a:solidFill>
                  <a:schemeClr val="bg1"/>
                </a:solidFill>
              </a:rPr>
              <a:t>Achieves its highest performance at γ = 0.55, with an average correlation of 0.4694.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PK" dirty="0">
                <a:solidFill>
                  <a:schemeClr val="bg1"/>
                </a:solidFill>
              </a:rPr>
              <a:t>More importantly, ContrastScore (0.474) outperforms the optimal setting of weighted </a:t>
            </a:r>
            <a:r>
              <a:rPr lang="en-PK" dirty="0" err="1">
                <a:solidFill>
                  <a:schemeClr val="bg1"/>
                </a:solidFill>
              </a:rPr>
              <a:t>ensembling</a:t>
            </a:r>
            <a:r>
              <a:rPr lang="en-PK" dirty="0">
                <a:solidFill>
                  <a:schemeClr val="bg1"/>
                </a:solidFill>
              </a:rPr>
              <a:t> (0.469) in correlation.</a:t>
            </a:r>
          </a:p>
        </p:txBody>
      </p:sp>
    </p:spTree>
    <p:extLst>
      <p:ext uri="{BB962C8B-B14F-4D97-AF65-F5344CB8AC3E}">
        <p14:creationId xmlns:p14="http://schemas.microsoft.com/office/powerpoint/2010/main" val="278922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87FF2A-F637-7D05-7126-B68880749B6D}"/>
              </a:ext>
            </a:extLst>
          </p:cNvPr>
          <p:cNvSpPr txBox="1"/>
          <p:nvPr/>
        </p:nvSpPr>
        <p:spPr>
          <a:xfrm>
            <a:off x="3913238" y="149631"/>
            <a:ext cx="4365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3600" b="1" dirty="0">
                <a:solidFill>
                  <a:schemeClr val="bg1"/>
                </a:solidFill>
              </a:rPr>
              <a:t>Qualitative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B3678-4024-6771-FF75-FB7A5BBA29AA}"/>
              </a:ext>
            </a:extLst>
          </p:cNvPr>
          <p:cNvSpPr txBox="1"/>
          <p:nvPr/>
        </p:nvSpPr>
        <p:spPr>
          <a:xfrm>
            <a:off x="462115" y="795962"/>
            <a:ext cx="8327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ca</a:t>
            </a:r>
            <a:r>
              <a:rPr lang="en-PK" sz="2800" b="1" dirty="0">
                <a:solidFill>
                  <a:srgbClr val="FFFF00"/>
                </a:solidFill>
              </a:rPr>
              <a:t>se study</a:t>
            </a:r>
            <a:r>
              <a:rPr lang="en-US" sz="2800" b="1" dirty="0">
                <a:solidFill>
                  <a:srgbClr val="FFFF00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(Machine Translation)</a:t>
            </a:r>
            <a:endParaRPr lang="en-PK" sz="28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5CD98-9209-951B-15F6-3B67E46DD31D}"/>
              </a:ext>
            </a:extLst>
          </p:cNvPr>
          <p:cNvSpPr txBox="1"/>
          <p:nvPr/>
        </p:nvSpPr>
        <p:spPr>
          <a:xfrm>
            <a:off x="462115" y="1319182"/>
            <a:ext cx="3559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PK" dirty="0" err="1">
                <a:solidFill>
                  <a:schemeClr val="bg1"/>
                </a:solidFill>
              </a:rPr>
              <a:t>entence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PK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“</a:t>
            </a:r>
            <a:r>
              <a:rPr lang="en-PK" dirty="0" err="1">
                <a:solidFill>
                  <a:schemeClr val="bg1"/>
                </a:solidFill>
              </a:rPr>
              <a:t>产品防伪标识在哪里</a:t>
            </a:r>
            <a:r>
              <a:rPr lang="en-US" dirty="0">
                <a:solidFill>
                  <a:schemeClr val="bg1"/>
                </a:solidFill>
              </a:rPr>
              <a:t>”</a:t>
            </a:r>
            <a:r>
              <a:rPr lang="en-PK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745970-6C54-11D2-9CF2-FF41662B6777}"/>
              </a:ext>
            </a:extLst>
          </p:cNvPr>
          <p:cNvCxnSpPr>
            <a:cxnSpLocks/>
          </p:cNvCxnSpPr>
          <p:nvPr/>
        </p:nvCxnSpPr>
        <p:spPr>
          <a:xfrm flipV="1">
            <a:off x="4188542" y="1508033"/>
            <a:ext cx="2880852" cy="1032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04A58D-3FE2-3DD5-75F0-5496A8A3CBEE}"/>
              </a:ext>
            </a:extLst>
          </p:cNvPr>
          <p:cNvSpPr txBox="1"/>
          <p:nvPr/>
        </p:nvSpPr>
        <p:spPr>
          <a:xfrm>
            <a:off x="7236542" y="13191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“Where is the product anti-counterfeit label?”</a:t>
            </a:r>
            <a:endParaRPr lang="en-PK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481B4D-9E9C-591D-82D0-CEA742FE0A1B}"/>
              </a:ext>
            </a:extLst>
          </p:cNvPr>
          <p:cNvGrpSpPr/>
          <p:nvPr/>
        </p:nvGrpSpPr>
        <p:grpSpPr>
          <a:xfrm>
            <a:off x="462115" y="2055376"/>
            <a:ext cx="6666270" cy="1838424"/>
            <a:chOff x="462115" y="2055376"/>
            <a:chExt cx="6666270" cy="183842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CFEE976-28AF-5399-6A4B-143E32086F83}"/>
                </a:ext>
              </a:extLst>
            </p:cNvPr>
            <p:cNvSpPr txBox="1"/>
            <p:nvPr/>
          </p:nvSpPr>
          <p:spPr>
            <a:xfrm>
              <a:off x="462115" y="2410203"/>
              <a:ext cx="666627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PK" dirty="0">
                  <a:solidFill>
                    <a:schemeClr val="bg1"/>
                  </a:solidFill>
                </a:rPr>
                <a:t>expert model mis</a:t>
              </a:r>
              <a:r>
                <a:rPr lang="en-US" dirty="0">
                  <a:solidFill>
                    <a:schemeClr val="bg1"/>
                  </a:solidFill>
                </a:rPr>
                <a:t>-</a:t>
              </a:r>
              <a:r>
                <a:rPr lang="en-PK" dirty="0">
                  <a:solidFill>
                    <a:schemeClr val="bg1"/>
                  </a:solidFill>
                </a:rPr>
                <a:t>ranked Hypothesis 1 as the </a:t>
              </a:r>
              <a:r>
                <a:rPr lang="en-US" dirty="0">
                  <a:solidFill>
                    <a:schemeClr val="bg1"/>
                  </a:solidFill>
                </a:rPr>
                <a:t>“</a:t>
              </a:r>
              <a:r>
                <a:rPr lang="en-PK" b="1" dirty="0">
                  <a:solidFill>
                    <a:schemeClr val="bg1"/>
                  </a:solidFill>
                </a:rPr>
                <a:t>second-best translation</a:t>
              </a:r>
              <a:r>
                <a:rPr lang="en-US" dirty="0">
                  <a:solidFill>
                    <a:schemeClr val="bg1"/>
                  </a:solidFill>
                </a:rPr>
                <a:t>”</a:t>
              </a:r>
              <a:r>
                <a:rPr lang="en-PK" dirty="0">
                  <a:solidFill>
                    <a:schemeClr val="bg1"/>
                  </a:solidFill>
                </a:rPr>
                <a:t> </a:t>
              </a:r>
              <a:r>
                <a:rPr lang="en-US" dirty="0">
                  <a:solidFill>
                    <a:schemeClr val="bg1"/>
                  </a:solidFill>
                </a:rPr>
                <a:t>,</a:t>
              </a:r>
            </a:p>
            <a:p>
              <a:r>
                <a:rPr lang="en-PK" dirty="0">
                  <a:solidFill>
                    <a:schemeClr val="bg1"/>
                  </a:solidFill>
                </a:rPr>
                <a:t>whereas human evaluators rank it 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1E631F-305E-67D6-87E7-C25993B14A09}"/>
                </a:ext>
              </a:extLst>
            </p:cNvPr>
            <p:cNvSpPr txBox="1"/>
            <p:nvPr/>
          </p:nvSpPr>
          <p:spPr>
            <a:xfrm>
              <a:off x="462115" y="2055376"/>
              <a:ext cx="666627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FFFF00"/>
                  </a:solidFill>
                </a:rPr>
                <a:t>Results:</a:t>
              </a:r>
              <a:endParaRPr lang="en-PK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ED7FAA-E380-4D41-66B6-3335D5D73D9D}"/>
                </a:ext>
              </a:extLst>
            </p:cNvPr>
            <p:cNvSpPr txBox="1"/>
            <p:nvPr/>
          </p:nvSpPr>
          <p:spPr>
            <a:xfrm>
              <a:off x="462115" y="3524468"/>
              <a:ext cx="66662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PK" dirty="0">
                  <a:solidFill>
                    <a:schemeClr val="bg1"/>
                  </a:solidFill>
                </a:rPr>
                <a:t>expert model assigning a very low probability (0.000457) to “logo”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DCFA90-BF45-3EAB-010B-542833BD7E36}"/>
              </a:ext>
            </a:extLst>
          </p:cNvPr>
          <p:cNvGrpSpPr/>
          <p:nvPr/>
        </p:nvGrpSpPr>
        <p:grpSpPr>
          <a:xfrm>
            <a:off x="462115" y="4084735"/>
            <a:ext cx="6666270" cy="1906051"/>
            <a:chOff x="462115" y="4084735"/>
            <a:chExt cx="6666270" cy="19060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70EE31-96B3-19C0-2F2D-252455B9F5D5}"/>
                </a:ext>
              </a:extLst>
            </p:cNvPr>
            <p:cNvSpPr txBox="1"/>
            <p:nvPr/>
          </p:nvSpPr>
          <p:spPr>
            <a:xfrm>
              <a:off x="462115" y="4084735"/>
              <a:ext cx="666627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FFFF00"/>
                  </a:solidFill>
                </a:rPr>
                <a:t>In Contrast:</a:t>
              </a:r>
              <a:endParaRPr lang="en-PK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3983BE5-7647-3A9E-0649-88AE0DB3E34D}"/>
                </a:ext>
              </a:extLst>
            </p:cNvPr>
            <p:cNvSpPr txBox="1"/>
            <p:nvPr/>
          </p:nvSpPr>
          <p:spPr>
            <a:xfrm>
              <a:off x="462115" y="4513458"/>
              <a:ext cx="666627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The </a:t>
              </a:r>
              <a:r>
                <a:rPr lang="en-US" b="1" dirty="0">
                  <a:solidFill>
                    <a:schemeClr val="bg1"/>
                  </a:solidFill>
                </a:rPr>
                <a:t>Amateur</a:t>
              </a:r>
              <a:r>
                <a:rPr lang="en-PK" b="1" dirty="0">
                  <a:solidFill>
                    <a:schemeClr val="bg1"/>
                  </a:solidFill>
                </a:rPr>
                <a:t> </a:t>
              </a:r>
              <a:r>
                <a:rPr lang="en-PK" dirty="0">
                  <a:solidFill>
                    <a:schemeClr val="bg1"/>
                  </a:solidFill>
                </a:rPr>
                <a:t>model assigned a significantly higher probability (0.06592) to “</a:t>
              </a:r>
              <a:r>
                <a:rPr lang="en-PK" b="1" dirty="0">
                  <a:solidFill>
                    <a:schemeClr val="bg1"/>
                  </a:solidFill>
                </a:rPr>
                <a:t>logo</a:t>
              </a:r>
              <a:r>
                <a:rPr lang="en-PK" dirty="0">
                  <a:solidFill>
                    <a:schemeClr val="bg1"/>
                  </a:solidFill>
                </a:rPr>
                <a:t>”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PK" b="1" dirty="0">
                  <a:solidFill>
                    <a:schemeClr val="bg1"/>
                  </a:solidFill>
                </a:rPr>
                <a:t>ContrastScore </a:t>
              </a:r>
              <a:r>
                <a:rPr lang="en-PK" dirty="0">
                  <a:solidFill>
                    <a:schemeClr val="bg1"/>
                  </a:solidFill>
                </a:rPr>
                <a:t>leveraged this probability discrepancy to adjust the probability of “</a:t>
              </a:r>
              <a:r>
                <a:rPr lang="en-PK" b="1" dirty="0">
                  <a:solidFill>
                    <a:schemeClr val="bg1"/>
                  </a:solidFill>
                </a:rPr>
                <a:t>logo</a:t>
              </a:r>
              <a:r>
                <a:rPr lang="en-PK" dirty="0">
                  <a:solidFill>
                    <a:schemeClr val="bg1"/>
                  </a:solidFill>
                </a:rPr>
                <a:t>”, increasing the overall score of Hypothesis 1</a:t>
              </a:r>
              <a:r>
                <a:rPr lang="en-US" dirty="0">
                  <a:solidFill>
                    <a:schemeClr val="bg1"/>
                  </a:solidFill>
                </a:rPr>
                <a:t>.</a:t>
              </a:r>
              <a:endParaRPr lang="en-PK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591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F3DA8-A857-DFB9-D5B8-A9A96824533D}"/>
              </a:ext>
            </a:extLst>
          </p:cNvPr>
          <p:cNvSpPr txBox="1"/>
          <p:nvPr/>
        </p:nvSpPr>
        <p:spPr>
          <a:xfrm>
            <a:off x="655655" y="1799884"/>
            <a:ext cx="70212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 dirty="0">
                <a:solidFill>
                  <a:srgbClr val="FFFF00"/>
                </a:solidFill>
                <a:latin typeface="Cooper Black" panose="0208090404030B020404" pitchFamily="18" charset="0"/>
              </a:rPr>
              <a:t>RECAP &amp; Conclusion…</a:t>
            </a:r>
            <a:endParaRPr lang="en-PK" sz="4400" dirty="0">
              <a:solidFill>
                <a:srgbClr val="FFFF00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445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DC4B67-CED9-2D08-5FFF-0269C6BA6C7D}"/>
              </a:ext>
            </a:extLst>
          </p:cNvPr>
          <p:cNvSpPr txBox="1"/>
          <p:nvPr/>
        </p:nvSpPr>
        <p:spPr>
          <a:xfrm>
            <a:off x="402466" y="20414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1" dirty="0">
                <a:solidFill>
                  <a:srgbClr val="FF0000"/>
                </a:solidFill>
                <a:effectLst/>
                <a:latin typeface="Cooper Black" panose="0208090404030B020404" pitchFamily="18" charset="0"/>
              </a:rPr>
              <a:t>PROBLEM?</a:t>
            </a:r>
            <a:endParaRPr lang="en-PK" sz="36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9216B-9138-FAE2-25D9-74DC35C48638}"/>
              </a:ext>
            </a:extLst>
          </p:cNvPr>
          <p:cNvSpPr txBox="1"/>
          <p:nvPr/>
        </p:nvSpPr>
        <p:spPr>
          <a:xfrm>
            <a:off x="402466" y="2616628"/>
            <a:ext cx="96356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DeepSeek-CJK-patch"/>
              </a:rPr>
              <a:t>while training, we need METRICS to automatically VALIDATE if the generated text is HIGH QUALITY!</a:t>
            </a:r>
            <a:endParaRPr lang="en-PK" sz="2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5E510C-2D7B-22EA-372B-5E5E2C241D30}"/>
              </a:ext>
            </a:extLst>
          </p:cNvPr>
          <p:cNvGrpSpPr/>
          <p:nvPr/>
        </p:nvGrpSpPr>
        <p:grpSpPr>
          <a:xfrm>
            <a:off x="402466" y="424154"/>
            <a:ext cx="10316333" cy="1123384"/>
            <a:chOff x="402466" y="424154"/>
            <a:chExt cx="10316333" cy="1123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31DE45-9520-5D49-84BB-4B99ED20CCA8}"/>
                </a:ext>
              </a:extLst>
            </p:cNvPr>
            <p:cNvSpPr txBox="1"/>
            <p:nvPr/>
          </p:nvSpPr>
          <p:spPr>
            <a:xfrm>
              <a:off x="402466" y="1024318"/>
              <a:ext cx="1031633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0" i="1" dirty="0">
                  <a:solidFill>
                    <a:schemeClr val="bg1"/>
                  </a:solidFill>
                  <a:effectLst/>
                  <a:latin typeface="DeepSeek-CJK-patch"/>
                </a:rPr>
                <a:t>We want Ai models that generate </a:t>
              </a:r>
              <a:r>
                <a:rPr lang="en-US" sz="2800" b="0" i="1" dirty="0">
                  <a:solidFill>
                    <a:srgbClr val="FFFF00"/>
                  </a:solidFill>
                  <a:effectLst/>
                  <a:latin typeface="DeepSeek-CJK-patch"/>
                </a:rPr>
                <a:t>higher quality answers</a:t>
              </a:r>
              <a:r>
                <a:rPr lang="en-US" sz="2800" b="0" i="1" dirty="0">
                  <a:solidFill>
                    <a:schemeClr val="bg1"/>
                  </a:solidFill>
                  <a:effectLst/>
                  <a:latin typeface="DeepSeek-CJK-patch"/>
                </a:rPr>
                <a:t>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19C1E7-618C-1F6D-B4B5-BEE63DA6D7BB}"/>
                </a:ext>
              </a:extLst>
            </p:cNvPr>
            <p:cNvSpPr txBox="1"/>
            <p:nvPr/>
          </p:nvSpPr>
          <p:spPr>
            <a:xfrm>
              <a:off x="402466" y="424154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Cooper Black" panose="0208090404030B020404" pitchFamily="18" charset="0"/>
                </a:rPr>
                <a:t>GOAL? 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E050B0F-11A6-D54C-7C34-A83D631A93EA}"/>
              </a:ext>
            </a:extLst>
          </p:cNvPr>
          <p:cNvSpPr txBox="1"/>
          <p:nvPr/>
        </p:nvSpPr>
        <p:spPr>
          <a:xfrm>
            <a:off x="254000" y="403966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WHAT NOT WORKS?</a:t>
            </a:r>
            <a:endParaRPr lang="en-PK" sz="2800" dirty="0">
              <a:solidFill>
                <a:schemeClr val="bg2"/>
              </a:solidFill>
              <a:latin typeface="Cooper Black" panose="0208090404030B0204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5A0DC1-19A3-E246-84A7-33E754D3292B}"/>
              </a:ext>
            </a:extLst>
          </p:cNvPr>
          <p:cNvCxnSpPr>
            <a:cxnSpLocks/>
          </p:cNvCxnSpPr>
          <p:nvPr/>
        </p:nvCxnSpPr>
        <p:spPr>
          <a:xfrm>
            <a:off x="6634480" y="4757707"/>
            <a:ext cx="843280" cy="0"/>
          </a:xfrm>
          <a:prstGeom prst="line">
            <a:avLst/>
          </a:prstGeom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422508-41EE-54C0-F431-61F3EB17C4B9}"/>
              </a:ext>
            </a:extLst>
          </p:cNvPr>
          <p:cNvSpPr txBox="1"/>
          <p:nvPr/>
        </p:nvSpPr>
        <p:spPr>
          <a:xfrm>
            <a:off x="7569200" y="403966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Why?</a:t>
            </a:r>
            <a:endParaRPr lang="en-PK" sz="2800" dirty="0">
              <a:solidFill>
                <a:schemeClr val="bg2"/>
              </a:solidFill>
              <a:latin typeface="Cooper Black" panose="0208090404030B0204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A18A9-7073-7FE7-68D2-6668F8DB0BC1}"/>
              </a:ext>
            </a:extLst>
          </p:cNvPr>
          <p:cNvSpPr txBox="1"/>
          <p:nvPr/>
        </p:nvSpPr>
        <p:spPr>
          <a:xfrm>
            <a:off x="357892" y="4562881"/>
            <a:ext cx="6754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comparing RESPONSES with Human generated reference text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33A251-88BF-E51D-9FD2-CCEFCCA0D61C}"/>
              </a:ext>
            </a:extLst>
          </p:cNvPr>
          <p:cNvSpPr txBox="1"/>
          <p:nvPr/>
        </p:nvSpPr>
        <p:spPr>
          <a:xfrm>
            <a:off x="7569200" y="4562881"/>
            <a:ext cx="477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single true right response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9E062A-A06B-FCF1-EBF4-A9159273D3AF}"/>
              </a:ext>
            </a:extLst>
          </p:cNvPr>
          <p:cNvSpPr txBox="1"/>
          <p:nvPr/>
        </p:nvSpPr>
        <p:spPr>
          <a:xfrm>
            <a:off x="357892" y="5031807"/>
            <a:ext cx="683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Big LLM’s (ChatGPT, DeepSeek) for Quality Validation</a:t>
            </a:r>
            <a:endParaRPr lang="en-PK" dirty="0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0E9925E-FA92-939B-C399-804DB8916227}"/>
              </a:ext>
            </a:extLst>
          </p:cNvPr>
          <p:cNvCxnSpPr>
            <a:cxnSpLocks/>
          </p:cNvCxnSpPr>
          <p:nvPr/>
        </p:nvCxnSpPr>
        <p:spPr>
          <a:xfrm>
            <a:off x="6197600" y="5216473"/>
            <a:ext cx="1280160" cy="0"/>
          </a:xfrm>
          <a:prstGeom prst="line">
            <a:avLst/>
          </a:prstGeom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0AB7399-DA29-FC50-BA85-C1E24B44809F}"/>
              </a:ext>
            </a:extLst>
          </p:cNvPr>
          <p:cNvSpPr txBox="1"/>
          <p:nvPr/>
        </p:nvSpPr>
        <p:spPr>
          <a:xfrm>
            <a:off x="7569200" y="5031807"/>
            <a:ext cx="683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Big LLM’s are </a:t>
            </a:r>
            <a:r>
              <a:rPr lang="en-US" dirty="0">
                <a:solidFill>
                  <a:srgbClr val="FFC000"/>
                </a:solidFill>
              </a:rPr>
              <a:t>Biased</a:t>
            </a:r>
            <a:r>
              <a:rPr lang="en-US" dirty="0">
                <a:solidFill>
                  <a:schemeClr val="bg1"/>
                </a:solidFill>
              </a:rPr>
              <a:t> and VERY expensive</a:t>
            </a:r>
            <a:endParaRPr lang="en-PK" dirty="0">
              <a:solidFill>
                <a:schemeClr val="bg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03ACADD-95B8-7249-9E9B-9DA6FD956F15}"/>
              </a:ext>
            </a:extLst>
          </p:cNvPr>
          <p:cNvCxnSpPr>
            <a:cxnSpLocks/>
          </p:cNvCxnSpPr>
          <p:nvPr/>
        </p:nvCxnSpPr>
        <p:spPr>
          <a:xfrm>
            <a:off x="9347200" y="5401139"/>
            <a:ext cx="508000" cy="38566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64D668B-F8A4-5C79-49E6-AD8A0D0C5076}"/>
              </a:ext>
            </a:extLst>
          </p:cNvPr>
          <p:cNvSpPr txBox="1"/>
          <p:nvPr/>
        </p:nvSpPr>
        <p:spPr>
          <a:xfrm>
            <a:off x="9438640" y="5770471"/>
            <a:ext cx="3093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Means </a:t>
            </a:r>
            <a:r>
              <a:rPr lang="en-US" dirty="0">
                <a:solidFill>
                  <a:srgbClr val="FFC000"/>
                </a:solidFill>
              </a:rPr>
              <a:t>they favor longer responses, hallucinate, misunderstand context</a:t>
            </a:r>
            <a:endParaRPr lang="en-PK" dirty="0">
              <a:solidFill>
                <a:srgbClr val="FFC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CB29FD-45F4-B3AF-CB7C-CDA65CECFD1D}"/>
              </a:ext>
            </a:extLst>
          </p:cNvPr>
          <p:cNvSpPr txBox="1"/>
          <p:nvPr/>
        </p:nvSpPr>
        <p:spPr>
          <a:xfrm>
            <a:off x="402466" y="6170579"/>
            <a:ext cx="40882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Then what else can we do?</a:t>
            </a:r>
            <a:endParaRPr lang="en-PK" sz="2000" dirty="0">
              <a:solidFill>
                <a:schemeClr val="bg2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964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4B96C6-A90E-5CC9-3C7C-A7BD06E8060D}"/>
              </a:ext>
            </a:extLst>
          </p:cNvPr>
          <p:cNvSpPr txBox="1"/>
          <p:nvPr/>
        </p:nvSpPr>
        <p:spPr>
          <a:xfrm>
            <a:off x="432946" y="369218"/>
            <a:ext cx="6292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Then </a:t>
            </a:r>
            <a:r>
              <a:rPr lang="en-US" sz="36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what</a:t>
            </a:r>
            <a:r>
              <a:rPr lang="en-US" sz="32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 else can we do?</a:t>
            </a:r>
            <a:endParaRPr lang="en-PK" sz="3200" dirty="0">
              <a:solidFill>
                <a:schemeClr val="bg2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3DFF5-A106-5BD6-26A7-6C09AD9FB795}"/>
              </a:ext>
            </a:extLst>
          </p:cNvPr>
          <p:cNvSpPr txBox="1"/>
          <p:nvPr/>
        </p:nvSpPr>
        <p:spPr>
          <a:xfrm>
            <a:off x="6528946" y="1164272"/>
            <a:ext cx="55208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Use </a:t>
            </a:r>
            <a:r>
              <a:rPr lang="en-US" sz="2800" b="1" dirty="0">
                <a:solidFill>
                  <a:schemeClr val="bg1"/>
                </a:solidFill>
              </a:rPr>
              <a:t>ensembles</a:t>
            </a:r>
            <a:r>
              <a:rPr lang="en-US" sz="2800" dirty="0">
                <a:solidFill>
                  <a:schemeClr val="bg1"/>
                </a:solidFill>
              </a:rPr>
              <a:t> (combine outputs from multiple models).</a:t>
            </a:r>
            <a:endParaRPr lang="en-PK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FEDB69-B77B-0B76-F5F3-D0E6B6721A7E}"/>
              </a:ext>
            </a:extLst>
          </p:cNvPr>
          <p:cNvSpPr txBox="1"/>
          <p:nvPr/>
        </p:nvSpPr>
        <p:spPr>
          <a:xfrm>
            <a:off x="432946" y="116427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/>
            <a:r>
              <a:rPr lang="en-US" sz="2800" b="0" i="1" kern="1200" dirty="0">
                <a:solidFill>
                  <a:srgbClr val="E8E8E8"/>
                </a:solidFill>
                <a:effectLst/>
                <a:latin typeface="+mj-lt"/>
                <a:ea typeface="+mn-ea"/>
                <a:cs typeface="+mn-cs"/>
              </a:rPr>
              <a:t>How can we overcome </a:t>
            </a:r>
            <a:r>
              <a:rPr lang="en-US" sz="2800" b="0" i="1" kern="1200" dirty="0">
                <a:solidFill>
                  <a:srgbClr val="FF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biasness?</a:t>
            </a:r>
            <a:endParaRPr lang="en-PK" sz="2800" dirty="0">
              <a:effectLst/>
              <a:latin typeface="+mj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987493-BE5F-E7A1-8253-A684556428B5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5547360" y="1425882"/>
            <a:ext cx="981586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077BBD-5EF3-DB12-67CE-7847706C3D14}"/>
              </a:ext>
            </a:extLst>
          </p:cNvPr>
          <p:cNvSpPr txBox="1"/>
          <p:nvPr/>
        </p:nvSpPr>
        <p:spPr>
          <a:xfrm>
            <a:off x="6965826" y="2929562"/>
            <a:ext cx="4718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/>
            <a:r>
              <a:rPr lang="en-US" sz="2800" b="0" i="1" kern="1200" dirty="0">
                <a:solidFill>
                  <a:srgbClr val="E8E8E8"/>
                </a:solidFill>
                <a:effectLst/>
                <a:latin typeface="+mj-lt"/>
                <a:ea typeface="+mn-ea"/>
                <a:cs typeface="+mn-cs"/>
              </a:rPr>
              <a:t>But what about expense?</a:t>
            </a:r>
            <a:endParaRPr lang="en-PK" sz="2800" dirty="0">
              <a:effectLst/>
              <a:latin typeface="+mj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EDF770-5CA7-D16F-643D-FA129C7E1E5B}"/>
              </a:ext>
            </a:extLst>
          </p:cNvPr>
          <p:cNvCxnSpPr>
            <a:cxnSpLocks/>
          </p:cNvCxnSpPr>
          <p:nvPr/>
        </p:nvCxnSpPr>
        <p:spPr>
          <a:xfrm>
            <a:off x="8402320" y="2142181"/>
            <a:ext cx="0" cy="763579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DCDAA4C-C872-9123-A736-D46CB53F8D39}"/>
              </a:ext>
            </a:extLst>
          </p:cNvPr>
          <p:cNvSpPr txBox="1"/>
          <p:nvPr/>
        </p:nvSpPr>
        <p:spPr>
          <a:xfrm>
            <a:off x="6770818" y="4572039"/>
            <a:ext cx="49131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rtl="0" eaLnBrk="1" latinLnBrk="0" hangingPunct="1"/>
            <a:r>
              <a:rPr lang="en-US" sz="2000" dirty="0">
                <a:solidFill>
                  <a:schemeClr val="bg1"/>
                </a:solidFill>
              </a:rPr>
              <a:t>We reduce it drastically by comparing the results of a </a:t>
            </a:r>
            <a:r>
              <a:rPr lang="en-US" sz="2000" b="1" dirty="0">
                <a:solidFill>
                  <a:schemeClr val="bg1"/>
                </a:solidFill>
              </a:rPr>
              <a:t>strong model</a:t>
            </a:r>
            <a:r>
              <a:rPr lang="en-US" sz="2000" dirty="0">
                <a:solidFill>
                  <a:schemeClr val="bg1"/>
                </a:solidFill>
              </a:rPr>
              <a:t> (expert) and a </a:t>
            </a:r>
            <a:r>
              <a:rPr lang="en-US" sz="2000" b="1" dirty="0">
                <a:solidFill>
                  <a:schemeClr val="bg1"/>
                </a:solidFill>
              </a:rPr>
              <a:t>weaker model </a:t>
            </a:r>
            <a:r>
              <a:rPr lang="en-US" sz="2000" dirty="0">
                <a:solidFill>
                  <a:schemeClr val="bg1"/>
                </a:solidFill>
              </a:rPr>
              <a:t>(amateur), </a:t>
            </a:r>
            <a:r>
              <a:rPr lang="en-US" sz="2000" dirty="0">
                <a:solidFill>
                  <a:srgbClr val="FFFF00"/>
                </a:solidFill>
              </a:rPr>
              <a:t>using their disagreement to score text.</a:t>
            </a:r>
            <a:endParaRPr lang="en-PK" sz="2000" dirty="0">
              <a:solidFill>
                <a:srgbClr val="FFFF00"/>
              </a:solidFill>
              <a:effectLst/>
              <a:latin typeface="+mj-lt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7CA638-384F-7171-4A4C-E1EF8F77F99B}"/>
              </a:ext>
            </a:extLst>
          </p:cNvPr>
          <p:cNvCxnSpPr>
            <a:cxnSpLocks/>
          </p:cNvCxnSpPr>
          <p:nvPr/>
        </p:nvCxnSpPr>
        <p:spPr>
          <a:xfrm>
            <a:off x="9576946" y="3564581"/>
            <a:ext cx="0" cy="895659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CFF7245-A0DC-ED7E-38BA-828DAFF75F69}"/>
              </a:ext>
            </a:extLst>
          </p:cNvPr>
          <p:cNvSpPr txBox="1"/>
          <p:nvPr/>
        </p:nvSpPr>
        <p:spPr>
          <a:xfrm>
            <a:off x="432945" y="2439205"/>
            <a:ext cx="62116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What can we call this approach?</a:t>
            </a:r>
            <a:endParaRPr lang="en-PK" sz="3200" dirty="0">
              <a:solidFill>
                <a:schemeClr val="bg2"/>
              </a:solidFill>
              <a:latin typeface="Cooper Black" panose="0208090404030B0204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2527D2-AE53-D5EF-99DE-7EFB32DB2450}"/>
              </a:ext>
            </a:extLst>
          </p:cNvPr>
          <p:cNvSpPr txBox="1"/>
          <p:nvPr/>
        </p:nvSpPr>
        <p:spPr>
          <a:xfrm>
            <a:off x="432945" y="3694112"/>
            <a:ext cx="57646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This is the </a:t>
            </a:r>
            <a:r>
              <a:rPr lang="en-US" sz="2800" b="1" dirty="0">
                <a:solidFill>
                  <a:schemeClr val="bg1"/>
                </a:solidFill>
              </a:rPr>
              <a:t>essence </a:t>
            </a:r>
            <a:r>
              <a:rPr lang="en-US" sz="2800" dirty="0">
                <a:solidFill>
                  <a:schemeClr val="bg1"/>
                </a:solidFill>
              </a:rPr>
              <a:t>of </a:t>
            </a:r>
            <a:r>
              <a:rPr lang="en-US" sz="2800" b="0" i="1" dirty="0">
                <a:solidFill>
                  <a:srgbClr val="F8FAFF"/>
                </a:solidFill>
                <a:effectLst/>
                <a:latin typeface="DeepSeek-CJK-patch"/>
              </a:rPr>
              <a:t>ContrastScore.</a:t>
            </a:r>
          </a:p>
          <a:p>
            <a:r>
              <a:rPr lang="en-US" sz="2800" i="1" dirty="0">
                <a:solidFill>
                  <a:srgbClr val="F8FAFF"/>
                </a:solidFill>
                <a:latin typeface="DeepSeek-CJK-patch"/>
              </a:rPr>
              <a:t>It reduces expenses, while resulting in responses </a:t>
            </a:r>
            <a:r>
              <a:rPr lang="en-US" sz="2800" i="1" dirty="0">
                <a:solidFill>
                  <a:srgbClr val="FFFF00"/>
                </a:solidFill>
                <a:latin typeface="DeepSeek-CJK-patch"/>
              </a:rPr>
              <a:t>closer to human judgment</a:t>
            </a:r>
            <a:endParaRPr lang="en-US" sz="2800" b="0" i="1" dirty="0">
              <a:solidFill>
                <a:srgbClr val="FFFF00"/>
              </a:solidFill>
              <a:effectLst/>
              <a:latin typeface="DeepSeek-CJK-patch"/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“It evaluates based on disagreement between expert and amateur, addressing bias in current models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.”</a:t>
            </a:r>
            <a:endParaRPr lang="en-PK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82C688-6A26-B568-77A3-919CABCCC7C4}"/>
              </a:ext>
            </a:extLst>
          </p:cNvPr>
          <p:cNvCxnSpPr>
            <a:cxnSpLocks/>
          </p:cNvCxnSpPr>
          <p:nvPr/>
        </p:nvCxnSpPr>
        <p:spPr>
          <a:xfrm flipV="1">
            <a:off x="558800" y="2142181"/>
            <a:ext cx="5557520" cy="1364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294278-5AEA-CD78-EF0A-EE84CF331BFF}"/>
              </a:ext>
            </a:extLst>
          </p:cNvPr>
          <p:cNvCxnSpPr>
            <a:cxnSpLocks/>
          </p:cNvCxnSpPr>
          <p:nvPr/>
        </p:nvCxnSpPr>
        <p:spPr>
          <a:xfrm flipH="1" flipV="1">
            <a:off x="6106160" y="2142181"/>
            <a:ext cx="10160" cy="387253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CFB1709-F7D5-3CAB-77CD-3798CCBCEF96}"/>
              </a:ext>
            </a:extLst>
          </p:cNvPr>
          <p:cNvCxnSpPr>
            <a:cxnSpLocks/>
          </p:cNvCxnSpPr>
          <p:nvPr/>
        </p:nvCxnSpPr>
        <p:spPr>
          <a:xfrm>
            <a:off x="10369426" y="5718501"/>
            <a:ext cx="0" cy="2206299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967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9B163-7514-FBAB-62F1-3E41FD7D0262}"/>
              </a:ext>
            </a:extLst>
          </p:cNvPr>
          <p:cNvSpPr txBox="1"/>
          <p:nvPr/>
        </p:nvSpPr>
        <p:spPr>
          <a:xfrm>
            <a:off x="8615680" y="507871"/>
            <a:ext cx="34848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rtl="0" eaLnBrk="1" latinLnBrk="0" hangingPunct="1"/>
            <a:r>
              <a:rPr lang="en-US" sz="1600" dirty="0">
                <a:solidFill>
                  <a:schemeClr val="bg1"/>
                </a:solidFill>
              </a:rPr>
              <a:t>We reduce it drastically by comparing the results of a </a:t>
            </a:r>
            <a:r>
              <a:rPr lang="en-US" sz="1600" b="1" dirty="0">
                <a:solidFill>
                  <a:schemeClr val="bg1"/>
                </a:solidFill>
              </a:rPr>
              <a:t>strong model</a:t>
            </a:r>
            <a:r>
              <a:rPr lang="en-US" sz="1600" dirty="0">
                <a:solidFill>
                  <a:schemeClr val="bg1"/>
                </a:solidFill>
              </a:rPr>
              <a:t> (expert) and a </a:t>
            </a:r>
            <a:r>
              <a:rPr lang="en-US" sz="1600" b="1" dirty="0">
                <a:solidFill>
                  <a:schemeClr val="bg1"/>
                </a:solidFill>
              </a:rPr>
              <a:t>weaker model </a:t>
            </a:r>
            <a:r>
              <a:rPr lang="en-US" sz="1600" dirty="0">
                <a:solidFill>
                  <a:schemeClr val="bg1"/>
                </a:solidFill>
              </a:rPr>
              <a:t>(amateur), </a:t>
            </a:r>
            <a:r>
              <a:rPr lang="en-US" sz="1600" dirty="0">
                <a:solidFill>
                  <a:srgbClr val="FFFF00"/>
                </a:solidFill>
              </a:rPr>
              <a:t>using their disagreement to score text.</a:t>
            </a:r>
            <a:endParaRPr lang="en-PK" sz="1600" dirty="0">
              <a:solidFill>
                <a:srgbClr val="FFFF00"/>
              </a:solidFill>
              <a:effectLst/>
              <a:latin typeface="+mj-lt"/>
            </a:endParaRPr>
          </a:p>
        </p:txBody>
      </p:sp>
      <p:pic>
        <p:nvPicPr>
          <p:cNvPr id="7" name="Picture 6" descr="A person with dreadlocks and glasses&#10;&#10;AI-generated content may be incorrect.">
            <a:extLst>
              <a:ext uri="{FF2B5EF4-FFF2-40B4-BE49-F238E27FC236}">
                <a16:creationId xmlns:a16="http://schemas.microsoft.com/office/drawing/2014/main" id="{E848F23C-B0C0-DCD0-25E5-4CC3C4111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18" y="507871"/>
            <a:ext cx="6096000" cy="6096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A9C09B-B4A0-2C2C-71FB-7251FBEE6694}"/>
              </a:ext>
            </a:extLst>
          </p:cNvPr>
          <p:cNvSpPr txBox="1"/>
          <p:nvPr/>
        </p:nvSpPr>
        <p:spPr>
          <a:xfrm>
            <a:off x="5628640" y="3429000"/>
            <a:ext cx="127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*expert*</a:t>
            </a:r>
            <a:endParaRPr lang="en-PK" sz="20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351A1-8E83-9420-9248-585D723AD7E6}"/>
              </a:ext>
            </a:extLst>
          </p:cNvPr>
          <p:cNvSpPr txBox="1"/>
          <p:nvPr/>
        </p:nvSpPr>
        <p:spPr>
          <a:xfrm>
            <a:off x="2814320" y="4768334"/>
            <a:ext cx="123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*amateur*</a:t>
            </a:r>
            <a:endParaRPr lang="en-PK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557E40-9524-48C6-CCD5-800652E8DACB}"/>
              </a:ext>
            </a:extLst>
          </p:cNvPr>
          <p:cNvSpPr txBox="1"/>
          <p:nvPr/>
        </p:nvSpPr>
        <p:spPr>
          <a:xfrm>
            <a:off x="1625600" y="4185791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*you guys*</a:t>
            </a:r>
            <a:endParaRPr lang="en-PK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581579-88EE-AB4A-5B49-C48F2A8998BE}"/>
              </a:ext>
            </a:extLst>
          </p:cNvPr>
          <p:cNvSpPr txBox="1"/>
          <p:nvPr/>
        </p:nvSpPr>
        <p:spPr>
          <a:xfrm rot="19919886">
            <a:off x="7513258" y="733989"/>
            <a:ext cx="9996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rtl="0" eaLnBrk="1" latinLnBrk="0" hangingPunct="1"/>
            <a:r>
              <a:rPr lang="en-US" sz="1200" dirty="0">
                <a:solidFill>
                  <a:schemeClr val="bg1"/>
                </a:solidFill>
              </a:rPr>
              <a:t>Kinda like in this meme</a:t>
            </a:r>
            <a:endParaRPr lang="en-PK" sz="1200" dirty="0">
              <a:solidFill>
                <a:srgbClr val="FFFF00"/>
              </a:solidFill>
              <a:effectLst/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439138-F8B5-872D-A565-A1AC77819480}"/>
              </a:ext>
            </a:extLst>
          </p:cNvPr>
          <p:cNvSpPr txBox="1"/>
          <p:nvPr/>
        </p:nvSpPr>
        <p:spPr>
          <a:xfrm>
            <a:off x="7498080" y="4998720"/>
            <a:ext cx="46024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Now let’s look at some </a:t>
            </a:r>
            <a:r>
              <a:rPr lang="en-US" sz="3200" b="0" i="1" dirty="0">
                <a:solidFill>
                  <a:srgbClr val="FFFF00"/>
                </a:solidFill>
                <a:effectLst/>
                <a:latin typeface="Cooper Black" panose="0208090404030B020404" pitchFamily="18" charset="0"/>
              </a:rPr>
              <a:t>results</a:t>
            </a:r>
            <a:r>
              <a:rPr lang="en-US" sz="3200" b="0" i="1" dirty="0">
                <a:solidFill>
                  <a:schemeClr val="bg2"/>
                </a:solidFill>
                <a:effectLst/>
                <a:latin typeface="Cooper Black" panose="0208090404030B020404" pitchFamily="18" charset="0"/>
              </a:rPr>
              <a:t> of this amazing technique…</a:t>
            </a:r>
            <a:endParaRPr lang="en-PK" sz="3200" dirty="0">
              <a:solidFill>
                <a:schemeClr val="bg2"/>
              </a:solidFill>
              <a:latin typeface="Cooper Black" panose="0208090404030B0204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F91E1E-703B-1BC0-61CB-3F2D1EEA9ECA}"/>
              </a:ext>
            </a:extLst>
          </p:cNvPr>
          <p:cNvCxnSpPr>
            <a:cxnSpLocks/>
          </p:cNvCxnSpPr>
          <p:nvPr/>
        </p:nvCxnSpPr>
        <p:spPr>
          <a:xfrm flipH="1">
            <a:off x="7463397" y="680720"/>
            <a:ext cx="1099400" cy="57912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09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069D27-5B82-7923-D08F-8AE0F74D0EFD}"/>
              </a:ext>
            </a:extLst>
          </p:cNvPr>
          <p:cNvSpPr txBox="1"/>
          <p:nvPr/>
        </p:nvSpPr>
        <p:spPr>
          <a:xfrm>
            <a:off x="585317" y="594081"/>
            <a:ext cx="6094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rgbClr val="FFFF00"/>
                </a:solidFill>
                <a:latin typeface="Cooper Black" panose="0208090404030B020404" pitchFamily="18" charset="0"/>
              </a:rPr>
              <a:t>Summary of Findings</a:t>
            </a:r>
            <a:endParaRPr lang="en-PK" sz="4000" dirty="0">
              <a:solidFill>
                <a:srgbClr val="FFFF00"/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A6AE050-7FCF-6EB0-FE79-176AD942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95" y="1875335"/>
            <a:ext cx="88425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ContrastScore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offers 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higher accuracy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by aligning better with human judgment.</a:t>
            </a:r>
            <a:endParaRPr kumimoji="0" lang="en-US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reduces bias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(length, likelihood) significantly.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It’s 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faster and cheaper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than large single-model evaluations.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works </a:t>
            </a: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consistently across tasks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like translation and summarization.</a:t>
            </a:r>
            <a:r>
              <a:rPr kumimoji="0" lang="en-US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(As we have seen in results)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622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15B756-F260-24A2-C2A2-0E5EE4C3E0CE}"/>
              </a:ext>
            </a:extLst>
          </p:cNvPr>
          <p:cNvSpPr txBox="1"/>
          <p:nvPr/>
        </p:nvSpPr>
        <p:spPr>
          <a:xfrm>
            <a:off x="511277" y="1946788"/>
            <a:ext cx="881510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highlight>
                  <a:srgbClr val="FF0000"/>
                </a:highlight>
              </a:rPr>
              <a:t>THANK YOU FOR LISTENING!</a:t>
            </a:r>
          </a:p>
          <a:p>
            <a:endParaRPr lang="en-US" sz="3200" dirty="0"/>
          </a:p>
          <a:p>
            <a:r>
              <a:rPr lang="en-US" sz="3200" dirty="0"/>
              <a:t>Feel free to ask questions…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3346726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276</TotalTime>
  <Words>1361</Words>
  <Application>Microsoft Office PowerPoint</Application>
  <PresentationFormat>Widescreen</PresentationFormat>
  <Paragraphs>193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ADLaM Display</vt:lpstr>
      <vt:lpstr>Aptos</vt:lpstr>
      <vt:lpstr>Aptos Display</vt:lpstr>
      <vt:lpstr>Aptos Mono</vt:lpstr>
      <vt:lpstr>Arial</vt:lpstr>
      <vt:lpstr>Calibri</vt:lpstr>
      <vt:lpstr>Cooper Black</vt:lpstr>
      <vt:lpstr>Courier New</vt:lpstr>
      <vt:lpstr>DeepSeek-CJK-patch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Methodology</vt:lpstr>
      <vt:lpstr>Experimental Setup for ContrastScore Evaluation</vt:lpstr>
      <vt:lpstr>Evaluation Metrics &amp; Hyperparameters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L216275Muhammad Hammad Ashraf</dc:creator>
  <cp:lastModifiedBy>L216275Muhammad Hammad Ashraf</cp:lastModifiedBy>
  <cp:revision>152</cp:revision>
  <dcterms:created xsi:type="dcterms:W3CDTF">2025-05-09T22:03:18Z</dcterms:created>
  <dcterms:modified xsi:type="dcterms:W3CDTF">2025-05-10T11:17:54Z</dcterms:modified>
</cp:coreProperties>
</file>