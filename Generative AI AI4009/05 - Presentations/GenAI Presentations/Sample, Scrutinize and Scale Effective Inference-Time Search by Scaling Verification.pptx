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70" r:id="rId11"/>
    <p:sldId id="275" r:id="rId12"/>
    <p:sldId id="266" r:id="rId13"/>
    <p:sldId id="273" r:id="rId14"/>
    <p:sldId id="272" r:id="rId15"/>
    <p:sldId id="271" r:id="rId16"/>
    <p:sldId id="265" r:id="rId17"/>
    <p:sldId id="274" r:id="rId18"/>
    <p:sldId id="276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30"/>
    <a:srgbClr val="72757C"/>
    <a:srgbClr val="055A53"/>
    <a:srgbClr val="524B4C"/>
    <a:srgbClr val="62636B"/>
    <a:srgbClr val="0C3E43"/>
    <a:srgbClr val="0F4D5E"/>
    <a:srgbClr val="E2E9EA"/>
    <a:srgbClr val="277278"/>
    <a:srgbClr val="5AA4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6" autoAdjust="0"/>
  </p:normalViewPr>
  <p:slideViewPr>
    <p:cSldViewPr snapToGrid="0">
      <p:cViewPr varScale="1">
        <p:scale>
          <a:sx n="71" d="100"/>
          <a:sy n="71" d="100"/>
        </p:scale>
        <p:origin x="10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E6440-C722-4795-B073-ACA748B16B23}" type="doc">
      <dgm:prSet loTypeId="urn:microsoft.com/office/officeart/2005/8/layout/hChevron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PK"/>
        </a:p>
      </dgm:t>
    </dgm:pt>
    <dgm:pt modelId="{0A5351D3-30C8-414F-8FA5-92BF2E0E7D6C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Input </a:t>
          </a:r>
          <a:endParaRPr lang="en-PK" sz="2000" dirty="0"/>
        </a:p>
      </dgm:t>
    </dgm:pt>
    <dgm:pt modelId="{FA5A8985-5B45-45AB-9E99-6D602AEDE165}" type="parTrans" cxnId="{CD212AF9-7838-4357-840B-61C1D986E33A}">
      <dgm:prSet/>
      <dgm:spPr/>
      <dgm:t>
        <a:bodyPr/>
        <a:lstStyle/>
        <a:p>
          <a:endParaRPr lang="en-PK"/>
        </a:p>
      </dgm:t>
    </dgm:pt>
    <dgm:pt modelId="{8474019C-A47F-45D3-B4DC-F57159D5BA99}" type="sibTrans" cxnId="{CD212AF9-7838-4357-840B-61C1D986E33A}">
      <dgm:prSet/>
      <dgm:spPr/>
      <dgm:t>
        <a:bodyPr/>
        <a:lstStyle/>
        <a:p>
          <a:endParaRPr lang="en-PK"/>
        </a:p>
      </dgm:t>
    </dgm:pt>
    <dgm:pt modelId="{37F988ED-DAEB-415E-BE02-113B390B3E78}">
      <dgm:prSet phldrT="[Text]" custT="1"/>
      <dgm:spPr/>
      <dgm:t>
        <a:bodyPr/>
        <a:lstStyle/>
        <a:p>
          <a:r>
            <a:rPr lang="en-US" sz="2000" dirty="0"/>
            <a:t>User prompt or question</a:t>
          </a:r>
          <a:endParaRPr lang="en-PK" sz="2000" dirty="0"/>
        </a:p>
      </dgm:t>
    </dgm:pt>
    <dgm:pt modelId="{EC5DDBF5-DF1B-482F-B3BB-203BA1B52951}" type="parTrans" cxnId="{BDCA1539-FCBF-458C-84CA-CBB95C0F60B3}">
      <dgm:prSet/>
      <dgm:spPr/>
      <dgm:t>
        <a:bodyPr/>
        <a:lstStyle/>
        <a:p>
          <a:endParaRPr lang="en-PK"/>
        </a:p>
      </dgm:t>
    </dgm:pt>
    <dgm:pt modelId="{E686F3B4-3988-436D-9166-800A6E37548D}" type="sibTrans" cxnId="{BDCA1539-FCBF-458C-84CA-CBB95C0F60B3}">
      <dgm:prSet/>
      <dgm:spPr/>
      <dgm:t>
        <a:bodyPr/>
        <a:lstStyle/>
        <a:p>
          <a:endParaRPr lang="en-PK"/>
        </a:p>
      </dgm:t>
    </dgm:pt>
    <dgm:pt modelId="{FDE23FAA-3B14-4470-B2A2-3A10A7C27E25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Sample </a:t>
          </a:r>
          <a:endParaRPr lang="en-PK" sz="2000" dirty="0"/>
        </a:p>
      </dgm:t>
    </dgm:pt>
    <dgm:pt modelId="{036AE2E8-D77E-4B18-9BA5-A3A8D5C7F902}" type="parTrans" cxnId="{5132548F-E9D0-4C30-A224-21BA4184A631}">
      <dgm:prSet/>
      <dgm:spPr/>
      <dgm:t>
        <a:bodyPr/>
        <a:lstStyle/>
        <a:p>
          <a:endParaRPr lang="en-PK"/>
        </a:p>
      </dgm:t>
    </dgm:pt>
    <dgm:pt modelId="{72346E91-04DE-4B9B-ACCD-98AB19B762C4}" type="sibTrans" cxnId="{5132548F-E9D0-4C30-A224-21BA4184A631}">
      <dgm:prSet/>
      <dgm:spPr/>
      <dgm:t>
        <a:bodyPr/>
        <a:lstStyle/>
        <a:p>
          <a:endParaRPr lang="en-PK"/>
        </a:p>
      </dgm:t>
    </dgm:pt>
    <dgm:pt modelId="{6BAC9CAE-08A1-4C66-AAE2-42E67A5F500A}">
      <dgm:prSet phldrT="[Text]" custT="1"/>
      <dgm:spPr/>
      <dgm:t>
        <a:bodyPr/>
        <a:lstStyle/>
        <a:p>
          <a:r>
            <a:rPr lang="en-US" sz="2000" dirty="0"/>
            <a:t>Gemini Pro</a:t>
          </a:r>
          <a:endParaRPr lang="en-PK" sz="2000" dirty="0"/>
        </a:p>
      </dgm:t>
    </dgm:pt>
    <dgm:pt modelId="{6C4D4981-1EB9-4A11-BC66-E684E3E1396F}" type="parTrans" cxnId="{0687B9B2-637F-45DE-B867-CB8FDC0797A6}">
      <dgm:prSet/>
      <dgm:spPr/>
      <dgm:t>
        <a:bodyPr/>
        <a:lstStyle/>
        <a:p>
          <a:endParaRPr lang="en-PK"/>
        </a:p>
      </dgm:t>
    </dgm:pt>
    <dgm:pt modelId="{F921ABE2-BB01-4457-9312-27DA63A498A2}" type="sibTrans" cxnId="{0687B9B2-637F-45DE-B867-CB8FDC0797A6}">
      <dgm:prSet/>
      <dgm:spPr/>
      <dgm:t>
        <a:bodyPr/>
        <a:lstStyle/>
        <a:p>
          <a:endParaRPr lang="en-PK"/>
        </a:p>
      </dgm:t>
    </dgm:pt>
    <dgm:pt modelId="{6E33C6F8-4DD1-470A-95F4-1CA36B7C796E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Scrutinize</a:t>
          </a:r>
          <a:endParaRPr lang="en-PK" sz="2000" dirty="0"/>
        </a:p>
      </dgm:t>
    </dgm:pt>
    <dgm:pt modelId="{B464CA66-0E53-4014-8254-71E27A50B474}" type="parTrans" cxnId="{3A032F68-0C29-4D4B-B3AE-1D918EE91F2B}">
      <dgm:prSet/>
      <dgm:spPr/>
      <dgm:t>
        <a:bodyPr/>
        <a:lstStyle/>
        <a:p>
          <a:endParaRPr lang="en-PK"/>
        </a:p>
      </dgm:t>
    </dgm:pt>
    <dgm:pt modelId="{753B333B-236F-42F9-B627-3E8985E7A4F2}" type="sibTrans" cxnId="{3A032F68-0C29-4D4B-B3AE-1D918EE91F2B}">
      <dgm:prSet/>
      <dgm:spPr/>
      <dgm:t>
        <a:bodyPr/>
        <a:lstStyle/>
        <a:p>
          <a:endParaRPr lang="en-PK"/>
        </a:p>
      </dgm:t>
    </dgm:pt>
    <dgm:pt modelId="{E4077A9E-02A2-4E57-88CA-5C654FB23C64}">
      <dgm:prSet phldrT="[Text]" custT="1"/>
      <dgm:spPr/>
      <dgm:t>
        <a:bodyPr/>
        <a:lstStyle/>
        <a:p>
          <a:r>
            <a:rPr lang="en-US" sz="2000" dirty="0"/>
            <a:t>Gemini or Flash</a:t>
          </a:r>
          <a:endParaRPr lang="en-PK" sz="2000" dirty="0"/>
        </a:p>
      </dgm:t>
    </dgm:pt>
    <dgm:pt modelId="{577B022E-F905-43CB-B2F5-2B12A94E165C}" type="parTrans" cxnId="{905C1667-556D-4A16-83D2-A64EABCFA365}">
      <dgm:prSet/>
      <dgm:spPr/>
      <dgm:t>
        <a:bodyPr/>
        <a:lstStyle/>
        <a:p>
          <a:endParaRPr lang="en-PK"/>
        </a:p>
      </dgm:t>
    </dgm:pt>
    <dgm:pt modelId="{84545714-8A7B-4B38-9206-52A1FADEF965}" type="sibTrans" cxnId="{905C1667-556D-4A16-83D2-A64EABCFA365}">
      <dgm:prSet/>
      <dgm:spPr/>
      <dgm:t>
        <a:bodyPr/>
        <a:lstStyle/>
        <a:p>
          <a:endParaRPr lang="en-PK"/>
        </a:p>
      </dgm:t>
    </dgm:pt>
    <dgm:pt modelId="{5109CAAF-5A10-4473-A422-3238F85B85DD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Select</a:t>
          </a:r>
          <a:endParaRPr lang="en-PK" sz="2000" dirty="0"/>
        </a:p>
      </dgm:t>
    </dgm:pt>
    <dgm:pt modelId="{215C6ABB-6707-45DE-A28F-2816FC0150A0}" type="parTrans" cxnId="{5ABD363E-9D5D-45E2-B5FA-D5EF1D7CEDDB}">
      <dgm:prSet/>
      <dgm:spPr/>
      <dgm:t>
        <a:bodyPr/>
        <a:lstStyle/>
        <a:p>
          <a:endParaRPr lang="en-PK"/>
        </a:p>
      </dgm:t>
    </dgm:pt>
    <dgm:pt modelId="{F8F7DD91-00FF-4DDC-BC81-AE0C7116BBD4}" type="sibTrans" cxnId="{5ABD363E-9D5D-45E2-B5FA-D5EF1D7CEDDB}">
      <dgm:prSet/>
      <dgm:spPr/>
      <dgm:t>
        <a:bodyPr/>
        <a:lstStyle/>
        <a:p>
          <a:endParaRPr lang="en-PK"/>
        </a:p>
      </dgm:t>
    </dgm:pt>
    <dgm:pt modelId="{5F7C7463-EE84-4F80-BAE1-0A8A5AD4A0F3}">
      <dgm:prSet phldrT="[Text]" custT="1"/>
      <dgm:spPr/>
      <dgm:t>
        <a:bodyPr/>
        <a:lstStyle/>
        <a:p>
          <a:r>
            <a:rPr lang="en-US" sz="1800" dirty="0"/>
            <a:t>Candidates with highest verification scores</a:t>
          </a:r>
          <a:endParaRPr lang="en-PK" sz="1800" dirty="0"/>
        </a:p>
      </dgm:t>
    </dgm:pt>
    <dgm:pt modelId="{664FADBE-DD67-4837-915B-5BB85B0CD59C}" type="parTrans" cxnId="{660996CC-4D69-4A5D-94B3-663DBF5C2CD6}">
      <dgm:prSet/>
      <dgm:spPr/>
      <dgm:t>
        <a:bodyPr/>
        <a:lstStyle/>
        <a:p>
          <a:endParaRPr lang="en-PK"/>
        </a:p>
      </dgm:t>
    </dgm:pt>
    <dgm:pt modelId="{8C00FA97-82F9-4E16-9211-05F5B24E25E7}" type="sibTrans" cxnId="{660996CC-4D69-4A5D-94B3-663DBF5C2CD6}">
      <dgm:prSet/>
      <dgm:spPr/>
      <dgm:t>
        <a:bodyPr/>
        <a:lstStyle/>
        <a:p>
          <a:endParaRPr lang="en-PK"/>
        </a:p>
      </dgm:t>
    </dgm:pt>
    <dgm:pt modelId="{829D7082-9C15-4765-8D7F-14263EB0669B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Tie-breaker</a:t>
          </a:r>
          <a:endParaRPr lang="en-PK" sz="2000" dirty="0"/>
        </a:p>
      </dgm:t>
    </dgm:pt>
    <dgm:pt modelId="{6C875F34-77A2-491D-A39C-37F8E311A0D3}" type="parTrans" cxnId="{C0FBC059-DEF8-41D9-80C2-C88AC000D301}">
      <dgm:prSet/>
      <dgm:spPr/>
      <dgm:t>
        <a:bodyPr/>
        <a:lstStyle/>
        <a:p>
          <a:endParaRPr lang="en-PK"/>
        </a:p>
      </dgm:t>
    </dgm:pt>
    <dgm:pt modelId="{96FC50B2-745D-4435-80FD-CE04E0CA3F3B}" type="sibTrans" cxnId="{C0FBC059-DEF8-41D9-80C2-C88AC000D301}">
      <dgm:prSet/>
      <dgm:spPr/>
      <dgm:t>
        <a:bodyPr/>
        <a:lstStyle/>
        <a:p>
          <a:endParaRPr lang="en-PK"/>
        </a:p>
      </dgm:t>
    </dgm:pt>
    <dgm:pt modelId="{532B9A6F-4945-4031-B8EC-B0B6E5C6E7F7}">
      <dgm:prSet phldrT="[Text]" custT="1"/>
      <dgm:spPr/>
      <dgm:t>
        <a:bodyPr/>
        <a:lstStyle/>
        <a:p>
          <a:r>
            <a:rPr lang="en-US" sz="2000" dirty="0"/>
            <a:t>Run 100 pairwise comparison</a:t>
          </a:r>
          <a:endParaRPr lang="en-PK" sz="2000" dirty="0"/>
        </a:p>
      </dgm:t>
    </dgm:pt>
    <dgm:pt modelId="{1B24194E-4E77-429B-B9E7-C74D0288F03D}" type="parTrans" cxnId="{A6EBD016-F60E-4F86-B45A-0AA1A2127F7C}">
      <dgm:prSet/>
      <dgm:spPr/>
      <dgm:t>
        <a:bodyPr/>
        <a:lstStyle/>
        <a:p>
          <a:endParaRPr lang="en-PK"/>
        </a:p>
      </dgm:t>
    </dgm:pt>
    <dgm:pt modelId="{94782A17-5641-41BE-960A-0705BCF5E612}" type="sibTrans" cxnId="{A6EBD016-F60E-4F86-B45A-0AA1A2127F7C}">
      <dgm:prSet/>
      <dgm:spPr/>
      <dgm:t>
        <a:bodyPr/>
        <a:lstStyle/>
        <a:p>
          <a:endParaRPr lang="en-PK"/>
        </a:p>
      </dgm:t>
    </dgm:pt>
    <dgm:pt modelId="{796AF1F5-9ABF-4D20-AA48-B34C9C529247}">
      <dgm:prSet phldrT="[Text]" custT="1"/>
      <dgm:spPr>
        <a:solidFill>
          <a:srgbClr val="001E30"/>
        </a:solidFill>
      </dgm:spPr>
      <dgm:t>
        <a:bodyPr/>
        <a:lstStyle/>
        <a:p>
          <a:r>
            <a:rPr lang="en-US" sz="2000" dirty="0"/>
            <a:t>Output </a:t>
          </a:r>
          <a:endParaRPr lang="en-PK" sz="2000" dirty="0"/>
        </a:p>
      </dgm:t>
    </dgm:pt>
    <dgm:pt modelId="{A1D778BB-014D-4C42-BAB6-14738EE30CD0}" type="parTrans" cxnId="{9346EEAF-644F-4555-BFBA-CA0FA750EAB8}">
      <dgm:prSet/>
      <dgm:spPr/>
      <dgm:t>
        <a:bodyPr/>
        <a:lstStyle/>
        <a:p>
          <a:endParaRPr lang="en-PK"/>
        </a:p>
      </dgm:t>
    </dgm:pt>
    <dgm:pt modelId="{79841913-985F-468A-A696-32646E29F5FB}" type="sibTrans" cxnId="{9346EEAF-644F-4555-BFBA-CA0FA750EAB8}">
      <dgm:prSet/>
      <dgm:spPr/>
      <dgm:t>
        <a:bodyPr/>
        <a:lstStyle/>
        <a:p>
          <a:endParaRPr lang="en-PK"/>
        </a:p>
      </dgm:t>
    </dgm:pt>
    <dgm:pt modelId="{1ADF9ABF-2CB7-491D-B29D-A212376FA9AC}">
      <dgm:prSet phldrT="[Text]" custT="1"/>
      <dgm:spPr/>
      <dgm:t>
        <a:bodyPr/>
        <a:lstStyle/>
        <a:p>
          <a:r>
            <a:rPr lang="en-US" sz="2000" dirty="0"/>
            <a:t>Return best verified answers</a:t>
          </a:r>
          <a:endParaRPr lang="en-PK" sz="2000" dirty="0"/>
        </a:p>
      </dgm:t>
    </dgm:pt>
    <dgm:pt modelId="{4D93F990-255A-4592-A165-3D3FF8ED47FC}" type="parTrans" cxnId="{6D1AC170-5E65-4B05-B558-C3B99120A25E}">
      <dgm:prSet/>
      <dgm:spPr/>
      <dgm:t>
        <a:bodyPr/>
        <a:lstStyle/>
        <a:p>
          <a:endParaRPr lang="en-PK"/>
        </a:p>
      </dgm:t>
    </dgm:pt>
    <dgm:pt modelId="{C7A841B6-5D58-4A13-B3D6-0B91068392DA}" type="sibTrans" cxnId="{6D1AC170-5E65-4B05-B558-C3B99120A25E}">
      <dgm:prSet/>
      <dgm:spPr/>
      <dgm:t>
        <a:bodyPr/>
        <a:lstStyle/>
        <a:p>
          <a:endParaRPr lang="en-PK"/>
        </a:p>
      </dgm:t>
    </dgm:pt>
    <dgm:pt modelId="{CAA122AE-FFAB-4A67-93A0-4659895C3D4A}" type="pres">
      <dgm:prSet presAssocID="{882E6440-C722-4795-B073-ACA748B16B23}" presName="Name0" presStyleCnt="0">
        <dgm:presLayoutVars>
          <dgm:dir/>
          <dgm:resizeHandles val="exact"/>
        </dgm:presLayoutVars>
      </dgm:prSet>
      <dgm:spPr/>
    </dgm:pt>
    <dgm:pt modelId="{9D44CD4C-73D0-4196-8258-90275D08B7AF}" type="pres">
      <dgm:prSet presAssocID="{0A5351D3-30C8-414F-8FA5-92BF2E0E7D6C}" presName="parAndChTx" presStyleLbl="node1" presStyleIdx="0" presStyleCnt="6" custLinFactNeighborX="-305">
        <dgm:presLayoutVars>
          <dgm:bulletEnabled val="1"/>
        </dgm:presLayoutVars>
      </dgm:prSet>
      <dgm:spPr/>
    </dgm:pt>
    <dgm:pt modelId="{B8A4C5F0-F1E9-4EFC-AF17-FA7D0E5837F5}" type="pres">
      <dgm:prSet presAssocID="{8474019C-A47F-45D3-B4DC-F57159D5BA99}" presName="parAndChSpace" presStyleCnt="0"/>
      <dgm:spPr/>
    </dgm:pt>
    <dgm:pt modelId="{B9E861E1-ABB4-4C00-82A1-53240B0078EC}" type="pres">
      <dgm:prSet presAssocID="{FDE23FAA-3B14-4470-B2A2-3A10A7C27E25}" presName="parAndChTx" presStyleLbl="node1" presStyleIdx="1" presStyleCnt="6" custLinFactNeighborX="-305">
        <dgm:presLayoutVars>
          <dgm:bulletEnabled val="1"/>
        </dgm:presLayoutVars>
      </dgm:prSet>
      <dgm:spPr/>
    </dgm:pt>
    <dgm:pt modelId="{C9731447-38CB-46E1-B3B1-FCE8BB6B053D}" type="pres">
      <dgm:prSet presAssocID="{72346E91-04DE-4B9B-ACCD-98AB19B762C4}" presName="parAndChSpace" presStyleCnt="0"/>
      <dgm:spPr/>
    </dgm:pt>
    <dgm:pt modelId="{8C815447-6BCB-44E2-A015-C33F24A1783B}" type="pres">
      <dgm:prSet presAssocID="{6E33C6F8-4DD1-470A-95F4-1CA36B7C796E}" presName="parAndChTx" presStyleLbl="node1" presStyleIdx="2" presStyleCnt="6" custLinFactNeighborX="0">
        <dgm:presLayoutVars>
          <dgm:bulletEnabled val="1"/>
        </dgm:presLayoutVars>
      </dgm:prSet>
      <dgm:spPr/>
    </dgm:pt>
    <dgm:pt modelId="{0D86A861-9F7D-4090-8641-6F160422DF0B}" type="pres">
      <dgm:prSet presAssocID="{753B333B-236F-42F9-B627-3E8985E7A4F2}" presName="parAndChSpace" presStyleCnt="0"/>
      <dgm:spPr/>
    </dgm:pt>
    <dgm:pt modelId="{D12E1990-6675-4389-A210-9DE27F3AD7C7}" type="pres">
      <dgm:prSet presAssocID="{5109CAAF-5A10-4473-A422-3238F85B85DD}" presName="parAndChTx" presStyleLbl="node1" presStyleIdx="3" presStyleCnt="6">
        <dgm:presLayoutVars>
          <dgm:bulletEnabled val="1"/>
        </dgm:presLayoutVars>
      </dgm:prSet>
      <dgm:spPr/>
    </dgm:pt>
    <dgm:pt modelId="{72541503-6128-4905-A6F6-52EEB301B784}" type="pres">
      <dgm:prSet presAssocID="{F8F7DD91-00FF-4DDC-BC81-AE0C7116BBD4}" presName="parAndChSpace" presStyleCnt="0"/>
      <dgm:spPr/>
    </dgm:pt>
    <dgm:pt modelId="{928B94EB-C514-4B7B-977A-6EC7A96D90D2}" type="pres">
      <dgm:prSet presAssocID="{829D7082-9C15-4765-8D7F-14263EB0669B}" presName="parAndChTx" presStyleLbl="node1" presStyleIdx="4" presStyleCnt="6">
        <dgm:presLayoutVars>
          <dgm:bulletEnabled val="1"/>
        </dgm:presLayoutVars>
      </dgm:prSet>
      <dgm:spPr/>
    </dgm:pt>
    <dgm:pt modelId="{7D542393-EB01-45C3-9702-BDA3A7102FB8}" type="pres">
      <dgm:prSet presAssocID="{96FC50B2-745D-4435-80FD-CE04E0CA3F3B}" presName="parAndChSpace" presStyleCnt="0"/>
      <dgm:spPr/>
    </dgm:pt>
    <dgm:pt modelId="{5D93D6BF-22E7-43EE-90F2-FB61BF7602CD}" type="pres">
      <dgm:prSet presAssocID="{796AF1F5-9ABF-4D20-AA48-B34C9C529247}" presName="parAndChTx" presStyleLbl="node1" presStyleIdx="5" presStyleCnt="6">
        <dgm:presLayoutVars>
          <dgm:bulletEnabled val="1"/>
        </dgm:presLayoutVars>
      </dgm:prSet>
      <dgm:spPr/>
    </dgm:pt>
  </dgm:ptLst>
  <dgm:cxnLst>
    <dgm:cxn modelId="{18957804-9CB6-4660-88B8-281D9D6E6348}" type="presOf" srcId="{882E6440-C722-4795-B073-ACA748B16B23}" destId="{CAA122AE-FFAB-4A67-93A0-4659895C3D4A}" srcOrd="0" destOrd="0" presId="urn:microsoft.com/office/officeart/2005/8/layout/hChevron3"/>
    <dgm:cxn modelId="{A6EBD016-F60E-4F86-B45A-0AA1A2127F7C}" srcId="{829D7082-9C15-4765-8D7F-14263EB0669B}" destId="{532B9A6F-4945-4031-B8EC-B0B6E5C6E7F7}" srcOrd="0" destOrd="0" parTransId="{1B24194E-4E77-429B-B9E7-C74D0288F03D}" sibTransId="{94782A17-5641-41BE-960A-0705BCF5E612}"/>
    <dgm:cxn modelId="{9E4F532D-2BA5-4373-8F38-B39BCE867795}" type="presOf" srcId="{37F988ED-DAEB-415E-BE02-113B390B3E78}" destId="{9D44CD4C-73D0-4196-8258-90275D08B7AF}" srcOrd="0" destOrd="1" presId="urn:microsoft.com/office/officeart/2005/8/layout/hChevron3"/>
    <dgm:cxn modelId="{BDCA1539-FCBF-458C-84CA-CBB95C0F60B3}" srcId="{0A5351D3-30C8-414F-8FA5-92BF2E0E7D6C}" destId="{37F988ED-DAEB-415E-BE02-113B390B3E78}" srcOrd="0" destOrd="0" parTransId="{EC5DDBF5-DF1B-482F-B3BB-203BA1B52951}" sibTransId="{E686F3B4-3988-436D-9166-800A6E37548D}"/>
    <dgm:cxn modelId="{3E0CAA3B-CAAC-4465-9957-810D1B627AFA}" type="presOf" srcId="{796AF1F5-9ABF-4D20-AA48-B34C9C529247}" destId="{5D93D6BF-22E7-43EE-90F2-FB61BF7602CD}" srcOrd="0" destOrd="0" presId="urn:microsoft.com/office/officeart/2005/8/layout/hChevron3"/>
    <dgm:cxn modelId="{5ABD363E-9D5D-45E2-B5FA-D5EF1D7CEDDB}" srcId="{882E6440-C722-4795-B073-ACA748B16B23}" destId="{5109CAAF-5A10-4473-A422-3238F85B85DD}" srcOrd="3" destOrd="0" parTransId="{215C6ABB-6707-45DE-A28F-2816FC0150A0}" sibTransId="{F8F7DD91-00FF-4DDC-BC81-AE0C7116BBD4}"/>
    <dgm:cxn modelId="{4EF09C5C-8EAE-4C08-A863-EAD8595E6310}" type="presOf" srcId="{5109CAAF-5A10-4473-A422-3238F85B85DD}" destId="{D12E1990-6675-4389-A210-9DE27F3AD7C7}" srcOrd="0" destOrd="0" presId="urn:microsoft.com/office/officeart/2005/8/layout/hChevron3"/>
    <dgm:cxn modelId="{1D892646-C6DF-4AAF-9F3D-6FF870675D98}" type="presOf" srcId="{FDE23FAA-3B14-4470-B2A2-3A10A7C27E25}" destId="{B9E861E1-ABB4-4C00-82A1-53240B0078EC}" srcOrd="0" destOrd="0" presId="urn:microsoft.com/office/officeart/2005/8/layout/hChevron3"/>
    <dgm:cxn modelId="{905C1667-556D-4A16-83D2-A64EABCFA365}" srcId="{6E33C6F8-4DD1-470A-95F4-1CA36B7C796E}" destId="{E4077A9E-02A2-4E57-88CA-5C654FB23C64}" srcOrd="0" destOrd="0" parTransId="{577B022E-F905-43CB-B2F5-2B12A94E165C}" sibTransId="{84545714-8A7B-4B38-9206-52A1FADEF965}"/>
    <dgm:cxn modelId="{3A032F68-0C29-4D4B-B3AE-1D918EE91F2B}" srcId="{882E6440-C722-4795-B073-ACA748B16B23}" destId="{6E33C6F8-4DD1-470A-95F4-1CA36B7C796E}" srcOrd="2" destOrd="0" parTransId="{B464CA66-0E53-4014-8254-71E27A50B474}" sibTransId="{753B333B-236F-42F9-B627-3E8985E7A4F2}"/>
    <dgm:cxn modelId="{26C1EE6C-1470-4963-92F5-67AC1923B020}" type="presOf" srcId="{532B9A6F-4945-4031-B8EC-B0B6E5C6E7F7}" destId="{928B94EB-C514-4B7B-977A-6EC7A96D90D2}" srcOrd="0" destOrd="1" presId="urn:microsoft.com/office/officeart/2005/8/layout/hChevron3"/>
    <dgm:cxn modelId="{6D1AC170-5E65-4B05-B558-C3B99120A25E}" srcId="{796AF1F5-9ABF-4D20-AA48-B34C9C529247}" destId="{1ADF9ABF-2CB7-491D-B29D-A212376FA9AC}" srcOrd="0" destOrd="0" parTransId="{4D93F990-255A-4592-A165-3D3FF8ED47FC}" sibTransId="{C7A841B6-5D58-4A13-B3D6-0B91068392DA}"/>
    <dgm:cxn modelId="{FC00BC76-CD2D-4945-AE6C-3EDEC7802D31}" type="presOf" srcId="{1ADF9ABF-2CB7-491D-B29D-A212376FA9AC}" destId="{5D93D6BF-22E7-43EE-90F2-FB61BF7602CD}" srcOrd="0" destOrd="1" presId="urn:microsoft.com/office/officeart/2005/8/layout/hChevron3"/>
    <dgm:cxn modelId="{49DFCA56-6317-441C-B3B6-F48F37DEF181}" type="presOf" srcId="{0A5351D3-30C8-414F-8FA5-92BF2E0E7D6C}" destId="{9D44CD4C-73D0-4196-8258-90275D08B7AF}" srcOrd="0" destOrd="0" presId="urn:microsoft.com/office/officeart/2005/8/layout/hChevron3"/>
    <dgm:cxn modelId="{C0FBC059-DEF8-41D9-80C2-C88AC000D301}" srcId="{882E6440-C722-4795-B073-ACA748B16B23}" destId="{829D7082-9C15-4765-8D7F-14263EB0669B}" srcOrd="4" destOrd="0" parTransId="{6C875F34-77A2-491D-A39C-37F8E311A0D3}" sibTransId="{96FC50B2-745D-4435-80FD-CE04E0CA3F3B}"/>
    <dgm:cxn modelId="{5132548F-E9D0-4C30-A224-21BA4184A631}" srcId="{882E6440-C722-4795-B073-ACA748B16B23}" destId="{FDE23FAA-3B14-4470-B2A2-3A10A7C27E25}" srcOrd="1" destOrd="0" parTransId="{036AE2E8-D77E-4B18-9BA5-A3A8D5C7F902}" sibTransId="{72346E91-04DE-4B9B-ACCD-98AB19B762C4}"/>
    <dgm:cxn modelId="{5D907798-C1A1-4224-9FEB-D3D43B5EBF02}" type="presOf" srcId="{6BAC9CAE-08A1-4C66-AAE2-42E67A5F500A}" destId="{B9E861E1-ABB4-4C00-82A1-53240B0078EC}" srcOrd="0" destOrd="1" presId="urn:microsoft.com/office/officeart/2005/8/layout/hChevron3"/>
    <dgm:cxn modelId="{81257DA8-03A3-489E-A6EA-3AD2296EE738}" type="presOf" srcId="{5F7C7463-EE84-4F80-BAE1-0A8A5AD4A0F3}" destId="{D12E1990-6675-4389-A210-9DE27F3AD7C7}" srcOrd="0" destOrd="1" presId="urn:microsoft.com/office/officeart/2005/8/layout/hChevron3"/>
    <dgm:cxn modelId="{9346EEAF-644F-4555-BFBA-CA0FA750EAB8}" srcId="{882E6440-C722-4795-B073-ACA748B16B23}" destId="{796AF1F5-9ABF-4D20-AA48-B34C9C529247}" srcOrd="5" destOrd="0" parTransId="{A1D778BB-014D-4C42-BAB6-14738EE30CD0}" sibTransId="{79841913-985F-468A-A696-32646E29F5FB}"/>
    <dgm:cxn modelId="{0687B9B2-637F-45DE-B867-CB8FDC0797A6}" srcId="{FDE23FAA-3B14-4470-B2A2-3A10A7C27E25}" destId="{6BAC9CAE-08A1-4C66-AAE2-42E67A5F500A}" srcOrd="0" destOrd="0" parTransId="{6C4D4981-1EB9-4A11-BC66-E684E3E1396F}" sibTransId="{F921ABE2-BB01-4457-9312-27DA63A498A2}"/>
    <dgm:cxn modelId="{ADB47AC8-3FF9-46FB-83BF-BF0E8BEB2258}" type="presOf" srcId="{829D7082-9C15-4765-8D7F-14263EB0669B}" destId="{928B94EB-C514-4B7B-977A-6EC7A96D90D2}" srcOrd="0" destOrd="0" presId="urn:microsoft.com/office/officeart/2005/8/layout/hChevron3"/>
    <dgm:cxn modelId="{660996CC-4D69-4A5D-94B3-663DBF5C2CD6}" srcId="{5109CAAF-5A10-4473-A422-3238F85B85DD}" destId="{5F7C7463-EE84-4F80-BAE1-0A8A5AD4A0F3}" srcOrd="0" destOrd="0" parTransId="{664FADBE-DD67-4837-915B-5BB85B0CD59C}" sibTransId="{8C00FA97-82F9-4E16-9211-05F5B24E25E7}"/>
    <dgm:cxn modelId="{5BDEF6DC-F188-4F51-AE70-9B907D4D80F0}" type="presOf" srcId="{6E33C6F8-4DD1-470A-95F4-1CA36B7C796E}" destId="{8C815447-6BCB-44E2-A015-C33F24A1783B}" srcOrd="0" destOrd="0" presId="urn:microsoft.com/office/officeart/2005/8/layout/hChevron3"/>
    <dgm:cxn modelId="{6B64A8EC-5C32-4021-88F8-F97133455A89}" type="presOf" srcId="{E4077A9E-02A2-4E57-88CA-5C654FB23C64}" destId="{8C815447-6BCB-44E2-A015-C33F24A1783B}" srcOrd="0" destOrd="1" presId="urn:microsoft.com/office/officeart/2005/8/layout/hChevron3"/>
    <dgm:cxn modelId="{CD212AF9-7838-4357-840B-61C1D986E33A}" srcId="{882E6440-C722-4795-B073-ACA748B16B23}" destId="{0A5351D3-30C8-414F-8FA5-92BF2E0E7D6C}" srcOrd="0" destOrd="0" parTransId="{FA5A8985-5B45-45AB-9E99-6D602AEDE165}" sibTransId="{8474019C-A47F-45D3-B4DC-F57159D5BA99}"/>
    <dgm:cxn modelId="{5E2DA30B-0E1F-49A4-B5A9-BDB963A24206}" type="presParOf" srcId="{CAA122AE-FFAB-4A67-93A0-4659895C3D4A}" destId="{9D44CD4C-73D0-4196-8258-90275D08B7AF}" srcOrd="0" destOrd="0" presId="urn:microsoft.com/office/officeart/2005/8/layout/hChevron3"/>
    <dgm:cxn modelId="{0DF50D70-C91F-4B03-A77B-DCF919A19251}" type="presParOf" srcId="{CAA122AE-FFAB-4A67-93A0-4659895C3D4A}" destId="{B8A4C5F0-F1E9-4EFC-AF17-FA7D0E5837F5}" srcOrd="1" destOrd="0" presId="urn:microsoft.com/office/officeart/2005/8/layout/hChevron3"/>
    <dgm:cxn modelId="{000C5570-6064-488D-8773-91755C94697B}" type="presParOf" srcId="{CAA122AE-FFAB-4A67-93A0-4659895C3D4A}" destId="{B9E861E1-ABB4-4C00-82A1-53240B0078EC}" srcOrd="2" destOrd="0" presId="urn:microsoft.com/office/officeart/2005/8/layout/hChevron3"/>
    <dgm:cxn modelId="{9CEADF33-3D33-47B6-8EB2-D399B4F141EA}" type="presParOf" srcId="{CAA122AE-FFAB-4A67-93A0-4659895C3D4A}" destId="{C9731447-38CB-46E1-B3B1-FCE8BB6B053D}" srcOrd="3" destOrd="0" presId="urn:microsoft.com/office/officeart/2005/8/layout/hChevron3"/>
    <dgm:cxn modelId="{7C457C4A-6D0E-481B-B00D-413441ACE390}" type="presParOf" srcId="{CAA122AE-FFAB-4A67-93A0-4659895C3D4A}" destId="{8C815447-6BCB-44E2-A015-C33F24A1783B}" srcOrd="4" destOrd="0" presId="urn:microsoft.com/office/officeart/2005/8/layout/hChevron3"/>
    <dgm:cxn modelId="{CA0985DA-0505-482F-A26D-5DBDEDD7BE4B}" type="presParOf" srcId="{CAA122AE-FFAB-4A67-93A0-4659895C3D4A}" destId="{0D86A861-9F7D-4090-8641-6F160422DF0B}" srcOrd="5" destOrd="0" presId="urn:microsoft.com/office/officeart/2005/8/layout/hChevron3"/>
    <dgm:cxn modelId="{5641D87B-159B-4B08-AB2F-1982D4FD3167}" type="presParOf" srcId="{CAA122AE-FFAB-4A67-93A0-4659895C3D4A}" destId="{D12E1990-6675-4389-A210-9DE27F3AD7C7}" srcOrd="6" destOrd="0" presId="urn:microsoft.com/office/officeart/2005/8/layout/hChevron3"/>
    <dgm:cxn modelId="{971EFFE8-A064-40EB-996A-E957397553B4}" type="presParOf" srcId="{CAA122AE-FFAB-4A67-93A0-4659895C3D4A}" destId="{72541503-6128-4905-A6F6-52EEB301B784}" srcOrd="7" destOrd="0" presId="urn:microsoft.com/office/officeart/2005/8/layout/hChevron3"/>
    <dgm:cxn modelId="{E8BACABA-A4CD-4FB5-880D-A1282041CE50}" type="presParOf" srcId="{CAA122AE-FFAB-4A67-93A0-4659895C3D4A}" destId="{928B94EB-C514-4B7B-977A-6EC7A96D90D2}" srcOrd="8" destOrd="0" presId="urn:microsoft.com/office/officeart/2005/8/layout/hChevron3"/>
    <dgm:cxn modelId="{1BF7E6D4-2633-480A-931E-BB7BA2B3029E}" type="presParOf" srcId="{CAA122AE-FFAB-4A67-93A0-4659895C3D4A}" destId="{7D542393-EB01-45C3-9702-BDA3A7102FB8}" srcOrd="9" destOrd="0" presId="urn:microsoft.com/office/officeart/2005/8/layout/hChevron3"/>
    <dgm:cxn modelId="{6043A925-25B9-416F-9FDA-423A9CCA5E0A}" type="presParOf" srcId="{CAA122AE-FFAB-4A67-93A0-4659895C3D4A}" destId="{5D93D6BF-22E7-43EE-90F2-FB61BF7602CD}" srcOrd="10" destOrd="0" presId="urn:microsoft.com/office/officeart/2005/8/layout/hChevron3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4CD4C-73D0-4196-8258-90275D08B7AF}">
      <dsp:nvSpPr>
        <dsp:cNvPr id="0" name=""/>
        <dsp:cNvSpPr/>
      </dsp:nvSpPr>
      <dsp:spPr>
        <a:xfrm>
          <a:off x="1" y="2585002"/>
          <a:ext cx="2432725" cy="1946180"/>
        </a:xfrm>
        <a:prstGeom prst="homePlate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343285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Input </a:t>
          </a:r>
          <a:endParaRPr lang="en-PK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User prompt or question</a:t>
          </a:r>
          <a:endParaRPr lang="en-PK" sz="2000" kern="1200" dirty="0"/>
        </a:p>
      </dsp:txBody>
      <dsp:txXfrm>
        <a:off x="1" y="2585002"/>
        <a:ext cx="2189453" cy="1946180"/>
      </dsp:txXfrm>
    </dsp:sp>
    <dsp:sp modelId="{B9E861E1-ABB4-4C00-82A1-53240B0078EC}">
      <dsp:nvSpPr>
        <dsp:cNvPr id="0" name=""/>
        <dsp:cNvSpPr/>
      </dsp:nvSpPr>
      <dsp:spPr>
        <a:xfrm>
          <a:off x="1946181" y="2585002"/>
          <a:ext cx="2432725" cy="1946180"/>
        </a:xfrm>
        <a:prstGeom prst="chevron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85821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Sample </a:t>
          </a:r>
          <a:endParaRPr lang="en-PK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Gemini Pro</a:t>
          </a:r>
          <a:endParaRPr lang="en-PK" sz="2000" kern="1200" dirty="0"/>
        </a:p>
      </dsp:txBody>
      <dsp:txXfrm>
        <a:off x="2432726" y="2585002"/>
        <a:ext cx="1459635" cy="1946180"/>
      </dsp:txXfrm>
    </dsp:sp>
    <dsp:sp modelId="{8C815447-6BCB-44E2-A015-C33F24A1783B}">
      <dsp:nvSpPr>
        <dsp:cNvPr id="0" name=""/>
        <dsp:cNvSpPr/>
      </dsp:nvSpPr>
      <dsp:spPr>
        <a:xfrm>
          <a:off x="3893846" y="2585002"/>
          <a:ext cx="2432725" cy="1946180"/>
        </a:xfrm>
        <a:prstGeom prst="chevron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85821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Scrutinize</a:t>
          </a:r>
          <a:endParaRPr lang="en-PK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Gemini or Flash</a:t>
          </a:r>
          <a:endParaRPr lang="en-PK" sz="2000" kern="1200" dirty="0"/>
        </a:p>
      </dsp:txBody>
      <dsp:txXfrm>
        <a:off x="4380391" y="2585002"/>
        <a:ext cx="1459635" cy="1946180"/>
      </dsp:txXfrm>
    </dsp:sp>
    <dsp:sp modelId="{D12E1990-6675-4389-A210-9DE27F3AD7C7}">
      <dsp:nvSpPr>
        <dsp:cNvPr id="0" name=""/>
        <dsp:cNvSpPr/>
      </dsp:nvSpPr>
      <dsp:spPr>
        <a:xfrm>
          <a:off x="5840026" y="2585002"/>
          <a:ext cx="2432725" cy="1946180"/>
        </a:xfrm>
        <a:prstGeom prst="chevron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85821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Select</a:t>
          </a:r>
          <a:endParaRPr lang="en-PK" sz="20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Candidates with highest verification scores</a:t>
          </a:r>
          <a:endParaRPr lang="en-PK" sz="1800" kern="1200" dirty="0"/>
        </a:p>
      </dsp:txBody>
      <dsp:txXfrm>
        <a:off x="6326571" y="2585002"/>
        <a:ext cx="1459635" cy="1946180"/>
      </dsp:txXfrm>
    </dsp:sp>
    <dsp:sp modelId="{928B94EB-C514-4B7B-977A-6EC7A96D90D2}">
      <dsp:nvSpPr>
        <dsp:cNvPr id="0" name=""/>
        <dsp:cNvSpPr/>
      </dsp:nvSpPr>
      <dsp:spPr>
        <a:xfrm>
          <a:off x="7786207" y="2585002"/>
          <a:ext cx="2432725" cy="1946180"/>
        </a:xfrm>
        <a:prstGeom prst="chevron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85821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Tie-breaker</a:t>
          </a:r>
          <a:endParaRPr lang="en-PK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Run 100 pairwise comparison</a:t>
          </a:r>
          <a:endParaRPr lang="en-PK" sz="2000" kern="1200" dirty="0"/>
        </a:p>
      </dsp:txBody>
      <dsp:txXfrm>
        <a:off x="8272752" y="2585002"/>
        <a:ext cx="1459635" cy="1946180"/>
      </dsp:txXfrm>
    </dsp:sp>
    <dsp:sp modelId="{5D93D6BF-22E7-43EE-90F2-FB61BF7602CD}">
      <dsp:nvSpPr>
        <dsp:cNvPr id="0" name=""/>
        <dsp:cNvSpPr/>
      </dsp:nvSpPr>
      <dsp:spPr>
        <a:xfrm>
          <a:off x="9732388" y="2585002"/>
          <a:ext cx="2432725" cy="1946180"/>
        </a:xfrm>
        <a:prstGeom prst="chevron">
          <a:avLst>
            <a:gd name="adj" fmla="val 25000"/>
          </a:avLst>
        </a:prstGeom>
        <a:solidFill>
          <a:srgbClr val="001E3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821" tIns="50800" rIns="85821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Output </a:t>
          </a:r>
          <a:endParaRPr lang="en-PK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Return best verified answers</a:t>
          </a:r>
          <a:endParaRPr lang="en-PK" sz="2000" kern="1200" dirty="0"/>
        </a:p>
      </dsp:txBody>
      <dsp:txXfrm>
        <a:off x="10218933" y="2585002"/>
        <a:ext cx="1459635" cy="1946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39007-337A-4E36-8777-73BD73B5F4B1}" type="datetimeFigureOut">
              <a:rPr lang="en-PK" smtClean="0"/>
              <a:t>29/04/2025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5D09-F1D1-4A60-8E2A-AF4BD42ABA4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9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PK" dirty="0">
                <a:latin typeface="Plethora Light" panose="01000000000000000000" pitchFamily="2" charset="0"/>
              </a:rPr>
              <a:t>Improving AI reasoning </a:t>
            </a:r>
            <a:endParaRPr lang="en-PK" altLang="en-PK" dirty="0">
              <a:latin typeface="Plethora Light" panose="01000000000000000000" pitchFamily="2" charset="0"/>
            </a:endParaRP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9109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inference time you can make a model much smarter simply by generating lots of answers and picking the best one without the need for training from scratch 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7752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Temperature = 1.5</a:t>
            </a:r>
            <a:r>
              <a:rPr lang="en-US" dirty="0"/>
              <a:t>: Use moderately high randomness for diversity.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5080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 err="1">
                <a:latin typeface="LMRoman10-Regular"/>
              </a:rPr>
              <a:t>ine</a:t>
            </a:r>
            <a:r>
              <a:rPr lang="en-US" sz="1800" b="0" i="0" u="none" strike="noStrike" baseline="0" dirty="0">
                <a:latin typeface="LMRoman10-Regular"/>
              </a:rPr>
              <a:t> graph depicting the accuracy rates of the Gemini v1.5 Pro model using </a:t>
            </a:r>
            <a:r>
              <a:rPr lang="en-US" sz="1800" b="0" i="0" u="none" strike="noStrike" baseline="0" dirty="0" err="1">
                <a:latin typeface="LMRoman10-Regular"/>
              </a:rPr>
              <a:t>samplingbased</a:t>
            </a:r>
            <a:endParaRPr lang="en-US" sz="1800" b="0" i="0" u="none" strike="noStrike" baseline="0" dirty="0">
              <a:latin typeface="LMRoman10-Regular"/>
            </a:endParaRP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search as the number of candidate responses generated is scaled upwards. The number of</a:t>
            </a: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verification attempts is fixed at 50 for all plots. The depicted accuracies are obtained without tiebreaking</a:t>
            </a: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and may be lower than reported elsewhere. </a:t>
            </a:r>
            <a:r>
              <a:rPr lang="en-US" sz="1800" b="0" i="0" u="none" strike="noStrike" baseline="0" dirty="0" err="1">
                <a:latin typeface="LMRoman10-Regular"/>
              </a:rPr>
              <a:t>Verification@k</a:t>
            </a:r>
            <a:r>
              <a:rPr lang="en-US" sz="1800" b="0" i="0" u="none" strike="noStrike" baseline="0" dirty="0">
                <a:latin typeface="LMRoman10-Regular"/>
              </a:rPr>
              <a:t> improves with </a:t>
            </a:r>
            <a:r>
              <a:rPr lang="en-US" sz="1800" b="0" i="1" u="none" strike="noStrike" baseline="0" dirty="0">
                <a:latin typeface="LMMathItalic10-Regular"/>
              </a:rPr>
              <a:t>k </a:t>
            </a:r>
            <a:r>
              <a:rPr lang="en-US" sz="1800" b="0" i="0" u="none" strike="noStrike" baseline="0" dirty="0">
                <a:latin typeface="LMRoman10-Regular"/>
              </a:rPr>
              <a:t>even when</a:t>
            </a:r>
          </a:p>
          <a:p>
            <a:pPr algn="l"/>
            <a:r>
              <a:rPr lang="en-US" sz="1800" b="0" i="0" u="none" strike="noStrike" baseline="0" dirty="0" err="1">
                <a:latin typeface="LMRoman10-Regular"/>
              </a:rPr>
              <a:t>Consistency@k</a:t>
            </a:r>
            <a:r>
              <a:rPr lang="en-US" sz="1800" b="0" i="0" u="none" strike="noStrike" baseline="0" dirty="0">
                <a:latin typeface="LMRoman10-Regular"/>
              </a:rPr>
              <a:t> stagnates on AIME and </a:t>
            </a:r>
            <a:r>
              <a:rPr lang="en-US" sz="1800" b="0" i="0" u="none" strike="noStrike" baseline="0" dirty="0" err="1">
                <a:latin typeface="LMRoman10-Regular"/>
              </a:rPr>
              <a:t>LiveBench</a:t>
            </a:r>
            <a:r>
              <a:rPr lang="en-US" sz="1800" b="0" i="0" u="none" strike="noStrike" baseline="0" dirty="0">
                <a:latin typeface="LMRoman10-Regular"/>
              </a:rPr>
              <a:t> Reasoning.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7804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GPT-4oandClaude3.5Sonnetonly </a:t>
            </a:r>
            <a:r>
              <a:rPr lang="en-US" dirty="0" err="1"/>
              <a:t>performmarginallybetterthanrandomguessingacrossall</a:t>
            </a:r>
            <a:r>
              <a:rPr lang="en-US" dirty="0"/>
              <a:t> tasks. o1-Previewperformsbetter,but still failstoidentify20-30%ofwrongresponses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3726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latin typeface="LMRoman10-Regular"/>
            </a:endParaRP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The temperature used for verification attempts is fixed at </a:t>
            </a:r>
            <a:r>
              <a:rPr lang="en-US" sz="1800" b="0" i="1" u="none" strike="noStrike" baseline="0" dirty="0" err="1">
                <a:latin typeface="LMMathItalic10-Regular"/>
              </a:rPr>
              <a:t>σ</a:t>
            </a:r>
            <a:r>
              <a:rPr lang="en-US" sz="1800" b="0" i="0" u="none" strike="noStrike" baseline="0" dirty="0" err="1">
                <a:latin typeface="LMRoman8-Regular"/>
              </a:rPr>
              <a:t>verif</a:t>
            </a:r>
            <a:r>
              <a:rPr lang="en-US" sz="1800" b="0" i="0" u="none" strike="noStrike" baseline="0" dirty="0">
                <a:latin typeface="LMRoman8-Regular"/>
              </a:rPr>
              <a:t> </a:t>
            </a:r>
            <a:r>
              <a:rPr lang="en-US" sz="1800" b="0" i="0" u="none" strike="noStrike" baseline="0" dirty="0">
                <a:latin typeface="LMRoman10-Regular"/>
              </a:rPr>
              <a:t>= 1</a:t>
            </a:r>
            <a:r>
              <a:rPr lang="en-US" sz="1800" b="0" i="1" u="none" strike="noStrike" baseline="0" dirty="0">
                <a:latin typeface="LMMathItalic10-Regular"/>
              </a:rPr>
              <a:t>.</a:t>
            </a:r>
            <a:r>
              <a:rPr lang="en-US" sz="1800" b="0" i="0" u="none" strike="noStrike" baseline="0" dirty="0">
                <a:latin typeface="LMRoman10-Regular"/>
              </a:rPr>
              <a:t>0. Inference</a:t>
            </a: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temperature does not significantly affect downstream performance.</a:t>
            </a:r>
          </a:p>
          <a:p>
            <a:pPr algn="l"/>
            <a:endParaRPr lang="en-US" sz="1800" b="0" i="0" u="none" strike="noStrike" baseline="0" dirty="0">
              <a:latin typeface="LMRoman10-Regular"/>
            </a:endParaRP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The temperature used for generating responses is fixed at </a:t>
            </a:r>
            <a:r>
              <a:rPr lang="en-US" sz="1800" b="0" i="1" u="none" strike="noStrike" baseline="0" dirty="0" err="1">
                <a:latin typeface="LMMathItalic10-Regular"/>
              </a:rPr>
              <a:t>σ</a:t>
            </a:r>
            <a:r>
              <a:rPr lang="en-US" sz="1800" b="0" i="0" u="none" strike="noStrike" baseline="0" dirty="0" err="1">
                <a:latin typeface="LMRoman8-Regular"/>
              </a:rPr>
              <a:t>inf</a:t>
            </a:r>
            <a:r>
              <a:rPr lang="en-US" sz="1800" b="0" i="0" u="none" strike="noStrike" baseline="0" dirty="0">
                <a:latin typeface="LMRoman8-Regular"/>
              </a:rPr>
              <a:t> </a:t>
            </a:r>
            <a:r>
              <a:rPr lang="en-US" sz="1800" b="0" i="0" u="none" strike="noStrike" baseline="0" dirty="0">
                <a:latin typeface="LMRoman10-Regular"/>
              </a:rPr>
              <a:t>= 1</a:t>
            </a:r>
            <a:r>
              <a:rPr lang="en-US" sz="1800" b="0" i="1" u="none" strike="noStrike" baseline="0" dirty="0">
                <a:latin typeface="LMMathItalic10-Regular"/>
              </a:rPr>
              <a:t>.</a:t>
            </a:r>
            <a:r>
              <a:rPr lang="en-US" sz="1800" b="0" i="0" u="none" strike="noStrike" baseline="0" dirty="0">
                <a:latin typeface="LMRoman10-Regular"/>
              </a:rPr>
              <a:t>5. Verification</a:t>
            </a:r>
          </a:p>
          <a:p>
            <a:pPr algn="l"/>
            <a:r>
              <a:rPr lang="en-US" sz="1800" b="0" i="0" u="none" strike="noStrike" baseline="0" dirty="0">
                <a:latin typeface="LMRoman10-Regular"/>
              </a:rPr>
              <a:t>temperature does not significantly affect downstream performance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5D09-F1D1-4A60-8E2A-AF4BD42ABA4A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404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9DFA-C540-4D5D-88CD-A04E8FD4D3C6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91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32EDC-BFEB-495F-8966-2D8157416B23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194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1EB7-9A45-4461-838A-D7166626C763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463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5BBEA-477A-4E05-B672-0AC466D8CABE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611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CCDD-B21F-4992-9A41-BFF82AADB338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32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8189-61C9-4968-8335-970E5781E60B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674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2DA5-9832-445A-907E-1F0073E3A6D1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40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9905D-90BF-4193-A70C-1B9DA56F8AD2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8193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7015-B400-4287-9CE0-5149604C066D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396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69E2-14CE-4691-B4C0-143CC314D1FD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4046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107D-6909-4B84-83BD-6099FCAC077A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64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3F0E-590B-415F-A978-9503E156E6CA}" type="datetime8">
              <a:rPr lang="en-PK" smtClean="0"/>
              <a:t>29/04/2025 14:49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EF386-1823-4581-89E9-14E607491B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73831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2502.01839" TargetMode="Externa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emf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smoke&#10;&#10;Description automatically generated">
            <a:extLst>
              <a:ext uri="{FF2B5EF4-FFF2-40B4-BE49-F238E27FC236}">
                <a16:creationId xmlns:a16="http://schemas.microsoft.com/office/drawing/2014/main" id="{64F804D2-CAF8-401D-A0F9-CBDF2FD227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0FB56-EC92-4421-B99E-AEFF44D9C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Plethora Light" panose="01000000000000000000" pitchFamily="2" charset="0"/>
              </a:rPr>
              <a:t>Sample, Scrutinize and Scale</a:t>
            </a:r>
            <a:r>
              <a:rPr lang="en-US" dirty="0">
                <a:latin typeface="Plethora Light" panose="01000000000000000000" pitchFamily="2" charset="0"/>
              </a:rPr>
              <a:t>: Effective Inference-Time Search by Scaling Verification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71EC8-F7C3-4BE3-9DC6-96E702F2E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Plethora Light" panose="01000000000000000000" pitchFamily="2" charset="0"/>
              </a:rPr>
              <a:t>Group members </a:t>
            </a:r>
          </a:p>
          <a:p>
            <a:r>
              <a:rPr lang="en-US" dirty="0">
                <a:latin typeface="Plethora Light" panose="01000000000000000000" pitchFamily="2" charset="0"/>
              </a:rPr>
              <a:t>Javeria Shahid	 		21L-7694</a:t>
            </a:r>
          </a:p>
          <a:p>
            <a:r>
              <a:rPr lang="en-US" dirty="0">
                <a:latin typeface="Plethora Light" panose="01000000000000000000" pitchFamily="2" charset="0"/>
              </a:rPr>
              <a:t>Wara Imran 			21L-6244</a:t>
            </a:r>
          </a:p>
          <a:p>
            <a:r>
              <a:rPr lang="en-US" dirty="0">
                <a:latin typeface="Plethora Light" panose="01000000000000000000" pitchFamily="2" charset="0"/>
              </a:rPr>
              <a:t>Abdur Rehman Haroon		 21L-5691</a:t>
            </a:r>
          </a:p>
          <a:p>
            <a:r>
              <a:rPr lang="en-US" dirty="0">
                <a:latin typeface="Plethora Light" panose="01000000000000000000" pitchFamily="2" charset="0"/>
              </a:rPr>
              <a:t>Abdul Basit 			21L-6259</a:t>
            </a: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7C28-90B9-4AF9-80B1-6927A643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9455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63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41E9A322-1807-4104-A439-CF609C5A8D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3206F1-6D10-4A09-A056-114FA9EB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/>
          <a:p>
            <a:r>
              <a:rPr lang="en-US" dirty="0">
                <a:latin typeface="Plethora Light" panose="01000000000000000000" pitchFamily="2" charset="0"/>
                <a:ea typeface="Yu Mincho Light" panose="020B0400000000000000" pitchFamily="18" charset="-128"/>
              </a:rPr>
              <a:t>Overview</a:t>
            </a:r>
            <a:r>
              <a:rPr lang="en-US" dirty="0">
                <a:latin typeface="Century Gothic" panose="020B0502020202020204" pitchFamily="34" charset="0"/>
                <a:ea typeface="Yu Mincho Light" panose="020B0400000000000000" pitchFamily="18" charset="-128"/>
              </a:rPr>
              <a:t> </a:t>
            </a:r>
            <a:endParaRPr lang="en-PK" dirty="0">
              <a:latin typeface="Century Gothic" panose="020B0502020202020204" pitchFamily="34" charset="0"/>
              <a:ea typeface="Yu Mincho Light" panose="020B0400000000000000" pitchFamily="18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C0B1-DD31-4D81-9A61-DF2ADA3D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Brief introduction of the authors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The motivation behind the paper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Problem elaboration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S</a:t>
            </a:r>
            <a:r>
              <a:rPr lang="en-PK" dirty="0">
                <a:latin typeface="Plethora Light" panose="01000000000000000000" pitchFamily="2" charset="0"/>
              </a:rPr>
              <a:t>³</a:t>
            </a:r>
            <a:r>
              <a:rPr lang="en-US" dirty="0">
                <a:latin typeface="Plethora Light" panose="01000000000000000000" pitchFamily="2" charset="0"/>
              </a:rPr>
              <a:t> Sample, Scrutinize, Scale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Analysis of S</a:t>
            </a:r>
            <a:r>
              <a:rPr lang="en-PK" dirty="0">
                <a:latin typeface="Plethora Light" panose="01000000000000000000" pitchFamily="2" charset="0"/>
              </a:rPr>
              <a:t>³ </a:t>
            </a:r>
            <a:endParaRPr lang="en-US" dirty="0">
              <a:latin typeface="Plethora Light" panose="01000000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Comparison with other methods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Example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Plethora Light" panose="01000000000000000000" pitchFamily="2" charset="0"/>
              </a:rPr>
              <a:t>Conclusion &amp; key takeaways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5528E-9A2A-48F8-9BBF-5DBA2580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303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smoke&#10;&#10;Description automatically generated">
            <a:extLst>
              <a:ext uri="{FF2B5EF4-FFF2-40B4-BE49-F238E27FC236}">
                <a16:creationId xmlns:a16="http://schemas.microsoft.com/office/drawing/2014/main" id="{6D379103-D71A-4F3E-9594-6E81948B9A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19680" y="-2798444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DD0B58-890C-4FDC-9DF8-C67509B3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en-US" dirty="0">
                <a:latin typeface="Plethora Light" panose="01000000000000000000" pitchFamily="2" charset="0"/>
                <a:ea typeface="+mn-ea"/>
                <a:cs typeface="+mn-cs"/>
              </a:rPr>
              <a:t>The authors </a:t>
            </a:r>
            <a:endParaRPr lang="en-PK" dirty="0">
              <a:latin typeface="Plethora Light" panose="010000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D59A0-5750-4038-A3EF-793875BC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/>
              <a:t>3</a:t>
            </a:fld>
            <a:endParaRPr lang="en-PK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82C0D5-5533-4222-B4AC-967611D614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4285"/>
            <a:ext cx="10515600" cy="4260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altLang="en-PK" dirty="0">
                <a:latin typeface="Plethora Light" panose="01000000000000000000" pitchFamily="2" charset="0"/>
              </a:rPr>
              <a:t>Researchers and Scientist at Google Research </a:t>
            </a:r>
          </a:p>
          <a:p>
            <a:pPr marL="571500" indent="-571500">
              <a:buFont typeface="+mj-lt"/>
              <a:buAutoNum type="romanLcPeriod"/>
            </a:pPr>
            <a:r>
              <a:rPr lang="en-PK" altLang="en-PK" b="1" dirty="0">
                <a:latin typeface="Plethora Light" panose="01000000000000000000" pitchFamily="2" charset="0"/>
              </a:rPr>
              <a:t>Eric Zhao</a:t>
            </a:r>
            <a:endParaRPr lang="en-US" altLang="en-PK" b="1" dirty="0">
              <a:latin typeface="Plethora Light" panose="01000000000000000000" pitchFamily="2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PK" altLang="en-PK" dirty="0">
                <a:latin typeface="Plethora Light" panose="01000000000000000000" pitchFamily="2" charset="0"/>
              </a:rPr>
              <a:t>language models, reasoning, and scalable inference.</a:t>
            </a:r>
          </a:p>
          <a:p>
            <a:pPr marL="571500" indent="-571500">
              <a:buFont typeface="+mj-lt"/>
              <a:buAutoNum type="romanLcPeriod"/>
            </a:pPr>
            <a:r>
              <a:rPr lang="en-PK" altLang="en-PK" b="1" dirty="0" err="1">
                <a:latin typeface="Plethora Light" panose="01000000000000000000" pitchFamily="2" charset="0"/>
              </a:rPr>
              <a:t>Pranjal</a:t>
            </a:r>
            <a:r>
              <a:rPr lang="en-PK" altLang="en-PK" b="1" dirty="0">
                <a:latin typeface="Plethora Light" panose="01000000000000000000" pitchFamily="2" charset="0"/>
              </a:rPr>
              <a:t> Awasthi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PK" altLang="en-PK" dirty="0">
                <a:latin typeface="Plethora Light" panose="01000000000000000000" pitchFamily="2" charset="0"/>
              </a:rPr>
              <a:t>Machine Learning Theory, Efficient Algorithms, and Learning at Scale.</a:t>
            </a:r>
          </a:p>
          <a:p>
            <a:pPr marL="571500" indent="-571500">
              <a:buFont typeface="+mj-lt"/>
              <a:buAutoNum type="romanLcPeriod"/>
            </a:pPr>
            <a:r>
              <a:rPr lang="en-PK" altLang="en-PK" b="1" dirty="0">
                <a:latin typeface="Plethora Light" panose="01000000000000000000" pitchFamily="2" charset="0"/>
              </a:rPr>
              <a:t>Sreenivas </a:t>
            </a:r>
            <a:r>
              <a:rPr lang="en-PK" altLang="en-PK" b="1" dirty="0" err="1">
                <a:latin typeface="Plethora Light" panose="01000000000000000000" pitchFamily="2" charset="0"/>
              </a:rPr>
              <a:t>Gollapudi</a:t>
            </a:r>
            <a:endParaRPr lang="en-PK" altLang="en-PK" b="1" dirty="0">
              <a:latin typeface="Plethora Light" panose="01000000000000000000" pitchFamily="2" charset="0"/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PK" altLang="en-PK" dirty="0">
                <a:latin typeface="Plethora Light" panose="01000000000000000000" pitchFamily="2" charset="0"/>
              </a:rPr>
              <a:t>contributed extensively to making AI more efficient and scalable.</a:t>
            </a:r>
            <a:endParaRPr lang="en-US" altLang="en-PK" dirty="0">
              <a:latin typeface="Plethora Light" panose="01000000000000000000" pitchFamily="2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altLang="en-PK" b="1" dirty="0">
                <a:latin typeface="Plethora Light" panose="01000000000000000000" pitchFamily="2" charset="0"/>
              </a:rPr>
              <a:t>Common theme: “Improving AI reasoning”</a:t>
            </a:r>
            <a:endParaRPr lang="en-PK" altLang="en-PK" b="1" dirty="0">
              <a:latin typeface="Plethora Light" panose="01000000000000000000" pitchFamily="2" charset="0"/>
            </a:endParaRPr>
          </a:p>
          <a:p>
            <a:pPr marL="571500" indent="-571500">
              <a:buFont typeface="+mj-lt"/>
              <a:buAutoNum type="romanLcPeriod"/>
            </a:pPr>
            <a:endParaRPr lang="en-PK" altLang="en-PK" dirty="0">
              <a:latin typeface="Plethora Light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32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92A26C36-9B46-45DD-B703-CA438EBA59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5175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49AB1-C7AB-4562-B848-C3BF7ACB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1. Motivation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7CF8-19B9-4D42-8A7C-69EDFD6DA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Sampling-based search as a fundamental paradigm</a:t>
            </a:r>
          </a:p>
          <a:p>
            <a:r>
              <a:rPr lang="en-US" dirty="0">
                <a:latin typeface="Plethora Light" panose="01000000000000000000" pitchFamily="2" charset="0"/>
              </a:rPr>
              <a:t>Understand what governs scaling test trends</a:t>
            </a:r>
          </a:p>
          <a:p>
            <a:r>
              <a:rPr lang="en-US" dirty="0">
                <a:latin typeface="Plethora Light" panose="01000000000000000000" pitchFamily="2" charset="0"/>
              </a:rPr>
              <a:t>Evaluating limits of a minimalist approach</a:t>
            </a:r>
          </a:p>
          <a:p>
            <a:r>
              <a:rPr lang="en-US" dirty="0">
                <a:latin typeface="Plethora Light" panose="01000000000000000000" pitchFamily="2" charset="0"/>
              </a:rPr>
              <a:t>Introduce benchmarks to address self-verification deficits</a:t>
            </a:r>
          </a:p>
          <a:p>
            <a:r>
              <a:rPr lang="en-US" dirty="0">
                <a:latin typeface="Plethora Light" panose="01000000000000000000" pitchFamily="2" charset="0"/>
              </a:rPr>
              <a:t>The importance of test-time compute scaling</a:t>
            </a:r>
          </a:p>
          <a:p>
            <a:r>
              <a:rPr lang="en-US" dirty="0">
                <a:latin typeface="Plethora Light" panose="01000000000000000000" pitchFamily="2" charset="0"/>
              </a:rPr>
              <a:t>Balancing quality and efficiency </a:t>
            </a: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67D06-2572-465E-8BB4-52E2EAF5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4</a:t>
            </a:fld>
            <a:endParaRPr lang="en-PK">
              <a:latin typeface="Plethora Light" panose="01000000000000000000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C775BE-1790-43CF-8436-69DEC6923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15816"/>
              </p:ext>
            </p:extLst>
          </p:nvPr>
        </p:nvGraphicFramePr>
        <p:xfrm>
          <a:off x="783515" y="6339681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6160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0" i="1" u="sng" dirty="0">
                          <a:solidFill>
                            <a:srgbClr val="72757C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https://doi.org/10.48550/arXiv.2502.01839</a:t>
                      </a:r>
                      <a:endParaRPr lang="en-US" i="1" dirty="0">
                        <a:solidFill>
                          <a:srgbClr val="72757C"/>
                        </a:solidFill>
                        <a:effectLst/>
                      </a:endParaRPr>
                    </a:p>
                  </a:txBody>
                  <a:tcPr marR="495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50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70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0E3F-551B-4A35-B72D-AE71A503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1.2 Goals 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1F38-0BCD-4DEB-953D-6EF44745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Simplicity</a:t>
            </a:r>
          </a:p>
          <a:p>
            <a:r>
              <a:rPr lang="en-US" dirty="0">
                <a:latin typeface="Plethora Light" panose="01000000000000000000" pitchFamily="2" charset="0"/>
              </a:rPr>
              <a:t>Scalability</a:t>
            </a:r>
          </a:p>
          <a:p>
            <a:r>
              <a:rPr lang="en-US" dirty="0">
                <a:latin typeface="Plethora Light" panose="01000000000000000000" pitchFamily="2" charset="0"/>
              </a:rPr>
              <a:t>Parallelism</a:t>
            </a: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AEC6F-AA9F-4ECD-A7B3-AD4BCAB8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5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56DDC78C-C4E3-4A4B-958B-F2126E15AC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1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5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9429-F054-4933-B4A1-7B925FE8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2. Problem Statement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58264-0C7F-47D3-BCC8-7C06B9191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For AI tasks of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Search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Retrieval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Summarization </a:t>
            </a:r>
          </a:p>
          <a:p>
            <a:r>
              <a:rPr lang="en-US" dirty="0">
                <a:latin typeface="Plethora Light" panose="01000000000000000000" pitchFamily="2" charset="0"/>
              </a:rPr>
              <a:t>Smart verification, not exhaustive </a:t>
            </a:r>
          </a:p>
          <a:p>
            <a:r>
              <a:rPr lang="en-US" dirty="0">
                <a:latin typeface="Plethora Light" panose="01000000000000000000" pitchFamily="2" charset="0"/>
              </a:rPr>
              <a:t>Combatting full verification and no (or very little) verification </a:t>
            </a:r>
          </a:p>
          <a:p>
            <a:r>
              <a:rPr lang="en-US" dirty="0">
                <a:latin typeface="Plethora Light" panose="01000000000000000000" pitchFamily="2" charset="0"/>
              </a:rPr>
              <a:t>what test-time scaling trends emerge as we scale both the number of sampled responses and verification capabilities?</a:t>
            </a: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53D6E-D450-4C58-8DC9-1295D807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6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279E779F-2C40-48E9-ACEE-77D34C0B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6FE0-3D0D-4DB5-B384-D44FA445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3.  Introduction to S</a:t>
            </a:r>
            <a:r>
              <a:rPr lang="en-PK" dirty="0">
                <a:latin typeface="Plethora Light" panose="01000000000000000000" pitchFamily="2" charset="0"/>
              </a:rPr>
              <a:t>³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92C7-10D0-48A3-A73F-000D8BC65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Select the best candidate response at inference time</a:t>
            </a:r>
          </a:p>
          <a:p>
            <a:r>
              <a:rPr lang="en-US" dirty="0">
                <a:latin typeface="Plethora Light" panose="01000000000000000000" pitchFamily="2" charset="0"/>
              </a:rPr>
              <a:t>Sample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A small subset of candidates</a:t>
            </a:r>
          </a:p>
          <a:p>
            <a:r>
              <a:rPr lang="en-US" dirty="0">
                <a:latin typeface="Plethora Light" panose="01000000000000000000" pitchFamily="2" charset="0"/>
              </a:rPr>
              <a:t>Scrutinize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Self-verification </a:t>
            </a:r>
          </a:p>
          <a:p>
            <a:r>
              <a:rPr lang="en-US" dirty="0">
                <a:latin typeface="Plethora Light" panose="01000000000000000000" pitchFamily="2" charset="0"/>
              </a:rPr>
              <a:t>Scale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Analyze the effect of increasing compute and parallelism </a:t>
            </a: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F9776-98C1-4353-B7B7-A729EF35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7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C4A8B269-50EB-4299-B8F8-63997FC4A7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1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7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2C4E-588B-4CCC-BA4F-D3A09A25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4. Methodology</a:t>
            </a:r>
            <a:r>
              <a:rPr lang="en-PK" b="0" i="0" dirty="0">
                <a:solidFill>
                  <a:srgbClr val="ECECEC"/>
                </a:solidFill>
                <a:effectLst/>
                <a:latin typeface="Plethora Light" panose="01000000000000000000" pitchFamily="2" charset="0"/>
              </a:rPr>
              <a:t>—</a:t>
            </a:r>
            <a:r>
              <a:rPr lang="en-US" dirty="0">
                <a:latin typeface="Plethora Light" panose="01000000000000000000" pitchFamily="2" charset="0"/>
              </a:rPr>
              <a:t>Algorithm	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06F7-D9D3-49E4-A3B2-73F82E05D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Plethora Light" panose="01000000000000000000" pitchFamily="2" charset="0"/>
              </a:rPr>
              <a:t>Generate responses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Given a prompt</a:t>
            </a:r>
          </a:p>
          <a:p>
            <a:r>
              <a:rPr lang="en-US" dirty="0">
                <a:latin typeface="Plethora Light" panose="01000000000000000000" pitchFamily="2" charset="0"/>
              </a:rPr>
              <a:t>Verify responses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verification scores assigned to each candidate </a:t>
            </a:r>
          </a:p>
          <a:p>
            <a:r>
              <a:rPr lang="en-US" dirty="0">
                <a:latin typeface="Plethora Light" panose="01000000000000000000" pitchFamily="2" charset="0"/>
              </a:rPr>
              <a:t>Scaling study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Accuracy across different values of responses sampled and verification scores </a:t>
            </a:r>
          </a:p>
          <a:p>
            <a:r>
              <a:rPr lang="en-US" dirty="0">
                <a:latin typeface="Plethora Light" panose="01000000000000000000" pitchFamily="2" charset="0"/>
              </a:rPr>
              <a:t>Handling ambiguity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Top 5% 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Self-verify the best responses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Localizes small errors and differences </a:t>
            </a:r>
          </a:p>
          <a:p>
            <a:pPr lvl="1"/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8CAEC-DC16-4C45-BB8D-650C71A4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8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499CC00D-1821-4C46-8AD8-A31528EC68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7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7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E1B7-83AD-45BA-B654-CF5EB3D6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4.2. Technical Details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30A8-08AD-4CAB-B061-8625C783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Plethora Light" panose="01000000000000000000" pitchFamily="2" charset="0"/>
              </a:rPr>
              <a:t>Using </a:t>
            </a:r>
            <a:r>
              <a:rPr lang="en-US" b="1" i="0" dirty="0">
                <a:solidFill>
                  <a:srgbClr val="E8E8E8"/>
                </a:solidFill>
                <a:effectLst/>
                <a:latin typeface="Plethora Light" panose="01000000000000000000" pitchFamily="2" charset="0"/>
              </a:rPr>
              <a:t>Gemini v1.5-Pro &amp; FLASH and </a:t>
            </a:r>
            <a:r>
              <a:rPr lang="en-US" b="1" i="0" dirty="0" err="1">
                <a:solidFill>
                  <a:srgbClr val="E8E8E8"/>
                </a:solidFill>
                <a:effectLst/>
                <a:latin typeface="Plethora Light" panose="01000000000000000000" pitchFamily="2" charset="0"/>
              </a:rPr>
              <a:t>Verification@kinf</a:t>
            </a:r>
            <a:r>
              <a:rPr lang="en-US" b="0" i="0" dirty="0">
                <a:solidFill>
                  <a:srgbClr val="E8E8E8"/>
                </a:solidFill>
                <a:effectLst/>
                <a:latin typeface="Plethora Light" panose="01000000000000000000" pitchFamily="2" charset="0"/>
              </a:rPr>
              <a:t> </a:t>
            </a:r>
            <a:endParaRPr lang="en-US" dirty="0">
              <a:latin typeface="Plethora Light" panose="01000000000000000000" pitchFamily="2" charset="0"/>
            </a:endParaRPr>
          </a:p>
          <a:p>
            <a:r>
              <a:rPr lang="en-US" dirty="0">
                <a:latin typeface="Plethora Light" panose="01000000000000000000" pitchFamily="2" charset="0"/>
              </a:rPr>
              <a:t>Sampling setup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Responses per question = 200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Temperature = 1.5</a:t>
            </a:r>
          </a:p>
          <a:p>
            <a:r>
              <a:rPr lang="en-US" dirty="0">
                <a:latin typeface="Plethora Light" panose="01000000000000000000" pitchFamily="2" charset="0"/>
              </a:rPr>
              <a:t>Verification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50 verification queries per response candidate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Highest verification scores</a:t>
            </a:r>
          </a:p>
          <a:p>
            <a:r>
              <a:rPr lang="en-US" dirty="0">
                <a:latin typeface="Plethora Light" panose="01000000000000000000" pitchFamily="2" charset="0"/>
              </a:rPr>
              <a:t>To choose from close verification scores</a:t>
            </a:r>
            <a:r>
              <a:rPr lang="en-PK" b="0" i="0" dirty="0">
                <a:solidFill>
                  <a:srgbClr val="ECECEC"/>
                </a:solidFill>
                <a:effectLst/>
                <a:latin typeface="Google Sans"/>
              </a:rPr>
              <a:t>—</a:t>
            </a:r>
            <a:r>
              <a:rPr lang="en-US" dirty="0">
                <a:latin typeface="Plethora Light" panose="01000000000000000000" pitchFamily="2" charset="0"/>
              </a:rPr>
              <a:t>Tie Breaker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Pick top 5% scoring responses</a:t>
            </a:r>
          </a:p>
          <a:p>
            <a:pPr lvl="1"/>
            <a:r>
              <a:rPr lang="en-US" dirty="0">
                <a:latin typeface="Plethora Light" panose="01000000000000000000" pitchFamily="2" charset="0"/>
              </a:rPr>
              <a:t>Run 100 pairwise comparison </a:t>
            </a:r>
          </a:p>
          <a:p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E5143-03BB-4594-B37D-2BD355CF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9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C5CC0B9C-A5A9-4C76-9BA0-EB9AED0A43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7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7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B4ADA7C1-1919-4357-8DDC-BA69C03C5F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97481" y="-2798444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B36DA0-E528-4520-BB0E-B20774D6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4.3. How it works with Gemini 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E883-111E-4DB9-B5A6-31BDA322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10</a:t>
            </a:fld>
            <a:endParaRPr lang="en-PK">
              <a:latin typeface="Plethora Light" panose="01000000000000000000" pitchFamily="2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6E28AD5-2D28-4174-B60F-7C1836E12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8546564"/>
              </p:ext>
            </p:extLst>
          </p:nvPr>
        </p:nvGraphicFramePr>
        <p:xfrm>
          <a:off x="1" y="-258184"/>
          <a:ext cx="12166599" cy="711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11534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7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E1B7-83AD-45BA-B654-CF5EB3D6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4.4. Impact of Number of Inference Attempts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30A8-08AD-4CAB-B061-8625C783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Plethora Light" panose="01000000000000000000" pitchFamily="2" charset="0"/>
            </a:endParaRPr>
          </a:p>
          <a:p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E5143-03BB-4594-B37D-2BD355CF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11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7DCC21-0A22-48C3-ACD9-A6579082C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119333"/>
            <a:ext cx="2451188" cy="288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A4A9D-2643-424A-A696-569414A1E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2119333"/>
            <a:ext cx="2451187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19AA27-0C8C-40B8-907B-8DE33AFEF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713" y="2119333"/>
            <a:ext cx="2451187" cy="28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4DD340-70FA-49A5-AADC-BD0DF9A6A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2613" y="2119333"/>
            <a:ext cx="2451187" cy="2880000"/>
          </a:xfrm>
          <a:prstGeom prst="rect">
            <a:avLst/>
          </a:prstGeom>
        </p:spPr>
      </p:pic>
      <p:pic>
        <p:nvPicPr>
          <p:cNvPr id="13" name="Picture 12" descr="A close-up of smoke&#10;&#10;Description automatically generated">
            <a:extLst>
              <a:ext uri="{FF2B5EF4-FFF2-40B4-BE49-F238E27FC236}">
                <a16:creationId xmlns:a16="http://schemas.microsoft.com/office/drawing/2014/main" id="{76C890DE-C77A-4671-8995-7F4B96872A2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29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4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209-E75A-4856-84BC-1450857C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5. Comparison</a:t>
            </a:r>
            <a:endParaRPr lang="en-PK" dirty="0">
              <a:latin typeface="Plethora Light" panose="010000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65C7D6-D6F2-48E9-B9DB-9FEBAC15A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6523" y="1825625"/>
            <a:ext cx="963895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2865-BB8C-451B-894C-AC8CB980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12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9478C781-E90D-4289-9894-B0E0887598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04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4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smoke&#10;&#10;Description automatically generated">
            <a:extLst>
              <a:ext uri="{FF2B5EF4-FFF2-40B4-BE49-F238E27FC236}">
                <a16:creationId xmlns:a16="http://schemas.microsoft.com/office/drawing/2014/main" id="{898400EB-DBB5-45C6-8D4D-A7C352F4E9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79040" y="-266191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02E90-01A6-43FB-9C3C-EE74C66D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5.2 Visualized comparison</a:t>
            </a:r>
            <a:endParaRPr lang="en-PK" dirty="0">
              <a:latin typeface="Plethora Light" panose="010000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2677EC-A1B1-4F09-A77F-BFA744046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595B-0BC9-4A9F-9A6F-892EEE8B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13</a:t>
            </a:fld>
            <a:endParaRPr lang="en-PK">
              <a:latin typeface="Plethora Light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6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smoke&#10;&#10;Description automatically generated">
            <a:extLst>
              <a:ext uri="{FF2B5EF4-FFF2-40B4-BE49-F238E27FC236}">
                <a16:creationId xmlns:a16="http://schemas.microsoft.com/office/drawing/2014/main" id="{0A43043B-86E5-47F9-BE3B-6CAF4098D0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72080" y="-2661919"/>
            <a:ext cx="6847839" cy="12191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FC837-DA2D-4577-A8AC-2AC2C067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6510"/>
            <a:ext cx="2743200" cy="365125"/>
          </a:xfrm>
        </p:spPr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14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881173-47FB-4F08-8119-B7CAB6CDB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clrChange>
              <a:clrFrom>
                <a:srgbClr val="55C8F3"/>
              </a:clrFrom>
              <a:clrTo>
                <a:srgbClr val="55C8F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" y="2242970"/>
            <a:ext cx="10515600" cy="351664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544C9C5-BCC2-4D88-8647-C11BC129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6. Performance </a:t>
            </a:r>
            <a:endParaRPr lang="en-PK" dirty="0">
              <a:latin typeface="Plethora Light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215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smoke&#10;&#10;Description automatically generated">
            <a:extLst>
              <a:ext uri="{FF2B5EF4-FFF2-40B4-BE49-F238E27FC236}">
                <a16:creationId xmlns:a16="http://schemas.microsoft.com/office/drawing/2014/main" id="{4E6AB780-0B5A-4D58-9745-61EBB1E599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72081" y="-266191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C4380-33B2-42CE-8723-81E538F7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6.2. Temperature’s impact 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C173-D871-4A6E-8653-6A554BE4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15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27FC75A-871F-4E89-BAFF-80D24B4F7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746432" y="4245345"/>
            <a:ext cx="8699134" cy="172544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7C0492-D2D3-458F-98E6-A8A6C18BA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432" y="1842429"/>
            <a:ext cx="8699134" cy="195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4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3242-705D-4340-BEE3-11F03026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Why S</a:t>
            </a:r>
            <a:r>
              <a:rPr lang="en-PK" dirty="0">
                <a:latin typeface="Plethora Light" panose="01000000000000000000" pitchFamily="2" charset="0"/>
              </a:rPr>
              <a:t>³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0791F-3E18-4A6A-A96B-AD867A2FC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Saves massive compute and time.</a:t>
            </a:r>
          </a:p>
          <a:p>
            <a:r>
              <a:rPr lang="en-US" dirty="0">
                <a:latin typeface="Plethora Light" panose="01000000000000000000" pitchFamily="2" charset="0"/>
              </a:rPr>
              <a:t>Still achieves near-optimal output quality.</a:t>
            </a:r>
          </a:p>
          <a:p>
            <a:r>
              <a:rPr lang="en-US" dirty="0">
                <a:latin typeface="Plethora Light" panose="01000000000000000000" pitchFamily="2" charset="0"/>
              </a:rPr>
              <a:t>Works across many different AI tasks.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4FBA1-837A-4B22-AECC-D702BD4C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16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CA24AB6D-1FFC-4B0E-8285-65C34FE833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22774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38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C43E-9BF8-4ED5-A60C-D7A24CA8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Recap 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7F98-0665-4EFD-84BF-61F7072EA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Generate many answers </a:t>
            </a:r>
          </a:p>
          <a:p>
            <a:r>
              <a:rPr lang="en-US" dirty="0">
                <a:latin typeface="Plethora Light" panose="01000000000000000000" pitchFamily="2" charset="0"/>
              </a:rPr>
              <a:t>Make the model question each answer multiple times </a:t>
            </a:r>
          </a:p>
          <a:p>
            <a:r>
              <a:rPr lang="en-US" dirty="0">
                <a:latin typeface="Plethora Light" panose="01000000000000000000" pitchFamily="2" charset="0"/>
              </a:rPr>
              <a:t>Select the highest scoring answer</a:t>
            </a:r>
          </a:p>
          <a:p>
            <a:r>
              <a:rPr lang="en-US" dirty="0">
                <a:latin typeface="Plethora Light" panose="01000000000000000000" pitchFamily="2" charset="0"/>
              </a:rPr>
              <a:t>To narrow down from similar scores, directly compare each answer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54201-10E2-48BA-A2BE-035327DB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17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DF94E7F7-A12C-43E9-A1C6-4720158C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32828" y="-2661919"/>
            <a:ext cx="6847839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7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DF94E7F7-A12C-43E9-A1C6-4720158C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32828" y="-2661919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E8C43E-9BF8-4ED5-A60C-D7A24CA8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Test  Case Example 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54201-10E2-48BA-A2BE-035327DB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18</a:t>
            </a:fld>
            <a:endParaRPr lang="en-PK">
              <a:latin typeface="Plethora Light" panose="01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8DBFEB-7276-4718-8DBE-47528935D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428" y="1396282"/>
            <a:ext cx="9329143" cy="509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07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smoke&#10;&#10;Description automatically generated">
            <a:extLst>
              <a:ext uri="{FF2B5EF4-FFF2-40B4-BE49-F238E27FC236}">
                <a16:creationId xmlns:a16="http://schemas.microsoft.com/office/drawing/2014/main" id="{F8A44F19-37FA-4E59-A7E3-3EBCA38EBE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7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86616" y="-2672080"/>
            <a:ext cx="6847839" cy="1219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33BF1-7693-4556-9986-B5BF0B51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7. Conclusion &amp; Key Takeaways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D32D-D179-43FB-8E3E-84883EF5B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lethora Light" panose="01000000000000000000" pitchFamily="2" charset="0"/>
              </a:rPr>
              <a:t>Sampling-based search scales efficiently with simple, parallel implementations.</a:t>
            </a:r>
          </a:p>
          <a:p>
            <a:r>
              <a:rPr lang="en-US" dirty="0">
                <a:latin typeface="Plethora Light" panose="01000000000000000000" pitchFamily="2" charset="0"/>
              </a:rPr>
              <a:t>Implicit scaling and self-verification at test-time boost performance.</a:t>
            </a:r>
          </a:p>
          <a:p>
            <a:r>
              <a:rPr lang="en-US" dirty="0">
                <a:latin typeface="Plethora Light" panose="01000000000000000000" pitchFamily="2" charset="0"/>
              </a:rPr>
              <a:t>It sets a strong baseline for evaluating model inference capabilities.</a:t>
            </a:r>
          </a:p>
          <a:p>
            <a:r>
              <a:rPr lang="en-US" dirty="0">
                <a:latin typeface="Plethora Light" panose="01000000000000000000" pitchFamily="2" charset="0"/>
              </a:rPr>
              <a:t>Future improvements should focus on systematic, agentic, and inference-aware search methods.</a:t>
            </a:r>
            <a:endParaRPr lang="en-PK" dirty="0">
              <a:latin typeface="Plethora Light" panose="01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E09B9-C986-4476-9D90-D71CBC91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F386-1823-4581-89E9-14E607491BC4}" type="slidenum">
              <a:rPr lang="en-PK" smtClean="0">
                <a:latin typeface="Plethora Light" panose="01000000000000000000" pitchFamily="2" charset="0"/>
              </a:rPr>
              <a:t>19</a:t>
            </a:fld>
            <a:endParaRPr lang="en-PK">
              <a:latin typeface="Plethora Light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04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705</Words>
  <Application>Microsoft Office PowerPoint</Application>
  <PresentationFormat>Widescreen</PresentationFormat>
  <Paragraphs>151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Google Sans</vt:lpstr>
      <vt:lpstr>LMMathItalic10-Regular</vt:lpstr>
      <vt:lpstr>LMRoman10-Regular</vt:lpstr>
      <vt:lpstr>LMRoman8-Regular</vt:lpstr>
      <vt:lpstr>Plethora Light</vt:lpstr>
      <vt:lpstr>Wingdings</vt:lpstr>
      <vt:lpstr>Office Theme</vt:lpstr>
      <vt:lpstr>Sample, Scrutinize and Scale: Effective Inference-Time Search by Scaling Verification</vt:lpstr>
      <vt:lpstr>Overview </vt:lpstr>
      <vt:lpstr>The authors </vt:lpstr>
      <vt:lpstr>1. Motivation</vt:lpstr>
      <vt:lpstr>1.2 Goals </vt:lpstr>
      <vt:lpstr>2. Problem Statement</vt:lpstr>
      <vt:lpstr>3.  Introduction to S³ </vt:lpstr>
      <vt:lpstr>4. Methodology—Algorithm </vt:lpstr>
      <vt:lpstr>4.2. Technical Details</vt:lpstr>
      <vt:lpstr>4.3. How it works with Gemini </vt:lpstr>
      <vt:lpstr>4.4. Impact of Number of Inference Attempts</vt:lpstr>
      <vt:lpstr>5. Comparison</vt:lpstr>
      <vt:lpstr>5.2 Visualized comparison</vt:lpstr>
      <vt:lpstr>6. Performance </vt:lpstr>
      <vt:lpstr>6.2. Temperature’s impact </vt:lpstr>
      <vt:lpstr>Why S³ </vt:lpstr>
      <vt:lpstr>Recap </vt:lpstr>
      <vt:lpstr>Test  Case Example </vt:lpstr>
      <vt:lpstr>7. 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Javeria Shahid</dc:creator>
  <cp:lastModifiedBy>Javeria Shahid</cp:lastModifiedBy>
  <cp:revision>34</cp:revision>
  <dcterms:created xsi:type="dcterms:W3CDTF">2025-04-28T15:46:49Z</dcterms:created>
  <dcterms:modified xsi:type="dcterms:W3CDTF">2025-04-29T09:56:42Z</dcterms:modified>
</cp:coreProperties>
</file>