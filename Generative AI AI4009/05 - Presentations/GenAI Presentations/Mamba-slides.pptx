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34" r:id="rId1"/>
  </p:sldMasterIdLst>
  <p:sldIdLst>
    <p:sldId id="284" r:id="rId2"/>
    <p:sldId id="285" r:id="rId3"/>
    <p:sldId id="324" r:id="rId4"/>
    <p:sldId id="325" r:id="rId5"/>
    <p:sldId id="326" r:id="rId6"/>
    <p:sldId id="327" r:id="rId7"/>
    <p:sldId id="328" r:id="rId8"/>
    <p:sldId id="286" r:id="rId9"/>
    <p:sldId id="287" r:id="rId10"/>
    <p:sldId id="330" r:id="rId11"/>
    <p:sldId id="288" r:id="rId12"/>
    <p:sldId id="289" r:id="rId13"/>
    <p:sldId id="290" r:id="rId14"/>
    <p:sldId id="329" r:id="rId15"/>
    <p:sldId id="308" r:id="rId16"/>
    <p:sldId id="309" r:id="rId17"/>
    <p:sldId id="291" r:id="rId18"/>
    <p:sldId id="310" r:id="rId19"/>
    <p:sldId id="311" r:id="rId20"/>
    <p:sldId id="312" r:id="rId21"/>
    <p:sldId id="313" r:id="rId22"/>
    <p:sldId id="314" r:id="rId23"/>
    <p:sldId id="266" r:id="rId24"/>
    <p:sldId id="267" r:id="rId25"/>
    <p:sldId id="268" r:id="rId26"/>
    <p:sldId id="316" r:id="rId27"/>
    <p:sldId id="331" r:id="rId28"/>
    <p:sldId id="294" r:id="rId29"/>
    <p:sldId id="295" r:id="rId30"/>
    <p:sldId id="297" r:id="rId31"/>
    <p:sldId id="296" r:id="rId32"/>
    <p:sldId id="298" r:id="rId33"/>
    <p:sldId id="299" r:id="rId34"/>
    <p:sldId id="301" r:id="rId35"/>
    <p:sldId id="317" r:id="rId36"/>
    <p:sldId id="318" r:id="rId37"/>
    <p:sldId id="320" r:id="rId38"/>
    <p:sldId id="323" r:id="rId39"/>
    <p:sldId id="322" r:id="rId40"/>
    <p:sldId id="307" r:id="rId4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E7ECBC-D5D3-090F-2CCF-AF79CCE6BB67}" v="5" dt="2025-05-10T07:08:58.668"/>
    <p1510:client id="{9F479762-E766-40EE-9DF4-DD287337C672}" v="4" dt="2025-05-10T08:21:55.938"/>
    <p1510:client id="{F74289CB-0BCA-0AF4-9334-CBAC6005D7B4}" v="4" dt="2025-05-10T07:34:18.56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63C1EF-8736-4178-8283-9D8EE30A32C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DBC108A-76E9-464C-AFF7-28168A64A438}">
      <dgm:prSet/>
      <dgm:spPr/>
      <dgm:t>
        <a:bodyPr/>
        <a:lstStyle/>
        <a:p>
          <a:r>
            <a:rPr lang="en-US"/>
            <a:t>RNN/LSTM: O(N) but forgetful + sequential</a:t>
          </a:r>
        </a:p>
      </dgm:t>
    </dgm:pt>
    <dgm:pt modelId="{849D154E-1D4E-4450-9792-C2E13F396448}" type="parTrans" cxnId="{07A7A963-EB9E-4B49-8607-E918EB537FB2}">
      <dgm:prSet/>
      <dgm:spPr/>
      <dgm:t>
        <a:bodyPr/>
        <a:lstStyle/>
        <a:p>
          <a:endParaRPr lang="en-US"/>
        </a:p>
      </dgm:t>
    </dgm:pt>
    <dgm:pt modelId="{E5C6A8E0-DD6C-446F-A14F-CEC46B602DEE}" type="sibTrans" cxnId="{07A7A963-EB9E-4B49-8607-E918EB537FB2}">
      <dgm:prSet/>
      <dgm:spPr/>
      <dgm:t>
        <a:bodyPr/>
        <a:lstStyle/>
        <a:p>
          <a:endParaRPr lang="en-US"/>
        </a:p>
      </dgm:t>
    </dgm:pt>
    <dgm:pt modelId="{49FEC233-4E9F-4247-AA07-F9ED764163DA}">
      <dgm:prSet/>
      <dgm:spPr/>
      <dgm:t>
        <a:bodyPr/>
        <a:lstStyle/>
        <a:p>
          <a:r>
            <a:rPr lang="en-US"/>
            <a:t>Transformer: attention-rich but O(N²) → limited window</a:t>
          </a:r>
        </a:p>
      </dgm:t>
    </dgm:pt>
    <dgm:pt modelId="{3DF334DB-88B3-4048-BE01-BFA0D12FAC38}" type="parTrans" cxnId="{8DEED1E2-5B67-4C82-8776-E09C4BDFFFF5}">
      <dgm:prSet/>
      <dgm:spPr/>
      <dgm:t>
        <a:bodyPr/>
        <a:lstStyle/>
        <a:p>
          <a:endParaRPr lang="en-US"/>
        </a:p>
      </dgm:t>
    </dgm:pt>
    <dgm:pt modelId="{D5923071-D507-4CFE-8F10-EE7D18FC85A2}" type="sibTrans" cxnId="{8DEED1E2-5B67-4C82-8776-E09C4BDFFFF5}">
      <dgm:prSet/>
      <dgm:spPr/>
      <dgm:t>
        <a:bodyPr/>
        <a:lstStyle/>
        <a:p>
          <a:endParaRPr lang="en-US"/>
        </a:p>
      </dgm:t>
    </dgm:pt>
    <dgm:pt modelId="{4AF0B6FA-1E4F-44FD-A092-41731EEB31B0}">
      <dgm:prSet/>
      <dgm:spPr/>
      <dgm:t>
        <a:bodyPr/>
        <a:lstStyle/>
        <a:p>
          <a:r>
            <a:rPr lang="en-US"/>
            <a:t>Goal: Combine linear-time scaling with attention-style reasoning</a:t>
          </a:r>
        </a:p>
      </dgm:t>
    </dgm:pt>
    <dgm:pt modelId="{B78901B9-C077-4502-A881-B1D32939377D}" type="parTrans" cxnId="{6BD7D035-4A7E-4F15-8A10-ACC551259ABE}">
      <dgm:prSet/>
      <dgm:spPr/>
      <dgm:t>
        <a:bodyPr/>
        <a:lstStyle/>
        <a:p>
          <a:endParaRPr lang="en-US"/>
        </a:p>
      </dgm:t>
    </dgm:pt>
    <dgm:pt modelId="{05457350-EF3A-4CCC-8872-9C3118FE7CCC}" type="sibTrans" cxnId="{6BD7D035-4A7E-4F15-8A10-ACC551259ABE}">
      <dgm:prSet/>
      <dgm:spPr/>
      <dgm:t>
        <a:bodyPr/>
        <a:lstStyle/>
        <a:p>
          <a:endParaRPr lang="en-US"/>
        </a:p>
      </dgm:t>
    </dgm:pt>
    <dgm:pt modelId="{79488656-E5D3-468A-AE6E-A9B3C38852C9}">
      <dgm:prSet/>
      <dgm:spPr/>
      <dgm:t>
        <a:bodyPr/>
        <a:lstStyle/>
        <a:p>
          <a:r>
            <a:rPr lang="en-US"/>
            <a:t>Mamba: Selective SSM + hardware-aware scan bridges this gap</a:t>
          </a:r>
        </a:p>
      </dgm:t>
    </dgm:pt>
    <dgm:pt modelId="{C2BE91A2-1E22-4AF0-A4BC-D4243EE56E01}" type="parTrans" cxnId="{BF4C4FE6-C9E9-46FD-A349-3A53A4EECB78}">
      <dgm:prSet/>
      <dgm:spPr/>
      <dgm:t>
        <a:bodyPr/>
        <a:lstStyle/>
        <a:p>
          <a:endParaRPr lang="en-US"/>
        </a:p>
      </dgm:t>
    </dgm:pt>
    <dgm:pt modelId="{C7B97A3D-EB8F-48F2-A191-7385E24C6D38}" type="sibTrans" cxnId="{BF4C4FE6-C9E9-46FD-A349-3A53A4EECB78}">
      <dgm:prSet/>
      <dgm:spPr/>
      <dgm:t>
        <a:bodyPr/>
        <a:lstStyle/>
        <a:p>
          <a:endParaRPr lang="en-US"/>
        </a:p>
      </dgm:t>
    </dgm:pt>
    <dgm:pt modelId="{E72BE3B9-85E3-40B6-B80A-F5E52F0BEA07}" type="pres">
      <dgm:prSet presAssocID="{9763C1EF-8736-4178-8283-9D8EE30A32CD}" presName="linear" presStyleCnt="0">
        <dgm:presLayoutVars>
          <dgm:animLvl val="lvl"/>
          <dgm:resizeHandles val="exact"/>
        </dgm:presLayoutVars>
      </dgm:prSet>
      <dgm:spPr/>
    </dgm:pt>
    <dgm:pt modelId="{19905761-5192-4C5F-B977-283A4BC86731}" type="pres">
      <dgm:prSet presAssocID="{DDBC108A-76E9-464C-AFF7-28168A64A43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662764D-1BEA-4D9F-A1D3-B676B4E3AFA0}" type="pres">
      <dgm:prSet presAssocID="{E5C6A8E0-DD6C-446F-A14F-CEC46B602DEE}" presName="spacer" presStyleCnt="0"/>
      <dgm:spPr/>
    </dgm:pt>
    <dgm:pt modelId="{5F53DBF6-AECF-465E-9FC7-7A0E4B1FDFCB}" type="pres">
      <dgm:prSet presAssocID="{49FEC233-4E9F-4247-AA07-F9ED764163D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ED82268-1E88-47D2-BF3E-014758F82DCE}" type="pres">
      <dgm:prSet presAssocID="{D5923071-D507-4CFE-8F10-EE7D18FC85A2}" presName="spacer" presStyleCnt="0"/>
      <dgm:spPr/>
    </dgm:pt>
    <dgm:pt modelId="{360A9E13-FFBE-42F7-B58B-0503D87D4C61}" type="pres">
      <dgm:prSet presAssocID="{4AF0B6FA-1E4F-44FD-A092-41731EEB31B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49B4560-4942-4388-9EB9-B357D44CB351}" type="pres">
      <dgm:prSet presAssocID="{05457350-EF3A-4CCC-8872-9C3118FE7CCC}" presName="spacer" presStyleCnt="0"/>
      <dgm:spPr/>
    </dgm:pt>
    <dgm:pt modelId="{F0F4E877-0AAB-46B7-874E-4DBA5B91348C}" type="pres">
      <dgm:prSet presAssocID="{79488656-E5D3-468A-AE6E-A9B3C38852C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F0E4710-A6F9-4320-974C-70669FF4668F}" type="presOf" srcId="{4AF0B6FA-1E4F-44FD-A092-41731EEB31B0}" destId="{360A9E13-FFBE-42F7-B58B-0503D87D4C61}" srcOrd="0" destOrd="0" presId="urn:microsoft.com/office/officeart/2005/8/layout/vList2"/>
    <dgm:cxn modelId="{6BD7D035-4A7E-4F15-8A10-ACC551259ABE}" srcId="{9763C1EF-8736-4178-8283-9D8EE30A32CD}" destId="{4AF0B6FA-1E4F-44FD-A092-41731EEB31B0}" srcOrd="2" destOrd="0" parTransId="{B78901B9-C077-4502-A881-B1D32939377D}" sibTransId="{05457350-EF3A-4CCC-8872-9C3118FE7CCC}"/>
    <dgm:cxn modelId="{07A7A963-EB9E-4B49-8607-E918EB537FB2}" srcId="{9763C1EF-8736-4178-8283-9D8EE30A32CD}" destId="{DDBC108A-76E9-464C-AFF7-28168A64A438}" srcOrd="0" destOrd="0" parTransId="{849D154E-1D4E-4450-9792-C2E13F396448}" sibTransId="{E5C6A8E0-DD6C-446F-A14F-CEC46B602DEE}"/>
    <dgm:cxn modelId="{4DF1EA75-9487-4199-9F32-072BF6388FD2}" type="presOf" srcId="{DDBC108A-76E9-464C-AFF7-28168A64A438}" destId="{19905761-5192-4C5F-B977-283A4BC86731}" srcOrd="0" destOrd="0" presId="urn:microsoft.com/office/officeart/2005/8/layout/vList2"/>
    <dgm:cxn modelId="{5C49D7AB-B3F3-4264-B2FD-E0F3338FD2E7}" type="presOf" srcId="{49FEC233-4E9F-4247-AA07-F9ED764163DA}" destId="{5F53DBF6-AECF-465E-9FC7-7A0E4B1FDFCB}" srcOrd="0" destOrd="0" presId="urn:microsoft.com/office/officeart/2005/8/layout/vList2"/>
    <dgm:cxn modelId="{CCC617C6-BEC7-47F6-8D15-E395FA529B8D}" type="presOf" srcId="{79488656-E5D3-468A-AE6E-A9B3C38852C9}" destId="{F0F4E877-0AAB-46B7-874E-4DBA5B91348C}" srcOrd="0" destOrd="0" presId="urn:microsoft.com/office/officeart/2005/8/layout/vList2"/>
    <dgm:cxn modelId="{8DEED1E2-5B67-4C82-8776-E09C4BDFFFF5}" srcId="{9763C1EF-8736-4178-8283-9D8EE30A32CD}" destId="{49FEC233-4E9F-4247-AA07-F9ED764163DA}" srcOrd="1" destOrd="0" parTransId="{3DF334DB-88B3-4048-BE01-BFA0D12FAC38}" sibTransId="{D5923071-D507-4CFE-8F10-EE7D18FC85A2}"/>
    <dgm:cxn modelId="{BF4C4FE6-C9E9-46FD-A349-3A53A4EECB78}" srcId="{9763C1EF-8736-4178-8283-9D8EE30A32CD}" destId="{79488656-E5D3-468A-AE6E-A9B3C38852C9}" srcOrd="3" destOrd="0" parTransId="{C2BE91A2-1E22-4AF0-A4BC-D4243EE56E01}" sibTransId="{C7B97A3D-EB8F-48F2-A191-7385E24C6D38}"/>
    <dgm:cxn modelId="{8D8CEBF2-1136-4065-924E-5CD088CE4145}" type="presOf" srcId="{9763C1EF-8736-4178-8283-9D8EE30A32CD}" destId="{E72BE3B9-85E3-40B6-B80A-F5E52F0BEA07}" srcOrd="0" destOrd="0" presId="urn:microsoft.com/office/officeart/2005/8/layout/vList2"/>
    <dgm:cxn modelId="{285FFF44-A46A-409C-81BB-679F99C5848C}" type="presParOf" srcId="{E72BE3B9-85E3-40B6-B80A-F5E52F0BEA07}" destId="{19905761-5192-4C5F-B977-283A4BC86731}" srcOrd="0" destOrd="0" presId="urn:microsoft.com/office/officeart/2005/8/layout/vList2"/>
    <dgm:cxn modelId="{16D6D3F5-9A1F-461F-A01E-2FF22D0B0C8B}" type="presParOf" srcId="{E72BE3B9-85E3-40B6-B80A-F5E52F0BEA07}" destId="{5662764D-1BEA-4D9F-A1D3-B676B4E3AFA0}" srcOrd="1" destOrd="0" presId="urn:microsoft.com/office/officeart/2005/8/layout/vList2"/>
    <dgm:cxn modelId="{C373D162-4B77-4F03-A31D-F6E4633F443B}" type="presParOf" srcId="{E72BE3B9-85E3-40B6-B80A-F5E52F0BEA07}" destId="{5F53DBF6-AECF-465E-9FC7-7A0E4B1FDFCB}" srcOrd="2" destOrd="0" presId="urn:microsoft.com/office/officeart/2005/8/layout/vList2"/>
    <dgm:cxn modelId="{DB012CB8-82C3-4096-9E83-763F404EA156}" type="presParOf" srcId="{E72BE3B9-85E3-40B6-B80A-F5E52F0BEA07}" destId="{AED82268-1E88-47D2-BF3E-014758F82DCE}" srcOrd="3" destOrd="0" presId="urn:microsoft.com/office/officeart/2005/8/layout/vList2"/>
    <dgm:cxn modelId="{8245F09C-0A16-45D5-B3AF-0A977F130791}" type="presParOf" srcId="{E72BE3B9-85E3-40B6-B80A-F5E52F0BEA07}" destId="{360A9E13-FFBE-42F7-B58B-0503D87D4C61}" srcOrd="4" destOrd="0" presId="urn:microsoft.com/office/officeart/2005/8/layout/vList2"/>
    <dgm:cxn modelId="{94E76AF9-ED02-42AA-BE30-F75F7A4DE8C1}" type="presParOf" srcId="{E72BE3B9-85E3-40B6-B80A-F5E52F0BEA07}" destId="{A49B4560-4942-4388-9EB9-B357D44CB351}" srcOrd="5" destOrd="0" presId="urn:microsoft.com/office/officeart/2005/8/layout/vList2"/>
    <dgm:cxn modelId="{18D0EF69-023D-4D63-9195-A936C77E6F93}" type="presParOf" srcId="{E72BE3B9-85E3-40B6-B80A-F5E52F0BEA07}" destId="{F0F4E877-0AAB-46B7-874E-4DBA5B91348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6F0BBC-CA66-45DA-95DB-296D802A4FB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009CA4C-AB41-48C9-9C08-97BB8432BF46}">
      <dgm:prSet/>
      <dgm:spPr/>
      <dgm:t>
        <a:bodyPr/>
        <a:lstStyle/>
        <a:p>
          <a:r>
            <a:rPr lang="en-US" b="1"/>
            <a:t>Standard SSMs</a:t>
          </a:r>
          <a:r>
            <a:rPr lang="en-US"/>
            <a:t>: Parameters (Δ, A, B, C) are </a:t>
          </a:r>
          <a:r>
            <a:rPr lang="en-US" b="1"/>
            <a:t>static</a:t>
          </a:r>
          <a:r>
            <a:rPr lang="en-US"/>
            <a:t>.</a:t>
          </a:r>
        </a:p>
      </dgm:t>
    </dgm:pt>
    <dgm:pt modelId="{6E42591B-5C16-4564-BD0B-22CD979A9D4E}" type="parTrans" cxnId="{17422671-F021-49A5-9B5A-26992EF8722A}">
      <dgm:prSet/>
      <dgm:spPr/>
      <dgm:t>
        <a:bodyPr/>
        <a:lstStyle/>
        <a:p>
          <a:endParaRPr lang="en-US"/>
        </a:p>
      </dgm:t>
    </dgm:pt>
    <dgm:pt modelId="{338DEFFC-0A91-41BA-8508-6042427AF733}" type="sibTrans" cxnId="{17422671-F021-49A5-9B5A-26992EF8722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315D03FA-5D18-4F2E-9F7B-84F489FDF832}">
      <dgm:prSet/>
      <dgm:spPr/>
      <dgm:t>
        <a:bodyPr/>
        <a:lstStyle/>
        <a:p>
          <a:r>
            <a:rPr lang="en-US" b="1"/>
            <a:t>Selective SSMs</a:t>
          </a:r>
          <a:r>
            <a:rPr lang="en-US"/>
            <a:t>: Parameters (Δ(x), B(x), C(x)) are </a:t>
          </a:r>
          <a:r>
            <a:rPr lang="en-US" b="1"/>
            <a:t>functions of the current input</a:t>
          </a:r>
          <a:r>
            <a:rPr lang="en-US"/>
            <a:t>.</a:t>
          </a:r>
        </a:p>
      </dgm:t>
    </dgm:pt>
    <dgm:pt modelId="{786EF750-34B3-4451-8079-7A2B5609472D}" type="parTrans" cxnId="{92AD2811-9F6E-410A-9081-91569037C0B0}">
      <dgm:prSet/>
      <dgm:spPr/>
      <dgm:t>
        <a:bodyPr/>
        <a:lstStyle/>
        <a:p>
          <a:endParaRPr lang="en-US"/>
        </a:p>
      </dgm:t>
    </dgm:pt>
    <dgm:pt modelId="{A7BB568C-657E-4914-B386-67C00B4D9E20}" type="sibTrans" cxnId="{92AD2811-9F6E-410A-9081-91569037C0B0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E2A1C0F-7005-43D5-8237-D0D1851DA375}">
      <dgm:prSet/>
      <dgm:spPr/>
      <dgm:t>
        <a:bodyPr/>
        <a:lstStyle/>
        <a:p>
          <a:r>
            <a:rPr lang="en-US"/>
            <a:t>The model becomes </a:t>
          </a:r>
          <a:r>
            <a:rPr lang="en-US" b="1"/>
            <a:t>time-varying</a:t>
          </a:r>
          <a:r>
            <a:rPr lang="en-US"/>
            <a:t>, adapting to the sequence content.</a:t>
          </a:r>
        </a:p>
      </dgm:t>
    </dgm:pt>
    <dgm:pt modelId="{DFBE9405-3B95-42E8-99A2-9DF54E437661}" type="parTrans" cxnId="{5920844D-82FF-43ED-94E6-F1999D29FA9B}">
      <dgm:prSet/>
      <dgm:spPr/>
      <dgm:t>
        <a:bodyPr/>
        <a:lstStyle/>
        <a:p>
          <a:endParaRPr lang="en-US"/>
        </a:p>
      </dgm:t>
    </dgm:pt>
    <dgm:pt modelId="{0633C4A1-B5D7-44FC-9085-50C6E8D24588}" type="sibTrans" cxnId="{5920844D-82FF-43ED-94E6-F1999D29FA9B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FD12FD8D-4FD4-40B6-86E0-C7EFEF859D9B}">
      <dgm:prSet/>
      <dgm:spPr/>
      <dgm:t>
        <a:bodyPr/>
        <a:lstStyle/>
        <a:p>
          <a:r>
            <a:rPr lang="en-US" b="1"/>
            <a:t>Tradeoff</a:t>
          </a:r>
          <a:r>
            <a:rPr lang="en-US"/>
            <a:t>: Lose convolutional efficiency → need new computation strategies.</a:t>
          </a:r>
        </a:p>
      </dgm:t>
    </dgm:pt>
    <dgm:pt modelId="{9041A55A-82BD-4EC1-8EA7-657AC261AA61}" type="parTrans" cxnId="{B70BA5DD-8D08-4311-94F4-EB274E432288}">
      <dgm:prSet/>
      <dgm:spPr/>
      <dgm:t>
        <a:bodyPr/>
        <a:lstStyle/>
        <a:p>
          <a:endParaRPr lang="en-US"/>
        </a:p>
      </dgm:t>
    </dgm:pt>
    <dgm:pt modelId="{8ADB7870-20AD-4CD0-91EC-AF0C0FF8F266}" type="sibTrans" cxnId="{B70BA5DD-8D08-4311-94F4-EB274E432288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9546E25E-729F-44E8-9E0A-C3AEB35954E5}" type="pres">
      <dgm:prSet presAssocID="{096F0BBC-CA66-45DA-95DB-296D802A4FB8}" presName="Name0" presStyleCnt="0">
        <dgm:presLayoutVars>
          <dgm:animLvl val="lvl"/>
          <dgm:resizeHandles val="exact"/>
        </dgm:presLayoutVars>
      </dgm:prSet>
      <dgm:spPr/>
    </dgm:pt>
    <dgm:pt modelId="{75677B14-F2FB-4FFF-9E16-A9907156B05B}" type="pres">
      <dgm:prSet presAssocID="{B009CA4C-AB41-48C9-9C08-97BB8432BF46}" presName="compositeNode" presStyleCnt="0">
        <dgm:presLayoutVars>
          <dgm:bulletEnabled val="1"/>
        </dgm:presLayoutVars>
      </dgm:prSet>
      <dgm:spPr/>
    </dgm:pt>
    <dgm:pt modelId="{99FF286E-B145-49A5-9E28-C8A47C6E92A3}" type="pres">
      <dgm:prSet presAssocID="{B009CA4C-AB41-48C9-9C08-97BB8432BF46}" presName="bgRect" presStyleLbl="bgAccFollowNode1" presStyleIdx="0" presStyleCnt="4"/>
      <dgm:spPr/>
    </dgm:pt>
    <dgm:pt modelId="{4005C1BB-6C2E-458F-AEB7-E8B9EEBB274E}" type="pres">
      <dgm:prSet presAssocID="{338DEFFC-0A91-41BA-8508-6042427AF733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9F1BB5F4-A6FF-4C21-84EE-ADA66B82DDCF}" type="pres">
      <dgm:prSet presAssocID="{B009CA4C-AB41-48C9-9C08-97BB8432BF46}" presName="bottomLine" presStyleLbl="alignNode1" presStyleIdx="1" presStyleCnt="8">
        <dgm:presLayoutVars/>
      </dgm:prSet>
      <dgm:spPr/>
    </dgm:pt>
    <dgm:pt modelId="{95E9F242-33B8-4572-ABD2-EBE6D1615616}" type="pres">
      <dgm:prSet presAssocID="{B009CA4C-AB41-48C9-9C08-97BB8432BF46}" presName="nodeText" presStyleLbl="bgAccFollowNode1" presStyleIdx="0" presStyleCnt="4">
        <dgm:presLayoutVars>
          <dgm:bulletEnabled val="1"/>
        </dgm:presLayoutVars>
      </dgm:prSet>
      <dgm:spPr/>
    </dgm:pt>
    <dgm:pt modelId="{723BCE60-CED9-45EB-864A-B6E7343B654F}" type="pres">
      <dgm:prSet presAssocID="{338DEFFC-0A91-41BA-8508-6042427AF733}" presName="sibTrans" presStyleCnt="0"/>
      <dgm:spPr/>
    </dgm:pt>
    <dgm:pt modelId="{979B2296-7651-4806-9A71-A704103F41B3}" type="pres">
      <dgm:prSet presAssocID="{315D03FA-5D18-4F2E-9F7B-84F489FDF832}" presName="compositeNode" presStyleCnt="0">
        <dgm:presLayoutVars>
          <dgm:bulletEnabled val="1"/>
        </dgm:presLayoutVars>
      </dgm:prSet>
      <dgm:spPr/>
    </dgm:pt>
    <dgm:pt modelId="{CE937714-A8FF-419F-A3B4-39457AE03C92}" type="pres">
      <dgm:prSet presAssocID="{315D03FA-5D18-4F2E-9F7B-84F489FDF832}" presName="bgRect" presStyleLbl="bgAccFollowNode1" presStyleIdx="1" presStyleCnt="4"/>
      <dgm:spPr/>
    </dgm:pt>
    <dgm:pt modelId="{708A4325-5964-44CB-AA75-5BD37F604B99}" type="pres">
      <dgm:prSet presAssocID="{A7BB568C-657E-4914-B386-67C00B4D9E20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AB6FA9F4-FB71-4A5B-94B2-DA3E99106541}" type="pres">
      <dgm:prSet presAssocID="{315D03FA-5D18-4F2E-9F7B-84F489FDF832}" presName="bottomLine" presStyleLbl="alignNode1" presStyleIdx="3" presStyleCnt="8">
        <dgm:presLayoutVars/>
      </dgm:prSet>
      <dgm:spPr/>
    </dgm:pt>
    <dgm:pt modelId="{259E350A-3B30-450E-9E65-EAEFE92756EF}" type="pres">
      <dgm:prSet presAssocID="{315D03FA-5D18-4F2E-9F7B-84F489FDF832}" presName="nodeText" presStyleLbl="bgAccFollowNode1" presStyleIdx="1" presStyleCnt="4">
        <dgm:presLayoutVars>
          <dgm:bulletEnabled val="1"/>
        </dgm:presLayoutVars>
      </dgm:prSet>
      <dgm:spPr/>
    </dgm:pt>
    <dgm:pt modelId="{FDE3FB55-5CAB-4AF7-B6BF-213F05F3328B}" type="pres">
      <dgm:prSet presAssocID="{A7BB568C-657E-4914-B386-67C00B4D9E20}" presName="sibTrans" presStyleCnt="0"/>
      <dgm:spPr/>
    </dgm:pt>
    <dgm:pt modelId="{F74BECDF-0DC8-430C-9D6C-3AC490D8DDDF}" type="pres">
      <dgm:prSet presAssocID="{AE2A1C0F-7005-43D5-8237-D0D1851DA375}" presName="compositeNode" presStyleCnt="0">
        <dgm:presLayoutVars>
          <dgm:bulletEnabled val="1"/>
        </dgm:presLayoutVars>
      </dgm:prSet>
      <dgm:spPr/>
    </dgm:pt>
    <dgm:pt modelId="{49772A7B-3B5E-41E4-82E7-8EBF03E4F962}" type="pres">
      <dgm:prSet presAssocID="{AE2A1C0F-7005-43D5-8237-D0D1851DA375}" presName="bgRect" presStyleLbl="bgAccFollowNode1" presStyleIdx="2" presStyleCnt="4"/>
      <dgm:spPr/>
    </dgm:pt>
    <dgm:pt modelId="{4552DEC1-02B6-4E33-ADD5-B06737CBE54E}" type="pres">
      <dgm:prSet presAssocID="{0633C4A1-B5D7-44FC-9085-50C6E8D24588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CA3D2B77-3D21-45A1-BA9B-973294EAB9D1}" type="pres">
      <dgm:prSet presAssocID="{AE2A1C0F-7005-43D5-8237-D0D1851DA375}" presName="bottomLine" presStyleLbl="alignNode1" presStyleIdx="5" presStyleCnt="8">
        <dgm:presLayoutVars/>
      </dgm:prSet>
      <dgm:spPr/>
    </dgm:pt>
    <dgm:pt modelId="{45C0C1AD-306B-4D08-B9FC-7108FCB5C51D}" type="pres">
      <dgm:prSet presAssocID="{AE2A1C0F-7005-43D5-8237-D0D1851DA375}" presName="nodeText" presStyleLbl="bgAccFollowNode1" presStyleIdx="2" presStyleCnt="4">
        <dgm:presLayoutVars>
          <dgm:bulletEnabled val="1"/>
        </dgm:presLayoutVars>
      </dgm:prSet>
      <dgm:spPr/>
    </dgm:pt>
    <dgm:pt modelId="{F80B171B-F560-4FA6-9DE5-BDBA1642F17D}" type="pres">
      <dgm:prSet presAssocID="{0633C4A1-B5D7-44FC-9085-50C6E8D24588}" presName="sibTrans" presStyleCnt="0"/>
      <dgm:spPr/>
    </dgm:pt>
    <dgm:pt modelId="{D9F2F6CB-6454-4088-B3A6-6D45C9BFAEDD}" type="pres">
      <dgm:prSet presAssocID="{FD12FD8D-4FD4-40B6-86E0-C7EFEF859D9B}" presName="compositeNode" presStyleCnt="0">
        <dgm:presLayoutVars>
          <dgm:bulletEnabled val="1"/>
        </dgm:presLayoutVars>
      </dgm:prSet>
      <dgm:spPr/>
    </dgm:pt>
    <dgm:pt modelId="{CC4496EC-64A9-484D-8195-A8C0E0960F8A}" type="pres">
      <dgm:prSet presAssocID="{FD12FD8D-4FD4-40B6-86E0-C7EFEF859D9B}" presName="bgRect" presStyleLbl="bgAccFollowNode1" presStyleIdx="3" presStyleCnt="4"/>
      <dgm:spPr/>
    </dgm:pt>
    <dgm:pt modelId="{40BD54AC-E0ED-451A-A66F-60FEAA36012E}" type="pres">
      <dgm:prSet presAssocID="{8ADB7870-20AD-4CD0-91EC-AF0C0FF8F266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70D610E4-7875-461E-AE74-EF6985226779}" type="pres">
      <dgm:prSet presAssocID="{FD12FD8D-4FD4-40B6-86E0-C7EFEF859D9B}" presName="bottomLine" presStyleLbl="alignNode1" presStyleIdx="7" presStyleCnt="8">
        <dgm:presLayoutVars/>
      </dgm:prSet>
      <dgm:spPr/>
    </dgm:pt>
    <dgm:pt modelId="{A36CA160-A598-4099-98ED-30438CC8E5D7}" type="pres">
      <dgm:prSet presAssocID="{FD12FD8D-4FD4-40B6-86E0-C7EFEF859D9B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8904BF08-858E-4023-BF92-70C9E37AB329}" type="presOf" srcId="{B009CA4C-AB41-48C9-9C08-97BB8432BF46}" destId="{99FF286E-B145-49A5-9E28-C8A47C6E92A3}" srcOrd="0" destOrd="0" presId="urn:microsoft.com/office/officeart/2016/7/layout/BasicLinearProcessNumbered"/>
    <dgm:cxn modelId="{92AD2811-9F6E-410A-9081-91569037C0B0}" srcId="{096F0BBC-CA66-45DA-95DB-296D802A4FB8}" destId="{315D03FA-5D18-4F2E-9F7B-84F489FDF832}" srcOrd="1" destOrd="0" parTransId="{786EF750-34B3-4451-8079-7A2B5609472D}" sibTransId="{A7BB568C-657E-4914-B386-67C00B4D9E20}"/>
    <dgm:cxn modelId="{C12D9217-62F9-45B6-9EBF-FC31FB055C3A}" type="presOf" srcId="{B009CA4C-AB41-48C9-9C08-97BB8432BF46}" destId="{95E9F242-33B8-4572-ABD2-EBE6D1615616}" srcOrd="1" destOrd="0" presId="urn:microsoft.com/office/officeart/2016/7/layout/BasicLinearProcessNumbered"/>
    <dgm:cxn modelId="{7161681C-230F-4847-9106-9CBB1060D19F}" type="presOf" srcId="{338DEFFC-0A91-41BA-8508-6042427AF733}" destId="{4005C1BB-6C2E-458F-AEB7-E8B9EEBB274E}" srcOrd="0" destOrd="0" presId="urn:microsoft.com/office/officeart/2016/7/layout/BasicLinearProcessNumbered"/>
    <dgm:cxn modelId="{7DA52A3F-E114-4E90-9CAE-9D423C127357}" type="presOf" srcId="{0633C4A1-B5D7-44FC-9085-50C6E8D24588}" destId="{4552DEC1-02B6-4E33-ADD5-B06737CBE54E}" srcOrd="0" destOrd="0" presId="urn:microsoft.com/office/officeart/2016/7/layout/BasicLinearProcessNumbered"/>
    <dgm:cxn modelId="{5920844D-82FF-43ED-94E6-F1999D29FA9B}" srcId="{096F0BBC-CA66-45DA-95DB-296D802A4FB8}" destId="{AE2A1C0F-7005-43D5-8237-D0D1851DA375}" srcOrd="2" destOrd="0" parTransId="{DFBE9405-3B95-42E8-99A2-9DF54E437661}" sibTransId="{0633C4A1-B5D7-44FC-9085-50C6E8D24588}"/>
    <dgm:cxn modelId="{17422671-F021-49A5-9B5A-26992EF8722A}" srcId="{096F0BBC-CA66-45DA-95DB-296D802A4FB8}" destId="{B009CA4C-AB41-48C9-9C08-97BB8432BF46}" srcOrd="0" destOrd="0" parTransId="{6E42591B-5C16-4564-BD0B-22CD979A9D4E}" sibTransId="{338DEFFC-0A91-41BA-8508-6042427AF733}"/>
    <dgm:cxn modelId="{40C03E74-D111-49F9-A175-BD8E67E58DAA}" type="presOf" srcId="{096F0BBC-CA66-45DA-95DB-296D802A4FB8}" destId="{9546E25E-729F-44E8-9E0A-C3AEB35954E5}" srcOrd="0" destOrd="0" presId="urn:microsoft.com/office/officeart/2016/7/layout/BasicLinearProcessNumbered"/>
    <dgm:cxn modelId="{B9EA8976-EDA1-4A0B-883C-357A285F1235}" type="presOf" srcId="{315D03FA-5D18-4F2E-9F7B-84F489FDF832}" destId="{CE937714-A8FF-419F-A3B4-39457AE03C92}" srcOrd="0" destOrd="0" presId="urn:microsoft.com/office/officeart/2016/7/layout/BasicLinearProcessNumbered"/>
    <dgm:cxn modelId="{75F33287-2F64-4F3F-AFC4-7FDDF6C23865}" type="presOf" srcId="{FD12FD8D-4FD4-40B6-86E0-C7EFEF859D9B}" destId="{CC4496EC-64A9-484D-8195-A8C0E0960F8A}" srcOrd="0" destOrd="0" presId="urn:microsoft.com/office/officeart/2016/7/layout/BasicLinearProcessNumbered"/>
    <dgm:cxn modelId="{3690EC8C-84AE-4697-B119-E50FB1000C3B}" type="presOf" srcId="{AE2A1C0F-7005-43D5-8237-D0D1851DA375}" destId="{49772A7B-3B5E-41E4-82E7-8EBF03E4F962}" srcOrd="0" destOrd="0" presId="urn:microsoft.com/office/officeart/2016/7/layout/BasicLinearProcessNumbered"/>
    <dgm:cxn modelId="{267BE59C-ABA8-42BA-95E3-94CFEEAF1B3D}" type="presOf" srcId="{8ADB7870-20AD-4CD0-91EC-AF0C0FF8F266}" destId="{40BD54AC-E0ED-451A-A66F-60FEAA36012E}" srcOrd="0" destOrd="0" presId="urn:microsoft.com/office/officeart/2016/7/layout/BasicLinearProcessNumbered"/>
    <dgm:cxn modelId="{F90BBDAB-960C-4158-8AF6-FD8AC8CBE0F1}" type="presOf" srcId="{FD12FD8D-4FD4-40B6-86E0-C7EFEF859D9B}" destId="{A36CA160-A598-4099-98ED-30438CC8E5D7}" srcOrd="1" destOrd="0" presId="urn:microsoft.com/office/officeart/2016/7/layout/BasicLinearProcessNumbered"/>
    <dgm:cxn modelId="{51DEFBAF-9142-462D-9061-0356C3F2283D}" type="presOf" srcId="{A7BB568C-657E-4914-B386-67C00B4D9E20}" destId="{708A4325-5964-44CB-AA75-5BD37F604B99}" srcOrd="0" destOrd="0" presId="urn:microsoft.com/office/officeart/2016/7/layout/BasicLinearProcessNumbered"/>
    <dgm:cxn modelId="{95E763BA-5B38-4536-82DF-5E3506937B93}" type="presOf" srcId="{315D03FA-5D18-4F2E-9F7B-84F489FDF832}" destId="{259E350A-3B30-450E-9E65-EAEFE92756EF}" srcOrd="1" destOrd="0" presId="urn:microsoft.com/office/officeart/2016/7/layout/BasicLinearProcessNumbered"/>
    <dgm:cxn modelId="{DFBC33C0-5A37-454E-99ED-687B00876C2D}" type="presOf" srcId="{AE2A1C0F-7005-43D5-8237-D0D1851DA375}" destId="{45C0C1AD-306B-4D08-B9FC-7108FCB5C51D}" srcOrd="1" destOrd="0" presId="urn:microsoft.com/office/officeart/2016/7/layout/BasicLinearProcessNumbered"/>
    <dgm:cxn modelId="{B70BA5DD-8D08-4311-94F4-EB274E432288}" srcId="{096F0BBC-CA66-45DA-95DB-296D802A4FB8}" destId="{FD12FD8D-4FD4-40B6-86E0-C7EFEF859D9B}" srcOrd="3" destOrd="0" parTransId="{9041A55A-82BD-4EC1-8EA7-657AC261AA61}" sibTransId="{8ADB7870-20AD-4CD0-91EC-AF0C0FF8F266}"/>
    <dgm:cxn modelId="{62341652-8C3B-44D7-8638-756FBC9597D4}" type="presParOf" srcId="{9546E25E-729F-44E8-9E0A-C3AEB35954E5}" destId="{75677B14-F2FB-4FFF-9E16-A9907156B05B}" srcOrd="0" destOrd="0" presId="urn:microsoft.com/office/officeart/2016/7/layout/BasicLinearProcessNumbered"/>
    <dgm:cxn modelId="{01D923CE-AACB-4D0B-AED5-7EFFF881A3D3}" type="presParOf" srcId="{75677B14-F2FB-4FFF-9E16-A9907156B05B}" destId="{99FF286E-B145-49A5-9E28-C8A47C6E92A3}" srcOrd="0" destOrd="0" presId="urn:microsoft.com/office/officeart/2016/7/layout/BasicLinearProcessNumbered"/>
    <dgm:cxn modelId="{4AE69884-D3A3-4917-8386-A7CBD6B86416}" type="presParOf" srcId="{75677B14-F2FB-4FFF-9E16-A9907156B05B}" destId="{4005C1BB-6C2E-458F-AEB7-E8B9EEBB274E}" srcOrd="1" destOrd="0" presId="urn:microsoft.com/office/officeart/2016/7/layout/BasicLinearProcessNumbered"/>
    <dgm:cxn modelId="{1BF5AF21-E55A-4163-A6FB-5ACF1CCC5E06}" type="presParOf" srcId="{75677B14-F2FB-4FFF-9E16-A9907156B05B}" destId="{9F1BB5F4-A6FF-4C21-84EE-ADA66B82DDCF}" srcOrd="2" destOrd="0" presId="urn:microsoft.com/office/officeart/2016/7/layout/BasicLinearProcessNumbered"/>
    <dgm:cxn modelId="{C9D2C11B-7A4D-4A4F-B2FE-BE0652E7BA70}" type="presParOf" srcId="{75677B14-F2FB-4FFF-9E16-A9907156B05B}" destId="{95E9F242-33B8-4572-ABD2-EBE6D1615616}" srcOrd="3" destOrd="0" presId="urn:microsoft.com/office/officeart/2016/7/layout/BasicLinearProcessNumbered"/>
    <dgm:cxn modelId="{5562181C-8867-4FE3-85F7-AAB46531F77E}" type="presParOf" srcId="{9546E25E-729F-44E8-9E0A-C3AEB35954E5}" destId="{723BCE60-CED9-45EB-864A-B6E7343B654F}" srcOrd="1" destOrd="0" presId="urn:microsoft.com/office/officeart/2016/7/layout/BasicLinearProcessNumbered"/>
    <dgm:cxn modelId="{9BD595FA-9635-4E3D-956F-649239E04363}" type="presParOf" srcId="{9546E25E-729F-44E8-9E0A-C3AEB35954E5}" destId="{979B2296-7651-4806-9A71-A704103F41B3}" srcOrd="2" destOrd="0" presId="urn:microsoft.com/office/officeart/2016/7/layout/BasicLinearProcessNumbered"/>
    <dgm:cxn modelId="{B136F7FB-15D5-4751-B59B-42F9D11937A1}" type="presParOf" srcId="{979B2296-7651-4806-9A71-A704103F41B3}" destId="{CE937714-A8FF-419F-A3B4-39457AE03C92}" srcOrd="0" destOrd="0" presId="urn:microsoft.com/office/officeart/2016/7/layout/BasicLinearProcessNumbered"/>
    <dgm:cxn modelId="{2ED26065-171E-4FC5-9BA5-A912A95AB97C}" type="presParOf" srcId="{979B2296-7651-4806-9A71-A704103F41B3}" destId="{708A4325-5964-44CB-AA75-5BD37F604B99}" srcOrd="1" destOrd="0" presId="urn:microsoft.com/office/officeart/2016/7/layout/BasicLinearProcessNumbered"/>
    <dgm:cxn modelId="{779C2C41-4085-4D6E-B514-32BE2AAE914C}" type="presParOf" srcId="{979B2296-7651-4806-9A71-A704103F41B3}" destId="{AB6FA9F4-FB71-4A5B-94B2-DA3E99106541}" srcOrd="2" destOrd="0" presId="urn:microsoft.com/office/officeart/2016/7/layout/BasicLinearProcessNumbered"/>
    <dgm:cxn modelId="{709F5022-72FC-4C79-B7EA-248420E0B8E9}" type="presParOf" srcId="{979B2296-7651-4806-9A71-A704103F41B3}" destId="{259E350A-3B30-450E-9E65-EAEFE92756EF}" srcOrd="3" destOrd="0" presId="urn:microsoft.com/office/officeart/2016/7/layout/BasicLinearProcessNumbered"/>
    <dgm:cxn modelId="{1F57422F-5852-44D8-B114-687D16BDE84D}" type="presParOf" srcId="{9546E25E-729F-44E8-9E0A-C3AEB35954E5}" destId="{FDE3FB55-5CAB-4AF7-B6BF-213F05F3328B}" srcOrd="3" destOrd="0" presId="urn:microsoft.com/office/officeart/2016/7/layout/BasicLinearProcessNumbered"/>
    <dgm:cxn modelId="{40D7BD4A-9932-415F-9D0A-50DA685EFA0E}" type="presParOf" srcId="{9546E25E-729F-44E8-9E0A-C3AEB35954E5}" destId="{F74BECDF-0DC8-430C-9D6C-3AC490D8DDDF}" srcOrd="4" destOrd="0" presId="urn:microsoft.com/office/officeart/2016/7/layout/BasicLinearProcessNumbered"/>
    <dgm:cxn modelId="{A00C8EAF-2E3F-4889-9899-CC117FD97D58}" type="presParOf" srcId="{F74BECDF-0DC8-430C-9D6C-3AC490D8DDDF}" destId="{49772A7B-3B5E-41E4-82E7-8EBF03E4F962}" srcOrd="0" destOrd="0" presId="urn:microsoft.com/office/officeart/2016/7/layout/BasicLinearProcessNumbered"/>
    <dgm:cxn modelId="{87102F60-A7FC-4361-B0E7-F0E0E8E40999}" type="presParOf" srcId="{F74BECDF-0DC8-430C-9D6C-3AC490D8DDDF}" destId="{4552DEC1-02B6-4E33-ADD5-B06737CBE54E}" srcOrd="1" destOrd="0" presId="urn:microsoft.com/office/officeart/2016/7/layout/BasicLinearProcessNumbered"/>
    <dgm:cxn modelId="{0AC2C068-3109-4470-9305-B867D2856FE2}" type="presParOf" srcId="{F74BECDF-0DC8-430C-9D6C-3AC490D8DDDF}" destId="{CA3D2B77-3D21-45A1-BA9B-973294EAB9D1}" srcOrd="2" destOrd="0" presId="urn:microsoft.com/office/officeart/2016/7/layout/BasicLinearProcessNumbered"/>
    <dgm:cxn modelId="{816ABAB7-3416-4E94-AD63-7B92574911F5}" type="presParOf" srcId="{F74BECDF-0DC8-430C-9D6C-3AC490D8DDDF}" destId="{45C0C1AD-306B-4D08-B9FC-7108FCB5C51D}" srcOrd="3" destOrd="0" presId="urn:microsoft.com/office/officeart/2016/7/layout/BasicLinearProcessNumbered"/>
    <dgm:cxn modelId="{A23ED2D3-FE61-42FA-BECA-5544E8FD204F}" type="presParOf" srcId="{9546E25E-729F-44E8-9E0A-C3AEB35954E5}" destId="{F80B171B-F560-4FA6-9DE5-BDBA1642F17D}" srcOrd="5" destOrd="0" presId="urn:microsoft.com/office/officeart/2016/7/layout/BasicLinearProcessNumbered"/>
    <dgm:cxn modelId="{C050A2D2-692E-4B54-9BFA-232A4370F80B}" type="presParOf" srcId="{9546E25E-729F-44E8-9E0A-C3AEB35954E5}" destId="{D9F2F6CB-6454-4088-B3A6-6D45C9BFAEDD}" srcOrd="6" destOrd="0" presId="urn:microsoft.com/office/officeart/2016/7/layout/BasicLinearProcessNumbered"/>
    <dgm:cxn modelId="{C3CFC100-1C95-4C07-A61F-686F4480ACED}" type="presParOf" srcId="{D9F2F6CB-6454-4088-B3A6-6D45C9BFAEDD}" destId="{CC4496EC-64A9-484D-8195-A8C0E0960F8A}" srcOrd="0" destOrd="0" presId="urn:microsoft.com/office/officeart/2016/7/layout/BasicLinearProcessNumbered"/>
    <dgm:cxn modelId="{EC8F1223-9EFC-40F2-943A-C87DBC8D568D}" type="presParOf" srcId="{D9F2F6CB-6454-4088-B3A6-6D45C9BFAEDD}" destId="{40BD54AC-E0ED-451A-A66F-60FEAA36012E}" srcOrd="1" destOrd="0" presId="urn:microsoft.com/office/officeart/2016/7/layout/BasicLinearProcessNumbered"/>
    <dgm:cxn modelId="{BA0A1D30-809D-41A9-AD13-DAC34F07DC9E}" type="presParOf" srcId="{D9F2F6CB-6454-4088-B3A6-6D45C9BFAEDD}" destId="{70D610E4-7875-461E-AE74-EF6985226779}" srcOrd="2" destOrd="0" presId="urn:microsoft.com/office/officeart/2016/7/layout/BasicLinearProcessNumbered"/>
    <dgm:cxn modelId="{A488912E-F11D-44D3-A7C0-BE7927F1D739}" type="presParOf" srcId="{D9F2F6CB-6454-4088-B3A6-6D45C9BFAEDD}" destId="{A36CA160-A598-4099-98ED-30438CC8E5D7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7037CF-9C94-4BE0-B11F-DA9A17A61B9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C426049-C893-4FB5-BF8D-23EEA2EFCF94}">
      <dgm:prSet/>
      <dgm:spPr/>
      <dgm:t>
        <a:bodyPr/>
        <a:lstStyle/>
        <a:p>
          <a:r>
            <a:rPr lang="en-US"/>
            <a:t>Allowing input-based dynamics breaks the convolution shortcut.</a:t>
          </a:r>
        </a:p>
      </dgm:t>
    </dgm:pt>
    <dgm:pt modelId="{44BF7F40-E515-4637-A583-AADD238BFC1C}" type="parTrans" cxnId="{C7073B2D-91C4-40E7-8165-CB5C0CFCCB52}">
      <dgm:prSet/>
      <dgm:spPr/>
      <dgm:t>
        <a:bodyPr/>
        <a:lstStyle/>
        <a:p>
          <a:endParaRPr lang="en-US"/>
        </a:p>
      </dgm:t>
    </dgm:pt>
    <dgm:pt modelId="{F050767C-3EA2-463A-A5C4-35B07A1C5657}" type="sibTrans" cxnId="{C7073B2D-91C4-40E7-8165-CB5C0CFCCB52}">
      <dgm:prSet/>
      <dgm:spPr/>
      <dgm:t>
        <a:bodyPr/>
        <a:lstStyle/>
        <a:p>
          <a:endParaRPr lang="en-US"/>
        </a:p>
      </dgm:t>
    </dgm:pt>
    <dgm:pt modelId="{F84A5714-F168-4F67-97AB-6A2967C476BF}">
      <dgm:prSet/>
      <dgm:spPr/>
      <dgm:t>
        <a:bodyPr/>
        <a:lstStyle/>
        <a:p>
          <a:r>
            <a:rPr lang="en-US"/>
            <a:t>Recurrent computation becomes necessary, but naive recurrence is slow.</a:t>
          </a:r>
        </a:p>
      </dgm:t>
    </dgm:pt>
    <dgm:pt modelId="{42B38CD5-E538-441A-8190-ED00DF464D69}" type="parTrans" cxnId="{F334BE65-B2AC-4D98-9844-73C0D60BCE5C}">
      <dgm:prSet/>
      <dgm:spPr/>
      <dgm:t>
        <a:bodyPr/>
        <a:lstStyle/>
        <a:p>
          <a:endParaRPr lang="en-US"/>
        </a:p>
      </dgm:t>
    </dgm:pt>
    <dgm:pt modelId="{F86DFB92-83F9-43AD-8B34-E93D52224F82}" type="sibTrans" cxnId="{F334BE65-B2AC-4D98-9844-73C0D60BCE5C}">
      <dgm:prSet/>
      <dgm:spPr/>
      <dgm:t>
        <a:bodyPr/>
        <a:lstStyle/>
        <a:p>
          <a:endParaRPr lang="en-US"/>
        </a:p>
      </dgm:t>
    </dgm:pt>
    <dgm:pt modelId="{E3026871-C5BB-48A6-A2AD-2ED4726DB57B}">
      <dgm:prSet/>
      <dgm:spPr/>
      <dgm:t>
        <a:bodyPr/>
        <a:lstStyle/>
        <a:p>
          <a:r>
            <a:rPr lang="en-US"/>
            <a:t>Large hidden states (size B×L×D×N) cause memory bottlenecks.</a:t>
          </a:r>
        </a:p>
      </dgm:t>
    </dgm:pt>
    <dgm:pt modelId="{0EAA9A60-D2C1-417D-97CA-952773552409}" type="parTrans" cxnId="{3ED3A498-B2D6-4393-BAAF-5FF91638A91B}">
      <dgm:prSet/>
      <dgm:spPr/>
      <dgm:t>
        <a:bodyPr/>
        <a:lstStyle/>
        <a:p>
          <a:endParaRPr lang="en-US"/>
        </a:p>
      </dgm:t>
    </dgm:pt>
    <dgm:pt modelId="{94D7F8D2-982C-492F-9AD4-6F149C737664}" type="sibTrans" cxnId="{3ED3A498-B2D6-4393-BAAF-5FF91638A91B}">
      <dgm:prSet/>
      <dgm:spPr/>
      <dgm:t>
        <a:bodyPr/>
        <a:lstStyle/>
        <a:p>
          <a:endParaRPr lang="en-US"/>
        </a:p>
      </dgm:t>
    </dgm:pt>
    <dgm:pt modelId="{72B2D071-D8AA-4A07-B9BD-AD6C2FD0BBFD}">
      <dgm:prSet/>
      <dgm:spPr/>
      <dgm:t>
        <a:bodyPr/>
        <a:lstStyle/>
        <a:p>
          <a:r>
            <a:rPr lang="en-US" b="1"/>
            <a:t>Goal</a:t>
          </a:r>
          <a:r>
            <a:rPr lang="en-US"/>
            <a:t>: Find an efficient recurrent implementation that scales.</a:t>
          </a:r>
        </a:p>
      </dgm:t>
    </dgm:pt>
    <dgm:pt modelId="{9ECAA17A-D804-474E-A6BB-B943F1147611}" type="parTrans" cxnId="{FFC4FF9D-D31F-417E-8BD1-F56CB06FDC1F}">
      <dgm:prSet/>
      <dgm:spPr/>
      <dgm:t>
        <a:bodyPr/>
        <a:lstStyle/>
        <a:p>
          <a:endParaRPr lang="en-US"/>
        </a:p>
      </dgm:t>
    </dgm:pt>
    <dgm:pt modelId="{D74A49BE-2023-41DD-B571-D9665153F516}" type="sibTrans" cxnId="{FFC4FF9D-D31F-417E-8BD1-F56CB06FDC1F}">
      <dgm:prSet/>
      <dgm:spPr/>
      <dgm:t>
        <a:bodyPr/>
        <a:lstStyle/>
        <a:p>
          <a:endParaRPr lang="en-US"/>
        </a:p>
      </dgm:t>
    </dgm:pt>
    <dgm:pt modelId="{094F8EB6-9A49-487B-89CB-C51BD1D5E178}" type="pres">
      <dgm:prSet presAssocID="{DB7037CF-9C94-4BE0-B11F-DA9A17A61B9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278615A-2894-4A09-A2BB-A1CD97629059}" type="pres">
      <dgm:prSet presAssocID="{EC426049-C893-4FB5-BF8D-23EEA2EFCF94}" presName="hierRoot1" presStyleCnt="0"/>
      <dgm:spPr/>
    </dgm:pt>
    <dgm:pt modelId="{4F0812A7-7741-45A5-B3BA-0BE93EB5D51A}" type="pres">
      <dgm:prSet presAssocID="{EC426049-C893-4FB5-BF8D-23EEA2EFCF94}" presName="composite" presStyleCnt="0"/>
      <dgm:spPr/>
    </dgm:pt>
    <dgm:pt modelId="{84B52BB2-62A7-428E-A7EC-075A82EB82B6}" type="pres">
      <dgm:prSet presAssocID="{EC426049-C893-4FB5-BF8D-23EEA2EFCF94}" presName="background" presStyleLbl="node0" presStyleIdx="0" presStyleCnt="4"/>
      <dgm:spPr/>
    </dgm:pt>
    <dgm:pt modelId="{85FE223E-4A07-4D8E-AF8B-3EDAFAFC22DD}" type="pres">
      <dgm:prSet presAssocID="{EC426049-C893-4FB5-BF8D-23EEA2EFCF94}" presName="text" presStyleLbl="fgAcc0" presStyleIdx="0" presStyleCnt="4">
        <dgm:presLayoutVars>
          <dgm:chPref val="3"/>
        </dgm:presLayoutVars>
      </dgm:prSet>
      <dgm:spPr/>
    </dgm:pt>
    <dgm:pt modelId="{0FDB63CD-D895-42A9-9663-5FA44B4C2A07}" type="pres">
      <dgm:prSet presAssocID="{EC426049-C893-4FB5-BF8D-23EEA2EFCF94}" presName="hierChild2" presStyleCnt="0"/>
      <dgm:spPr/>
    </dgm:pt>
    <dgm:pt modelId="{1A64A984-C24A-4B28-BC53-7842C5DD2570}" type="pres">
      <dgm:prSet presAssocID="{F84A5714-F168-4F67-97AB-6A2967C476BF}" presName="hierRoot1" presStyleCnt="0"/>
      <dgm:spPr/>
    </dgm:pt>
    <dgm:pt modelId="{D896E385-87F0-4DA9-86A1-FBCE5B1B0D84}" type="pres">
      <dgm:prSet presAssocID="{F84A5714-F168-4F67-97AB-6A2967C476BF}" presName="composite" presStyleCnt="0"/>
      <dgm:spPr/>
    </dgm:pt>
    <dgm:pt modelId="{C20EDE9D-B2B7-4EB7-B132-C208DA436DF4}" type="pres">
      <dgm:prSet presAssocID="{F84A5714-F168-4F67-97AB-6A2967C476BF}" presName="background" presStyleLbl="node0" presStyleIdx="1" presStyleCnt="4"/>
      <dgm:spPr/>
    </dgm:pt>
    <dgm:pt modelId="{2074242E-23CD-4685-9421-5DF8C5B7D096}" type="pres">
      <dgm:prSet presAssocID="{F84A5714-F168-4F67-97AB-6A2967C476BF}" presName="text" presStyleLbl="fgAcc0" presStyleIdx="1" presStyleCnt="4">
        <dgm:presLayoutVars>
          <dgm:chPref val="3"/>
        </dgm:presLayoutVars>
      </dgm:prSet>
      <dgm:spPr/>
    </dgm:pt>
    <dgm:pt modelId="{421C3FD9-F66A-4C00-8B13-D4EF34C408BF}" type="pres">
      <dgm:prSet presAssocID="{F84A5714-F168-4F67-97AB-6A2967C476BF}" presName="hierChild2" presStyleCnt="0"/>
      <dgm:spPr/>
    </dgm:pt>
    <dgm:pt modelId="{9FD6C313-14C3-45E0-B5C5-3AB094E7C774}" type="pres">
      <dgm:prSet presAssocID="{E3026871-C5BB-48A6-A2AD-2ED4726DB57B}" presName="hierRoot1" presStyleCnt="0"/>
      <dgm:spPr/>
    </dgm:pt>
    <dgm:pt modelId="{BC18CF7D-426D-42A5-9290-FD134DD4AEE6}" type="pres">
      <dgm:prSet presAssocID="{E3026871-C5BB-48A6-A2AD-2ED4726DB57B}" presName="composite" presStyleCnt="0"/>
      <dgm:spPr/>
    </dgm:pt>
    <dgm:pt modelId="{2DE87A64-2751-4942-912E-DAC038354653}" type="pres">
      <dgm:prSet presAssocID="{E3026871-C5BB-48A6-A2AD-2ED4726DB57B}" presName="background" presStyleLbl="node0" presStyleIdx="2" presStyleCnt="4"/>
      <dgm:spPr/>
    </dgm:pt>
    <dgm:pt modelId="{88F9E898-5A5F-4561-A690-0FDEAC17E584}" type="pres">
      <dgm:prSet presAssocID="{E3026871-C5BB-48A6-A2AD-2ED4726DB57B}" presName="text" presStyleLbl="fgAcc0" presStyleIdx="2" presStyleCnt="4">
        <dgm:presLayoutVars>
          <dgm:chPref val="3"/>
        </dgm:presLayoutVars>
      </dgm:prSet>
      <dgm:spPr/>
    </dgm:pt>
    <dgm:pt modelId="{EAD86D69-9197-4E6C-94BB-AD55572D0A51}" type="pres">
      <dgm:prSet presAssocID="{E3026871-C5BB-48A6-A2AD-2ED4726DB57B}" presName="hierChild2" presStyleCnt="0"/>
      <dgm:spPr/>
    </dgm:pt>
    <dgm:pt modelId="{8F1C88FA-9E72-484E-B35B-6D84AAED901E}" type="pres">
      <dgm:prSet presAssocID="{72B2D071-D8AA-4A07-B9BD-AD6C2FD0BBFD}" presName="hierRoot1" presStyleCnt="0"/>
      <dgm:spPr/>
    </dgm:pt>
    <dgm:pt modelId="{4766CB16-08C0-4BD5-A011-9A5F47574A41}" type="pres">
      <dgm:prSet presAssocID="{72B2D071-D8AA-4A07-B9BD-AD6C2FD0BBFD}" presName="composite" presStyleCnt="0"/>
      <dgm:spPr/>
    </dgm:pt>
    <dgm:pt modelId="{36E8D663-031B-42EF-8F69-1F1757288469}" type="pres">
      <dgm:prSet presAssocID="{72B2D071-D8AA-4A07-B9BD-AD6C2FD0BBFD}" presName="background" presStyleLbl="node0" presStyleIdx="3" presStyleCnt="4"/>
      <dgm:spPr/>
    </dgm:pt>
    <dgm:pt modelId="{A2DA2F59-18D1-4E87-9727-54093C450A80}" type="pres">
      <dgm:prSet presAssocID="{72B2D071-D8AA-4A07-B9BD-AD6C2FD0BBFD}" presName="text" presStyleLbl="fgAcc0" presStyleIdx="3" presStyleCnt="4">
        <dgm:presLayoutVars>
          <dgm:chPref val="3"/>
        </dgm:presLayoutVars>
      </dgm:prSet>
      <dgm:spPr/>
    </dgm:pt>
    <dgm:pt modelId="{151ACBC8-FEAE-4867-B928-34C32ACF4F80}" type="pres">
      <dgm:prSet presAssocID="{72B2D071-D8AA-4A07-B9BD-AD6C2FD0BBFD}" presName="hierChild2" presStyleCnt="0"/>
      <dgm:spPr/>
    </dgm:pt>
  </dgm:ptLst>
  <dgm:cxnLst>
    <dgm:cxn modelId="{03DE0616-0847-471F-B8D4-1ACCA9C5F9AA}" type="presOf" srcId="{E3026871-C5BB-48A6-A2AD-2ED4726DB57B}" destId="{88F9E898-5A5F-4561-A690-0FDEAC17E584}" srcOrd="0" destOrd="0" presId="urn:microsoft.com/office/officeart/2005/8/layout/hierarchy1"/>
    <dgm:cxn modelId="{C7073B2D-91C4-40E7-8165-CB5C0CFCCB52}" srcId="{DB7037CF-9C94-4BE0-B11F-DA9A17A61B9F}" destId="{EC426049-C893-4FB5-BF8D-23EEA2EFCF94}" srcOrd="0" destOrd="0" parTransId="{44BF7F40-E515-4637-A583-AADD238BFC1C}" sibTransId="{F050767C-3EA2-463A-A5C4-35B07A1C5657}"/>
    <dgm:cxn modelId="{F334BE65-B2AC-4D98-9844-73C0D60BCE5C}" srcId="{DB7037CF-9C94-4BE0-B11F-DA9A17A61B9F}" destId="{F84A5714-F168-4F67-97AB-6A2967C476BF}" srcOrd="1" destOrd="0" parTransId="{42B38CD5-E538-441A-8190-ED00DF464D69}" sibTransId="{F86DFB92-83F9-43AD-8B34-E93D52224F82}"/>
    <dgm:cxn modelId="{2729DA6A-AC94-4A42-A7BA-84687AADDDCF}" type="presOf" srcId="{DB7037CF-9C94-4BE0-B11F-DA9A17A61B9F}" destId="{094F8EB6-9A49-487B-89CB-C51BD1D5E178}" srcOrd="0" destOrd="0" presId="urn:microsoft.com/office/officeart/2005/8/layout/hierarchy1"/>
    <dgm:cxn modelId="{43514E7E-708C-4E65-9394-51DDC855BFD4}" type="presOf" srcId="{72B2D071-D8AA-4A07-B9BD-AD6C2FD0BBFD}" destId="{A2DA2F59-18D1-4E87-9727-54093C450A80}" srcOrd="0" destOrd="0" presId="urn:microsoft.com/office/officeart/2005/8/layout/hierarchy1"/>
    <dgm:cxn modelId="{3ED3A498-B2D6-4393-BAAF-5FF91638A91B}" srcId="{DB7037CF-9C94-4BE0-B11F-DA9A17A61B9F}" destId="{E3026871-C5BB-48A6-A2AD-2ED4726DB57B}" srcOrd="2" destOrd="0" parTransId="{0EAA9A60-D2C1-417D-97CA-952773552409}" sibTransId="{94D7F8D2-982C-492F-9AD4-6F149C737664}"/>
    <dgm:cxn modelId="{FFC4FF9D-D31F-417E-8BD1-F56CB06FDC1F}" srcId="{DB7037CF-9C94-4BE0-B11F-DA9A17A61B9F}" destId="{72B2D071-D8AA-4A07-B9BD-AD6C2FD0BBFD}" srcOrd="3" destOrd="0" parTransId="{9ECAA17A-D804-474E-A6BB-B943F1147611}" sibTransId="{D74A49BE-2023-41DD-B571-D9665153F516}"/>
    <dgm:cxn modelId="{838F57BE-FAAE-41C8-8E9A-B6E40A610549}" type="presOf" srcId="{EC426049-C893-4FB5-BF8D-23EEA2EFCF94}" destId="{85FE223E-4A07-4D8E-AF8B-3EDAFAFC22DD}" srcOrd="0" destOrd="0" presId="urn:microsoft.com/office/officeart/2005/8/layout/hierarchy1"/>
    <dgm:cxn modelId="{58AB61EC-2D88-466A-A509-C2801DB0AA2C}" type="presOf" srcId="{F84A5714-F168-4F67-97AB-6A2967C476BF}" destId="{2074242E-23CD-4685-9421-5DF8C5B7D096}" srcOrd="0" destOrd="0" presId="urn:microsoft.com/office/officeart/2005/8/layout/hierarchy1"/>
    <dgm:cxn modelId="{9CA40BFD-5F31-4DED-91C3-1EF4F5E8CC9F}" type="presParOf" srcId="{094F8EB6-9A49-487B-89CB-C51BD1D5E178}" destId="{9278615A-2894-4A09-A2BB-A1CD97629059}" srcOrd="0" destOrd="0" presId="urn:microsoft.com/office/officeart/2005/8/layout/hierarchy1"/>
    <dgm:cxn modelId="{F0CC68F4-9F0A-4ED9-9095-1A579B20CAC7}" type="presParOf" srcId="{9278615A-2894-4A09-A2BB-A1CD97629059}" destId="{4F0812A7-7741-45A5-B3BA-0BE93EB5D51A}" srcOrd="0" destOrd="0" presId="urn:microsoft.com/office/officeart/2005/8/layout/hierarchy1"/>
    <dgm:cxn modelId="{332C6FE9-9E77-49CF-ACD4-056892CD5120}" type="presParOf" srcId="{4F0812A7-7741-45A5-B3BA-0BE93EB5D51A}" destId="{84B52BB2-62A7-428E-A7EC-075A82EB82B6}" srcOrd="0" destOrd="0" presId="urn:microsoft.com/office/officeart/2005/8/layout/hierarchy1"/>
    <dgm:cxn modelId="{B15754B1-5A71-4A03-8AA2-60CF2C83D8F5}" type="presParOf" srcId="{4F0812A7-7741-45A5-B3BA-0BE93EB5D51A}" destId="{85FE223E-4A07-4D8E-AF8B-3EDAFAFC22DD}" srcOrd="1" destOrd="0" presId="urn:microsoft.com/office/officeart/2005/8/layout/hierarchy1"/>
    <dgm:cxn modelId="{932C1753-D8AD-4743-A474-7D5F7A76B3F6}" type="presParOf" srcId="{9278615A-2894-4A09-A2BB-A1CD97629059}" destId="{0FDB63CD-D895-42A9-9663-5FA44B4C2A07}" srcOrd="1" destOrd="0" presId="urn:microsoft.com/office/officeart/2005/8/layout/hierarchy1"/>
    <dgm:cxn modelId="{A77A1C39-51EC-4291-B4C9-F34DD2F66658}" type="presParOf" srcId="{094F8EB6-9A49-487B-89CB-C51BD1D5E178}" destId="{1A64A984-C24A-4B28-BC53-7842C5DD2570}" srcOrd="1" destOrd="0" presId="urn:microsoft.com/office/officeart/2005/8/layout/hierarchy1"/>
    <dgm:cxn modelId="{A0F70096-B138-4C90-A5C4-60E073ED66D8}" type="presParOf" srcId="{1A64A984-C24A-4B28-BC53-7842C5DD2570}" destId="{D896E385-87F0-4DA9-86A1-FBCE5B1B0D84}" srcOrd="0" destOrd="0" presId="urn:microsoft.com/office/officeart/2005/8/layout/hierarchy1"/>
    <dgm:cxn modelId="{2E37D53B-313B-4509-882D-CF4CE103AB78}" type="presParOf" srcId="{D896E385-87F0-4DA9-86A1-FBCE5B1B0D84}" destId="{C20EDE9D-B2B7-4EB7-B132-C208DA436DF4}" srcOrd="0" destOrd="0" presId="urn:microsoft.com/office/officeart/2005/8/layout/hierarchy1"/>
    <dgm:cxn modelId="{DEBF35C7-1C86-45A8-86F0-D9241961FF84}" type="presParOf" srcId="{D896E385-87F0-4DA9-86A1-FBCE5B1B0D84}" destId="{2074242E-23CD-4685-9421-5DF8C5B7D096}" srcOrd="1" destOrd="0" presId="urn:microsoft.com/office/officeart/2005/8/layout/hierarchy1"/>
    <dgm:cxn modelId="{7AFF127B-64BD-4EFD-95A4-43A350B321B9}" type="presParOf" srcId="{1A64A984-C24A-4B28-BC53-7842C5DD2570}" destId="{421C3FD9-F66A-4C00-8B13-D4EF34C408BF}" srcOrd="1" destOrd="0" presId="urn:microsoft.com/office/officeart/2005/8/layout/hierarchy1"/>
    <dgm:cxn modelId="{D953EF61-F0A9-43E5-9875-F55B20BC158D}" type="presParOf" srcId="{094F8EB6-9A49-487B-89CB-C51BD1D5E178}" destId="{9FD6C313-14C3-45E0-B5C5-3AB094E7C774}" srcOrd="2" destOrd="0" presId="urn:microsoft.com/office/officeart/2005/8/layout/hierarchy1"/>
    <dgm:cxn modelId="{E4E336F8-8C3B-44A6-8AFC-FA712DEF1BC8}" type="presParOf" srcId="{9FD6C313-14C3-45E0-B5C5-3AB094E7C774}" destId="{BC18CF7D-426D-42A5-9290-FD134DD4AEE6}" srcOrd="0" destOrd="0" presId="urn:microsoft.com/office/officeart/2005/8/layout/hierarchy1"/>
    <dgm:cxn modelId="{6680DF11-1777-4AFF-85D7-9FAEE94185B1}" type="presParOf" srcId="{BC18CF7D-426D-42A5-9290-FD134DD4AEE6}" destId="{2DE87A64-2751-4942-912E-DAC038354653}" srcOrd="0" destOrd="0" presId="urn:microsoft.com/office/officeart/2005/8/layout/hierarchy1"/>
    <dgm:cxn modelId="{5B88C4DE-538E-4882-8596-B35AEE47A09C}" type="presParOf" srcId="{BC18CF7D-426D-42A5-9290-FD134DD4AEE6}" destId="{88F9E898-5A5F-4561-A690-0FDEAC17E584}" srcOrd="1" destOrd="0" presId="urn:microsoft.com/office/officeart/2005/8/layout/hierarchy1"/>
    <dgm:cxn modelId="{524135D3-1F27-41F1-87C5-7FCD0C4E084E}" type="presParOf" srcId="{9FD6C313-14C3-45E0-B5C5-3AB094E7C774}" destId="{EAD86D69-9197-4E6C-94BB-AD55572D0A51}" srcOrd="1" destOrd="0" presId="urn:microsoft.com/office/officeart/2005/8/layout/hierarchy1"/>
    <dgm:cxn modelId="{00840020-3321-448A-86EE-683C0B538C17}" type="presParOf" srcId="{094F8EB6-9A49-487B-89CB-C51BD1D5E178}" destId="{8F1C88FA-9E72-484E-B35B-6D84AAED901E}" srcOrd="3" destOrd="0" presId="urn:microsoft.com/office/officeart/2005/8/layout/hierarchy1"/>
    <dgm:cxn modelId="{19084756-7001-4702-9E38-5527CAACBB75}" type="presParOf" srcId="{8F1C88FA-9E72-484E-B35B-6D84AAED901E}" destId="{4766CB16-08C0-4BD5-A011-9A5F47574A41}" srcOrd="0" destOrd="0" presId="urn:microsoft.com/office/officeart/2005/8/layout/hierarchy1"/>
    <dgm:cxn modelId="{9DB68664-7BDB-457E-8E7E-646D9BAB7ACB}" type="presParOf" srcId="{4766CB16-08C0-4BD5-A011-9A5F47574A41}" destId="{36E8D663-031B-42EF-8F69-1F1757288469}" srcOrd="0" destOrd="0" presId="urn:microsoft.com/office/officeart/2005/8/layout/hierarchy1"/>
    <dgm:cxn modelId="{8460B916-DD35-44F0-BD96-F06BBAB14384}" type="presParOf" srcId="{4766CB16-08C0-4BD5-A011-9A5F47574A41}" destId="{A2DA2F59-18D1-4E87-9727-54093C450A80}" srcOrd="1" destOrd="0" presId="urn:microsoft.com/office/officeart/2005/8/layout/hierarchy1"/>
    <dgm:cxn modelId="{56E99E36-C894-47BD-9742-147255228CBC}" type="presParOf" srcId="{8F1C88FA-9E72-484E-B35B-6D84AAED901E}" destId="{151ACBC8-FEAE-4867-B928-34C32ACF4F8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56627E0-B5D0-4128-8649-B1682252803F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8EF31FD-5B51-446E-83CE-61063AE27F28}">
      <dgm:prSet/>
      <dgm:spPr/>
      <dgm:t>
        <a:bodyPr/>
        <a:lstStyle/>
        <a:p>
          <a:r>
            <a:rPr lang="en-US"/>
            <a:t>Continuous-Discrete Spectrum:</a:t>
          </a:r>
        </a:p>
      </dgm:t>
    </dgm:pt>
    <dgm:pt modelId="{3958E3CF-BEC9-4F39-AD88-01840D6016B1}" type="parTrans" cxnId="{51C76D5F-CD04-49FD-B405-97ED97A76100}">
      <dgm:prSet/>
      <dgm:spPr/>
      <dgm:t>
        <a:bodyPr/>
        <a:lstStyle/>
        <a:p>
          <a:endParaRPr lang="en-US"/>
        </a:p>
      </dgm:t>
    </dgm:pt>
    <dgm:pt modelId="{779CBB9B-3D80-4FB3-96C2-2118FDF106E6}" type="sibTrans" cxnId="{51C76D5F-CD04-49FD-B405-97ED97A76100}">
      <dgm:prSet/>
      <dgm:spPr/>
      <dgm:t>
        <a:bodyPr/>
        <a:lstStyle/>
        <a:p>
          <a:endParaRPr lang="en-US"/>
        </a:p>
      </dgm:t>
    </dgm:pt>
    <dgm:pt modelId="{12BDA446-1EB7-4A4F-B253-A0825F01BE74}">
      <dgm:prSet/>
      <dgm:spPr/>
      <dgm:t>
        <a:bodyPr/>
        <a:lstStyle/>
        <a:p>
          <a:r>
            <a:rPr lang="en-US"/>
            <a:t>SSMs were designed for continuous data but the selection mechanism overcomes this in discrete modalities. </a:t>
          </a:r>
        </a:p>
      </dgm:t>
    </dgm:pt>
    <dgm:pt modelId="{FF9CE5E0-E08A-4263-8B0E-6AC397EE06F7}" type="parTrans" cxnId="{5624B24C-61E0-44B0-9E77-3B11AAA8A66C}">
      <dgm:prSet/>
      <dgm:spPr/>
      <dgm:t>
        <a:bodyPr/>
        <a:lstStyle/>
        <a:p>
          <a:endParaRPr lang="en-US"/>
        </a:p>
      </dgm:t>
    </dgm:pt>
    <dgm:pt modelId="{924CCE88-363A-45EE-B3FE-0706D1FFFEB9}" type="sibTrans" cxnId="{5624B24C-61E0-44B0-9E77-3B11AAA8A66C}">
      <dgm:prSet/>
      <dgm:spPr/>
      <dgm:t>
        <a:bodyPr/>
        <a:lstStyle/>
        <a:p>
          <a:endParaRPr lang="en-US"/>
        </a:p>
      </dgm:t>
    </dgm:pt>
    <dgm:pt modelId="{DC75A5A6-9112-4A36-BF9E-1A44B72C32FE}">
      <dgm:prSet/>
      <dgm:spPr/>
      <dgm:t>
        <a:bodyPr/>
        <a:lstStyle/>
        <a:p>
          <a:r>
            <a:rPr lang="en-US"/>
            <a:t>Downstream Affordances:</a:t>
          </a:r>
        </a:p>
      </dgm:t>
    </dgm:pt>
    <dgm:pt modelId="{43CF05B9-7B57-4EEF-AD3B-93156394F218}" type="parTrans" cxnId="{0DB10E22-0516-4784-A327-5BDD7EDBA0D2}">
      <dgm:prSet/>
      <dgm:spPr/>
      <dgm:t>
        <a:bodyPr/>
        <a:lstStyle/>
        <a:p>
          <a:endParaRPr lang="en-US"/>
        </a:p>
      </dgm:t>
    </dgm:pt>
    <dgm:pt modelId="{904964B4-E450-454C-8841-BF6969F5C02C}" type="sibTrans" cxnId="{0DB10E22-0516-4784-A327-5BDD7EDBA0D2}">
      <dgm:prSet/>
      <dgm:spPr/>
      <dgm:t>
        <a:bodyPr/>
        <a:lstStyle/>
        <a:p>
          <a:endParaRPr lang="en-US"/>
        </a:p>
      </dgm:t>
    </dgm:pt>
    <dgm:pt modelId="{0724AA78-4C6C-43D0-B020-C4DF02DCA6C6}">
      <dgm:prSet/>
      <dgm:spPr/>
      <dgm:t>
        <a:bodyPr/>
        <a:lstStyle/>
        <a:p>
          <a:r>
            <a:rPr lang="en-US"/>
            <a:t>Can SSMs follow the same properties as transformer based models?</a:t>
          </a:r>
        </a:p>
      </dgm:t>
    </dgm:pt>
    <dgm:pt modelId="{52B6A5D2-74DE-4798-91CC-E69D82A642DE}" type="parTrans" cxnId="{34CAEB3F-BE1B-423C-AB2E-D1FA625D9643}">
      <dgm:prSet/>
      <dgm:spPr/>
      <dgm:t>
        <a:bodyPr/>
        <a:lstStyle/>
        <a:p>
          <a:endParaRPr lang="en-US"/>
        </a:p>
      </dgm:t>
    </dgm:pt>
    <dgm:pt modelId="{E507A872-1C49-4A46-8504-A2CE6CEA2C4C}" type="sibTrans" cxnId="{34CAEB3F-BE1B-423C-AB2E-D1FA625D9643}">
      <dgm:prSet/>
      <dgm:spPr/>
      <dgm:t>
        <a:bodyPr/>
        <a:lstStyle/>
        <a:p>
          <a:endParaRPr lang="en-US"/>
        </a:p>
      </dgm:t>
    </dgm:pt>
    <dgm:pt modelId="{ED957FDA-6C06-4537-9FA2-240BCC230BD7}">
      <dgm:prSet/>
      <dgm:spPr/>
      <dgm:t>
        <a:bodyPr/>
        <a:lstStyle/>
        <a:p>
          <a:r>
            <a:rPr lang="en-US"/>
            <a:t>Scaling:</a:t>
          </a:r>
        </a:p>
      </dgm:t>
    </dgm:pt>
    <dgm:pt modelId="{1AAD0696-BFB3-4273-A442-12B51A1B89D6}" type="parTrans" cxnId="{A84368F4-8C98-45CB-88D2-483C674D2D61}">
      <dgm:prSet/>
      <dgm:spPr/>
      <dgm:t>
        <a:bodyPr/>
        <a:lstStyle/>
        <a:p>
          <a:endParaRPr lang="en-US"/>
        </a:p>
      </dgm:t>
    </dgm:pt>
    <dgm:pt modelId="{FFE985C6-44A0-4A6C-8811-C1F79D070B5A}" type="sibTrans" cxnId="{A84368F4-8C98-45CB-88D2-483C674D2D61}">
      <dgm:prSet/>
      <dgm:spPr/>
      <dgm:t>
        <a:bodyPr/>
        <a:lstStyle/>
        <a:p>
          <a:endParaRPr lang="en-US"/>
        </a:p>
      </dgm:t>
    </dgm:pt>
    <dgm:pt modelId="{2E0ED9D4-A291-41A4-B27C-9DBB4D8981B3}">
      <dgm:prSet/>
      <dgm:spPr/>
      <dgm:t>
        <a:bodyPr/>
        <a:lstStyle/>
        <a:p>
          <a:r>
            <a:rPr lang="en-US"/>
            <a:t>Uncertainty as to whether the proposed model will perform on large scales</a:t>
          </a:r>
        </a:p>
      </dgm:t>
    </dgm:pt>
    <dgm:pt modelId="{D89A3692-7223-48AA-B479-5E7B3D840D55}" type="parTrans" cxnId="{00DB7551-77C2-4819-847E-DD71E5299BC6}">
      <dgm:prSet/>
      <dgm:spPr/>
      <dgm:t>
        <a:bodyPr/>
        <a:lstStyle/>
        <a:p>
          <a:endParaRPr lang="en-US"/>
        </a:p>
      </dgm:t>
    </dgm:pt>
    <dgm:pt modelId="{925F6856-7C80-484C-BC16-78F743E06981}" type="sibTrans" cxnId="{00DB7551-77C2-4819-847E-DD71E5299BC6}">
      <dgm:prSet/>
      <dgm:spPr/>
      <dgm:t>
        <a:bodyPr/>
        <a:lstStyle/>
        <a:p>
          <a:endParaRPr lang="en-US"/>
        </a:p>
      </dgm:t>
    </dgm:pt>
    <dgm:pt modelId="{78B66A0A-01CF-45EF-9031-EDEC5C0E66FC}" type="pres">
      <dgm:prSet presAssocID="{F56627E0-B5D0-4128-8649-B1682252803F}" presName="Name0" presStyleCnt="0">
        <dgm:presLayoutVars>
          <dgm:dir/>
          <dgm:animLvl val="lvl"/>
          <dgm:resizeHandles val="exact"/>
        </dgm:presLayoutVars>
      </dgm:prSet>
      <dgm:spPr/>
    </dgm:pt>
    <dgm:pt modelId="{F25C424B-D59D-473F-AB04-64B70599510C}" type="pres">
      <dgm:prSet presAssocID="{E8EF31FD-5B51-446E-83CE-61063AE27F28}" presName="composite" presStyleCnt="0"/>
      <dgm:spPr/>
    </dgm:pt>
    <dgm:pt modelId="{F3816C40-9BBD-4591-BE7C-6E4EA687ECFE}" type="pres">
      <dgm:prSet presAssocID="{E8EF31FD-5B51-446E-83CE-61063AE27F28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77169D84-0AE8-489B-BDFF-57E6A27EA24A}" type="pres">
      <dgm:prSet presAssocID="{E8EF31FD-5B51-446E-83CE-61063AE27F28}" presName="desTx" presStyleLbl="alignAccFollowNode1" presStyleIdx="0" presStyleCnt="3">
        <dgm:presLayoutVars>
          <dgm:bulletEnabled val="1"/>
        </dgm:presLayoutVars>
      </dgm:prSet>
      <dgm:spPr/>
    </dgm:pt>
    <dgm:pt modelId="{CF9660B9-1D5E-4595-90C2-E55DAF35201D}" type="pres">
      <dgm:prSet presAssocID="{779CBB9B-3D80-4FB3-96C2-2118FDF106E6}" presName="space" presStyleCnt="0"/>
      <dgm:spPr/>
    </dgm:pt>
    <dgm:pt modelId="{C7985677-99AE-45D1-AD39-BEA85D45EDF1}" type="pres">
      <dgm:prSet presAssocID="{DC75A5A6-9112-4A36-BF9E-1A44B72C32FE}" presName="composite" presStyleCnt="0"/>
      <dgm:spPr/>
    </dgm:pt>
    <dgm:pt modelId="{53EFF075-3CC1-46C4-A01A-A6A07FD1E8DB}" type="pres">
      <dgm:prSet presAssocID="{DC75A5A6-9112-4A36-BF9E-1A44B72C32F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88478F27-E813-418F-A292-5D93414849F8}" type="pres">
      <dgm:prSet presAssocID="{DC75A5A6-9112-4A36-BF9E-1A44B72C32FE}" presName="desTx" presStyleLbl="alignAccFollowNode1" presStyleIdx="1" presStyleCnt="3">
        <dgm:presLayoutVars>
          <dgm:bulletEnabled val="1"/>
        </dgm:presLayoutVars>
      </dgm:prSet>
      <dgm:spPr/>
    </dgm:pt>
    <dgm:pt modelId="{47FDF87D-ACFE-4B37-B799-AA67337C58C5}" type="pres">
      <dgm:prSet presAssocID="{904964B4-E450-454C-8841-BF6969F5C02C}" presName="space" presStyleCnt="0"/>
      <dgm:spPr/>
    </dgm:pt>
    <dgm:pt modelId="{F5ABA2B3-D9C3-40D9-8F9E-4AE345CAD3EB}" type="pres">
      <dgm:prSet presAssocID="{ED957FDA-6C06-4537-9FA2-240BCC230BD7}" presName="composite" presStyleCnt="0"/>
      <dgm:spPr/>
    </dgm:pt>
    <dgm:pt modelId="{7BE9A4D3-882D-4787-A54D-268112F6375D}" type="pres">
      <dgm:prSet presAssocID="{ED957FDA-6C06-4537-9FA2-240BCC230BD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919499B1-6B86-4C70-8CCD-9E8ADF0B9122}" type="pres">
      <dgm:prSet presAssocID="{ED957FDA-6C06-4537-9FA2-240BCC230BD7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07D3305-D8AE-4AA5-8B1B-C83B6772000D}" type="presOf" srcId="{ED957FDA-6C06-4537-9FA2-240BCC230BD7}" destId="{7BE9A4D3-882D-4787-A54D-268112F6375D}" srcOrd="0" destOrd="0" presId="urn:microsoft.com/office/officeart/2005/8/layout/hList1"/>
    <dgm:cxn modelId="{0DB10E22-0516-4784-A327-5BDD7EDBA0D2}" srcId="{F56627E0-B5D0-4128-8649-B1682252803F}" destId="{DC75A5A6-9112-4A36-BF9E-1A44B72C32FE}" srcOrd="1" destOrd="0" parTransId="{43CF05B9-7B57-4EEF-AD3B-93156394F218}" sibTransId="{904964B4-E450-454C-8841-BF6969F5C02C}"/>
    <dgm:cxn modelId="{34CAEB3F-BE1B-423C-AB2E-D1FA625D9643}" srcId="{DC75A5A6-9112-4A36-BF9E-1A44B72C32FE}" destId="{0724AA78-4C6C-43D0-B020-C4DF02DCA6C6}" srcOrd="0" destOrd="0" parTransId="{52B6A5D2-74DE-4798-91CC-E69D82A642DE}" sibTransId="{E507A872-1C49-4A46-8504-A2CE6CEA2C4C}"/>
    <dgm:cxn modelId="{51C76D5F-CD04-49FD-B405-97ED97A76100}" srcId="{F56627E0-B5D0-4128-8649-B1682252803F}" destId="{E8EF31FD-5B51-446E-83CE-61063AE27F28}" srcOrd="0" destOrd="0" parTransId="{3958E3CF-BEC9-4F39-AD88-01840D6016B1}" sibTransId="{779CBB9B-3D80-4FB3-96C2-2118FDF106E6}"/>
    <dgm:cxn modelId="{6383EE46-B20A-479C-B571-E591F5EBFA0C}" type="presOf" srcId="{2E0ED9D4-A291-41A4-B27C-9DBB4D8981B3}" destId="{919499B1-6B86-4C70-8CCD-9E8ADF0B9122}" srcOrd="0" destOrd="0" presId="urn:microsoft.com/office/officeart/2005/8/layout/hList1"/>
    <dgm:cxn modelId="{5624B24C-61E0-44B0-9E77-3B11AAA8A66C}" srcId="{E8EF31FD-5B51-446E-83CE-61063AE27F28}" destId="{12BDA446-1EB7-4A4F-B253-A0825F01BE74}" srcOrd="0" destOrd="0" parTransId="{FF9CE5E0-E08A-4263-8B0E-6AC397EE06F7}" sibTransId="{924CCE88-363A-45EE-B3FE-0706D1FFFEB9}"/>
    <dgm:cxn modelId="{1BC2B24F-6291-4B3D-A53F-E5BEE7EB8F6D}" type="presOf" srcId="{0724AA78-4C6C-43D0-B020-C4DF02DCA6C6}" destId="{88478F27-E813-418F-A292-5D93414849F8}" srcOrd="0" destOrd="0" presId="urn:microsoft.com/office/officeart/2005/8/layout/hList1"/>
    <dgm:cxn modelId="{00DB7551-77C2-4819-847E-DD71E5299BC6}" srcId="{ED957FDA-6C06-4537-9FA2-240BCC230BD7}" destId="{2E0ED9D4-A291-41A4-B27C-9DBB4D8981B3}" srcOrd="0" destOrd="0" parTransId="{D89A3692-7223-48AA-B479-5E7B3D840D55}" sibTransId="{925F6856-7C80-484C-BC16-78F743E06981}"/>
    <dgm:cxn modelId="{3FD8277D-F8CD-40E4-85D5-86E819DB1CA7}" type="presOf" srcId="{E8EF31FD-5B51-446E-83CE-61063AE27F28}" destId="{F3816C40-9BBD-4591-BE7C-6E4EA687ECFE}" srcOrd="0" destOrd="0" presId="urn:microsoft.com/office/officeart/2005/8/layout/hList1"/>
    <dgm:cxn modelId="{2497B781-6821-4DF6-BFC5-37D99B5019A7}" type="presOf" srcId="{DC75A5A6-9112-4A36-BF9E-1A44B72C32FE}" destId="{53EFF075-3CC1-46C4-A01A-A6A07FD1E8DB}" srcOrd="0" destOrd="0" presId="urn:microsoft.com/office/officeart/2005/8/layout/hList1"/>
    <dgm:cxn modelId="{3160C590-2B40-4B33-AFF1-990318AF433C}" type="presOf" srcId="{12BDA446-1EB7-4A4F-B253-A0825F01BE74}" destId="{77169D84-0AE8-489B-BDFF-57E6A27EA24A}" srcOrd="0" destOrd="0" presId="urn:microsoft.com/office/officeart/2005/8/layout/hList1"/>
    <dgm:cxn modelId="{E4FB3899-A29C-42D0-AE0E-56AAB7ADC882}" type="presOf" srcId="{F56627E0-B5D0-4128-8649-B1682252803F}" destId="{78B66A0A-01CF-45EF-9031-EDEC5C0E66FC}" srcOrd="0" destOrd="0" presId="urn:microsoft.com/office/officeart/2005/8/layout/hList1"/>
    <dgm:cxn modelId="{A84368F4-8C98-45CB-88D2-483C674D2D61}" srcId="{F56627E0-B5D0-4128-8649-B1682252803F}" destId="{ED957FDA-6C06-4537-9FA2-240BCC230BD7}" srcOrd="2" destOrd="0" parTransId="{1AAD0696-BFB3-4273-A442-12B51A1B89D6}" sibTransId="{FFE985C6-44A0-4A6C-8811-C1F79D070B5A}"/>
    <dgm:cxn modelId="{1B840BFC-6214-4FFE-83C0-5681F7E8796A}" type="presParOf" srcId="{78B66A0A-01CF-45EF-9031-EDEC5C0E66FC}" destId="{F25C424B-D59D-473F-AB04-64B70599510C}" srcOrd="0" destOrd="0" presId="urn:microsoft.com/office/officeart/2005/8/layout/hList1"/>
    <dgm:cxn modelId="{0B9BD5F5-CA99-45D6-8347-F5307EF4D26C}" type="presParOf" srcId="{F25C424B-D59D-473F-AB04-64B70599510C}" destId="{F3816C40-9BBD-4591-BE7C-6E4EA687ECFE}" srcOrd="0" destOrd="0" presId="urn:microsoft.com/office/officeart/2005/8/layout/hList1"/>
    <dgm:cxn modelId="{6FC02CFC-7F06-4DC1-A383-29D69BA14F21}" type="presParOf" srcId="{F25C424B-D59D-473F-AB04-64B70599510C}" destId="{77169D84-0AE8-489B-BDFF-57E6A27EA24A}" srcOrd="1" destOrd="0" presId="urn:microsoft.com/office/officeart/2005/8/layout/hList1"/>
    <dgm:cxn modelId="{0BC2A4BE-9839-4FD9-98DE-B7F6DD43CE31}" type="presParOf" srcId="{78B66A0A-01CF-45EF-9031-EDEC5C0E66FC}" destId="{CF9660B9-1D5E-4595-90C2-E55DAF35201D}" srcOrd="1" destOrd="0" presId="urn:microsoft.com/office/officeart/2005/8/layout/hList1"/>
    <dgm:cxn modelId="{F7371250-4343-49CF-9F40-6D216961639B}" type="presParOf" srcId="{78B66A0A-01CF-45EF-9031-EDEC5C0E66FC}" destId="{C7985677-99AE-45D1-AD39-BEA85D45EDF1}" srcOrd="2" destOrd="0" presId="urn:microsoft.com/office/officeart/2005/8/layout/hList1"/>
    <dgm:cxn modelId="{2DDEAE8B-F1E5-46EC-8344-35763E5B65BD}" type="presParOf" srcId="{C7985677-99AE-45D1-AD39-BEA85D45EDF1}" destId="{53EFF075-3CC1-46C4-A01A-A6A07FD1E8DB}" srcOrd="0" destOrd="0" presId="urn:microsoft.com/office/officeart/2005/8/layout/hList1"/>
    <dgm:cxn modelId="{996A8AFF-04B5-488B-BEFD-767072FFD4E1}" type="presParOf" srcId="{C7985677-99AE-45D1-AD39-BEA85D45EDF1}" destId="{88478F27-E813-418F-A292-5D93414849F8}" srcOrd="1" destOrd="0" presId="urn:microsoft.com/office/officeart/2005/8/layout/hList1"/>
    <dgm:cxn modelId="{CB397AFD-6567-4A53-AAD0-71BF339D52B3}" type="presParOf" srcId="{78B66A0A-01CF-45EF-9031-EDEC5C0E66FC}" destId="{47FDF87D-ACFE-4B37-B799-AA67337C58C5}" srcOrd="3" destOrd="0" presId="urn:microsoft.com/office/officeart/2005/8/layout/hList1"/>
    <dgm:cxn modelId="{E534DC07-A795-4005-B3C8-D075E1F8DBE7}" type="presParOf" srcId="{78B66A0A-01CF-45EF-9031-EDEC5C0E66FC}" destId="{F5ABA2B3-D9C3-40D9-8F9E-4AE345CAD3EB}" srcOrd="4" destOrd="0" presId="urn:microsoft.com/office/officeart/2005/8/layout/hList1"/>
    <dgm:cxn modelId="{5E3C0A70-5BCB-481A-A3F1-9A4865988135}" type="presParOf" srcId="{F5ABA2B3-D9C3-40D9-8F9E-4AE345CAD3EB}" destId="{7BE9A4D3-882D-4787-A54D-268112F6375D}" srcOrd="0" destOrd="0" presId="urn:microsoft.com/office/officeart/2005/8/layout/hList1"/>
    <dgm:cxn modelId="{B8819D11-A4B1-4369-BC5F-E07D03C39BF8}" type="presParOf" srcId="{F5ABA2B3-D9C3-40D9-8F9E-4AE345CAD3EB}" destId="{919499B1-6B86-4C70-8CCD-9E8ADF0B912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DB570E5-1268-40F6-9794-74F8B17A124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209B9EF-1A8B-4FFE-A564-75E10C82089B}">
      <dgm:prSet/>
      <dgm:spPr/>
      <dgm:t>
        <a:bodyPr/>
        <a:lstStyle/>
        <a:p>
          <a:r>
            <a:rPr lang="en-US"/>
            <a:t>Gating:</a:t>
          </a:r>
        </a:p>
      </dgm:t>
    </dgm:pt>
    <dgm:pt modelId="{C331905E-48CC-4110-A666-345F6930B923}" type="parTrans" cxnId="{5C9A8153-507F-4AD6-BA13-011D4250D604}">
      <dgm:prSet/>
      <dgm:spPr/>
      <dgm:t>
        <a:bodyPr/>
        <a:lstStyle/>
        <a:p>
          <a:endParaRPr lang="en-US"/>
        </a:p>
      </dgm:t>
    </dgm:pt>
    <dgm:pt modelId="{EF5AA572-B182-4221-A3D4-28EF4EEC90F1}" type="sibTrans" cxnId="{5C9A8153-507F-4AD6-BA13-011D4250D604}">
      <dgm:prSet/>
      <dgm:spPr/>
      <dgm:t>
        <a:bodyPr/>
        <a:lstStyle/>
        <a:p>
          <a:endParaRPr lang="en-US"/>
        </a:p>
      </dgm:t>
    </dgm:pt>
    <dgm:pt modelId="{AD2A9F25-CA3C-4A69-8F82-1AC1823195BC}">
      <dgm:prSet/>
      <dgm:spPr/>
      <dgm:t>
        <a:bodyPr/>
        <a:lstStyle/>
        <a:p>
          <a:r>
            <a:rPr lang="en-US"/>
            <a:t>Traditional  gating algorithm</a:t>
          </a:r>
        </a:p>
      </dgm:t>
    </dgm:pt>
    <dgm:pt modelId="{2AE8812F-61F6-42D1-AC8B-04179647C76C}" type="parTrans" cxnId="{CFD43347-37D0-403B-B1D9-D508636F91BA}">
      <dgm:prSet/>
      <dgm:spPr/>
      <dgm:t>
        <a:bodyPr/>
        <a:lstStyle/>
        <a:p>
          <a:endParaRPr lang="en-US"/>
        </a:p>
      </dgm:t>
    </dgm:pt>
    <dgm:pt modelId="{A25CBBA0-7293-4C7D-96AA-A1693541AEC9}" type="sibTrans" cxnId="{CFD43347-37D0-403B-B1D9-D508636F91BA}">
      <dgm:prSet/>
      <dgm:spPr/>
      <dgm:t>
        <a:bodyPr/>
        <a:lstStyle/>
        <a:p>
          <a:endParaRPr lang="en-US"/>
        </a:p>
      </dgm:t>
    </dgm:pt>
    <dgm:pt modelId="{D6EEE3B2-AC60-4878-ADED-C71468886B11}">
      <dgm:prSet/>
      <dgm:spPr/>
      <dgm:t>
        <a:bodyPr/>
        <a:lstStyle/>
        <a:p>
          <a:r>
            <a:rPr lang="en-US"/>
            <a:t>Multiplicative gating</a:t>
          </a:r>
        </a:p>
      </dgm:t>
    </dgm:pt>
    <dgm:pt modelId="{A43924A2-6248-4A39-924E-33E7AFCE74DA}" type="parTrans" cxnId="{4A918E78-2CF4-4D70-9F8E-9DD9B2E71003}">
      <dgm:prSet/>
      <dgm:spPr/>
      <dgm:t>
        <a:bodyPr/>
        <a:lstStyle/>
        <a:p>
          <a:endParaRPr lang="en-US"/>
        </a:p>
      </dgm:t>
    </dgm:pt>
    <dgm:pt modelId="{EC9871DA-A47E-45BC-B385-5DBB1D8B3D16}" type="sibTrans" cxnId="{4A918E78-2CF4-4D70-9F8E-9DD9B2E71003}">
      <dgm:prSet/>
      <dgm:spPr/>
      <dgm:t>
        <a:bodyPr/>
        <a:lstStyle/>
        <a:p>
          <a:endParaRPr lang="en-US"/>
        </a:p>
      </dgm:t>
    </dgm:pt>
    <dgm:pt modelId="{36AB9D60-6C2F-45D7-A634-0BC9F83D63DF}">
      <dgm:prSet/>
      <dgm:spPr/>
      <dgm:t>
        <a:bodyPr/>
        <a:lstStyle/>
        <a:p>
          <a:r>
            <a:rPr lang="en-US"/>
            <a:t>Hypernetworks:</a:t>
          </a:r>
        </a:p>
      </dgm:t>
    </dgm:pt>
    <dgm:pt modelId="{90A8966E-9E21-4F4D-8206-163A7FEB7ACA}" type="parTrans" cxnId="{32A893C9-DBF9-45F8-9303-B7FF190128C0}">
      <dgm:prSet/>
      <dgm:spPr/>
      <dgm:t>
        <a:bodyPr/>
        <a:lstStyle/>
        <a:p>
          <a:endParaRPr lang="en-US"/>
        </a:p>
      </dgm:t>
    </dgm:pt>
    <dgm:pt modelId="{51ED8AC9-8CCE-481D-846E-F83BA2BFCDD1}" type="sibTrans" cxnId="{32A893C9-DBF9-45F8-9303-B7FF190128C0}">
      <dgm:prSet/>
      <dgm:spPr/>
      <dgm:t>
        <a:bodyPr/>
        <a:lstStyle/>
        <a:p>
          <a:endParaRPr lang="en-US"/>
        </a:p>
      </dgm:t>
    </dgm:pt>
    <dgm:pt modelId="{07BD0857-0800-491C-9070-7FB3DF16C370}">
      <dgm:prSet/>
      <dgm:spPr/>
      <dgm:t>
        <a:bodyPr/>
        <a:lstStyle/>
        <a:p>
          <a:r>
            <a:rPr lang="en-US"/>
            <a:t>neural networks whose parameters are themselves generated by smaller neural networks.</a:t>
          </a:r>
        </a:p>
      </dgm:t>
    </dgm:pt>
    <dgm:pt modelId="{AD3472B1-C8B8-49B5-A39D-98BE1E027F44}" type="parTrans" cxnId="{00A5B18E-BDF6-46BD-8912-7B62FDC0EA76}">
      <dgm:prSet/>
      <dgm:spPr/>
      <dgm:t>
        <a:bodyPr/>
        <a:lstStyle/>
        <a:p>
          <a:endParaRPr lang="en-US"/>
        </a:p>
      </dgm:t>
    </dgm:pt>
    <dgm:pt modelId="{834D1ED7-0B59-4BEC-8CAF-CA50EB9BC42B}" type="sibTrans" cxnId="{00A5B18E-BDF6-46BD-8912-7B62FDC0EA76}">
      <dgm:prSet/>
      <dgm:spPr/>
      <dgm:t>
        <a:bodyPr/>
        <a:lstStyle/>
        <a:p>
          <a:endParaRPr lang="en-US"/>
        </a:p>
      </dgm:t>
    </dgm:pt>
    <dgm:pt modelId="{5FD477AC-094F-4FF0-81BB-C343F48A1089}">
      <dgm:prSet/>
      <dgm:spPr/>
      <dgm:t>
        <a:bodyPr/>
        <a:lstStyle/>
        <a:p>
          <a:r>
            <a:rPr lang="en-US"/>
            <a:t>Data dependence:</a:t>
          </a:r>
        </a:p>
      </dgm:t>
    </dgm:pt>
    <dgm:pt modelId="{8654110D-55EC-4C89-8040-A810145B5D29}" type="parTrans" cxnId="{398A7A09-EF09-4C26-A125-11E8ABD53F51}">
      <dgm:prSet/>
      <dgm:spPr/>
      <dgm:t>
        <a:bodyPr/>
        <a:lstStyle/>
        <a:p>
          <a:endParaRPr lang="en-US"/>
        </a:p>
      </dgm:t>
    </dgm:pt>
    <dgm:pt modelId="{F34ED7B9-AD07-459E-9273-7BABDC2D8226}" type="sibTrans" cxnId="{398A7A09-EF09-4C26-A125-11E8ABD53F51}">
      <dgm:prSet/>
      <dgm:spPr/>
      <dgm:t>
        <a:bodyPr/>
        <a:lstStyle/>
        <a:p>
          <a:endParaRPr lang="en-US"/>
        </a:p>
      </dgm:t>
    </dgm:pt>
    <dgm:pt modelId="{8AD1302D-40F0-4AF5-9EE4-5AEA54A1E871}">
      <dgm:prSet/>
      <dgm:spPr/>
      <dgm:t>
        <a:bodyPr/>
        <a:lstStyle/>
        <a:p>
          <a:r>
            <a:rPr lang="en-US"/>
            <a:t>Any notion where some parameters of the model depend on the data</a:t>
          </a:r>
        </a:p>
      </dgm:t>
    </dgm:pt>
    <dgm:pt modelId="{86F11128-1650-4D34-9A8A-EEA7F5319313}" type="parTrans" cxnId="{EF5A2B1C-ADAA-4C04-B3EA-DADDCE38D07C}">
      <dgm:prSet/>
      <dgm:spPr/>
      <dgm:t>
        <a:bodyPr/>
        <a:lstStyle/>
        <a:p>
          <a:endParaRPr lang="en-US"/>
        </a:p>
      </dgm:t>
    </dgm:pt>
    <dgm:pt modelId="{90FCEA0C-0290-448E-AFA9-C10449DA4844}" type="sibTrans" cxnId="{EF5A2B1C-ADAA-4C04-B3EA-DADDCE38D07C}">
      <dgm:prSet/>
      <dgm:spPr/>
      <dgm:t>
        <a:bodyPr/>
        <a:lstStyle/>
        <a:p>
          <a:endParaRPr lang="en-US"/>
        </a:p>
      </dgm:t>
    </dgm:pt>
    <dgm:pt modelId="{713C3BB6-8445-4E70-9AD3-85046A804590}">
      <dgm:prSet/>
      <dgm:spPr/>
      <dgm:t>
        <a:bodyPr/>
        <a:lstStyle/>
        <a:p>
          <a:r>
            <a:rPr lang="en-US"/>
            <a:t>Selection:</a:t>
          </a:r>
        </a:p>
      </dgm:t>
    </dgm:pt>
    <dgm:pt modelId="{983700AB-CE73-443E-BA0F-E24538887AC3}" type="parTrans" cxnId="{35A17825-2700-4D7F-A1E3-C1AABB531ACE}">
      <dgm:prSet/>
      <dgm:spPr/>
      <dgm:t>
        <a:bodyPr/>
        <a:lstStyle/>
        <a:p>
          <a:endParaRPr lang="en-US"/>
        </a:p>
      </dgm:t>
    </dgm:pt>
    <dgm:pt modelId="{D82BB3BE-5259-4848-9E23-7F4AA82A997C}" type="sibTrans" cxnId="{35A17825-2700-4D7F-A1E3-C1AABB531ACE}">
      <dgm:prSet/>
      <dgm:spPr/>
      <dgm:t>
        <a:bodyPr/>
        <a:lstStyle/>
        <a:p>
          <a:endParaRPr lang="en-US"/>
        </a:p>
      </dgm:t>
    </dgm:pt>
    <dgm:pt modelId="{EE85EF0D-F5FE-497E-B7D9-9D2D7F9BC54B}">
      <dgm:prSet/>
      <dgm:spPr/>
      <dgm:t>
        <a:bodyPr/>
        <a:lstStyle/>
        <a:p>
          <a:r>
            <a:rPr lang="en-US"/>
            <a:t>Viewed as most closely related to the gating structure of RNNs</a:t>
          </a:r>
        </a:p>
      </dgm:t>
    </dgm:pt>
    <dgm:pt modelId="{F484BD95-5ABB-4207-919E-D6BBF5ACE94E}" type="parTrans" cxnId="{6F2E5993-A0DA-4F20-AB94-FC79E1F2D4C1}">
      <dgm:prSet/>
      <dgm:spPr/>
      <dgm:t>
        <a:bodyPr/>
        <a:lstStyle/>
        <a:p>
          <a:endParaRPr lang="en-US"/>
        </a:p>
      </dgm:t>
    </dgm:pt>
    <dgm:pt modelId="{B60927F2-897F-405A-B0DA-43671C9260CC}" type="sibTrans" cxnId="{6F2E5993-A0DA-4F20-AB94-FC79E1F2D4C1}">
      <dgm:prSet/>
      <dgm:spPr/>
      <dgm:t>
        <a:bodyPr/>
        <a:lstStyle/>
        <a:p>
          <a:endParaRPr lang="en-US"/>
        </a:p>
      </dgm:t>
    </dgm:pt>
    <dgm:pt modelId="{1AFD4649-F4B5-4F7F-95C2-AD6BBD668B91}">
      <dgm:prSet/>
      <dgm:spPr/>
      <dgm:t>
        <a:bodyPr/>
        <a:lstStyle/>
        <a:p>
          <a:r>
            <a:rPr lang="en-US"/>
            <a:t>Connected to SSMs through Δ</a:t>
          </a:r>
        </a:p>
      </dgm:t>
    </dgm:pt>
    <dgm:pt modelId="{C0B6F9B7-05DB-4660-80EE-42E978B4E70E}" type="parTrans" cxnId="{E7B149AB-C09B-4C68-BE4B-EB60B07E9F0E}">
      <dgm:prSet/>
      <dgm:spPr/>
      <dgm:t>
        <a:bodyPr/>
        <a:lstStyle/>
        <a:p>
          <a:endParaRPr lang="en-US"/>
        </a:p>
      </dgm:t>
    </dgm:pt>
    <dgm:pt modelId="{B6A5C33F-38FC-434A-AFF9-E6CD8735F4FE}" type="sibTrans" cxnId="{E7B149AB-C09B-4C68-BE4B-EB60B07E9F0E}">
      <dgm:prSet/>
      <dgm:spPr/>
      <dgm:t>
        <a:bodyPr/>
        <a:lstStyle/>
        <a:p>
          <a:endParaRPr lang="en-US"/>
        </a:p>
      </dgm:t>
    </dgm:pt>
    <dgm:pt modelId="{A7A36ADD-E0EE-4D76-9804-AE124C36F43C}" type="pres">
      <dgm:prSet presAssocID="{DDB570E5-1268-40F6-9794-74F8B17A1246}" presName="linear" presStyleCnt="0">
        <dgm:presLayoutVars>
          <dgm:animLvl val="lvl"/>
          <dgm:resizeHandles val="exact"/>
        </dgm:presLayoutVars>
      </dgm:prSet>
      <dgm:spPr/>
    </dgm:pt>
    <dgm:pt modelId="{BFAF614F-43A0-48E7-AE07-467FB1B4D919}" type="pres">
      <dgm:prSet presAssocID="{3209B9EF-1A8B-4FFE-A564-75E10C82089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CFA4931-9F20-4B6B-8160-259014580FF7}" type="pres">
      <dgm:prSet presAssocID="{3209B9EF-1A8B-4FFE-A564-75E10C82089B}" presName="childText" presStyleLbl="revTx" presStyleIdx="0" presStyleCnt="4">
        <dgm:presLayoutVars>
          <dgm:bulletEnabled val="1"/>
        </dgm:presLayoutVars>
      </dgm:prSet>
      <dgm:spPr/>
    </dgm:pt>
    <dgm:pt modelId="{0D1E23BC-7578-4EEF-98AF-376DD8C43DE4}" type="pres">
      <dgm:prSet presAssocID="{36AB9D60-6C2F-45D7-A634-0BC9F83D63D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607911A-87BD-40AC-8F36-9B0E4D600F55}" type="pres">
      <dgm:prSet presAssocID="{36AB9D60-6C2F-45D7-A634-0BC9F83D63DF}" presName="childText" presStyleLbl="revTx" presStyleIdx="1" presStyleCnt="4">
        <dgm:presLayoutVars>
          <dgm:bulletEnabled val="1"/>
        </dgm:presLayoutVars>
      </dgm:prSet>
      <dgm:spPr/>
    </dgm:pt>
    <dgm:pt modelId="{FBBA55CB-6DEB-4F79-9B7E-74A06D6A7B2E}" type="pres">
      <dgm:prSet presAssocID="{5FD477AC-094F-4FF0-81BB-C343F48A108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6CD0350-3006-45FA-ABCE-51772A7AFD63}" type="pres">
      <dgm:prSet presAssocID="{5FD477AC-094F-4FF0-81BB-C343F48A1089}" presName="childText" presStyleLbl="revTx" presStyleIdx="2" presStyleCnt="4">
        <dgm:presLayoutVars>
          <dgm:bulletEnabled val="1"/>
        </dgm:presLayoutVars>
      </dgm:prSet>
      <dgm:spPr/>
    </dgm:pt>
    <dgm:pt modelId="{F9047B1B-89C6-47DB-97D6-4C4F03DD0D03}" type="pres">
      <dgm:prSet presAssocID="{713C3BB6-8445-4E70-9AD3-85046A80459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BEB74B2-4147-4BF4-ADF3-9987D4F9091C}" type="pres">
      <dgm:prSet presAssocID="{713C3BB6-8445-4E70-9AD3-85046A804590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CC112104-8F21-4746-ACF2-56BA38637F4A}" type="presOf" srcId="{8AD1302D-40F0-4AF5-9EE4-5AEA54A1E871}" destId="{76CD0350-3006-45FA-ABCE-51772A7AFD63}" srcOrd="0" destOrd="0" presId="urn:microsoft.com/office/officeart/2005/8/layout/vList2"/>
    <dgm:cxn modelId="{398A7A09-EF09-4C26-A125-11E8ABD53F51}" srcId="{DDB570E5-1268-40F6-9794-74F8B17A1246}" destId="{5FD477AC-094F-4FF0-81BB-C343F48A1089}" srcOrd="2" destOrd="0" parTransId="{8654110D-55EC-4C89-8040-A810145B5D29}" sibTransId="{F34ED7B9-AD07-459E-9273-7BABDC2D8226}"/>
    <dgm:cxn modelId="{EF5A2B1C-ADAA-4C04-B3EA-DADDCE38D07C}" srcId="{5FD477AC-094F-4FF0-81BB-C343F48A1089}" destId="{8AD1302D-40F0-4AF5-9EE4-5AEA54A1E871}" srcOrd="0" destOrd="0" parTransId="{86F11128-1650-4D34-9A8A-EEA7F5319313}" sibTransId="{90FCEA0C-0290-448E-AFA9-C10449DA4844}"/>
    <dgm:cxn modelId="{35A17825-2700-4D7F-A1E3-C1AABB531ACE}" srcId="{DDB570E5-1268-40F6-9794-74F8B17A1246}" destId="{713C3BB6-8445-4E70-9AD3-85046A804590}" srcOrd="3" destOrd="0" parTransId="{983700AB-CE73-443E-BA0F-E24538887AC3}" sibTransId="{D82BB3BE-5259-4848-9E23-7F4AA82A997C}"/>
    <dgm:cxn modelId="{9ABE873B-2C32-4767-9FC6-D1A6B5D26A54}" type="presOf" srcId="{3209B9EF-1A8B-4FFE-A564-75E10C82089B}" destId="{BFAF614F-43A0-48E7-AE07-467FB1B4D919}" srcOrd="0" destOrd="0" presId="urn:microsoft.com/office/officeart/2005/8/layout/vList2"/>
    <dgm:cxn modelId="{08198645-0C9A-49D2-8B20-73E01FF61F48}" type="presOf" srcId="{EE85EF0D-F5FE-497E-B7D9-9D2D7F9BC54B}" destId="{7BEB74B2-4147-4BF4-ADF3-9987D4F9091C}" srcOrd="0" destOrd="0" presId="urn:microsoft.com/office/officeart/2005/8/layout/vList2"/>
    <dgm:cxn modelId="{CFD43347-37D0-403B-B1D9-D508636F91BA}" srcId="{3209B9EF-1A8B-4FFE-A564-75E10C82089B}" destId="{AD2A9F25-CA3C-4A69-8F82-1AC1823195BC}" srcOrd="0" destOrd="0" parTransId="{2AE8812F-61F6-42D1-AC8B-04179647C76C}" sibTransId="{A25CBBA0-7293-4C7D-96AA-A1693541AEC9}"/>
    <dgm:cxn modelId="{5C9A8153-507F-4AD6-BA13-011D4250D604}" srcId="{DDB570E5-1268-40F6-9794-74F8B17A1246}" destId="{3209B9EF-1A8B-4FFE-A564-75E10C82089B}" srcOrd="0" destOrd="0" parTransId="{C331905E-48CC-4110-A666-345F6930B923}" sibTransId="{EF5AA572-B182-4221-A3D4-28EF4EEC90F1}"/>
    <dgm:cxn modelId="{62A6D753-050B-46DC-81BA-438FE8F6D17A}" type="presOf" srcId="{07BD0857-0800-491C-9070-7FB3DF16C370}" destId="{E607911A-87BD-40AC-8F36-9B0E4D600F55}" srcOrd="0" destOrd="0" presId="urn:microsoft.com/office/officeart/2005/8/layout/vList2"/>
    <dgm:cxn modelId="{4A918E78-2CF4-4D70-9F8E-9DD9B2E71003}" srcId="{3209B9EF-1A8B-4FFE-A564-75E10C82089B}" destId="{D6EEE3B2-AC60-4878-ADED-C71468886B11}" srcOrd="1" destOrd="0" parTransId="{A43924A2-6248-4A39-924E-33E7AFCE74DA}" sibTransId="{EC9871DA-A47E-45BC-B385-5DBB1D8B3D16}"/>
    <dgm:cxn modelId="{20756286-DA6B-4AE8-8BF0-3196E65D9328}" type="presOf" srcId="{36AB9D60-6C2F-45D7-A634-0BC9F83D63DF}" destId="{0D1E23BC-7578-4EEF-98AF-376DD8C43DE4}" srcOrd="0" destOrd="0" presId="urn:microsoft.com/office/officeart/2005/8/layout/vList2"/>
    <dgm:cxn modelId="{946E698A-8861-415F-BE86-5B5A16D4A433}" type="presOf" srcId="{DDB570E5-1268-40F6-9794-74F8B17A1246}" destId="{A7A36ADD-E0EE-4D76-9804-AE124C36F43C}" srcOrd="0" destOrd="0" presId="urn:microsoft.com/office/officeart/2005/8/layout/vList2"/>
    <dgm:cxn modelId="{00A5B18E-BDF6-46BD-8912-7B62FDC0EA76}" srcId="{36AB9D60-6C2F-45D7-A634-0BC9F83D63DF}" destId="{07BD0857-0800-491C-9070-7FB3DF16C370}" srcOrd="0" destOrd="0" parTransId="{AD3472B1-C8B8-49B5-A39D-98BE1E027F44}" sibTransId="{834D1ED7-0B59-4BEC-8CAF-CA50EB9BC42B}"/>
    <dgm:cxn modelId="{6F2E5993-A0DA-4F20-AB94-FC79E1F2D4C1}" srcId="{713C3BB6-8445-4E70-9AD3-85046A804590}" destId="{EE85EF0D-F5FE-497E-B7D9-9D2D7F9BC54B}" srcOrd="0" destOrd="0" parTransId="{F484BD95-5ABB-4207-919E-D6BBF5ACE94E}" sibTransId="{B60927F2-897F-405A-B0DA-43671C9260CC}"/>
    <dgm:cxn modelId="{E7B149AB-C09B-4C68-BE4B-EB60B07E9F0E}" srcId="{713C3BB6-8445-4E70-9AD3-85046A804590}" destId="{1AFD4649-F4B5-4F7F-95C2-AD6BBD668B91}" srcOrd="1" destOrd="0" parTransId="{C0B6F9B7-05DB-4660-80EE-42E978B4E70E}" sibTransId="{B6A5C33F-38FC-434A-AFF9-E6CD8735F4FE}"/>
    <dgm:cxn modelId="{D728CAB2-32C8-4932-A459-AE483FADADCF}" type="presOf" srcId="{D6EEE3B2-AC60-4878-ADED-C71468886B11}" destId="{1CFA4931-9F20-4B6B-8160-259014580FF7}" srcOrd="0" destOrd="1" presId="urn:microsoft.com/office/officeart/2005/8/layout/vList2"/>
    <dgm:cxn modelId="{32A893C9-DBF9-45F8-9303-B7FF190128C0}" srcId="{DDB570E5-1268-40F6-9794-74F8B17A1246}" destId="{36AB9D60-6C2F-45D7-A634-0BC9F83D63DF}" srcOrd="1" destOrd="0" parTransId="{90A8966E-9E21-4F4D-8206-163A7FEB7ACA}" sibTransId="{51ED8AC9-8CCE-481D-846E-F83BA2BFCDD1}"/>
    <dgm:cxn modelId="{F94BE0CD-6B3F-434B-9F04-28766695D5A0}" type="presOf" srcId="{713C3BB6-8445-4E70-9AD3-85046A804590}" destId="{F9047B1B-89C6-47DB-97D6-4C4F03DD0D03}" srcOrd="0" destOrd="0" presId="urn:microsoft.com/office/officeart/2005/8/layout/vList2"/>
    <dgm:cxn modelId="{C730DCD6-70B8-45C3-BD7C-A5C2940DE53F}" type="presOf" srcId="{AD2A9F25-CA3C-4A69-8F82-1AC1823195BC}" destId="{1CFA4931-9F20-4B6B-8160-259014580FF7}" srcOrd="0" destOrd="0" presId="urn:microsoft.com/office/officeart/2005/8/layout/vList2"/>
    <dgm:cxn modelId="{09643AE6-14B1-446B-8A72-4F775A6B9ABA}" type="presOf" srcId="{1AFD4649-F4B5-4F7F-95C2-AD6BBD668B91}" destId="{7BEB74B2-4147-4BF4-ADF3-9987D4F9091C}" srcOrd="0" destOrd="1" presId="urn:microsoft.com/office/officeart/2005/8/layout/vList2"/>
    <dgm:cxn modelId="{A0B587F1-38E1-496A-B6D5-5FCBA3D5471C}" type="presOf" srcId="{5FD477AC-094F-4FF0-81BB-C343F48A1089}" destId="{FBBA55CB-6DEB-4F79-9B7E-74A06D6A7B2E}" srcOrd="0" destOrd="0" presId="urn:microsoft.com/office/officeart/2005/8/layout/vList2"/>
    <dgm:cxn modelId="{26BBCE4E-A676-468D-A137-4138DB8B8EE4}" type="presParOf" srcId="{A7A36ADD-E0EE-4D76-9804-AE124C36F43C}" destId="{BFAF614F-43A0-48E7-AE07-467FB1B4D919}" srcOrd="0" destOrd="0" presId="urn:microsoft.com/office/officeart/2005/8/layout/vList2"/>
    <dgm:cxn modelId="{CEDCD177-E860-4A8E-973C-F883DD1C5720}" type="presParOf" srcId="{A7A36ADD-E0EE-4D76-9804-AE124C36F43C}" destId="{1CFA4931-9F20-4B6B-8160-259014580FF7}" srcOrd="1" destOrd="0" presId="urn:microsoft.com/office/officeart/2005/8/layout/vList2"/>
    <dgm:cxn modelId="{C572A0ED-7572-466E-98DE-CA2C94EACF6A}" type="presParOf" srcId="{A7A36ADD-E0EE-4D76-9804-AE124C36F43C}" destId="{0D1E23BC-7578-4EEF-98AF-376DD8C43DE4}" srcOrd="2" destOrd="0" presId="urn:microsoft.com/office/officeart/2005/8/layout/vList2"/>
    <dgm:cxn modelId="{E1849622-54ED-4026-914D-5233511091D8}" type="presParOf" srcId="{A7A36ADD-E0EE-4D76-9804-AE124C36F43C}" destId="{E607911A-87BD-40AC-8F36-9B0E4D600F55}" srcOrd="3" destOrd="0" presId="urn:microsoft.com/office/officeart/2005/8/layout/vList2"/>
    <dgm:cxn modelId="{F83BB90C-750B-4AA7-84F3-3C44D515CAB6}" type="presParOf" srcId="{A7A36ADD-E0EE-4D76-9804-AE124C36F43C}" destId="{FBBA55CB-6DEB-4F79-9B7E-74A06D6A7B2E}" srcOrd="4" destOrd="0" presId="urn:microsoft.com/office/officeart/2005/8/layout/vList2"/>
    <dgm:cxn modelId="{7E463D96-28FF-4237-9FFF-CB88F7DA2AA9}" type="presParOf" srcId="{A7A36ADD-E0EE-4D76-9804-AE124C36F43C}" destId="{76CD0350-3006-45FA-ABCE-51772A7AFD63}" srcOrd="5" destOrd="0" presId="urn:microsoft.com/office/officeart/2005/8/layout/vList2"/>
    <dgm:cxn modelId="{FD76DB41-BD0B-49C1-8089-854DE9E92CD7}" type="presParOf" srcId="{A7A36ADD-E0EE-4D76-9804-AE124C36F43C}" destId="{F9047B1B-89C6-47DB-97D6-4C4F03DD0D03}" srcOrd="6" destOrd="0" presId="urn:microsoft.com/office/officeart/2005/8/layout/vList2"/>
    <dgm:cxn modelId="{7372B4B5-CCCB-40D3-88AC-18F0C34B2AB9}" type="presParOf" srcId="{A7A36ADD-E0EE-4D76-9804-AE124C36F43C}" destId="{7BEB74B2-4147-4BF4-ADF3-9987D4F9091C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905761-5192-4C5F-B977-283A4BC86731}">
      <dsp:nvSpPr>
        <dsp:cNvPr id="0" name=""/>
        <dsp:cNvSpPr/>
      </dsp:nvSpPr>
      <dsp:spPr>
        <a:xfrm>
          <a:off x="0" y="21717"/>
          <a:ext cx="5098256" cy="9945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RNN/LSTM: O(N) but forgetful + sequential</a:t>
          </a:r>
        </a:p>
      </dsp:txBody>
      <dsp:txXfrm>
        <a:off x="48547" y="70264"/>
        <a:ext cx="5001162" cy="897406"/>
      </dsp:txXfrm>
    </dsp:sp>
    <dsp:sp modelId="{5F53DBF6-AECF-465E-9FC7-7A0E4B1FDFCB}">
      <dsp:nvSpPr>
        <dsp:cNvPr id="0" name=""/>
        <dsp:cNvSpPr/>
      </dsp:nvSpPr>
      <dsp:spPr>
        <a:xfrm>
          <a:off x="0" y="1088217"/>
          <a:ext cx="5098256" cy="994500"/>
        </a:xfrm>
        <a:prstGeom prst="roundRect">
          <a:avLst/>
        </a:prstGeom>
        <a:solidFill>
          <a:schemeClr val="accent2">
            <a:hueOff val="13013"/>
            <a:satOff val="-8959"/>
            <a:lumOff val="-22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Transformer: attention-rich but O(N²) → limited window</a:t>
          </a:r>
        </a:p>
      </dsp:txBody>
      <dsp:txXfrm>
        <a:off x="48547" y="1136764"/>
        <a:ext cx="5001162" cy="897406"/>
      </dsp:txXfrm>
    </dsp:sp>
    <dsp:sp modelId="{360A9E13-FFBE-42F7-B58B-0503D87D4C61}">
      <dsp:nvSpPr>
        <dsp:cNvPr id="0" name=""/>
        <dsp:cNvSpPr/>
      </dsp:nvSpPr>
      <dsp:spPr>
        <a:xfrm>
          <a:off x="0" y="2154717"/>
          <a:ext cx="5098256" cy="994500"/>
        </a:xfrm>
        <a:prstGeom prst="roundRect">
          <a:avLst/>
        </a:prstGeom>
        <a:solidFill>
          <a:schemeClr val="accent2">
            <a:hueOff val="26025"/>
            <a:satOff val="-17917"/>
            <a:lumOff val="-457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Goal: Combine linear-time scaling with attention-style reasoning</a:t>
          </a:r>
        </a:p>
      </dsp:txBody>
      <dsp:txXfrm>
        <a:off x="48547" y="2203264"/>
        <a:ext cx="5001162" cy="897406"/>
      </dsp:txXfrm>
    </dsp:sp>
    <dsp:sp modelId="{F0F4E877-0AAB-46B7-874E-4DBA5B91348C}">
      <dsp:nvSpPr>
        <dsp:cNvPr id="0" name=""/>
        <dsp:cNvSpPr/>
      </dsp:nvSpPr>
      <dsp:spPr>
        <a:xfrm>
          <a:off x="0" y="3221217"/>
          <a:ext cx="5098256" cy="994500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Mamba: Selective SSM + hardware-aware scan bridges this gap</a:t>
          </a:r>
        </a:p>
      </dsp:txBody>
      <dsp:txXfrm>
        <a:off x="48547" y="3269764"/>
        <a:ext cx="5001162" cy="897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FF286E-B145-49A5-9E28-C8A47C6E92A3}">
      <dsp:nvSpPr>
        <dsp:cNvPr id="0" name=""/>
        <dsp:cNvSpPr/>
      </dsp:nvSpPr>
      <dsp:spPr>
        <a:xfrm>
          <a:off x="2210" y="192439"/>
          <a:ext cx="1753344" cy="245468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698" tIns="330200" rIns="136698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Standard SSMs</a:t>
          </a:r>
          <a:r>
            <a:rPr lang="en-US" sz="1200" kern="1200"/>
            <a:t>: Parameters (Δ, A, B, C) are </a:t>
          </a:r>
          <a:r>
            <a:rPr lang="en-US" sz="1200" b="1" kern="1200"/>
            <a:t>static</a:t>
          </a:r>
          <a:r>
            <a:rPr lang="en-US" sz="1200" kern="1200"/>
            <a:t>.</a:t>
          </a:r>
        </a:p>
      </dsp:txBody>
      <dsp:txXfrm>
        <a:off x="2210" y="1125218"/>
        <a:ext cx="1753344" cy="1472809"/>
      </dsp:txXfrm>
    </dsp:sp>
    <dsp:sp modelId="{4005C1BB-6C2E-458F-AEB7-E8B9EEBB274E}">
      <dsp:nvSpPr>
        <dsp:cNvPr id="0" name=""/>
        <dsp:cNvSpPr/>
      </dsp:nvSpPr>
      <dsp:spPr>
        <a:xfrm>
          <a:off x="510679" y="437907"/>
          <a:ext cx="736404" cy="73640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413" tIns="12700" rIns="57413" bIns="127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1</a:t>
          </a:r>
        </a:p>
      </dsp:txBody>
      <dsp:txXfrm>
        <a:off x="618523" y="545751"/>
        <a:ext cx="520716" cy="520716"/>
      </dsp:txXfrm>
    </dsp:sp>
    <dsp:sp modelId="{9F1BB5F4-A6FF-4C21-84EE-ADA66B82DDCF}">
      <dsp:nvSpPr>
        <dsp:cNvPr id="0" name=""/>
        <dsp:cNvSpPr/>
      </dsp:nvSpPr>
      <dsp:spPr>
        <a:xfrm>
          <a:off x="2210" y="2647048"/>
          <a:ext cx="1753344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937714-A8FF-419F-A3B4-39457AE03C92}">
      <dsp:nvSpPr>
        <dsp:cNvPr id="0" name=""/>
        <dsp:cNvSpPr/>
      </dsp:nvSpPr>
      <dsp:spPr>
        <a:xfrm>
          <a:off x="1930888" y="192439"/>
          <a:ext cx="1753344" cy="2454681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698" tIns="330200" rIns="136698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Selective SSMs</a:t>
          </a:r>
          <a:r>
            <a:rPr lang="en-US" sz="1200" kern="1200"/>
            <a:t>: Parameters (Δ(x), B(x), C(x)) are </a:t>
          </a:r>
          <a:r>
            <a:rPr lang="en-US" sz="1200" b="1" kern="1200"/>
            <a:t>functions of the current input</a:t>
          </a:r>
          <a:r>
            <a:rPr lang="en-US" sz="1200" kern="1200"/>
            <a:t>.</a:t>
          </a:r>
        </a:p>
      </dsp:txBody>
      <dsp:txXfrm>
        <a:off x="1930888" y="1125218"/>
        <a:ext cx="1753344" cy="1472809"/>
      </dsp:txXfrm>
    </dsp:sp>
    <dsp:sp modelId="{708A4325-5964-44CB-AA75-5BD37F604B99}">
      <dsp:nvSpPr>
        <dsp:cNvPr id="0" name=""/>
        <dsp:cNvSpPr/>
      </dsp:nvSpPr>
      <dsp:spPr>
        <a:xfrm>
          <a:off x="2439358" y="437907"/>
          <a:ext cx="736404" cy="73640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413" tIns="12700" rIns="57413" bIns="127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2</a:t>
          </a:r>
        </a:p>
      </dsp:txBody>
      <dsp:txXfrm>
        <a:off x="2547202" y="545751"/>
        <a:ext cx="520716" cy="520716"/>
      </dsp:txXfrm>
    </dsp:sp>
    <dsp:sp modelId="{AB6FA9F4-FB71-4A5B-94B2-DA3E99106541}">
      <dsp:nvSpPr>
        <dsp:cNvPr id="0" name=""/>
        <dsp:cNvSpPr/>
      </dsp:nvSpPr>
      <dsp:spPr>
        <a:xfrm>
          <a:off x="1930888" y="2647048"/>
          <a:ext cx="1753344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772A7B-3B5E-41E4-82E7-8EBF03E4F962}">
      <dsp:nvSpPr>
        <dsp:cNvPr id="0" name=""/>
        <dsp:cNvSpPr/>
      </dsp:nvSpPr>
      <dsp:spPr>
        <a:xfrm>
          <a:off x="3859567" y="192439"/>
          <a:ext cx="1753344" cy="2454681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698" tIns="330200" rIns="136698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model becomes </a:t>
          </a:r>
          <a:r>
            <a:rPr lang="en-US" sz="1200" b="1" kern="1200"/>
            <a:t>time-varying</a:t>
          </a:r>
          <a:r>
            <a:rPr lang="en-US" sz="1200" kern="1200"/>
            <a:t>, adapting to the sequence content.</a:t>
          </a:r>
        </a:p>
      </dsp:txBody>
      <dsp:txXfrm>
        <a:off x="3859567" y="1125218"/>
        <a:ext cx="1753344" cy="1472809"/>
      </dsp:txXfrm>
    </dsp:sp>
    <dsp:sp modelId="{4552DEC1-02B6-4E33-ADD5-B06737CBE54E}">
      <dsp:nvSpPr>
        <dsp:cNvPr id="0" name=""/>
        <dsp:cNvSpPr/>
      </dsp:nvSpPr>
      <dsp:spPr>
        <a:xfrm>
          <a:off x="4368037" y="437907"/>
          <a:ext cx="736404" cy="73640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413" tIns="12700" rIns="57413" bIns="127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3</a:t>
          </a:r>
        </a:p>
      </dsp:txBody>
      <dsp:txXfrm>
        <a:off x="4475881" y="545751"/>
        <a:ext cx="520716" cy="520716"/>
      </dsp:txXfrm>
    </dsp:sp>
    <dsp:sp modelId="{CA3D2B77-3D21-45A1-BA9B-973294EAB9D1}">
      <dsp:nvSpPr>
        <dsp:cNvPr id="0" name=""/>
        <dsp:cNvSpPr/>
      </dsp:nvSpPr>
      <dsp:spPr>
        <a:xfrm>
          <a:off x="3859567" y="2647048"/>
          <a:ext cx="1753344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4496EC-64A9-484D-8195-A8C0E0960F8A}">
      <dsp:nvSpPr>
        <dsp:cNvPr id="0" name=""/>
        <dsp:cNvSpPr/>
      </dsp:nvSpPr>
      <dsp:spPr>
        <a:xfrm>
          <a:off x="5788245" y="192439"/>
          <a:ext cx="1753344" cy="245468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698" tIns="330200" rIns="136698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Tradeoff</a:t>
          </a:r>
          <a:r>
            <a:rPr lang="en-US" sz="1200" kern="1200"/>
            <a:t>: Lose convolutional efficiency → need new computation strategies.</a:t>
          </a:r>
        </a:p>
      </dsp:txBody>
      <dsp:txXfrm>
        <a:off x="5788245" y="1125218"/>
        <a:ext cx="1753344" cy="1472809"/>
      </dsp:txXfrm>
    </dsp:sp>
    <dsp:sp modelId="{40BD54AC-E0ED-451A-A66F-60FEAA36012E}">
      <dsp:nvSpPr>
        <dsp:cNvPr id="0" name=""/>
        <dsp:cNvSpPr/>
      </dsp:nvSpPr>
      <dsp:spPr>
        <a:xfrm>
          <a:off x="6296715" y="437907"/>
          <a:ext cx="736404" cy="73640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413" tIns="12700" rIns="57413" bIns="127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4</a:t>
          </a:r>
        </a:p>
      </dsp:txBody>
      <dsp:txXfrm>
        <a:off x="6404559" y="545751"/>
        <a:ext cx="520716" cy="520716"/>
      </dsp:txXfrm>
    </dsp:sp>
    <dsp:sp modelId="{70D610E4-7875-461E-AE74-EF6985226779}">
      <dsp:nvSpPr>
        <dsp:cNvPr id="0" name=""/>
        <dsp:cNvSpPr/>
      </dsp:nvSpPr>
      <dsp:spPr>
        <a:xfrm>
          <a:off x="5788245" y="2647048"/>
          <a:ext cx="1753344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B52BB2-62A7-428E-A7EC-075A82EB82B6}">
      <dsp:nvSpPr>
        <dsp:cNvPr id="0" name=""/>
        <dsp:cNvSpPr/>
      </dsp:nvSpPr>
      <dsp:spPr>
        <a:xfrm>
          <a:off x="2210" y="835478"/>
          <a:ext cx="1578009" cy="1002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FE223E-4A07-4D8E-AF8B-3EDAFAFC22DD}">
      <dsp:nvSpPr>
        <dsp:cNvPr id="0" name=""/>
        <dsp:cNvSpPr/>
      </dsp:nvSpPr>
      <dsp:spPr>
        <a:xfrm>
          <a:off x="177544" y="1002045"/>
          <a:ext cx="1578009" cy="10020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Allowing input-based dynamics breaks the convolution shortcut.</a:t>
          </a:r>
        </a:p>
      </dsp:txBody>
      <dsp:txXfrm>
        <a:off x="206893" y="1031394"/>
        <a:ext cx="1519311" cy="943338"/>
      </dsp:txXfrm>
    </dsp:sp>
    <dsp:sp modelId="{C20EDE9D-B2B7-4EB7-B132-C208DA436DF4}">
      <dsp:nvSpPr>
        <dsp:cNvPr id="0" name=""/>
        <dsp:cNvSpPr/>
      </dsp:nvSpPr>
      <dsp:spPr>
        <a:xfrm>
          <a:off x="1930888" y="835478"/>
          <a:ext cx="1578009" cy="1002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74242E-23CD-4685-9421-5DF8C5B7D096}">
      <dsp:nvSpPr>
        <dsp:cNvPr id="0" name=""/>
        <dsp:cNvSpPr/>
      </dsp:nvSpPr>
      <dsp:spPr>
        <a:xfrm>
          <a:off x="2106223" y="1002045"/>
          <a:ext cx="1578009" cy="10020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Recurrent computation becomes necessary, but naive recurrence is slow.</a:t>
          </a:r>
        </a:p>
      </dsp:txBody>
      <dsp:txXfrm>
        <a:off x="2135572" y="1031394"/>
        <a:ext cx="1519311" cy="943338"/>
      </dsp:txXfrm>
    </dsp:sp>
    <dsp:sp modelId="{2DE87A64-2751-4942-912E-DAC038354653}">
      <dsp:nvSpPr>
        <dsp:cNvPr id="0" name=""/>
        <dsp:cNvSpPr/>
      </dsp:nvSpPr>
      <dsp:spPr>
        <a:xfrm>
          <a:off x="3859567" y="835478"/>
          <a:ext cx="1578009" cy="1002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F9E898-5A5F-4561-A690-0FDEAC17E584}">
      <dsp:nvSpPr>
        <dsp:cNvPr id="0" name=""/>
        <dsp:cNvSpPr/>
      </dsp:nvSpPr>
      <dsp:spPr>
        <a:xfrm>
          <a:off x="4034901" y="1002045"/>
          <a:ext cx="1578009" cy="10020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Large hidden states (size B×L×D×N) cause memory bottlenecks.</a:t>
          </a:r>
        </a:p>
      </dsp:txBody>
      <dsp:txXfrm>
        <a:off x="4064250" y="1031394"/>
        <a:ext cx="1519311" cy="943338"/>
      </dsp:txXfrm>
    </dsp:sp>
    <dsp:sp modelId="{36E8D663-031B-42EF-8F69-1F1757288469}">
      <dsp:nvSpPr>
        <dsp:cNvPr id="0" name=""/>
        <dsp:cNvSpPr/>
      </dsp:nvSpPr>
      <dsp:spPr>
        <a:xfrm>
          <a:off x="5788245" y="835478"/>
          <a:ext cx="1578009" cy="10020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DA2F59-18D1-4E87-9727-54093C450A80}">
      <dsp:nvSpPr>
        <dsp:cNvPr id="0" name=""/>
        <dsp:cNvSpPr/>
      </dsp:nvSpPr>
      <dsp:spPr>
        <a:xfrm>
          <a:off x="5963580" y="1002045"/>
          <a:ext cx="1578009" cy="10020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Goal</a:t>
          </a:r>
          <a:r>
            <a:rPr lang="en-US" sz="1200" kern="1200"/>
            <a:t>: Find an efficient recurrent implementation that scales.</a:t>
          </a:r>
        </a:p>
      </dsp:txBody>
      <dsp:txXfrm>
        <a:off x="5992929" y="1031394"/>
        <a:ext cx="1519311" cy="94333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816C40-9BBD-4591-BE7C-6E4EA687ECFE}">
      <dsp:nvSpPr>
        <dsp:cNvPr id="0" name=""/>
        <dsp:cNvSpPr/>
      </dsp:nvSpPr>
      <dsp:spPr>
        <a:xfrm>
          <a:off x="2357" y="78753"/>
          <a:ext cx="2298501" cy="6562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Continuous-Discrete Spectrum:</a:t>
          </a:r>
        </a:p>
      </dsp:txBody>
      <dsp:txXfrm>
        <a:off x="2357" y="78753"/>
        <a:ext cx="2298501" cy="656243"/>
      </dsp:txXfrm>
    </dsp:sp>
    <dsp:sp modelId="{77169D84-0AE8-489B-BDFF-57E6A27EA24A}">
      <dsp:nvSpPr>
        <dsp:cNvPr id="0" name=""/>
        <dsp:cNvSpPr/>
      </dsp:nvSpPr>
      <dsp:spPr>
        <a:xfrm>
          <a:off x="2357" y="734996"/>
          <a:ext cx="2298501" cy="202580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SSMs were designed for continuous data but the selection mechanism overcomes this in discrete modalities. </a:t>
          </a:r>
        </a:p>
      </dsp:txBody>
      <dsp:txXfrm>
        <a:off x="2357" y="734996"/>
        <a:ext cx="2298501" cy="2025809"/>
      </dsp:txXfrm>
    </dsp:sp>
    <dsp:sp modelId="{53EFF075-3CC1-46C4-A01A-A6A07FD1E8DB}">
      <dsp:nvSpPr>
        <dsp:cNvPr id="0" name=""/>
        <dsp:cNvSpPr/>
      </dsp:nvSpPr>
      <dsp:spPr>
        <a:xfrm>
          <a:off x="2622649" y="78753"/>
          <a:ext cx="2298501" cy="656243"/>
        </a:xfrm>
        <a:prstGeom prst="rect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accent2">
              <a:hueOff val="19519"/>
              <a:satOff val="-13438"/>
              <a:lumOff val="-34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Downstream Affordances:</a:t>
          </a:r>
        </a:p>
      </dsp:txBody>
      <dsp:txXfrm>
        <a:off x="2622649" y="78753"/>
        <a:ext cx="2298501" cy="656243"/>
      </dsp:txXfrm>
    </dsp:sp>
    <dsp:sp modelId="{88478F27-E813-418F-A292-5D93414849F8}">
      <dsp:nvSpPr>
        <dsp:cNvPr id="0" name=""/>
        <dsp:cNvSpPr/>
      </dsp:nvSpPr>
      <dsp:spPr>
        <a:xfrm>
          <a:off x="2622649" y="734996"/>
          <a:ext cx="2298501" cy="2025809"/>
        </a:xfrm>
        <a:prstGeom prst="rect">
          <a:avLst/>
        </a:prstGeom>
        <a:solidFill>
          <a:schemeClr val="accent2">
            <a:tint val="40000"/>
            <a:alpha val="90000"/>
            <a:hueOff val="123599"/>
            <a:satOff val="-11908"/>
            <a:lumOff val="-1255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123599"/>
              <a:satOff val="-11908"/>
              <a:lumOff val="-12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Can SSMs follow the same properties as transformer based models?</a:t>
          </a:r>
        </a:p>
      </dsp:txBody>
      <dsp:txXfrm>
        <a:off x="2622649" y="734996"/>
        <a:ext cx="2298501" cy="2025809"/>
      </dsp:txXfrm>
    </dsp:sp>
    <dsp:sp modelId="{7BE9A4D3-882D-4787-A54D-268112F6375D}">
      <dsp:nvSpPr>
        <dsp:cNvPr id="0" name=""/>
        <dsp:cNvSpPr/>
      </dsp:nvSpPr>
      <dsp:spPr>
        <a:xfrm>
          <a:off x="5242941" y="78753"/>
          <a:ext cx="2298501" cy="656243"/>
        </a:xfrm>
        <a:prstGeom prst="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accent2">
              <a:hueOff val="39038"/>
              <a:satOff val="-26876"/>
              <a:lumOff val="-68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Scaling:</a:t>
          </a:r>
        </a:p>
      </dsp:txBody>
      <dsp:txXfrm>
        <a:off x="5242941" y="78753"/>
        <a:ext cx="2298501" cy="656243"/>
      </dsp:txXfrm>
    </dsp:sp>
    <dsp:sp modelId="{919499B1-6B86-4C70-8CCD-9E8ADF0B9122}">
      <dsp:nvSpPr>
        <dsp:cNvPr id="0" name=""/>
        <dsp:cNvSpPr/>
      </dsp:nvSpPr>
      <dsp:spPr>
        <a:xfrm>
          <a:off x="5242941" y="734996"/>
          <a:ext cx="2298501" cy="2025809"/>
        </a:xfrm>
        <a:prstGeom prst="rect">
          <a:avLst/>
        </a:prstGeom>
        <a:solidFill>
          <a:schemeClr val="accent2">
            <a:tint val="40000"/>
            <a:alpha val="90000"/>
            <a:hueOff val="247198"/>
            <a:satOff val="-23816"/>
            <a:lumOff val="-251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247198"/>
              <a:satOff val="-23816"/>
              <a:lumOff val="-25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Uncertainty as to whether the proposed model will perform on large scales</a:t>
          </a:r>
        </a:p>
      </dsp:txBody>
      <dsp:txXfrm>
        <a:off x="5242941" y="734996"/>
        <a:ext cx="2298501" cy="20258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AF614F-43A0-48E7-AE07-467FB1B4D919}">
      <dsp:nvSpPr>
        <dsp:cNvPr id="0" name=""/>
        <dsp:cNvSpPr/>
      </dsp:nvSpPr>
      <dsp:spPr>
        <a:xfrm>
          <a:off x="0" y="110963"/>
          <a:ext cx="5098256" cy="4557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Gating:</a:t>
          </a:r>
        </a:p>
      </dsp:txBody>
      <dsp:txXfrm>
        <a:off x="22246" y="133209"/>
        <a:ext cx="5053764" cy="411223"/>
      </dsp:txXfrm>
    </dsp:sp>
    <dsp:sp modelId="{1CFA4931-9F20-4B6B-8160-259014580FF7}">
      <dsp:nvSpPr>
        <dsp:cNvPr id="0" name=""/>
        <dsp:cNvSpPr/>
      </dsp:nvSpPr>
      <dsp:spPr>
        <a:xfrm>
          <a:off x="0" y="566678"/>
          <a:ext cx="5098256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87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Traditional  gating algorithm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Multiplicative gating</a:t>
          </a:r>
        </a:p>
      </dsp:txBody>
      <dsp:txXfrm>
        <a:off x="0" y="566678"/>
        <a:ext cx="5098256" cy="521122"/>
      </dsp:txXfrm>
    </dsp:sp>
    <dsp:sp modelId="{0D1E23BC-7578-4EEF-98AF-376DD8C43DE4}">
      <dsp:nvSpPr>
        <dsp:cNvPr id="0" name=""/>
        <dsp:cNvSpPr/>
      </dsp:nvSpPr>
      <dsp:spPr>
        <a:xfrm>
          <a:off x="0" y="1087800"/>
          <a:ext cx="5098256" cy="455715"/>
        </a:xfrm>
        <a:prstGeom prst="roundRect">
          <a:avLst/>
        </a:prstGeom>
        <a:solidFill>
          <a:schemeClr val="accent2">
            <a:hueOff val="13013"/>
            <a:satOff val="-8959"/>
            <a:lumOff val="-22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Hypernetworks:</a:t>
          </a:r>
        </a:p>
      </dsp:txBody>
      <dsp:txXfrm>
        <a:off x="22246" y="1110046"/>
        <a:ext cx="5053764" cy="411223"/>
      </dsp:txXfrm>
    </dsp:sp>
    <dsp:sp modelId="{E607911A-87BD-40AC-8F36-9B0E4D600F55}">
      <dsp:nvSpPr>
        <dsp:cNvPr id="0" name=""/>
        <dsp:cNvSpPr/>
      </dsp:nvSpPr>
      <dsp:spPr>
        <a:xfrm>
          <a:off x="0" y="1543515"/>
          <a:ext cx="5098256" cy="471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87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neural networks whose parameters are themselves generated by smaller neural networks.</a:t>
          </a:r>
        </a:p>
      </dsp:txBody>
      <dsp:txXfrm>
        <a:off x="0" y="1543515"/>
        <a:ext cx="5098256" cy="471960"/>
      </dsp:txXfrm>
    </dsp:sp>
    <dsp:sp modelId="{FBBA55CB-6DEB-4F79-9B7E-74A06D6A7B2E}">
      <dsp:nvSpPr>
        <dsp:cNvPr id="0" name=""/>
        <dsp:cNvSpPr/>
      </dsp:nvSpPr>
      <dsp:spPr>
        <a:xfrm>
          <a:off x="0" y="2015475"/>
          <a:ext cx="5098256" cy="455715"/>
        </a:xfrm>
        <a:prstGeom prst="roundRect">
          <a:avLst/>
        </a:prstGeom>
        <a:solidFill>
          <a:schemeClr val="accent2">
            <a:hueOff val="26025"/>
            <a:satOff val="-17917"/>
            <a:lumOff val="-457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dependence:</a:t>
          </a:r>
        </a:p>
      </dsp:txBody>
      <dsp:txXfrm>
        <a:off x="22246" y="2037721"/>
        <a:ext cx="5053764" cy="411223"/>
      </dsp:txXfrm>
    </dsp:sp>
    <dsp:sp modelId="{76CD0350-3006-45FA-ABCE-51772A7AFD63}">
      <dsp:nvSpPr>
        <dsp:cNvPr id="0" name=""/>
        <dsp:cNvSpPr/>
      </dsp:nvSpPr>
      <dsp:spPr>
        <a:xfrm>
          <a:off x="0" y="2471190"/>
          <a:ext cx="5098256" cy="471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87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Any notion where some parameters of the model depend on the data</a:t>
          </a:r>
        </a:p>
      </dsp:txBody>
      <dsp:txXfrm>
        <a:off x="0" y="2471190"/>
        <a:ext cx="5098256" cy="471960"/>
      </dsp:txXfrm>
    </dsp:sp>
    <dsp:sp modelId="{F9047B1B-89C6-47DB-97D6-4C4F03DD0D03}">
      <dsp:nvSpPr>
        <dsp:cNvPr id="0" name=""/>
        <dsp:cNvSpPr/>
      </dsp:nvSpPr>
      <dsp:spPr>
        <a:xfrm>
          <a:off x="0" y="2943150"/>
          <a:ext cx="5098256" cy="455715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Selection:</a:t>
          </a:r>
        </a:p>
      </dsp:txBody>
      <dsp:txXfrm>
        <a:off x="22246" y="2965396"/>
        <a:ext cx="5053764" cy="411223"/>
      </dsp:txXfrm>
    </dsp:sp>
    <dsp:sp modelId="{7BEB74B2-4147-4BF4-ADF3-9987D4F9091C}">
      <dsp:nvSpPr>
        <dsp:cNvPr id="0" name=""/>
        <dsp:cNvSpPr/>
      </dsp:nvSpPr>
      <dsp:spPr>
        <a:xfrm>
          <a:off x="0" y="3398865"/>
          <a:ext cx="5098256" cy="727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87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Viewed as most closely related to the gating structure of RNNs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Connected to SSMs through Δ</a:t>
          </a:r>
        </a:p>
      </dsp:txBody>
      <dsp:txXfrm>
        <a:off x="0" y="3398865"/>
        <a:ext cx="5098256" cy="7276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4222" spc="-89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4267" cap="all" spc="356" baseline="0">
                <a:solidFill>
                  <a:schemeClr val="tx2"/>
                </a:solidFill>
                <a:latin typeface="+mj-lt"/>
              </a:defRPr>
            </a:lvl1pPr>
            <a:lvl2pPr marL="812810" indent="0" algn="ctr">
              <a:buNone/>
              <a:defRPr sz="4267"/>
            </a:lvl2pPr>
            <a:lvl3pPr marL="1625620" indent="0" algn="ctr">
              <a:buNone/>
              <a:defRPr sz="4267"/>
            </a:lvl3pPr>
            <a:lvl4pPr marL="2438430" indent="0" algn="ctr">
              <a:buNone/>
              <a:defRPr sz="3556"/>
            </a:lvl4pPr>
            <a:lvl5pPr marL="3251241" indent="0" algn="ctr">
              <a:buNone/>
              <a:defRPr sz="3556"/>
            </a:lvl5pPr>
            <a:lvl6pPr marL="4064051" indent="0" algn="ctr">
              <a:buNone/>
              <a:defRPr sz="3556"/>
            </a:lvl6pPr>
            <a:lvl7pPr marL="4876861" indent="0" algn="ctr">
              <a:buNone/>
              <a:defRPr sz="3556"/>
            </a:lvl7pPr>
            <a:lvl8pPr marL="5689671" indent="0" algn="ctr">
              <a:buNone/>
              <a:defRPr sz="3556"/>
            </a:lvl8pPr>
            <a:lvl9pPr marL="6502481" indent="0" algn="ctr">
              <a:buNone/>
              <a:defRPr sz="3556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415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62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14222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4267" cap="all" spc="356" baseline="0">
                <a:solidFill>
                  <a:schemeClr val="tx2"/>
                </a:solidFill>
                <a:latin typeface="+mj-lt"/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789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23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556" b="0" cap="all" baseline="0">
                <a:solidFill>
                  <a:schemeClr val="tx2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556" b="0" cap="all" baseline="0">
                <a:solidFill>
                  <a:schemeClr val="tx2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5/15/2025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720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5/15/2025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02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5/15/2025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53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6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667">
                <a:solidFill>
                  <a:srgbClr val="FFFFFF"/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857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6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5689">
                <a:solidFill>
                  <a:schemeClr val="bg1"/>
                </a:solidFill>
              </a:defRPr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1067"/>
              </a:spcAft>
              <a:buNone/>
              <a:defRPr sz="2667">
                <a:solidFill>
                  <a:srgbClr val="FFFFFF"/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60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236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014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67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718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15.png"/><Relationship Id="rId7" Type="http://schemas.openxmlformats.org/officeDocument/2006/relationships/image" Target="../media/image19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50737"/>
            <a:ext cx="9144000" cy="49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149" y="1303383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87796B-87F7-4B04-3186-88EE91DFAA25}"/>
              </a:ext>
            </a:extLst>
          </p:cNvPr>
          <p:cNvSpPr txBox="1"/>
          <p:nvPr/>
        </p:nvSpPr>
        <p:spPr>
          <a:xfrm>
            <a:off x="3412881" y="454422"/>
            <a:ext cx="5376286" cy="423465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l" rtl="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kern="1200" spc="-5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Mamba: Linear-Time Sequence Modeling with Selective State Spaces</a:t>
            </a:r>
            <a:r>
              <a:rPr lang="en-US" sz="2700" kern="1200" spc="-5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​</a:t>
            </a:r>
            <a:endParaRPr lang="en-US" sz="2700" kern="1200" spc="-50">
              <a:solidFill>
                <a:schemeClr val="tx1"/>
              </a:solidFill>
              <a:latin typeface="+mj-lt"/>
              <a:ea typeface="Calibri Light"/>
              <a:cs typeface="Calibri Ligh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A4AACB-E873-F7D2-CB7F-CF56C91522B1}"/>
              </a:ext>
            </a:extLst>
          </p:cNvPr>
          <p:cNvSpPr txBox="1"/>
          <p:nvPr/>
        </p:nvSpPr>
        <p:spPr>
          <a:xfrm>
            <a:off x="186302" y="227706"/>
            <a:ext cx="2660528" cy="4291806"/>
          </a:xfrm>
          <a:prstGeom prst="rect">
            <a:avLst/>
          </a:prstGeom>
        </p:spPr>
        <p:txBody>
          <a:bodyPr rot="0" spcFirstLastPara="0" vertOverflow="overflow" horzOverflow="overflow" vert="horz" lIns="0" tIns="45720" rIns="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l" rtl="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2000" b="1" kern="1200">
                <a:solidFill>
                  <a:schemeClr val="bg1"/>
                </a:solidFill>
                <a:latin typeface="+mn-lt"/>
                <a:ea typeface="Calibri"/>
                <a:cs typeface="Calibri"/>
              </a:rPr>
              <a:t>Group Members:</a:t>
            </a:r>
            <a:r>
              <a:rPr lang="en-US" sz="2000" kern="1200">
                <a:solidFill>
                  <a:schemeClr val="bg1"/>
                </a:solidFill>
                <a:latin typeface="+mn-lt"/>
                <a:ea typeface="Calibri"/>
                <a:cs typeface="Calibri"/>
              </a:rPr>
              <a:t>​</a:t>
            </a:r>
          </a:p>
          <a:p>
            <a:pPr marL="285750" indent="-285750" algn="l" rtl="0">
              <a:lnSpc>
                <a:spcPct val="90000"/>
              </a:lnSpc>
              <a:spcAft>
                <a:spcPts val="600"/>
              </a:spcAft>
              <a:buClr>
                <a:srgbClr val="E48312"/>
              </a:buClr>
              <a:buFont typeface="Arial" panose="020F0502020204030204" pitchFamily="34" charset="0"/>
              <a:buChar char="•"/>
            </a:pPr>
            <a:r>
              <a:rPr lang="en-U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Idrees Arshad​ (21L-5632)</a:t>
            </a:r>
            <a:endParaRPr lang="en-US" kern="1200">
              <a:solidFill>
                <a:schemeClr val="bg1"/>
              </a:solidFill>
              <a:latin typeface="+mn-lt"/>
              <a:ea typeface="Calibri"/>
              <a:cs typeface="Calibri"/>
            </a:endParaRPr>
          </a:p>
          <a:p>
            <a:pPr marL="285750" indent="-285750" algn="l" rtl="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F0502020204030204" pitchFamily="34" charset="0"/>
              <a:buChar char="•"/>
            </a:pPr>
            <a:r>
              <a:rPr lang="en-U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Fajar Ejaz​ (21L-5282)</a:t>
            </a:r>
            <a:endParaRPr lang="en-US" kern="1200">
              <a:solidFill>
                <a:schemeClr val="bg1"/>
              </a:solidFill>
              <a:latin typeface="+mn-lt"/>
              <a:ea typeface="Calibri"/>
              <a:cs typeface="Calibri"/>
            </a:endParaRPr>
          </a:p>
          <a:p>
            <a:pPr marL="285750" indent="-285750" algn="l" rtl="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F0502020204030204" pitchFamily="34" charset="0"/>
              <a:buChar char="•"/>
            </a:pPr>
            <a:r>
              <a:rPr lang="en-U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Muhammad Noor Malik (20L-1349)​</a:t>
            </a:r>
            <a:endParaRPr lang="en-US" kern="1200">
              <a:solidFill>
                <a:schemeClr val="bg1"/>
              </a:solidFill>
              <a:latin typeface="+mn-lt"/>
              <a:ea typeface="Calibri"/>
              <a:cs typeface="Calibri"/>
            </a:endParaRPr>
          </a:p>
          <a:p>
            <a:pPr marL="285750" indent="-285750" algn="l" rtl="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F0502020204030204" pitchFamily="34" charset="0"/>
              <a:buChar char="•"/>
            </a:pPr>
            <a:r>
              <a:rPr lang="en-U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Sophia​ Razzaq (21L-5607)</a:t>
            </a:r>
            <a:endParaRPr lang="en-US" kern="1200">
              <a:solidFill>
                <a:schemeClr val="bg1"/>
              </a:solidFill>
              <a:latin typeface="+mn-l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9051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7" descr="A snake attacking a robot&#10;&#10;AI-generated content may be incorrect.">
            <a:extLst>
              <a:ext uri="{FF2B5EF4-FFF2-40B4-BE49-F238E27FC236}">
                <a16:creationId xmlns:a16="http://schemas.microsoft.com/office/drawing/2014/main" id="{CD0DBD8D-9E88-6EF4-C40B-49D8AD272BA5}"/>
              </a:ext>
            </a:extLst>
          </p:cNvPr>
          <p:cNvPicPr/>
          <p:nvPr/>
        </p:nvPicPr>
        <p:blipFill>
          <a:blip r:embed="rId2" cstate="print">
            <a:alphaModFix amt="35000"/>
          </a:blip>
          <a:srcRect t="38393" b="5357"/>
          <a:stretch/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549E29-E797-4A00-B030-3AB01640C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149" y="1303383"/>
            <a:ext cx="74752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DD2D07C-2120-2CF0-87E6-D89FF08F7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4952"/>
            <a:ext cx="7543800" cy="1088068"/>
          </a:xfrm>
        </p:spPr>
        <p:txBody>
          <a:bodyPr lIns="0" tIns="0" rIns="0" bIns="0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Outlines</a:t>
            </a:r>
            <a:endParaRPr lang="en-US" b="0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33F20-A3A9-6218-5B0A-08F4AD48D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384300"/>
            <a:ext cx="7543800" cy="3017520"/>
          </a:xfrm>
        </p:spPr>
        <p:txBody>
          <a:bodyPr vert="horz" lIns="0" tIns="0" rIns="0" bIns="0" rtlCol="0" anchor="t">
            <a:noAutofit/>
          </a:bodyPr>
          <a:lstStyle/>
          <a:p>
            <a:pPr marL="298450" indent="-285750">
              <a:spcBef>
                <a:spcPts val="100"/>
              </a:spcBef>
            </a:pPr>
            <a:r>
              <a:rPr lang="en-US" sz="1200">
                <a:solidFill>
                  <a:schemeClr val="tx1"/>
                </a:solidFill>
                <a:latin typeface="Arial"/>
                <a:cs typeface="Arial"/>
              </a:rPr>
              <a:t>Introduction to </a:t>
            </a:r>
            <a:r>
              <a:rPr lang="en-US" sz="1200" b="1">
                <a:solidFill>
                  <a:schemeClr val="tx1"/>
                </a:solidFill>
                <a:latin typeface="Arial"/>
                <a:cs typeface="Arial"/>
              </a:rPr>
              <a:t>State Space Models </a:t>
            </a:r>
            <a:r>
              <a:rPr lang="en-US" sz="1200">
                <a:solidFill>
                  <a:schemeClr val="tx1"/>
                </a:solidFill>
                <a:latin typeface="Arial"/>
                <a:cs typeface="Arial"/>
              </a:rPr>
              <a:t>(SSM)</a:t>
            </a:r>
          </a:p>
          <a:p>
            <a:pPr marL="770890" lvl="1" indent="-285750">
              <a:spcBef>
                <a:spcPts val="5"/>
              </a:spcBef>
            </a:pPr>
            <a:r>
              <a:rPr lang="en-US" sz="1200">
                <a:solidFill>
                  <a:schemeClr val="tx1"/>
                </a:solidFill>
                <a:latin typeface="Arial"/>
                <a:cs typeface="Arial"/>
              </a:rPr>
              <a:t>Motivations</a:t>
            </a:r>
          </a:p>
          <a:p>
            <a:pPr marL="770890" lvl="1" indent="-285750"/>
            <a:r>
              <a:rPr lang="en-US" sz="1200" b="1">
                <a:solidFill>
                  <a:schemeClr val="tx1"/>
                </a:solidFill>
                <a:latin typeface="Arial"/>
                <a:cs typeface="Arial"/>
              </a:rPr>
              <a:t>S</a:t>
            </a:r>
            <a:r>
              <a:rPr lang="en-US" sz="1200">
                <a:solidFill>
                  <a:schemeClr val="tx1"/>
                </a:solidFill>
                <a:latin typeface="Arial"/>
                <a:cs typeface="Arial"/>
              </a:rPr>
              <a:t>tructured </a:t>
            </a:r>
            <a:r>
              <a:rPr lang="en-US" sz="1200" b="1">
                <a:solidFill>
                  <a:schemeClr val="tx1"/>
                </a:solidFill>
                <a:latin typeface="Arial"/>
                <a:cs typeface="Arial"/>
              </a:rPr>
              <a:t>S</a:t>
            </a:r>
            <a:r>
              <a:rPr lang="en-US" sz="1200">
                <a:solidFill>
                  <a:schemeClr val="tx1"/>
                </a:solidFill>
                <a:latin typeface="Arial"/>
                <a:cs typeface="Arial"/>
              </a:rPr>
              <a:t>tate </a:t>
            </a:r>
            <a:r>
              <a:rPr lang="en-US" sz="1200" b="1">
                <a:solidFill>
                  <a:schemeClr val="tx1"/>
                </a:solidFill>
                <a:latin typeface="Arial"/>
                <a:cs typeface="Arial"/>
              </a:rPr>
              <a:t>S</a:t>
            </a:r>
            <a:r>
              <a:rPr lang="en-US" sz="1200">
                <a:solidFill>
                  <a:schemeClr val="tx1"/>
                </a:solidFill>
                <a:latin typeface="Arial"/>
                <a:cs typeface="Arial"/>
              </a:rPr>
              <a:t>pace </a:t>
            </a:r>
            <a:r>
              <a:rPr lang="en-US" sz="1200" b="1">
                <a:solidFill>
                  <a:schemeClr val="tx1"/>
                </a:solidFill>
                <a:latin typeface="Arial"/>
                <a:cs typeface="Arial"/>
              </a:rPr>
              <a:t>S</a:t>
            </a:r>
            <a:r>
              <a:rPr lang="en-US" sz="1200">
                <a:solidFill>
                  <a:schemeClr val="tx1"/>
                </a:solidFill>
                <a:latin typeface="Arial"/>
                <a:cs typeface="Arial"/>
              </a:rPr>
              <a:t>equence Models (S4)</a:t>
            </a:r>
          </a:p>
          <a:p>
            <a:pPr marL="770890" lvl="1" indent="-285750"/>
            <a:r>
              <a:rPr lang="en-US" sz="1200">
                <a:solidFill>
                  <a:schemeClr val="tx1"/>
                </a:solidFill>
                <a:latin typeface="Arial"/>
                <a:cs typeface="Arial"/>
              </a:rPr>
              <a:t>Comparison to Transformers</a:t>
            </a:r>
          </a:p>
          <a:p>
            <a:pPr marL="742950" lvl="1" indent="-285750">
              <a:spcBef>
                <a:spcPts val="305"/>
              </a:spcBef>
            </a:pPr>
            <a:r>
              <a:rPr lang="en-US" sz="1200">
                <a:solidFill>
                  <a:schemeClr val="tx1"/>
                </a:solidFill>
                <a:latin typeface="Arial"/>
                <a:cs typeface="Arial"/>
              </a:rPr>
              <a:t>Mamba: </a:t>
            </a:r>
            <a:r>
              <a:rPr lang="en-US" sz="1200" b="1">
                <a:solidFill>
                  <a:schemeClr val="tx1"/>
                </a:solidFill>
                <a:latin typeface="Arial"/>
                <a:cs typeface="Arial"/>
              </a:rPr>
              <a:t>Selective </a:t>
            </a:r>
            <a:r>
              <a:rPr lang="en-US" sz="1200">
                <a:solidFill>
                  <a:schemeClr val="tx1"/>
                </a:solidFill>
                <a:latin typeface="Arial"/>
                <a:cs typeface="Arial"/>
              </a:rPr>
              <a:t>SSM</a:t>
            </a:r>
          </a:p>
          <a:p>
            <a:pPr marL="742950" lvl="1" indent="-285750">
              <a:spcBef>
                <a:spcPts val="305"/>
              </a:spcBef>
            </a:pPr>
            <a:r>
              <a:rPr lang="en-US" sz="1200">
                <a:solidFill>
                  <a:schemeClr val="tx1"/>
                </a:solidFill>
                <a:latin typeface="Arial"/>
                <a:cs typeface="Arial"/>
              </a:rPr>
              <a:t>Selection Mechanism</a:t>
            </a:r>
          </a:p>
          <a:p>
            <a:pPr marL="742950" lvl="1" indent="-285750">
              <a:spcBef>
                <a:spcPts val="305"/>
              </a:spcBef>
            </a:pPr>
            <a:r>
              <a:rPr lang="en-US" sz="1200">
                <a:solidFill>
                  <a:schemeClr val="tx1"/>
                </a:solidFill>
                <a:latin typeface="Arial"/>
                <a:cs typeface="Arial"/>
              </a:rPr>
              <a:t>Efficient Implementation</a:t>
            </a:r>
          </a:p>
          <a:p>
            <a:pPr marL="742950" lvl="1" indent="-285750">
              <a:spcBef>
                <a:spcPts val="305"/>
              </a:spcBef>
            </a:pPr>
            <a:endParaRPr lang="en-US" sz="1200">
              <a:solidFill>
                <a:schemeClr val="tx1"/>
              </a:solidFill>
              <a:latin typeface="Arial"/>
              <a:ea typeface="Calibri"/>
              <a:cs typeface="Calibri"/>
            </a:endParaRPr>
          </a:p>
          <a:p>
            <a:pPr marL="298450" indent="-285750"/>
            <a:r>
              <a:rPr lang="en-US" sz="1200">
                <a:solidFill>
                  <a:schemeClr val="tx1"/>
                </a:solidFill>
                <a:latin typeface="Arial"/>
                <a:cs typeface="Arial"/>
              </a:rPr>
              <a:t>Experimental Results</a:t>
            </a:r>
          </a:p>
          <a:p>
            <a:pPr>
              <a:spcBef>
                <a:spcPts val="80"/>
              </a:spcBef>
            </a:pPr>
            <a:endParaRPr lang="en-US" sz="120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5750"/>
            <a:r>
              <a:rPr lang="en-US" sz="1200">
                <a:solidFill>
                  <a:schemeClr val="tx1"/>
                </a:solidFill>
                <a:latin typeface="Arial"/>
                <a:cs typeface="Arial"/>
              </a:rPr>
              <a:t>Discussions</a:t>
            </a:r>
          </a:p>
          <a:p>
            <a:pPr marL="770890" lvl="1" indent="-285750">
              <a:spcBef>
                <a:spcPts val="5"/>
              </a:spcBef>
            </a:pPr>
            <a:r>
              <a:rPr lang="en-US" sz="1200">
                <a:solidFill>
                  <a:schemeClr val="tx1"/>
                </a:solidFill>
                <a:latin typeface="Arial"/>
                <a:cs typeface="Arial"/>
              </a:rPr>
              <a:t>Current Extensions</a:t>
            </a:r>
          </a:p>
          <a:p>
            <a:pPr marL="770890" lvl="1" indent="-285750"/>
            <a:r>
              <a:rPr lang="en-US" sz="1200">
                <a:solidFill>
                  <a:schemeClr val="tx1"/>
                </a:solidFill>
                <a:latin typeface="Arial"/>
                <a:cs typeface="Arial"/>
              </a:rPr>
              <a:t>Future Directions</a:t>
            </a:r>
          </a:p>
          <a:p>
            <a:endParaRPr lang="en-US" sz="10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09E9FA-BDDE-45C4-8F5E-974D4208D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4750737"/>
            <a:ext cx="9143989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37E529-E43B-4948-B3C4-7F6B806FC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02680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711D0-5188-B615-A8B0-B09008431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454422"/>
            <a:ext cx="2313633" cy="4234656"/>
          </a:xfrm>
        </p:spPr>
        <p:txBody>
          <a:bodyPr anchor="ctr">
            <a:normAutofit/>
          </a:bodyPr>
          <a:lstStyle/>
          <a:p>
            <a:r>
              <a:rPr lang="en-US" sz="2700">
                <a:solidFill>
                  <a:srgbClr val="FFFFFF"/>
                </a:solidFill>
                <a:ea typeface="Calibri Light"/>
                <a:cs typeface="Calibri Light"/>
              </a:rPr>
              <a:t>Abstract</a:t>
            </a:r>
            <a:endParaRPr lang="en-US" sz="2700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953CD-E979-C8B9-ED7C-6833824CE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512" y="454422"/>
            <a:ext cx="4810247" cy="4234656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sz="1300" b="1" u="sng">
                <a:ea typeface="+mn-lt"/>
                <a:cs typeface="+mn-lt"/>
              </a:rPr>
              <a:t>Context</a:t>
            </a:r>
            <a:r>
              <a:rPr lang="en-US" sz="1300" b="1">
                <a:ea typeface="+mn-lt"/>
                <a:cs typeface="+mn-lt"/>
              </a:rPr>
              <a:t>:</a:t>
            </a:r>
            <a:r>
              <a:rPr lang="en-US" sz="1300">
                <a:ea typeface="+mn-lt"/>
                <a:cs typeface="+mn-lt"/>
              </a:rPr>
              <a:t> Long text, audio, genomics need both content-aware reasoning and linear-time scaling</a:t>
            </a:r>
            <a:endParaRPr lang="en-US" sz="1300">
              <a:ea typeface="Calibri" panose="020F0502020204030204"/>
              <a:cs typeface="Calibri" panose="020F0502020204030204"/>
            </a:endParaRPr>
          </a:p>
          <a:p>
            <a:r>
              <a:rPr lang="en-US" sz="1300" b="1" u="sng">
                <a:ea typeface="+mn-lt"/>
                <a:cs typeface="+mn-lt"/>
              </a:rPr>
              <a:t>Key Ideas:</a:t>
            </a:r>
            <a:endParaRPr lang="en-US" sz="1300" u="sng">
              <a:ea typeface="Calibri"/>
              <a:cs typeface="Calibri"/>
            </a:endParaRPr>
          </a:p>
          <a:p>
            <a:pPr>
              <a:buFont typeface="Calibri"/>
              <a:buChar char=" "/>
            </a:pPr>
            <a:r>
              <a:rPr lang="en-US" sz="1300" b="1">
                <a:ea typeface="+mn-lt"/>
                <a:cs typeface="+mn-lt"/>
              </a:rPr>
              <a:t>  Selective State Spaces:</a:t>
            </a:r>
            <a:r>
              <a:rPr lang="en-US" sz="1300">
                <a:ea typeface="+mn-lt"/>
                <a:cs typeface="+mn-lt"/>
              </a:rPr>
              <a:t> per-token dynamic   </a:t>
            </a:r>
            <a:r>
              <a:rPr lang="en-US" sz="1300" err="1">
                <a:ea typeface="+mn-lt"/>
                <a:cs typeface="+mn-lt"/>
              </a:rPr>
              <a:t>At,Bt,Ct</a:t>
            </a:r>
            <a:endParaRPr lang="en-US" sz="1300">
              <a:ea typeface="+mn-lt"/>
              <a:cs typeface="+mn-lt"/>
            </a:endParaRPr>
          </a:p>
          <a:p>
            <a:pPr>
              <a:buFont typeface="Calibri"/>
              <a:buChar char=" "/>
            </a:pPr>
            <a:r>
              <a:rPr lang="en-US" sz="1300" b="1">
                <a:ea typeface="+mn-lt"/>
                <a:cs typeface="+mn-lt"/>
              </a:rPr>
              <a:t>  Hardware-Aware Scan:</a:t>
            </a:r>
            <a:r>
              <a:rPr lang="en-US" sz="1300">
                <a:ea typeface="+mn-lt"/>
                <a:cs typeface="+mn-lt"/>
              </a:rPr>
              <a:t> fused GPU kernel + parallel prefix-sum → true O(N) recurrence</a:t>
            </a:r>
            <a:endParaRPr lang="en-US" sz="1300">
              <a:ea typeface="Calibri"/>
              <a:cs typeface="Calibri"/>
            </a:endParaRPr>
          </a:p>
          <a:p>
            <a:r>
              <a:rPr lang="en-US" sz="1300" b="1" u="sng">
                <a:ea typeface="+mn-lt"/>
                <a:cs typeface="+mn-lt"/>
              </a:rPr>
              <a:t>Contributions:</a:t>
            </a:r>
            <a:endParaRPr lang="en-US" sz="1300" u="sng">
              <a:ea typeface="Calibri"/>
              <a:cs typeface="Calibri"/>
            </a:endParaRPr>
          </a:p>
          <a:p>
            <a:r>
              <a:rPr lang="en-US" sz="1300">
                <a:ea typeface="+mn-lt"/>
                <a:cs typeface="+mn-lt"/>
              </a:rPr>
              <a:t>Input-dependent state updates</a:t>
            </a:r>
            <a:endParaRPr lang="en-US" sz="1300">
              <a:ea typeface="Calibri"/>
              <a:cs typeface="Calibri"/>
            </a:endParaRPr>
          </a:p>
          <a:p>
            <a:r>
              <a:rPr lang="en-US" sz="1300">
                <a:ea typeface="+mn-lt"/>
                <a:cs typeface="+mn-lt"/>
              </a:rPr>
              <a:t>Short convolution + GLU gating</a:t>
            </a:r>
            <a:endParaRPr lang="en-US" sz="1300">
              <a:ea typeface="Calibri"/>
              <a:cs typeface="Calibri"/>
            </a:endParaRPr>
          </a:p>
          <a:p>
            <a:r>
              <a:rPr lang="en-US" sz="1300">
                <a:ea typeface="+mn-lt"/>
                <a:cs typeface="+mn-lt"/>
              </a:rPr>
              <a:t>SRAM vs HBM placement + kernel fusion + parallel scan</a:t>
            </a:r>
            <a:endParaRPr lang="en-US" sz="1300">
              <a:ea typeface="Calibri"/>
              <a:cs typeface="Calibri"/>
            </a:endParaRPr>
          </a:p>
          <a:p>
            <a:r>
              <a:rPr lang="en-US" sz="1300" b="1" u="sng">
                <a:ea typeface="+mn-lt"/>
                <a:cs typeface="+mn-lt"/>
              </a:rPr>
              <a:t>Results:</a:t>
            </a:r>
            <a:endParaRPr lang="en-US" sz="1300" u="sng">
              <a:ea typeface="Calibri"/>
              <a:cs typeface="Calibri"/>
            </a:endParaRPr>
          </a:p>
          <a:p>
            <a:r>
              <a:rPr lang="en-US" sz="1300">
                <a:ea typeface="+mn-lt"/>
                <a:cs typeface="+mn-lt"/>
              </a:rPr>
              <a:t>Transformer-level accuracy, 3–5× faster on A100</a:t>
            </a:r>
            <a:endParaRPr lang="en-US" sz="1300">
              <a:ea typeface="Calibri"/>
              <a:cs typeface="Calibri"/>
            </a:endParaRPr>
          </a:p>
          <a:p>
            <a:r>
              <a:rPr lang="en-US" sz="1300">
                <a:ea typeface="+mn-lt"/>
                <a:cs typeface="+mn-lt"/>
              </a:rPr>
              <a:t>Scales to 100K–1M token contexts</a:t>
            </a:r>
            <a:endParaRPr lang="en-US" sz="1300">
              <a:ea typeface="Calibri"/>
              <a:cs typeface="Calibri"/>
            </a:endParaRPr>
          </a:p>
          <a:p>
            <a:endParaRPr lang="en-US" sz="13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3165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6D319D-8868-7058-0A10-025EC9450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454422"/>
            <a:ext cx="2313633" cy="4234656"/>
          </a:xfrm>
        </p:spPr>
        <p:txBody>
          <a:bodyPr anchor="ctr">
            <a:normAutofit/>
          </a:bodyPr>
          <a:lstStyle/>
          <a:p>
            <a:r>
              <a:rPr lang="en-US"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Background &amp; Prior Issues</a:t>
            </a:r>
            <a:endParaRPr lang="en-US" sz="2700" b="1">
              <a:solidFill>
                <a:srgbClr val="FFFFFF"/>
              </a:solidFill>
              <a:ea typeface="Calibri Light"/>
              <a:cs typeface="Calibri Ligh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AD5F8-EC7F-3413-5EAC-CC7CDB529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512" y="454422"/>
            <a:ext cx="4810247" cy="4234656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sz="1300" b="1">
                <a:ea typeface="+mn-lt"/>
                <a:cs typeface="+mn-lt"/>
              </a:rPr>
              <a:t>1. What is Sequence Modeling?</a:t>
            </a:r>
            <a:endParaRPr lang="en-US" sz="1300" b="1">
              <a:ea typeface="Calibri"/>
              <a:cs typeface="Calibri"/>
            </a:endParaRPr>
          </a:p>
          <a:p>
            <a:r>
              <a:rPr lang="en-US" sz="1300">
                <a:ea typeface="+mn-lt"/>
                <a:cs typeface="+mn-lt"/>
              </a:rPr>
              <a:t>   Machines process ordered data (text, audio, DNA) for translation, summarization, speech, etc.</a:t>
            </a:r>
            <a:endParaRPr lang="en-US" sz="1300">
              <a:ea typeface="Calibri"/>
              <a:cs typeface="Calibri"/>
            </a:endParaRPr>
          </a:p>
          <a:p>
            <a:r>
              <a:rPr lang="en-US" sz="1300" b="1">
                <a:ea typeface="+mn-lt"/>
                <a:cs typeface="+mn-lt"/>
              </a:rPr>
              <a:t>2. RNN / LSTM</a:t>
            </a:r>
            <a:endParaRPr lang="en-US" sz="1300" b="1">
              <a:ea typeface="Calibri"/>
              <a:cs typeface="Calibri"/>
            </a:endParaRPr>
          </a:p>
          <a:p>
            <a:r>
              <a:rPr lang="en-US" sz="1300">
                <a:ea typeface="+mn-lt"/>
                <a:cs typeface="+mn-lt"/>
              </a:rPr>
              <a:t>   Sequential recurrence: one token at a time</a:t>
            </a:r>
            <a:endParaRPr lang="en-US" sz="1300">
              <a:ea typeface="Calibri"/>
              <a:cs typeface="Calibri"/>
            </a:endParaRPr>
          </a:p>
          <a:p>
            <a:r>
              <a:rPr lang="en-US" sz="1300">
                <a:ea typeface="+mn-lt"/>
                <a:cs typeface="+mn-lt"/>
              </a:rPr>
              <a:t>   Drawback: vanishing/exploding gradients → forgetting long-range dependencies</a:t>
            </a:r>
            <a:endParaRPr lang="en-US" sz="1300">
              <a:ea typeface="Calibri"/>
              <a:cs typeface="Calibri"/>
            </a:endParaRPr>
          </a:p>
          <a:p>
            <a:r>
              <a:rPr lang="en-US" sz="1300" b="1">
                <a:ea typeface="+mn-lt"/>
                <a:cs typeface="+mn-lt"/>
              </a:rPr>
              <a:t>3. Transformer</a:t>
            </a:r>
            <a:endParaRPr lang="en-US" sz="1300" b="1">
              <a:ea typeface="Calibri"/>
              <a:cs typeface="Calibri"/>
            </a:endParaRPr>
          </a:p>
          <a:p>
            <a:r>
              <a:rPr lang="en-US" sz="1300">
                <a:ea typeface="+mn-lt"/>
                <a:cs typeface="+mn-lt"/>
              </a:rPr>
              <a:t>   Self-attention weights every pair of tokens</a:t>
            </a:r>
            <a:endParaRPr lang="en-US" sz="1300">
              <a:ea typeface="Calibri"/>
              <a:cs typeface="Calibri"/>
            </a:endParaRPr>
          </a:p>
          <a:p>
            <a:r>
              <a:rPr lang="en-US" sz="1300">
                <a:ea typeface="+mn-lt"/>
                <a:cs typeface="+mn-lt"/>
              </a:rPr>
              <a:t>   Drawback: O(N²) time &amp; memory → impractical for very long sequences</a:t>
            </a:r>
            <a:endParaRPr lang="en-US" sz="1300">
              <a:ea typeface="Calibri"/>
              <a:cs typeface="Calibri"/>
            </a:endParaRPr>
          </a:p>
          <a:p>
            <a:r>
              <a:rPr lang="en-US" sz="1300" b="1">
                <a:ea typeface="+mn-lt"/>
                <a:cs typeface="+mn-lt"/>
              </a:rPr>
              <a:t>4. Question:</a:t>
            </a:r>
            <a:r>
              <a:rPr lang="en-US" sz="1300">
                <a:ea typeface="+mn-lt"/>
                <a:cs typeface="+mn-lt"/>
              </a:rPr>
              <a:t> Can we get linear-time speed AND attention-style focus?</a:t>
            </a:r>
            <a:endParaRPr lang="en-US" sz="1300">
              <a:ea typeface="Calibri"/>
              <a:cs typeface="Calibri"/>
            </a:endParaRPr>
          </a:p>
          <a:p>
            <a:r>
              <a:rPr lang="en-US" sz="1300">
                <a:ea typeface="+mn-lt"/>
                <a:cs typeface="+mn-lt"/>
              </a:rPr>
              <a:t>   - Answer: </a:t>
            </a:r>
            <a:r>
              <a:rPr lang="en-US" sz="1300" b="1">
                <a:ea typeface="+mn-lt"/>
                <a:cs typeface="+mn-lt"/>
              </a:rPr>
              <a:t>Mamba </a:t>
            </a:r>
            <a:r>
              <a:rPr lang="en-US" sz="1300">
                <a:ea typeface="+mn-lt"/>
                <a:cs typeface="+mn-lt"/>
              </a:rPr>
              <a:t>fills that gap.</a:t>
            </a:r>
            <a:endParaRPr lang="en-US" sz="13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9187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AA560-A21F-BF6B-1054-84CAF0E43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387626"/>
            <a:ext cx="2313633" cy="4329630"/>
          </a:xfrm>
        </p:spPr>
        <p:txBody>
          <a:bodyPr anchor="ctr">
            <a:normAutofit/>
          </a:bodyPr>
          <a:lstStyle/>
          <a:p>
            <a:r>
              <a:rPr lang="en-US" sz="2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Motivation for Mamba</a:t>
            </a:r>
            <a:endParaRPr lang="en-US" sz="2700">
              <a:solidFill>
                <a:srgbClr val="FFFFFF"/>
              </a:solidFill>
              <a:ea typeface="Calibri Light"/>
              <a:cs typeface="Calibri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1ED5556-049B-36A6-80F3-D429248DA6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2831699"/>
              </p:ext>
            </p:extLst>
          </p:nvPr>
        </p:nvGraphicFramePr>
        <p:xfrm>
          <a:off x="3556397" y="479822"/>
          <a:ext cx="5098256" cy="4237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3572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A824FA-4488-A64A-D040-10AF6A00C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454422"/>
            <a:ext cx="2313633" cy="4234656"/>
          </a:xfrm>
        </p:spPr>
        <p:txBody>
          <a:bodyPr anchor="ctr">
            <a:normAutofit/>
          </a:bodyPr>
          <a:lstStyle/>
          <a:p>
            <a:r>
              <a:rPr lang="en-US" sz="2700">
                <a:solidFill>
                  <a:srgbClr val="FFFFFF"/>
                </a:solidFill>
                <a:ea typeface="+mj-lt"/>
                <a:cs typeface="+mj-lt"/>
              </a:rPr>
              <a:t>Generic State-Space Models (SSM)</a:t>
            </a:r>
            <a:endParaRPr lang="en-US" sz="270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D2CAA-E74B-F759-3C6C-922E06DA0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512" y="454422"/>
            <a:ext cx="4810247" cy="4234656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sz="1400" b="1">
                <a:latin typeface="Arial"/>
                <a:ea typeface="+mn-lt"/>
                <a:cs typeface="+mn-lt"/>
              </a:rPr>
              <a:t>What is an SSM?  </a:t>
            </a:r>
            <a:endParaRPr lang="en-US" sz="1400" b="1">
              <a:latin typeface="Arial"/>
              <a:ea typeface="Calibri" panose="020F0502020204030204"/>
              <a:cs typeface="Calibri" panose="020F0502020204030204"/>
            </a:endParaRPr>
          </a:p>
          <a:p>
            <a:r>
              <a:rPr lang="en-US" sz="1400">
                <a:latin typeface="Arial"/>
                <a:ea typeface="+mn-lt"/>
                <a:cs typeface="+mn-lt"/>
              </a:rPr>
              <a:t>  A model that maintains a hidden state h(t) and updates it over time based on input u(t).  </a:t>
            </a:r>
            <a:endParaRPr lang="en-US" sz="1400">
              <a:latin typeface="Arial"/>
              <a:cs typeface="Arial"/>
            </a:endParaRPr>
          </a:p>
          <a:p>
            <a:r>
              <a:rPr lang="en-US" sz="1400" b="1">
                <a:latin typeface="Arial"/>
                <a:ea typeface="+mn-lt"/>
                <a:cs typeface="+mn-lt"/>
              </a:rPr>
              <a:t>Continuous-time form:  </a:t>
            </a:r>
            <a:endParaRPr lang="en-US" sz="1400" b="1">
              <a:latin typeface="Arial"/>
              <a:cs typeface="Arial"/>
            </a:endParaRPr>
          </a:p>
          <a:p>
            <a:r>
              <a:rPr lang="en-US" sz="1400">
                <a:latin typeface="Arial"/>
                <a:ea typeface="+mn-lt"/>
                <a:cs typeface="+mn-lt"/>
              </a:rPr>
              <a:t>   </a:t>
            </a:r>
            <a:endParaRPr lang="en-US" sz="1400">
              <a:latin typeface="Arial"/>
              <a:cs typeface="Arial"/>
            </a:endParaRPr>
          </a:p>
          <a:p>
            <a:endParaRPr lang="en-US" sz="1400">
              <a:latin typeface="Arial"/>
              <a:ea typeface="Calibri"/>
              <a:cs typeface="Calibri"/>
            </a:endParaRPr>
          </a:p>
          <a:p>
            <a:r>
              <a:rPr lang="en-US" sz="1400" b="1">
                <a:latin typeface="Arial"/>
                <a:ea typeface="+mn-lt"/>
                <a:cs typeface="+mn-lt"/>
              </a:rPr>
              <a:t>Intuition:  </a:t>
            </a:r>
            <a:endParaRPr lang="en-US" sz="1400" b="1">
              <a:latin typeface="Arial"/>
              <a:cs typeface="Arial"/>
            </a:endParaRPr>
          </a:p>
          <a:p>
            <a:r>
              <a:rPr lang="en-US" sz="1400">
                <a:latin typeface="Arial"/>
                <a:ea typeface="+mn-lt"/>
                <a:cs typeface="+mn-lt"/>
              </a:rPr>
              <a:t>   A governs how the state “flows” on its own.  </a:t>
            </a:r>
            <a:endParaRPr lang="en-US" sz="1400">
              <a:latin typeface="Arial"/>
              <a:cs typeface="Arial"/>
            </a:endParaRPr>
          </a:p>
          <a:p>
            <a:r>
              <a:rPr lang="en-US" sz="1400">
                <a:latin typeface="Arial"/>
                <a:ea typeface="+mn-lt"/>
                <a:cs typeface="+mn-lt"/>
              </a:rPr>
              <a:t>   B injects new information from the input.  </a:t>
            </a:r>
            <a:endParaRPr lang="en-US" sz="1400">
              <a:latin typeface="Arial"/>
              <a:cs typeface="Arial"/>
            </a:endParaRPr>
          </a:p>
          <a:p>
            <a:r>
              <a:rPr lang="en-US" sz="1400">
                <a:latin typeface="Arial"/>
                <a:ea typeface="+mn-lt"/>
                <a:cs typeface="+mn-lt"/>
              </a:rPr>
              <a:t>   C (and D) read out the hidden state as an output.</a:t>
            </a:r>
            <a:endParaRPr lang="en-US" sz="1400">
              <a:latin typeface="Arial"/>
              <a:cs typeface="Arial"/>
            </a:endParaRPr>
          </a:p>
          <a:p>
            <a:endParaRPr lang="en-US" sz="1400">
              <a:latin typeface="Arial"/>
              <a:ea typeface="Calibri"/>
              <a:cs typeface="Calibri"/>
            </a:endParaRPr>
          </a:p>
        </p:txBody>
      </p:sp>
      <p:pic>
        <p:nvPicPr>
          <p:cNvPr id="7" name="object 12" descr="A close up of a number&#10;&#10;AI-generated content may be incorrect.">
            <a:extLst>
              <a:ext uri="{FF2B5EF4-FFF2-40B4-BE49-F238E27FC236}">
                <a16:creationId xmlns:a16="http://schemas.microsoft.com/office/drawing/2014/main" id="{20F3E82D-27AC-8A79-5997-98A944E9BBB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4005" y="2039190"/>
            <a:ext cx="2470394" cy="52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25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043" y="342900"/>
            <a:ext cx="8455914" cy="4457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2049" y="390906"/>
            <a:ext cx="8359902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state model&#10;&#10;AI-generated content may be incorrect.">
            <a:extLst>
              <a:ext uri="{FF2B5EF4-FFF2-40B4-BE49-F238E27FC236}">
                <a16:creationId xmlns:a16="http://schemas.microsoft.com/office/drawing/2014/main" id="{4252FDA4-4E87-C93F-1653-8D43E29AE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90" y="1030493"/>
            <a:ext cx="8119591" cy="308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663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F207E69B-0F6F-4D15-A988-616519F68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113C24-A97F-448E-BE2B-73E74A61D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" y="0"/>
            <a:ext cx="5660909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0EA43E2-C9E1-4415-824D-FC15F7E61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0920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7" name="object 13" descr="A diagram of a diagram&#10;&#10;AI-generated content may be incorrect.">
            <a:extLst>
              <a:ext uri="{FF2B5EF4-FFF2-40B4-BE49-F238E27FC236}">
                <a16:creationId xmlns:a16="http://schemas.microsoft.com/office/drawing/2014/main" id="{19033416-A380-F45F-3850-1D1018502FC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88986" y="1026999"/>
            <a:ext cx="2470690" cy="935962"/>
          </a:xfrm>
          <a:prstGeom prst="rect">
            <a:avLst/>
          </a:prstGeom>
        </p:spPr>
      </p:pic>
      <p:pic>
        <p:nvPicPr>
          <p:cNvPr id="29" name="object 12" descr="A close up of a number&#10;&#10;AI-generated content may be incorrect.">
            <a:extLst>
              <a:ext uri="{FF2B5EF4-FFF2-40B4-BE49-F238E27FC236}">
                <a16:creationId xmlns:a16="http://schemas.microsoft.com/office/drawing/2014/main" id="{7789EFE5-FA30-E955-8BA1-26C759CFFAD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9488" y="3396257"/>
            <a:ext cx="2480188" cy="52465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7AB01C0A-4B4E-0BDB-FAEF-3B64F7EA162A}"/>
              </a:ext>
            </a:extLst>
          </p:cNvPr>
          <p:cNvSpPr>
            <a:spLocks noGrp="1"/>
          </p:cNvSpPr>
          <p:nvPr/>
        </p:nvSpPr>
        <p:spPr>
          <a:xfrm>
            <a:off x="336582" y="159769"/>
            <a:ext cx="4555490" cy="7605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baseline="0">
                <a:solidFill>
                  <a:schemeClr val="bg1"/>
                </a:solidFill>
                <a:latin typeface="Arial"/>
              </a:rPr>
              <a:t>Introduction to State Space Models (SSM)</a:t>
            </a:r>
            <a:r>
              <a:rPr lang="en-US" sz="18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​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375CF85-4434-8B87-DDD8-1ABC9E08ECDE}"/>
              </a:ext>
            </a:extLst>
          </p:cNvPr>
          <p:cNvSpPr>
            <a:spLocks noGrp="1"/>
          </p:cNvSpPr>
          <p:nvPr/>
        </p:nvSpPr>
        <p:spPr>
          <a:xfrm>
            <a:off x="207140" y="1136452"/>
            <a:ext cx="4528820" cy="97257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3855" indent="-351155">
              <a:buFont typeface="Arial MT,Sans-Serif"/>
              <a:buChar char="●"/>
            </a:pPr>
            <a:r>
              <a:rPr lang="en-US" sz="1200">
                <a:solidFill>
                  <a:schemeClr val="bg1"/>
                </a:solidFill>
                <a:latin typeface="Arial"/>
                <a:cs typeface="Arial"/>
              </a:rPr>
              <a:t>Originated from state space methods in control theory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  <a:p>
            <a:pPr marL="821055" lvl="1" indent="-335915">
              <a:spcBef>
                <a:spcPts val="5"/>
              </a:spcBef>
              <a:buFont typeface="Arial"/>
              <a:buChar char="•"/>
            </a:pPr>
            <a:r>
              <a:rPr lang="en-US" sz="1200">
                <a:solidFill>
                  <a:schemeClr val="bg1"/>
                </a:solidFill>
                <a:latin typeface="Arial"/>
                <a:cs typeface="Arial"/>
              </a:rPr>
              <a:t>Input: 1-dimensional function or sequence x(t)</a:t>
            </a:r>
          </a:p>
          <a:p>
            <a:pPr marL="821055" lvl="1" indent="-335915">
              <a:buFont typeface="Arial"/>
              <a:buChar char="•"/>
            </a:pPr>
            <a:r>
              <a:rPr lang="en-US" sz="1200">
                <a:solidFill>
                  <a:schemeClr val="bg1"/>
                </a:solidFill>
                <a:latin typeface="Arial"/>
                <a:cs typeface="Arial"/>
              </a:rPr>
              <a:t>Maintain latent state h(t) following</a:t>
            </a:r>
          </a:p>
          <a:p>
            <a:endParaRPr lang="en-US" sz="1200" b="1">
              <a:ea typeface="Calibri"/>
              <a:cs typeface="Calibri"/>
            </a:endParaRPr>
          </a:p>
        </p:txBody>
      </p:sp>
      <p:sp>
        <p:nvSpPr>
          <p:cNvPr id="18" name="TextBox 23">
            <a:extLst>
              <a:ext uri="{FF2B5EF4-FFF2-40B4-BE49-F238E27FC236}">
                <a16:creationId xmlns:a16="http://schemas.microsoft.com/office/drawing/2014/main" id="{93A20C7D-931F-81E5-53CE-82DEF08F581F}"/>
              </a:ext>
            </a:extLst>
          </p:cNvPr>
          <p:cNvSpPr txBox="1"/>
          <p:nvPr/>
        </p:nvSpPr>
        <p:spPr>
          <a:xfrm>
            <a:off x="209020" y="1975666"/>
            <a:ext cx="5185620" cy="103543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rtl="0">
              <a:lnSpc>
                <a:spcPts val="1800"/>
              </a:lnSpc>
            </a:pPr>
            <a:r>
              <a:rPr lang="en-US" sz="1200">
                <a:solidFill>
                  <a:schemeClr val="bg1"/>
                </a:solidFill>
                <a:latin typeface="Arial MT"/>
                <a:cs typeface="Arial"/>
              </a:rPr>
              <a:t>where A, B, C &amp; D are projection matrices. Such an SSM is represented by (A, B, C). D is often omitted as it is only a skip connection.​</a:t>
            </a:r>
          </a:p>
          <a:p>
            <a:pPr rtl="0">
              <a:lnSpc>
                <a:spcPts val="1800"/>
              </a:lnSpc>
            </a:pPr>
            <a:r>
              <a:rPr lang="en-US" sz="1200">
                <a:solidFill>
                  <a:schemeClr val="bg1"/>
                </a:solidFill>
                <a:latin typeface="Arial MT"/>
                <a:cs typeface="Arial"/>
              </a:rPr>
              <a:t>​</a:t>
            </a:r>
          </a:p>
          <a:p>
            <a:pPr marL="347980" indent="-335280" rtl="0">
              <a:lnSpc>
                <a:spcPts val="1800"/>
              </a:lnSpc>
              <a:buFont typeface=""/>
              <a:buChar char="○"/>
            </a:pPr>
            <a:r>
              <a:rPr lang="en-US" sz="1400">
                <a:solidFill>
                  <a:schemeClr val="bg1"/>
                </a:solidFill>
                <a:latin typeface="Arial MT"/>
                <a:cs typeface="Arial"/>
              </a:rPr>
              <a:t>However, it is too general​</a:t>
            </a:r>
          </a:p>
        </p:txBody>
      </p:sp>
      <p:sp>
        <p:nvSpPr>
          <p:cNvPr id="19" name="TextBox 24">
            <a:extLst>
              <a:ext uri="{FF2B5EF4-FFF2-40B4-BE49-F238E27FC236}">
                <a16:creationId xmlns:a16="http://schemas.microsoft.com/office/drawing/2014/main" id="{158CA816-D4D5-41D4-7472-67652E0D921C}"/>
              </a:ext>
            </a:extLst>
          </p:cNvPr>
          <p:cNvSpPr txBox="1"/>
          <p:nvPr/>
        </p:nvSpPr>
        <p:spPr>
          <a:xfrm>
            <a:off x="547932" y="3009103"/>
            <a:ext cx="5055781" cy="99880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marL="347980" indent="-335280" rtl="0">
              <a:lnSpc>
                <a:spcPts val="1800"/>
              </a:lnSpc>
              <a:buFont typeface=""/>
              <a:buChar char="■"/>
            </a:pPr>
            <a:r>
              <a:rPr lang="en-US" sz="1400">
                <a:solidFill>
                  <a:schemeClr val="bg1"/>
                </a:solidFill>
                <a:latin typeface="Arial MT"/>
                <a:cs typeface="Arial"/>
              </a:rPr>
              <a:t>Inefficient to compute,</a:t>
            </a:r>
            <a:endParaRPr lang="en-US">
              <a:solidFill>
                <a:schemeClr val="bg1"/>
              </a:solidFill>
            </a:endParaRPr>
          </a:p>
          <a:p>
            <a:pPr marL="347980" indent="-335280">
              <a:lnSpc>
                <a:spcPts val="1800"/>
              </a:lnSpc>
              <a:buFont typeface=""/>
              <a:buChar char="■"/>
            </a:pPr>
            <a:r>
              <a:rPr lang="en-US" sz="1400">
                <a:solidFill>
                  <a:schemeClr val="bg1"/>
                </a:solidFill>
              </a:rPr>
              <a:t>O(N) per step but full Ā ∈ ℝⁿ×ⁿ is O(N²) to store</a:t>
            </a:r>
            <a:r>
              <a:rPr lang="en-US" sz="1400">
                <a:solidFill>
                  <a:schemeClr val="bg1"/>
                </a:solidFill>
                <a:latin typeface="Arial MT"/>
                <a:cs typeface="Arial"/>
              </a:rPr>
              <a:t>​</a:t>
            </a:r>
          </a:p>
          <a:p>
            <a:pPr marL="348615" indent="-336550" rtl="0">
              <a:lnSpc>
                <a:spcPts val="1800"/>
              </a:lnSpc>
              <a:buFont typeface=""/>
              <a:buChar char="■"/>
            </a:pPr>
            <a:r>
              <a:rPr lang="en-US" sz="1400">
                <a:solidFill>
                  <a:schemeClr val="bg1"/>
                </a:solidFill>
                <a:latin typeface="Arial MT"/>
                <a:cs typeface="Arial"/>
              </a:rPr>
              <a:t>Struggle to remember long dependencies, similar to the vanishing/exploding gradient problem of RNN​</a:t>
            </a:r>
          </a:p>
        </p:txBody>
      </p:sp>
    </p:spTree>
    <p:extLst>
      <p:ext uri="{BB962C8B-B14F-4D97-AF65-F5344CB8AC3E}">
        <p14:creationId xmlns:p14="http://schemas.microsoft.com/office/powerpoint/2010/main" val="4112364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E14809C-AB06-455C-9E09-733EC00DD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612D73-1056-4289-A977-92C9190C7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7A49D6B-60C4-4E0B-A036-095B4FC1D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1017FF-1D71-4FAE-92F4-54B48B73D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BE6F3DE-BCA6-489A-ACAA-969D33E0B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0D2B4E33-D264-B210-F183-BAC2E7C6183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3801" y="1866976"/>
            <a:ext cx="2433149" cy="1437769"/>
          </a:xfrm>
          <a:prstGeom prst="rect">
            <a:avLst/>
          </a:prstGeom>
        </p:spPr>
      </p:pic>
      <p:pic>
        <p:nvPicPr>
          <p:cNvPr id="17" name="object 9">
            <a:extLst>
              <a:ext uri="{FF2B5EF4-FFF2-40B4-BE49-F238E27FC236}">
                <a16:creationId xmlns:a16="http://schemas.microsoft.com/office/drawing/2014/main" id="{8CC37418-1E15-D746-1B76-DF0ECD49E6A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28249" y="2335387"/>
            <a:ext cx="2433150" cy="472726"/>
          </a:xfrm>
          <a:prstGeom prst="rect">
            <a:avLst/>
          </a:prstGeom>
        </p:spPr>
      </p:pic>
      <p:sp>
        <p:nvSpPr>
          <p:cNvPr id="2" name="object 5">
            <a:extLst>
              <a:ext uri="{FF2B5EF4-FFF2-40B4-BE49-F238E27FC236}">
                <a16:creationId xmlns:a16="http://schemas.microsoft.com/office/drawing/2014/main" id="{656A2E9A-9CD7-C5EF-B438-B4044DE7F6FE}"/>
              </a:ext>
            </a:extLst>
          </p:cNvPr>
          <p:cNvSpPr txBox="1">
            <a:spLocks/>
          </p:cNvSpPr>
          <p:nvPr/>
        </p:nvSpPr>
        <p:spPr>
          <a:xfrm>
            <a:off x="374682" y="777951"/>
            <a:ext cx="2768348" cy="5052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kern="0"/>
            </a:defPPr>
            <a:lvl1pPr>
              <a:defRPr sz="1800" b="1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600">
                <a:latin typeface="Arial MT"/>
              </a:rPr>
              <a:t>S</a:t>
            </a:r>
            <a:r>
              <a:rPr lang="en-US" sz="1600">
                <a:uFill>
                  <a:solidFill>
                    <a:srgbClr val="FFFFFF"/>
                  </a:solidFill>
                </a:uFill>
              </a:rPr>
              <a:t>tructured</a:t>
            </a:r>
            <a:r>
              <a:rPr lang="en-US" sz="1600" spc="-20"/>
              <a:t> </a:t>
            </a:r>
            <a:r>
              <a:rPr lang="en-US" sz="1600"/>
              <a:t>State</a:t>
            </a:r>
            <a:r>
              <a:rPr lang="en-US" sz="1600" spc="-35"/>
              <a:t> </a:t>
            </a:r>
            <a:r>
              <a:rPr lang="en-US" sz="1600"/>
              <a:t>Space</a:t>
            </a:r>
            <a:r>
              <a:rPr lang="en-US" sz="1600" spc="-30"/>
              <a:t> </a:t>
            </a:r>
            <a:r>
              <a:rPr lang="en-US" sz="1600"/>
              <a:t>Models</a:t>
            </a:r>
            <a:r>
              <a:rPr lang="en-US" sz="1600" spc="-30"/>
              <a:t> </a:t>
            </a:r>
            <a:r>
              <a:rPr lang="en-US" sz="1600" spc="-20"/>
              <a:t>(S4)</a:t>
            </a: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C11AEE3E-FF35-6918-DE1C-EE7C30785537}"/>
              </a:ext>
            </a:extLst>
          </p:cNvPr>
          <p:cNvSpPr txBox="1"/>
          <p:nvPr/>
        </p:nvSpPr>
        <p:spPr>
          <a:xfrm>
            <a:off x="236686" y="1613440"/>
            <a:ext cx="2701072" cy="936154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kern="0"/>
            </a:defPPr>
          </a:lstStyle>
          <a:p>
            <a:pPr marL="363855" indent="-351155">
              <a:lnSpc>
                <a:spcPct val="100000"/>
              </a:lnSpc>
              <a:spcBef>
                <a:spcPts val="100"/>
              </a:spcBef>
              <a:buChar char="●"/>
              <a:tabLst>
                <a:tab pos="363855" algn="l"/>
              </a:tabLst>
            </a:pPr>
            <a:r>
              <a:rPr sz="1600">
                <a:solidFill>
                  <a:schemeClr val="bg1"/>
                </a:solidFill>
                <a:latin typeface="Arial MT"/>
                <a:cs typeface="Arial MT"/>
              </a:rPr>
              <a:t>Discretization:</a:t>
            </a:r>
            <a:r>
              <a:rPr sz="1600" spc="-5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chemeClr val="bg1"/>
                </a:solidFill>
                <a:latin typeface="Arial MT"/>
                <a:cs typeface="Arial MT"/>
              </a:rPr>
              <a:t>for</a:t>
            </a:r>
            <a:r>
              <a:rPr sz="1600" spc="-4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chemeClr val="bg1"/>
                </a:solidFill>
                <a:latin typeface="Arial MT"/>
                <a:cs typeface="Arial MT"/>
              </a:rPr>
              <a:t>discrete</a:t>
            </a:r>
            <a:r>
              <a:rPr sz="1600" spc="-4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600" spc="-10">
                <a:solidFill>
                  <a:schemeClr val="bg1"/>
                </a:solidFill>
                <a:latin typeface="Arial MT"/>
                <a:cs typeface="Arial MT"/>
              </a:rPr>
              <a:t>inputs</a:t>
            </a:r>
            <a:endParaRPr sz="1600">
              <a:solidFill>
                <a:schemeClr val="bg1"/>
              </a:solidFill>
              <a:latin typeface="Arial MT"/>
              <a:cs typeface="Arial MT"/>
            </a:endParaRPr>
          </a:p>
          <a:p>
            <a:pPr marL="821055" lvl="1" indent="-335915">
              <a:lnSpc>
                <a:spcPct val="100000"/>
              </a:lnSpc>
              <a:spcBef>
                <a:spcPts val="5"/>
              </a:spcBef>
              <a:buChar char="○"/>
              <a:tabLst>
                <a:tab pos="821055" algn="l"/>
              </a:tabLst>
            </a:pP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e.g.</a:t>
            </a:r>
            <a:r>
              <a:rPr sz="1400" spc="-1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zero-order</a:t>
            </a:r>
            <a:r>
              <a:rPr sz="1400" spc="-1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hold</a:t>
            </a:r>
            <a:r>
              <a:rPr sz="1400" spc="-1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chemeClr val="bg1"/>
                </a:solidFill>
                <a:latin typeface="Arial MT"/>
                <a:cs typeface="Arial MT"/>
              </a:rPr>
              <a:t>(ZOH)</a:t>
            </a:r>
            <a:endParaRPr sz="140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3120D78F-C85B-0B79-0D4C-5F579F04DD8F}"/>
              </a:ext>
            </a:extLst>
          </p:cNvPr>
          <p:cNvSpPr txBox="1"/>
          <p:nvPr/>
        </p:nvSpPr>
        <p:spPr>
          <a:xfrm>
            <a:off x="237403" y="2720152"/>
            <a:ext cx="2621643" cy="131831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kern="0"/>
            </a:defPPr>
          </a:lstStyle>
          <a:p>
            <a:pPr marL="348615">
              <a:lnSpc>
                <a:spcPct val="100000"/>
              </a:lnSpc>
              <a:spcBef>
                <a:spcPts val="100"/>
              </a:spcBef>
            </a:pP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where</a:t>
            </a:r>
            <a:r>
              <a:rPr sz="1400" spc="-2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∆</a:t>
            </a:r>
            <a:r>
              <a:rPr sz="1400" spc="-1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is</a:t>
            </a:r>
            <a:r>
              <a:rPr sz="1400" spc="-2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1400" spc="-1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step</a:t>
            </a:r>
            <a:r>
              <a:rPr sz="1400" spc="-1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size</a:t>
            </a:r>
            <a:r>
              <a:rPr sz="1400" spc="-2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of</a:t>
            </a:r>
            <a:r>
              <a:rPr sz="1400" spc="-1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chemeClr val="bg1"/>
                </a:solidFill>
                <a:latin typeface="Arial MT"/>
                <a:cs typeface="Arial MT"/>
              </a:rPr>
              <a:t>sampling.</a:t>
            </a:r>
            <a:endParaRPr sz="1400">
              <a:solidFill>
                <a:schemeClr val="bg1"/>
              </a:solidFill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solidFill>
                <a:schemeClr val="bg1"/>
              </a:solidFill>
              <a:latin typeface="Arial MT"/>
              <a:cs typeface="Arial MT"/>
            </a:endParaRPr>
          </a:p>
          <a:p>
            <a:pPr marL="348615" marR="5080" indent="-336550">
              <a:lnSpc>
                <a:spcPct val="100000"/>
              </a:lnSpc>
              <a:buChar char="○"/>
              <a:tabLst>
                <a:tab pos="348615" algn="l"/>
              </a:tabLst>
            </a:pP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Now,</a:t>
            </a:r>
            <a:r>
              <a:rPr sz="1400" spc="-4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1400" spc="-3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discrete</a:t>
            </a:r>
            <a:r>
              <a:rPr sz="1400" spc="-3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SSM</a:t>
            </a:r>
            <a:r>
              <a:rPr sz="1400" spc="-3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can</a:t>
            </a:r>
            <a:r>
              <a:rPr sz="1400" spc="-3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be</a:t>
            </a:r>
            <a:r>
              <a:rPr sz="1400" spc="-3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chemeClr val="bg1"/>
                </a:solidFill>
                <a:latin typeface="Arial MT"/>
                <a:cs typeface="Arial MT"/>
              </a:rPr>
              <a:t>represented </a:t>
            </a: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as</a:t>
            </a:r>
            <a:r>
              <a:rPr sz="1400" spc="-1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chemeClr val="bg1"/>
                </a:solidFill>
                <a:latin typeface="Arial MT"/>
                <a:cs typeface="Arial MT"/>
              </a:rPr>
              <a:t>(∆,</a:t>
            </a:r>
            <a:r>
              <a:rPr sz="1400" spc="-9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A,</a:t>
            </a:r>
            <a:r>
              <a:rPr sz="1400" spc="-1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B,</a:t>
            </a:r>
            <a:r>
              <a:rPr sz="1400" spc="-1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C),</a:t>
            </a:r>
            <a:r>
              <a:rPr sz="1400" spc="-1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or</a:t>
            </a:r>
            <a:r>
              <a:rPr sz="1400" spc="-1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(A,</a:t>
            </a:r>
            <a:r>
              <a:rPr sz="1400" spc="-1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chemeClr val="bg1"/>
                </a:solidFill>
                <a:latin typeface="Arial MT"/>
                <a:cs typeface="Arial MT"/>
              </a:rPr>
              <a:t>B,</a:t>
            </a:r>
            <a:r>
              <a:rPr sz="1400" spc="-1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400" spc="-25">
                <a:solidFill>
                  <a:schemeClr val="bg1"/>
                </a:solidFill>
                <a:latin typeface="Arial MT"/>
                <a:cs typeface="Arial MT"/>
              </a:rPr>
              <a:t>C)</a:t>
            </a:r>
            <a:endParaRPr sz="140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1240EB9A-B430-9843-AB3E-B914D821D404}"/>
              </a:ext>
            </a:extLst>
          </p:cNvPr>
          <p:cNvSpPr/>
          <p:nvPr/>
        </p:nvSpPr>
        <p:spPr>
          <a:xfrm>
            <a:off x="2516460" y="3613145"/>
            <a:ext cx="118110" cy="0"/>
          </a:xfrm>
          <a:custGeom>
            <a:avLst/>
            <a:gdLst/>
            <a:ahLst/>
            <a:cxnLst/>
            <a:rect l="l" t="t" r="r" b="b"/>
            <a:pathLst>
              <a:path w="118110">
                <a:moveTo>
                  <a:pt x="0" y="0"/>
                </a:moveTo>
                <a:lnTo>
                  <a:pt x="117899" y="0"/>
                </a:lnTo>
              </a:path>
            </a:pathLst>
          </a:custGeom>
          <a:ln w="9524">
            <a:solidFill>
              <a:srgbClr val="44546A"/>
            </a:solidFill>
          </a:ln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ED12503A-F2D9-6397-9A42-7708EE25B094}"/>
              </a:ext>
            </a:extLst>
          </p:cNvPr>
          <p:cNvSpPr/>
          <p:nvPr/>
        </p:nvSpPr>
        <p:spPr>
          <a:xfrm>
            <a:off x="2727861" y="3613145"/>
            <a:ext cx="118110" cy="0"/>
          </a:xfrm>
          <a:custGeom>
            <a:avLst/>
            <a:gdLst/>
            <a:ahLst/>
            <a:cxnLst/>
            <a:rect l="l" t="t" r="r" b="b"/>
            <a:pathLst>
              <a:path w="118110">
                <a:moveTo>
                  <a:pt x="0" y="0"/>
                </a:moveTo>
                <a:lnTo>
                  <a:pt x="117899" y="0"/>
                </a:lnTo>
              </a:path>
            </a:pathLst>
          </a:custGeom>
          <a:ln w="9524">
            <a:solidFill>
              <a:srgbClr val="44546A"/>
            </a:solidFill>
          </a:ln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6842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D33C-2045-4072-D4F4-D0198B51E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Adding “Structure” for Efficiency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4F940-4827-40B1-D4A0-97F927A0C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384301"/>
            <a:ext cx="7543800" cy="3297878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sz="1400">
                <a:ea typeface="+mn-lt"/>
                <a:cs typeface="+mn-lt"/>
              </a:rPr>
              <a:t>• Motivation:  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>
                <a:ea typeface="+mn-lt"/>
                <a:cs typeface="+mn-lt"/>
              </a:rPr>
              <a:t>  – Generic SSM stores N² parameters in Ā → costly for large N  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>
                <a:ea typeface="+mn-lt"/>
                <a:cs typeface="+mn-lt"/>
              </a:rPr>
              <a:t>  – We want O(N) storage &amp; compute</a:t>
            </a:r>
          </a:p>
          <a:p>
            <a:r>
              <a:rPr lang="en-US" sz="1400">
                <a:ea typeface="+mn-lt"/>
                <a:cs typeface="+mn-lt"/>
              </a:rPr>
              <a:t>• Complexity &amp; Alternative View:  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>
                <a:ea typeface="+mn-lt"/>
                <a:cs typeface="+mn-lt"/>
              </a:rPr>
              <a:t>  – Params &amp; compute per step: O(N)  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>
                <a:ea typeface="+mn-lt"/>
                <a:cs typeface="+mn-lt"/>
              </a:rPr>
              <a:t>  – Training via convolution: build kernel K of length L, do x * K in O(N log N) with FFT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>
                <a:ea typeface="+mn-lt"/>
                <a:cs typeface="+mn-lt"/>
              </a:rPr>
              <a:t>• Benefits &amp; Limits:  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>
                <a:ea typeface="+mn-lt"/>
                <a:cs typeface="+mn-lt"/>
              </a:rPr>
              <a:t>  + Linear storage &amp; runtime → scales to long sequences  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>
                <a:ea typeface="+mn-lt"/>
                <a:cs typeface="+mn-lt"/>
              </a:rPr>
              <a:t>  – Kernels are static (same for every token) → no token-specific adaptivity  </a:t>
            </a:r>
            <a:endParaRPr lang="en-US" sz="1400">
              <a:ea typeface="Calibri"/>
              <a:cs typeface="Calibri"/>
            </a:endParaRPr>
          </a:p>
          <a:p>
            <a:endParaRPr lang="en-US" sz="1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9167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bject 8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451F0B11-A341-49FF-73D1-A3172A3524F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5694" y="1501219"/>
            <a:ext cx="1106556" cy="1242201"/>
          </a:xfrm>
          <a:prstGeom prst="rect">
            <a:avLst/>
          </a:prstGeom>
        </p:spPr>
      </p:pic>
      <p:pic>
        <p:nvPicPr>
          <p:cNvPr id="17" name="object 9" descr="A close-up of a equation&#10;&#10;AI-generated content may be incorrect.">
            <a:extLst>
              <a:ext uri="{FF2B5EF4-FFF2-40B4-BE49-F238E27FC236}">
                <a16:creationId xmlns:a16="http://schemas.microsoft.com/office/drawing/2014/main" id="{6A03418B-1A4D-9534-4F5F-CD776B31A9B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6234" y="1769081"/>
            <a:ext cx="1438524" cy="700124"/>
          </a:xfrm>
          <a:prstGeom prst="rect">
            <a:avLst/>
          </a:prstGeom>
        </p:spPr>
      </p:pic>
      <p:pic>
        <p:nvPicPr>
          <p:cNvPr id="19" name="object 10" descr="A close-up of a mathematical equation&#10;&#10;AI-generated content may be incorrect.">
            <a:extLst>
              <a:ext uri="{FF2B5EF4-FFF2-40B4-BE49-F238E27FC236}">
                <a16:creationId xmlns:a16="http://schemas.microsoft.com/office/drawing/2014/main" id="{056E5FF5-16CE-35E9-51FA-66933ACABBF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28636" y="3552035"/>
            <a:ext cx="2445793" cy="863221"/>
          </a:xfrm>
          <a:prstGeom prst="rect">
            <a:avLst/>
          </a:prstGeom>
        </p:spPr>
      </p:pic>
      <p:pic>
        <p:nvPicPr>
          <p:cNvPr id="21" name="object 11">
            <a:extLst>
              <a:ext uri="{FF2B5EF4-FFF2-40B4-BE49-F238E27FC236}">
                <a16:creationId xmlns:a16="http://schemas.microsoft.com/office/drawing/2014/main" id="{F83370AE-8E0A-E179-B4DA-8CA5C1DC04F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67786" y="3329999"/>
            <a:ext cx="2124571" cy="1110803"/>
          </a:xfrm>
          <a:prstGeom prst="rect">
            <a:avLst/>
          </a:prstGeom>
        </p:spPr>
      </p:pic>
      <p:pic>
        <p:nvPicPr>
          <p:cNvPr id="23" name="object 12" descr="A close up of words&#10;&#10;AI-generated content may be incorrect.">
            <a:extLst>
              <a:ext uri="{FF2B5EF4-FFF2-40B4-BE49-F238E27FC236}">
                <a16:creationId xmlns:a16="http://schemas.microsoft.com/office/drawing/2014/main" id="{85729BE1-6CA3-DE57-E53F-B558E0BF919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87131" y="1848909"/>
            <a:ext cx="1532165" cy="370625"/>
          </a:xfrm>
          <a:prstGeom prst="rect">
            <a:avLst/>
          </a:prstGeom>
        </p:spPr>
      </p:pic>
      <p:pic>
        <p:nvPicPr>
          <p:cNvPr id="25" name="object 13" descr="A close up of a word&#10;&#10;AI-generated content may be incorrect.">
            <a:extLst>
              <a:ext uri="{FF2B5EF4-FFF2-40B4-BE49-F238E27FC236}">
                <a16:creationId xmlns:a16="http://schemas.microsoft.com/office/drawing/2014/main" id="{B8931FF2-808C-4B41-070A-589D909940DF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85924" y="3737945"/>
            <a:ext cx="1499562" cy="370634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1966310-4FC4-16A6-8E3B-700BDE5E516A}"/>
              </a:ext>
            </a:extLst>
          </p:cNvPr>
          <p:cNvSpPr>
            <a:spLocks noGrp="1"/>
          </p:cNvSpPr>
          <p:nvPr/>
        </p:nvSpPr>
        <p:spPr>
          <a:xfrm>
            <a:off x="486425" y="1455388"/>
            <a:ext cx="4528820" cy="77405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3855" indent="-351155">
              <a:spcBef>
                <a:spcPts val="100"/>
              </a:spcBef>
              <a:buFont typeface="Arial"/>
              <a:buChar char="•"/>
            </a:pPr>
            <a:r>
              <a:rPr lang="en-US" sz="1400">
                <a:latin typeface="Arial"/>
                <a:cs typeface="Arial"/>
              </a:rPr>
              <a:t>Computation: Linear Time Invariant (LTI)</a:t>
            </a:r>
            <a:endParaRPr lang="en-US" sz="1400">
              <a:solidFill>
                <a:srgbClr val="000000"/>
              </a:solidFill>
              <a:latin typeface="Arial"/>
              <a:cs typeface="Arial"/>
            </a:endParaRPr>
          </a:p>
          <a:p>
            <a:pPr marL="821055" lvl="1" indent="-351790">
              <a:buFont typeface="Arial"/>
              <a:buChar char="•"/>
            </a:pPr>
            <a:r>
              <a:rPr lang="en-US" sz="1400">
                <a:solidFill>
                  <a:srgbClr val="13294B"/>
                </a:solidFill>
                <a:latin typeface="Arial"/>
                <a:cs typeface="Arial"/>
              </a:rPr>
              <a:t>Linear recurrence</a:t>
            </a:r>
          </a:p>
          <a:p>
            <a:endParaRPr lang="en-US" sz="1400">
              <a:ea typeface="Calibri"/>
              <a:cs typeface="Calibri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47914E3B-B3BA-49C1-8095-9D0F96290041}"/>
              </a:ext>
            </a:extLst>
          </p:cNvPr>
          <p:cNvSpPr txBox="1">
            <a:spLocks/>
          </p:cNvSpPr>
          <p:nvPr/>
        </p:nvSpPr>
        <p:spPr>
          <a:xfrm>
            <a:off x="2144867" y="810400"/>
            <a:ext cx="4555490" cy="2997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kern="0"/>
            </a:defPPr>
            <a:lvl1pPr>
              <a:defRPr sz="1800" b="1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u="heavy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</a:rPr>
              <a:t>Structured</a:t>
            </a:r>
            <a:r>
              <a:rPr lang="en-US" spc="-20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State</a:t>
            </a:r>
            <a:r>
              <a:rPr lang="en-US" spc="-35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Space</a:t>
            </a:r>
            <a:r>
              <a:rPr lang="en-US" spc="-30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Models</a:t>
            </a:r>
            <a:r>
              <a:rPr lang="en-US" spc="-30">
                <a:solidFill>
                  <a:schemeClr val="tx1"/>
                </a:solidFill>
              </a:rPr>
              <a:t> </a:t>
            </a:r>
            <a:r>
              <a:rPr lang="en-US" spc="-20">
                <a:solidFill>
                  <a:schemeClr val="tx1"/>
                </a:solidFill>
              </a:rPr>
              <a:t>(S4)</a:t>
            </a: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67DB0B3A-AD65-278C-C785-FF382157E9BB}"/>
              </a:ext>
            </a:extLst>
          </p:cNvPr>
          <p:cNvSpPr txBox="1"/>
          <p:nvPr/>
        </p:nvSpPr>
        <p:spPr>
          <a:xfrm>
            <a:off x="899667" y="2959166"/>
            <a:ext cx="20478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363855" indent="-351155">
              <a:lnSpc>
                <a:spcPct val="100000"/>
              </a:lnSpc>
              <a:spcBef>
                <a:spcPts val="100"/>
              </a:spcBef>
              <a:buChar char="○"/>
              <a:tabLst>
                <a:tab pos="363855" algn="l"/>
              </a:tabLst>
            </a:pPr>
            <a:r>
              <a:rPr sz="1600">
                <a:solidFill>
                  <a:srgbClr val="13294B"/>
                </a:solidFill>
                <a:latin typeface="Arial MT"/>
                <a:cs typeface="Arial MT"/>
              </a:rPr>
              <a:t>Global</a:t>
            </a:r>
            <a:r>
              <a:rPr sz="1600" spc="-30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600" spc="-10">
                <a:solidFill>
                  <a:srgbClr val="13294B"/>
                </a:solidFill>
                <a:latin typeface="Arial MT"/>
                <a:cs typeface="Arial MT"/>
              </a:rPr>
              <a:t>convolution</a:t>
            </a:r>
            <a:endParaRPr sz="16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186818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bject 5">
            <a:extLst>
              <a:ext uri="{FF2B5EF4-FFF2-40B4-BE49-F238E27FC236}">
                <a16:creationId xmlns:a16="http://schemas.microsoft.com/office/drawing/2014/main" id="{DF20B8E1-FC30-7C1A-921C-734D3CC7AF10}"/>
              </a:ext>
            </a:extLst>
          </p:cNvPr>
          <p:cNvSpPr txBox="1">
            <a:spLocks/>
          </p:cNvSpPr>
          <p:nvPr/>
        </p:nvSpPr>
        <p:spPr>
          <a:xfrm>
            <a:off x="2329505" y="841173"/>
            <a:ext cx="4555490" cy="2997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u="heavy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</a:rPr>
              <a:t>Structured</a:t>
            </a:r>
            <a:r>
              <a:rPr lang="en-US" spc="-20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State</a:t>
            </a:r>
            <a:r>
              <a:rPr lang="en-US" spc="-35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Space</a:t>
            </a:r>
            <a:r>
              <a:rPr lang="en-US" spc="-30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Models</a:t>
            </a:r>
            <a:r>
              <a:rPr lang="en-US" spc="-30">
                <a:solidFill>
                  <a:schemeClr val="tx1"/>
                </a:solidFill>
              </a:rPr>
              <a:t> </a:t>
            </a:r>
            <a:r>
              <a:rPr lang="en-US" spc="-20">
                <a:solidFill>
                  <a:schemeClr val="tx1"/>
                </a:solidFill>
              </a:rPr>
              <a:t>(S4)</a:t>
            </a:r>
          </a:p>
        </p:txBody>
      </p:sp>
      <p:sp>
        <p:nvSpPr>
          <p:cNvPr id="47" name="object 6">
            <a:extLst>
              <a:ext uri="{FF2B5EF4-FFF2-40B4-BE49-F238E27FC236}">
                <a16:creationId xmlns:a16="http://schemas.microsoft.com/office/drawing/2014/main" id="{05B7F04F-EB22-1976-AF02-B4D072D16F7C}"/>
              </a:ext>
            </a:extLst>
          </p:cNvPr>
          <p:cNvSpPr txBox="1"/>
          <p:nvPr/>
        </p:nvSpPr>
        <p:spPr>
          <a:xfrm>
            <a:off x="142059" y="1389446"/>
            <a:ext cx="4056575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100"/>
              </a:spcBef>
              <a:buChar char="●"/>
              <a:tabLst>
                <a:tab pos="363855" algn="l"/>
              </a:tabLst>
            </a:pPr>
            <a:r>
              <a:rPr sz="1600">
                <a:solidFill>
                  <a:srgbClr val="13294B"/>
                </a:solidFill>
                <a:latin typeface="Arial MT"/>
                <a:cs typeface="Arial MT"/>
              </a:rPr>
              <a:t>By</a:t>
            </a:r>
            <a:r>
              <a:rPr sz="1600" spc="-50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13294B"/>
                </a:solidFill>
                <a:latin typeface="Arial MT"/>
                <a:cs typeface="Arial MT"/>
              </a:rPr>
              <a:t>imposing</a:t>
            </a:r>
            <a:r>
              <a:rPr sz="1600" spc="-2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600" i="1">
                <a:solidFill>
                  <a:srgbClr val="13294B"/>
                </a:solidFill>
                <a:latin typeface="Arial"/>
                <a:cs typeface="Arial"/>
              </a:rPr>
              <a:t>structure</a:t>
            </a:r>
            <a:r>
              <a:rPr sz="1600" i="1" spc="-35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600">
                <a:solidFill>
                  <a:srgbClr val="13294B"/>
                </a:solidFill>
                <a:latin typeface="Arial MT"/>
                <a:cs typeface="Arial MT"/>
              </a:rPr>
              <a:t>on</a:t>
            </a:r>
            <a:r>
              <a:rPr sz="1600" spc="-3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600" spc="-10">
                <a:solidFill>
                  <a:srgbClr val="13294B"/>
                </a:solidFill>
                <a:latin typeface="Arial MT"/>
                <a:cs typeface="Arial MT"/>
              </a:rPr>
              <a:t>matrix</a:t>
            </a:r>
            <a:r>
              <a:rPr sz="1600" spc="-10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13294B"/>
                </a:solidFill>
                <a:latin typeface="Arial MT"/>
                <a:cs typeface="Arial MT"/>
              </a:rPr>
              <a:t>A,</a:t>
            </a:r>
            <a:r>
              <a:rPr sz="1600" spc="-30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13294B"/>
                </a:solidFill>
                <a:latin typeface="Arial MT"/>
                <a:cs typeface="Arial MT"/>
              </a:rPr>
              <a:t>the</a:t>
            </a:r>
            <a:r>
              <a:rPr sz="1600" spc="-3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13294B"/>
                </a:solidFill>
                <a:latin typeface="Arial MT"/>
                <a:cs typeface="Arial MT"/>
              </a:rPr>
              <a:t>system</a:t>
            </a:r>
            <a:r>
              <a:rPr sz="1600" spc="-3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13294B"/>
                </a:solidFill>
                <a:latin typeface="Arial MT"/>
                <a:cs typeface="Arial MT"/>
              </a:rPr>
              <a:t>can</a:t>
            </a:r>
            <a:r>
              <a:rPr sz="1600" spc="-3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13294B"/>
                </a:solidFill>
                <a:latin typeface="Arial MT"/>
                <a:cs typeface="Arial MT"/>
              </a:rPr>
              <a:t>be</a:t>
            </a:r>
            <a:r>
              <a:rPr sz="1600" spc="-3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13294B"/>
                </a:solidFill>
                <a:latin typeface="Arial MT"/>
                <a:cs typeface="Arial MT"/>
              </a:rPr>
              <a:t>solved</a:t>
            </a:r>
            <a:r>
              <a:rPr sz="1600" spc="-30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13294B"/>
                </a:solidFill>
                <a:latin typeface="Arial MT"/>
                <a:cs typeface="Arial MT"/>
              </a:rPr>
              <a:t>using</a:t>
            </a:r>
            <a:r>
              <a:rPr sz="1600" spc="-3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600">
                <a:solidFill>
                  <a:srgbClr val="13294B"/>
                </a:solidFill>
                <a:latin typeface="Arial MT"/>
                <a:cs typeface="Arial MT"/>
              </a:rPr>
              <a:t>efficient</a:t>
            </a:r>
            <a:r>
              <a:rPr sz="1600" spc="-3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600" spc="-10">
                <a:solidFill>
                  <a:srgbClr val="13294B"/>
                </a:solidFill>
                <a:latin typeface="Arial MT"/>
                <a:cs typeface="Arial MT"/>
              </a:rPr>
              <a:t>algorithms</a:t>
            </a:r>
            <a:endParaRPr sz="1600">
              <a:latin typeface="Arial MT"/>
              <a:cs typeface="Arial MT"/>
            </a:endParaRPr>
          </a:p>
          <a:p>
            <a:pPr marL="821055" lvl="1" indent="-335915">
              <a:lnSpc>
                <a:spcPct val="100000"/>
              </a:lnSpc>
              <a:spcBef>
                <a:spcPts val="5"/>
              </a:spcBef>
              <a:buChar char="○"/>
              <a:tabLst>
                <a:tab pos="821055" algn="l"/>
              </a:tabLst>
            </a:pPr>
            <a:r>
              <a:rPr sz="1400">
                <a:solidFill>
                  <a:srgbClr val="13294B"/>
                </a:solidFill>
                <a:latin typeface="Arial MT"/>
                <a:cs typeface="Arial MT"/>
              </a:rPr>
              <a:t>Popular</a:t>
            </a:r>
            <a:r>
              <a:rPr sz="1400" spc="-40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13294B"/>
                </a:solidFill>
                <a:latin typeface="Arial MT"/>
                <a:cs typeface="Arial MT"/>
              </a:rPr>
              <a:t>choices:</a:t>
            </a:r>
            <a:r>
              <a:rPr sz="1400" spc="-2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13294B"/>
                </a:solidFill>
                <a:latin typeface="Arial MT"/>
                <a:cs typeface="Arial MT"/>
              </a:rPr>
              <a:t>Diagonal,</a:t>
            </a:r>
            <a:r>
              <a:rPr sz="1400" spc="-2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13294B"/>
                </a:solidFill>
                <a:latin typeface="Arial MT"/>
                <a:cs typeface="Arial MT"/>
              </a:rPr>
              <a:t>or</a:t>
            </a:r>
            <a:r>
              <a:rPr sz="1400" spc="-2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13294B"/>
                </a:solidFill>
                <a:latin typeface="Arial MT"/>
                <a:cs typeface="Arial MT"/>
              </a:rPr>
              <a:t>High-order</a:t>
            </a:r>
            <a:r>
              <a:rPr sz="1400" spc="-2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13294B"/>
                </a:solidFill>
                <a:latin typeface="Arial MT"/>
                <a:cs typeface="Arial MT"/>
              </a:rPr>
              <a:t>Polynomial</a:t>
            </a:r>
            <a:r>
              <a:rPr sz="1400" spc="-2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13294B"/>
                </a:solidFill>
                <a:latin typeface="Arial MT"/>
                <a:cs typeface="Arial MT"/>
              </a:rPr>
              <a:t>Projection</a:t>
            </a:r>
            <a:r>
              <a:rPr sz="1400" spc="-2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13294B"/>
                </a:solidFill>
                <a:latin typeface="Arial MT"/>
                <a:cs typeface="Arial MT"/>
              </a:rPr>
              <a:t>Operators</a:t>
            </a:r>
            <a:r>
              <a:rPr sz="1400" spc="-2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13294B"/>
                </a:solidFill>
                <a:latin typeface="Arial MT"/>
                <a:cs typeface="Arial MT"/>
              </a:rPr>
              <a:t>(</a:t>
            </a:r>
            <a:r>
              <a:rPr sz="1400" b="1" spc="-10">
                <a:solidFill>
                  <a:srgbClr val="13294B"/>
                </a:solidFill>
                <a:latin typeface="Arial"/>
                <a:cs typeface="Arial"/>
              </a:rPr>
              <a:t>HiPPO</a:t>
            </a:r>
            <a:r>
              <a:rPr sz="1400" spc="-10">
                <a:solidFill>
                  <a:srgbClr val="13294B"/>
                </a:solidFill>
                <a:latin typeface="Arial MT"/>
                <a:cs typeface="Arial MT"/>
              </a:rPr>
              <a:t>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9" name="object 7">
            <a:extLst>
              <a:ext uri="{FF2B5EF4-FFF2-40B4-BE49-F238E27FC236}">
                <a16:creationId xmlns:a16="http://schemas.microsoft.com/office/drawing/2014/main" id="{7B0AA7E6-A558-1E02-C38A-D821768A26E3}"/>
              </a:ext>
            </a:extLst>
          </p:cNvPr>
          <p:cNvSpPr txBox="1"/>
          <p:nvPr/>
        </p:nvSpPr>
        <p:spPr>
          <a:xfrm>
            <a:off x="599977" y="3003264"/>
            <a:ext cx="471355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Char char="○"/>
              <a:tabLst>
                <a:tab pos="347980" algn="l"/>
              </a:tabLst>
            </a:pPr>
            <a:r>
              <a:rPr sz="1400">
                <a:solidFill>
                  <a:srgbClr val="13294B"/>
                </a:solidFill>
                <a:latin typeface="Arial MT"/>
                <a:cs typeface="Arial MT"/>
              </a:rPr>
              <a:t>HiPPO</a:t>
            </a:r>
            <a:r>
              <a:rPr sz="1400" spc="-30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13294B"/>
                </a:solidFill>
                <a:latin typeface="Arial MT"/>
                <a:cs typeface="Arial MT"/>
              </a:rPr>
              <a:t>can</a:t>
            </a:r>
            <a:r>
              <a:rPr sz="1400" spc="-2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13294B"/>
                </a:solidFill>
                <a:latin typeface="Arial MT"/>
                <a:cs typeface="Arial MT"/>
              </a:rPr>
              <a:t>reconstruct</a:t>
            </a:r>
            <a:r>
              <a:rPr sz="1400" spc="-2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13294B"/>
                </a:solidFill>
                <a:latin typeface="Arial MT"/>
                <a:cs typeface="Arial MT"/>
              </a:rPr>
              <a:t>older</a:t>
            </a:r>
            <a:r>
              <a:rPr sz="1400" spc="-30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13294B"/>
                </a:solidFill>
                <a:latin typeface="Arial MT"/>
                <a:cs typeface="Arial MT"/>
              </a:rPr>
              <a:t>signals,</a:t>
            </a:r>
            <a:r>
              <a:rPr sz="1400" spc="-2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13294B"/>
                </a:solidFill>
                <a:latin typeface="Arial MT"/>
                <a:cs typeface="Arial MT"/>
              </a:rPr>
              <a:t>while</a:t>
            </a:r>
            <a:r>
              <a:rPr sz="1400" spc="-2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13294B"/>
                </a:solidFill>
                <a:latin typeface="Arial MT"/>
                <a:cs typeface="Arial MT"/>
              </a:rPr>
              <a:t>keeping</a:t>
            </a:r>
            <a:r>
              <a:rPr sz="1400" spc="-2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13294B"/>
                </a:solidFill>
                <a:latin typeface="Arial MT"/>
                <a:cs typeface="Arial MT"/>
              </a:rPr>
              <a:t>track</a:t>
            </a:r>
            <a:r>
              <a:rPr sz="1400" spc="-30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13294B"/>
                </a:solidFill>
                <a:latin typeface="Arial MT"/>
                <a:cs typeface="Arial MT"/>
              </a:rPr>
              <a:t>of</a:t>
            </a:r>
            <a:r>
              <a:rPr sz="1400" spc="-2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13294B"/>
                </a:solidFill>
                <a:latin typeface="Arial MT"/>
                <a:cs typeface="Arial MT"/>
              </a:rPr>
              <a:t>newer</a:t>
            </a:r>
            <a:r>
              <a:rPr sz="1400" spc="-2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13294B"/>
                </a:solidFill>
                <a:latin typeface="Arial MT"/>
                <a:cs typeface="Arial MT"/>
              </a:rPr>
              <a:t>signals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1" name="object 8">
            <a:extLst>
              <a:ext uri="{FF2B5EF4-FFF2-40B4-BE49-F238E27FC236}">
                <a16:creationId xmlns:a16="http://schemas.microsoft.com/office/drawing/2014/main" id="{1B71E107-F804-DBBD-1824-CE7C3D54C447}"/>
              </a:ext>
            </a:extLst>
          </p:cNvPr>
          <p:cNvSpPr txBox="1"/>
          <p:nvPr/>
        </p:nvSpPr>
        <p:spPr>
          <a:xfrm>
            <a:off x="614631" y="4173521"/>
            <a:ext cx="1333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10">
                <a:solidFill>
                  <a:srgbClr val="13294B"/>
                </a:solidFill>
                <a:latin typeface="Arial MT"/>
                <a:cs typeface="Arial MT"/>
              </a:rPr>
              <a:t>○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3" name="object 9">
            <a:extLst>
              <a:ext uri="{FF2B5EF4-FFF2-40B4-BE49-F238E27FC236}">
                <a16:creationId xmlns:a16="http://schemas.microsoft.com/office/drawing/2014/main" id="{EE1B0A58-0DCC-5155-D07C-D2E182679761}"/>
              </a:ext>
            </a:extLst>
          </p:cNvPr>
          <p:cNvSpPr txBox="1"/>
          <p:nvPr/>
        </p:nvSpPr>
        <p:spPr>
          <a:xfrm>
            <a:off x="1733284" y="4158867"/>
            <a:ext cx="102361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solidFill>
                  <a:srgbClr val="13294B"/>
                </a:solidFill>
                <a:latin typeface="Arial MT"/>
                <a:cs typeface="Arial MT"/>
              </a:rPr>
              <a:t>operations</a:t>
            </a:r>
            <a:r>
              <a:rPr sz="1400" spc="-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400" spc="-50">
                <a:solidFill>
                  <a:srgbClr val="13294B"/>
                </a:solidFill>
                <a:latin typeface="Arial MT"/>
                <a:cs typeface="Arial MT"/>
              </a:rPr>
              <a:t>&amp;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5" name="object 10">
            <a:extLst>
              <a:ext uri="{FF2B5EF4-FFF2-40B4-BE49-F238E27FC236}">
                <a16:creationId xmlns:a16="http://schemas.microsoft.com/office/drawing/2014/main" id="{AEF9A638-21F7-50C8-37DB-0EEA5EBC63BC}"/>
              </a:ext>
            </a:extLst>
          </p:cNvPr>
          <p:cNvSpPr txBox="1"/>
          <p:nvPr/>
        </p:nvSpPr>
        <p:spPr>
          <a:xfrm>
            <a:off x="3420770" y="4158867"/>
            <a:ext cx="7118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solidFill>
                  <a:srgbClr val="13294B"/>
                </a:solidFill>
                <a:latin typeface="Arial MT"/>
                <a:cs typeface="Arial MT"/>
              </a:rPr>
              <a:t>space</a:t>
            </a:r>
            <a:r>
              <a:rPr sz="1400" spc="-20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13294B"/>
                </a:solidFill>
                <a:latin typeface="Arial MT"/>
                <a:cs typeface="Arial MT"/>
              </a:rPr>
              <a:t>-</a:t>
            </a:r>
            <a:r>
              <a:rPr sz="1400" spc="-50">
                <a:solidFill>
                  <a:srgbClr val="13294B"/>
                </a:solidFill>
                <a:latin typeface="Arial MT"/>
                <a:cs typeface="Arial MT"/>
              </a:rPr>
              <a:t>&gt;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7" name="object 11">
            <a:extLst>
              <a:ext uri="{FF2B5EF4-FFF2-40B4-BE49-F238E27FC236}">
                <a16:creationId xmlns:a16="http://schemas.microsoft.com/office/drawing/2014/main" id="{82CE8456-4561-615F-1BFC-F4DC29397B60}"/>
              </a:ext>
            </a:extLst>
          </p:cNvPr>
          <p:cNvSpPr txBox="1"/>
          <p:nvPr/>
        </p:nvSpPr>
        <p:spPr>
          <a:xfrm>
            <a:off x="5042789" y="4158867"/>
            <a:ext cx="12020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solidFill>
                  <a:srgbClr val="13294B"/>
                </a:solidFill>
                <a:latin typeface="Arial MT"/>
                <a:cs typeface="Arial MT"/>
              </a:rPr>
              <a:t>operations</a:t>
            </a:r>
            <a:r>
              <a:rPr sz="1400" spc="-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400" spc="-25">
                <a:solidFill>
                  <a:srgbClr val="13294B"/>
                </a:solidFill>
                <a:latin typeface="Arial MT"/>
                <a:cs typeface="Arial MT"/>
              </a:rPr>
              <a:t>and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9" name="object 12">
            <a:extLst>
              <a:ext uri="{FF2B5EF4-FFF2-40B4-BE49-F238E27FC236}">
                <a16:creationId xmlns:a16="http://schemas.microsoft.com/office/drawing/2014/main" id="{D1786FE0-ADB5-E188-2AE7-D918FF90F6DA}"/>
              </a:ext>
            </a:extLst>
          </p:cNvPr>
          <p:cNvSpPr txBox="1"/>
          <p:nvPr/>
        </p:nvSpPr>
        <p:spPr>
          <a:xfrm>
            <a:off x="7154684" y="4158867"/>
            <a:ext cx="4997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>
                <a:solidFill>
                  <a:srgbClr val="13294B"/>
                </a:solidFill>
                <a:latin typeface="Arial MT"/>
                <a:cs typeface="Arial MT"/>
              </a:rPr>
              <a:t>space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61" name="object 13">
            <a:extLst>
              <a:ext uri="{FF2B5EF4-FFF2-40B4-BE49-F238E27FC236}">
                <a16:creationId xmlns:a16="http://schemas.microsoft.com/office/drawing/2014/main" id="{6938052A-58EC-3D9F-3C79-DCF1CE34390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3894" y="4224833"/>
            <a:ext cx="900176" cy="174751"/>
          </a:xfrm>
          <a:prstGeom prst="rect">
            <a:avLst/>
          </a:prstGeom>
        </p:spPr>
      </p:pic>
      <p:pic>
        <p:nvPicPr>
          <p:cNvPr id="63" name="object 14">
            <a:extLst>
              <a:ext uri="{FF2B5EF4-FFF2-40B4-BE49-F238E27FC236}">
                <a16:creationId xmlns:a16="http://schemas.microsoft.com/office/drawing/2014/main" id="{94CDCDE1-29A2-AC33-EF86-08EAF597A9A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56020" y="4162858"/>
            <a:ext cx="900175" cy="225551"/>
          </a:xfrm>
          <a:prstGeom prst="rect">
            <a:avLst/>
          </a:prstGeom>
        </p:spPr>
      </p:pic>
      <p:pic>
        <p:nvPicPr>
          <p:cNvPr id="65" name="object 15">
            <a:extLst>
              <a:ext uri="{FF2B5EF4-FFF2-40B4-BE49-F238E27FC236}">
                <a16:creationId xmlns:a16="http://schemas.microsoft.com/office/drawing/2014/main" id="{B4D09CE5-3167-7E25-027A-5EC5305944A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1799" y="4162856"/>
            <a:ext cx="759967" cy="298703"/>
          </a:xfrm>
          <a:prstGeom prst="rect">
            <a:avLst/>
          </a:prstGeom>
        </p:spPr>
      </p:pic>
      <p:pic>
        <p:nvPicPr>
          <p:cNvPr id="67" name="object 16">
            <a:extLst>
              <a:ext uri="{FF2B5EF4-FFF2-40B4-BE49-F238E27FC236}">
                <a16:creationId xmlns:a16="http://schemas.microsoft.com/office/drawing/2014/main" id="{75C219C6-71F8-6036-46B3-09AF2B7D65A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72237" y="4224833"/>
            <a:ext cx="672591" cy="174751"/>
          </a:xfrm>
          <a:prstGeom prst="rect">
            <a:avLst/>
          </a:prstGeom>
        </p:spPr>
      </p:pic>
      <p:pic>
        <p:nvPicPr>
          <p:cNvPr id="69" name="object 17" descr="A math problem with numbers&#10;&#10;AI-generated content may be incorrect.">
            <a:extLst>
              <a:ext uri="{FF2B5EF4-FFF2-40B4-BE49-F238E27FC236}">
                <a16:creationId xmlns:a16="http://schemas.microsoft.com/office/drawing/2014/main" id="{10800F09-A3A2-36BD-F7C3-576B20B38853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92305" y="1721749"/>
            <a:ext cx="3083549" cy="952347"/>
          </a:xfrm>
          <a:prstGeom prst="rect">
            <a:avLst/>
          </a:prstGeom>
        </p:spPr>
      </p:pic>
      <p:pic>
        <p:nvPicPr>
          <p:cNvPr id="71" name="object 18" descr="A grid with numbers and symbols&#10;&#10;AI-generated content may be incorrect.">
            <a:extLst>
              <a:ext uri="{FF2B5EF4-FFF2-40B4-BE49-F238E27FC236}">
                <a16:creationId xmlns:a16="http://schemas.microsoft.com/office/drawing/2014/main" id="{EEACE984-EFED-03F3-BF99-3F1902E4DAFF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53824" y="1628100"/>
            <a:ext cx="1220374" cy="1246400"/>
          </a:xfrm>
          <a:prstGeom prst="rect">
            <a:avLst/>
          </a:prstGeom>
        </p:spPr>
      </p:pic>
      <p:pic>
        <p:nvPicPr>
          <p:cNvPr id="73" name="object 19">
            <a:extLst>
              <a:ext uri="{FF2B5EF4-FFF2-40B4-BE49-F238E27FC236}">
                <a16:creationId xmlns:a16="http://schemas.microsoft.com/office/drawing/2014/main" id="{9866FA46-3A67-AE01-4719-095827C82FC2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94323" y="3047351"/>
            <a:ext cx="2946888" cy="91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06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50737"/>
            <a:ext cx="9144000" cy="49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149" y="1303383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F87FB344-E7E3-E8A2-24FB-A6D07ABEEFD7}"/>
              </a:ext>
            </a:extLst>
          </p:cNvPr>
          <p:cNvSpPr txBox="1"/>
          <p:nvPr/>
        </p:nvSpPr>
        <p:spPr>
          <a:xfrm>
            <a:off x="369277" y="454422"/>
            <a:ext cx="2313633" cy="42346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kern="1200" spc="-5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Other Related Works</a:t>
            </a:r>
            <a:endParaRPr lang="en-US" sz="2700" kern="1200" spc="-5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261F4929-AAC1-B054-A8A1-88B860A8981B}"/>
              </a:ext>
            </a:extLst>
          </p:cNvPr>
          <p:cNvSpPr txBox="1"/>
          <p:nvPr/>
        </p:nvSpPr>
        <p:spPr>
          <a:xfrm>
            <a:off x="3556512" y="454422"/>
            <a:ext cx="4810247" cy="4234656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pPr marL="363855" indent="-351155" algn="l" rtl="0">
              <a:lnSpc>
                <a:spcPct val="90000"/>
              </a:lnSpc>
              <a:spcBef>
                <a:spcPts val="100"/>
              </a:spcBef>
              <a:buClr>
                <a:schemeClr val="accent1"/>
              </a:buClr>
              <a:buFont typeface="Calibri" panose="020F0502020204030204" pitchFamily="34" charset="0"/>
              <a:buChar char="●"/>
              <a:tabLst>
                <a:tab pos="363855" algn="l"/>
              </a:tabLst>
            </a:pPr>
            <a:r>
              <a: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Linear</a:t>
            </a:r>
            <a:r>
              <a:rPr lang="en-US" kern="1200" spc="-5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attention</a:t>
            </a:r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363855" indent="-351155" algn="l" rtl="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  <a:buChar char="●"/>
              <a:tabLst>
                <a:tab pos="363855" algn="l"/>
              </a:tabLst>
            </a:pPr>
            <a:r>
              <a:rPr lang="en-US" kern="1200" spc="-25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H3</a:t>
            </a:r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363855" indent="-351155" algn="l" rtl="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  <a:buChar char="●"/>
              <a:tabLst>
                <a:tab pos="363855" algn="l"/>
              </a:tabLst>
            </a:pPr>
            <a:r>
              <a:rPr lang="en-US" kern="1200" spc="-1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Hyena</a:t>
            </a:r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363855" indent="-351155" algn="l" rtl="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  <a:buChar char="●"/>
              <a:tabLst>
                <a:tab pos="363855" algn="l"/>
              </a:tabLst>
            </a:pPr>
            <a:r>
              <a:rPr lang="en-US" kern="1200" spc="-1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RetNet</a:t>
            </a:r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363855" indent="-351155" algn="l" rtl="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  <a:buChar char="●"/>
              <a:tabLst>
                <a:tab pos="363855" algn="l"/>
              </a:tabLst>
            </a:pPr>
            <a:r>
              <a:rPr lang="en-US" kern="1200" spc="-2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RWKV</a:t>
            </a:r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363855" indent="-351155" algn="l" rtl="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  <a:buChar char="●"/>
              <a:tabLst>
                <a:tab pos="363855" algn="l"/>
              </a:tabLst>
            </a:pPr>
            <a:r>
              <a:rPr lang="en-US" kern="1200" spc="-5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…</a:t>
            </a:r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4464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314132-3B2D-A00B-1BEE-E23A849F1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454422"/>
            <a:ext cx="2313633" cy="4234656"/>
          </a:xfrm>
        </p:spPr>
        <p:txBody>
          <a:bodyPr anchor="ctr">
            <a:normAutofit/>
          </a:bodyPr>
          <a:lstStyle/>
          <a:p>
            <a:r>
              <a:rPr lang="en-US" sz="2700">
                <a:solidFill>
                  <a:srgbClr val="FFFFFF"/>
                </a:solidFill>
                <a:ea typeface="+mj-lt"/>
                <a:cs typeface="+mj-lt"/>
              </a:rPr>
              <a:t>Mamba’s Selective Structured SSM</a:t>
            </a:r>
            <a:endParaRPr lang="en-US" sz="270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ACAF3-3C25-00BF-FE2A-730B926C9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512" y="454422"/>
            <a:ext cx="4810247" cy="4234656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sz="1600" b="1">
                <a:ea typeface="+mn-lt"/>
                <a:cs typeface="+mn-lt"/>
              </a:rPr>
              <a:t>Selection mechanism:</a:t>
            </a:r>
            <a:endParaRPr lang="en-US" sz="1600" b="1">
              <a:ea typeface="Calibri" panose="020F0502020204030204"/>
              <a:cs typeface="Calibri" panose="020F0502020204030204"/>
            </a:endParaRPr>
          </a:p>
          <a:p>
            <a:r>
              <a:rPr lang="en-US" sz="1600">
                <a:ea typeface="+mn-lt"/>
                <a:cs typeface="+mn-lt"/>
              </a:rPr>
              <a:t>  1. Project xₖ → gₖ ∈ [0,1]ⁿ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 2. Modulate base matrices: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  Aₖ = gₖ ⊙ </a:t>
            </a:r>
            <a:r>
              <a:rPr lang="en-US" sz="1600" err="1">
                <a:ea typeface="+mn-lt"/>
                <a:cs typeface="+mn-lt"/>
              </a:rPr>
              <a:t>A_base</a:t>
            </a:r>
            <a:r>
              <a:rPr lang="en-US" sz="1600">
                <a:ea typeface="+mn-lt"/>
                <a:cs typeface="+mn-lt"/>
              </a:rPr>
              <a:t>  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  Bₖ = gₖ ⊙ </a:t>
            </a:r>
            <a:r>
              <a:rPr lang="en-US" sz="1600" err="1">
                <a:ea typeface="+mn-lt"/>
                <a:cs typeface="+mn-lt"/>
              </a:rPr>
              <a:t>B_base</a:t>
            </a:r>
            <a:r>
              <a:rPr lang="en-US" sz="1600">
                <a:ea typeface="+mn-lt"/>
                <a:cs typeface="+mn-lt"/>
              </a:rPr>
              <a:t>  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  Cₖ = gₖ ⊙ </a:t>
            </a:r>
            <a:r>
              <a:rPr lang="en-US" sz="1600" err="1">
                <a:ea typeface="+mn-lt"/>
                <a:cs typeface="+mn-lt"/>
              </a:rPr>
              <a:t>C_base</a:t>
            </a:r>
            <a:endParaRPr lang="en-US" sz="1600" err="1"/>
          </a:p>
          <a:p>
            <a:r>
              <a:rPr lang="en-US" sz="1600">
                <a:ea typeface="+mn-lt"/>
                <a:cs typeface="+mn-lt"/>
              </a:rPr>
              <a:t>  3. Recurrence: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  hₖ = Aₖ hₖ₋₁ + Bₖ xₖ  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  yₖ = Cₖ hₖ</a:t>
            </a:r>
            <a:endParaRPr lang="en-US" sz="1600"/>
          </a:p>
          <a:p>
            <a:pPr marL="0" indent="0">
              <a:buNone/>
            </a:pP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b="1">
                <a:ea typeface="+mn-lt"/>
                <a:cs typeface="+mn-lt"/>
              </a:rPr>
              <a:t>Effect</a:t>
            </a:r>
            <a:r>
              <a:rPr lang="en-US" sz="1600">
                <a:ea typeface="+mn-lt"/>
                <a:cs typeface="+mn-lt"/>
              </a:rPr>
              <a:t>: token-dependent gating → content-based filtering</a:t>
            </a:r>
            <a:endParaRPr lang="en-US" sz="16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66142362-2774-10FD-7F2F-E223AD9A6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631" y="731987"/>
            <a:ext cx="2455653" cy="54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989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3EDE2-2121-C963-552B-2790331E6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latin typeface="Arial"/>
                <a:ea typeface="Calibri"/>
                <a:cs typeface="Arial"/>
              </a:rPr>
              <a:t>Selective State Space Models -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FDE4A-792A-67AE-793D-CB0154BEB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Autofit/>
          </a:bodyPr>
          <a:lstStyle/>
          <a:p>
            <a:endParaRPr lang="en-US" sz="1600">
              <a:latin typeface="Arial"/>
              <a:ea typeface="Calibri"/>
              <a:cs typeface="Arial"/>
            </a:endParaRPr>
          </a:p>
          <a:p>
            <a:r>
              <a:rPr lang="en-US" sz="1600" b="1">
                <a:latin typeface="Arial"/>
                <a:ea typeface="Calibri"/>
                <a:cs typeface="Arial"/>
              </a:rPr>
              <a:t>Challenge</a:t>
            </a:r>
            <a:r>
              <a:rPr lang="en-US" sz="1600">
                <a:latin typeface="Arial"/>
                <a:ea typeface="Calibri"/>
                <a:cs typeface="Arial"/>
              </a:rPr>
              <a:t>: Sequence models must summarize long contexts into compact states.</a:t>
            </a:r>
          </a:p>
          <a:p>
            <a:r>
              <a:rPr lang="en-US" sz="1600" b="1">
                <a:latin typeface="Arial"/>
                <a:ea typeface="Calibri"/>
                <a:cs typeface="Arial"/>
              </a:rPr>
              <a:t>Attention models</a:t>
            </a:r>
            <a:r>
              <a:rPr lang="en-US" sz="1600">
                <a:latin typeface="Arial"/>
                <a:ea typeface="Calibri"/>
                <a:cs typeface="Arial"/>
              </a:rPr>
              <a:t> (Transformers) are effective but inefficient — they store </a:t>
            </a:r>
            <a:r>
              <a:rPr lang="en-US" sz="1600" i="1">
                <a:latin typeface="Arial"/>
                <a:ea typeface="Calibri"/>
                <a:cs typeface="Arial"/>
              </a:rPr>
              <a:t>all</a:t>
            </a:r>
            <a:r>
              <a:rPr lang="en-US" sz="1600">
                <a:latin typeface="Arial"/>
                <a:ea typeface="Calibri"/>
                <a:cs typeface="Arial"/>
              </a:rPr>
              <a:t> context at each step.</a:t>
            </a:r>
          </a:p>
          <a:p>
            <a:r>
              <a:rPr lang="en-US" sz="1600" b="1">
                <a:latin typeface="Arial"/>
                <a:ea typeface="Calibri"/>
                <a:cs typeface="Arial"/>
              </a:rPr>
              <a:t>Recurrent models</a:t>
            </a:r>
            <a:r>
              <a:rPr lang="en-US" sz="1600">
                <a:latin typeface="Arial"/>
                <a:ea typeface="Calibri"/>
                <a:cs typeface="Arial"/>
              </a:rPr>
              <a:t> are efficient (constant memory) but lose information over long sequences.</a:t>
            </a:r>
          </a:p>
          <a:p>
            <a:r>
              <a:rPr lang="en-US" sz="1600" b="1">
                <a:latin typeface="Arial"/>
                <a:ea typeface="Calibri"/>
                <a:cs typeface="Arial"/>
              </a:rPr>
              <a:t>Key Idea</a:t>
            </a:r>
            <a:r>
              <a:rPr lang="en-US" sz="1600">
                <a:latin typeface="Arial"/>
                <a:ea typeface="Calibri"/>
                <a:cs typeface="Arial"/>
              </a:rPr>
              <a:t>: Introduce a </a:t>
            </a:r>
            <a:r>
              <a:rPr lang="en-US" sz="1600" b="1">
                <a:latin typeface="Arial"/>
                <a:ea typeface="Calibri"/>
                <a:cs typeface="Arial"/>
              </a:rPr>
              <a:t>selection mechanism</a:t>
            </a:r>
            <a:r>
              <a:rPr lang="en-US" sz="1600">
                <a:latin typeface="Arial"/>
                <a:ea typeface="Calibri"/>
                <a:cs typeface="Arial"/>
              </a:rPr>
              <a:t> — dynamically choose </a:t>
            </a:r>
            <a:r>
              <a:rPr lang="en-US" sz="1600" i="1">
                <a:latin typeface="Arial"/>
                <a:ea typeface="Calibri"/>
                <a:cs typeface="Arial"/>
              </a:rPr>
              <a:t>what</a:t>
            </a:r>
            <a:r>
              <a:rPr lang="en-US" sz="1600">
                <a:latin typeface="Arial"/>
                <a:ea typeface="Calibri"/>
                <a:cs typeface="Arial"/>
              </a:rPr>
              <a:t> information to keep or discard based on input.</a:t>
            </a:r>
          </a:p>
          <a:p>
            <a:endParaRPr lang="en-US" sz="1600"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0164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2410A-96F2-FFD8-C615-AD7514295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latin typeface="Arial"/>
                <a:ea typeface="+mj-lt"/>
                <a:cs typeface="Arial"/>
              </a:rPr>
              <a:t>Synthetic Tasks That Motivate Selection</a:t>
            </a:r>
            <a:endParaRPr lang="en-US" sz="2800" b="1">
              <a:latin typeface="Arial"/>
              <a:ea typeface="Calibri Light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21D97-080C-92F2-FEA1-3AF76DD68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US" sz="1600" b="1">
                <a:latin typeface="Arial"/>
                <a:ea typeface="+mn-lt"/>
                <a:cs typeface="Arial"/>
              </a:rPr>
              <a:t>Selective Copying Task</a:t>
            </a:r>
            <a:r>
              <a:rPr lang="en-US" sz="1600">
                <a:latin typeface="Arial"/>
                <a:ea typeface="+mn-lt"/>
                <a:cs typeface="Arial"/>
              </a:rPr>
              <a:t>:</a:t>
            </a:r>
            <a:endParaRPr lang="en-US" sz="1600">
              <a:latin typeface="Arial"/>
              <a:ea typeface="Calibri" panose="020F0502020204030204"/>
              <a:cs typeface="Arial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1600">
                <a:latin typeface="Arial"/>
                <a:ea typeface="+mn-lt"/>
                <a:cs typeface="Arial"/>
              </a:rPr>
              <a:t>Randomize the position of important tokens.</a:t>
            </a:r>
            <a:endParaRPr lang="en-US" sz="1600">
              <a:latin typeface="Arial"/>
              <a:ea typeface="Calibri" panose="020F0502020204030204"/>
              <a:cs typeface="Arial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1600">
                <a:latin typeface="Arial"/>
                <a:ea typeface="+mn-lt"/>
                <a:cs typeface="Arial"/>
              </a:rPr>
              <a:t>Requires content-based memory — not just time-based recurrence.</a:t>
            </a:r>
            <a:endParaRPr lang="en-US" sz="1600">
              <a:latin typeface="Arial"/>
              <a:ea typeface="Calibri" panose="020F0502020204030204"/>
              <a:cs typeface="Arial"/>
            </a:endParaRPr>
          </a:p>
          <a:p>
            <a:pPr marL="0" indent="0">
              <a:buNone/>
            </a:pPr>
            <a:r>
              <a:rPr lang="en-US" sz="1600" b="1">
                <a:latin typeface="Arial"/>
                <a:ea typeface="+mn-lt"/>
                <a:cs typeface="Arial"/>
              </a:rPr>
              <a:t>Induction Heads Task</a:t>
            </a:r>
            <a:r>
              <a:rPr lang="en-US" sz="1600">
                <a:latin typeface="Arial"/>
                <a:ea typeface="+mn-lt"/>
                <a:cs typeface="Arial"/>
              </a:rPr>
              <a:t>:</a:t>
            </a:r>
            <a:endParaRPr lang="en-US" sz="1600">
              <a:latin typeface="Arial"/>
              <a:ea typeface="Calibri" panose="020F0502020204030204"/>
              <a:cs typeface="Arial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1600">
                <a:latin typeface="Arial"/>
                <a:ea typeface="+mn-lt"/>
                <a:cs typeface="Arial"/>
              </a:rPr>
              <a:t>Model must retrieve information based on matching context (like in LLMs).</a:t>
            </a:r>
            <a:endParaRPr lang="en-US" sz="1600">
              <a:latin typeface="Arial"/>
              <a:ea typeface="Calibri" panose="020F0502020204030204"/>
              <a:cs typeface="Arial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1600">
                <a:latin typeface="Arial"/>
                <a:ea typeface="+mn-lt"/>
                <a:cs typeface="Arial"/>
              </a:rPr>
              <a:t>Exposes the need for input-sensitive memory updates.</a:t>
            </a:r>
            <a:endParaRPr lang="en-US" sz="1600">
              <a:latin typeface="Arial"/>
              <a:ea typeface="Calibri"/>
              <a:cs typeface="Arial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US" sz="1600"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706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F46A2BD0-1576-6EDB-F437-F5298D14F0E6}"/>
              </a:ext>
            </a:extLst>
          </p:cNvPr>
          <p:cNvSpPr txBox="1"/>
          <p:nvPr/>
        </p:nvSpPr>
        <p:spPr>
          <a:xfrm>
            <a:off x="243784" y="1713023"/>
            <a:ext cx="4533853" cy="9797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100"/>
              </a:spcBef>
              <a:buChar char="●"/>
              <a:tabLst>
                <a:tab pos="363855" algn="l"/>
              </a:tabLst>
            </a:pPr>
            <a:r>
              <a:rPr sz="1600" spc="-10">
                <a:solidFill>
                  <a:srgbClr val="13294B"/>
                </a:solidFill>
                <a:latin typeface="Arial"/>
                <a:cs typeface="Arial"/>
              </a:rPr>
              <a:t>Motivation:</a:t>
            </a:r>
            <a:r>
              <a:rPr sz="1600" spc="-20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600">
                <a:solidFill>
                  <a:srgbClr val="13294B"/>
                </a:solidFill>
                <a:latin typeface="Arial"/>
                <a:cs typeface="Arial"/>
              </a:rPr>
              <a:t>Selection</a:t>
            </a:r>
            <a:r>
              <a:rPr sz="1600" spc="-20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600">
                <a:solidFill>
                  <a:srgbClr val="13294B"/>
                </a:solidFill>
                <a:latin typeface="Arial"/>
                <a:cs typeface="Arial"/>
              </a:rPr>
              <a:t>as</a:t>
            </a:r>
            <a:r>
              <a:rPr sz="1600" spc="-15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600">
                <a:solidFill>
                  <a:srgbClr val="13294B"/>
                </a:solidFill>
                <a:latin typeface="Arial"/>
                <a:cs typeface="Arial"/>
              </a:rPr>
              <a:t>a</a:t>
            </a:r>
            <a:r>
              <a:rPr sz="1600" spc="-20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600">
                <a:solidFill>
                  <a:srgbClr val="13294B"/>
                </a:solidFill>
                <a:latin typeface="Arial"/>
                <a:cs typeface="Arial"/>
              </a:rPr>
              <a:t>Means</a:t>
            </a:r>
            <a:r>
              <a:rPr sz="1600" spc="-15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600">
                <a:solidFill>
                  <a:srgbClr val="13294B"/>
                </a:solidFill>
                <a:latin typeface="Arial"/>
                <a:cs typeface="Arial"/>
              </a:rPr>
              <a:t>of</a:t>
            </a:r>
            <a:r>
              <a:rPr sz="1600" spc="-20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600" spc="-10">
                <a:solidFill>
                  <a:srgbClr val="13294B"/>
                </a:solidFill>
                <a:latin typeface="Arial"/>
                <a:cs typeface="Arial"/>
              </a:rPr>
              <a:t>Compression</a:t>
            </a:r>
            <a:endParaRPr sz="1600">
              <a:latin typeface="Arial"/>
              <a:cs typeface="Arial"/>
            </a:endParaRPr>
          </a:p>
          <a:p>
            <a:pPr marL="12700">
              <a:spcBef>
                <a:spcPts val="100"/>
              </a:spcBef>
              <a:tabLst>
                <a:tab pos="821055" algn="l"/>
              </a:tabLst>
            </a:pPr>
            <a:endParaRPr lang="en-US" sz="1600" spc="-10">
              <a:solidFill>
                <a:srgbClr val="13294B"/>
              </a:solidFill>
              <a:latin typeface="Arial"/>
              <a:cs typeface="Arial"/>
            </a:endParaRPr>
          </a:p>
          <a:p>
            <a:pPr marL="821055" lvl="1" indent="-335915">
              <a:lnSpc>
                <a:spcPct val="100000"/>
              </a:lnSpc>
              <a:spcBef>
                <a:spcPts val="5"/>
              </a:spcBef>
              <a:buChar char="○"/>
              <a:tabLst>
                <a:tab pos="821055" algn="l"/>
              </a:tabLst>
            </a:pPr>
            <a:r>
              <a:rPr sz="1400">
                <a:solidFill>
                  <a:srgbClr val="13294B"/>
                </a:solidFill>
                <a:latin typeface="Arial"/>
                <a:cs typeface="Arial"/>
              </a:rPr>
              <a:t>Selective</a:t>
            </a:r>
            <a:r>
              <a:rPr sz="1400" spc="-40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400">
                <a:solidFill>
                  <a:srgbClr val="13294B"/>
                </a:solidFill>
                <a:latin typeface="Arial"/>
                <a:cs typeface="Arial"/>
              </a:rPr>
              <a:t>Copying</a:t>
            </a:r>
            <a:r>
              <a:rPr sz="1400" spc="-40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400" spc="-20">
                <a:solidFill>
                  <a:srgbClr val="13294B"/>
                </a:solidFill>
                <a:latin typeface="Arial"/>
                <a:cs typeface="Arial"/>
              </a:rPr>
              <a:t>task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34A98AB4-79D7-3960-2379-6810D9774D05}"/>
              </a:ext>
            </a:extLst>
          </p:cNvPr>
          <p:cNvSpPr txBox="1"/>
          <p:nvPr/>
        </p:nvSpPr>
        <p:spPr>
          <a:xfrm>
            <a:off x="739189" y="3342464"/>
            <a:ext cx="202183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Char char="○"/>
              <a:tabLst>
                <a:tab pos="347980" algn="l"/>
              </a:tabLst>
            </a:pPr>
            <a:r>
              <a:rPr sz="1400">
                <a:solidFill>
                  <a:srgbClr val="13294B"/>
                </a:solidFill>
                <a:latin typeface="Arial"/>
                <a:cs typeface="Arial"/>
              </a:rPr>
              <a:t>Induction</a:t>
            </a:r>
            <a:r>
              <a:rPr sz="1400" spc="-25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400">
                <a:solidFill>
                  <a:srgbClr val="13294B"/>
                </a:solidFill>
                <a:latin typeface="Arial"/>
                <a:cs typeface="Arial"/>
              </a:rPr>
              <a:t>Heads</a:t>
            </a:r>
            <a:r>
              <a:rPr sz="1400" spc="-25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400" spc="-20">
                <a:solidFill>
                  <a:srgbClr val="13294B"/>
                </a:solidFill>
                <a:latin typeface="Arial"/>
                <a:cs typeface="Arial"/>
              </a:rPr>
              <a:t>task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FDED5717-8A3B-6782-2C51-446754C3DB10}"/>
              </a:ext>
            </a:extLst>
          </p:cNvPr>
          <p:cNvSpPr txBox="1"/>
          <p:nvPr/>
        </p:nvSpPr>
        <p:spPr>
          <a:xfrm>
            <a:off x="739189" y="4417865"/>
            <a:ext cx="65944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Char char="○"/>
              <a:tabLst>
                <a:tab pos="347980" algn="l"/>
              </a:tabLst>
            </a:pPr>
            <a:r>
              <a:rPr sz="1400" spc="-10">
                <a:solidFill>
                  <a:srgbClr val="13294B"/>
                </a:solidFill>
                <a:latin typeface="Arial"/>
                <a:cs typeface="Arial"/>
              </a:rPr>
              <a:t>LTI</a:t>
            </a:r>
            <a:r>
              <a:rPr sz="1400" spc="-25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400">
                <a:solidFill>
                  <a:srgbClr val="13294B"/>
                </a:solidFill>
                <a:latin typeface="Arial"/>
                <a:cs typeface="Arial"/>
              </a:rPr>
              <a:t>fails</a:t>
            </a:r>
            <a:r>
              <a:rPr sz="1400" spc="-25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400">
                <a:solidFill>
                  <a:srgbClr val="13294B"/>
                </a:solidFill>
                <a:latin typeface="Arial"/>
                <a:cs typeface="Arial"/>
              </a:rPr>
              <a:t>as</a:t>
            </a:r>
            <a:r>
              <a:rPr sz="1400" spc="-20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400">
                <a:solidFill>
                  <a:srgbClr val="13294B"/>
                </a:solidFill>
                <a:latin typeface="Arial"/>
                <a:cs typeface="Arial"/>
              </a:rPr>
              <a:t>the</a:t>
            </a:r>
            <a:r>
              <a:rPr sz="1400" spc="-25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400">
                <a:solidFill>
                  <a:srgbClr val="13294B"/>
                </a:solidFill>
                <a:latin typeface="Arial"/>
                <a:cs typeface="Arial"/>
              </a:rPr>
              <a:t>constant</a:t>
            </a:r>
            <a:r>
              <a:rPr sz="1400" spc="-25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400">
                <a:solidFill>
                  <a:srgbClr val="13294B"/>
                </a:solidFill>
                <a:latin typeface="Arial"/>
                <a:cs typeface="Arial"/>
              </a:rPr>
              <a:t>(A,</a:t>
            </a:r>
            <a:r>
              <a:rPr sz="1400" spc="-20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400">
                <a:solidFill>
                  <a:srgbClr val="13294B"/>
                </a:solidFill>
                <a:latin typeface="Arial"/>
                <a:cs typeface="Arial"/>
              </a:rPr>
              <a:t>B,</a:t>
            </a:r>
            <a:r>
              <a:rPr sz="1400" spc="-25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400">
                <a:solidFill>
                  <a:srgbClr val="13294B"/>
                </a:solidFill>
                <a:latin typeface="Arial"/>
                <a:cs typeface="Arial"/>
              </a:rPr>
              <a:t>C)</a:t>
            </a:r>
            <a:r>
              <a:rPr sz="1400" spc="-20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400">
                <a:solidFill>
                  <a:srgbClr val="13294B"/>
                </a:solidFill>
                <a:latin typeface="Arial"/>
                <a:cs typeface="Arial"/>
              </a:rPr>
              <a:t>cannot</a:t>
            </a:r>
            <a:r>
              <a:rPr sz="1400" spc="-25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400">
                <a:solidFill>
                  <a:srgbClr val="13294B"/>
                </a:solidFill>
                <a:latin typeface="Arial"/>
                <a:cs typeface="Arial"/>
              </a:rPr>
              <a:t>let</a:t>
            </a:r>
            <a:r>
              <a:rPr sz="1400" spc="-25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400">
                <a:solidFill>
                  <a:srgbClr val="13294B"/>
                </a:solidFill>
                <a:latin typeface="Arial"/>
                <a:cs typeface="Arial"/>
              </a:rPr>
              <a:t>them</a:t>
            </a:r>
            <a:r>
              <a:rPr sz="1400" spc="-20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400">
                <a:solidFill>
                  <a:srgbClr val="13294B"/>
                </a:solidFill>
                <a:latin typeface="Arial"/>
                <a:cs typeface="Arial"/>
              </a:rPr>
              <a:t>select</a:t>
            </a:r>
            <a:r>
              <a:rPr sz="1400" spc="-25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400">
                <a:solidFill>
                  <a:srgbClr val="13294B"/>
                </a:solidFill>
                <a:latin typeface="Arial"/>
                <a:cs typeface="Arial"/>
              </a:rPr>
              <a:t>the</a:t>
            </a:r>
            <a:r>
              <a:rPr sz="1400" spc="-25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400">
                <a:solidFill>
                  <a:srgbClr val="13294B"/>
                </a:solidFill>
                <a:latin typeface="Arial"/>
                <a:cs typeface="Arial"/>
              </a:rPr>
              <a:t>correct</a:t>
            </a:r>
            <a:r>
              <a:rPr sz="1400" spc="-20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400" spc="-10">
                <a:solidFill>
                  <a:srgbClr val="13294B"/>
                </a:solidFill>
                <a:latin typeface="Arial"/>
                <a:cs typeface="Arial"/>
              </a:rPr>
              <a:t>information.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0877C9A0-4A59-A1E2-4231-C3BC38474C4E}"/>
              </a:ext>
            </a:extLst>
          </p:cNvPr>
          <p:cNvSpPr txBox="1">
            <a:spLocks/>
          </p:cNvSpPr>
          <p:nvPr/>
        </p:nvSpPr>
        <p:spPr>
          <a:xfrm>
            <a:off x="2368934" y="744969"/>
            <a:ext cx="4555490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>
                <a:solidFill>
                  <a:schemeClr val="tx1"/>
                </a:solidFill>
              </a:rPr>
              <a:t>Mamba:</a:t>
            </a:r>
            <a:r>
              <a:rPr lang="en-US" sz="2800" spc="-25">
                <a:solidFill>
                  <a:schemeClr val="tx1"/>
                </a:solidFill>
              </a:rPr>
              <a:t> </a:t>
            </a:r>
            <a:r>
              <a:rPr lang="en-US" sz="2800">
                <a:solidFill>
                  <a:schemeClr val="tx1"/>
                </a:solidFill>
              </a:rPr>
              <a:t>Selective</a:t>
            </a:r>
            <a:r>
              <a:rPr lang="en-US" sz="2800" spc="-25">
                <a:solidFill>
                  <a:schemeClr val="tx1"/>
                </a:solidFill>
              </a:rPr>
              <a:t> SSM</a:t>
            </a:r>
          </a:p>
        </p:txBody>
      </p:sp>
      <p:pic>
        <p:nvPicPr>
          <p:cNvPr id="17" name="object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446DE7-51CA-D7BE-E67C-24304A5AC69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8194" y="1877362"/>
            <a:ext cx="3675516" cy="763475"/>
          </a:xfrm>
          <a:prstGeom prst="rect">
            <a:avLst/>
          </a:prstGeom>
        </p:spPr>
      </p:pic>
      <p:pic>
        <p:nvPicPr>
          <p:cNvPr id="19" name="object 10" descr="A screenshot of a math test&#10;&#10;AI-generated content may be incorrect.">
            <a:extLst>
              <a:ext uri="{FF2B5EF4-FFF2-40B4-BE49-F238E27FC236}">
                <a16:creationId xmlns:a16="http://schemas.microsoft.com/office/drawing/2014/main" id="{FA325BA9-158A-D472-8AF8-B4D2B84A06A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01453" y="2968693"/>
            <a:ext cx="3951818" cy="130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76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6E4FEA-B9E3-DF71-DA0B-F32189AEC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454422"/>
            <a:ext cx="2313633" cy="4234656"/>
          </a:xfrm>
        </p:spPr>
        <p:txBody>
          <a:bodyPr anchor="ctr">
            <a:normAutofit/>
          </a:bodyPr>
          <a:lstStyle/>
          <a:p>
            <a:r>
              <a:rPr lang="en-US" sz="2700" b="1">
                <a:solidFill>
                  <a:srgbClr val="FFFFFF"/>
                </a:solidFill>
                <a:latin typeface="Arial"/>
                <a:ea typeface="+mj-lt"/>
                <a:cs typeface="Arial"/>
              </a:rPr>
              <a:t>Limitations of LTI (Linear Time-Invariant) Models</a:t>
            </a:r>
            <a:endParaRPr lang="en-US" sz="2700" b="1">
              <a:solidFill>
                <a:srgbClr val="FFFFFF"/>
              </a:solidFill>
              <a:latin typeface="Arial"/>
              <a:ea typeface="Calibri Light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E9497-BE72-8AE2-9C9F-C03E6789A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512" y="454422"/>
            <a:ext cx="4810247" cy="4234656"/>
          </a:xfrm>
        </p:spPr>
        <p:txBody>
          <a:bodyPr vert="horz" lIns="0" tIns="45720" rIns="0" bIns="45720" rtlCol="0" anchor="ctr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US">
                <a:latin typeface="Arial"/>
                <a:ea typeface="+mn-lt"/>
                <a:cs typeface="Arial"/>
              </a:rPr>
              <a:t>LTI models have </a:t>
            </a:r>
            <a:r>
              <a:rPr lang="en-US" b="1">
                <a:latin typeface="Arial"/>
                <a:ea typeface="+mn-lt"/>
                <a:cs typeface="Arial"/>
              </a:rPr>
              <a:t>fixed</a:t>
            </a:r>
            <a:r>
              <a:rPr lang="en-US">
                <a:latin typeface="Arial"/>
                <a:ea typeface="+mn-lt"/>
                <a:cs typeface="Arial"/>
              </a:rPr>
              <a:t> dynamics over time — they cannot adapt based on input content.</a:t>
            </a:r>
            <a:endParaRPr lang="en-US">
              <a:latin typeface="Arial"/>
              <a:ea typeface="Calibri" panose="020F0502020204030204"/>
              <a:cs typeface="Arial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latin typeface="Arial"/>
                <a:ea typeface="+mn-lt"/>
                <a:cs typeface="Arial"/>
              </a:rPr>
              <a:t>Global convolution methods can solve fixed-spacing tasks but fail when input significance varies.</a:t>
            </a:r>
            <a:endParaRPr lang="en-US">
              <a:latin typeface="Arial"/>
              <a:ea typeface="Calibri" panose="020F0502020204030204"/>
              <a:cs typeface="Arial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b="1">
                <a:latin typeface="Arial"/>
                <a:ea typeface="+mn-lt"/>
                <a:cs typeface="Arial"/>
              </a:rPr>
              <a:t>Problem</a:t>
            </a:r>
            <a:r>
              <a:rPr lang="en-US">
                <a:latin typeface="Arial"/>
                <a:ea typeface="+mn-lt"/>
                <a:cs typeface="Arial"/>
              </a:rPr>
              <a:t>: Without input-driven dynamics, models can't properly compress or filter information.</a:t>
            </a:r>
            <a:endParaRPr lang="en-US">
              <a:latin typeface="Arial"/>
              <a:ea typeface="Calibri" panose="020F0502020204030204"/>
              <a:cs typeface="Arial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b="1">
                <a:latin typeface="Arial"/>
                <a:ea typeface="+mn-lt"/>
                <a:cs typeface="Arial"/>
              </a:rPr>
              <a:t>Solution</a:t>
            </a:r>
            <a:r>
              <a:rPr lang="en-US">
                <a:latin typeface="Arial"/>
                <a:ea typeface="+mn-lt"/>
                <a:cs typeface="Arial"/>
              </a:rPr>
              <a:t>: Move beyond LTI — make dynamics depend on the input itself.</a:t>
            </a:r>
            <a:endParaRPr lang="en-US">
              <a:latin typeface="Arial"/>
              <a:ea typeface="Calibri"/>
              <a:cs typeface="Arial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US"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401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3EF69-E647-F2B8-695B-5CAD60A98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4952"/>
            <a:ext cx="7543800" cy="1088068"/>
          </a:xfrm>
        </p:spPr>
        <p:txBody>
          <a:bodyPr>
            <a:normAutofit/>
          </a:bodyPr>
          <a:lstStyle/>
          <a:p>
            <a:r>
              <a:rPr lang="en-US" sz="3700" b="1">
                <a:latin typeface="Arial"/>
                <a:ea typeface="+mj-lt"/>
                <a:cs typeface="Arial"/>
              </a:rPr>
              <a:t>Adding Selectivity to State Space Models</a:t>
            </a:r>
            <a:endParaRPr lang="en-US" sz="3700" b="1">
              <a:latin typeface="Arial"/>
              <a:cs typeface="Arial"/>
            </a:endParaRP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FC3BC45C-618D-7AF2-6051-240D9AA518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7231678"/>
              </p:ext>
            </p:extLst>
          </p:nvPr>
        </p:nvGraphicFramePr>
        <p:xfrm>
          <a:off x="822722" y="1573886"/>
          <a:ext cx="7543800" cy="2839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9711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27D2C-11F7-41F2-07EB-47720230A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>
                <a:latin typeface="Arial"/>
                <a:ea typeface="+mj-lt"/>
                <a:cs typeface="Arial"/>
              </a:rPr>
              <a:t>Selective SSM: Algorithms Compared</a:t>
            </a:r>
            <a:endParaRPr lang="en-US" sz="2800" b="1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4060C-5B1D-01A3-6082-FDBF16340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sz="1600" b="1">
                <a:latin typeface="Arial"/>
                <a:ea typeface="+mn-lt"/>
                <a:cs typeface="Arial"/>
              </a:rPr>
              <a:t>Algorithm 1</a:t>
            </a:r>
            <a:r>
              <a:rPr lang="en-US" sz="1600">
                <a:latin typeface="Arial"/>
                <a:ea typeface="+mn-lt"/>
                <a:cs typeface="Arial"/>
              </a:rPr>
              <a:t>: SSM without selection (S4 model)</a:t>
            </a:r>
            <a:endParaRPr lang="en-US" sz="1600">
              <a:latin typeface="Arial"/>
              <a:ea typeface="Calibri" panose="020F0502020204030204"/>
              <a:cs typeface="Arial"/>
            </a:endParaRPr>
          </a:p>
          <a:p>
            <a:r>
              <a:rPr lang="en-US" sz="1600">
                <a:latin typeface="Arial"/>
                <a:ea typeface="+mn-lt"/>
                <a:cs typeface="Arial"/>
              </a:rPr>
              <a:t>Parameters fixed across time → simple to compute.</a:t>
            </a:r>
            <a:endParaRPr lang="en-US" sz="1600">
              <a:latin typeface="Arial"/>
              <a:cs typeface="Arial"/>
            </a:endParaRPr>
          </a:p>
          <a:p>
            <a:r>
              <a:rPr lang="en-US" sz="1600" b="1">
                <a:latin typeface="Arial"/>
                <a:ea typeface="+mn-lt"/>
                <a:cs typeface="Arial"/>
              </a:rPr>
              <a:t>Algorithm 2</a:t>
            </a:r>
            <a:r>
              <a:rPr lang="en-US" sz="1600">
                <a:latin typeface="Arial"/>
                <a:ea typeface="+mn-lt"/>
                <a:cs typeface="Arial"/>
              </a:rPr>
              <a:t>: SSM with selection (S6 model)</a:t>
            </a:r>
            <a:endParaRPr lang="en-US" sz="1600">
              <a:latin typeface="Arial"/>
              <a:cs typeface="Arial"/>
            </a:endParaRPr>
          </a:p>
          <a:p>
            <a:r>
              <a:rPr lang="en-US" sz="1600">
                <a:latin typeface="Arial"/>
                <a:ea typeface="+mn-lt"/>
                <a:cs typeface="Arial"/>
              </a:rPr>
              <a:t>Parameters vary with input → requires dynamic computation at each timestep.</a:t>
            </a:r>
            <a:endParaRPr lang="en-US" sz="1600">
              <a:latin typeface="Arial"/>
              <a:cs typeface="Arial"/>
            </a:endParaRPr>
          </a:p>
          <a:p>
            <a:r>
              <a:rPr lang="en-US" sz="1600" b="1">
                <a:latin typeface="Arial"/>
                <a:ea typeface="+mn-lt"/>
                <a:cs typeface="Arial"/>
              </a:rPr>
              <a:t>Key difference</a:t>
            </a:r>
            <a:r>
              <a:rPr lang="en-US" sz="1600">
                <a:latin typeface="Arial"/>
                <a:ea typeface="+mn-lt"/>
                <a:cs typeface="Arial"/>
              </a:rPr>
              <a:t>:</a:t>
            </a:r>
            <a:endParaRPr lang="en-US" sz="1600">
              <a:latin typeface="Arial"/>
              <a:cs typeface="Arial"/>
            </a:endParaRPr>
          </a:p>
          <a:p>
            <a:r>
              <a:rPr lang="en-US" sz="1600" b="1">
                <a:latin typeface="Arial"/>
                <a:ea typeface="+mn-lt"/>
                <a:cs typeface="Arial"/>
              </a:rPr>
              <a:t>S4</a:t>
            </a:r>
            <a:r>
              <a:rPr lang="en-US" sz="1600">
                <a:latin typeface="Arial"/>
                <a:ea typeface="+mn-lt"/>
                <a:cs typeface="Arial"/>
              </a:rPr>
              <a:t> = time-invariant → convolution/recurrent computation.</a:t>
            </a:r>
            <a:endParaRPr lang="en-US" sz="1600">
              <a:latin typeface="Arial"/>
              <a:cs typeface="Arial"/>
            </a:endParaRPr>
          </a:p>
          <a:p>
            <a:r>
              <a:rPr lang="en-US" sz="1600" b="1">
                <a:latin typeface="Arial"/>
                <a:ea typeface="+mn-lt"/>
                <a:cs typeface="Arial"/>
              </a:rPr>
              <a:t>S6</a:t>
            </a:r>
            <a:r>
              <a:rPr lang="en-US" sz="1600">
                <a:latin typeface="Arial"/>
                <a:ea typeface="+mn-lt"/>
                <a:cs typeface="Arial"/>
              </a:rPr>
              <a:t> = time-varying → must use </a:t>
            </a:r>
            <a:r>
              <a:rPr lang="en-US" sz="1600" b="1">
                <a:latin typeface="Arial"/>
                <a:ea typeface="+mn-lt"/>
                <a:cs typeface="Arial"/>
              </a:rPr>
              <a:t>parallel scan</a:t>
            </a:r>
            <a:r>
              <a:rPr lang="en-US" sz="1600">
                <a:latin typeface="Arial"/>
                <a:ea typeface="+mn-lt"/>
                <a:cs typeface="Arial"/>
              </a:rPr>
              <a:t> for efficiency.</a:t>
            </a:r>
            <a:endParaRPr lang="en-US" sz="1600">
              <a:latin typeface="Arial"/>
              <a:cs typeface="Arial"/>
            </a:endParaRPr>
          </a:p>
          <a:p>
            <a:endParaRPr lang="en-US" sz="1600"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0193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96523-DA71-9D1D-DCCB-80AF73E28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4952"/>
            <a:ext cx="7543800" cy="1088068"/>
          </a:xfrm>
        </p:spPr>
        <p:txBody>
          <a:bodyPr>
            <a:normAutofit/>
          </a:bodyPr>
          <a:lstStyle/>
          <a:p>
            <a:r>
              <a:rPr lang="en-US" sz="3700" b="1">
                <a:latin typeface="Arial"/>
                <a:ea typeface="+mj-lt"/>
                <a:cs typeface="Arial"/>
              </a:rPr>
              <a:t>Computational Challenge with Selective SSMs</a:t>
            </a:r>
            <a:endParaRPr lang="en-US" sz="3700" b="1">
              <a:latin typeface="Arial"/>
              <a:cs typeface="Arial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91DE79-B705-B2E7-E6C7-0EF96E29B4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0181803"/>
              </p:ext>
            </p:extLst>
          </p:nvPr>
        </p:nvGraphicFramePr>
        <p:xfrm>
          <a:off x="822722" y="1573886"/>
          <a:ext cx="7543800" cy="2839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52987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F7E42D-8B5A-4FC8-81CD-9E60171F7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670E6-CC22-B308-5E4D-9964D7F43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387626"/>
            <a:ext cx="2313633" cy="1577906"/>
          </a:xfrm>
        </p:spPr>
        <p:txBody>
          <a:bodyPr>
            <a:normAutofit/>
          </a:bodyPr>
          <a:lstStyle/>
          <a:p>
            <a:r>
              <a:rPr lang="en-US" sz="2300" b="1">
                <a:solidFill>
                  <a:srgbClr val="FFFFFF"/>
                </a:solidFill>
                <a:latin typeface="Arial"/>
                <a:cs typeface="Arial"/>
              </a:rPr>
              <a:t> Selective Scan: Hardware-Aware Acceleration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78ADB-C393-555A-BBB0-2247B9F1F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278" y="1990350"/>
            <a:ext cx="2313633" cy="2501639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rial"/>
                <a:ea typeface="+mn-lt"/>
                <a:cs typeface="Arial"/>
              </a:rPr>
              <a:t>Selective Scan</a:t>
            </a:r>
            <a:r>
              <a:rPr lang="en-US" sz="1000">
                <a:solidFill>
                  <a:srgbClr val="FFFFFF"/>
                </a:solidFill>
                <a:latin typeface="Arial"/>
                <a:ea typeface="+mn-lt"/>
                <a:cs typeface="Arial"/>
              </a:rPr>
              <a:t> is the hardware-optimized solution:</a:t>
            </a:r>
            <a:endParaRPr lang="en-US" sz="1000">
              <a:solidFill>
                <a:srgbClr val="FFFFFF"/>
              </a:solidFill>
              <a:latin typeface="Arial"/>
              <a:ea typeface="Calibri" panose="020F0502020204030204"/>
              <a:cs typeface="Arial"/>
            </a:endParaRPr>
          </a:p>
          <a:p>
            <a:r>
              <a:rPr lang="en-US" sz="1000" b="1">
                <a:solidFill>
                  <a:srgbClr val="FFFFFF"/>
                </a:solidFill>
                <a:latin typeface="Arial"/>
                <a:ea typeface="+mn-lt"/>
                <a:cs typeface="Arial"/>
              </a:rPr>
              <a:t>Kernel fusion</a:t>
            </a:r>
            <a:r>
              <a:rPr lang="en-US" sz="1000">
                <a:solidFill>
                  <a:srgbClr val="FFFFFF"/>
                </a:solidFill>
                <a:latin typeface="Arial"/>
                <a:ea typeface="+mn-lt"/>
                <a:cs typeface="Arial"/>
              </a:rPr>
              <a:t> reduces memory overhead during operations.</a:t>
            </a:r>
            <a:endParaRPr lang="en-US" sz="1000">
              <a:solidFill>
                <a:srgbClr val="FFFFFF"/>
              </a:solidFill>
              <a:latin typeface="Arial"/>
              <a:cs typeface="Arial"/>
            </a:endParaRPr>
          </a:p>
          <a:p>
            <a:r>
              <a:rPr lang="en-US" sz="1000" b="1">
                <a:solidFill>
                  <a:srgbClr val="FFFFFF"/>
                </a:solidFill>
                <a:latin typeface="Arial"/>
                <a:ea typeface="+mn-lt"/>
                <a:cs typeface="Arial"/>
              </a:rPr>
              <a:t>Parallel scan</a:t>
            </a:r>
            <a:r>
              <a:rPr lang="en-US" sz="1000">
                <a:solidFill>
                  <a:srgbClr val="FFFFFF"/>
                </a:solidFill>
                <a:latin typeface="Arial"/>
                <a:ea typeface="+mn-lt"/>
                <a:cs typeface="Arial"/>
              </a:rPr>
              <a:t> speeds up sequential computation.</a:t>
            </a:r>
            <a:endParaRPr lang="en-US" sz="1000">
              <a:solidFill>
                <a:srgbClr val="FFFFFF"/>
              </a:solidFill>
              <a:latin typeface="Arial"/>
              <a:cs typeface="Arial"/>
            </a:endParaRPr>
          </a:p>
          <a:p>
            <a:r>
              <a:rPr lang="en-US" sz="1000" b="1">
                <a:solidFill>
                  <a:srgbClr val="FFFFFF"/>
                </a:solidFill>
                <a:latin typeface="Arial"/>
                <a:ea typeface="+mn-lt"/>
                <a:cs typeface="Arial"/>
              </a:rPr>
              <a:t>Recomputation</a:t>
            </a:r>
            <a:r>
              <a:rPr lang="en-US" sz="1000">
                <a:solidFill>
                  <a:srgbClr val="FFFFFF"/>
                </a:solidFill>
                <a:latin typeface="Arial"/>
                <a:ea typeface="+mn-lt"/>
                <a:cs typeface="Arial"/>
              </a:rPr>
              <a:t> avoids saving huge intermediate states (reduces GPU memory usage).</a:t>
            </a:r>
            <a:endParaRPr lang="en-US" sz="1000">
              <a:solidFill>
                <a:srgbClr val="FFFFFF"/>
              </a:solidFill>
              <a:latin typeface="Arial"/>
              <a:cs typeface="Arial"/>
            </a:endParaRPr>
          </a:p>
          <a:p>
            <a:r>
              <a:rPr lang="en-US" sz="1000">
                <a:solidFill>
                  <a:srgbClr val="FFFFFF"/>
                </a:solidFill>
                <a:latin typeface="Arial"/>
                <a:ea typeface="+mn-lt"/>
                <a:cs typeface="Arial"/>
              </a:rPr>
              <a:t>State expansions happen only in </a:t>
            </a:r>
            <a:r>
              <a:rPr lang="en-US" sz="1000" b="1">
                <a:solidFill>
                  <a:srgbClr val="FFFFFF"/>
                </a:solidFill>
                <a:latin typeface="Arial"/>
                <a:ea typeface="+mn-lt"/>
                <a:cs typeface="Arial"/>
              </a:rPr>
              <a:t>fast GPU memory</a:t>
            </a:r>
            <a:r>
              <a:rPr lang="en-US" sz="1000">
                <a:solidFill>
                  <a:srgbClr val="FFFFFF"/>
                </a:solidFill>
                <a:latin typeface="Arial"/>
                <a:ea typeface="+mn-lt"/>
                <a:cs typeface="Arial"/>
              </a:rPr>
              <a:t> (SRAM), minimizing slow memory (HBM) usage.</a:t>
            </a:r>
            <a:endParaRPr lang="en-US" sz="1000">
              <a:solidFill>
                <a:srgbClr val="FFFFFF"/>
              </a:solidFill>
              <a:latin typeface="Arial"/>
              <a:cs typeface="Arial"/>
            </a:endParaRPr>
          </a:p>
          <a:p>
            <a:endParaRPr lang="en-US" sz="1000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16" name="Picture 15" descr="Circuit board">
            <a:extLst>
              <a:ext uri="{FF2B5EF4-FFF2-40B4-BE49-F238E27FC236}">
                <a16:creationId xmlns:a16="http://schemas.microsoft.com/office/drawing/2014/main" id="{C9979599-6392-025F-DC1B-5FFFF8AB27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052" r="10" b="10"/>
          <a:stretch/>
        </p:blipFill>
        <p:spPr>
          <a:xfrm>
            <a:off x="3056282" y="10"/>
            <a:ext cx="6083454" cy="51434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C04651D-B9F4-4935-A02D-364153FBD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45338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2463" y="1008446"/>
            <a:ext cx="23037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100"/>
              </a:spcBef>
              <a:buChar char="●"/>
              <a:tabLst>
                <a:tab pos="363855" algn="l"/>
              </a:tabLst>
            </a:pPr>
            <a:r>
              <a:rPr sz="1600" spc="-10">
                <a:solidFill>
                  <a:srgbClr val="13294B"/>
                </a:solidFill>
                <a:latin typeface="Arial MT"/>
                <a:cs typeface="Arial MT"/>
              </a:rPr>
              <a:t>Hardware</a:t>
            </a:r>
            <a:r>
              <a:rPr sz="1600" spc="-45">
                <a:solidFill>
                  <a:srgbClr val="13294B"/>
                </a:solidFill>
                <a:latin typeface="Arial MT"/>
                <a:cs typeface="Arial MT"/>
              </a:rPr>
              <a:t> </a:t>
            </a:r>
            <a:r>
              <a:rPr sz="1600" spc="-10">
                <a:solidFill>
                  <a:srgbClr val="13294B"/>
                </a:solidFill>
                <a:latin typeface="Arial MT"/>
                <a:cs typeface="Arial MT"/>
              </a:rPr>
              <a:t>Awareness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6582" y="159769"/>
            <a:ext cx="2502535" cy="2997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chemeClr val="tx1"/>
                </a:solidFill>
                <a:latin typeface="Arial"/>
                <a:cs typeface="Arial"/>
              </a:rPr>
              <a:t>Mamba:</a:t>
            </a:r>
            <a:r>
              <a:rPr sz="1800" b="1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chemeClr val="tx1"/>
                </a:solidFill>
                <a:latin typeface="Arial"/>
                <a:cs typeface="Arial"/>
              </a:rPr>
              <a:t>Selective</a:t>
            </a:r>
            <a:r>
              <a:rPr sz="1800" b="1" spc="-25">
                <a:solidFill>
                  <a:schemeClr val="tx1"/>
                </a:solidFill>
                <a:latin typeface="Arial"/>
                <a:cs typeface="Arial"/>
              </a:rPr>
              <a:t> SSM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6994" y="2385716"/>
            <a:ext cx="4284242" cy="108285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9791" y="1354566"/>
            <a:ext cx="5744900" cy="91397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96951" y="3560353"/>
            <a:ext cx="1994501" cy="1203344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t>GRAINGER</a:t>
            </a:r>
            <a:r>
              <a:rPr spc="-40"/>
              <a:t> </a:t>
            </a:r>
            <a:r>
              <a:rPr spc="-10"/>
              <a:t>ENGINEERING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2463" y="1008446"/>
            <a:ext cx="21494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100"/>
              </a:spcBef>
              <a:buChar char="●"/>
              <a:tabLst>
                <a:tab pos="363855" algn="l"/>
              </a:tabLst>
            </a:pPr>
            <a:r>
              <a:rPr sz="1600">
                <a:solidFill>
                  <a:srgbClr val="13294B"/>
                </a:solidFill>
                <a:latin typeface="Arial"/>
                <a:cs typeface="Arial"/>
              </a:rPr>
              <a:t>Whole</a:t>
            </a:r>
            <a:r>
              <a:rPr sz="1600" spc="-35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600">
                <a:solidFill>
                  <a:srgbClr val="13294B"/>
                </a:solidFill>
                <a:latin typeface="Arial"/>
                <a:cs typeface="Arial"/>
              </a:rPr>
              <a:t>pipeline</a:t>
            </a:r>
            <a:r>
              <a:rPr sz="1600" spc="-30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600" spc="-20">
                <a:solidFill>
                  <a:srgbClr val="13294B"/>
                </a:solidFill>
                <a:latin typeface="Arial"/>
                <a:cs typeface="Arial"/>
              </a:rPr>
              <a:t>(S6)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6582" y="159769"/>
            <a:ext cx="2502535" cy="2997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chemeClr val="tx1"/>
                </a:solidFill>
                <a:latin typeface="Arial"/>
                <a:cs typeface="Arial"/>
              </a:rPr>
              <a:t>Mamba:</a:t>
            </a:r>
            <a:r>
              <a:rPr sz="1800" b="1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chemeClr val="tx1"/>
                </a:solidFill>
                <a:latin typeface="Arial"/>
                <a:cs typeface="Arial"/>
              </a:rPr>
              <a:t>Selective</a:t>
            </a:r>
            <a:r>
              <a:rPr sz="1800" b="1" spc="-25">
                <a:solidFill>
                  <a:schemeClr val="tx1"/>
                </a:solidFill>
                <a:latin typeface="Arial"/>
                <a:cs typeface="Arial"/>
              </a:rPr>
              <a:t> SSM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9387" y="1424647"/>
            <a:ext cx="6805234" cy="209857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t>GRAINGER</a:t>
            </a:r>
            <a:r>
              <a:rPr spc="-40"/>
              <a:t> </a:t>
            </a:r>
            <a:r>
              <a:rPr spc="-10"/>
              <a:t>ENGINEERING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2463" y="1008446"/>
            <a:ext cx="22961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100"/>
              </a:spcBef>
              <a:buChar char="●"/>
              <a:tabLst>
                <a:tab pos="363855" algn="l"/>
              </a:tabLst>
            </a:pPr>
            <a:r>
              <a:rPr sz="1600">
                <a:solidFill>
                  <a:srgbClr val="13294B"/>
                </a:solidFill>
                <a:latin typeface="Arial"/>
                <a:cs typeface="Arial"/>
              </a:rPr>
              <a:t>Mamba</a:t>
            </a:r>
            <a:r>
              <a:rPr sz="1600" spc="-45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600">
                <a:solidFill>
                  <a:srgbClr val="13294B"/>
                </a:solidFill>
                <a:latin typeface="Arial"/>
                <a:cs typeface="Arial"/>
              </a:rPr>
              <a:t>Block</a:t>
            </a:r>
            <a:r>
              <a:rPr sz="1600" spc="-40">
                <a:solidFill>
                  <a:srgbClr val="13294B"/>
                </a:solidFill>
                <a:latin typeface="Arial"/>
                <a:cs typeface="Arial"/>
              </a:rPr>
              <a:t> </a:t>
            </a:r>
            <a:r>
              <a:rPr sz="1600" spc="-10">
                <a:solidFill>
                  <a:srgbClr val="13294B"/>
                </a:solidFill>
                <a:latin typeface="Arial"/>
                <a:cs typeface="Arial"/>
              </a:rPr>
              <a:t>Design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6582" y="159769"/>
            <a:ext cx="2502535" cy="2997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solidFill>
                  <a:schemeClr val="tx1"/>
                </a:solidFill>
                <a:latin typeface="Arial"/>
                <a:cs typeface="Arial"/>
              </a:rPr>
              <a:t>Mamba:</a:t>
            </a:r>
            <a:r>
              <a:rPr sz="1800" b="1" spc="-25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chemeClr val="tx1"/>
                </a:solidFill>
                <a:latin typeface="Arial"/>
                <a:cs typeface="Arial"/>
              </a:rPr>
              <a:t>Selective</a:t>
            </a:r>
            <a:r>
              <a:rPr sz="1800" b="1" spc="-25">
                <a:solidFill>
                  <a:schemeClr val="tx1"/>
                </a:solidFill>
                <a:latin typeface="Arial"/>
                <a:cs typeface="Arial"/>
              </a:rPr>
              <a:t> SSM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5630" y="1613600"/>
            <a:ext cx="4655487" cy="305004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t>GRAINGER</a:t>
            </a:r>
            <a:r>
              <a:rPr spc="-40"/>
              <a:t> </a:t>
            </a:r>
            <a:r>
              <a:rPr spc="-10"/>
              <a:t>ENGINEERING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0AA6468-80AC-4DDF-9CFB-C7A9507E2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" y="0"/>
            <a:ext cx="343855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28404B-E086-D0E3-D1C6-7DE592395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80060"/>
            <a:ext cx="2744434" cy="21945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300">
                <a:solidFill>
                  <a:srgbClr val="FFFFFF"/>
                </a:solidFill>
                <a:latin typeface="Franklin Gothic"/>
              </a:rPr>
              <a:t>Empirical Evaluations</a:t>
            </a:r>
          </a:p>
          <a:p>
            <a:endParaRPr lang="en-US" sz="3300">
              <a:solidFill>
                <a:srgbClr val="FFFFFF"/>
              </a:solidFill>
            </a:endParaRPr>
          </a:p>
        </p:txBody>
      </p:sp>
      <p:pic>
        <p:nvPicPr>
          <p:cNvPr id="5" name="Picture 4" descr="Black pen against a sheet with shaded numbers">
            <a:extLst>
              <a:ext uri="{FF2B5EF4-FFF2-40B4-BE49-F238E27FC236}">
                <a16:creationId xmlns:a16="http://schemas.microsoft.com/office/drawing/2014/main" id="{957AB0C1-8344-6FFA-C68D-AEE3215879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24" r="12078" b="10"/>
          <a:stretch/>
        </p:blipFill>
        <p:spPr>
          <a:xfrm>
            <a:off x="3479799" y="10"/>
            <a:ext cx="5664200" cy="51434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AB900CC-5074-4746-A1A4-AF640455B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856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33306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2E179-B126-B1EA-C7B1-4ED7B7E66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50737"/>
            <a:ext cx="9144000" cy="49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149" y="1303383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9E82034-C403-9DFB-2E56-40365DCEE7C7}"/>
              </a:ext>
            </a:extLst>
          </p:cNvPr>
          <p:cNvSpPr txBox="1"/>
          <p:nvPr/>
        </p:nvSpPr>
        <p:spPr>
          <a:xfrm>
            <a:off x="369277" y="454422"/>
            <a:ext cx="2313633" cy="42346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kern="1200" spc="-5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Overview of Evaluations</a:t>
            </a:r>
            <a:endParaRPr lang="en-US" sz="2700" kern="1200" spc="-5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l" rtl="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sz="2700" b="1" kern="1200" spc="-5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1FFF1408-8D93-D817-F060-EC491B34EADF}"/>
              </a:ext>
            </a:extLst>
          </p:cNvPr>
          <p:cNvSpPr txBox="1"/>
          <p:nvPr/>
        </p:nvSpPr>
        <p:spPr>
          <a:xfrm>
            <a:off x="3556512" y="454422"/>
            <a:ext cx="4810247" cy="4234656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pPr marL="342900" indent="-342900" algn="l" rtl="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kern="1200" spc="-1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Benchmarks across synthetic, language, DNA, and audio domains</a:t>
            </a:r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342900" indent="-342900" algn="l" rtl="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kern="1200" spc="-1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Tasks include both pretraining and downstream evaluation</a:t>
            </a:r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342900" indent="-342900" algn="l" rtl="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kern="1200" spc="-1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Performance and efficiency measured</a:t>
            </a:r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12700" algn="l" rtl="0">
              <a:lnSpc>
                <a:spcPct val="90000"/>
              </a:lnSpc>
              <a:spcBef>
                <a:spcPts val="100"/>
              </a:spcBef>
              <a:buClr>
                <a:schemeClr val="accent1"/>
              </a:buClr>
              <a:buFont typeface="Calibri" panose="020F0502020204030204" pitchFamily="34" charset="0"/>
            </a:pPr>
            <a:endParaRPr lang="en-US" b="1" kern="1200" spc="-1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66513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7507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FE30480B-F652-6524-800D-D82F2EE5641E}"/>
              </a:ext>
            </a:extLst>
          </p:cNvPr>
          <p:cNvSpPr txBox="1"/>
          <p:nvPr/>
        </p:nvSpPr>
        <p:spPr>
          <a:xfrm>
            <a:off x="429976" y="1684951"/>
            <a:ext cx="3381319" cy="1386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b="1" kern="1200" spc="-5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Calibri Light"/>
              <a:cs typeface="Calibri Light"/>
            </a:endParaRPr>
          </a:p>
          <a:p>
            <a:pPr marL="342900" indent="-342900" algn="l">
              <a:buChar char="•"/>
            </a:pPr>
            <a:r>
              <a:rPr lang="en-US" sz="1600" kern="1200" spc="-50">
                <a:solidFill>
                  <a:schemeClr val="tx1">
                    <a:lumMod val="85000"/>
                    <a:lumOff val="15000"/>
                  </a:schemeClr>
                </a:solidFill>
              </a:rPr>
              <a:t>Selective Copying and Induction Heads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 algn="l">
              <a:buChar char="•"/>
            </a:pPr>
            <a:r>
              <a:rPr lang="en-US" sz="1600" kern="1200" spc="-50">
                <a:solidFill>
                  <a:schemeClr val="tx1">
                    <a:lumMod val="85000"/>
                    <a:lumOff val="15000"/>
                  </a:schemeClr>
                </a:solidFill>
              </a:rPr>
              <a:t>Mamba solves both perfectly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 algn="l">
              <a:buChar char="•"/>
            </a:pPr>
            <a:r>
              <a:rPr lang="en-US" sz="1600" kern="1200" spc="-50">
                <a:solidFill>
                  <a:schemeClr val="tx1">
                    <a:lumMod val="85000"/>
                    <a:lumOff val="15000"/>
                  </a:schemeClr>
                </a:solidFill>
              </a:rPr>
              <a:t>Generalizes up to 1M tokens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2700" algn="l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sz="1500" b="1" kern="1200" spc="-5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Calibri Light"/>
              <a:cs typeface="Calibri Light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03113A18-6194-A72E-48D3-387A32246AE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7862" y="1551054"/>
            <a:ext cx="5184163" cy="1742575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56978" y="3257550"/>
            <a:ext cx="24003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4750737"/>
            <a:ext cx="9143989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098AF95-446D-BC7D-FC4F-05D11F22DCC8}"/>
              </a:ext>
            </a:extLst>
          </p:cNvPr>
          <p:cNvSpPr txBox="1"/>
          <p:nvPr/>
        </p:nvSpPr>
        <p:spPr>
          <a:xfrm>
            <a:off x="2488942" y="-1274322"/>
            <a:ext cx="6144874" cy="28271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000" b="1" kern="1200" spc="-50">
                <a:solidFill>
                  <a:schemeClr val="tx1">
                    <a:lumMod val="85000"/>
                    <a:lumOff val="15000"/>
                  </a:schemeClr>
                </a:solidFill>
              </a:rPr>
              <a:t>Synthetic Tasks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2700" algn="l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b="1" kern="1200" spc="-5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2673093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379150-F6B4-45C8-BE10-6B278AD4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FCF544-A370-4A5D-A95F-CA6E0E719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50737"/>
            <a:ext cx="9144000" cy="49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EB3B97-A638-498B-8083-54191CE7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149" y="1303383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2E84C4-62E1-4EB4-1101-E96F87AAE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70" y="387626"/>
            <a:ext cx="3073022" cy="16092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700" b="1">
                <a:solidFill>
                  <a:srgbClr val="FFFFFF"/>
                </a:solidFill>
                <a:ea typeface="+mj-lt"/>
                <a:cs typeface="+mj-lt"/>
              </a:rPr>
              <a:t>Language Modeling</a:t>
            </a:r>
            <a:endParaRPr lang="en-US"/>
          </a:p>
          <a:p>
            <a:endParaRPr lang="en-US" sz="2700">
              <a:solidFill>
                <a:srgbClr val="FFFFFF"/>
              </a:solidFill>
              <a:ea typeface="Calibri Light"/>
              <a:cs typeface="Calibri Light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AFF09E6-74CA-0186-167D-DA3B13CFD9DC}"/>
              </a:ext>
            </a:extLst>
          </p:cNvPr>
          <p:cNvSpPr txBox="1"/>
          <p:nvPr/>
        </p:nvSpPr>
        <p:spPr>
          <a:xfrm>
            <a:off x="142244" y="1786802"/>
            <a:ext cx="2752043" cy="250163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marL="342900" indent="-342900" algn="l">
              <a:buChar char="•"/>
            </a:pPr>
            <a:r>
              <a:rPr lang="en-US" sz="1600" kern="1200" spc="-10">
                <a:solidFill>
                  <a:srgbClr val="FFFFFF"/>
                </a:solidFill>
              </a:rPr>
              <a:t>Benchmarked on The Pile dataset</a:t>
            </a:r>
            <a:endParaRPr lang="en-US" sz="1600"/>
          </a:p>
          <a:p>
            <a:pPr marL="342900" indent="-342900" algn="l">
              <a:buChar char="•"/>
            </a:pPr>
            <a:r>
              <a:rPr lang="en-US" sz="1600" kern="1200" spc="-10">
                <a:solidFill>
                  <a:srgbClr val="FFFFFF"/>
                </a:solidFill>
              </a:rPr>
              <a:t>Compared against Transformers, Hyena, </a:t>
            </a:r>
            <a:r>
              <a:rPr lang="en-US" sz="1600" kern="1200" spc="-10" err="1">
                <a:solidFill>
                  <a:srgbClr val="FFFFFF"/>
                </a:solidFill>
              </a:rPr>
              <a:t>RetNet</a:t>
            </a:r>
            <a:r>
              <a:rPr lang="en-US" sz="1600" kern="1200" spc="-10">
                <a:solidFill>
                  <a:srgbClr val="FFFFFF"/>
                </a:solidFill>
              </a:rPr>
              <a:t>, RWKV</a:t>
            </a:r>
            <a:endParaRPr lang="en-US" sz="1600"/>
          </a:p>
          <a:p>
            <a:pPr marL="342900" indent="-342900" algn="l">
              <a:buChar char="•"/>
            </a:pPr>
            <a:r>
              <a:rPr lang="en-US" sz="1600" kern="1200" spc="-10">
                <a:solidFill>
                  <a:srgbClr val="FFFFFF"/>
                </a:solidFill>
              </a:rPr>
              <a:t>Mamba matches or exceeds Transformer++ quality</a:t>
            </a:r>
            <a:endParaRPr lang="en-US" sz="1600"/>
          </a:p>
          <a:p>
            <a:pPr marL="12700" algn="l">
              <a:lnSpc>
                <a:spcPct val="90000"/>
              </a:lnSpc>
              <a:spcBef>
                <a:spcPts val="100"/>
              </a:spcBef>
              <a:buFont typeface="Calibri" panose="020F0502020204030204" pitchFamily="34" charset="0"/>
            </a:pPr>
            <a:endParaRPr lang="en-US" sz="1100" b="1" kern="1200" spc="-10">
              <a:solidFill>
                <a:srgbClr val="FFFFFF"/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307EBA2A-DEC7-639E-22FF-F05FE5BC3FC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6512" y="1786528"/>
            <a:ext cx="5098562" cy="157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5557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7C2DC10F-CD76-43DC-9E0B-CB291F740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C18170A-08B7-4230-A012-B24C20E39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50737"/>
            <a:ext cx="9144000" cy="49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2188B95-E375-4977-9E9C-E28CE956F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149" y="1303383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E5958DBC-F4DA-42A8-8C52-860179790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7507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B8F0751-CE4C-66E1-EF62-BC9D4A13FA75}"/>
              </a:ext>
            </a:extLst>
          </p:cNvPr>
          <p:cNvSpPr txBox="1"/>
          <p:nvPr/>
        </p:nvSpPr>
        <p:spPr>
          <a:xfrm>
            <a:off x="4844934" y="985079"/>
            <a:ext cx="4803797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85000"/>
              </a:lnSpc>
              <a:spcBef>
                <a:spcPct val="0"/>
              </a:spcBef>
            </a:pPr>
            <a:r>
              <a:rPr lang="en-US" sz="4800" b="1" kern="1200" spc="-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DNA Modeling</a:t>
            </a:r>
            <a:endParaRPr lang="en-US" sz="4800" kern="1200" spc="-5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  <a:p>
            <a:pPr algn="l" rtl="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sz="4800" b="1" kern="1200" spc="-5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C570440F-9259-18B0-58E9-DA657B593ED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006" y="2568509"/>
            <a:ext cx="4393085" cy="1952354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9FCC9A9-2031-4283-9B27-34B62BB7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85935" y="1564641"/>
            <a:ext cx="43891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34313F3C-B190-20EE-6B79-4F909BB94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59" y="393754"/>
            <a:ext cx="3225076" cy="1896245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CF577703-5C23-4CD3-DF8E-DB6F5C86D507}"/>
              </a:ext>
            </a:extLst>
          </p:cNvPr>
          <p:cNvSpPr txBox="1"/>
          <p:nvPr/>
        </p:nvSpPr>
        <p:spPr>
          <a:xfrm>
            <a:off x="4633556" y="1860562"/>
            <a:ext cx="4185325" cy="2752635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pPr marL="342900" indent="-342900" algn="l" rtl="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kern="1200" spc="-5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Pretraining and fine-tuning on human genome data</a:t>
            </a:r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342900" indent="-342900" algn="l" rtl="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kern="1200" spc="-5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Outperforms </a:t>
            </a:r>
            <a:r>
              <a:rPr lang="en-US" kern="1200" spc="-5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HyenaDNA</a:t>
            </a:r>
            <a:r>
              <a:rPr lang="en-US" kern="1200" spc="-5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and Transformer++</a:t>
            </a:r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342900" indent="-342900" algn="l" rtl="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kern="1200" spc="-5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Accuracy improves with longer context</a:t>
            </a:r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algn="l" rtl="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b="1" kern="1200" spc="-5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1DDD252-D7C8-4CE5-9C61-D60D722BC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4750737"/>
            <a:ext cx="9143989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FBD75F5-C49C-4F6A-8D43-7A5939C23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106804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C4CB770D-DA60-3115-F67B-F4DABF677BCC}"/>
              </a:ext>
            </a:extLst>
          </p:cNvPr>
          <p:cNvSpPr txBox="1"/>
          <p:nvPr/>
        </p:nvSpPr>
        <p:spPr>
          <a:xfrm>
            <a:off x="2189359" y="532273"/>
            <a:ext cx="5398445" cy="62837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4000" b="1">
                <a:solidFill>
                  <a:schemeClr val="tx1"/>
                </a:solidFill>
                <a:latin typeface="Arial"/>
                <a:cs typeface="Arial"/>
              </a:rPr>
              <a:t>Zero-Shot Results</a:t>
            </a:r>
            <a:endParaRPr lang="en-US" sz="4000">
              <a:solidFill>
                <a:schemeClr val="tx1"/>
              </a:solidFill>
            </a:endParaRPr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725B0772-EC9E-BED1-AAC4-75A173233D1C}"/>
              </a:ext>
            </a:extLst>
          </p:cNvPr>
          <p:cNvGrpSpPr/>
          <p:nvPr/>
        </p:nvGrpSpPr>
        <p:grpSpPr>
          <a:xfrm>
            <a:off x="1892516" y="1464021"/>
            <a:ext cx="4993601" cy="3053762"/>
            <a:chOff x="2072578" y="838175"/>
            <a:chExt cx="4993601" cy="3671779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EF5F32FB-1EBF-FC35-F824-53D8ED60BF8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2578" y="838175"/>
              <a:ext cx="4993601" cy="3671779"/>
            </a:xfrm>
            <a:prstGeom prst="rect">
              <a:avLst/>
            </a:prstGeom>
          </p:spPr>
        </p:pic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E934CD23-09AE-D2AC-8ADD-138513171368}"/>
                </a:ext>
              </a:extLst>
            </p:cNvPr>
            <p:cNvSpPr/>
            <p:nvPr/>
          </p:nvSpPr>
          <p:spPr>
            <a:xfrm>
              <a:off x="2090400" y="1907024"/>
              <a:ext cx="4859655" cy="2070100"/>
            </a:xfrm>
            <a:custGeom>
              <a:avLst/>
              <a:gdLst/>
              <a:ahLst/>
              <a:cxnLst/>
              <a:rect l="l" t="t" r="r" b="b"/>
              <a:pathLst>
                <a:path w="4859655" h="2070100">
                  <a:moveTo>
                    <a:pt x="0" y="0"/>
                  </a:moveTo>
                  <a:lnTo>
                    <a:pt x="4859399" y="0"/>
                  </a:lnTo>
                  <a:lnTo>
                    <a:pt x="4859399" y="100799"/>
                  </a:lnTo>
                  <a:lnTo>
                    <a:pt x="0" y="100799"/>
                  </a:lnTo>
                  <a:lnTo>
                    <a:pt x="0" y="0"/>
                  </a:lnTo>
                  <a:close/>
                </a:path>
                <a:path w="4859655" h="2070100">
                  <a:moveTo>
                    <a:pt x="0" y="354099"/>
                  </a:moveTo>
                  <a:lnTo>
                    <a:pt x="4859399" y="354099"/>
                  </a:lnTo>
                  <a:lnTo>
                    <a:pt x="4859399" y="454899"/>
                  </a:lnTo>
                  <a:lnTo>
                    <a:pt x="0" y="454899"/>
                  </a:lnTo>
                  <a:lnTo>
                    <a:pt x="0" y="354099"/>
                  </a:lnTo>
                  <a:close/>
                </a:path>
                <a:path w="4859655" h="2070100">
                  <a:moveTo>
                    <a:pt x="0" y="614324"/>
                  </a:moveTo>
                  <a:lnTo>
                    <a:pt x="4859399" y="614324"/>
                  </a:lnTo>
                  <a:lnTo>
                    <a:pt x="4859399" y="715124"/>
                  </a:lnTo>
                  <a:lnTo>
                    <a:pt x="0" y="715124"/>
                  </a:lnTo>
                  <a:lnTo>
                    <a:pt x="0" y="614324"/>
                  </a:lnTo>
                  <a:close/>
                </a:path>
                <a:path w="4859655" h="2070100">
                  <a:moveTo>
                    <a:pt x="0" y="1291524"/>
                  </a:moveTo>
                  <a:lnTo>
                    <a:pt x="4859399" y="1291524"/>
                  </a:lnTo>
                  <a:lnTo>
                    <a:pt x="4859399" y="1392324"/>
                  </a:lnTo>
                  <a:lnTo>
                    <a:pt x="0" y="1392324"/>
                  </a:lnTo>
                  <a:lnTo>
                    <a:pt x="0" y="1291524"/>
                  </a:lnTo>
                  <a:close/>
                </a:path>
                <a:path w="4859655" h="2070100">
                  <a:moveTo>
                    <a:pt x="0" y="1968724"/>
                  </a:moveTo>
                  <a:lnTo>
                    <a:pt x="4859399" y="1968724"/>
                  </a:lnTo>
                  <a:lnTo>
                    <a:pt x="4859399" y="2069524"/>
                  </a:lnTo>
                  <a:lnTo>
                    <a:pt x="0" y="2069524"/>
                  </a:lnTo>
                  <a:lnTo>
                    <a:pt x="0" y="1968724"/>
                  </a:lnTo>
                  <a:close/>
                </a:path>
              </a:pathLst>
            </a:custGeom>
            <a:ln w="9524">
              <a:solidFill>
                <a:srgbClr val="FF55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772545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00B5AE2-C5CC-499C-8F2D-249888BE2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7A3698-B350-40E5-8475-9BCC41A08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50737"/>
            <a:ext cx="9144000" cy="49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AC655C7-EC94-4BE6-84C8-2F9EFBBB2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149" y="1303383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7507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FFE1A4-4F7B-71BE-A13F-6A7C3E98F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6325" y="491867"/>
            <a:ext cx="3229592" cy="170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>
                <a:ea typeface="+mj-lt"/>
                <a:cs typeface="+mj-lt"/>
              </a:rPr>
              <a:t>Audio Modeling</a:t>
            </a:r>
            <a:endParaRPr lang="en-US"/>
          </a:p>
          <a:p>
            <a:endParaRPr lang="en-US" sz="4800" kern="1200" spc="-50" baseline="0">
              <a:latin typeface="+mj-lt"/>
              <a:ea typeface="Calibri Light"/>
              <a:cs typeface="Calibri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0E5B29-A97A-D756-6EEE-2E59F8D65F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8" b="4"/>
          <a:stretch/>
        </p:blipFill>
        <p:spPr>
          <a:xfrm>
            <a:off x="475499" y="480060"/>
            <a:ext cx="5182351" cy="3985805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19107" y="1564277"/>
            <a:ext cx="26746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bject 2">
            <a:extLst>
              <a:ext uri="{FF2B5EF4-FFF2-40B4-BE49-F238E27FC236}">
                <a16:creationId xmlns:a16="http://schemas.microsoft.com/office/drawing/2014/main" id="{D1DF6BB7-994E-F9D5-12A3-A9FBC488F8B0}"/>
              </a:ext>
            </a:extLst>
          </p:cNvPr>
          <p:cNvSpPr txBox="1"/>
          <p:nvPr/>
        </p:nvSpPr>
        <p:spPr>
          <a:xfrm>
            <a:off x="5910270" y="1617870"/>
            <a:ext cx="3049529" cy="2830922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pPr marL="342900" indent="-342900" algn="l">
              <a:buChar char="•"/>
            </a:pPr>
            <a:r>
              <a:rPr lang="en-US" kern="1200" spc="-10">
                <a:solidFill>
                  <a:schemeClr val="tx1">
                    <a:lumMod val="75000"/>
                    <a:lumOff val="25000"/>
                  </a:schemeClr>
                </a:solidFill>
              </a:rPr>
              <a:t>Autoregressive training on music and speech</a:t>
            </a:r>
            <a:endParaRPr lang="en-US"/>
          </a:p>
          <a:p>
            <a:pPr marL="342900" indent="-342900" algn="l">
              <a:buChar char="•"/>
            </a:pPr>
            <a:r>
              <a:rPr lang="en-US" kern="1200" spc="-10">
                <a:solidFill>
                  <a:schemeClr val="tx1">
                    <a:lumMod val="75000"/>
                    <a:lumOff val="25000"/>
                  </a:schemeClr>
                </a:solidFill>
              </a:rPr>
              <a:t>Evaluated on </a:t>
            </a:r>
            <a:r>
              <a:rPr lang="en-US" kern="1200" spc="-10" err="1">
                <a:solidFill>
                  <a:schemeClr val="tx1">
                    <a:lumMod val="75000"/>
                    <a:lumOff val="25000"/>
                  </a:schemeClr>
                </a:solidFill>
              </a:rPr>
              <a:t>YouTubeMix</a:t>
            </a:r>
            <a:r>
              <a:rPr lang="en-US" kern="1200" spc="-10">
                <a:solidFill>
                  <a:schemeClr val="tx1">
                    <a:lumMod val="75000"/>
                    <a:lumOff val="25000"/>
                  </a:schemeClr>
                </a:solidFill>
              </a:rPr>
              <a:t> and SC09 datasets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algn="l">
              <a:buChar char="•"/>
            </a:pPr>
            <a:r>
              <a:rPr lang="en-US" kern="1200" spc="-10">
                <a:solidFill>
                  <a:schemeClr val="tx1">
                    <a:lumMod val="75000"/>
                    <a:lumOff val="25000"/>
                  </a:schemeClr>
                </a:solidFill>
              </a:rPr>
              <a:t>Best fidelity and inference efficiency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2700" algn="l">
              <a:lnSpc>
                <a:spcPct val="90000"/>
              </a:lnSpc>
              <a:spcBef>
                <a:spcPts val="100"/>
              </a:spcBef>
              <a:buFont typeface="Calibri" panose="020F0502020204030204" pitchFamily="34" charset="0"/>
            </a:pPr>
            <a:endParaRPr lang="en-US" b="1" kern="1200" spc="-1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329CBCE-21AE-419D-AC1F-8ACF510A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4750737"/>
            <a:ext cx="9143989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F2DA012-1414-493D-888F-5D99D0BDA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009671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F0CFD-F189-39A9-007A-6844D836A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Calibri Light"/>
                <a:cs typeface="Calibri Light"/>
              </a:rPr>
              <a:t>Efficiency</a:t>
            </a:r>
          </a:p>
        </p:txBody>
      </p:sp>
      <p:pic>
        <p:nvPicPr>
          <p:cNvPr id="6" name="object 3" descr="A comparison of a graph and a chart&#10;&#10;AI-generated content may be incorrect.">
            <a:extLst>
              <a:ext uri="{FF2B5EF4-FFF2-40B4-BE49-F238E27FC236}">
                <a16:creationId xmlns:a16="http://schemas.microsoft.com/office/drawing/2014/main" id="{F7E88859-E8E8-5417-958C-0E37692632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552" y="1555843"/>
            <a:ext cx="7807704" cy="220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017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7C2DC10F-CD76-43DC-9E0B-CB291F740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C18170A-08B7-4230-A012-B24C20E39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50737"/>
            <a:ext cx="9144000" cy="49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2188B95-E375-4977-9E9C-E28CE956F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149" y="1303383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E5958DBC-F4DA-42A8-8C52-860179790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7507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C4C1D8-EB20-4693-B385-D26B61AA1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941" y="1720983"/>
            <a:ext cx="4803797" cy="10880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/>
              <a:t>Ablation Studies</a:t>
            </a:r>
            <a:endParaRPr lang="en-US"/>
          </a:p>
          <a:p>
            <a:pPr indent="-285750"/>
            <a:endParaRPr lang="en-US"/>
          </a:p>
          <a:p>
            <a:endParaRPr lang="en-US"/>
          </a:p>
        </p:txBody>
      </p:sp>
      <p:pic>
        <p:nvPicPr>
          <p:cNvPr id="6" name="object 3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DB098747-52AC-93DF-4F70-C711F9B93BE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499" y="1009642"/>
            <a:ext cx="3015223" cy="709464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9FCC9A9-2031-4283-9B27-34B62BB7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85935" y="1564641"/>
            <a:ext cx="43891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test&#10;&#10;AI-generated content may be incorrect.">
            <a:extLst>
              <a:ext uri="{FF2B5EF4-FFF2-40B4-BE49-F238E27FC236}">
                <a16:creationId xmlns:a16="http://schemas.microsoft.com/office/drawing/2014/main" id="{C578869C-865D-3F7D-8439-34EE73195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99" y="2509171"/>
            <a:ext cx="3015222" cy="166591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56B6FB2F-E442-336A-1B0C-9C134C071425}"/>
              </a:ext>
            </a:extLst>
          </p:cNvPr>
          <p:cNvSpPr txBox="1"/>
          <p:nvPr/>
        </p:nvSpPr>
        <p:spPr>
          <a:xfrm>
            <a:off x="3858509" y="1649185"/>
            <a:ext cx="4803797" cy="275263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342900" indent="-342900" algn="l" rtl="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kern="1200" spc="-1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Evaluated effects of removing selective components</a:t>
            </a:r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342900" indent="-342900" algn="l" rtl="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kern="1200" spc="-1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Delta parameter (Δ) most critical</a:t>
            </a:r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342900" indent="-342900" algn="l" rtl="0">
              <a:lnSpc>
                <a:spcPct val="90000"/>
              </a:lnSpc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kern="1200" spc="-1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Selective SSM (S6) outperforms standard SSMs</a:t>
            </a:r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marL="12700" algn="l" rtl="0">
              <a:lnSpc>
                <a:spcPct val="90000"/>
              </a:lnSpc>
              <a:spcBef>
                <a:spcPts val="100"/>
              </a:spcBef>
              <a:buClr>
                <a:schemeClr val="accent1"/>
              </a:buClr>
              <a:buFont typeface="Calibri" panose="020F0502020204030204" pitchFamily="34" charset="0"/>
            </a:pPr>
            <a:endParaRPr lang="en-US" b="1" kern="1200" spc="-1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1DDD252-D7C8-4CE5-9C61-D60D722BC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4750737"/>
            <a:ext cx="9143989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FBD75F5-C49C-4F6A-8D43-7A5939C23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43453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8581F-2E3E-E27B-7D6D-FA46F80F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4952"/>
            <a:ext cx="7543800" cy="1088068"/>
          </a:xfrm>
        </p:spPr>
        <p:txBody>
          <a:bodyPr>
            <a:normAutofit/>
          </a:bodyPr>
          <a:lstStyle/>
          <a:p>
            <a:r>
              <a:rPr lang="en-US" b="1">
                <a:ea typeface="Calibri Light"/>
                <a:cs typeface="Calibri Light"/>
              </a:rPr>
              <a:t>Discussion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84939B-E706-4806-E8A9-FCB73D9DA5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0748982"/>
              </p:ext>
            </p:extLst>
          </p:nvPr>
        </p:nvGraphicFramePr>
        <p:xfrm>
          <a:off x="822722" y="1573886"/>
          <a:ext cx="7543800" cy="2839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33922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C92673-4317-0AB8-9D11-314D7B89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387626"/>
            <a:ext cx="2313633" cy="4329630"/>
          </a:xfrm>
        </p:spPr>
        <p:txBody>
          <a:bodyPr anchor="ctr">
            <a:normAutofit/>
          </a:bodyPr>
          <a:lstStyle/>
          <a:p>
            <a:r>
              <a:rPr lang="en-US" sz="2700" b="1">
                <a:solidFill>
                  <a:srgbClr val="FFFFFF"/>
                </a:solidFill>
                <a:ea typeface="Calibri Light"/>
                <a:cs typeface="Calibri Light"/>
              </a:rPr>
              <a:t>Discussion: Selection Mechanism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BCA45A-928A-522C-16BA-DA6420A359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0899218"/>
              </p:ext>
            </p:extLst>
          </p:nvPr>
        </p:nvGraphicFramePr>
        <p:xfrm>
          <a:off x="3556397" y="479822"/>
          <a:ext cx="5098256" cy="4237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90711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6E5EEF-75F6-6AD4-338B-7F17BABDB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454422"/>
            <a:ext cx="2313633" cy="4234656"/>
          </a:xfrm>
        </p:spPr>
        <p:txBody>
          <a:bodyPr anchor="ctr">
            <a:normAutofit/>
          </a:bodyPr>
          <a:lstStyle/>
          <a:p>
            <a:r>
              <a:rPr lang="en-US" sz="2700" b="1">
                <a:solidFill>
                  <a:srgbClr val="FFFFFF"/>
                </a:solidFill>
                <a:ea typeface="+mj-lt"/>
                <a:cs typeface="+mj-lt"/>
              </a:rPr>
              <a:t>Related Work: Structured  SSMs relevant to Mamba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E71D2-144A-34CA-B5F6-65F0432C0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512" y="454422"/>
            <a:ext cx="4810247" cy="4234656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>
                <a:ea typeface="+mn-lt"/>
                <a:cs typeface="+mn-lt"/>
              </a:rPr>
              <a:t>S4: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>
                <a:ea typeface="+mn-lt"/>
                <a:cs typeface="+mn-lt"/>
              </a:rPr>
              <a:t> Introduced the first structured SSM.</a:t>
            </a:r>
          </a:p>
          <a:p>
            <a:r>
              <a:rPr lang="en-US">
                <a:ea typeface="+mn-lt"/>
                <a:cs typeface="+mn-lt"/>
              </a:rPr>
              <a:t>Liquid S4: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en-US">
                <a:ea typeface="+mn-lt"/>
                <a:cs typeface="+mn-lt"/>
              </a:rPr>
              <a:t>Augmented S4 with an input-dependent state transition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S5:</a:t>
            </a:r>
          </a:p>
          <a:p>
            <a:pPr marL="383540" lvl="1">
              <a:buFont typeface="Courier New,monospace" panose="020F0502020204030204" pitchFamily="34" charset="0"/>
              <a:buChar char="o"/>
            </a:pPr>
            <a:r>
              <a:rPr lang="en-US">
                <a:ea typeface="Calibri"/>
                <a:cs typeface="Calibri"/>
              </a:rPr>
              <a:t>The first S4 model to be computed recurrently with the parallel scan.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87123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BD35A-8B79-F7E0-B6C6-F2B59B3AA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4953"/>
            <a:ext cx="5839327" cy="727121"/>
          </a:xfrm>
        </p:spPr>
        <p:txBody>
          <a:bodyPr>
            <a:normAutofit/>
          </a:bodyPr>
          <a:lstStyle/>
          <a:p>
            <a:r>
              <a:rPr lang="en-US" sz="2400" b="1">
                <a:ea typeface="Calibri Light"/>
                <a:cs typeface="Calibri Light"/>
              </a:rPr>
              <a:t>Strengths and Weaknesses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4709C-58FD-2396-0050-4821538AA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366395" indent="-353695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har char="●"/>
            </a:pPr>
            <a:r>
              <a:rPr lang="en-US" sz="1600">
                <a:solidFill>
                  <a:srgbClr val="13294B"/>
                </a:solidFill>
                <a:latin typeface="Arial"/>
                <a:cs typeface="Arial"/>
              </a:rPr>
              <a:t>Strengths</a:t>
            </a:r>
            <a:endParaRPr lang="en-US" sz="1600">
              <a:solidFill>
                <a:srgbClr val="000000"/>
              </a:solidFill>
              <a:latin typeface="Arial"/>
              <a:cs typeface="Arial"/>
            </a:endParaRPr>
          </a:p>
          <a:p>
            <a:pPr marL="818515" marR="5080" lvl="1" indent="-334010" algn="just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har char="○"/>
            </a:pPr>
            <a:r>
              <a:rPr lang="en-US" sz="1600">
                <a:solidFill>
                  <a:srgbClr val="13294B"/>
                </a:solidFill>
                <a:ea typeface="Calibri"/>
                <a:cs typeface="Calibri"/>
              </a:rPr>
              <a:t>Context-Dependent Reasoning</a:t>
            </a:r>
            <a:endParaRPr lang="en-US" sz="1600">
              <a:solidFill>
                <a:srgbClr val="000000"/>
              </a:solidFill>
              <a:ea typeface="Calibri"/>
              <a:cs typeface="Calibri"/>
            </a:endParaRPr>
          </a:p>
          <a:p>
            <a:pPr marL="818515" marR="69850" lvl="1" indent="-33401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</a:pPr>
            <a:r>
              <a:rPr lang="en-US" sz="1600">
                <a:solidFill>
                  <a:srgbClr val="13294B"/>
                </a:solidFill>
                <a:ea typeface="Calibri"/>
                <a:cs typeface="Calibri"/>
              </a:rPr>
              <a:t>Maintains linear time complexity</a:t>
            </a:r>
            <a:endParaRPr lang="en-US" sz="1600">
              <a:solidFill>
                <a:srgbClr val="000000"/>
              </a:solidFill>
              <a:ea typeface="Calibri"/>
              <a:cs typeface="Calibri"/>
            </a:endParaRPr>
          </a:p>
          <a:p>
            <a:pPr marL="818515" marR="69850" lvl="1" indent="-33401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</a:pPr>
            <a:r>
              <a:rPr lang="en-US" sz="1600">
                <a:solidFill>
                  <a:srgbClr val="13294B"/>
                </a:solidFill>
                <a:ea typeface="Calibri"/>
                <a:cs typeface="Calibri"/>
              </a:rPr>
              <a:t>Mamba outperforms all similarly sized models, and matches or exceeds much larger models (e.g., Mamba-2.8B &gt; Pythia-6.9B).</a:t>
            </a:r>
            <a:endParaRPr lang="en-US" sz="1600">
              <a:solidFill>
                <a:srgbClr val="000000"/>
              </a:solidFill>
              <a:ea typeface="Calibri"/>
              <a:cs typeface="Calibri"/>
            </a:endParaRPr>
          </a:p>
          <a:p>
            <a:pPr marL="484505" marR="69850" lvl="1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>
              <a:solidFill>
                <a:srgbClr val="13294B"/>
              </a:solidFill>
              <a:ea typeface="Calibri"/>
              <a:cs typeface="Calibri"/>
            </a:endParaRPr>
          </a:p>
          <a:p>
            <a:pPr marL="366395" indent="-353695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lang="en-US" sz="1600">
                <a:solidFill>
                  <a:srgbClr val="13294B"/>
                </a:solidFill>
                <a:latin typeface="Arial"/>
                <a:cs typeface="Arial"/>
              </a:rPr>
              <a:t>Weaknesses</a:t>
            </a:r>
            <a:endParaRPr lang="en-US" sz="1600">
              <a:solidFill>
                <a:srgbClr val="000000"/>
              </a:solidFill>
              <a:latin typeface="Arial"/>
              <a:cs typeface="Arial"/>
            </a:endParaRPr>
          </a:p>
          <a:p>
            <a:pPr marL="821055" marR="497205" lvl="1" indent="-33655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har char="○"/>
            </a:pPr>
            <a:r>
              <a:rPr lang="en-US" sz="1600">
                <a:solidFill>
                  <a:srgbClr val="13294B"/>
                </a:solidFill>
                <a:ea typeface="Calibri"/>
                <a:cs typeface="Calibri"/>
              </a:rPr>
              <a:t>Limited Evaluation Scope</a:t>
            </a:r>
            <a:endParaRPr lang="en-US" sz="1600">
              <a:solidFill>
                <a:srgbClr val="000000"/>
              </a:solidFill>
              <a:ea typeface="Calibri"/>
              <a:cs typeface="Calibri"/>
            </a:endParaRPr>
          </a:p>
          <a:p>
            <a:pPr marL="821055" marR="497205" lvl="1" indent="-33655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har char="○"/>
            </a:pPr>
            <a:r>
              <a:rPr lang="en-US" sz="1600">
                <a:solidFill>
                  <a:srgbClr val="13294B"/>
                </a:solidFill>
                <a:ea typeface="Calibri"/>
                <a:cs typeface="Calibri"/>
              </a:rPr>
              <a:t>Limited Ecosystem Support</a:t>
            </a:r>
            <a:endParaRPr lang="en-US" sz="1600">
              <a:solidFill>
                <a:srgbClr val="000000"/>
              </a:solidFill>
              <a:ea typeface="Calibri"/>
              <a:cs typeface="Calibri"/>
            </a:endParaRPr>
          </a:p>
          <a:p>
            <a:pPr marL="821055" marR="497205" lvl="1" indent="-33655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har char="○"/>
            </a:pPr>
            <a:r>
              <a:rPr lang="en-US" sz="1600">
                <a:solidFill>
                  <a:srgbClr val="13294B"/>
                </a:solidFill>
                <a:ea typeface="Calibri"/>
                <a:cs typeface="Calibri"/>
              </a:rPr>
              <a:t>Selection mechanism helps on discrete tasks (language, DNA) but may degrade performance on continuous signals (e.g., audio) </a:t>
            </a:r>
            <a:endParaRPr lang="en-US" sz="1600">
              <a:solidFill>
                <a:srgbClr val="000000"/>
              </a:solidFill>
              <a:ea typeface="Calibri"/>
              <a:cs typeface="Calibri"/>
            </a:endParaRPr>
          </a:p>
          <a:p>
            <a:pPr marL="821055" marR="497205" lvl="1" indent="-33655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har char="○"/>
            </a:pPr>
            <a:endParaRPr lang="en-US" sz="1600">
              <a:solidFill>
                <a:srgbClr val="000000"/>
              </a:solidFill>
              <a:ea typeface="Calibri"/>
              <a:cs typeface="Calibri"/>
            </a:endParaRPr>
          </a:p>
          <a:p>
            <a:pPr marL="821055" marR="497205" lvl="1" indent="-33655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har char="○"/>
            </a:pPr>
            <a:endParaRPr lang="en-US" sz="1600">
              <a:solidFill>
                <a:srgbClr val="000000"/>
              </a:solidFill>
              <a:ea typeface="Calibri"/>
              <a:cs typeface="Calibri"/>
            </a:endParaRPr>
          </a:p>
          <a:p>
            <a:pPr marL="821055" marR="497205" lvl="1" indent="-33655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har char="○"/>
            </a:pPr>
            <a:endParaRPr lang="en-US" sz="160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6387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11FE95-DC4B-2140-77F6-CB556338B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454422"/>
            <a:ext cx="2313633" cy="4234656"/>
          </a:xfrm>
        </p:spPr>
        <p:txBody>
          <a:bodyPr anchor="ctr">
            <a:normAutofit/>
          </a:bodyPr>
          <a:lstStyle/>
          <a:p>
            <a:r>
              <a:rPr lang="en-US" sz="2700" b="1">
                <a:solidFill>
                  <a:srgbClr val="FFFFFF"/>
                </a:solidFill>
                <a:ea typeface="Calibri Light"/>
                <a:cs typeface="Calibri Light"/>
              </a:rPr>
              <a:t>Future directions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5AD5D-8F0E-CF0B-6DBA-750EA3A1E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512" y="454422"/>
            <a:ext cx="4810247" cy="4234656"/>
          </a:xfrm>
        </p:spPr>
        <p:txBody>
          <a:bodyPr vert="horz" lIns="0" tIns="45720" rIns="0" bIns="45720" rtlCol="0" anchor="ctr">
            <a:normAutofit/>
          </a:bodyPr>
          <a:lstStyle/>
          <a:p>
            <a:pPr>
              <a:buAutoNum type="arabicPeriod"/>
            </a:pPr>
            <a:endParaRPr lang="en-US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>
                <a:ea typeface="+mn-lt"/>
                <a:cs typeface="+mn-lt"/>
              </a:rPr>
              <a:t>Scaling to Larger Model Sizes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457200" indent="-457200">
              <a:buAutoNum type="arabicPeriod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457200" indent="-457200">
              <a:buAutoNum type="arabicPeriod"/>
            </a:pPr>
            <a:r>
              <a:rPr lang="en-US"/>
              <a:t>Extending to More Modalities</a:t>
            </a:r>
            <a:endParaRPr lang="en-US"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endParaRPr lang="en-US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>
                <a:ea typeface="+mn-lt"/>
                <a:cs typeface="+mn-lt"/>
              </a:rPr>
              <a:t>General Sequence Model Backbone</a:t>
            </a:r>
            <a:endParaRPr lang="en-US"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34305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FFC13E-4D60-895E-20B4-90F792FD49CA}"/>
              </a:ext>
            </a:extLst>
          </p:cNvPr>
          <p:cNvSpPr txBox="1"/>
          <p:nvPr/>
        </p:nvSpPr>
        <p:spPr>
          <a:xfrm>
            <a:off x="3107365" y="1525772"/>
            <a:ext cx="2743200" cy="17080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>
              <a:lnSpc>
                <a:spcPts val="4275"/>
              </a:lnSpc>
            </a:pPr>
            <a:r>
              <a:rPr lang="en-US" sz="3400" b="1">
                <a:solidFill>
                  <a:schemeClr val="tx1"/>
                </a:solidFill>
                <a:latin typeface="Arial"/>
                <a:cs typeface="Segoe UI"/>
              </a:rPr>
              <a:t>Thank you!</a:t>
            </a:r>
            <a:r>
              <a:rPr lang="en-US" sz="3400">
                <a:solidFill>
                  <a:schemeClr val="tx1"/>
                </a:solidFill>
                <a:latin typeface="Arial"/>
                <a:cs typeface="Segoe UI"/>
              </a:rPr>
              <a:t>​</a:t>
            </a:r>
          </a:p>
          <a:p>
            <a:pPr algn="ctr" rtl="0">
              <a:lnSpc>
                <a:spcPts val="4275"/>
              </a:lnSpc>
            </a:pPr>
            <a:r>
              <a:rPr lang="en-US" sz="3400" b="1">
                <a:solidFill>
                  <a:schemeClr val="tx1"/>
                </a:solidFill>
                <a:latin typeface="Arial"/>
                <a:cs typeface="Segoe UI"/>
              </a:rPr>
              <a:t>Any Questions?</a:t>
            </a:r>
            <a:r>
              <a:rPr lang="en-US" sz="3400">
                <a:solidFill>
                  <a:schemeClr val="tx1"/>
                </a:solidFill>
                <a:latin typeface="Arial"/>
                <a:cs typeface="Segoe UI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22359799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(16:9)</PresentationFormat>
  <Slides>40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Retrospect</vt:lpstr>
      <vt:lpstr>PowerPoint Presentation</vt:lpstr>
      <vt:lpstr>Outlines </vt:lpstr>
      <vt:lpstr>Abstract</vt:lpstr>
      <vt:lpstr>Background &amp; Prior Issues</vt:lpstr>
      <vt:lpstr>Gap &amp; Motivation for Mamba</vt:lpstr>
      <vt:lpstr>Generic State-Space Models (SSM)</vt:lpstr>
      <vt:lpstr>PowerPoint Presentation</vt:lpstr>
      <vt:lpstr>PowerPoint Presentation</vt:lpstr>
      <vt:lpstr>PowerPoint Presentation</vt:lpstr>
      <vt:lpstr>Adding “Structure” for Efficiency</vt:lpstr>
      <vt:lpstr>PowerPoint Presentation</vt:lpstr>
      <vt:lpstr>PowerPoint Presentation</vt:lpstr>
      <vt:lpstr>PowerPoint Presentation</vt:lpstr>
      <vt:lpstr>Mamba’s Selective Structured SSM</vt:lpstr>
      <vt:lpstr>Selective State Space Models - Motivation</vt:lpstr>
      <vt:lpstr>Synthetic Tasks That Motivate Selection</vt:lpstr>
      <vt:lpstr>PowerPoint Presentation</vt:lpstr>
      <vt:lpstr>Limitations of LTI (Linear Time-Invariant) Models</vt:lpstr>
      <vt:lpstr>Adding Selectivity to State Space Models</vt:lpstr>
      <vt:lpstr>Selective SSM: Algorithms Compared</vt:lpstr>
      <vt:lpstr>Computational Challenge with Selective SSMs</vt:lpstr>
      <vt:lpstr> Selective Scan: Hardware-Aware Acceleration</vt:lpstr>
      <vt:lpstr>PowerPoint Presentation</vt:lpstr>
      <vt:lpstr>PowerPoint Presentation</vt:lpstr>
      <vt:lpstr>PowerPoint Presentation</vt:lpstr>
      <vt:lpstr>Empirical Evaluations </vt:lpstr>
      <vt:lpstr>PowerPoint Presentation</vt:lpstr>
      <vt:lpstr>PowerPoint Presentation</vt:lpstr>
      <vt:lpstr>Language Modeling </vt:lpstr>
      <vt:lpstr>PowerPoint Presentation</vt:lpstr>
      <vt:lpstr>PowerPoint Presentation</vt:lpstr>
      <vt:lpstr>Audio Modeling </vt:lpstr>
      <vt:lpstr>Efficiency</vt:lpstr>
      <vt:lpstr>Ablation Studies  </vt:lpstr>
      <vt:lpstr>Discussion</vt:lpstr>
      <vt:lpstr>Discussion: Selection Mechanism</vt:lpstr>
      <vt:lpstr>Related Work: Structured  SSMs relevant to Mamba</vt:lpstr>
      <vt:lpstr>Strengths and Weaknesses</vt:lpstr>
      <vt:lpstr>Future directions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Mamba: Linear-Time Sequence Modeling with Selective State Spaces</dc:title>
  <cp:revision>2</cp:revision>
  <dcterms:created xsi:type="dcterms:W3CDTF">2025-04-24T18:23:48Z</dcterms:created>
  <dcterms:modified xsi:type="dcterms:W3CDTF">2025-05-15T17:31:55Z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2025-04-24T00:00:00Z</vt:filetime>
  </property>
  <property fmtid="{D5CDD505-2E9C-101B-9397-08002B2CF9AE}" pid="3" name="Creator">
    <vt:lpwstr>Google</vt:lpwstr>
  </property>
  <property fmtid="{D5CDD505-2E9C-101B-9397-08002B2CF9AE}" pid="4" name="LastSaved">
    <vt:filetime>2025-04-24T00:00:00Z</vt:filetime>
  </property>
</Properties>
</file>