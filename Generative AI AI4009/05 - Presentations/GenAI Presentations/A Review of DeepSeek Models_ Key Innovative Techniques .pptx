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5143500" cx="9144000"/>
  <p:notesSz cx="6858000" cy="9144000"/>
  <p:embeddedFontLst>
    <p:embeddedFont>
      <p:font typeface="Roboto Slab"/>
      <p:regular r:id="rId41"/>
      <p:bold r:id="rId42"/>
    </p:embeddedFont>
    <p:embeddedFont>
      <p:font typeface="Robo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RobotoSlab-bold.fntdata"/><Relationship Id="rId41" Type="http://schemas.openxmlformats.org/officeDocument/2006/relationships/font" Target="fonts/RobotoSlab-regular.fntdata"/><Relationship Id="rId22" Type="http://schemas.openxmlformats.org/officeDocument/2006/relationships/slide" Target="slides/slide17.xml"/><Relationship Id="rId44" Type="http://schemas.openxmlformats.org/officeDocument/2006/relationships/font" Target="fonts/Roboto-bold.fntdata"/><Relationship Id="rId21" Type="http://schemas.openxmlformats.org/officeDocument/2006/relationships/slide" Target="slides/slide16.xml"/><Relationship Id="rId43" Type="http://schemas.openxmlformats.org/officeDocument/2006/relationships/font" Target="fonts/Roboto-regular.fntdata"/><Relationship Id="rId24" Type="http://schemas.openxmlformats.org/officeDocument/2006/relationships/slide" Target="slides/slide19.xml"/><Relationship Id="rId46" Type="http://schemas.openxmlformats.org/officeDocument/2006/relationships/font" Target="fonts/Roboto-boldItalic.fntdata"/><Relationship Id="rId23" Type="http://schemas.openxmlformats.org/officeDocument/2006/relationships/slide" Target="slides/slide18.xml"/><Relationship Id="rId45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d88db6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d88db6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51d88db6ff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51d88db6ff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51d88db6ff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51d88db6ff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51d88db6ff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51d88db6ff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5495fdd306_1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5495fdd306_1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5495fdd306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5495fdd306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5495fdd3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5495fdd3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5495fdd30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5495fdd30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495fdd306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495fdd306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551de805d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551de805d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495fdd306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495fdd306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495fdd30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495fdd30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56ff2bd4f4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56ff2bd4f4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51d88db6ff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51d88db6ff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6ff2bd4f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56ff2bd4f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56ff2bd4f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56ff2bd4f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538e1fe4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538e1fe4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6ff2bd4f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6ff2bd4f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538e1fe4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538e1fe4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56ff2bd4f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56ff2bd4f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51d88db6ff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51d88db6ff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1d88db6ff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1d88db6ff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51d88db6ff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51d88db6ff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1d88db6ff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1d88db6ff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51d88db6ff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51d88db6ff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54d27fcac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54d27fcac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54db1a61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54db1a61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54db1a6161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54db1a6161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51d88db6ff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51d88db6ff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51d88db6ff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51d88db6ff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4db1a616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54db1a616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1d88db6ff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1d88db6ff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54db1a6161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54db1a6161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54db1a6161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54db1a6161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4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529850" y="1133975"/>
            <a:ext cx="60843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Review of DeepSeek Models' Key Innovative Techniques</a:t>
            </a:r>
            <a:endParaRPr/>
          </a:p>
        </p:txBody>
      </p:sp>
      <p:sp>
        <p:nvSpPr>
          <p:cNvPr id="64" name="Google Shape;64;p13"/>
          <p:cNvSpPr txBox="1"/>
          <p:nvPr/>
        </p:nvSpPr>
        <p:spPr>
          <a:xfrm>
            <a:off x="4955850" y="3526975"/>
            <a:ext cx="2658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rPr>
              <a:t>Chengen Wang, Murat Kantarcioglu</a:t>
            </a:r>
            <a:endParaRPr sz="1800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34725" y="652825"/>
            <a:ext cx="273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" sz="2600">
                <a:solidFill>
                  <a:schemeClr val="dk2"/>
                </a:solidFill>
              </a:rPr>
              <a:t>Presented</a:t>
            </a:r>
            <a:r>
              <a:rPr lang="en" sz="2600">
                <a:solidFill>
                  <a:schemeClr val="dk2"/>
                </a:solidFill>
              </a:rPr>
              <a:t> by: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45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45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434725" y="1859925"/>
            <a:ext cx="27303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Iqra Anwar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21L-6038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5069300" y="1936650"/>
            <a:ext cx="2730300" cy="127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Hadeed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21L-6023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34725" y="3130125"/>
            <a:ext cx="2730300" cy="11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400">
                <a:solidFill>
                  <a:schemeClr val="dk2"/>
                </a:solidFill>
              </a:rPr>
              <a:t>Saboor Ahmed</a:t>
            </a:r>
            <a:endParaRPr sz="10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8000">
                <a:solidFill>
                  <a:schemeClr val="dk2"/>
                </a:solidFill>
              </a:rPr>
              <a:t>21L-1810</a:t>
            </a:r>
            <a:endParaRPr sz="80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5069300" y="3130125"/>
            <a:ext cx="2730300" cy="11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Muaaz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>
                <a:solidFill>
                  <a:schemeClr val="dk2"/>
                </a:solidFill>
              </a:rPr>
              <a:t>21L-5467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What’s the paper about?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94825" y="1244675"/>
            <a:ext cx="8368200" cy="38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8">
                <a:solidFill>
                  <a:srgbClr val="000000"/>
                </a:solidFill>
              </a:rPr>
              <a:t>This paper is about DeepSeek-V3 and DeepSeek-R1 — two powerful open-source </a:t>
            </a:r>
            <a:r>
              <a:rPr b="1" lang="en" sz="2058">
                <a:solidFill>
                  <a:srgbClr val="000000"/>
                </a:solidFill>
              </a:rPr>
              <a:t>Large Language Models</a:t>
            </a:r>
            <a:endParaRPr sz="2058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58">
                <a:solidFill>
                  <a:srgbClr val="000000"/>
                </a:solidFill>
              </a:rPr>
              <a:t>The goal is to explain why DeepSeek is so effective. It looks at the innovative techniques that make it work well.</a:t>
            </a:r>
            <a:endParaRPr sz="2058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</a:rPr>
              <a:t>Techniques:</a:t>
            </a:r>
            <a:endParaRPr b="1">
              <a:solidFill>
                <a:srgbClr val="000000"/>
              </a:solidFill>
            </a:endParaRPr>
          </a:p>
          <a:p>
            <a:pPr indent="-32423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71">
                <a:solidFill>
                  <a:srgbClr val="000000"/>
                </a:solidFill>
              </a:rPr>
              <a:t>Transformer Improvements</a:t>
            </a:r>
            <a:endParaRPr sz="1771">
              <a:solidFill>
                <a:srgbClr val="000000"/>
              </a:solidFill>
            </a:endParaRPr>
          </a:p>
          <a:p>
            <a:pPr indent="-3242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71">
                <a:solidFill>
                  <a:srgbClr val="000000"/>
                </a:solidFill>
              </a:rPr>
              <a:t>Multi-Head Latent Attention (MLA)</a:t>
            </a:r>
            <a:endParaRPr sz="1771">
              <a:solidFill>
                <a:srgbClr val="000000"/>
              </a:solidFill>
            </a:endParaRPr>
          </a:p>
          <a:p>
            <a:pPr indent="-3242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71">
                <a:solidFill>
                  <a:srgbClr val="000000"/>
                </a:solidFill>
              </a:rPr>
              <a:t>Mixture of Experts (MoE)</a:t>
            </a:r>
            <a:endParaRPr sz="1771">
              <a:solidFill>
                <a:srgbClr val="000000"/>
              </a:solidFill>
            </a:endParaRPr>
          </a:p>
          <a:p>
            <a:pPr indent="-3242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71">
                <a:solidFill>
                  <a:srgbClr val="000000"/>
                </a:solidFill>
              </a:rPr>
              <a:t>Multi-Token Prediction</a:t>
            </a:r>
            <a:endParaRPr sz="1771">
              <a:solidFill>
                <a:srgbClr val="000000"/>
              </a:solidFill>
            </a:endParaRPr>
          </a:p>
          <a:p>
            <a:pPr indent="-3242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71">
                <a:solidFill>
                  <a:srgbClr val="000000"/>
                </a:solidFill>
              </a:rPr>
              <a:t>Group Relative Policy Optimization (GRPO)</a:t>
            </a:r>
            <a:endParaRPr sz="1771">
              <a:solidFill>
                <a:srgbClr val="000000"/>
              </a:solidFill>
            </a:endParaRPr>
          </a:p>
          <a:p>
            <a:pPr indent="-3242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71">
                <a:solidFill>
                  <a:srgbClr val="000000"/>
                </a:solidFill>
              </a:rPr>
              <a:t>Training Methods</a:t>
            </a:r>
            <a:endParaRPr sz="1771">
              <a:solidFill>
                <a:srgbClr val="000000"/>
              </a:solidFill>
            </a:endParaRPr>
          </a:p>
          <a:p>
            <a:pPr indent="-32423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771">
                <a:solidFill>
                  <a:srgbClr val="000000"/>
                </a:solidFill>
              </a:rPr>
              <a:t>Hardware and Software Co-design</a:t>
            </a:r>
            <a:endParaRPr sz="177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87900" y="2233750"/>
            <a:ext cx="8368200" cy="6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Transformer Improvements</a:t>
            </a:r>
            <a:endParaRPr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MultiHead Latent Attention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="1" lang="en">
                <a:solidFill>
                  <a:srgbClr val="000000"/>
                </a:solidFill>
              </a:rPr>
              <a:t>ow traditional attention works (Multi-Head Attention - MHA)</a:t>
            </a:r>
            <a:br>
              <a:rPr b="1" lang="en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Why it has problems (KV cache and memory cost)</a:t>
            </a:r>
            <a:br>
              <a:rPr b="1" lang="en">
                <a:solidFill>
                  <a:srgbClr val="000000"/>
                </a:solidFill>
              </a:rPr>
            </a:b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How MLA improves on it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MultiHead Latent Attention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87900" y="1479950"/>
            <a:ext cx="8368200" cy="340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</a:rPr>
              <a:t>Transformers learn by </a:t>
            </a:r>
            <a:r>
              <a:rPr b="1" lang="en" sz="1700">
                <a:solidFill>
                  <a:srgbClr val="000000"/>
                </a:solidFill>
              </a:rPr>
              <a:t>“attending”</a:t>
            </a:r>
            <a:r>
              <a:rPr lang="en" sz="1700">
                <a:solidFill>
                  <a:srgbClr val="000000"/>
                </a:solidFill>
              </a:rPr>
              <a:t> to (or focusing on) different words (tokens) in a sentence.</a:t>
            </a:r>
            <a:endParaRPr sz="17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00"/>
                </a:solidFill>
              </a:rPr>
              <a:t>This attention process happens using </a:t>
            </a:r>
            <a:r>
              <a:rPr b="1" lang="en" sz="1600">
                <a:solidFill>
                  <a:srgbClr val="000000"/>
                </a:solidFill>
              </a:rPr>
              <a:t>three vectors</a:t>
            </a:r>
            <a:r>
              <a:rPr lang="en" sz="1600">
                <a:solidFill>
                  <a:srgbClr val="000000"/>
                </a:solidFill>
              </a:rPr>
              <a:t> for every word:</a:t>
            </a:r>
            <a:endParaRPr sz="1600">
              <a:solidFill>
                <a:srgbClr val="000000"/>
              </a:solidFill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</a:rPr>
              <a:t>Query (Q)</a:t>
            </a:r>
            <a:r>
              <a:rPr lang="en" sz="1600">
                <a:solidFill>
                  <a:srgbClr val="000000"/>
                </a:solidFill>
              </a:rPr>
              <a:t> – What am I looking for?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</a:rPr>
              <a:t>Key (K)</a:t>
            </a:r>
            <a:r>
              <a:rPr lang="en" sz="1600">
                <a:solidFill>
                  <a:srgbClr val="000000"/>
                </a:solidFill>
              </a:rPr>
              <a:t> – What do I contain?</a:t>
            </a:r>
            <a:br>
              <a:rPr lang="en" sz="1600">
                <a:solidFill>
                  <a:srgbClr val="000000"/>
                </a:solidFill>
              </a:rPr>
            </a:br>
            <a:endParaRPr sz="1600">
              <a:solidFill>
                <a:srgbClr val="000000"/>
              </a:solidFill>
            </a:endParaRPr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</a:rPr>
              <a:t>Value (V)</a:t>
            </a:r>
            <a:r>
              <a:rPr lang="en" sz="1600">
                <a:solidFill>
                  <a:srgbClr val="000000"/>
                </a:solidFill>
              </a:rPr>
              <a:t> – What information should I give if I'm selected?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24">
                <a:solidFill>
                  <a:srgbClr val="000000"/>
                </a:solidFill>
              </a:rPr>
              <a:t>The model compares the </a:t>
            </a:r>
            <a:r>
              <a:rPr b="1" lang="en" sz="1924">
                <a:solidFill>
                  <a:srgbClr val="000000"/>
                </a:solidFill>
              </a:rPr>
              <a:t>Query</a:t>
            </a:r>
            <a:r>
              <a:rPr lang="en" sz="1924">
                <a:solidFill>
                  <a:srgbClr val="000000"/>
                </a:solidFill>
              </a:rPr>
              <a:t> of a word to the </a:t>
            </a:r>
            <a:r>
              <a:rPr b="1" lang="en" sz="1924">
                <a:solidFill>
                  <a:srgbClr val="000000"/>
                </a:solidFill>
              </a:rPr>
              <a:t>Keys</a:t>
            </a:r>
            <a:r>
              <a:rPr lang="en" sz="1924">
                <a:solidFill>
                  <a:srgbClr val="000000"/>
                </a:solidFill>
              </a:rPr>
              <a:t> of all other words to decide which ones are important, and then combines their </a:t>
            </a:r>
            <a:r>
              <a:rPr b="1" lang="en" sz="1924">
                <a:solidFill>
                  <a:srgbClr val="000000"/>
                </a:solidFill>
              </a:rPr>
              <a:t>Values</a:t>
            </a:r>
            <a:r>
              <a:rPr lang="en" sz="1924">
                <a:solidFill>
                  <a:srgbClr val="000000"/>
                </a:solidFill>
              </a:rPr>
              <a:t> to get the final result.</a:t>
            </a:r>
            <a:endParaRPr sz="1924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MultiHead Latent Attention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87900" y="1479950"/>
            <a:ext cx="8169000" cy="19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b="1" lang="en" sz="1517">
                <a:solidFill>
                  <a:srgbClr val="000000"/>
                </a:solidFill>
              </a:rPr>
              <a:t>What is Multi-Head Attention (MHA)?</a:t>
            </a:r>
            <a:endParaRPr b="1" sz="1517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rPr lang="en" sz="1440">
                <a:solidFill>
                  <a:srgbClr val="000000"/>
                </a:solidFill>
              </a:rPr>
              <a:t>Instead of using just one Q-K-V comparison, transformers use </a:t>
            </a:r>
            <a:r>
              <a:rPr b="1" lang="en" sz="1440">
                <a:solidFill>
                  <a:srgbClr val="000000"/>
                </a:solidFill>
              </a:rPr>
              <a:t>multiple “heads”</a:t>
            </a:r>
            <a:r>
              <a:rPr lang="en" sz="1440">
                <a:solidFill>
                  <a:srgbClr val="000000"/>
                </a:solidFill>
              </a:rPr>
              <a:t> to learn different types of relationships. Each head looks at different things.</a:t>
            </a:r>
            <a:endParaRPr sz="144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44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17">
              <a:solidFill>
                <a:srgbClr val="000000"/>
              </a:solidFill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68834" y="2414071"/>
            <a:ext cx="4571625" cy="211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9"/>
          <p:cNvSpPr txBox="1"/>
          <p:nvPr/>
        </p:nvSpPr>
        <p:spPr>
          <a:xfrm>
            <a:off x="387900" y="2323550"/>
            <a:ext cx="3806100" cy="25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Think of it like this: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Head 1 might learn grammar rules.</a:t>
            </a: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Head 2 might focus on object references.</a:t>
            </a: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Head 3 might pay attention to word order.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4405625" y="4527550"/>
            <a:ext cx="380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What's the Problem with Standard MHA?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MultiHead Latent Attention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MLA is a smarter way to reduce memory: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Instead of storing full K and V for every token, MLA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compresses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Key and Value information into a smaller “latent” representation.</a:t>
            </a:r>
            <a:b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 then uses that compressed form to compute attention — saving memory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sacrificing quality.</a:t>
            </a:r>
            <a:b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model first </a:t>
            </a: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K and V into smaller “latent” spaces and caches only the compressed versions. Then it uses them during attention calculations.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MultiHead Latent Attention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117" name="Google Shape;117;p21"/>
          <p:cNvPicPr preferRelativeResize="0"/>
          <p:nvPr/>
        </p:nvPicPr>
        <p:blipFill rotWithShape="1">
          <a:blip r:embed="rId3">
            <a:alphaModFix/>
          </a:blip>
          <a:srcRect b="-12549" l="0" r="-2532" t="0"/>
          <a:stretch/>
        </p:blipFill>
        <p:spPr>
          <a:xfrm>
            <a:off x="295125" y="1728975"/>
            <a:ext cx="8700700" cy="2676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Low-Rank Key-Value Joint Compression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23" name="Google Shape;123;p22"/>
          <p:cNvSpPr txBox="1"/>
          <p:nvPr/>
        </p:nvSpPr>
        <p:spPr>
          <a:xfrm>
            <a:off x="387900" y="1396225"/>
            <a:ext cx="8603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In transformers, each token gets a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Key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Value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vector. In large models, storing all these vectors for every token and every head uses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a lot of memory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 (especially during inference).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387900" y="2662025"/>
            <a:ext cx="3562500" cy="22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Instead of creating separate full-size Key and Value vectors: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👉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Compress both into a single, small vector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 using a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low-rank matrix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.</a:t>
            </a:r>
            <a:br>
              <a:rPr lang="en" sz="1600">
                <a:latin typeface="Roboto"/>
                <a:ea typeface="Roboto"/>
                <a:cs typeface="Roboto"/>
                <a:sym typeface="Roboto"/>
              </a:rPr>
            </a:br>
            <a:r>
              <a:rPr lang="en" sz="1600">
                <a:latin typeface="Roboto"/>
                <a:ea typeface="Roboto"/>
                <a:cs typeface="Roboto"/>
                <a:sym typeface="Roboto"/>
              </a:rPr>
              <a:t> This shared vector is then used to reconstruct approximate Key and Value vectors when needed.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2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1775" y="2870100"/>
            <a:ext cx="4808626" cy="15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Low-Rank Key-Value Joint Compression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486600" y="1424763"/>
            <a:ext cx="86034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Roboto"/>
                <a:ea typeface="Roboto"/>
                <a:cs typeface="Roboto"/>
                <a:sym typeface="Roboto"/>
              </a:rPr>
              <a:t>Compress</a:t>
            </a:r>
            <a:r>
              <a:rPr lang="en" sz="1500">
                <a:latin typeface="Roboto"/>
                <a:ea typeface="Roboto"/>
                <a:cs typeface="Roboto"/>
                <a:sym typeface="Roboto"/>
              </a:rPr>
              <a:t> the token embedding​ into a small vector:</a:t>
            </a:r>
            <a:endParaRPr sz="2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23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37425" y="1767400"/>
            <a:ext cx="275272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3"/>
          <p:cNvSpPr txBox="1"/>
          <p:nvPr/>
        </p:nvSpPr>
        <p:spPr>
          <a:xfrm>
            <a:off x="486600" y="2433000"/>
            <a:ext cx="6855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"/>
                <a:ea typeface="Roboto"/>
                <a:cs typeface="Roboto"/>
                <a:sym typeface="Roboto"/>
              </a:rPr>
              <a:t>Later, reconstruct approximate keys and values </a:t>
            </a:r>
            <a:r>
              <a:rPr b="1" lang="en" sz="1600">
                <a:latin typeface="Roboto"/>
                <a:ea typeface="Roboto"/>
                <a:cs typeface="Roboto"/>
                <a:sym typeface="Roboto"/>
              </a:rPr>
              <a:t>from this latent vector</a:t>
            </a:r>
            <a:r>
              <a:rPr lang="en" sz="1600">
                <a:latin typeface="Roboto"/>
                <a:ea typeface="Roboto"/>
                <a:cs typeface="Roboto"/>
                <a:sym typeface="Roboto"/>
              </a:rPr>
              <a:t>:</a:t>
            </a:r>
            <a:endParaRPr sz="19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7450" y="2864825"/>
            <a:ext cx="2692675" cy="99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559075" y="4193075"/>
            <a:ext cx="7767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✅ Now you only store </a:t>
            </a:r>
            <a:r>
              <a:rPr b="1" lang="en" sz="1800">
                <a:latin typeface="Roboto"/>
                <a:ea typeface="Roboto"/>
                <a:cs typeface="Roboto"/>
                <a:sym typeface="Roboto"/>
              </a:rPr>
              <a:t>1 small vector per token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, instead of 2 big ones (Key + Value).</a:t>
            </a:r>
            <a:endParaRPr sz="21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Decoupled Rotary Position Embedding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DeepSeek-V2 utilizes the Rotary Position Embedding (RoPE)</a:t>
            </a:r>
            <a:endParaRPr sz="2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1887" y="1987725"/>
            <a:ext cx="523167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4"/>
          <p:cNvSpPr txBox="1"/>
          <p:nvPr/>
        </p:nvSpPr>
        <p:spPr>
          <a:xfrm>
            <a:off x="543750" y="3453500"/>
            <a:ext cx="8212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^(uk) will not be absorbed into WQ, leading to significant computational cost during inference.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87900" y="458025"/>
            <a:ext cx="83682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Decoupled Rotary Position Embedding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 address </a:t>
            </a:r>
            <a:r>
              <a:rPr lang="en">
                <a:solidFill>
                  <a:srgbClr val="000000"/>
                </a:solidFill>
              </a:rPr>
              <a:t>the issue</a:t>
            </a:r>
            <a:r>
              <a:rPr lang="en">
                <a:solidFill>
                  <a:srgbClr val="000000"/>
                </a:solidFill>
              </a:rPr>
              <a:t>, DeepSeek-V2 proposes to decouple RoPE into a separate set of queries and keys: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025" y="2276925"/>
            <a:ext cx="7965100" cy="22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387900" y="2233750"/>
            <a:ext cx="8368200" cy="68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Mixture of Experts (MoE)</a:t>
            </a:r>
            <a:endParaRPr sz="4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Mixture of Experts (MoE)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63" name="Google Shape;163;p27"/>
          <p:cNvSpPr txBox="1"/>
          <p:nvPr>
            <p:ph idx="1" type="body"/>
          </p:nvPr>
        </p:nvSpPr>
        <p:spPr>
          <a:xfrm>
            <a:off x="387900" y="1489825"/>
            <a:ext cx="4682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Fine-grained Expert Segmentation: More flexible expert selection.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Shared Expert Isolation</a:t>
            </a:r>
            <a:r>
              <a:rPr lang="en">
                <a:solidFill>
                  <a:srgbClr val="000000"/>
                </a:solidFill>
              </a:rPr>
              <a:t>: Capture common knowledge.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Load Balancing: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Expert-level and Device-level balancing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Auxiliary-loss-free methods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64" name="Google Shape;164;p27"/>
          <p:cNvPicPr preferRelativeResize="0"/>
          <p:nvPr/>
        </p:nvPicPr>
        <p:blipFill rotWithShape="1">
          <a:blip r:embed="rId3">
            <a:alphaModFix/>
          </a:blip>
          <a:srcRect b="0" l="25157" r="2215" t="11402"/>
          <a:stretch/>
        </p:blipFill>
        <p:spPr>
          <a:xfrm>
            <a:off x="5187575" y="1489825"/>
            <a:ext cx="3380025" cy="307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Fine-grained Expert Segmentation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87900" y="1489825"/>
            <a:ext cx="4184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Each FFN is split into m "atomic experts" by dividing its hidden dimension.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Total experts increase to mN (each original expert split into m parts).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Activated experts per token increase to mK.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71" name="Google Shape;171;p28"/>
          <p:cNvPicPr preferRelativeResize="0"/>
          <p:nvPr/>
        </p:nvPicPr>
        <p:blipFill rotWithShape="1">
          <a:blip r:embed="rId3">
            <a:alphaModFix/>
          </a:blip>
          <a:srcRect b="0" l="11023" r="3389" t="8223"/>
          <a:stretch/>
        </p:blipFill>
        <p:spPr>
          <a:xfrm>
            <a:off x="4905800" y="1408175"/>
            <a:ext cx="3850300" cy="324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Shared Expert Isolation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387900" y="1357550"/>
            <a:ext cx="4184100" cy="34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Ks experts are reserved as shared experts, activated for all tokens.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These handle universal patterns (e.g., grammar rules, syntax).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78" name="Google Shape;178;p29"/>
          <p:cNvPicPr preferRelativeResize="0"/>
          <p:nvPr/>
        </p:nvPicPr>
        <p:blipFill rotWithShape="1">
          <a:blip r:embed="rId3">
            <a:alphaModFix/>
          </a:blip>
          <a:srcRect b="0" l="9352" r="8315" t="7175"/>
          <a:stretch/>
        </p:blipFill>
        <p:spPr>
          <a:xfrm>
            <a:off x="4658550" y="1357600"/>
            <a:ext cx="3938450" cy="340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DeepSeekMoE architecture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87900" y="1357550"/>
            <a:ext cx="8368200" cy="35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Total number of routed experts Nr is reduced to mN − Ks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 number of routed experts for each token is mK − Ks.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85" name="Google Shape;185;p30"/>
          <p:cNvPicPr preferRelativeResize="0"/>
          <p:nvPr/>
        </p:nvPicPr>
        <p:blipFill rotWithShape="1">
          <a:blip r:embed="rId3">
            <a:alphaModFix/>
          </a:blip>
          <a:srcRect b="15189" l="14231" r="5227" t="0"/>
          <a:stretch/>
        </p:blipFill>
        <p:spPr>
          <a:xfrm>
            <a:off x="538025" y="2342175"/>
            <a:ext cx="8067950" cy="26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Load Balancing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1" name="Google Shape;191;p31"/>
          <p:cNvSpPr txBox="1"/>
          <p:nvPr>
            <p:ph idx="1" type="body"/>
          </p:nvPr>
        </p:nvSpPr>
        <p:spPr>
          <a:xfrm>
            <a:off x="387900" y="1489825"/>
            <a:ext cx="8368200" cy="31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Problem: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Expert-Level Imbalance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Some experts are overused ("hot experts"), while others are underused, leading to inefficient training.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A few experts handle most tokens, causing redundancy and poor generalization.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Device-Level Imbalance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lang="en" sz="1800">
                <a:solidFill>
                  <a:srgbClr val="000000"/>
                </a:solidFill>
              </a:rPr>
              <a:t>Experts distributed across devices may cause uneven computational loads or high inter-device communication costs.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Load Balancing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97" name="Google Shape;197;p32"/>
          <p:cNvSpPr txBox="1"/>
          <p:nvPr>
            <p:ph idx="1" type="body"/>
          </p:nvPr>
        </p:nvSpPr>
        <p:spPr>
          <a:xfrm>
            <a:off x="387900" y="1489825"/>
            <a:ext cx="8368200" cy="318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expert-level balance loss is formulated as follows.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98" name="Google Shape;198;p32"/>
          <p:cNvPicPr preferRelativeResize="0"/>
          <p:nvPr/>
        </p:nvPicPr>
        <p:blipFill rotWithShape="1">
          <a:blip r:embed="rId3">
            <a:alphaModFix/>
          </a:blip>
          <a:srcRect b="0" l="26284" r="9245" t="5024"/>
          <a:stretch/>
        </p:blipFill>
        <p:spPr>
          <a:xfrm>
            <a:off x="927463" y="2070475"/>
            <a:ext cx="7289075" cy="249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Sequence-Wise Auxiliary Loss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4" name="Google Shape;204;p3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Bias-Adjusted Routing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Add a bias term bi to each expert’s affinity score si,t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205" name="Google Shape;20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6450" y="2571750"/>
            <a:ext cx="7039224" cy="182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387900" y="2228700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Multi-Token Prediction</a:t>
            </a:r>
            <a:endParaRPr sz="4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Multi-Token Prediction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16" name="Google Shape;216;p35"/>
          <p:cNvSpPr txBox="1"/>
          <p:nvPr>
            <p:ph idx="1" type="body"/>
          </p:nvPr>
        </p:nvSpPr>
        <p:spPr>
          <a:xfrm>
            <a:off x="387900" y="1676675"/>
            <a:ext cx="8368200" cy="28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Predict multiple next tokens, not just one.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Improves sample efficiency during training.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Increases training overhead, but boosts final performance.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Shared embeddings and output head.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Reduces computation through shallow layer at MTP modules.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36"/>
          <p:cNvPicPr preferRelativeResize="0"/>
          <p:nvPr/>
        </p:nvPicPr>
        <p:blipFill rotWithShape="1">
          <a:blip r:embed="rId3">
            <a:alphaModFix/>
          </a:blip>
          <a:srcRect b="0" l="2409" r="3080" t="0"/>
          <a:stretch/>
        </p:blipFill>
        <p:spPr>
          <a:xfrm>
            <a:off x="530687" y="504250"/>
            <a:ext cx="8082626" cy="413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87900" y="1643400"/>
            <a:ext cx="8368200" cy="185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Co-design of Algorithms,Frameworks and Hardware</a:t>
            </a:r>
            <a:endParaRPr sz="4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Co-Design of Algorithms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2" name="Google Shape;232;p38"/>
          <p:cNvSpPr txBox="1"/>
          <p:nvPr>
            <p:ph idx="1" type="body"/>
          </p:nvPr>
        </p:nvSpPr>
        <p:spPr>
          <a:xfrm>
            <a:off x="387900" y="1489825"/>
            <a:ext cx="8368200" cy="35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DualPipe: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Mixture-of-Experts (MoE) models across multiple GPUs (communication overhead)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Overlaps computation and communication to eliminate bottlenecks.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Overlaps forward computation, backward computation for inputs, backward computation for weights, and communication.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Uses GPU SM (Streaming Multiprocessor) resources smartly.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Micro batch processing.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2 model copies.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Cut in half.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Co-Design of Algorithms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38" name="Google Shape;238;p39"/>
          <p:cNvSpPr txBox="1"/>
          <p:nvPr>
            <p:ph idx="1" type="body"/>
          </p:nvPr>
        </p:nvSpPr>
        <p:spPr>
          <a:xfrm>
            <a:off x="387900" y="970700"/>
            <a:ext cx="8368200" cy="359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FP8 Mixed Precision Training: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GEMM in FP8 with selective higher-precision components.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Higher efficiency with no loss in model quality.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Fine-Grained Quantization</a:t>
            </a:r>
            <a:r>
              <a:rPr lang="en" sz="1800">
                <a:solidFill>
                  <a:srgbClr val="000000"/>
                </a:solidFill>
              </a:rPr>
              <a:t>.</a:t>
            </a:r>
            <a:endParaRPr sz="18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800">
                <a:solidFill>
                  <a:srgbClr val="000000"/>
                </a:solidFill>
              </a:rPr>
              <a:t>High-Precision Accumulation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/>
          <p:nvPr>
            <p:ph idx="1" type="body"/>
          </p:nvPr>
        </p:nvSpPr>
        <p:spPr>
          <a:xfrm>
            <a:off x="387900" y="142487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Roboto Slab"/>
                <a:ea typeface="Roboto Slab"/>
                <a:cs typeface="Roboto Slab"/>
                <a:sym typeface="Roboto Slab"/>
              </a:rPr>
              <a:t>Reinforcement Learning Techniques in DeepSeek-R1-Zero and DeepSeek-R1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What is Reinforcement Learning? (Context of LLMs)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9" name="Google Shape;249;p4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Reinforcement Learning is typically used during the fine-tuning stage, after initial pretraining of the language model.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set of prompts is passed to the model; the generated outputs are evaluated by a reward model or human feedback.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reward signal is used to compute a loss, which is then back propagated to update the model’s parameters.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Group Relative Policy Optimization</a:t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255" name="Google Shape;25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1796" y="1371750"/>
            <a:ext cx="7995830" cy="33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Post-Training Reinforcement Learning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387900" y="137069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DeepSeek-R1-Zero</a:t>
            </a:r>
            <a:r>
              <a:rPr lang="en">
                <a:solidFill>
                  <a:srgbClr val="000000"/>
                </a:solidFill>
              </a:rPr>
              <a:t>: rained using only the GRPO algorithm for reinforcement learning.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DeepSeek-R1</a:t>
            </a:r>
            <a:r>
              <a:rPr lang="en">
                <a:solidFill>
                  <a:srgbClr val="000000"/>
                </a:solidFill>
              </a:rPr>
              <a:t>: Fine-tuned in four distinct stages:</a:t>
            </a:r>
            <a:endParaRPr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n" sz="1800">
                <a:solidFill>
                  <a:srgbClr val="000000"/>
                </a:solidFill>
              </a:rPr>
              <a:t>Cold Start</a:t>
            </a:r>
            <a:r>
              <a:rPr lang="en" sz="1800">
                <a:solidFill>
                  <a:srgbClr val="000000"/>
                </a:solidFill>
              </a:rPr>
              <a:t> : Fine-tuned DeepSeek-V3 with thousands of long Chain-of-Thought (CoT) samples.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n" sz="1800">
                <a:solidFill>
                  <a:srgbClr val="000000"/>
                </a:solidFill>
              </a:rPr>
              <a:t>Reasoning-Oriented RL</a:t>
            </a:r>
            <a:r>
              <a:rPr lang="en" sz="1800">
                <a:solidFill>
                  <a:srgbClr val="000000"/>
                </a:solidFill>
              </a:rPr>
              <a:t> : Applied GRPO algorithm to enhance reasoning abilities.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n" sz="1800">
                <a:solidFill>
                  <a:srgbClr val="000000"/>
                </a:solidFill>
              </a:rPr>
              <a:t>Rejection Sampling &amp; SFT</a:t>
            </a:r>
            <a:r>
              <a:rPr lang="en" sz="1800">
                <a:solidFill>
                  <a:srgbClr val="000000"/>
                </a:solidFill>
              </a:rPr>
              <a:t> : Collected 600k correct reasoning samples via rejection sampling, plus 200k non-reasoning samples from DeepSeek-V3 or its SFT dataset.</a:t>
            </a:r>
            <a:endParaRPr sz="1800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b="1" lang="en" sz="1800">
                <a:solidFill>
                  <a:srgbClr val="000000"/>
                </a:solidFill>
              </a:rPr>
              <a:t>RL Alignment</a:t>
            </a:r>
            <a:r>
              <a:rPr lang="en" sz="1800">
                <a:solidFill>
                  <a:srgbClr val="000000"/>
                </a:solidFill>
              </a:rPr>
              <a:t> :Improved alignment with human preferences by enhancing helpfulness, harmlessness, and reasoning quality.</a:t>
            </a:r>
            <a:endParaRPr sz="1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idx="1" type="body"/>
          </p:nvPr>
        </p:nvSpPr>
        <p:spPr>
          <a:xfrm>
            <a:off x="528675" y="20204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Roboto Slab"/>
                <a:ea typeface="Roboto Slab"/>
                <a:cs typeface="Roboto Slab"/>
                <a:sym typeface="Roboto Slab"/>
              </a:rPr>
              <a:t>Discussion and Conclusion</a:t>
            </a:r>
            <a:endParaRPr sz="27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Discussion and Conclusion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2" name="Google Shape;272;p45"/>
          <p:cNvSpPr txBox="1"/>
          <p:nvPr>
            <p:ph idx="1" type="body"/>
          </p:nvPr>
        </p:nvSpPr>
        <p:spPr>
          <a:xfrm>
            <a:off x="268775" y="150064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Transformer Architecture Improvements:</a:t>
            </a:r>
            <a:endParaRPr b="1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Enhanced attention (MLA) and FFN (MoE) modules improve model effectiveness and efficiency. Future work includes deeper analysis of position embeddings and load balancing.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Multi-token prediction:</a:t>
            </a:r>
            <a:endParaRPr b="1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It boosts training data utilization.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Discussion and Conclusion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78" name="Google Shape;278;p46"/>
          <p:cNvSpPr txBox="1"/>
          <p:nvPr>
            <p:ph idx="1" type="body"/>
          </p:nvPr>
        </p:nvSpPr>
        <p:spPr>
          <a:xfrm>
            <a:off x="268775" y="150064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Co-Design of Algorithms, Frameworks, and Hardware:</a:t>
            </a:r>
            <a:endParaRPr b="1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Techniques like DualPipe and FP8 precision show the benefits of integrated model-engineering design.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Reinforcement Learning Advances:</a:t>
            </a:r>
            <a:endParaRPr b="1">
              <a:solidFill>
                <a:srgbClr val="000000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Pure RL post-training yields strong results. GRPO reduces GPU memory usage.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7"/>
          <p:cNvSpPr txBox="1"/>
          <p:nvPr>
            <p:ph idx="1" type="body"/>
          </p:nvPr>
        </p:nvSpPr>
        <p:spPr>
          <a:xfrm>
            <a:off x="214650" y="2150349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900">
                <a:latin typeface="Roboto Slab"/>
                <a:ea typeface="Roboto Slab"/>
                <a:cs typeface="Roboto Slab"/>
                <a:sym typeface="Roboto Slab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