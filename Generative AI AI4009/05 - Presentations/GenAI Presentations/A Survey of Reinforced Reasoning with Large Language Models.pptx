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Arimo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mGFyba6ItuLyS9dk2QRkxyYUx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9761F-4DFE-4345-AE20-72CE22C60974}">
  <a:tblStyle styleId="{0BF9761F-4DFE-4345-AE20-72CE22C609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boldItalic.fntdata"/><Relationship Id="rId25" Type="http://schemas.openxmlformats.org/officeDocument/2006/relationships/font" Target="fonts/Arimo-bold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2245893" y="2634464"/>
            <a:ext cx="13796213" cy="4837247"/>
            <a:chOff x="0" y="-47625"/>
            <a:chExt cx="3633571" cy="1274007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3633570" cy="1226382"/>
            </a:xfrm>
            <a:custGeom>
              <a:rect b="b" l="l" r="r" t="t"/>
              <a:pathLst>
                <a:path extrusionOk="0" h="1226382" w="3633570">
                  <a:moveTo>
                    <a:pt x="0" y="0"/>
                  </a:moveTo>
                  <a:lnTo>
                    <a:pt x="3633570" y="0"/>
                  </a:lnTo>
                  <a:lnTo>
                    <a:pt x="3633570" y="1226382"/>
                  </a:lnTo>
                  <a:lnTo>
                    <a:pt x="0" y="1226382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3633571" cy="1274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 rot="1304065">
            <a:off x="1156142" y="1120447"/>
            <a:ext cx="2686742" cy="3001440"/>
          </a:xfrm>
          <a:custGeom>
            <a:rect b="b" l="l" r="r" t="t"/>
            <a:pathLst>
              <a:path extrusionOk="0" h="3001440" w="2686742">
                <a:moveTo>
                  <a:pt x="0" y="0"/>
                </a:moveTo>
                <a:lnTo>
                  <a:pt x="2686741" y="0"/>
                </a:lnTo>
                <a:lnTo>
                  <a:pt x="2686741" y="3001441"/>
                </a:lnTo>
                <a:lnTo>
                  <a:pt x="0" y="3001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-541450">
            <a:off x="14149825" y="6104506"/>
            <a:ext cx="2615300" cy="2761785"/>
          </a:xfrm>
          <a:custGeom>
            <a:rect b="b" l="l" r="r" t="t"/>
            <a:pathLst>
              <a:path extrusionOk="0" h="2761785" w="2615300">
                <a:moveTo>
                  <a:pt x="0" y="0"/>
                </a:moveTo>
                <a:lnTo>
                  <a:pt x="2615300" y="0"/>
                </a:lnTo>
                <a:lnTo>
                  <a:pt x="2615300" y="2761785"/>
                </a:lnTo>
                <a:lnTo>
                  <a:pt x="0" y="2761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3325643" y="4268043"/>
            <a:ext cx="11636713" cy="2053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Towards Large Reasoning Models: A Survey of Reinforced Reasoning with Large Language Models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-496166" y="7993829"/>
            <a:ext cx="4526072" cy="2528943"/>
          </a:xfrm>
          <a:custGeom>
            <a:rect b="b" l="l" r="r" t="t"/>
            <a:pathLst>
              <a:path extrusionOk="0" h="2528943" w="4526072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 rot="10800000">
            <a:off x="14192633" y="-235771"/>
            <a:ext cx="4526072" cy="2528943"/>
          </a:xfrm>
          <a:custGeom>
            <a:rect b="b" l="l" r="r" t="t"/>
            <a:pathLst>
              <a:path extrusionOk="0" h="2528943" w="4526072">
                <a:moveTo>
                  <a:pt x="0" y="0"/>
                </a:moveTo>
                <a:lnTo>
                  <a:pt x="4526072" y="0"/>
                </a:lnTo>
                <a:lnTo>
                  <a:pt x="4526072" y="2528942"/>
                </a:lnTo>
                <a:lnTo>
                  <a:pt x="0" y="25289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3" name="Google Shape;93;p1"/>
          <p:cNvGrpSpPr/>
          <p:nvPr/>
        </p:nvGrpSpPr>
        <p:grpSpPr>
          <a:xfrm>
            <a:off x="15729015" y="4021486"/>
            <a:ext cx="626183" cy="801519"/>
            <a:chOff x="0" y="-47625"/>
            <a:chExt cx="164921" cy="2111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64921" cy="163475"/>
            </a:xfrm>
            <a:custGeom>
              <a:rect b="b" l="l" r="r" t="t"/>
              <a:pathLst>
                <a:path extrusionOk="0" h="163475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63475"/>
                  </a:lnTo>
                  <a:lnTo>
                    <a:pt x="0" y="163475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164921" cy="21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6787048" y="4962673"/>
            <a:ext cx="418486" cy="578753"/>
            <a:chOff x="0" y="-47625"/>
            <a:chExt cx="110219" cy="152428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10219" cy="104803"/>
            </a:xfrm>
            <a:custGeom>
              <a:rect b="b" l="l" r="r" t="t"/>
              <a:pathLst>
                <a:path extrusionOk="0" h="104803" w="110219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5936712" y="5487953"/>
            <a:ext cx="291131" cy="451398"/>
            <a:chOff x="0" y="-47625"/>
            <a:chExt cx="76677" cy="118886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76677" cy="71261"/>
            </a:xfrm>
            <a:custGeom>
              <a:rect b="b" l="l" r="r" t="t"/>
              <a:pathLst>
                <a:path extrusionOk="0" h="71261" w="76677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2036650" y="5988470"/>
            <a:ext cx="418486" cy="578753"/>
            <a:chOff x="0" y="-47625"/>
            <a:chExt cx="110219" cy="152428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110219" cy="104803"/>
            </a:xfrm>
            <a:custGeom>
              <a:rect b="b" l="l" r="r" t="t"/>
              <a:pathLst>
                <a:path extrusionOk="0" h="104803" w="110219">
                  <a:moveTo>
                    <a:pt x="0" y="0"/>
                  </a:moveTo>
                  <a:lnTo>
                    <a:pt x="110219" y="0"/>
                  </a:lnTo>
                  <a:lnTo>
                    <a:pt x="110219" y="104803"/>
                  </a:lnTo>
                  <a:lnTo>
                    <a:pt x="0" y="104803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-47625"/>
              <a:ext cx="110219" cy="152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2652804" y="6705756"/>
            <a:ext cx="291131" cy="451398"/>
            <a:chOff x="0" y="-47625"/>
            <a:chExt cx="76677" cy="118886"/>
          </a:xfrm>
        </p:grpSpPr>
        <p:sp>
          <p:nvSpPr>
            <p:cNvPr id="106" name="Google Shape;106;p1"/>
            <p:cNvSpPr/>
            <p:nvPr/>
          </p:nvSpPr>
          <p:spPr>
            <a:xfrm>
              <a:off x="0" y="0"/>
              <a:ext cx="76677" cy="71261"/>
            </a:xfrm>
            <a:custGeom>
              <a:rect b="b" l="l" r="r" t="t"/>
              <a:pathLst>
                <a:path extrusionOk="0" h="71261" w="76677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07" name="Google Shape;107;p1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"/>
          <p:cNvGrpSpPr/>
          <p:nvPr/>
        </p:nvGrpSpPr>
        <p:grpSpPr>
          <a:xfrm>
            <a:off x="2036650" y="7169286"/>
            <a:ext cx="291131" cy="451398"/>
            <a:chOff x="0" y="-47625"/>
            <a:chExt cx="76677" cy="118886"/>
          </a:xfrm>
        </p:grpSpPr>
        <p:sp>
          <p:nvSpPr>
            <p:cNvPr id="109" name="Google Shape;109;p1"/>
            <p:cNvSpPr/>
            <p:nvPr/>
          </p:nvSpPr>
          <p:spPr>
            <a:xfrm>
              <a:off x="0" y="0"/>
              <a:ext cx="76677" cy="71261"/>
            </a:xfrm>
            <a:custGeom>
              <a:rect b="b" l="l" r="r" t="t"/>
              <a:pathLst>
                <a:path extrusionOk="0" h="71261" w="76677">
                  <a:moveTo>
                    <a:pt x="0" y="0"/>
                  </a:moveTo>
                  <a:lnTo>
                    <a:pt x="76677" y="0"/>
                  </a:lnTo>
                  <a:lnTo>
                    <a:pt x="76677" y="71261"/>
                  </a:lnTo>
                  <a:lnTo>
                    <a:pt x="0" y="7126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10" name="Google Shape;110;p1"/>
            <p:cNvSpPr txBox="1"/>
            <p:nvPr/>
          </p:nvSpPr>
          <p:spPr>
            <a:xfrm>
              <a:off x="0" y="-47625"/>
              <a:ext cx="76677" cy="11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"/>
          <p:cNvSpPr txBox="1"/>
          <p:nvPr/>
        </p:nvSpPr>
        <p:spPr>
          <a:xfrm>
            <a:off x="3325643" y="7658100"/>
            <a:ext cx="11636713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Mehak Fatima     21L-5614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Minahil Mobin     21L-5679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Raveeha Zubair  21L-6222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117" name="Google Shape;117;p2"/>
          <p:cNvGrpSpPr/>
          <p:nvPr/>
        </p:nvGrpSpPr>
        <p:grpSpPr>
          <a:xfrm>
            <a:off x="15192266" y="1163865"/>
            <a:ext cx="747321" cy="949241"/>
            <a:chOff x="0" y="-47625"/>
            <a:chExt cx="196825" cy="250006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2943935" y="604603"/>
            <a:ext cx="12400129" cy="974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  <a:endParaRPr/>
          </a:p>
        </p:txBody>
      </p:sp>
      <p:grpSp>
        <p:nvGrpSpPr>
          <p:cNvPr id="121" name="Google Shape;121;p2"/>
          <p:cNvGrpSpPr/>
          <p:nvPr/>
        </p:nvGrpSpPr>
        <p:grpSpPr>
          <a:xfrm>
            <a:off x="16250742" y="2212256"/>
            <a:ext cx="626183" cy="747345"/>
            <a:chOff x="0" y="-47625"/>
            <a:chExt cx="164921" cy="196832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23" name="Google Shape;123;p2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6721829" y="1398501"/>
            <a:ext cx="310192" cy="479969"/>
            <a:chOff x="0" y="-47625"/>
            <a:chExt cx="81697" cy="126411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569070" y="6673500"/>
            <a:ext cx="310192" cy="479969"/>
            <a:chOff x="0" y="-47625"/>
            <a:chExt cx="81697" cy="126411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333412" y="7336099"/>
            <a:ext cx="310192" cy="479969"/>
            <a:chOff x="0" y="-47625"/>
            <a:chExt cx="81697" cy="126411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 txBox="1"/>
          <p:nvPr/>
        </p:nvSpPr>
        <p:spPr>
          <a:xfrm>
            <a:off x="1888787" y="2737839"/>
            <a:ext cx="13576300" cy="7589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668" lvl="1" marL="561336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LLMs struggle with complex reasoning tasks requiring multi-step thinking, logical consistency, and decomposition.</a:t>
            </a:r>
            <a:endParaRPr/>
          </a:p>
          <a:p>
            <a:pPr indent="-280668" lvl="1" marL="561336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survey explores how to enhance and evaluate reasoning in LLMs.</a:t>
            </a:r>
            <a:endParaRPr/>
          </a:p>
          <a:p>
            <a:pPr indent="-280668" lvl="1" marL="561336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Focus is on Reinforced Reasoning, combining:</a:t>
            </a:r>
            <a:endParaRPr/>
          </a:p>
          <a:p>
            <a:pPr indent="-374224" lvl="2" marL="1122671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Reinforcement Learning (RL)</a:t>
            </a:r>
            <a:endParaRPr/>
          </a:p>
          <a:p>
            <a:pPr indent="-374224" lvl="2" marL="1122671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Search algorithms</a:t>
            </a:r>
            <a:endParaRPr/>
          </a:p>
          <a:p>
            <a:pPr indent="-374224" lvl="2" marL="1122671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⚬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Chain-of-Thought (CoT) reasoning</a:t>
            </a:r>
            <a:endParaRPr/>
          </a:p>
          <a:p>
            <a:pPr indent="-280668" lvl="1" marL="561336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Goal: Build Large Reasoning Models (LRMs) with stronger, more reliable reasoning abilities.</a:t>
            </a:r>
            <a:endParaRPr/>
          </a:p>
          <a:p>
            <a:pPr indent="0" lvl="0" marL="0" marR="0" rtl="0" algn="just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21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4" name="Google Shape;134;p2"/>
          <p:cNvSpPr/>
          <p:nvPr/>
        </p:nvSpPr>
        <p:spPr>
          <a:xfrm rot="-541450">
            <a:off x="15392675" y="7337200"/>
            <a:ext cx="2615300" cy="2761785"/>
          </a:xfrm>
          <a:custGeom>
            <a:rect b="b" l="l" r="r" t="t"/>
            <a:pathLst>
              <a:path extrusionOk="0" h="2761785" w="2615300">
                <a:moveTo>
                  <a:pt x="0" y="0"/>
                </a:moveTo>
                <a:lnTo>
                  <a:pt x="2615300" y="0"/>
                </a:lnTo>
                <a:lnTo>
                  <a:pt x="2615300" y="2761786"/>
                </a:lnTo>
                <a:lnTo>
                  <a:pt x="0" y="27617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140" name="Google Shape;140;p3"/>
          <p:cNvGrpSpPr/>
          <p:nvPr/>
        </p:nvGrpSpPr>
        <p:grpSpPr>
          <a:xfrm>
            <a:off x="15192266" y="1163865"/>
            <a:ext cx="747321" cy="949241"/>
            <a:chOff x="0" y="-47625"/>
            <a:chExt cx="196825" cy="250006"/>
          </a:xfrm>
        </p:grpSpPr>
        <p:sp>
          <p:nvSpPr>
            <p:cNvPr id="141" name="Google Shape;141;p3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42" name="Google Shape;142;p3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3"/>
          <p:cNvSpPr txBox="1"/>
          <p:nvPr/>
        </p:nvSpPr>
        <p:spPr>
          <a:xfrm>
            <a:off x="3539458" y="607611"/>
            <a:ext cx="12400129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  <a:endParaRPr/>
          </a:p>
        </p:txBody>
      </p:sp>
      <p:grpSp>
        <p:nvGrpSpPr>
          <p:cNvPr id="144" name="Google Shape;144;p3"/>
          <p:cNvGrpSpPr/>
          <p:nvPr/>
        </p:nvGrpSpPr>
        <p:grpSpPr>
          <a:xfrm>
            <a:off x="16250742" y="2212256"/>
            <a:ext cx="626183" cy="747345"/>
            <a:chOff x="0" y="-47625"/>
            <a:chExt cx="164921" cy="196832"/>
          </a:xfrm>
        </p:grpSpPr>
        <p:sp>
          <p:nvSpPr>
            <p:cNvPr id="145" name="Google Shape;145;p3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46" name="Google Shape;146;p3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16721829" y="1398501"/>
            <a:ext cx="310192" cy="479969"/>
            <a:chOff x="0" y="-47625"/>
            <a:chExt cx="81697" cy="126411"/>
          </a:xfrm>
        </p:grpSpPr>
        <p:sp>
          <p:nvSpPr>
            <p:cNvPr id="148" name="Google Shape;148;p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49" name="Google Shape;149;p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3"/>
          <p:cNvGrpSpPr/>
          <p:nvPr/>
        </p:nvGrpSpPr>
        <p:grpSpPr>
          <a:xfrm>
            <a:off x="1569070" y="6673500"/>
            <a:ext cx="310192" cy="479969"/>
            <a:chOff x="0" y="-47625"/>
            <a:chExt cx="81697" cy="126411"/>
          </a:xfrm>
        </p:grpSpPr>
        <p:sp>
          <p:nvSpPr>
            <p:cNvPr id="151" name="Google Shape;151;p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52" name="Google Shape;152;p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3"/>
          <p:cNvGrpSpPr/>
          <p:nvPr/>
        </p:nvGrpSpPr>
        <p:grpSpPr>
          <a:xfrm>
            <a:off x="2333412" y="7336099"/>
            <a:ext cx="310192" cy="479969"/>
            <a:chOff x="0" y="-47625"/>
            <a:chExt cx="81697" cy="126411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55" name="Google Shape;155;p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3"/>
          <p:cNvSpPr txBox="1"/>
          <p:nvPr/>
        </p:nvSpPr>
        <p:spPr>
          <a:xfrm>
            <a:off x="1623312" y="2199013"/>
            <a:ext cx="15041400" cy="5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LLMs like ChatGPT are big AI models trained on huge amounts of text.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They’re not just good at writing — they can think step-by-step like humans.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 methods like "Chain of Thought" help them explain their answers clearly.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But training them to reason well needs a lot of step-by-step examples, which is hard for humans to label.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Now, researchers let LLMs learn by themselves using trial-and-error and reward systems.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creates a cycle of improvement, making models smarter over time.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goal: Build Large Reasoning Models — not just chatbots, but AI that can truly think and solve real problems.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7" name="Google Shape;157;p3"/>
          <p:cNvSpPr/>
          <p:nvPr/>
        </p:nvSpPr>
        <p:spPr>
          <a:xfrm rot="444080">
            <a:off x="15336129" y="7940869"/>
            <a:ext cx="2455410" cy="2216568"/>
          </a:xfrm>
          <a:custGeom>
            <a:rect b="b" l="l" r="r" t="t"/>
            <a:pathLst>
              <a:path extrusionOk="0" h="2216568" w="2455410">
                <a:moveTo>
                  <a:pt x="0" y="0"/>
                </a:moveTo>
                <a:lnTo>
                  <a:pt x="2455410" y="0"/>
                </a:lnTo>
                <a:lnTo>
                  <a:pt x="2455410" y="2216568"/>
                </a:lnTo>
                <a:lnTo>
                  <a:pt x="0" y="2216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15192266" y="1163865"/>
            <a:ext cx="747321" cy="949241"/>
            <a:chOff x="0" y="-47625"/>
            <a:chExt cx="196825" cy="250006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1388504" y="1664868"/>
            <a:ext cx="15771802" cy="8130830"/>
            <a:chOff x="0" y="-47625"/>
            <a:chExt cx="4153863" cy="2141439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4153863" cy="2093814"/>
            </a:xfrm>
            <a:custGeom>
              <a:rect b="b" l="l" r="r" t="t"/>
              <a:pathLst>
                <a:path extrusionOk="0" h="2093814" w="4153863">
                  <a:moveTo>
                    <a:pt x="0" y="0"/>
                  </a:moveTo>
                  <a:lnTo>
                    <a:pt x="4153863" y="0"/>
                  </a:lnTo>
                  <a:lnTo>
                    <a:pt x="4153863" y="2093814"/>
                  </a:lnTo>
                  <a:lnTo>
                    <a:pt x="0" y="2093814"/>
                  </a:lnTo>
                  <a:close/>
                </a:path>
              </a:pathLst>
            </a:custGeom>
            <a:solidFill>
              <a:srgbClr val="FFFFFF">
                <a:alpha val="1059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47625"/>
              <a:ext cx="4153800" cy="21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84518" lvl="1" marL="410208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99"/>
                <a:buFont typeface="Calibri"/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16250742" y="2212256"/>
            <a:ext cx="626183" cy="747345"/>
            <a:chOff x="0" y="-47625"/>
            <a:chExt cx="164921" cy="196832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4"/>
          <p:cNvGrpSpPr/>
          <p:nvPr/>
        </p:nvGrpSpPr>
        <p:grpSpPr>
          <a:xfrm>
            <a:off x="1569070" y="6673500"/>
            <a:ext cx="310192" cy="479969"/>
            <a:chOff x="0" y="-47625"/>
            <a:chExt cx="81697" cy="126411"/>
          </a:xfrm>
        </p:grpSpPr>
        <p:sp>
          <p:nvSpPr>
            <p:cNvPr id="173" name="Google Shape;173;p4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74" name="Google Shape;174;p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4"/>
          <p:cNvGrpSpPr/>
          <p:nvPr/>
        </p:nvGrpSpPr>
        <p:grpSpPr>
          <a:xfrm>
            <a:off x="2333412" y="7336099"/>
            <a:ext cx="310192" cy="479969"/>
            <a:chOff x="0" y="-47625"/>
            <a:chExt cx="81697" cy="126411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77" name="Google Shape;177;p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16721829" y="1398501"/>
            <a:ext cx="310195" cy="479970"/>
            <a:chOff x="0" y="-47625"/>
            <a:chExt cx="81697" cy="126411"/>
          </a:xfrm>
        </p:grpSpPr>
        <p:sp>
          <p:nvSpPr>
            <p:cNvPr id="179" name="Google Shape;179;p4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80" name="Google Shape;180;p4"/>
            <p:cNvSpPr txBox="1"/>
            <p:nvPr/>
          </p:nvSpPr>
          <p:spPr>
            <a:xfrm>
              <a:off x="0" y="-47625"/>
              <a:ext cx="81600" cy="12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81" name="Google Shape;181;p4"/>
          <p:cNvGraphicFramePr/>
          <p:nvPr/>
        </p:nvGraphicFramePr>
        <p:xfrm>
          <a:off x="2141663" y="2113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{0BF9761F-4DFE-4345-AE20-72CE22C60974}</a:tableStyleId>
              </a:tblPr>
              <a:tblGrid>
                <a:gridCol w="3872250"/>
                <a:gridCol w="4655950"/>
                <a:gridCol w="5737250"/>
              </a:tblGrid>
              <a:tr h="1024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Steps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It Does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Why It Matters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7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Pretraining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Trained on Huge amount of data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Tries to guess next word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First step of learning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Fine Tuning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Follows instruction better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Gives better results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Gives a boost to model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9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Alignment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Human ranks model responses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 reward model is trained to understand what makes a good response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LLM trained using RL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Breaking model into steps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Learns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Get Feedback and improve gradually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Prompting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Chain of thoughts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Think step by step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Multiple Paths Explored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Agentic Workflow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Samples given in the prompt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Adjusts to new task or user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Work together with humans to solve problems</a:t>
                      </a:r>
                      <a:endParaRPr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99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 mind of it’s own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4"/>
          <p:cNvSpPr txBox="1"/>
          <p:nvPr/>
        </p:nvSpPr>
        <p:spPr>
          <a:xfrm>
            <a:off x="3539458" y="607611"/>
            <a:ext cx="12400129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Background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188" name="Google Shape;188;p5"/>
          <p:cNvGrpSpPr/>
          <p:nvPr/>
        </p:nvGrpSpPr>
        <p:grpSpPr>
          <a:xfrm>
            <a:off x="1724166" y="2550860"/>
            <a:ext cx="14839668" cy="6276494"/>
            <a:chOff x="0" y="-47625"/>
            <a:chExt cx="3908390" cy="1653068"/>
          </a:xfrm>
        </p:grpSpPr>
        <p:sp>
          <p:nvSpPr>
            <p:cNvPr id="189" name="Google Shape;189;p5"/>
            <p:cNvSpPr/>
            <p:nvPr/>
          </p:nvSpPr>
          <p:spPr>
            <a:xfrm>
              <a:off x="0" y="0"/>
              <a:ext cx="3908390" cy="1605443"/>
            </a:xfrm>
            <a:custGeom>
              <a:rect b="b" l="l" r="r" t="t"/>
              <a:pathLst>
                <a:path extrusionOk="0" h="1605443" w="3908390">
                  <a:moveTo>
                    <a:pt x="0" y="0"/>
                  </a:moveTo>
                  <a:lnTo>
                    <a:pt x="3908390" y="0"/>
                  </a:lnTo>
                  <a:lnTo>
                    <a:pt x="3908390" y="1605443"/>
                  </a:lnTo>
                  <a:lnTo>
                    <a:pt x="0" y="1605443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190" name="Google Shape;190;p5"/>
            <p:cNvSpPr txBox="1"/>
            <p:nvPr/>
          </p:nvSpPr>
          <p:spPr>
            <a:xfrm>
              <a:off x="0" y="-47625"/>
              <a:ext cx="3908390" cy="1653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91" name="Google Shape;191;p5"/>
          <p:cNvGrpSpPr/>
          <p:nvPr/>
        </p:nvGrpSpPr>
        <p:grpSpPr>
          <a:xfrm>
            <a:off x="15192266" y="1163865"/>
            <a:ext cx="747321" cy="949241"/>
            <a:chOff x="0" y="-47625"/>
            <a:chExt cx="196825" cy="250006"/>
          </a:xfrm>
        </p:grpSpPr>
        <p:sp>
          <p:nvSpPr>
            <p:cNvPr id="192" name="Google Shape;192;p5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93" name="Google Shape;193;p5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5"/>
          <p:cNvSpPr txBox="1"/>
          <p:nvPr/>
        </p:nvSpPr>
        <p:spPr>
          <a:xfrm>
            <a:off x="552817" y="607611"/>
            <a:ext cx="17416180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Construction: From Human Annotation to LLM Automation</a:t>
            </a:r>
            <a:endParaRPr/>
          </a:p>
        </p:txBody>
      </p:sp>
      <p:grpSp>
        <p:nvGrpSpPr>
          <p:cNvPr id="195" name="Google Shape;195;p5"/>
          <p:cNvGrpSpPr/>
          <p:nvPr/>
        </p:nvGrpSpPr>
        <p:grpSpPr>
          <a:xfrm>
            <a:off x="16250742" y="2212256"/>
            <a:ext cx="626183" cy="747345"/>
            <a:chOff x="0" y="-47625"/>
            <a:chExt cx="164921" cy="196832"/>
          </a:xfrm>
        </p:grpSpPr>
        <p:sp>
          <p:nvSpPr>
            <p:cNvPr id="196" name="Google Shape;196;p5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197" name="Google Shape;197;p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16721829" y="1398501"/>
            <a:ext cx="310192" cy="479969"/>
            <a:chOff x="0" y="-47625"/>
            <a:chExt cx="81697" cy="126411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1569070" y="6673500"/>
            <a:ext cx="310192" cy="479969"/>
            <a:chOff x="0" y="-47625"/>
            <a:chExt cx="81697" cy="126411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2333412" y="7336099"/>
            <a:ext cx="310192" cy="479969"/>
            <a:chOff x="0" y="-47625"/>
            <a:chExt cx="81697" cy="126411"/>
          </a:xfrm>
        </p:grpSpPr>
        <p:sp>
          <p:nvSpPr>
            <p:cNvPr id="205" name="Google Shape;205;p5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06" name="Google Shape;206;p5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5"/>
          <p:cNvSpPr txBox="1"/>
          <p:nvPr/>
        </p:nvSpPr>
        <p:spPr>
          <a:xfrm>
            <a:off x="1879275" y="2959601"/>
            <a:ext cx="15041400" cy="5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Human Annotation</a:t>
            </a:r>
            <a:endParaRPr/>
          </a:p>
          <a:p>
            <a:pPr indent="-359830" lvl="2" marL="1079492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⚬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High-quality but costly</a:t>
            </a:r>
            <a:endParaRPr/>
          </a:p>
          <a:p>
            <a:pPr indent="-359830" lvl="2" marL="1079492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⚬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Crucial for complex tasks (e.g., RLHF, math reasoning)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LLM Automation</a:t>
            </a:r>
            <a:endParaRPr/>
          </a:p>
          <a:p>
            <a:pPr indent="-359830" lvl="2" marL="1079492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⚬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Cost-effective &amp; scalable</a:t>
            </a:r>
            <a:endParaRPr/>
          </a:p>
          <a:p>
            <a:pPr indent="-359830" lvl="2" marL="1079492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⚬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Outcome Annotation: Tool use, self-refinement</a:t>
            </a:r>
            <a:endParaRPr/>
          </a:p>
          <a:p>
            <a:pPr indent="-269872" lvl="1" marL="539746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 Annotation:</a:t>
            </a:r>
            <a:endParaRPr/>
          </a:p>
          <a:p>
            <a:pPr indent="-404809" lvl="3" marL="161923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￭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Stronger LLMs label steps</a:t>
            </a:r>
            <a:endParaRPr/>
          </a:p>
          <a:p>
            <a:pPr indent="-404809" lvl="3" marL="161923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￭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Monte Carlo &amp; MCTS simulations</a:t>
            </a:r>
            <a:endParaRPr/>
          </a:p>
          <a:p>
            <a:pPr indent="-404809" lvl="3" marL="1619239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99"/>
              <a:buFont typeface="Arial"/>
              <a:buChar char="￭"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PRM: Train reward models to refine steps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1183796" y="479416"/>
            <a:ext cx="164576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Importance of Instruction Following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 rot="444080">
            <a:off x="15700051" y="7921515"/>
            <a:ext cx="2455410" cy="2216568"/>
          </a:xfrm>
          <a:custGeom>
            <a:rect b="b" l="l" r="r" t="t"/>
            <a:pathLst>
              <a:path extrusionOk="0" h="2216568" w="2455410">
                <a:moveTo>
                  <a:pt x="0" y="0"/>
                </a:moveTo>
                <a:lnTo>
                  <a:pt x="2455410" y="0"/>
                </a:lnTo>
                <a:lnTo>
                  <a:pt x="2455410" y="2216568"/>
                </a:lnTo>
                <a:lnTo>
                  <a:pt x="0" y="2216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5" name="Google Shape;215;p6"/>
          <p:cNvGrpSpPr/>
          <p:nvPr/>
        </p:nvGrpSpPr>
        <p:grpSpPr>
          <a:xfrm>
            <a:off x="1505602" y="1184519"/>
            <a:ext cx="747321" cy="949241"/>
            <a:chOff x="0" y="-47625"/>
            <a:chExt cx="196825" cy="250006"/>
          </a:xfrm>
        </p:grpSpPr>
        <p:sp>
          <p:nvSpPr>
            <p:cNvPr id="216" name="Google Shape;216;p6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17" name="Google Shape;217;p6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6"/>
          <p:cNvGrpSpPr/>
          <p:nvPr/>
        </p:nvGrpSpPr>
        <p:grpSpPr>
          <a:xfrm>
            <a:off x="870704" y="2456383"/>
            <a:ext cx="626183" cy="747345"/>
            <a:chOff x="0" y="-47625"/>
            <a:chExt cx="164921" cy="196832"/>
          </a:xfrm>
        </p:grpSpPr>
        <p:sp>
          <p:nvSpPr>
            <p:cNvPr id="219" name="Google Shape;219;p6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20" name="Google Shape;220;p6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6"/>
          <p:cNvGrpSpPr/>
          <p:nvPr/>
        </p:nvGrpSpPr>
        <p:grpSpPr>
          <a:xfrm>
            <a:off x="524133" y="844505"/>
            <a:ext cx="310192" cy="479969"/>
            <a:chOff x="0" y="-47625"/>
            <a:chExt cx="81697" cy="126411"/>
          </a:xfrm>
        </p:grpSpPr>
        <p:sp>
          <p:nvSpPr>
            <p:cNvPr id="222" name="Google Shape;222;p6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23" name="Google Shape;223;p6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16722033" y="2144826"/>
            <a:ext cx="310192" cy="479969"/>
            <a:chOff x="0" y="-47625"/>
            <a:chExt cx="81697" cy="126411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17486375" y="2807426"/>
            <a:ext cx="310192" cy="479969"/>
            <a:chOff x="0" y="-47625"/>
            <a:chExt cx="81697" cy="126411"/>
          </a:xfrm>
        </p:grpSpPr>
        <p:sp>
          <p:nvSpPr>
            <p:cNvPr id="228" name="Google Shape;228;p6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29" name="Google Shape;229;p6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6"/>
          <p:cNvGrpSpPr/>
          <p:nvPr/>
        </p:nvGrpSpPr>
        <p:grpSpPr>
          <a:xfrm>
            <a:off x="17638775" y="2959826"/>
            <a:ext cx="310192" cy="479969"/>
            <a:chOff x="0" y="-47625"/>
            <a:chExt cx="81697" cy="126411"/>
          </a:xfrm>
        </p:grpSpPr>
        <p:sp>
          <p:nvSpPr>
            <p:cNvPr id="231" name="Google Shape;231;p6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32" name="Google Shape;232;p6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6"/>
          <p:cNvSpPr/>
          <p:nvPr/>
        </p:nvSpPr>
        <p:spPr>
          <a:xfrm>
            <a:off x="1879262" y="1692241"/>
            <a:ext cx="14571634" cy="7151809"/>
          </a:xfrm>
          <a:custGeom>
            <a:rect b="b" l="l" r="r" t="t"/>
            <a:pathLst>
              <a:path extrusionOk="0" h="7151809" w="14571634">
                <a:moveTo>
                  <a:pt x="0" y="0"/>
                </a:moveTo>
                <a:lnTo>
                  <a:pt x="14571634" y="0"/>
                </a:lnTo>
                <a:lnTo>
                  <a:pt x="14571634" y="7151809"/>
                </a:lnTo>
                <a:lnTo>
                  <a:pt x="0" y="7151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239" name="Google Shape;239;p7"/>
          <p:cNvGrpSpPr/>
          <p:nvPr/>
        </p:nvGrpSpPr>
        <p:grpSpPr>
          <a:xfrm>
            <a:off x="732038" y="1162303"/>
            <a:ext cx="16969765" cy="8687628"/>
            <a:chOff x="0" y="-115030"/>
            <a:chExt cx="4469403" cy="2288100"/>
          </a:xfrm>
        </p:grpSpPr>
        <p:sp>
          <p:nvSpPr>
            <p:cNvPr id="240" name="Google Shape;240;p7"/>
            <p:cNvSpPr/>
            <p:nvPr/>
          </p:nvSpPr>
          <p:spPr>
            <a:xfrm>
              <a:off x="0" y="0"/>
              <a:ext cx="4469327" cy="2172919"/>
            </a:xfrm>
            <a:custGeom>
              <a:rect b="b" l="l" r="r" t="t"/>
              <a:pathLst>
                <a:path extrusionOk="0" h="2172919" w="4469327">
                  <a:moveTo>
                    <a:pt x="0" y="0"/>
                  </a:moveTo>
                  <a:lnTo>
                    <a:pt x="4469327" y="0"/>
                  </a:lnTo>
                  <a:lnTo>
                    <a:pt x="4469327" y="2172919"/>
                  </a:lnTo>
                  <a:lnTo>
                    <a:pt x="0" y="2172919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241" name="Google Shape;241;p7"/>
            <p:cNvSpPr txBox="1"/>
            <p:nvPr/>
          </p:nvSpPr>
          <p:spPr>
            <a:xfrm>
              <a:off x="3" y="-115030"/>
              <a:ext cx="4469400" cy="228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7"/>
          <p:cNvSpPr txBox="1"/>
          <p:nvPr/>
        </p:nvSpPr>
        <p:spPr>
          <a:xfrm>
            <a:off x="2703860" y="197089"/>
            <a:ext cx="128802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Training LLMs to Think and Reason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16416578" y="7753255"/>
            <a:ext cx="3048440" cy="2506422"/>
          </a:xfrm>
          <a:custGeom>
            <a:rect b="b" l="l" r="r" t="t"/>
            <a:pathLst>
              <a:path extrusionOk="0" h="2506422" w="3048440">
                <a:moveTo>
                  <a:pt x="0" y="0"/>
                </a:moveTo>
                <a:lnTo>
                  <a:pt x="3048441" y="0"/>
                </a:lnTo>
                <a:lnTo>
                  <a:pt x="3048441" y="2506422"/>
                </a:lnTo>
                <a:lnTo>
                  <a:pt x="0" y="2506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7"/>
          <p:cNvGrpSpPr/>
          <p:nvPr/>
        </p:nvGrpSpPr>
        <p:grpSpPr>
          <a:xfrm>
            <a:off x="211042" y="3347345"/>
            <a:ext cx="626183" cy="747345"/>
            <a:chOff x="0" y="-47625"/>
            <a:chExt cx="164921" cy="196832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46" name="Google Shape;246;p7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369038" y="1735467"/>
            <a:ext cx="310192" cy="479969"/>
            <a:chOff x="0" y="-47625"/>
            <a:chExt cx="81697" cy="126411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49" name="Google Shape;249;p7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7"/>
          <p:cNvSpPr txBox="1"/>
          <p:nvPr/>
        </p:nvSpPr>
        <p:spPr>
          <a:xfrm>
            <a:off x="812848" y="1162294"/>
            <a:ext cx="16662300" cy="9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Supervised Fine-Tuning (SFT):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Uses labeled datasets to adapt pre-trained LLMs for specific tasks (e.g., math, logic).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Introduced Chain-of-Thought (CoT) prompting to improve multi-step reasoning.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Limitations: Needs high-quality labels, risks catastrophic forgetting, costly for large models.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Reinforcement Learning (RL):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Trains LLMs using reward signals from human (RLHF) or AI feedback (RLAIF).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Aligns models with human intent for better reasoning and ethical behavior.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Constitutional AI reduces reliance on human labels using predefined principles.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Direct Preference Optimization (DPO):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Avoids reward models by learning directly from pairwise human preferences.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ODPO improves DPO by weighting the degree of preference, enhancing reasoning and alignment.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Outcome Reward Model (ORM):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Rewards based on final answers; used in ReFT and VinePPO.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Tackles the credit assignment problem in reasoning by Monte Carlo methods.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 Reward Model (PRM):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Gives step-by-step feedback to guide reasoning paths.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Used in models like SELF-EXPLORE and DeepSeekMath for math problem-solving.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Enables better generalization and accuracy in multi-step reasoning.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256" name="Google Shape;256;p8"/>
          <p:cNvSpPr txBox="1"/>
          <p:nvPr/>
        </p:nvSpPr>
        <p:spPr>
          <a:xfrm>
            <a:off x="1183796" y="479416"/>
            <a:ext cx="164576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Importance of Instruction Following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 rot="444080">
            <a:off x="16258670" y="7921515"/>
            <a:ext cx="2455410" cy="2216568"/>
          </a:xfrm>
          <a:custGeom>
            <a:rect b="b" l="l" r="r" t="t"/>
            <a:pathLst>
              <a:path extrusionOk="0" h="2216568" w="2455410">
                <a:moveTo>
                  <a:pt x="0" y="0"/>
                </a:moveTo>
                <a:lnTo>
                  <a:pt x="2455410" y="0"/>
                </a:lnTo>
                <a:lnTo>
                  <a:pt x="2455410" y="2216568"/>
                </a:lnTo>
                <a:lnTo>
                  <a:pt x="0" y="2216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8" name="Google Shape;258;p8"/>
          <p:cNvGrpSpPr/>
          <p:nvPr/>
        </p:nvGrpSpPr>
        <p:grpSpPr>
          <a:xfrm>
            <a:off x="1505602" y="1184519"/>
            <a:ext cx="747321" cy="949241"/>
            <a:chOff x="0" y="-47625"/>
            <a:chExt cx="196825" cy="250006"/>
          </a:xfrm>
        </p:grpSpPr>
        <p:sp>
          <p:nvSpPr>
            <p:cNvPr id="259" name="Google Shape;259;p8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60" name="Google Shape;260;p8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1" name="Google Shape;261;p8"/>
          <p:cNvGrpSpPr/>
          <p:nvPr/>
        </p:nvGrpSpPr>
        <p:grpSpPr>
          <a:xfrm>
            <a:off x="870704" y="2456383"/>
            <a:ext cx="626183" cy="747345"/>
            <a:chOff x="0" y="-47625"/>
            <a:chExt cx="164921" cy="196832"/>
          </a:xfrm>
        </p:grpSpPr>
        <p:sp>
          <p:nvSpPr>
            <p:cNvPr id="262" name="Google Shape;262;p8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63" name="Google Shape;263;p8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8"/>
          <p:cNvGrpSpPr/>
          <p:nvPr/>
        </p:nvGrpSpPr>
        <p:grpSpPr>
          <a:xfrm>
            <a:off x="524133" y="844505"/>
            <a:ext cx="310192" cy="479969"/>
            <a:chOff x="0" y="-47625"/>
            <a:chExt cx="81697" cy="126411"/>
          </a:xfrm>
        </p:grpSpPr>
        <p:sp>
          <p:nvSpPr>
            <p:cNvPr id="265" name="Google Shape;265;p8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66" name="Google Shape;266;p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8"/>
          <p:cNvGrpSpPr/>
          <p:nvPr/>
        </p:nvGrpSpPr>
        <p:grpSpPr>
          <a:xfrm>
            <a:off x="16722033" y="2144826"/>
            <a:ext cx="310192" cy="479969"/>
            <a:chOff x="0" y="-47625"/>
            <a:chExt cx="81697" cy="126411"/>
          </a:xfrm>
        </p:grpSpPr>
        <p:sp>
          <p:nvSpPr>
            <p:cNvPr id="268" name="Google Shape;268;p8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69" name="Google Shape;269;p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8"/>
          <p:cNvGrpSpPr/>
          <p:nvPr/>
        </p:nvGrpSpPr>
        <p:grpSpPr>
          <a:xfrm>
            <a:off x="17486375" y="2807426"/>
            <a:ext cx="310192" cy="479969"/>
            <a:chOff x="0" y="-47625"/>
            <a:chExt cx="81697" cy="126411"/>
          </a:xfrm>
        </p:grpSpPr>
        <p:sp>
          <p:nvSpPr>
            <p:cNvPr id="271" name="Google Shape;271;p8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72" name="Google Shape;272;p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17638775" y="2959826"/>
            <a:ext cx="310192" cy="479969"/>
            <a:chOff x="0" y="-47625"/>
            <a:chExt cx="81697" cy="126411"/>
          </a:xfrm>
        </p:grpSpPr>
        <p:sp>
          <p:nvSpPr>
            <p:cNvPr id="274" name="Google Shape;274;p8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75" name="Google Shape;275;p8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8"/>
          <p:cNvSpPr/>
          <p:nvPr/>
        </p:nvSpPr>
        <p:spPr>
          <a:xfrm>
            <a:off x="1879262" y="1981735"/>
            <a:ext cx="14562934" cy="7276565"/>
          </a:xfrm>
          <a:custGeom>
            <a:rect b="b" l="l" r="r" t="t"/>
            <a:pathLst>
              <a:path extrusionOk="0" h="7276565" w="14562934">
                <a:moveTo>
                  <a:pt x="0" y="0"/>
                </a:moveTo>
                <a:lnTo>
                  <a:pt x="14562934" y="0"/>
                </a:lnTo>
                <a:lnTo>
                  <a:pt x="14562934" y="7276565"/>
                </a:lnTo>
                <a:lnTo>
                  <a:pt x="0" y="7276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2156" r="-3107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282" name="Google Shape;282;p9"/>
          <p:cNvSpPr txBox="1"/>
          <p:nvPr/>
        </p:nvSpPr>
        <p:spPr>
          <a:xfrm>
            <a:off x="1183796" y="479416"/>
            <a:ext cx="164576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Importance of Instruction Following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 rot="444080">
            <a:off x="16258670" y="7921515"/>
            <a:ext cx="2455410" cy="2216568"/>
          </a:xfrm>
          <a:custGeom>
            <a:rect b="b" l="l" r="r" t="t"/>
            <a:pathLst>
              <a:path extrusionOk="0" h="2216568" w="2455410">
                <a:moveTo>
                  <a:pt x="0" y="0"/>
                </a:moveTo>
                <a:lnTo>
                  <a:pt x="2455410" y="0"/>
                </a:lnTo>
                <a:lnTo>
                  <a:pt x="2455410" y="2216568"/>
                </a:lnTo>
                <a:lnTo>
                  <a:pt x="0" y="2216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4" name="Google Shape;284;p9"/>
          <p:cNvGrpSpPr/>
          <p:nvPr/>
        </p:nvGrpSpPr>
        <p:grpSpPr>
          <a:xfrm>
            <a:off x="1505602" y="1184519"/>
            <a:ext cx="747321" cy="949241"/>
            <a:chOff x="0" y="-47625"/>
            <a:chExt cx="196825" cy="250006"/>
          </a:xfrm>
        </p:grpSpPr>
        <p:sp>
          <p:nvSpPr>
            <p:cNvPr id="285" name="Google Shape;285;p9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86" name="Google Shape;286;p9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9"/>
          <p:cNvGrpSpPr/>
          <p:nvPr/>
        </p:nvGrpSpPr>
        <p:grpSpPr>
          <a:xfrm>
            <a:off x="870704" y="2456383"/>
            <a:ext cx="626183" cy="747345"/>
            <a:chOff x="0" y="-47625"/>
            <a:chExt cx="164921" cy="196832"/>
          </a:xfrm>
        </p:grpSpPr>
        <p:sp>
          <p:nvSpPr>
            <p:cNvPr id="288" name="Google Shape;288;p9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89" name="Google Shape;289;p9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9"/>
          <p:cNvGrpSpPr/>
          <p:nvPr/>
        </p:nvGrpSpPr>
        <p:grpSpPr>
          <a:xfrm>
            <a:off x="524133" y="844505"/>
            <a:ext cx="310192" cy="479969"/>
            <a:chOff x="0" y="-47625"/>
            <a:chExt cx="81697" cy="126411"/>
          </a:xfrm>
        </p:grpSpPr>
        <p:sp>
          <p:nvSpPr>
            <p:cNvPr id="291" name="Google Shape;291;p9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92" name="Google Shape;292;p9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9"/>
          <p:cNvGrpSpPr/>
          <p:nvPr/>
        </p:nvGrpSpPr>
        <p:grpSpPr>
          <a:xfrm>
            <a:off x="16722033" y="2144826"/>
            <a:ext cx="310192" cy="479969"/>
            <a:chOff x="0" y="-47625"/>
            <a:chExt cx="81697" cy="126411"/>
          </a:xfrm>
        </p:grpSpPr>
        <p:sp>
          <p:nvSpPr>
            <p:cNvPr id="294" name="Google Shape;294;p9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95" name="Google Shape;295;p9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9"/>
          <p:cNvGrpSpPr/>
          <p:nvPr/>
        </p:nvGrpSpPr>
        <p:grpSpPr>
          <a:xfrm>
            <a:off x="17486375" y="2807426"/>
            <a:ext cx="310192" cy="479969"/>
            <a:chOff x="0" y="-47625"/>
            <a:chExt cx="81697" cy="126411"/>
          </a:xfrm>
        </p:grpSpPr>
        <p:sp>
          <p:nvSpPr>
            <p:cNvPr id="297" name="Google Shape;297;p9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298" name="Google Shape;298;p9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9"/>
          <p:cNvGrpSpPr/>
          <p:nvPr/>
        </p:nvGrpSpPr>
        <p:grpSpPr>
          <a:xfrm>
            <a:off x="17638775" y="2959826"/>
            <a:ext cx="310192" cy="479969"/>
            <a:chOff x="0" y="-47625"/>
            <a:chExt cx="81697" cy="126411"/>
          </a:xfrm>
        </p:grpSpPr>
        <p:sp>
          <p:nvSpPr>
            <p:cNvPr id="300" name="Google Shape;300;p9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01" name="Google Shape;301;p9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9"/>
          <p:cNvSpPr/>
          <p:nvPr/>
        </p:nvSpPr>
        <p:spPr>
          <a:xfrm>
            <a:off x="1879262" y="1912623"/>
            <a:ext cx="14618472" cy="7117176"/>
          </a:xfrm>
          <a:custGeom>
            <a:rect b="b" l="l" r="r" t="t"/>
            <a:pathLst>
              <a:path extrusionOk="0" h="7117176" w="14618472">
                <a:moveTo>
                  <a:pt x="0" y="0"/>
                </a:moveTo>
                <a:lnTo>
                  <a:pt x="14618472" y="0"/>
                </a:lnTo>
                <a:lnTo>
                  <a:pt x="14618472" y="7117176"/>
                </a:lnTo>
                <a:lnTo>
                  <a:pt x="0" y="711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2314" r="-2231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308" name="Google Shape;308;p10"/>
          <p:cNvGrpSpPr/>
          <p:nvPr/>
        </p:nvGrpSpPr>
        <p:grpSpPr>
          <a:xfrm>
            <a:off x="732038" y="1418230"/>
            <a:ext cx="16969476" cy="7665624"/>
            <a:chOff x="0" y="-47625"/>
            <a:chExt cx="4469327" cy="2018930"/>
          </a:xfrm>
        </p:grpSpPr>
        <p:sp>
          <p:nvSpPr>
            <p:cNvPr id="309" name="Google Shape;309;p10"/>
            <p:cNvSpPr/>
            <p:nvPr/>
          </p:nvSpPr>
          <p:spPr>
            <a:xfrm>
              <a:off x="0" y="0"/>
              <a:ext cx="4469327" cy="1971305"/>
            </a:xfrm>
            <a:custGeom>
              <a:rect b="b" l="l" r="r" t="t"/>
              <a:pathLst>
                <a:path extrusionOk="0" h="1971305" w="4469327">
                  <a:moveTo>
                    <a:pt x="0" y="0"/>
                  </a:moveTo>
                  <a:lnTo>
                    <a:pt x="4469327" y="0"/>
                  </a:lnTo>
                  <a:lnTo>
                    <a:pt x="4469327" y="1971305"/>
                  </a:lnTo>
                  <a:lnTo>
                    <a:pt x="0" y="1971305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310" name="Google Shape;310;p10"/>
            <p:cNvSpPr txBox="1"/>
            <p:nvPr/>
          </p:nvSpPr>
          <p:spPr>
            <a:xfrm>
              <a:off x="0" y="-47625"/>
              <a:ext cx="4469327" cy="2018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0"/>
          <p:cNvSpPr txBox="1"/>
          <p:nvPr/>
        </p:nvSpPr>
        <p:spPr>
          <a:xfrm>
            <a:off x="2612548" y="382089"/>
            <a:ext cx="128802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Smarter Inference: Prompts to PRMs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6416578" y="7753255"/>
            <a:ext cx="3048440" cy="2506422"/>
          </a:xfrm>
          <a:custGeom>
            <a:rect b="b" l="l" r="r" t="t"/>
            <a:pathLst>
              <a:path extrusionOk="0" h="2506422" w="3048440">
                <a:moveTo>
                  <a:pt x="0" y="0"/>
                </a:moveTo>
                <a:lnTo>
                  <a:pt x="3048441" y="0"/>
                </a:lnTo>
                <a:lnTo>
                  <a:pt x="3048441" y="2506422"/>
                </a:lnTo>
                <a:lnTo>
                  <a:pt x="0" y="2506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3" name="Google Shape;313;p10"/>
          <p:cNvGrpSpPr/>
          <p:nvPr/>
        </p:nvGrpSpPr>
        <p:grpSpPr>
          <a:xfrm>
            <a:off x="211042" y="3347345"/>
            <a:ext cx="626183" cy="747345"/>
            <a:chOff x="0" y="-47625"/>
            <a:chExt cx="164921" cy="196832"/>
          </a:xfrm>
        </p:grpSpPr>
        <p:sp>
          <p:nvSpPr>
            <p:cNvPr id="314" name="Google Shape;314;p10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15" name="Google Shape;315;p10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0"/>
          <p:cNvGrpSpPr/>
          <p:nvPr/>
        </p:nvGrpSpPr>
        <p:grpSpPr>
          <a:xfrm>
            <a:off x="369038" y="1735467"/>
            <a:ext cx="310192" cy="479969"/>
            <a:chOff x="0" y="-47625"/>
            <a:chExt cx="81697" cy="126411"/>
          </a:xfrm>
        </p:grpSpPr>
        <p:sp>
          <p:nvSpPr>
            <p:cNvPr id="317" name="Google Shape;317;p10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18" name="Google Shape;318;p10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0"/>
          <p:cNvSpPr txBox="1"/>
          <p:nvPr/>
        </p:nvSpPr>
        <p:spPr>
          <a:xfrm>
            <a:off x="1008675" y="2104848"/>
            <a:ext cx="16864200" cy="79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Smarter Inference Without Retraining: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Instead of just training-time learning, LLMs can reason better at test-time using smart prompts and guided search.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Techniques like Chain-of-Thought (CoT) and Tree-of-Thoughts (ToT) help models reason step-by-step for better accuracy.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 Reward Models (PRM):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PRMs guide models during inference by scoring each reasoning step, not just the final output.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Used in advanced models (e.g., OpenAI o1) for deeper, process-aware reasoning.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Popular Inference Strategies: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Majority Vote: Run multiple inferences, pick most common answer.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Tree Search (MCTS): Explore multiple reasoning paths, improve decisions over time.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Beam Search: Keep top-K best sequences to enhance output quality.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Lookahead Search: Simulate future steps using PRM to make better current choices.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These methods improve LLM performance without changing model weights—just smarter use at inference time.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325" name="Google Shape;325;p11"/>
          <p:cNvGrpSpPr/>
          <p:nvPr/>
        </p:nvGrpSpPr>
        <p:grpSpPr>
          <a:xfrm>
            <a:off x="732050" y="1418223"/>
            <a:ext cx="17059646" cy="9803991"/>
            <a:chOff x="0" y="-47625"/>
            <a:chExt cx="4493046" cy="2196825"/>
          </a:xfrm>
        </p:grpSpPr>
        <p:sp>
          <p:nvSpPr>
            <p:cNvPr id="326" name="Google Shape;326;p11"/>
            <p:cNvSpPr/>
            <p:nvPr/>
          </p:nvSpPr>
          <p:spPr>
            <a:xfrm>
              <a:off x="0" y="0"/>
              <a:ext cx="4493046" cy="2149200"/>
            </a:xfrm>
            <a:custGeom>
              <a:rect b="b" l="l" r="r" t="t"/>
              <a:pathLst>
                <a:path extrusionOk="0" h="2149200" w="4493046">
                  <a:moveTo>
                    <a:pt x="0" y="0"/>
                  </a:moveTo>
                  <a:lnTo>
                    <a:pt x="4493046" y="0"/>
                  </a:lnTo>
                  <a:lnTo>
                    <a:pt x="4493046" y="2149200"/>
                  </a:lnTo>
                  <a:lnTo>
                    <a:pt x="0" y="2149200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327" name="Google Shape;327;p11"/>
            <p:cNvSpPr txBox="1"/>
            <p:nvPr/>
          </p:nvSpPr>
          <p:spPr>
            <a:xfrm>
              <a:off x="0" y="-47625"/>
              <a:ext cx="4493046" cy="2196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1"/>
          <p:cNvSpPr txBox="1"/>
          <p:nvPr/>
        </p:nvSpPr>
        <p:spPr>
          <a:xfrm>
            <a:off x="2612548" y="382089"/>
            <a:ext cx="128802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Path Toward Large Reasoning Models</a:t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6454678" y="8991864"/>
            <a:ext cx="3048440" cy="2506422"/>
          </a:xfrm>
          <a:custGeom>
            <a:rect b="b" l="l" r="r" t="t"/>
            <a:pathLst>
              <a:path extrusionOk="0" h="2506422" w="3048440">
                <a:moveTo>
                  <a:pt x="0" y="0"/>
                </a:moveTo>
                <a:lnTo>
                  <a:pt x="3048441" y="0"/>
                </a:lnTo>
                <a:lnTo>
                  <a:pt x="3048441" y="2506423"/>
                </a:lnTo>
                <a:lnTo>
                  <a:pt x="0" y="2506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0" name="Google Shape;330;p11"/>
          <p:cNvGrpSpPr/>
          <p:nvPr/>
        </p:nvGrpSpPr>
        <p:grpSpPr>
          <a:xfrm>
            <a:off x="211042" y="3347345"/>
            <a:ext cx="626183" cy="747345"/>
            <a:chOff x="0" y="-47625"/>
            <a:chExt cx="164921" cy="196832"/>
          </a:xfrm>
        </p:grpSpPr>
        <p:sp>
          <p:nvSpPr>
            <p:cNvPr id="331" name="Google Shape;331;p11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32" name="Google Shape;332;p11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1"/>
          <p:cNvGrpSpPr/>
          <p:nvPr/>
        </p:nvGrpSpPr>
        <p:grpSpPr>
          <a:xfrm>
            <a:off x="369038" y="1735467"/>
            <a:ext cx="310192" cy="479969"/>
            <a:chOff x="0" y="-47625"/>
            <a:chExt cx="81697" cy="126411"/>
          </a:xfrm>
        </p:grpSpPr>
        <p:sp>
          <p:nvSpPr>
            <p:cNvPr id="334" name="Google Shape;334;p11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35" name="Google Shape;335;p11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1"/>
          <p:cNvSpPr txBox="1"/>
          <p:nvPr/>
        </p:nvSpPr>
        <p:spPr>
          <a:xfrm>
            <a:off x="784625" y="1619925"/>
            <a:ext cx="16954200" cy="89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Development of OpenAI o1 Series: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o1 Release (Sept 2024):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Breakthrough AI model excelling in complex tasks like math, coding, and scientific problem-solving.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o3 Release (Dec 2024):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Upgraded version of o1 with "doctorate-level intelligence."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Key Achievements:</a:t>
            </a:r>
            <a:endParaRPr/>
          </a:p>
          <a:p>
            <a:pPr indent="-331047" lvl="2" marL="99314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⚬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Gold medal in International Math Olympiad.</a:t>
            </a:r>
            <a:endParaRPr/>
          </a:p>
          <a:p>
            <a:pPr indent="-331047" lvl="2" marL="99314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⚬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PhD-level performance in physics, chemistry, and biology.</a:t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Key Findings: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Effective Knowledge Integration: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83.3% success in competitive programming, demonstrating structured problem-solving and domain knowledge integration.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Systematic Problem Decomposition: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Consistent high accuracy in increasingly complex tasks (e.g., math exams, programming).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Reliable Reasoning: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Maintains coherence in complex planning tasks, adapting to dynamic constraints and long-horizon problems.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New Scaling Laws:</a:t>
            </a: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Improved performance with extended reasoning time (e.g., 10,000 submissions).</a:t>
            </a:r>
            <a:endParaRPr/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Open-Source Attempts:</a:t>
            </a:r>
            <a:endParaRPr/>
          </a:p>
          <a:p>
            <a:pPr indent="-248284" lvl="1" marL="49657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OpenR, Rest-MCTS, o1 Replication Journey, LLaMA-Berry: Open-source frameworks replicating o1's reasoning capabilities through various strategies (reinforcement learning, Monte Carlo Tree Search, and pairwise optimization).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grpSp>
        <p:nvGrpSpPr>
          <p:cNvPr id="342" name="Google Shape;342;p12"/>
          <p:cNvGrpSpPr/>
          <p:nvPr/>
        </p:nvGrpSpPr>
        <p:grpSpPr>
          <a:xfrm>
            <a:off x="1055300" y="2066125"/>
            <a:ext cx="16368914" cy="7661224"/>
            <a:chOff x="0" y="-47625"/>
            <a:chExt cx="4311126" cy="1817394"/>
          </a:xfrm>
        </p:grpSpPr>
        <p:sp>
          <p:nvSpPr>
            <p:cNvPr id="343" name="Google Shape;343;p12"/>
            <p:cNvSpPr/>
            <p:nvPr/>
          </p:nvSpPr>
          <p:spPr>
            <a:xfrm>
              <a:off x="0" y="0"/>
              <a:ext cx="4311126" cy="1769769"/>
            </a:xfrm>
            <a:custGeom>
              <a:rect b="b" l="l" r="r" t="t"/>
              <a:pathLst>
                <a:path extrusionOk="0" h="1769769" w="4311126">
                  <a:moveTo>
                    <a:pt x="0" y="0"/>
                  </a:moveTo>
                  <a:lnTo>
                    <a:pt x="4311126" y="0"/>
                  </a:lnTo>
                  <a:lnTo>
                    <a:pt x="4311126" y="1769769"/>
                  </a:lnTo>
                  <a:lnTo>
                    <a:pt x="0" y="1769769"/>
                  </a:lnTo>
                  <a:close/>
                </a:path>
              </a:pathLst>
            </a:custGeom>
            <a:solidFill>
              <a:srgbClr val="FFFFFF">
                <a:alpha val="10588"/>
              </a:srgbClr>
            </a:solidFill>
            <a:ln>
              <a:noFill/>
            </a:ln>
          </p:spPr>
        </p:sp>
        <p:sp>
          <p:nvSpPr>
            <p:cNvPr id="344" name="Google Shape;344;p12"/>
            <p:cNvSpPr txBox="1"/>
            <p:nvPr/>
          </p:nvSpPr>
          <p:spPr>
            <a:xfrm>
              <a:off x="0" y="-47625"/>
              <a:ext cx="4311126" cy="1817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2"/>
          <p:cNvSpPr/>
          <p:nvPr/>
        </p:nvSpPr>
        <p:spPr>
          <a:xfrm>
            <a:off x="15058563" y="7779199"/>
            <a:ext cx="2365535" cy="2110299"/>
          </a:xfrm>
          <a:custGeom>
            <a:rect b="b" l="l" r="r" t="t"/>
            <a:pathLst>
              <a:path extrusionOk="0" h="2110299" w="2365535">
                <a:moveTo>
                  <a:pt x="0" y="0"/>
                </a:moveTo>
                <a:lnTo>
                  <a:pt x="2365535" y="0"/>
                </a:lnTo>
                <a:lnTo>
                  <a:pt x="2365535" y="2110299"/>
                </a:lnTo>
                <a:lnTo>
                  <a:pt x="0" y="21102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6" name="Google Shape;346;p12"/>
          <p:cNvGrpSpPr/>
          <p:nvPr/>
        </p:nvGrpSpPr>
        <p:grpSpPr>
          <a:xfrm rot="-5400000">
            <a:off x="17553337" y="6724722"/>
            <a:ext cx="544528" cy="696611"/>
            <a:chOff x="0" y="-47625"/>
            <a:chExt cx="156117" cy="199719"/>
          </a:xfrm>
        </p:grpSpPr>
        <p:sp>
          <p:nvSpPr>
            <p:cNvPr id="347" name="Google Shape;347;p12"/>
            <p:cNvSpPr/>
            <p:nvPr/>
          </p:nvSpPr>
          <p:spPr>
            <a:xfrm>
              <a:off x="0" y="0"/>
              <a:ext cx="156117" cy="152094"/>
            </a:xfrm>
            <a:custGeom>
              <a:rect b="b" l="l" r="r" t="t"/>
              <a:pathLst>
                <a:path extrusionOk="0" h="152094" w="156117">
                  <a:moveTo>
                    <a:pt x="0" y="0"/>
                  </a:moveTo>
                  <a:lnTo>
                    <a:pt x="156117" y="0"/>
                  </a:lnTo>
                  <a:lnTo>
                    <a:pt x="156117" y="152094"/>
                  </a:lnTo>
                  <a:lnTo>
                    <a:pt x="0" y="15209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48" name="Google Shape;348;p12"/>
            <p:cNvSpPr txBox="1"/>
            <p:nvPr/>
          </p:nvSpPr>
          <p:spPr>
            <a:xfrm>
              <a:off x="0" y="-47625"/>
              <a:ext cx="156117" cy="199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 rot="-5400000">
            <a:off x="17346554" y="7794304"/>
            <a:ext cx="427597" cy="604736"/>
            <a:chOff x="0" y="-47625"/>
            <a:chExt cx="122593" cy="173379"/>
          </a:xfrm>
        </p:grpSpPr>
        <p:sp>
          <p:nvSpPr>
            <p:cNvPr id="350" name="Google Shape;350;p12"/>
            <p:cNvSpPr/>
            <p:nvPr/>
          </p:nvSpPr>
          <p:spPr>
            <a:xfrm>
              <a:off x="0" y="0"/>
              <a:ext cx="122593" cy="125754"/>
            </a:xfrm>
            <a:custGeom>
              <a:rect b="b" l="l" r="r" t="t"/>
              <a:pathLst>
                <a:path extrusionOk="0" h="125754" w="122593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51" name="Google Shape;351;p12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2"/>
          <p:cNvGrpSpPr/>
          <p:nvPr/>
        </p:nvGrpSpPr>
        <p:grpSpPr>
          <a:xfrm rot="-5400000">
            <a:off x="16336085" y="8228918"/>
            <a:ext cx="311166" cy="474271"/>
            <a:chOff x="0" y="-47625"/>
            <a:chExt cx="89212" cy="135974"/>
          </a:xfrm>
        </p:grpSpPr>
        <p:sp>
          <p:nvSpPr>
            <p:cNvPr id="353" name="Google Shape;353;p12"/>
            <p:cNvSpPr/>
            <p:nvPr/>
          </p:nvSpPr>
          <p:spPr>
            <a:xfrm>
              <a:off x="0" y="0"/>
              <a:ext cx="89212" cy="88349"/>
            </a:xfrm>
            <a:custGeom>
              <a:rect b="b" l="l" r="r" t="t"/>
              <a:pathLst>
                <a:path extrusionOk="0" h="88349" w="89212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54" name="Google Shape;354;p12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2"/>
          <p:cNvSpPr txBox="1"/>
          <p:nvPr/>
        </p:nvSpPr>
        <p:spPr>
          <a:xfrm>
            <a:off x="3188392" y="479416"/>
            <a:ext cx="12293969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Other Test-time Enhancing Techniques</a:t>
            </a:r>
            <a:endParaRPr/>
          </a:p>
        </p:txBody>
      </p:sp>
      <p:sp>
        <p:nvSpPr>
          <p:cNvPr id="356" name="Google Shape;356;p12"/>
          <p:cNvSpPr txBox="1"/>
          <p:nvPr/>
        </p:nvSpPr>
        <p:spPr>
          <a:xfrm>
            <a:off x="1557944" y="2363061"/>
            <a:ext cx="15363600" cy="6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Verbal Reinforcement Search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Uses feedback loops to refine outputs.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Individual agents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Multi-agent systems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Embodied agents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Memory-based Reinforcement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Adds memory modules to retain past experiences.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Experiential Learning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Reflective Learning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Concept Learning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Agentic System Search</a:t>
            </a:r>
            <a:endParaRPr/>
          </a:p>
          <a:p>
            <a:pPr indent="0" lvl="0" marL="0" marR="0" rtl="0" algn="just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Designs LLM-powered agents to explore solutions dynamically.</a:t>
            </a:r>
            <a:endParaRPr/>
          </a:p>
          <a:p>
            <a:pPr indent="-226695" lvl="1" marL="45339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Enables long-term planning, interaction, and complex task solving.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362" name="Google Shape;362;p13"/>
          <p:cNvSpPr txBox="1"/>
          <p:nvPr/>
        </p:nvSpPr>
        <p:spPr>
          <a:xfrm>
            <a:off x="1183796" y="479416"/>
            <a:ext cx="16457675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Training-Free Test-Time Enhancements for LLMs</a:t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 rot="444080">
            <a:off x="16258670" y="7921515"/>
            <a:ext cx="2455410" cy="2216568"/>
          </a:xfrm>
          <a:custGeom>
            <a:rect b="b" l="l" r="r" t="t"/>
            <a:pathLst>
              <a:path extrusionOk="0" h="2216568" w="2455410">
                <a:moveTo>
                  <a:pt x="0" y="0"/>
                </a:moveTo>
                <a:lnTo>
                  <a:pt x="2455410" y="0"/>
                </a:lnTo>
                <a:lnTo>
                  <a:pt x="2455410" y="2216568"/>
                </a:lnTo>
                <a:lnTo>
                  <a:pt x="0" y="2216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13"/>
          <p:cNvGrpSpPr/>
          <p:nvPr/>
        </p:nvGrpSpPr>
        <p:grpSpPr>
          <a:xfrm>
            <a:off x="1505602" y="1184519"/>
            <a:ext cx="747321" cy="949241"/>
            <a:chOff x="0" y="-47625"/>
            <a:chExt cx="196825" cy="250006"/>
          </a:xfrm>
        </p:grpSpPr>
        <p:sp>
          <p:nvSpPr>
            <p:cNvPr id="365" name="Google Shape;365;p13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66" name="Google Shape;366;p13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13"/>
          <p:cNvGrpSpPr/>
          <p:nvPr/>
        </p:nvGrpSpPr>
        <p:grpSpPr>
          <a:xfrm>
            <a:off x="870704" y="2456383"/>
            <a:ext cx="626183" cy="747345"/>
            <a:chOff x="0" y="-47625"/>
            <a:chExt cx="164921" cy="196832"/>
          </a:xfrm>
        </p:grpSpPr>
        <p:sp>
          <p:nvSpPr>
            <p:cNvPr id="368" name="Google Shape;368;p13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69" name="Google Shape;369;p13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13"/>
          <p:cNvGrpSpPr/>
          <p:nvPr/>
        </p:nvGrpSpPr>
        <p:grpSpPr>
          <a:xfrm>
            <a:off x="524133" y="844505"/>
            <a:ext cx="310192" cy="479969"/>
            <a:chOff x="0" y="-47625"/>
            <a:chExt cx="81697" cy="126411"/>
          </a:xfrm>
        </p:grpSpPr>
        <p:sp>
          <p:nvSpPr>
            <p:cNvPr id="371" name="Google Shape;371;p1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72" name="Google Shape;372;p1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3"/>
          <p:cNvGrpSpPr/>
          <p:nvPr/>
        </p:nvGrpSpPr>
        <p:grpSpPr>
          <a:xfrm>
            <a:off x="16722033" y="2144826"/>
            <a:ext cx="310192" cy="479969"/>
            <a:chOff x="0" y="-47625"/>
            <a:chExt cx="81697" cy="126411"/>
          </a:xfrm>
        </p:grpSpPr>
        <p:sp>
          <p:nvSpPr>
            <p:cNvPr id="374" name="Google Shape;374;p1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75" name="Google Shape;375;p1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13"/>
          <p:cNvGrpSpPr/>
          <p:nvPr/>
        </p:nvGrpSpPr>
        <p:grpSpPr>
          <a:xfrm>
            <a:off x="17486375" y="2807426"/>
            <a:ext cx="310192" cy="479969"/>
            <a:chOff x="0" y="-47625"/>
            <a:chExt cx="81697" cy="126411"/>
          </a:xfrm>
        </p:grpSpPr>
        <p:sp>
          <p:nvSpPr>
            <p:cNvPr id="377" name="Google Shape;377;p1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78" name="Google Shape;378;p1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13"/>
          <p:cNvGrpSpPr/>
          <p:nvPr/>
        </p:nvGrpSpPr>
        <p:grpSpPr>
          <a:xfrm>
            <a:off x="17638775" y="2959826"/>
            <a:ext cx="310192" cy="479969"/>
            <a:chOff x="0" y="-47625"/>
            <a:chExt cx="81697" cy="126411"/>
          </a:xfrm>
        </p:grpSpPr>
        <p:sp>
          <p:nvSpPr>
            <p:cNvPr id="380" name="Google Shape;380;p13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81" name="Google Shape;381;p13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13"/>
          <p:cNvSpPr/>
          <p:nvPr/>
        </p:nvSpPr>
        <p:spPr>
          <a:xfrm>
            <a:off x="1879262" y="1897719"/>
            <a:ext cx="14624107" cy="7360581"/>
          </a:xfrm>
          <a:custGeom>
            <a:rect b="b" l="l" r="r" t="t"/>
            <a:pathLst>
              <a:path extrusionOk="0" h="7360581" w="14624107">
                <a:moveTo>
                  <a:pt x="0" y="0"/>
                </a:moveTo>
                <a:lnTo>
                  <a:pt x="14624107" y="0"/>
                </a:lnTo>
                <a:lnTo>
                  <a:pt x="14624107" y="7360581"/>
                </a:lnTo>
                <a:lnTo>
                  <a:pt x="0" y="73605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1908" r="-11908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388" name="Google Shape;388;p14"/>
          <p:cNvSpPr/>
          <p:nvPr/>
        </p:nvSpPr>
        <p:spPr>
          <a:xfrm>
            <a:off x="15766735" y="7484501"/>
            <a:ext cx="2626170" cy="2972363"/>
          </a:xfrm>
          <a:custGeom>
            <a:rect b="b" l="l" r="r" t="t"/>
            <a:pathLst>
              <a:path extrusionOk="0" h="2972363" w="2626170">
                <a:moveTo>
                  <a:pt x="0" y="0"/>
                </a:moveTo>
                <a:lnTo>
                  <a:pt x="2626170" y="0"/>
                </a:lnTo>
                <a:lnTo>
                  <a:pt x="2626170" y="2972363"/>
                </a:lnTo>
                <a:lnTo>
                  <a:pt x="0" y="297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4"/>
          <p:cNvSpPr txBox="1"/>
          <p:nvPr/>
        </p:nvSpPr>
        <p:spPr>
          <a:xfrm>
            <a:off x="5093351" y="273605"/>
            <a:ext cx="7600293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Evaluation Benchmarks</a:t>
            </a:r>
            <a:endParaRPr/>
          </a:p>
        </p:txBody>
      </p:sp>
      <p:grpSp>
        <p:nvGrpSpPr>
          <p:cNvPr id="390" name="Google Shape;390;p14"/>
          <p:cNvGrpSpPr/>
          <p:nvPr/>
        </p:nvGrpSpPr>
        <p:grpSpPr>
          <a:xfrm>
            <a:off x="707175" y="1214754"/>
            <a:ext cx="16372645" cy="9461159"/>
            <a:chOff x="0" y="-241102"/>
            <a:chExt cx="21830193" cy="11150453"/>
          </a:xfrm>
        </p:grpSpPr>
        <p:grpSp>
          <p:nvGrpSpPr>
            <p:cNvPr id="391" name="Google Shape;391;p14"/>
            <p:cNvGrpSpPr/>
            <p:nvPr/>
          </p:nvGrpSpPr>
          <p:grpSpPr>
            <a:xfrm>
              <a:off x="0" y="-241102"/>
              <a:ext cx="21830193" cy="10483809"/>
              <a:chOff x="0" y="-47625"/>
              <a:chExt cx="4312137" cy="2070876"/>
            </a:xfrm>
          </p:grpSpPr>
          <p:sp>
            <p:nvSpPr>
              <p:cNvPr id="392" name="Google Shape;392;p14"/>
              <p:cNvSpPr/>
              <p:nvPr/>
            </p:nvSpPr>
            <p:spPr>
              <a:xfrm>
                <a:off x="0" y="0"/>
                <a:ext cx="4312137" cy="2023251"/>
              </a:xfrm>
              <a:custGeom>
                <a:rect b="b" l="l" r="r" t="t"/>
                <a:pathLst>
                  <a:path extrusionOk="0" h="2023251" w="4312137">
                    <a:moveTo>
                      <a:pt x="0" y="0"/>
                    </a:moveTo>
                    <a:lnTo>
                      <a:pt x="4312137" y="0"/>
                    </a:lnTo>
                    <a:lnTo>
                      <a:pt x="4312137" y="2023251"/>
                    </a:lnTo>
                    <a:lnTo>
                      <a:pt x="0" y="2023251"/>
                    </a:lnTo>
                    <a:close/>
                  </a:path>
                </a:pathLst>
              </a:custGeom>
              <a:solidFill>
                <a:srgbClr val="FFFFFF">
                  <a:alpha val="10588"/>
                </a:srgbClr>
              </a:solidFill>
              <a:ln>
                <a:noFill/>
              </a:ln>
            </p:spPr>
          </p:sp>
          <p:sp>
            <p:nvSpPr>
              <p:cNvPr id="393" name="Google Shape;393;p14"/>
              <p:cNvSpPr txBox="1"/>
              <p:nvPr/>
            </p:nvSpPr>
            <p:spPr>
              <a:xfrm>
                <a:off x="0" y="-47625"/>
                <a:ext cx="4312137" cy="20708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4" name="Google Shape;394;p14"/>
            <p:cNvSpPr txBox="1"/>
            <p:nvPr/>
          </p:nvSpPr>
          <p:spPr>
            <a:xfrm>
              <a:off x="692834" y="90751"/>
              <a:ext cx="19799700" cy="1081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Mathematical Word Problems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Benchmarks range from basic arithmetic to Olympiad-level reasoning.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Math Word Problems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Advanced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Geometric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Theorem Proving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Cross-Modal Reasoning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Logical Problems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Evaluate LLMs' capabilities in systematic logical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Deductive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Inductive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Abductive Reasoning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Commonsense Problems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Evaluate LLMs' grasp of everyday knowledge and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Social interaction 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Adversarial text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Comprehensive evaluation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395" name="Google Shape;395;p14"/>
          <p:cNvGrpSpPr/>
          <p:nvPr/>
        </p:nvGrpSpPr>
        <p:grpSpPr>
          <a:xfrm rot="-5400000">
            <a:off x="114486" y="7482813"/>
            <a:ext cx="686516" cy="872007"/>
            <a:chOff x="0" y="-47625"/>
            <a:chExt cx="196825" cy="250006"/>
          </a:xfrm>
        </p:grpSpPr>
        <p:sp>
          <p:nvSpPr>
            <p:cNvPr id="396" name="Google Shape;396;p14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397" name="Google Shape;397;p14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4"/>
          <p:cNvGrpSpPr/>
          <p:nvPr/>
        </p:nvGrpSpPr>
        <p:grpSpPr>
          <a:xfrm rot="-5400000">
            <a:off x="-90086" y="8915031"/>
            <a:ext cx="575234" cy="686538"/>
            <a:chOff x="0" y="-47625"/>
            <a:chExt cx="164921" cy="196832"/>
          </a:xfrm>
        </p:grpSpPr>
        <p:sp>
          <p:nvSpPr>
            <p:cNvPr id="399" name="Google Shape;399;p14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00" name="Google Shape;400;p14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4"/>
          <p:cNvGrpSpPr/>
          <p:nvPr/>
        </p:nvGrpSpPr>
        <p:grpSpPr>
          <a:xfrm rot="-5400000">
            <a:off x="-88132" y="8437884"/>
            <a:ext cx="284953" cy="440917"/>
            <a:chOff x="0" y="-47625"/>
            <a:chExt cx="81697" cy="126411"/>
          </a:xfrm>
        </p:grpSpPr>
        <p:sp>
          <p:nvSpPr>
            <p:cNvPr id="402" name="Google Shape;402;p14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03" name="Google Shape;403;p14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09" name="Google Shape;409;p15"/>
          <p:cNvSpPr/>
          <p:nvPr/>
        </p:nvSpPr>
        <p:spPr>
          <a:xfrm>
            <a:off x="15766735" y="7484501"/>
            <a:ext cx="2626170" cy="2972363"/>
          </a:xfrm>
          <a:custGeom>
            <a:rect b="b" l="l" r="r" t="t"/>
            <a:pathLst>
              <a:path extrusionOk="0" h="2972363" w="2626170">
                <a:moveTo>
                  <a:pt x="0" y="0"/>
                </a:moveTo>
                <a:lnTo>
                  <a:pt x="2626170" y="0"/>
                </a:lnTo>
                <a:lnTo>
                  <a:pt x="2626170" y="2972363"/>
                </a:lnTo>
                <a:lnTo>
                  <a:pt x="0" y="297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15"/>
          <p:cNvSpPr txBox="1"/>
          <p:nvPr/>
        </p:nvSpPr>
        <p:spPr>
          <a:xfrm>
            <a:off x="5093351" y="273605"/>
            <a:ext cx="7600293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Evaluation Benchmarks</a:t>
            </a:r>
            <a:endParaRPr/>
          </a:p>
        </p:txBody>
      </p:sp>
      <p:grpSp>
        <p:nvGrpSpPr>
          <p:cNvPr id="411" name="Google Shape;411;p15"/>
          <p:cNvGrpSpPr/>
          <p:nvPr/>
        </p:nvGrpSpPr>
        <p:grpSpPr>
          <a:xfrm>
            <a:off x="707175" y="2129137"/>
            <a:ext cx="16481796" cy="5749539"/>
            <a:chOff x="0" y="-241102"/>
            <a:chExt cx="21830193" cy="6906353"/>
          </a:xfrm>
        </p:grpSpPr>
        <p:grpSp>
          <p:nvGrpSpPr>
            <p:cNvPr id="412" name="Google Shape;412;p15"/>
            <p:cNvGrpSpPr/>
            <p:nvPr/>
          </p:nvGrpSpPr>
          <p:grpSpPr>
            <a:xfrm>
              <a:off x="0" y="-241102"/>
              <a:ext cx="21830193" cy="6432509"/>
              <a:chOff x="0" y="-47625"/>
              <a:chExt cx="4312137" cy="1270619"/>
            </a:xfrm>
          </p:grpSpPr>
          <p:sp>
            <p:nvSpPr>
              <p:cNvPr id="413" name="Google Shape;413;p15"/>
              <p:cNvSpPr/>
              <p:nvPr/>
            </p:nvSpPr>
            <p:spPr>
              <a:xfrm>
                <a:off x="0" y="0"/>
                <a:ext cx="4312137" cy="1222994"/>
              </a:xfrm>
              <a:custGeom>
                <a:rect b="b" l="l" r="r" t="t"/>
                <a:pathLst>
                  <a:path extrusionOk="0" h="1222994" w="4312137">
                    <a:moveTo>
                      <a:pt x="0" y="0"/>
                    </a:moveTo>
                    <a:lnTo>
                      <a:pt x="4312137" y="0"/>
                    </a:lnTo>
                    <a:lnTo>
                      <a:pt x="4312137" y="1222994"/>
                    </a:lnTo>
                    <a:lnTo>
                      <a:pt x="0" y="1222994"/>
                    </a:lnTo>
                    <a:close/>
                  </a:path>
                </a:pathLst>
              </a:custGeom>
              <a:solidFill>
                <a:srgbClr val="FFFFFF">
                  <a:alpha val="10588"/>
                </a:srgbClr>
              </a:solidFill>
              <a:ln>
                <a:noFill/>
              </a:ln>
            </p:spPr>
          </p:sp>
          <p:sp>
            <p:nvSpPr>
              <p:cNvPr id="414" name="Google Shape;414;p15"/>
              <p:cNvSpPr txBox="1"/>
              <p:nvPr/>
            </p:nvSpPr>
            <p:spPr>
              <a:xfrm>
                <a:off x="0" y="-47625"/>
                <a:ext cx="4312137" cy="12706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5" name="Google Shape;415;p15"/>
            <p:cNvSpPr txBox="1"/>
            <p:nvPr/>
          </p:nvSpPr>
          <p:spPr>
            <a:xfrm>
              <a:off x="692834" y="90751"/>
              <a:ext cx="19799700" cy="6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Code Problems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Assess LLMs’ ability to understand, write, and debug code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Real-world scenarios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Data science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Program synthesis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Agent Problems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Assess LLMs' ability to act as agents by planning, using tools, and performing tasks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Web environment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E-commerce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Comprehensive evaluation 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16" name="Google Shape;416;p15"/>
          <p:cNvGrpSpPr/>
          <p:nvPr/>
        </p:nvGrpSpPr>
        <p:grpSpPr>
          <a:xfrm rot="-5400000">
            <a:off x="114486" y="7482813"/>
            <a:ext cx="686516" cy="872007"/>
            <a:chOff x="0" y="-47625"/>
            <a:chExt cx="196825" cy="250006"/>
          </a:xfrm>
        </p:grpSpPr>
        <p:sp>
          <p:nvSpPr>
            <p:cNvPr id="417" name="Google Shape;417;p15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18" name="Google Shape;418;p15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15"/>
          <p:cNvGrpSpPr/>
          <p:nvPr/>
        </p:nvGrpSpPr>
        <p:grpSpPr>
          <a:xfrm rot="-5400000">
            <a:off x="-90086" y="8915031"/>
            <a:ext cx="575234" cy="686538"/>
            <a:chOff x="0" y="-47625"/>
            <a:chExt cx="164921" cy="196832"/>
          </a:xfrm>
        </p:grpSpPr>
        <p:sp>
          <p:nvSpPr>
            <p:cNvPr id="420" name="Google Shape;420;p15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21" name="Google Shape;421;p15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5"/>
          <p:cNvGrpSpPr/>
          <p:nvPr/>
        </p:nvGrpSpPr>
        <p:grpSpPr>
          <a:xfrm rot="-5400000">
            <a:off x="-88132" y="8437884"/>
            <a:ext cx="284953" cy="440917"/>
            <a:chOff x="0" y="-47625"/>
            <a:chExt cx="81697" cy="126411"/>
          </a:xfrm>
        </p:grpSpPr>
        <p:sp>
          <p:nvSpPr>
            <p:cNvPr id="423" name="Google Shape;423;p15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24" name="Google Shape;424;p15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30" name="Google Shape;430;p16"/>
          <p:cNvSpPr/>
          <p:nvPr/>
        </p:nvSpPr>
        <p:spPr>
          <a:xfrm>
            <a:off x="15766735" y="7484501"/>
            <a:ext cx="2626170" cy="2972363"/>
          </a:xfrm>
          <a:custGeom>
            <a:rect b="b" l="l" r="r" t="t"/>
            <a:pathLst>
              <a:path extrusionOk="0" h="2972363" w="2626170">
                <a:moveTo>
                  <a:pt x="0" y="0"/>
                </a:moveTo>
                <a:lnTo>
                  <a:pt x="2626170" y="0"/>
                </a:lnTo>
                <a:lnTo>
                  <a:pt x="2626170" y="2972363"/>
                </a:lnTo>
                <a:lnTo>
                  <a:pt x="0" y="297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16"/>
          <p:cNvSpPr txBox="1"/>
          <p:nvPr/>
        </p:nvSpPr>
        <p:spPr>
          <a:xfrm>
            <a:off x="4440228" y="796104"/>
            <a:ext cx="8906540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Advancing LLM Reasoning</a:t>
            </a:r>
            <a:endParaRPr/>
          </a:p>
        </p:txBody>
      </p:sp>
      <p:grpSp>
        <p:nvGrpSpPr>
          <p:cNvPr id="432" name="Google Shape;432;p16"/>
          <p:cNvGrpSpPr/>
          <p:nvPr/>
        </p:nvGrpSpPr>
        <p:grpSpPr>
          <a:xfrm>
            <a:off x="707175" y="2129134"/>
            <a:ext cx="16372645" cy="6292168"/>
            <a:chOff x="0" y="-241101"/>
            <a:chExt cx="21830193" cy="7446352"/>
          </a:xfrm>
        </p:grpSpPr>
        <p:grpSp>
          <p:nvGrpSpPr>
            <p:cNvPr id="433" name="Google Shape;433;p16"/>
            <p:cNvGrpSpPr/>
            <p:nvPr/>
          </p:nvGrpSpPr>
          <p:grpSpPr>
            <a:xfrm>
              <a:off x="0" y="-241101"/>
              <a:ext cx="21830193" cy="7016708"/>
              <a:chOff x="0" y="-47625"/>
              <a:chExt cx="4312137" cy="1386017"/>
            </a:xfrm>
          </p:grpSpPr>
          <p:sp>
            <p:nvSpPr>
              <p:cNvPr id="434" name="Google Shape;434;p16"/>
              <p:cNvSpPr/>
              <p:nvPr/>
            </p:nvSpPr>
            <p:spPr>
              <a:xfrm>
                <a:off x="0" y="0"/>
                <a:ext cx="4312137" cy="1338392"/>
              </a:xfrm>
              <a:custGeom>
                <a:rect b="b" l="l" r="r" t="t"/>
                <a:pathLst>
                  <a:path extrusionOk="0" h="1338392" w="4312137">
                    <a:moveTo>
                      <a:pt x="0" y="0"/>
                    </a:moveTo>
                    <a:lnTo>
                      <a:pt x="4312137" y="0"/>
                    </a:lnTo>
                    <a:lnTo>
                      <a:pt x="4312137" y="1338392"/>
                    </a:lnTo>
                    <a:lnTo>
                      <a:pt x="0" y="1338392"/>
                    </a:lnTo>
                    <a:close/>
                  </a:path>
                </a:pathLst>
              </a:custGeom>
              <a:solidFill>
                <a:srgbClr val="FFFFFF">
                  <a:alpha val="10588"/>
                </a:srgbClr>
              </a:solidFill>
              <a:ln>
                <a:noFill/>
              </a:ln>
            </p:spPr>
          </p:sp>
          <p:sp>
            <p:nvSpPr>
              <p:cNvPr id="435" name="Google Shape;435;p16"/>
              <p:cNvSpPr txBox="1"/>
              <p:nvPr/>
            </p:nvSpPr>
            <p:spPr>
              <a:xfrm>
                <a:off x="0" y="-47625"/>
                <a:ext cx="4312137" cy="13860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6" name="Google Shape;436;p16"/>
            <p:cNvSpPr txBox="1"/>
            <p:nvPr/>
          </p:nvSpPr>
          <p:spPr>
            <a:xfrm>
              <a:off x="692834" y="90751"/>
              <a:ext cx="19799700" cy="71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Inspirations from the recent advances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Scaling Law of Post-Training Phases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Generating High-Quality Data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Slow-thinking and reasoning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OpenAI O1 series focuses on post-training slow-thinking, inspired by human cognition, but with limited implementation.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Theoretical analysis of slow-thinking in LLMs is still lacking, with current models showing significant differences in tasks like text generation and problem-solving.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Downstream applications and open problems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Reasoning technologies are improving and being used in more areas, like city planning and scheduling.</a:t>
              </a:r>
              <a:endParaRPr/>
            </a:p>
            <a:p>
              <a:pPr indent="-226695" lvl="1" marL="45339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Combining LLMs with external evaluators could help improve answers and create better reward models.</a:t>
              </a:r>
              <a:endParaRPr/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437" name="Google Shape;437;p16"/>
          <p:cNvGrpSpPr/>
          <p:nvPr/>
        </p:nvGrpSpPr>
        <p:grpSpPr>
          <a:xfrm rot="-5400000">
            <a:off x="114486" y="7482813"/>
            <a:ext cx="686516" cy="872007"/>
            <a:chOff x="0" y="-47625"/>
            <a:chExt cx="196825" cy="250006"/>
          </a:xfrm>
        </p:grpSpPr>
        <p:sp>
          <p:nvSpPr>
            <p:cNvPr id="438" name="Google Shape;438;p16"/>
            <p:cNvSpPr/>
            <p:nvPr/>
          </p:nvSpPr>
          <p:spPr>
            <a:xfrm>
              <a:off x="0" y="0"/>
              <a:ext cx="196825" cy="202381"/>
            </a:xfrm>
            <a:custGeom>
              <a:rect b="b" l="l" r="r" t="t"/>
              <a:pathLst>
                <a:path extrusionOk="0" h="202381" w="196825">
                  <a:moveTo>
                    <a:pt x="0" y="0"/>
                  </a:moveTo>
                  <a:lnTo>
                    <a:pt x="196825" y="0"/>
                  </a:lnTo>
                  <a:lnTo>
                    <a:pt x="196825" y="202381"/>
                  </a:lnTo>
                  <a:lnTo>
                    <a:pt x="0" y="202381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39" name="Google Shape;439;p16"/>
            <p:cNvSpPr txBox="1"/>
            <p:nvPr/>
          </p:nvSpPr>
          <p:spPr>
            <a:xfrm>
              <a:off x="0" y="-47625"/>
              <a:ext cx="196825" cy="25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16"/>
          <p:cNvGrpSpPr/>
          <p:nvPr/>
        </p:nvGrpSpPr>
        <p:grpSpPr>
          <a:xfrm rot="-5400000">
            <a:off x="-90086" y="8915031"/>
            <a:ext cx="575234" cy="686538"/>
            <a:chOff x="0" y="-47625"/>
            <a:chExt cx="164921" cy="196832"/>
          </a:xfrm>
        </p:grpSpPr>
        <p:sp>
          <p:nvSpPr>
            <p:cNvPr id="441" name="Google Shape;441;p16"/>
            <p:cNvSpPr/>
            <p:nvPr/>
          </p:nvSpPr>
          <p:spPr>
            <a:xfrm>
              <a:off x="0" y="0"/>
              <a:ext cx="164921" cy="149207"/>
            </a:xfrm>
            <a:custGeom>
              <a:rect b="b" l="l" r="r" t="t"/>
              <a:pathLst>
                <a:path extrusionOk="0" h="149207" w="164921">
                  <a:moveTo>
                    <a:pt x="0" y="0"/>
                  </a:moveTo>
                  <a:lnTo>
                    <a:pt x="164921" y="0"/>
                  </a:lnTo>
                  <a:lnTo>
                    <a:pt x="164921" y="149207"/>
                  </a:lnTo>
                  <a:lnTo>
                    <a:pt x="0" y="149207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42" name="Google Shape;442;p16"/>
            <p:cNvSpPr txBox="1"/>
            <p:nvPr/>
          </p:nvSpPr>
          <p:spPr>
            <a:xfrm>
              <a:off x="0" y="-47625"/>
              <a:ext cx="164921" cy="19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16"/>
          <p:cNvGrpSpPr/>
          <p:nvPr/>
        </p:nvGrpSpPr>
        <p:grpSpPr>
          <a:xfrm rot="-5400000">
            <a:off x="-88132" y="8437884"/>
            <a:ext cx="284953" cy="440917"/>
            <a:chOff x="0" y="-47625"/>
            <a:chExt cx="81697" cy="126411"/>
          </a:xfrm>
        </p:grpSpPr>
        <p:sp>
          <p:nvSpPr>
            <p:cNvPr id="444" name="Google Shape;444;p16"/>
            <p:cNvSpPr/>
            <p:nvPr/>
          </p:nvSpPr>
          <p:spPr>
            <a:xfrm>
              <a:off x="0" y="0"/>
              <a:ext cx="81697" cy="78786"/>
            </a:xfrm>
            <a:custGeom>
              <a:rect b="b" l="l" r="r" t="t"/>
              <a:pathLst>
                <a:path extrusionOk="0" h="78786" w="81697">
                  <a:moveTo>
                    <a:pt x="0" y="0"/>
                  </a:moveTo>
                  <a:lnTo>
                    <a:pt x="81697" y="0"/>
                  </a:lnTo>
                  <a:lnTo>
                    <a:pt x="81697" y="78786"/>
                  </a:lnTo>
                  <a:lnTo>
                    <a:pt x="0" y="78786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45" name="Google Shape;445;p16"/>
            <p:cNvSpPr txBox="1"/>
            <p:nvPr/>
          </p:nvSpPr>
          <p:spPr>
            <a:xfrm>
              <a:off x="0" y="-47625"/>
              <a:ext cx="81697" cy="1264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51" name="Google Shape;451;p17"/>
          <p:cNvSpPr txBox="1"/>
          <p:nvPr/>
        </p:nvSpPr>
        <p:spPr>
          <a:xfrm>
            <a:off x="7039666" y="580690"/>
            <a:ext cx="4208668" cy="965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  <a:endParaRPr/>
          </a:p>
        </p:txBody>
      </p:sp>
      <p:grpSp>
        <p:nvGrpSpPr>
          <p:cNvPr id="452" name="Google Shape;452;p17"/>
          <p:cNvGrpSpPr/>
          <p:nvPr/>
        </p:nvGrpSpPr>
        <p:grpSpPr>
          <a:xfrm>
            <a:off x="1028700" y="2542077"/>
            <a:ext cx="16230600" cy="2593402"/>
            <a:chOff x="0" y="-241102"/>
            <a:chExt cx="21640800" cy="3457869"/>
          </a:xfrm>
        </p:grpSpPr>
        <p:grpSp>
          <p:nvGrpSpPr>
            <p:cNvPr id="453" name="Google Shape;453;p17"/>
            <p:cNvGrpSpPr/>
            <p:nvPr/>
          </p:nvGrpSpPr>
          <p:grpSpPr>
            <a:xfrm>
              <a:off x="0" y="-241102"/>
              <a:ext cx="21640800" cy="3416643"/>
              <a:chOff x="0" y="-47625"/>
              <a:chExt cx="4274726" cy="674892"/>
            </a:xfrm>
          </p:grpSpPr>
          <p:sp>
            <p:nvSpPr>
              <p:cNvPr id="454" name="Google Shape;454;p17"/>
              <p:cNvSpPr/>
              <p:nvPr/>
            </p:nvSpPr>
            <p:spPr>
              <a:xfrm>
                <a:off x="0" y="0"/>
                <a:ext cx="4274726" cy="627267"/>
              </a:xfrm>
              <a:custGeom>
                <a:rect b="b" l="l" r="r" t="t"/>
                <a:pathLst>
                  <a:path extrusionOk="0" h="627267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627267"/>
                    </a:lnTo>
                    <a:lnTo>
                      <a:pt x="0" y="627267"/>
                    </a:lnTo>
                    <a:close/>
                  </a:path>
                </a:pathLst>
              </a:custGeom>
              <a:solidFill>
                <a:srgbClr val="FFFFFF">
                  <a:alpha val="10588"/>
                </a:srgbClr>
              </a:solidFill>
              <a:ln>
                <a:noFill/>
              </a:ln>
            </p:spPr>
          </p:sp>
          <p:sp>
            <p:nvSpPr>
              <p:cNvPr id="455" name="Google Shape;455;p17"/>
              <p:cNvSpPr txBox="1"/>
              <p:nvPr/>
            </p:nvSpPr>
            <p:spPr>
              <a:xfrm>
                <a:off x="0" y="-47625"/>
                <a:ext cx="4274726" cy="6748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6" name="Google Shape;456;p17"/>
            <p:cNvSpPr txBox="1"/>
            <p:nvPr/>
          </p:nvSpPr>
          <p:spPr>
            <a:xfrm>
              <a:off x="836614" y="323283"/>
              <a:ext cx="18758824" cy="2893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69873" lvl="1" marL="539748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99"/>
                <a:buFont typeface="Arial"/>
                <a:buChar char="•"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LLMs have advanced in reasoning capabilities with innovations like "thought" steps and reinforcement learning.</a:t>
              </a:r>
              <a:endParaRPr/>
            </a:p>
            <a:p>
              <a:pPr indent="-269873" lvl="1" marL="539748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99"/>
                <a:buFont typeface="Arial"/>
                <a:buChar char="•"/>
              </a:pPr>
              <a:r>
                <a:rPr b="0" i="0" lang="en-US" sz="24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These advancements are enhancing AI's ability to solve complex tasks and reshape real-world applications.</a:t>
              </a:r>
              <a:endParaRPr/>
            </a:p>
            <a:p>
              <a:pPr indent="0" lvl="0" marL="0" marR="0" rtl="0" algn="just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457" name="Google Shape;457;p17"/>
          <p:cNvSpPr/>
          <p:nvPr/>
        </p:nvSpPr>
        <p:spPr>
          <a:xfrm>
            <a:off x="7785231" y="7281089"/>
            <a:ext cx="1872340" cy="1977211"/>
          </a:xfrm>
          <a:custGeom>
            <a:rect b="b" l="l" r="r" t="t"/>
            <a:pathLst>
              <a:path extrusionOk="0" h="1977211" w="1872340">
                <a:moveTo>
                  <a:pt x="0" y="0"/>
                </a:moveTo>
                <a:lnTo>
                  <a:pt x="1872340" y="0"/>
                </a:lnTo>
                <a:lnTo>
                  <a:pt x="1872340" y="1977211"/>
                </a:lnTo>
                <a:lnTo>
                  <a:pt x="0" y="1977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8" name="Google Shape;458;p17"/>
          <p:cNvGrpSpPr/>
          <p:nvPr/>
        </p:nvGrpSpPr>
        <p:grpSpPr>
          <a:xfrm rot="10800000">
            <a:off x="282438" y="4083269"/>
            <a:ext cx="544528" cy="696611"/>
            <a:chOff x="0" y="-47625"/>
            <a:chExt cx="156117" cy="199719"/>
          </a:xfrm>
        </p:grpSpPr>
        <p:sp>
          <p:nvSpPr>
            <p:cNvPr id="459" name="Google Shape;459;p17"/>
            <p:cNvSpPr/>
            <p:nvPr/>
          </p:nvSpPr>
          <p:spPr>
            <a:xfrm>
              <a:off x="0" y="0"/>
              <a:ext cx="156117" cy="152094"/>
            </a:xfrm>
            <a:custGeom>
              <a:rect b="b" l="l" r="r" t="t"/>
              <a:pathLst>
                <a:path extrusionOk="0" h="152094" w="156117">
                  <a:moveTo>
                    <a:pt x="0" y="0"/>
                  </a:moveTo>
                  <a:lnTo>
                    <a:pt x="156117" y="0"/>
                  </a:lnTo>
                  <a:lnTo>
                    <a:pt x="156117" y="152094"/>
                  </a:lnTo>
                  <a:lnTo>
                    <a:pt x="0" y="15209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60" name="Google Shape;460;p17"/>
            <p:cNvSpPr txBox="1"/>
            <p:nvPr/>
          </p:nvSpPr>
          <p:spPr>
            <a:xfrm>
              <a:off x="0" y="-47625"/>
              <a:ext cx="156117" cy="199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1" name="Google Shape;461;p17"/>
          <p:cNvGrpSpPr/>
          <p:nvPr/>
        </p:nvGrpSpPr>
        <p:grpSpPr>
          <a:xfrm rot="10800000">
            <a:off x="-145158" y="5143500"/>
            <a:ext cx="427597" cy="604736"/>
            <a:chOff x="0" y="-47625"/>
            <a:chExt cx="122593" cy="173379"/>
          </a:xfrm>
        </p:grpSpPr>
        <p:sp>
          <p:nvSpPr>
            <p:cNvPr id="462" name="Google Shape;462;p17"/>
            <p:cNvSpPr/>
            <p:nvPr/>
          </p:nvSpPr>
          <p:spPr>
            <a:xfrm>
              <a:off x="0" y="0"/>
              <a:ext cx="122593" cy="125754"/>
            </a:xfrm>
            <a:custGeom>
              <a:rect b="b" l="l" r="r" t="t"/>
              <a:pathLst>
                <a:path extrusionOk="0" h="125754" w="122593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63" name="Google Shape;463;p17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4" name="Google Shape;464;p17"/>
          <p:cNvGrpSpPr/>
          <p:nvPr/>
        </p:nvGrpSpPr>
        <p:grpSpPr>
          <a:xfrm rot="10800000">
            <a:off x="0" y="3775112"/>
            <a:ext cx="311166" cy="474271"/>
            <a:chOff x="0" y="-47625"/>
            <a:chExt cx="89212" cy="135974"/>
          </a:xfrm>
        </p:grpSpPr>
        <p:sp>
          <p:nvSpPr>
            <p:cNvPr id="465" name="Google Shape;465;p17"/>
            <p:cNvSpPr/>
            <p:nvPr/>
          </p:nvSpPr>
          <p:spPr>
            <a:xfrm>
              <a:off x="0" y="0"/>
              <a:ext cx="89212" cy="88349"/>
            </a:xfrm>
            <a:custGeom>
              <a:rect b="b" l="l" r="r" t="t"/>
              <a:pathLst>
                <a:path extrusionOk="0" h="88349" w="89212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66" name="Google Shape;466;p17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  <p:sp>
        <p:nvSpPr>
          <p:cNvPr id="472" name="Google Shape;472;p18"/>
          <p:cNvSpPr txBox="1"/>
          <p:nvPr/>
        </p:nvSpPr>
        <p:spPr>
          <a:xfrm>
            <a:off x="4357200" y="4105258"/>
            <a:ext cx="5481737" cy="1038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10825832" y="2660736"/>
            <a:ext cx="5080002" cy="5364538"/>
          </a:xfrm>
          <a:custGeom>
            <a:rect b="b" l="l" r="r" t="t"/>
            <a:pathLst>
              <a:path extrusionOk="0" h="5364538" w="5080002">
                <a:moveTo>
                  <a:pt x="0" y="0"/>
                </a:moveTo>
                <a:lnTo>
                  <a:pt x="5080002" y="0"/>
                </a:lnTo>
                <a:lnTo>
                  <a:pt x="5080002" y="5364538"/>
                </a:lnTo>
                <a:lnTo>
                  <a:pt x="0" y="5364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4" name="Google Shape;474;p18"/>
          <p:cNvGrpSpPr/>
          <p:nvPr/>
        </p:nvGrpSpPr>
        <p:grpSpPr>
          <a:xfrm rot="10800000">
            <a:off x="282438" y="4083269"/>
            <a:ext cx="544528" cy="696611"/>
            <a:chOff x="0" y="-47625"/>
            <a:chExt cx="156117" cy="199719"/>
          </a:xfrm>
        </p:grpSpPr>
        <p:sp>
          <p:nvSpPr>
            <p:cNvPr id="475" name="Google Shape;475;p18"/>
            <p:cNvSpPr/>
            <p:nvPr/>
          </p:nvSpPr>
          <p:spPr>
            <a:xfrm>
              <a:off x="0" y="0"/>
              <a:ext cx="156117" cy="152094"/>
            </a:xfrm>
            <a:custGeom>
              <a:rect b="b" l="l" r="r" t="t"/>
              <a:pathLst>
                <a:path extrusionOk="0" h="152094" w="156117">
                  <a:moveTo>
                    <a:pt x="0" y="0"/>
                  </a:moveTo>
                  <a:lnTo>
                    <a:pt x="156117" y="0"/>
                  </a:lnTo>
                  <a:lnTo>
                    <a:pt x="156117" y="152094"/>
                  </a:lnTo>
                  <a:lnTo>
                    <a:pt x="0" y="15209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76" name="Google Shape;476;p18"/>
            <p:cNvSpPr txBox="1"/>
            <p:nvPr/>
          </p:nvSpPr>
          <p:spPr>
            <a:xfrm>
              <a:off x="0" y="-47625"/>
              <a:ext cx="156117" cy="1997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7" name="Google Shape;477;p18"/>
          <p:cNvGrpSpPr/>
          <p:nvPr/>
        </p:nvGrpSpPr>
        <p:grpSpPr>
          <a:xfrm rot="10800000">
            <a:off x="1036199" y="3479849"/>
            <a:ext cx="427597" cy="604736"/>
            <a:chOff x="0" y="-47625"/>
            <a:chExt cx="122593" cy="173379"/>
          </a:xfrm>
        </p:grpSpPr>
        <p:sp>
          <p:nvSpPr>
            <p:cNvPr id="478" name="Google Shape;478;p18"/>
            <p:cNvSpPr/>
            <p:nvPr/>
          </p:nvSpPr>
          <p:spPr>
            <a:xfrm>
              <a:off x="0" y="0"/>
              <a:ext cx="122593" cy="125754"/>
            </a:xfrm>
            <a:custGeom>
              <a:rect b="b" l="l" r="r" t="t"/>
              <a:pathLst>
                <a:path extrusionOk="0" h="125754" w="122593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79" name="Google Shape;479;p18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18"/>
          <p:cNvGrpSpPr/>
          <p:nvPr/>
        </p:nvGrpSpPr>
        <p:grpSpPr>
          <a:xfrm rot="10800000">
            <a:off x="1463796" y="4613766"/>
            <a:ext cx="311166" cy="474271"/>
            <a:chOff x="0" y="-47625"/>
            <a:chExt cx="89212" cy="135974"/>
          </a:xfrm>
        </p:grpSpPr>
        <p:sp>
          <p:nvSpPr>
            <p:cNvPr id="481" name="Google Shape;481;p18"/>
            <p:cNvSpPr/>
            <p:nvPr/>
          </p:nvSpPr>
          <p:spPr>
            <a:xfrm>
              <a:off x="0" y="0"/>
              <a:ext cx="89212" cy="88349"/>
            </a:xfrm>
            <a:custGeom>
              <a:rect b="b" l="l" r="r" t="t"/>
              <a:pathLst>
                <a:path extrusionOk="0" h="88349" w="89212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82" name="Google Shape;482;p18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18"/>
          <p:cNvGrpSpPr/>
          <p:nvPr/>
        </p:nvGrpSpPr>
        <p:grpSpPr>
          <a:xfrm rot="10800000">
            <a:off x="9995875" y="6968307"/>
            <a:ext cx="427597" cy="604736"/>
            <a:chOff x="0" y="-47625"/>
            <a:chExt cx="122593" cy="173379"/>
          </a:xfrm>
        </p:grpSpPr>
        <p:sp>
          <p:nvSpPr>
            <p:cNvPr id="484" name="Google Shape;484;p18"/>
            <p:cNvSpPr/>
            <p:nvPr/>
          </p:nvSpPr>
          <p:spPr>
            <a:xfrm>
              <a:off x="0" y="0"/>
              <a:ext cx="122593" cy="125754"/>
            </a:xfrm>
            <a:custGeom>
              <a:rect b="b" l="l" r="r" t="t"/>
              <a:pathLst>
                <a:path extrusionOk="0" h="125754" w="122593">
                  <a:moveTo>
                    <a:pt x="0" y="0"/>
                  </a:moveTo>
                  <a:lnTo>
                    <a:pt x="122593" y="0"/>
                  </a:lnTo>
                  <a:lnTo>
                    <a:pt x="122593" y="125754"/>
                  </a:lnTo>
                  <a:lnTo>
                    <a:pt x="0" y="125754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85" name="Google Shape;485;p18"/>
            <p:cNvSpPr txBox="1"/>
            <p:nvPr/>
          </p:nvSpPr>
          <p:spPr>
            <a:xfrm>
              <a:off x="0" y="-47625"/>
              <a:ext cx="122593" cy="1733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6" name="Google Shape;486;p18"/>
          <p:cNvGrpSpPr/>
          <p:nvPr/>
        </p:nvGrpSpPr>
        <p:grpSpPr>
          <a:xfrm rot="10800000">
            <a:off x="10670249" y="7717117"/>
            <a:ext cx="311166" cy="474271"/>
            <a:chOff x="0" y="-47625"/>
            <a:chExt cx="89212" cy="135974"/>
          </a:xfrm>
        </p:grpSpPr>
        <p:sp>
          <p:nvSpPr>
            <p:cNvPr id="487" name="Google Shape;487;p18"/>
            <p:cNvSpPr/>
            <p:nvPr/>
          </p:nvSpPr>
          <p:spPr>
            <a:xfrm>
              <a:off x="0" y="0"/>
              <a:ext cx="89212" cy="88349"/>
            </a:xfrm>
            <a:custGeom>
              <a:rect b="b" l="l" r="r" t="t"/>
              <a:pathLst>
                <a:path extrusionOk="0" h="88349" w="89212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88" name="Google Shape;488;p18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18"/>
          <p:cNvGrpSpPr/>
          <p:nvPr/>
        </p:nvGrpSpPr>
        <p:grpSpPr>
          <a:xfrm rot="10800000">
            <a:off x="9527771" y="8248083"/>
            <a:ext cx="311166" cy="474271"/>
            <a:chOff x="0" y="-47625"/>
            <a:chExt cx="89212" cy="135974"/>
          </a:xfrm>
        </p:grpSpPr>
        <p:sp>
          <p:nvSpPr>
            <p:cNvPr id="490" name="Google Shape;490;p18"/>
            <p:cNvSpPr/>
            <p:nvPr/>
          </p:nvSpPr>
          <p:spPr>
            <a:xfrm>
              <a:off x="0" y="0"/>
              <a:ext cx="89212" cy="88349"/>
            </a:xfrm>
            <a:custGeom>
              <a:rect b="b" l="l" r="r" t="t"/>
              <a:pathLst>
                <a:path extrusionOk="0" h="88349" w="89212">
                  <a:moveTo>
                    <a:pt x="0" y="0"/>
                  </a:moveTo>
                  <a:lnTo>
                    <a:pt x="89212" y="0"/>
                  </a:lnTo>
                  <a:lnTo>
                    <a:pt x="89212" y="88349"/>
                  </a:lnTo>
                  <a:lnTo>
                    <a:pt x="0" y="88349"/>
                  </a:lnTo>
                  <a:close/>
                </a:path>
              </a:pathLst>
            </a:custGeom>
            <a:solidFill>
              <a:srgbClr val="0054C5"/>
            </a:solidFill>
            <a:ln>
              <a:noFill/>
            </a:ln>
          </p:spPr>
        </p:sp>
        <p:sp>
          <p:nvSpPr>
            <p:cNvPr id="491" name="Google Shape;491;p18"/>
            <p:cNvSpPr txBox="1"/>
            <p:nvPr/>
          </p:nvSpPr>
          <p:spPr>
            <a:xfrm>
              <a:off x="0" y="-47625"/>
              <a:ext cx="89212" cy="135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