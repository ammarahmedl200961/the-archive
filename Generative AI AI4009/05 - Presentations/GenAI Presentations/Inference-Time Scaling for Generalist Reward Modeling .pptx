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Cabin"/>
      <p:regular r:id="rId18"/>
      <p:bold r:id="rId19"/>
      <p:italic r:id="rId20"/>
      <p:boldItalic r:id="rId21"/>
    </p:embeddedFont>
    <p:embeddedFont>
      <p:font typeface="Unbounde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italic.fntdata"/><Relationship Id="rId11" Type="http://schemas.openxmlformats.org/officeDocument/2006/relationships/slide" Target="slides/slide5.xml"/><Relationship Id="rId22" Type="http://schemas.openxmlformats.org/officeDocument/2006/relationships/font" Target="fonts/Unbounded-regular.fntdata"/><Relationship Id="rId10" Type="http://schemas.openxmlformats.org/officeDocument/2006/relationships/slide" Target="slides/slide4.xml"/><Relationship Id="rId21" Type="http://schemas.openxmlformats.org/officeDocument/2006/relationships/font" Target="fonts/Cabin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nbounde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abin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abi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d40bf122_2_34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54d40bf122_2_34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7" name="Google Shape;87;g354d40bf122_2_34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4d40bf122_5_4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54d40bf122_5_4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" name="Google Shape;95;g354d40bf122_5_4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4d40bf122_2_62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54d40bf122_2_62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" name="Google Shape;104;g354d40bf122_2_62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4d40bf122_2_7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54d40bf122_2_7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54d40bf122_2_7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4d40bf122_5_2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54d40bf122_5_2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9" name="Google Shape;129;g354d40bf122_5_2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4fc6a9470_0_1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54fc6a9470_0_1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0" name="Google Shape;140;g354fc6a9470_0_1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4d40bf122_2_92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54d40bf122_2_92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1" name="Google Shape;151;g354d40bf122_2_92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4d40bf122_5_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54d40bf122_5_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3" name="Google Shape;163;g354d40bf122_5_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4d40bf122_2_10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54d40bf122_2_10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3" name="Google Shape;173;g354d40bf122_2_10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d40bf122_2_124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54d40bf122_2_124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4" name="Google Shape;184;g354d40bf122_2_124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4fc6a9470_0_5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54fc6a9470_0_5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5" name="Google Shape;195;g354fc6a9470_0_5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8.png"/><Relationship Id="rId6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43.png"/><Relationship Id="rId7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Relationship Id="rId6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41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ctrTitle"/>
          </p:nvPr>
        </p:nvSpPr>
        <p:spPr>
          <a:xfrm>
            <a:off x="311708" y="10882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300">
                <a:solidFill>
                  <a:schemeClr val="lt1"/>
                </a:solidFill>
              </a:rPr>
              <a:t>Inference-Time Scaling for Generalist Reward Modeling </a:t>
            </a:r>
            <a:endParaRPr b="1" sz="4300">
              <a:solidFill>
                <a:schemeClr val="lt1"/>
              </a:solidFill>
            </a:endParaRPr>
          </a:p>
        </p:txBody>
      </p:sp>
      <p:pic>
        <p:nvPicPr>
          <p:cNvPr id="90" name="Google Shape;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400" y="4034975"/>
            <a:ext cx="280035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3"/>
          <p:cNvSpPr txBox="1"/>
          <p:nvPr/>
        </p:nvSpPr>
        <p:spPr>
          <a:xfrm>
            <a:off x="311700" y="3472500"/>
            <a:ext cx="38025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Raheel Nazir			21l-6283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Mashhood Husnain		21l-5651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Umer Tariq			21l-7696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Saif Aziz				21l-6250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/>
          <p:nvPr/>
        </p:nvSpPr>
        <p:spPr>
          <a:xfrm>
            <a:off x="506925" y="320004"/>
            <a:ext cx="46677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GB" sz="2800">
                <a:solidFill>
                  <a:srgbClr val="FFFFFF"/>
                </a:solidFill>
              </a:rPr>
              <a:t>Introduction</a:t>
            </a:r>
            <a:endParaRPr b="0" i="0" sz="2800" u="none" cap="none" strike="noStrike"/>
          </a:p>
        </p:txBody>
      </p:sp>
      <p:sp>
        <p:nvSpPr>
          <p:cNvPr id="98" name="Google Shape;98;p24"/>
          <p:cNvSpPr/>
          <p:nvPr/>
        </p:nvSpPr>
        <p:spPr>
          <a:xfrm>
            <a:off x="301325" y="1003250"/>
            <a:ext cx="53538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Goal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: Create generalist reward models (RMs) that scale with inference-time compute.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Scalar RMs can’t use sampling or critique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Domain-specific RMs don’t generalize well]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Key Idea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: Generate textual principles and critiques, then extract numeric scores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Contributions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Self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-Principled Critique Tuning(SPCT) - new training method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Inference-Time Scaling - Improves accuracy with sampling and meta-voting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9" name="Google Shape;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927" y="4015285"/>
            <a:ext cx="28003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/>
        </p:nvSpPr>
        <p:spPr>
          <a:xfrm>
            <a:off x="513148" y="481125"/>
            <a:ext cx="81177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-GB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Preliminaries</a:t>
            </a:r>
            <a:endParaRPr b="0" i="0" sz="2800" u="none" cap="none" strike="noStrike"/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4967" y="4662826"/>
            <a:ext cx="1144258" cy="4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5"/>
          <p:cNvSpPr txBox="1"/>
          <p:nvPr/>
        </p:nvSpPr>
        <p:spPr>
          <a:xfrm>
            <a:off x="132150" y="1125675"/>
            <a:ext cx="46470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Pointwise Generative Reward Modeling (GRM):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Input: Query + multiple responses.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Output: Generated principles → critique → numeric scores for each response.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Score Extraction: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From generated critique, extract a score (e.g. 1–10) for each response.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Advantages of GRM: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Works for single, pairwise, or multiple responses.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Enables inference-time sampling and critique diversity.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Contrast with Scalar RMs: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Scalar RMs output a number directly, no room for reasoning.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GRM supports richer interpretability and scaling.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9" name="Google Shape;10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070" y="268375"/>
            <a:ext cx="3944076" cy="13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3450" y="1874600"/>
            <a:ext cx="29813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075" y="3442251"/>
            <a:ext cx="4115575" cy="12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/>
          <p:nvPr/>
        </p:nvSpPr>
        <p:spPr>
          <a:xfrm>
            <a:off x="4384030" y="371698"/>
            <a:ext cx="47193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Unbounded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Self-Principled Critique Tuning (SPCT)</a:t>
            </a:r>
            <a:endParaRPr b="0" i="0" sz="2600" u="none" cap="none" strike="noStrike"/>
          </a:p>
        </p:txBody>
      </p:sp>
      <p:pic>
        <p:nvPicPr>
          <p:cNvPr descr="preencoded.png" id="118" name="Google Shape;1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6430" y="2640806"/>
            <a:ext cx="711175" cy="85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/>
          <p:nvPr/>
        </p:nvSpPr>
        <p:spPr>
          <a:xfrm>
            <a:off x="5460951" y="2935411"/>
            <a:ext cx="2055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00"/>
              <a:buFont typeface="Unbounded"/>
              <a:buNone/>
            </a:pPr>
            <a:r>
              <a:rPr b="0" i="0" lang="en-GB" sz="13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Rejective Fine-Tuning</a:t>
            </a:r>
            <a:endParaRPr b="0" i="0" sz="1300" u="none" cap="none" strike="noStrike"/>
          </a:p>
        </p:txBody>
      </p:sp>
      <p:pic>
        <p:nvPicPr>
          <p:cNvPr descr="preencoded.png" id="120" name="Google Shape;1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430" y="3494187"/>
            <a:ext cx="711175" cy="85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/>
          <p:nvPr/>
        </p:nvSpPr>
        <p:spPr>
          <a:xfrm>
            <a:off x="5460951" y="3788792"/>
            <a:ext cx="3562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00"/>
              <a:buFont typeface="Unbounded"/>
              <a:buNone/>
            </a:pPr>
            <a:r>
              <a:rPr b="0" i="0" lang="en-GB" sz="13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Rule-Based Reinforcement Learning</a:t>
            </a:r>
            <a:endParaRPr b="0" i="0" sz="1300" u="none" cap="none" strike="noStrike"/>
          </a:p>
        </p:txBody>
      </p:sp>
      <p:sp>
        <p:nvSpPr>
          <p:cNvPr id="122" name="Google Shape;122;p26"/>
          <p:cNvSpPr txBox="1"/>
          <p:nvPr/>
        </p:nvSpPr>
        <p:spPr>
          <a:xfrm>
            <a:off x="4477200" y="1487700"/>
            <a:ext cx="4596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training method for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Generalist Reward Models (GRMs)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that teaches models to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generate evaluation principles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use them to critique responses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23" name="Google Shape;12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5730" y="4223317"/>
            <a:ext cx="2187589" cy="84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00" y="953602"/>
            <a:ext cx="4237125" cy="976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00" y="2132921"/>
            <a:ext cx="4237125" cy="1781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461697" y="447900"/>
            <a:ext cx="74985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Unbounded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Self-Principled Critique Tuning (SPCT)</a:t>
            </a:r>
            <a:endParaRPr b="0" i="0" sz="2600" u="none" cap="none" strike="noStrike"/>
          </a:p>
        </p:txBody>
      </p:sp>
      <p:sp>
        <p:nvSpPr>
          <p:cNvPr id="132" name="Google Shape;132;p27"/>
          <p:cNvSpPr txBox="1"/>
          <p:nvPr/>
        </p:nvSpPr>
        <p:spPr>
          <a:xfrm>
            <a:off x="461700" y="1357500"/>
            <a:ext cx="4009200" cy="3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Phase 1: Rejective Fine-Tuning (RFT)</a:t>
            </a:r>
            <a:endParaRPr b="1" sz="12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GRM learns to: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Generate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principles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(e.g., “Clarity: 30%”, “Safety: 20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Write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critiques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based on these principles.</a:t>
            </a:r>
            <a:b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</a:b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Bad training examples are </a:t>
            </a: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rejected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if: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Scores don’t match ground truth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Task is too easy (all scores correct by default).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3" name="Google Shape;1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825" y="4036088"/>
            <a:ext cx="28003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125" y="1357500"/>
            <a:ext cx="1315901" cy="8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0000" y="2632923"/>
            <a:ext cx="4068300" cy="694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7500" y="3760802"/>
            <a:ext cx="1778250" cy="7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/>
          <p:nvPr/>
        </p:nvSpPr>
        <p:spPr>
          <a:xfrm>
            <a:off x="461697" y="447900"/>
            <a:ext cx="74985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Unbounded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Self-Principled Critique Tuning (SPCT)</a:t>
            </a:r>
            <a:endParaRPr b="0" i="0" sz="2600" u="none" cap="none" strike="noStrike"/>
          </a:p>
        </p:txBody>
      </p:sp>
      <p:sp>
        <p:nvSpPr>
          <p:cNvPr id="143" name="Google Shape;143;p28"/>
          <p:cNvSpPr txBox="1"/>
          <p:nvPr/>
        </p:nvSpPr>
        <p:spPr>
          <a:xfrm>
            <a:off x="5355900" y="1357500"/>
            <a:ext cx="37362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Phase 2: Rule-Based Online RL</a:t>
            </a:r>
            <a:endParaRPr b="1" sz="12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GRM is rewarded if:</a:t>
            </a:r>
            <a:b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</a:b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It picks the best response (according to ground truth)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○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Its self-generated critique matches rule-based correctness.</a:t>
            </a:r>
            <a:b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</a:b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Char char="●"/>
            </a:pPr>
            <a:r>
              <a:rPr b="1"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KL penalty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ensures output format consistency.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825" y="4036088"/>
            <a:ext cx="28003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50" y="1350688"/>
            <a:ext cx="1619550" cy="9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50" y="2546325"/>
            <a:ext cx="4916925" cy="6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2950" y="3433350"/>
            <a:ext cx="20764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/>
          <p:nvPr/>
        </p:nvSpPr>
        <p:spPr>
          <a:xfrm>
            <a:off x="523578" y="112224"/>
            <a:ext cx="7037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Inference-Time Scaling Strategies</a:t>
            </a:r>
            <a:endParaRPr b="0" i="0" sz="2800" u="none" cap="none" strike="noStrike"/>
          </a:p>
        </p:txBody>
      </p:sp>
      <p:sp>
        <p:nvSpPr>
          <p:cNvPr id="154" name="Google Shape;154;p29"/>
          <p:cNvSpPr/>
          <p:nvPr/>
        </p:nvSpPr>
        <p:spPr>
          <a:xfrm>
            <a:off x="523578" y="1732666"/>
            <a:ext cx="3345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Voting with Generated Rewards</a:t>
            </a:r>
            <a:endParaRPr b="0" i="0" sz="1400" u="none" cap="none" strike="noStrike"/>
          </a:p>
        </p:txBody>
      </p:sp>
      <p:sp>
        <p:nvSpPr>
          <p:cNvPr id="155" name="Google Shape;155;p29"/>
          <p:cNvSpPr/>
          <p:nvPr/>
        </p:nvSpPr>
        <p:spPr>
          <a:xfrm>
            <a:off x="523575" y="2411275"/>
            <a:ext cx="66801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Generate multiple principles and critiques per response.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Final score: 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Captures diverse judgment perspectives.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Expands score granularity.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Shuffling avoids positional bias.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523575" y="1242400"/>
            <a:ext cx="6927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Improve reward modeling accuracy at inference using sampling-based voting and Meta Reward Modeling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523575" y="4306075"/>
            <a:ext cx="61476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More critique samples → better approximates the true distribution of quality judgments.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6825" y="4036088"/>
            <a:ext cx="28003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175" y="2855885"/>
            <a:ext cx="6141750" cy="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/>
          <p:nvPr/>
        </p:nvSpPr>
        <p:spPr>
          <a:xfrm>
            <a:off x="523578" y="112224"/>
            <a:ext cx="7037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Inference-Time Scaling Strategies</a:t>
            </a:r>
            <a:endParaRPr b="0" i="0" sz="2800" u="none" cap="none" strike="noStrike"/>
          </a:p>
        </p:txBody>
      </p:sp>
      <p:sp>
        <p:nvSpPr>
          <p:cNvPr id="166" name="Google Shape;166;p30"/>
          <p:cNvSpPr/>
          <p:nvPr/>
        </p:nvSpPr>
        <p:spPr>
          <a:xfrm>
            <a:off x="447375" y="1525075"/>
            <a:ext cx="35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Meta Reward Modeling</a:t>
            </a:r>
            <a:endParaRPr b="0" i="0" sz="1400" u="none" cap="none" strike="noStrike"/>
          </a:p>
        </p:txBody>
      </p:sp>
      <p:sp>
        <p:nvSpPr>
          <p:cNvPr id="167" name="Google Shape;167;p30"/>
          <p:cNvSpPr/>
          <p:nvPr/>
        </p:nvSpPr>
        <p:spPr>
          <a:xfrm>
            <a:off x="447375" y="1870850"/>
            <a:ext cx="45489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Trained scalar RM evaluates critique correctness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Filters out low-quality critiques before voting.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Uses both non-hinted RFT samples &amp; DeepSeek-generated samples.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Performance Highlights of DeepSeek-GRM-27B (Meta RM):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Reward Bench: 90.4                                   PPE-Preference: 67.2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PPE-Correctness: 63.2                               RMB: 70.3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•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Overall: 72.8 (best among all tested models)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Meta-guided voting at inference time significantly boosts reward modeling performance—outperforming even GPT-4o.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375" y="4087224"/>
            <a:ext cx="2637481" cy="101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350" y="1906150"/>
            <a:ext cx="4166498" cy="22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/>
          <p:nvPr/>
        </p:nvSpPr>
        <p:spPr>
          <a:xfrm>
            <a:off x="523578" y="215485"/>
            <a:ext cx="80967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-GB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Benchmark Results: Big Picture</a:t>
            </a:r>
            <a:endParaRPr b="0" i="0" sz="2800" u="none" cap="none" strike="noStrike"/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927" y="4015285"/>
            <a:ext cx="28003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575" y="2971200"/>
            <a:ext cx="3208573" cy="198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1775" y="1215460"/>
            <a:ext cx="4115851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406425" y="1079150"/>
            <a:ext cx="46809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DeepSeek‑GRM‑27B (greedy) sits at 69.9 overall accuracy across Reward Bench, PPE &amp; RMB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Simple Voting@32 already lifts the same 27 B model to 71.0 (+1.1 pp) 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Meta RM + Voting@32 delivers the knockout: 72.8 overall — above GPT‑4o (71.3) and 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Nematron</a:t>
            </a: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‑340B (70.5) despite 10‑25× fewer parameters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4886875" y="2796550"/>
            <a:ext cx="395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X‑axis is log‑scaled k (number of reward samples); Y‑axis is aggregate accuracy.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Up to 8 samples: +2.7 pp; 32 samples: +3.1 pp (plain voting) or +4.9 pp with Meta RM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Curve flattens ≈ 32 — good place to cap compute in real‑time systems.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/>
          <p:nvPr/>
        </p:nvSpPr>
        <p:spPr>
          <a:xfrm>
            <a:off x="392425" y="123150"/>
            <a:ext cx="84861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-GB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SPCT Matters!</a:t>
            </a:r>
            <a:endParaRPr sz="280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163825" y="602550"/>
            <a:ext cx="52137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 principle generation → –2.4 pp (69.9 → 67.5). Principles drive granular, domain‑aware judging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Skip rejective fine‑tuning → –1.2 pp; the cold start helps format &amp; task generalisation.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Drop general instruction data → –6.6 pp (!) — shows base knowledge still crucial.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475" y="123150"/>
            <a:ext cx="2035925" cy="21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25" y="2520825"/>
            <a:ext cx="4054300" cy="198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4582550" y="2328525"/>
            <a:ext cx="3963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Scalar RMs: fast, deterministic; shine on verifiable maths/coding but can’t sample → poor scaling (e.g., DeepSeek‑BTRM)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Semi‑Scalar: adds critiques but reward still fixed; limited variance (CLoud‑Gemma).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Generative + SPCT: text‑only reward ➜ flexible inputs and high variance, perfect for sampling.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Parallel trend: inference‑time scaling papers (“Large‑Language‑Monkeys”, “Let’s Verify Step by Step”) focus on policy models. Our work brings the same idea to reward models.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8475" y="4835175"/>
            <a:ext cx="1165300" cy="2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/>
          <p:nvPr/>
        </p:nvSpPr>
        <p:spPr>
          <a:xfrm>
            <a:off x="468625" y="427950"/>
            <a:ext cx="84861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-GB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Conclusion</a:t>
            </a:r>
            <a:endParaRPr sz="280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304800" y="1295400"/>
            <a:ext cx="617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Compute‑efficient edge: 27 B @ 32 samples ≈ 671 B greedy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SPCT trains the model to invent principles + critiques on the fly → higher fidelity rewards.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Meta RM shows that smart filtering &gt; brute‑force sampling.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-GB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Future directions: plug GRM into live RL loops; study bias mitigation; co‑scale policies and rewards for end‑to‑end gains 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400" y="4311000"/>
            <a:ext cx="2350350" cy="7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