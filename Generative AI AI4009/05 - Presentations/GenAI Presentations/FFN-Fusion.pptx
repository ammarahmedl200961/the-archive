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Krona One"/>
      <p:regular r:id="rId21"/>
    </p:embeddedFont>
    <p:embeddedFont>
      <p:font typeface="PT Sans"/>
      <p:regular r:id="rId22"/>
      <p:bold r:id="rId23"/>
      <p:italic r:id="rId24"/>
      <p:boldItalic r:id="rId25"/>
    </p:embeddedFont>
    <p:embeddedFont>
      <p:font typeface="Ex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TSans-regular.fntdata"/><Relationship Id="rId21" Type="http://schemas.openxmlformats.org/officeDocument/2006/relationships/font" Target="fonts/KronaOne-regular.fntdata"/><Relationship Id="rId24" Type="http://schemas.openxmlformats.org/officeDocument/2006/relationships/font" Target="fonts/PTSans-italic.fntdata"/><Relationship Id="rId23" Type="http://schemas.openxmlformats.org/officeDocument/2006/relationships/font" Target="fonts/PT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xo-regular.fntdata"/><Relationship Id="rId25" Type="http://schemas.openxmlformats.org/officeDocument/2006/relationships/font" Target="fonts/PTSans-boldItalic.fntdata"/><Relationship Id="rId28" Type="http://schemas.openxmlformats.org/officeDocument/2006/relationships/font" Target="fonts/Exo-italic.fntdata"/><Relationship Id="rId27" Type="http://schemas.openxmlformats.org/officeDocument/2006/relationships/font" Target="fonts/Ex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Ex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1" name="Google Shape;26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f11272de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f11272d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5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550db962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7" name="Google Shape;2727;g3550db962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g3550db9626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0" name="Google Shape;2740;g3550db9626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3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g3550db9626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5" name="Google Shape;2745;g3550db9626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gf11272de0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1" name="Google Shape;2751;gf11272de0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g3550db9626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3" name="Google Shape;2763;g3550db9626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g3550db9626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4" name="Google Shape;2774;g3550db9626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4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g3550db9626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6" name="Google Shape;2786;g3550db9626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7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g3550db9626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9" name="Google Shape;2799;g3550db9626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Google Shape;2811;g3550db9626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2" name="Google Shape;2812;g3550db9626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2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g3550db9626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4" name="Google Shape;2824;g3550db9626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g3550db9626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6" name="Google Shape;2836;g3550db9626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5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g3550db9626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7" name="Google Shape;2847;g3550db9626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1" name="Shape 2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Google Shape;2852;gedfa3e31c0_2_20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3" name="Google Shape;2853;gedfa3e31c0_2_20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2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Google Shape;2903;gedfa3e31c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4" name="Google Shape;2904;gedfa3e31c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2"/>
          <p:cNvSpPr txBox="1"/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  <a:effectLst>
            <a:outerShdw blurRad="142875" rotWithShape="0" algn="bl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2"/>
          <p:cNvSpPr txBox="1"/>
          <p:nvPr>
            <p:ph idx="1" type="subTitle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3"/>
          <p:cNvSpPr txBox="1"/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" name="Google Shape;168;p3"/>
          <p:cNvSpPr txBox="1"/>
          <p:nvPr>
            <p:ph idx="1" type="subTitle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3"/>
          <p:cNvSpPr txBox="1"/>
          <p:nvPr>
            <p:ph hasCustomPrompt="1" idx="2" type="title"/>
          </p:nvPr>
        </p:nvSpPr>
        <p:spPr>
          <a:xfrm>
            <a:off x="3132448" y="1484973"/>
            <a:ext cx="28791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flipH="1" rot="10800000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flipH="1" rot="-5400000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0" name="Google Shape;270;p4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grpSp>
        <p:nvGrpSpPr>
          <p:cNvPr id="271" name="Google Shape;271;p4"/>
          <p:cNvGrpSpPr/>
          <p:nvPr/>
        </p:nvGrpSpPr>
        <p:grpSpPr>
          <a:xfrm flipH="1" rot="5400000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9" name="Google Shape;349;p5"/>
          <p:cNvSpPr txBox="1"/>
          <p:nvPr>
            <p:ph idx="2" type="title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5"/>
          <p:cNvSpPr txBox="1"/>
          <p:nvPr>
            <p:ph idx="1" type="subTitle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"/>
          <p:cNvSpPr txBox="1"/>
          <p:nvPr>
            <p:ph idx="3" type="title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5"/>
          <p:cNvSpPr txBox="1"/>
          <p:nvPr>
            <p:ph idx="4" type="subTitle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flipH="1" rot="5400000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flipH="1" rot="5400000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flipH="1" rot="10800000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7"/>
          <p:cNvSpPr txBox="1"/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3" name="Google Shape;533;p7"/>
          <p:cNvSpPr txBox="1"/>
          <p:nvPr>
            <p:ph idx="1" type="subTitle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8"/>
          <p:cNvSpPr txBox="1"/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flipH="1" rot="-5400000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flipH="1" rot="-5400000">
            <a:off x="1059557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9"/>
          <p:cNvSpPr txBox="1"/>
          <p:nvPr>
            <p:ph idx="1" type="subTitle"/>
          </p:nvPr>
        </p:nvSpPr>
        <p:spPr>
          <a:xfrm>
            <a:off x="2399850" y="2366051"/>
            <a:ext cx="4344300" cy="10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9"/>
          <p:cNvSpPr txBox="1"/>
          <p:nvPr>
            <p:ph type="title"/>
          </p:nvPr>
        </p:nvSpPr>
        <p:spPr>
          <a:xfrm>
            <a:off x="2399850" y="1723050"/>
            <a:ext cx="43443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flipH="1" rot="10800000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/>
          <p:nvPr>
            <p:ph idx="1" type="body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latin typeface="Exo"/>
                <a:ea typeface="Exo"/>
                <a:cs typeface="Exo"/>
                <a:sym typeface="Exo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11"/>
          <p:cNvSpPr txBox="1"/>
          <p:nvPr>
            <p:ph hasCustomPrompt="1" type="title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/>
          <p:nvPr>
            <p:ph idx="1" type="subTitle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71" name="Google Shape;971;p13"/>
          <p:cNvSpPr txBox="1"/>
          <p:nvPr>
            <p:ph idx="2" type="title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13"/>
          <p:cNvSpPr txBox="1"/>
          <p:nvPr>
            <p:ph idx="1" type="subTitle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13"/>
          <p:cNvSpPr txBox="1"/>
          <p:nvPr>
            <p:ph hasCustomPrompt="1" idx="3" type="title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/>
          <p:nvPr>
            <p:ph idx="4" type="title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5" name="Google Shape;975;p13"/>
          <p:cNvSpPr txBox="1"/>
          <p:nvPr>
            <p:ph idx="5" type="subTitle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13"/>
          <p:cNvSpPr txBox="1"/>
          <p:nvPr>
            <p:ph hasCustomPrompt="1" idx="6" type="title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/>
          <p:nvPr>
            <p:ph idx="7" type="title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13"/>
          <p:cNvSpPr txBox="1"/>
          <p:nvPr>
            <p:ph idx="8" type="subTitle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" name="Google Shape;979;p13"/>
          <p:cNvSpPr txBox="1"/>
          <p:nvPr>
            <p:ph hasCustomPrompt="1" idx="9" type="title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/>
          <p:nvPr>
            <p:ph idx="13" type="title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1" name="Google Shape;981;p13"/>
          <p:cNvSpPr txBox="1"/>
          <p:nvPr>
            <p:ph idx="14" type="subTitle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2" name="Google Shape;982;p13"/>
          <p:cNvSpPr txBox="1"/>
          <p:nvPr>
            <p:ph hasCustomPrompt="1" idx="15" type="title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/>
          <p:nvPr>
            <p:ph idx="16" type="title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hasCustomPrompt="1" idx="18" type="title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/>
          <p:nvPr>
            <p:ph idx="19" type="title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flipH="1" rot="5400000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3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3" name="Google Shape;1103;p14"/>
          <p:cNvSpPr txBox="1"/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4" name="Google Shape;1104;p14"/>
          <p:cNvSpPr txBox="1"/>
          <p:nvPr>
            <p:ph idx="1" type="subTitle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05" name="Google Shape;1105;p14"/>
          <p:cNvSpPr/>
          <p:nvPr/>
        </p:nvSpPr>
        <p:spPr>
          <a:xfrm flipH="1" rot="-5400000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4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15"/>
          <p:cNvSpPr txBox="1"/>
          <p:nvPr>
            <p:ph type="title"/>
          </p:nvPr>
        </p:nvSpPr>
        <p:spPr>
          <a:xfrm>
            <a:off x="864525" y="2405675"/>
            <a:ext cx="75663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89" name="Google Shape;1189;p15"/>
          <p:cNvSpPr txBox="1"/>
          <p:nvPr>
            <p:ph idx="1" type="subTitle"/>
          </p:nvPr>
        </p:nvSpPr>
        <p:spPr>
          <a:xfrm>
            <a:off x="864525" y="3440475"/>
            <a:ext cx="4644000" cy="34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0" name="Google Shape;1190;p15"/>
          <p:cNvSpPr txBox="1"/>
          <p:nvPr>
            <p:ph hasCustomPrompt="1" idx="2" type="title"/>
          </p:nvPr>
        </p:nvSpPr>
        <p:spPr>
          <a:xfrm>
            <a:off x="864525" y="1484975"/>
            <a:ext cx="21303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5"/>
          <p:cNvSpPr/>
          <p:nvPr/>
        </p:nvSpPr>
        <p:spPr>
          <a:xfrm flipH="1" rot="10800000">
            <a:off x="2891470" y="4842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BLANK_8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Google Shape;1263;p16"/>
          <p:cNvSpPr txBox="1"/>
          <p:nvPr>
            <p:ph type="title"/>
          </p:nvPr>
        </p:nvSpPr>
        <p:spPr>
          <a:xfrm>
            <a:off x="713100" y="2405675"/>
            <a:ext cx="75834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4" name="Google Shape;1264;p16"/>
          <p:cNvSpPr txBox="1"/>
          <p:nvPr>
            <p:ph idx="1" type="subTitle"/>
          </p:nvPr>
        </p:nvSpPr>
        <p:spPr>
          <a:xfrm>
            <a:off x="3567000" y="3415875"/>
            <a:ext cx="4729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5" name="Google Shape;1265;p16"/>
          <p:cNvSpPr txBox="1"/>
          <p:nvPr>
            <p:ph hasCustomPrompt="1" idx="2" type="title"/>
          </p:nvPr>
        </p:nvSpPr>
        <p:spPr>
          <a:xfrm>
            <a:off x="5961000" y="1484975"/>
            <a:ext cx="23355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flipH="1" rot="10800000">
            <a:off x="2358070" y="4766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3" name="Google Shape;1343;p17"/>
          <p:cNvSpPr txBox="1"/>
          <p:nvPr>
            <p:ph type="title"/>
          </p:nvPr>
        </p:nvSpPr>
        <p:spPr>
          <a:xfrm>
            <a:off x="713100" y="1723050"/>
            <a:ext cx="4401600" cy="572700"/>
          </a:xfrm>
          <a:prstGeom prst="rect">
            <a:avLst/>
          </a:prstGeom>
          <a:effectLst>
            <a:outerShdw blurRad="157163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44" name="Google Shape;1344;p17"/>
          <p:cNvSpPr txBox="1"/>
          <p:nvPr>
            <p:ph idx="1" type="subTitle"/>
          </p:nvPr>
        </p:nvSpPr>
        <p:spPr>
          <a:xfrm>
            <a:off x="713100" y="2366050"/>
            <a:ext cx="4401600" cy="10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6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0" name="Google Shape;1430;p18"/>
          <p:cNvSpPr txBox="1"/>
          <p:nvPr>
            <p:ph type="title"/>
          </p:nvPr>
        </p:nvSpPr>
        <p:spPr>
          <a:xfrm>
            <a:off x="865500" y="1323677"/>
            <a:ext cx="41661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31" name="Google Shape;1431;p18"/>
          <p:cNvSpPr txBox="1"/>
          <p:nvPr>
            <p:ph idx="1" type="subTitle"/>
          </p:nvPr>
        </p:nvSpPr>
        <p:spPr>
          <a:xfrm>
            <a:off x="865500" y="1966252"/>
            <a:ext cx="4166100" cy="19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0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1" name="Google Shape;1531;p19"/>
          <p:cNvSpPr txBox="1"/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2" name="Google Shape;1532;p19"/>
          <p:cNvSpPr txBox="1"/>
          <p:nvPr>
            <p:ph idx="1" type="subTitle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p19"/>
          <p:cNvSpPr txBox="1"/>
          <p:nvPr>
            <p:ph idx="2" type="title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4" name="Google Shape;1534;p19"/>
          <p:cNvSpPr txBox="1"/>
          <p:nvPr>
            <p:ph idx="3" type="subTitle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6" name="Google Shape;1566;p19"/>
          <p:cNvSpPr txBox="1"/>
          <p:nvPr>
            <p:ph idx="4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7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7" name="Google Shape;1607;p20"/>
          <p:cNvSpPr txBox="1"/>
          <p:nvPr>
            <p:ph idx="1" type="subTitle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8" name="Google Shape;1608;p20"/>
          <p:cNvSpPr txBox="1"/>
          <p:nvPr>
            <p:ph idx="2" type="subTitle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6" name="Google Shape;1656;p20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5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2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98" name="Google Shape;1698;p21"/>
          <p:cNvSpPr txBox="1"/>
          <p:nvPr>
            <p:ph idx="2" type="title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9" name="Google Shape;1699;p21"/>
          <p:cNvSpPr txBox="1"/>
          <p:nvPr>
            <p:ph idx="1" type="subTitle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0" name="Google Shape;1700;p21"/>
          <p:cNvSpPr txBox="1"/>
          <p:nvPr>
            <p:ph idx="3" type="title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1" name="Google Shape;1701;p21"/>
          <p:cNvSpPr txBox="1"/>
          <p:nvPr>
            <p:ph idx="4" type="subTitle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2" name="Google Shape;1702;p21"/>
          <p:cNvSpPr txBox="1"/>
          <p:nvPr>
            <p:ph idx="5" type="title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3" name="Google Shape;1703;p21"/>
          <p:cNvSpPr txBox="1"/>
          <p:nvPr>
            <p:ph idx="6" type="subTitle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flipH="1" rot="5400000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flipH="1" rot="-5400000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6"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0" name="Google Shape;1780;p22"/>
          <p:cNvSpPr txBox="1"/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1" name="Google Shape;1781;p22"/>
          <p:cNvSpPr txBox="1"/>
          <p:nvPr>
            <p:ph idx="1" type="subTitle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2" name="Google Shape;1782;p22"/>
          <p:cNvSpPr txBox="1"/>
          <p:nvPr>
            <p:ph idx="2" type="title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3" name="Google Shape;1783;p22"/>
          <p:cNvSpPr txBox="1"/>
          <p:nvPr>
            <p:ph idx="3" type="subTitle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22"/>
          <p:cNvSpPr txBox="1"/>
          <p:nvPr>
            <p:ph idx="4" type="title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5" name="Google Shape;1785;p22"/>
          <p:cNvSpPr txBox="1"/>
          <p:nvPr>
            <p:ph idx="5" type="subTitle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6" name="Google Shape;1786;p22"/>
          <p:cNvSpPr txBox="1"/>
          <p:nvPr>
            <p:ph idx="6" type="title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7" name="Google Shape;1787;p22"/>
          <p:cNvSpPr txBox="1"/>
          <p:nvPr>
            <p:ph idx="7" type="subTitle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/>
          <p:nvPr>
            <p:ph idx="8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4" name="Google Shape;1894;p2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95" name="Google Shape;1895;p23"/>
          <p:cNvSpPr txBox="1"/>
          <p:nvPr>
            <p:ph idx="2" type="title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6" name="Google Shape;1896;p23"/>
          <p:cNvSpPr txBox="1"/>
          <p:nvPr>
            <p:ph idx="1" type="subTitle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7" name="Google Shape;1897;p23"/>
          <p:cNvSpPr txBox="1"/>
          <p:nvPr>
            <p:ph idx="3" type="title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8" name="Google Shape;1898;p23"/>
          <p:cNvSpPr txBox="1"/>
          <p:nvPr>
            <p:ph idx="4" type="subTitle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9" name="Google Shape;1899;p23"/>
          <p:cNvSpPr txBox="1"/>
          <p:nvPr>
            <p:ph idx="5" type="title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0" name="Google Shape;1900;p23"/>
          <p:cNvSpPr txBox="1"/>
          <p:nvPr>
            <p:ph idx="6" type="subTitle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1" name="Google Shape;1901;p23"/>
          <p:cNvSpPr txBox="1"/>
          <p:nvPr>
            <p:ph idx="7" type="title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2" name="Google Shape;1902;p23"/>
          <p:cNvSpPr txBox="1"/>
          <p:nvPr>
            <p:ph idx="8" type="subTitle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3" name="Google Shape;1903;p23"/>
          <p:cNvSpPr txBox="1"/>
          <p:nvPr>
            <p:ph idx="9" type="title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4" name="Google Shape;1904;p23"/>
          <p:cNvSpPr txBox="1"/>
          <p:nvPr>
            <p:ph idx="13" type="subTitle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5" name="Google Shape;1905;p23"/>
          <p:cNvSpPr txBox="1"/>
          <p:nvPr>
            <p:ph idx="14" type="title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6" name="Google Shape;1906;p23"/>
          <p:cNvSpPr txBox="1"/>
          <p:nvPr>
            <p:ph idx="15" type="subTitle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5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2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4"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9" name="Google Shape;2219;p2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1"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0" name="Google Shape;2260;p2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61" name="Google Shape;2261;p26"/>
          <p:cNvSpPr txBox="1"/>
          <p:nvPr>
            <p:ph idx="2" type="title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2" name="Google Shape;2262;p26"/>
          <p:cNvSpPr txBox="1"/>
          <p:nvPr>
            <p:ph idx="1" type="subTitle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3" name="Google Shape;2263;p26"/>
          <p:cNvSpPr txBox="1"/>
          <p:nvPr>
            <p:ph hasCustomPrompt="1" idx="3" type="title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/>
          <p:nvPr>
            <p:ph idx="4" type="title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5" name="Google Shape;2265;p26"/>
          <p:cNvSpPr txBox="1"/>
          <p:nvPr>
            <p:ph idx="5" type="subTitle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6" name="Google Shape;2266;p26"/>
          <p:cNvSpPr txBox="1"/>
          <p:nvPr>
            <p:ph hasCustomPrompt="1" idx="6" type="title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/>
          <p:nvPr>
            <p:ph idx="7" type="title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8" name="Google Shape;2268;p26"/>
          <p:cNvSpPr txBox="1"/>
          <p:nvPr>
            <p:ph idx="8" type="subTitle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9" name="Google Shape;2269;p26"/>
          <p:cNvSpPr txBox="1"/>
          <p:nvPr>
            <p:ph hasCustomPrompt="1" idx="9" type="title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2"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7" name="Google Shape;2347;p27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48" name="Google Shape;2348;p27"/>
          <p:cNvSpPr txBox="1"/>
          <p:nvPr>
            <p:ph idx="1" type="subTitle"/>
          </p:nvPr>
        </p:nvSpPr>
        <p:spPr>
          <a:xfrm>
            <a:off x="2335650" y="1775000"/>
            <a:ext cx="4472700" cy="101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infographics &amp; images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3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2"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b="1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3" name="Google Shape;2653;p30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54" name="Google Shape;2654;p3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0" name="Google Shape;2660;p30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661" name="Google Shape;2661;p3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7" name="Google Shape;2667;p30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668" name="Google Shape;2668;p3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3" name="Google Shape;2673;p30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674" name="Google Shape;2674;p30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675" name="Google Shape;2675;p3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6" name="Google Shape;2676;p3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7" name="Google Shape;2677;p3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3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3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3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1" name="Google Shape;2681;p3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2" name="Google Shape;2682;p3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3" name="Google Shape;2683;p3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3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5" name="Google Shape;2685;p30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686" name="Google Shape;2686;p3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3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8" name="Google Shape;2688;p3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9" name="Google Shape;2689;p3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3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3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3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3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4" name="Google Shape;2694;p3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5" name="Google Shape;2695;p3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96" name="Google Shape;2696;p30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697" name="Google Shape;2697;p3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3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1" name="Google Shape;2711;p30"/>
          <p:cNvSpPr txBox="1"/>
          <p:nvPr>
            <p:ph type="ctrTitle"/>
          </p:nvPr>
        </p:nvSpPr>
        <p:spPr>
          <a:xfrm>
            <a:off x="1032450" y="1567300"/>
            <a:ext cx="7079100" cy="24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chemeClr val="accent2"/>
                </a:solidFill>
              </a:rPr>
              <a:t>FFN Fusion:</a:t>
            </a:r>
            <a:endParaRPr sz="5800"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chemeClr val="accent2"/>
                </a:solidFill>
              </a:rPr>
              <a:t>Accelerating Large Language Models</a:t>
            </a:r>
            <a:endParaRPr sz="58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3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Krona One"/>
                <a:ea typeface="Krona One"/>
                <a:cs typeface="Krona One"/>
                <a:sym typeface="Krona One"/>
              </a:rPr>
              <a:t>Why LLMs Are Slow</a:t>
            </a:r>
            <a:endParaRPr sz="25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717" name="Google Shape;2717;p31"/>
          <p:cNvSpPr txBox="1"/>
          <p:nvPr>
            <p:ph idx="1" type="body"/>
          </p:nvPr>
        </p:nvSpPr>
        <p:spPr>
          <a:xfrm>
            <a:off x="669150" y="15980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Large Language Models (LLMs) like GPT-4 and LLaMA are powerful but computationally intensive.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Inference (generating outputs) is slow due to the sequential nature of Transformer architectures.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Each layer waits for the previous one to complete, leading to latency and high computational costs.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Quantization/pruning help but have trade-offs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2718" name="Google Shape;2718;p31"/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19" name="Google Shape;2719;p3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3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3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3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3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3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8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p32"/>
          <p:cNvSpPr txBox="1"/>
          <p:nvPr>
            <p:ph type="title"/>
          </p:nvPr>
        </p:nvSpPr>
        <p:spPr>
          <a:xfrm>
            <a:off x="713100" y="56135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Krona One"/>
                <a:ea typeface="Krona One"/>
                <a:cs typeface="Krona One"/>
                <a:sym typeface="Krona One"/>
              </a:rPr>
              <a:t>Transformers Architecture</a:t>
            </a:r>
            <a:endParaRPr sz="2800"/>
          </a:p>
        </p:txBody>
      </p:sp>
      <p:sp>
        <p:nvSpPr>
          <p:cNvPr id="2730" name="Google Shape;2730;p32"/>
          <p:cNvSpPr txBox="1"/>
          <p:nvPr>
            <p:ph idx="1" type="body"/>
          </p:nvPr>
        </p:nvSpPr>
        <p:spPr>
          <a:xfrm>
            <a:off x="713100" y="1630650"/>
            <a:ext cx="7717800" cy="18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Transformers consist of stacked layers, each with: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Multi-Head Attention: Captures relationships between tokens.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Feed-Forward Network (FFN): Processes each token independently.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Despite parallelism in attention heads, layers are processed sequentially.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2731" name="Google Shape;2731;p32"/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32" name="Google Shape;2732;p3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3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3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2" name="Google Shape;2742;p33" title="Transformers Architecture - visual se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413" y="152400"/>
            <a:ext cx="788918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3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Krona One"/>
                <a:ea typeface="Krona One"/>
                <a:cs typeface="Krona One"/>
                <a:sym typeface="Krona One"/>
              </a:rPr>
              <a:t>Existing Optimization Techniques</a:t>
            </a:r>
            <a:endParaRPr sz="2800"/>
          </a:p>
        </p:txBody>
      </p:sp>
      <p:sp>
        <p:nvSpPr>
          <p:cNvPr id="2748" name="Google Shape;2748;p34"/>
          <p:cNvSpPr txBox="1"/>
          <p:nvPr>
            <p:ph idx="1" type="body"/>
          </p:nvPr>
        </p:nvSpPr>
        <p:spPr>
          <a:xfrm>
            <a:off x="669150" y="15980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Quantization: Reduces precision of weights to lower computational load.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Pruning: Removes less important weights or neurons.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Mixture of Experts (MoE): Activates only parts of the model per input.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Limitations: These methods often compromise accuracy or require large batch sizes.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2" name="Shape 2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Google Shape;2753;p35"/>
          <p:cNvSpPr txBox="1"/>
          <p:nvPr>
            <p:ph type="title"/>
          </p:nvPr>
        </p:nvSpPr>
        <p:spPr>
          <a:xfrm>
            <a:off x="588525" y="7592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Puzzle</a:t>
            </a:r>
            <a:endParaRPr sz="3200">
              <a:solidFill>
                <a:schemeClr val="accent2"/>
              </a:solidFill>
            </a:endParaRPr>
          </a:p>
        </p:txBody>
      </p:sp>
      <p:grpSp>
        <p:nvGrpSpPr>
          <p:cNvPr id="2754" name="Google Shape;2754;p35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55" name="Google Shape;2755;p3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60" name="Google Shape;2760;p35"/>
          <p:cNvSpPr txBox="1"/>
          <p:nvPr>
            <p:ph idx="4294967295" type="body"/>
          </p:nvPr>
        </p:nvSpPr>
        <p:spPr>
          <a:xfrm>
            <a:off x="713100" y="1971675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Puzzle is a tool that prunes redundant attention layers in Transformers.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After pruning, sequences of FFN layers remain, presenting an opportunity for optimization.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Leaves long chains of FFNs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" name="Google Shape;2765;p36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66" name="Google Shape;2766;p3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71" name="Google Shape;277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6275" y="52550"/>
            <a:ext cx="5971450" cy="50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37"/>
          <p:cNvSpPr txBox="1"/>
          <p:nvPr>
            <p:ph type="title"/>
          </p:nvPr>
        </p:nvSpPr>
        <p:spPr>
          <a:xfrm>
            <a:off x="713100" y="77385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FFN Fusion?</a:t>
            </a:r>
            <a:endParaRPr sz="3200">
              <a:solidFill>
                <a:schemeClr val="accent2"/>
              </a:solidFill>
            </a:endParaRPr>
          </a:p>
        </p:txBody>
      </p:sp>
      <p:grpSp>
        <p:nvGrpSpPr>
          <p:cNvPr id="2777" name="Google Shape;2777;p37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78" name="Google Shape;2778;p3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3" name="Google Shape;2783;p37"/>
          <p:cNvSpPr txBox="1"/>
          <p:nvPr>
            <p:ph idx="4294967295" type="body"/>
          </p:nvPr>
        </p:nvSpPr>
        <p:spPr>
          <a:xfrm>
            <a:off x="713100" y="1595225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FFN Fusion is an architectural optimization that allows multiple FFN layers to be executed in parallel.</a:t>
            </a:r>
            <a:br>
              <a:rPr lang="en" sz="1600"/>
            </a:b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Key insight: Consecutive FFN layers often have low interdependencies.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Instead of FFN1 → FFN2 → FFN3 sequentially, Sum Outputs.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Collapsible into one wide FFN layer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Eliminates sync points, boosts GPU utilization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38"/>
          <p:cNvSpPr txBox="1"/>
          <p:nvPr>
            <p:ph type="title"/>
          </p:nvPr>
        </p:nvSpPr>
        <p:spPr>
          <a:xfrm>
            <a:off x="713100" y="77385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FFN Fusion Work?</a:t>
            </a:r>
            <a:endParaRPr sz="3200">
              <a:solidFill>
                <a:schemeClr val="accent2"/>
              </a:solidFill>
            </a:endParaRPr>
          </a:p>
        </p:txBody>
      </p:sp>
      <p:grpSp>
        <p:nvGrpSpPr>
          <p:cNvPr id="2789" name="Google Shape;2789;p38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90" name="Google Shape;2790;p3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5" name="Google Shape;2795;p38"/>
          <p:cNvSpPr txBox="1"/>
          <p:nvPr>
            <p:ph idx="4294967295" type="body"/>
          </p:nvPr>
        </p:nvSpPr>
        <p:spPr>
          <a:xfrm>
            <a:off x="610500" y="1778375"/>
            <a:ext cx="467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Traditional approach: FFN1 → FFN2 → FFN3 (sequential processing).</a:t>
            </a:r>
            <a:br>
              <a:rPr lang="en" sz="1600"/>
            </a:b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FFN Fusion approach: FFN1, FFN2, FFN3 receive the same input simultaneously; their outputs are summed.</a:t>
            </a:r>
            <a:br>
              <a:rPr lang="en" sz="1600"/>
            </a:br>
            <a:endParaRPr sz="1600"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can be represented as a single, wider FFN layer.</a:t>
            </a:r>
            <a:endParaRPr sz="1600"/>
          </a:p>
        </p:txBody>
      </p:sp>
      <p:pic>
        <p:nvPicPr>
          <p:cNvPr id="2796" name="Google Shape;279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75" y="1346550"/>
            <a:ext cx="2923275" cy="38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p39"/>
          <p:cNvSpPr txBox="1"/>
          <p:nvPr>
            <p:ph type="title"/>
          </p:nvPr>
        </p:nvSpPr>
        <p:spPr>
          <a:xfrm>
            <a:off x="713100" y="641975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Krona One"/>
                <a:ea typeface="Krona One"/>
                <a:cs typeface="Krona One"/>
                <a:sym typeface="Krona One"/>
              </a:rPr>
              <a:t>Benefits of FFN Fusion</a:t>
            </a:r>
            <a:endParaRPr sz="2800"/>
          </a:p>
        </p:txBody>
      </p:sp>
      <p:sp>
        <p:nvSpPr>
          <p:cNvPr id="2802" name="Google Shape;2802;p39"/>
          <p:cNvSpPr txBox="1"/>
          <p:nvPr>
            <p:ph idx="1" type="body"/>
          </p:nvPr>
        </p:nvSpPr>
        <p:spPr>
          <a:xfrm>
            <a:off x="713100" y="1727100"/>
            <a:ext cx="7717800" cy="23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Reduces inference latency by enabling parallel computation.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Improves hardware utilization, especially on GPUs.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Maintains model accuracy with minimal or no loss.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2803" name="Google Shape;2803;p39"/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804" name="Google Shape;2804;p3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3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Google Shape;2814;p40"/>
          <p:cNvSpPr txBox="1"/>
          <p:nvPr>
            <p:ph type="title"/>
          </p:nvPr>
        </p:nvSpPr>
        <p:spPr>
          <a:xfrm>
            <a:off x="713100" y="77385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Ultra-253B-Base</a:t>
            </a:r>
            <a:endParaRPr sz="3200">
              <a:solidFill>
                <a:schemeClr val="accent2"/>
              </a:solidFill>
            </a:endParaRPr>
          </a:p>
        </p:txBody>
      </p:sp>
      <p:grpSp>
        <p:nvGrpSpPr>
          <p:cNvPr id="2815" name="Google Shape;2815;p40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816" name="Google Shape;2816;p40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40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40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40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40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821" name="Google Shape;2821;p40" title="_- visual se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00" y="997950"/>
            <a:ext cx="7793640" cy="34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5" name="Shape 2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Google Shape;2826;p41"/>
          <p:cNvSpPr txBox="1"/>
          <p:nvPr>
            <p:ph type="title"/>
          </p:nvPr>
        </p:nvSpPr>
        <p:spPr>
          <a:xfrm>
            <a:off x="713100" y="77385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Findings</a:t>
            </a:r>
            <a:endParaRPr sz="3200">
              <a:solidFill>
                <a:schemeClr val="accent2"/>
              </a:solidFill>
            </a:endParaRPr>
          </a:p>
        </p:txBody>
      </p:sp>
      <p:grpSp>
        <p:nvGrpSpPr>
          <p:cNvPr id="2827" name="Google Shape;2827;p41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828" name="Google Shape;2828;p4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4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4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4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4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3" name="Google Shape;2833;p41"/>
          <p:cNvSpPr txBox="1"/>
          <p:nvPr>
            <p:ph idx="4294967295" type="body"/>
          </p:nvPr>
        </p:nvSpPr>
        <p:spPr>
          <a:xfrm>
            <a:off x="713100" y="1851675"/>
            <a:ext cx="7717800" cy="23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FFN Fusion effective across various model sizes, including smaller models like 70B.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Fusion outperforms simple removal of FFN layers in maintaining accuracy.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Final FFN layers are more sensitive; caution needed when fusing them.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7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8" name="Google Shape;2838;p4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839" name="Google Shape;2839;p4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4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4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4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4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844" name="Google Shape;2844;p42" title="Experimental Findings - visual se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50" y="581020"/>
            <a:ext cx="720090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8" name="Shape 2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43"/>
          <p:cNvSpPr txBox="1"/>
          <p:nvPr>
            <p:ph type="title"/>
          </p:nvPr>
        </p:nvSpPr>
        <p:spPr>
          <a:xfrm>
            <a:off x="713100" y="839800"/>
            <a:ext cx="7717800" cy="779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Krona One"/>
                <a:ea typeface="Krona One"/>
                <a:cs typeface="Krona One"/>
                <a:sym typeface="Krona One"/>
              </a:rPr>
              <a:t>Beyond FFN Fusion: </a:t>
            </a:r>
            <a:endParaRPr sz="25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Krona One"/>
                <a:ea typeface="Krona One"/>
                <a:cs typeface="Krona One"/>
                <a:sym typeface="Krona One"/>
              </a:rPr>
              <a:t>Block Parallelization</a:t>
            </a:r>
            <a:endParaRPr sz="2800"/>
          </a:p>
        </p:txBody>
      </p:sp>
      <p:sp>
        <p:nvSpPr>
          <p:cNvPr id="2850" name="Google Shape;2850;p43"/>
          <p:cNvSpPr txBox="1"/>
          <p:nvPr>
            <p:ph idx="1" type="body"/>
          </p:nvPr>
        </p:nvSpPr>
        <p:spPr>
          <a:xfrm>
            <a:off x="713100" y="2064150"/>
            <a:ext cx="7717800" cy="23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Explored fusing entire Transformer blocks (including attention and FFN).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Found to be less effective due to higher interdependencies.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/>
              <a:t>Indicates potential for future research but not yet practical.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4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55;p44"/>
          <p:cNvSpPr txBox="1"/>
          <p:nvPr>
            <p:ph type="title"/>
          </p:nvPr>
        </p:nvSpPr>
        <p:spPr>
          <a:xfrm>
            <a:off x="1113725" y="1334700"/>
            <a:ext cx="6811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and Future Directions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56" name="Google Shape;2856;p44"/>
          <p:cNvSpPr/>
          <p:nvPr/>
        </p:nvSpPr>
        <p:spPr>
          <a:xfrm rot="10800000">
            <a:off x="6176787" y="39916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57" name="Google Shape;2857;p44"/>
          <p:cNvGrpSpPr/>
          <p:nvPr/>
        </p:nvGrpSpPr>
        <p:grpSpPr>
          <a:xfrm>
            <a:off x="6397851" y="1075319"/>
            <a:ext cx="1252897" cy="51000"/>
            <a:chOff x="2915381" y="4104819"/>
            <a:chExt cx="1252897" cy="51000"/>
          </a:xfrm>
        </p:grpSpPr>
        <p:sp>
          <p:nvSpPr>
            <p:cNvPr id="2858" name="Google Shape;2858;p4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4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4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4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4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4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4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4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4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4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4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4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4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4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2" name="Google Shape;2872;p44"/>
          <p:cNvGrpSpPr/>
          <p:nvPr/>
        </p:nvGrpSpPr>
        <p:grpSpPr>
          <a:xfrm rot="5400000">
            <a:off x="7822000" y="3988625"/>
            <a:ext cx="98902" cy="553090"/>
            <a:chOff x="4898850" y="4820550"/>
            <a:chExt cx="98902" cy="553090"/>
          </a:xfrm>
        </p:grpSpPr>
        <p:sp>
          <p:nvSpPr>
            <p:cNvPr id="2873" name="Google Shape;2873;p4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4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4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4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4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8" name="Google Shape;2878;p44"/>
          <p:cNvGrpSpPr/>
          <p:nvPr/>
        </p:nvGrpSpPr>
        <p:grpSpPr>
          <a:xfrm>
            <a:off x="1632103" y="4389467"/>
            <a:ext cx="1105976" cy="133969"/>
            <a:chOff x="8183182" y="663852"/>
            <a:chExt cx="1475028" cy="178673"/>
          </a:xfrm>
        </p:grpSpPr>
        <p:grpSp>
          <p:nvGrpSpPr>
            <p:cNvPr id="2879" name="Google Shape;2879;p4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80" name="Google Shape;2880;p4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1" name="Google Shape;2881;p4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2" name="Google Shape;2882;p4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3" name="Google Shape;2883;p4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4" name="Google Shape;2884;p4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5" name="Google Shape;2885;p4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6" name="Google Shape;2886;p4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7" name="Google Shape;2887;p4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8" name="Google Shape;2888;p4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9" name="Google Shape;2889;p4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0" name="Google Shape;2890;p4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91" name="Google Shape;2891;p4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2" name="Google Shape;2892;p4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3" name="Google Shape;2893;p4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4" name="Google Shape;2894;p4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5" name="Google Shape;2895;p4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6" name="Google Shape;2896;p4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7" name="Google Shape;2897;p4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8" name="Google Shape;2898;p4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9" name="Google Shape;2899;p4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0" name="Google Shape;2900;p4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901" name="Google Shape;2901;p44"/>
          <p:cNvSpPr txBox="1"/>
          <p:nvPr>
            <p:ph idx="4294967295" type="body"/>
          </p:nvPr>
        </p:nvSpPr>
        <p:spPr>
          <a:xfrm>
            <a:off x="1269900" y="2229213"/>
            <a:ext cx="77178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FFN Fusion offers a promising path to more efficient LLMs.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Complements existing optimization techniques.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Opens avenues for designing models with inherent parallelism.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p45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907" name="Google Shape;2907;p45"/>
          <p:cNvGrpSpPr/>
          <p:nvPr/>
        </p:nvGrpSpPr>
        <p:grpSpPr>
          <a:xfrm rot="-5400000">
            <a:off x="6756923" y="2604103"/>
            <a:ext cx="883262" cy="242091"/>
            <a:chOff x="2300350" y="2601250"/>
            <a:chExt cx="2275275" cy="623625"/>
          </a:xfrm>
        </p:grpSpPr>
        <p:sp>
          <p:nvSpPr>
            <p:cNvPr id="2908" name="Google Shape;2908;p4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4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4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4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4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4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4" name="Google Shape;2914;p45"/>
          <p:cNvGrpSpPr/>
          <p:nvPr/>
        </p:nvGrpSpPr>
        <p:grpSpPr>
          <a:xfrm rot="5400000">
            <a:off x="7305100" y="3695000"/>
            <a:ext cx="98902" cy="553090"/>
            <a:chOff x="4898850" y="4820550"/>
            <a:chExt cx="98902" cy="553090"/>
          </a:xfrm>
        </p:grpSpPr>
        <p:sp>
          <p:nvSpPr>
            <p:cNvPr id="2915" name="Google Shape;2915;p4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4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4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4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4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0" name="Google Shape;2920;p45"/>
          <p:cNvGrpSpPr/>
          <p:nvPr/>
        </p:nvGrpSpPr>
        <p:grpSpPr>
          <a:xfrm rot="5400000">
            <a:off x="1498582" y="1509734"/>
            <a:ext cx="883262" cy="242091"/>
            <a:chOff x="2300350" y="2601250"/>
            <a:chExt cx="2275275" cy="623625"/>
          </a:xfrm>
        </p:grpSpPr>
        <p:sp>
          <p:nvSpPr>
            <p:cNvPr id="2921" name="Google Shape;2921;p4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4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4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4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4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4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7" name="Google Shape;2927;p45"/>
          <p:cNvGrpSpPr/>
          <p:nvPr/>
        </p:nvGrpSpPr>
        <p:grpSpPr>
          <a:xfrm rot="5400000">
            <a:off x="2081150" y="2794900"/>
            <a:ext cx="98902" cy="553090"/>
            <a:chOff x="4898850" y="4820550"/>
            <a:chExt cx="98902" cy="553090"/>
          </a:xfrm>
        </p:grpSpPr>
        <p:sp>
          <p:nvSpPr>
            <p:cNvPr id="2928" name="Google Shape;2928;p4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4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3" name="Google Shape;2933;p45"/>
          <p:cNvSpPr txBox="1"/>
          <p:nvPr>
            <p:ph idx="1" type="subTitle"/>
          </p:nvPr>
        </p:nvSpPr>
        <p:spPr>
          <a:xfrm>
            <a:off x="2333025" y="2011600"/>
            <a:ext cx="4472700" cy="101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Exo"/>
                <a:ea typeface="Exo"/>
                <a:cs typeface="Exo"/>
                <a:sym typeface="Exo"/>
              </a:rPr>
              <a:t>Do you have 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4620"/>
      </a:lt2>
      <a:accent1>
        <a:srgbClr val="2FD742"/>
      </a:accent1>
      <a:accent2>
        <a:srgbClr val="D1FF8F"/>
      </a:accent2>
      <a:accent3>
        <a:srgbClr val="FFF795"/>
      </a:accent3>
      <a:accent4>
        <a:srgbClr val="1D7531"/>
      </a:accent4>
      <a:accent5>
        <a:srgbClr val="FFFFFF"/>
      </a:accent5>
      <a:accent6>
        <a:srgbClr val="FFFFFF"/>
      </a:accent6>
      <a:hlink>
        <a:srgbClr val="D1FF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