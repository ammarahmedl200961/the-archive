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Lilita One" charset="1" panose="02000000000000000000"/>
      <p:regular r:id="rId25"/>
    </p:embeddedFont>
    <p:embeddedFont>
      <p:font typeface="Canva Sans" charset="1" panose="020B0503030501040103"/>
      <p:regular r:id="rId26"/>
    </p:embeddedFont>
    <p:embeddedFont>
      <p:font typeface="Comic Sans Bold Italics" charset="1" panose="03000902030302060204"/>
      <p:regular r:id="rId27"/>
    </p:embeddedFont>
    <p:embeddedFont>
      <p:font typeface="Comic Sans" charset="1" panose="03000702030302020204"/>
      <p:regular r:id="rId28"/>
    </p:embeddedFont>
    <p:embeddedFont>
      <p:font typeface="Comic Sans Bold" charset="1" panose="03000902030302020204"/>
      <p:regular r:id="rId29"/>
    </p:embeddedFont>
    <p:embeddedFont>
      <p:font typeface="Sensei" charset="1" panose="00000500000000000000"/>
      <p:regular r:id="rId30"/>
    </p:embeddedFont>
    <p:embeddedFont>
      <p:font typeface="Canva Sans Bold" charset="1" panose="020B0803030501040103"/>
      <p:regular r:id="rId31"/>
    </p:embeddedFont>
    <p:embeddedFont>
      <p:font typeface="Permanent Marker" charset="1" panose="0200000000000000000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https://docs.google.com/spreadsheets/d/1DUF2isFWsqVSYhbaACYtbgcLi_YjDqpE3GLQIVgkKQg/edit#gid=69851113" TargetMode="External" Type="http://schemas.openxmlformats.org/officeDocument/2006/relationships/hyperlink"/><Relationship Id="rId11" Target="https://docs.google.com/spreadsheets/d/1DUF2isFWsqVSYhbaACYtbgcLi_YjDqpE3GLQIVgkKQg/edit#gid=69851113" TargetMode="External" Type="http://schemas.openxmlformats.org/officeDocument/2006/relationships/hyperlink"/><Relationship Id="rId2" Target="../media/image17.png" Type="http://schemas.openxmlformats.org/officeDocument/2006/relationships/image"/><Relationship Id="rId3" Target="https://docs.google.com/spreadsheets/d/1DUF2isFWsqVSYhbaACYtbgcLi_YjDqpE3GLQIVgkKQg/edit#gid=69851113" TargetMode="External" Type="http://schemas.openxmlformats.org/officeDocument/2006/relationships/hyperlink"/><Relationship Id="rId4" Target="https://docs.google.com/spreadsheets/d/1DUF2isFWsqVSYhbaACYtbgcLi_YjDqpE3GLQIVgkKQg/edit#gid=69851113" TargetMode="External" Type="http://schemas.openxmlformats.org/officeDocument/2006/relationships/hyperlink"/><Relationship Id="rId5" Target="https://docs.google.com/spreadsheets/d/1DUF2isFWsqVSYhbaACYtbgcLi_YjDqpE3GLQIVgkKQg/edit#gid=69851113" TargetMode="External" Type="http://schemas.openxmlformats.org/officeDocument/2006/relationships/hyperlink"/><Relationship Id="rId6" Target="https://docs.google.com/spreadsheets/d/1DUF2isFWsqVSYhbaACYtbgcLi_YjDqpE3GLQIVgkKQg/edit#gid=69851113" TargetMode="External" Type="http://schemas.openxmlformats.org/officeDocument/2006/relationships/hyperlink"/><Relationship Id="rId7" Target="https://docs.google.com/spreadsheets/d/1DUF2isFWsqVSYhbaACYtbgcLi_YjDqpE3GLQIVgkKQg/edit#gid=69851113" TargetMode="External" Type="http://schemas.openxmlformats.org/officeDocument/2006/relationships/hyperlink"/><Relationship Id="rId8" Target="https://docs.google.com/spreadsheets/d/1DUF2isFWsqVSYhbaACYtbgcLi_YjDqpE3GLQIVgkKQg/edit#gid=69851113" TargetMode="External" Type="http://schemas.openxmlformats.org/officeDocument/2006/relationships/hyperlink"/><Relationship Id="rId9" Target="https://docs.google.com/spreadsheets/d/1DUF2isFWsqVSYhbaACYtbgcLi_YjDqpE3GLQIVgkKQg/edit#gid=69851113" TargetMode="External" Type="http://schemas.openxmlformats.org/officeDocument/2006/relationships/hyperlink"/></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79C7FF"/>
        </a:solidFill>
      </p:bgPr>
    </p:bg>
    <p:spTree>
      <p:nvGrpSpPr>
        <p:cNvPr id="1" name=""/>
        <p:cNvGrpSpPr/>
        <p:nvPr/>
      </p:nvGrpSpPr>
      <p:grpSpPr>
        <a:xfrm>
          <a:off x="0" y="0"/>
          <a:ext cx="0" cy="0"/>
          <a:chOff x="0" y="0"/>
          <a:chExt cx="0" cy="0"/>
        </a:xfrm>
      </p:grpSpPr>
      <p:sp>
        <p:nvSpPr>
          <p:cNvPr name="Freeform 2" id="2"/>
          <p:cNvSpPr/>
          <p:nvPr/>
        </p:nvSpPr>
        <p:spPr>
          <a:xfrm flipH="false" flipV="false" rot="0">
            <a:off x="14642559" y="3238364"/>
            <a:ext cx="4006007" cy="2687667"/>
          </a:xfrm>
          <a:custGeom>
            <a:avLst/>
            <a:gdLst/>
            <a:ahLst/>
            <a:cxnLst/>
            <a:rect r="r" b="b" t="t" l="l"/>
            <a:pathLst>
              <a:path h="2687667" w="4006007">
                <a:moveTo>
                  <a:pt x="0" y="0"/>
                </a:moveTo>
                <a:lnTo>
                  <a:pt x="4006007" y="0"/>
                </a:lnTo>
                <a:lnTo>
                  <a:pt x="4006007" y="2687666"/>
                </a:lnTo>
                <a:lnTo>
                  <a:pt x="0" y="26876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2604578"/>
            <a:ext cx="16540432" cy="2328003"/>
          </a:xfrm>
          <a:prstGeom prst="rect">
            <a:avLst/>
          </a:prstGeom>
        </p:spPr>
        <p:txBody>
          <a:bodyPr anchor="t" rtlCol="false" tIns="0" lIns="0" bIns="0" rIns="0">
            <a:spAutoFit/>
          </a:bodyPr>
          <a:lstStyle/>
          <a:p>
            <a:pPr algn="ctr">
              <a:lnSpc>
                <a:spcPts val="5980"/>
              </a:lnSpc>
            </a:pPr>
            <a:r>
              <a:rPr lang="en-US" sz="6571">
                <a:solidFill>
                  <a:srgbClr val="1F2447"/>
                </a:solidFill>
                <a:latin typeface="Lilita One"/>
                <a:ea typeface="Lilita One"/>
                <a:cs typeface="Lilita One"/>
                <a:sym typeface="Lilita One"/>
              </a:rPr>
              <a:t> WHAT I CANNOT EXECUTE, I DO NOT UNDERSTAND :  TRAINING AND EVALUATING LLMS ON PROGRAM EXECUTION TRACES</a:t>
            </a:r>
          </a:p>
        </p:txBody>
      </p:sp>
      <p:sp>
        <p:nvSpPr>
          <p:cNvPr name="Freeform 4" id="4"/>
          <p:cNvSpPr/>
          <p:nvPr/>
        </p:nvSpPr>
        <p:spPr>
          <a:xfrm flipH="true" flipV="true" rot="0">
            <a:off x="0" y="1894530"/>
            <a:ext cx="4006007" cy="2687667"/>
          </a:xfrm>
          <a:custGeom>
            <a:avLst/>
            <a:gdLst/>
            <a:ahLst/>
            <a:cxnLst/>
            <a:rect r="r" b="b" t="t" l="l"/>
            <a:pathLst>
              <a:path h="2687667" w="4006007">
                <a:moveTo>
                  <a:pt x="4006007" y="2687667"/>
                </a:moveTo>
                <a:lnTo>
                  <a:pt x="0" y="2687667"/>
                </a:lnTo>
                <a:lnTo>
                  <a:pt x="0" y="0"/>
                </a:lnTo>
                <a:lnTo>
                  <a:pt x="4006007" y="0"/>
                </a:lnTo>
                <a:lnTo>
                  <a:pt x="4006007" y="2687667"/>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6149576" y="6494221"/>
            <a:ext cx="6298681" cy="2517909"/>
            <a:chOff x="0" y="0"/>
            <a:chExt cx="1658912" cy="663153"/>
          </a:xfrm>
        </p:grpSpPr>
        <p:sp>
          <p:nvSpPr>
            <p:cNvPr name="Freeform 6" id="6"/>
            <p:cNvSpPr/>
            <p:nvPr/>
          </p:nvSpPr>
          <p:spPr>
            <a:xfrm flipH="false" flipV="false" rot="0">
              <a:off x="0" y="0"/>
              <a:ext cx="1658912" cy="663153"/>
            </a:xfrm>
            <a:custGeom>
              <a:avLst/>
              <a:gdLst/>
              <a:ahLst/>
              <a:cxnLst/>
              <a:rect r="r" b="b" t="t" l="l"/>
              <a:pathLst>
                <a:path h="663153" w="1658912">
                  <a:moveTo>
                    <a:pt x="62686" y="0"/>
                  </a:moveTo>
                  <a:lnTo>
                    <a:pt x="1596226" y="0"/>
                  </a:lnTo>
                  <a:cubicBezTo>
                    <a:pt x="1630847" y="0"/>
                    <a:pt x="1658912" y="28065"/>
                    <a:pt x="1658912" y="62686"/>
                  </a:cubicBezTo>
                  <a:lnTo>
                    <a:pt x="1658912" y="600467"/>
                  </a:lnTo>
                  <a:cubicBezTo>
                    <a:pt x="1658912" y="635088"/>
                    <a:pt x="1630847" y="663153"/>
                    <a:pt x="1596226" y="663153"/>
                  </a:cubicBezTo>
                  <a:lnTo>
                    <a:pt x="62686" y="663153"/>
                  </a:lnTo>
                  <a:cubicBezTo>
                    <a:pt x="28065" y="663153"/>
                    <a:pt x="0" y="635088"/>
                    <a:pt x="0" y="600467"/>
                  </a:cubicBezTo>
                  <a:lnTo>
                    <a:pt x="0" y="62686"/>
                  </a:lnTo>
                  <a:cubicBezTo>
                    <a:pt x="0" y="28065"/>
                    <a:pt x="28065" y="0"/>
                    <a:pt x="62686" y="0"/>
                  </a:cubicBezTo>
                  <a:close/>
                </a:path>
              </a:pathLst>
            </a:custGeom>
            <a:solidFill>
              <a:srgbClr val="8FD0FF"/>
            </a:solidFill>
          </p:spPr>
        </p:sp>
        <p:sp>
          <p:nvSpPr>
            <p:cNvPr name="TextBox 7" id="7"/>
            <p:cNvSpPr txBox="true"/>
            <p:nvPr/>
          </p:nvSpPr>
          <p:spPr>
            <a:xfrm>
              <a:off x="0" y="-38100"/>
              <a:ext cx="1658912" cy="701253"/>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028700" y="5733639"/>
            <a:ext cx="4053814" cy="4039073"/>
          </a:xfrm>
          <a:custGeom>
            <a:avLst/>
            <a:gdLst/>
            <a:ahLst/>
            <a:cxnLst/>
            <a:rect r="r" b="b" t="t" l="l"/>
            <a:pathLst>
              <a:path h="4039073" w="4053814">
                <a:moveTo>
                  <a:pt x="0" y="0"/>
                </a:moveTo>
                <a:lnTo>
                  <a:pt x="4053814" y="0"/>
                </a:lnTo>
                <a:lnTo>
                  <a:pt x="4053814" y="4039073"/>
                </a:lnTo>
                <a:lnTo>
                  <a:pt x="0" y="40390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6681228" y="6871544"/>
            <a:ext cx="5235377" cy="2140586"/>
          </a:xfrm>
          <a:prstGeom prst="rect">
            <a:avLst/>
          </a:prstGeom>
        </p:spPr>
        <p:txBody>
          <a:bodyPr anchor="t" rtlCol="false" tIns="0" lIns="0" bIns="0" rIns="0">
            <a:spAutoFit/>
          </a:bodyPr>
          <a:lstStyle/>
          <a:p>
            <a:pPr algn="ctr">
              <a:lnSpc>
                <a:spcPts val="4339"/>
              </a:lnSpc>
              <a:spcBef>
                <a:spcPct val="0"/>
              </a:spcBef>
            </a:pPr>
            <a:r>
              <a:rPr lang="en-US" sz="3099">
                <a:solidFill>
                  <a:srgbClr val="FFFFFF"/>
                </a:solidFill>
                <a:latin typeface="Canva Sans"/>
                <a:ea typeface="Canva Sans"/>
                <a:cs typeface="Canva Sans"/>
                <a:sym typeface="Canva Sans"/>
              </a:rPr>
              <a:t>    Inzish Khan       21L-62624 </a:t>
            </a:r>
          </a:p>
          <a:p>
            <a:pPr algn="ctr">
              <a:lnSpc>
                <a:spcPts val="4339"/>
              </a:lnSpc>
              <a:spcBef>
                <a:spcPct val="0"/>
              </a:spcBef>
            </a:pPr>
            <a:r>
              <a:rPr lang="en-US" sz="3099">
                <a:solidFill>
                  <a:srgbClr val="FFFFFF"/>
                </a:solidFill>
                <a:latin typeface="Canva Sans"/>
                <a:ea typeface="Canva Sans"/>
                <a:cs typeface="Canva Sans"/>
                <a:sym typeface="Canva Sans"/>
              </a:rPr>
              <a:t> Javeria Pervaiz  21L-6280 </a:t>
            </a:r>
          </a:p>
          <a:p>
            <a:pPr algn="ctr">
              <a:lnSpc>
                <a:spcPts val="4339"/>
              </a:lnSpc>
              <a:spcBef>
                <a:spcPct val="0"/>
              </a:spcBef>
            </a:pPr>
            <a:r>
              <a:rPr lang="en-US" sz="3099">
                <a:solidFill>
                  <a:srgbClr val="FFFFFF"/>
                </a:solidFill>
                <a:latin typeface="Canva Sans"/>
                <a:ea typeface="Canva Sans"/>
                <a:cs typeface="Canva Sans"/>
                <a:sym typeface="Canva Sans"/>
              </a:rPr>
              <a:t>  Khadija Javed   21L-5686 </a:t>
            </a:r>
          </a:p>
          <a:p>
            <a:pPr algn="ctr">
              <a:lnSpc>
                <a:spcPts val="4339"/>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79C7FF"/>
        </a:solidFill>
      </p:bgPr>
    </p:bg>
    <p:spTree>
      <p:nvGrpSpPr>
        <p:cNvPr id="1" name=""/>
        <p:cNvGrpSpPr/>
        <p:nvPr/>
      </p:nvGrpSpPr>
      <p:grpSpPr>
        <a:xfrm>
          <a:off x="0" y="0"/>
          <a:ext cx="0" cy="0"/>
          <a:chOff x="0" y="0"/>
          <a:chExt cx="0" cy="0"/>
        </a:xfrm>
      </p:grpSpPr>
      <p:sp>
        <p:nvSpPr>
          <p:cNvPr name="Freeform 2" id="2"/>
          <p:cNvSpPr/>
          <p:nvPr/>
        </p:nvSpPr>
        <p:spPr>
          <a:xfrm flipH="false" flipV="false" rot="0">
            <a:off x="0" y="-2671458"/>
            <a:ext cx="11871446" cy="10989885"/>
          </a:xfrm>
          <a:custGeom>
            <a:avLst/>
            <a:gdLst/>
            <a:ahLst/>
            <a:cxnLst/>
            <a:rect r="r" b="b" t="t" l="l"/>
            <a:pathLst>
              <a:path h="10989885" w="11871446">
                <a:moveTo>
                  <a:pt x="0" y="0"/>
                </a:moveTo>
                <a:lnTo>
                  <a:pt x="11871446" y="0"/>
                </a:lnTo>
                <a:lnTo>
                  <a:pt x="11871446" y="10989886"/>
                </a:lnTo>
                <a:lnTo>
                  <a:pt x="0" y="109898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992091" y="-307496"/>
            <a:ext cx="12550452" cy="12550452"/>
          </a:xfrm>
          <a:custGeom>
            <a:avLst/>
            <a:gdLst/>
            <a:ahLst/>
            <a:cxnLst/>
            <a:rect r="r" b="b" t="t" l="l"/>
            <a:pathLst>
              <a:path h="12550452" w="12550452">
                <a:moveTo>
                  <a:pt x="0" y="0"/>
                </a:moveTo>
                <a:lnTo>
                  <a:pt x="12550452" y="0"/>
                </a:lnTo>
                <a:lnTo>
                  <a:pt x="12550452" y="12550452"/>
                </a:lnTo>
                <a:lnTo>
                  <a:pt x="0" y="125504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9144000" y="2003649"/>
            <a:ext cx="6609113" cy="1468222"/>
          </a:xfrm>
          <a:prstGeom prst="rect">
            <a:avLst/>
          </a:prstGeom>
        </p:spPr>
        <p:txBody>
          <a:bodyPr anchor="t" rtlCol="false" tIns="0" lIns="0" bIns="0" rIns="0">
            <a:spAutoFit/>
          </a:bodyPr>
          <a:lstStyle/>
          <a:p>
            <a:pPr algn="l">
              <a:lnSpc>
                <a:spcPts val="11999"/>
              </a:lnSpc>
              <a:spcBef>
                <a:spcPct val="0"/>
              </a:spcBef>
            </a:pPr>
            <a:r>
              <a:rPr lang="en-US" sz="8571">
                <a:solidFill>
                  <a:srgbClr val="1F2447"/>
                </a:solidFill>
                <a:latin typeface="Lilita One"/>
                <a:ea typeface="Lilita One"/>
                <a:cs typeface="Lilita One"/>
                <a:sym typeface="Lilita One"/>
              </a:rPr>
              <a:t>OVERVIEW</a:t>
            </a:r>
          </a:p>
        </p:txBody>
      </p:sp>
      <p:sp>
        <p:nvSpPr>
          <p:cNvPr name="TextBox 5" id="5"/>
          <p:cNvSpPr txBox="true"/>
          <p:nvPr/>
        </p:nvSpPr>
        <p:spPr>
          <a:xfrm rot="0">
            <a:off x="9144000" y="3414721"/>
            <a:ext cx="8763309" cy="1099820"/>
          </a:xfrm>
          <a:prstGeom prst="rect">
            <a:avLst/>
          </a:prstGeom>
        </p:spPr>
        <p:txBody>
          <a:bodyPr anchor="t" rtlCol="false" tIns="0" lIns="0" bIns="0" rIns="0">
            <a:spAutoFit/>
          </a:bodyPr>
          <a:lstStyle/>
          <a:p>
            <a:pPr algn="l">
              <a:lnSpc>
                <a:spcPts val="4480"/>
              </a:lnSpc>
              <a:spcBef>
                <a:spcPct val="0"/>
              </a:spcBef>
            </a:pPr>
            <a:r>
              <a:rPr lang="en-US" b="true" sz="3200" i="true">
                <a:solidFill>
                  <a:srgbClr val="000000"/>
                </a:solidFill>
                <a:latin typeface="Comic Sans Bold Italics"/>
                <a:ea typeface="Comic Sans Bold Italics"/>
                <a:cs typeface="Comic Sans Bold Italics"/>
                <a:sym typeface="Comic Sans Bold Italics"/>
              </a:rPr>
              <a:t>“Why Shift Focus Toward Execution Traces in LLMs”</a:t>
            </a:r>
          </a:p>
        </p:txBody>
      </p:sp>
      <p:sp>
        <p:nvSpPr>
          <p:cNvPr name="TextBox 6" id="6"/>
          <p:cNvSpPr txBox="true"/>
          <p:nvPr/>
        </p:nvSpPr>
        <p:spPr>
          <a:xfrm rot="0">
            <a:off x="8814065" y="4756898"/>
            <a:ext cx="9093244" cy="5033645"/>
          </a:xfrm>
          <a:prstGeom prst="rect">
            <a:avLst/>
          </a:prstGeom>
        </p:spPr>
        <p:txBody>
          <a:bodyPr anchor="t" rtlCol="false" tIns="0" lIns="0" bIns="0" rIns="0">
            <a:spAutoFit/>
          </a:bodyPr>
          <a:lstStyle/>
          <a:p>
            <a:pPr algn="l" marL="690881" indent="-345440" lvl="1">
              <a:lnSpc>
                <a:spcPts val="4480"/>
              </a:lnSpc>
              <a:buFont typeface="Arial"/>
              <a:buChar char="•"/>
            </a:pPr>
            <a:r>
              <a:rPr lang="en-US" sz="3200">
                <a:solidFill>
                  <a:srgbClr val="000000"/>
                </a:solidFill>
                <a:latin typeface="Comic Sans"/>
                <a:ea typeface="Comic Sans"/>
                <a:cs typeface="Comic Sans"/>
                <a:sym typeface="Comic Sans"/>
              </a:rPr>
              <a:t>LLMs are increasingly used for code understanding and generation.</a:t>
            </a:r>
          </a:p>
          <a:p>
            <a:pPr algn="l" marL="690881" indent="-345440" lvl="1">
              <a:lnSpc>
                <a:spcPts val="4480"/>
              </a:lnSpc>
              <a:buFont typeface="Arial"/>
              <a:buChar char="•"/>
            </a:pPr>
            <a:r>
              <a:rPr lang="en-US" sz="3200">
                <a:solidFill>
                  <a:srgbClr val="000000"/>
                </a:solidFill>
                <a:latin typeface="Comic Sans"/>
                <a:ea typeface="Comic Sans"/>
                <a:cs typeface="Comic Sans"/>
                <a:sym typeface="Comic Sans"/>
              </a:rPr>
              <a:t>Code execution is essential to fully understand what a program does.</a:t>
            </a:r>
          </a:p>
          <a:p>
            <a:pPr algn="l" marL="690881" indent="-345440" lvl="1">
              <a:lnSpc>
                <a:spcPts val="4480"/>
              </a:lnSpc>
              <a:buFont typeface="Arial"/>
              <a:buChar char="•"/>
            </a:pPr>
            <a:r>
              <a:rPr lang="en-US" sz="3200">
                <a:solidFill>
                  <a:srgbClr val="000000"/>
                </a:solidFill>
                <a:latin typeface="Comic Sans"/>
                <a:ea typeface="Comic Sans"/>
                <a:cs typeface="Comic Sans"/>
                <a:sym typeface="Comic Sans"/>
              </a:rPr>
              <a:t>Direct prediction often gives plausible but incorrect results.</a:t>
            </a:r>
          </a:p>
          <a:p>
            <a:pPr algn="l" marL="690881" indent="-345440" lvl="1">
              <a:lnSpc>
                <a:spcPts val="4480"/>
              </a:lnSpc>
              <a:spcBef>
                <a:spcPct val="0"/>
              </a:spcBef>
              <a:buFont typeface="Arial"/>
              <a:buChar char="•"/>
            </a:pPr>
            <a:r>
              <a:rPr lang="en-US" sz="3200">
                <a:solidFill>
                  <a:srgbClr val="000000"/>
                </a:solidFill>
                <a:latin typeface="Comic Sans"/>
                <a:ea typeface="Comic Sans"/>
                <a:cs typeface="Comic Sans"/>
                <a:sym typeface="Comic Sans"/>
              </a:rPr>
              <a:t>We need models that reason step-by-step, like humans do.</a:t>
            </a:r>
          </a:p>
          <a:p>
            <a:pPr algn="l">
              <a:lnSpc>
                <a:spcPts val="4480"/>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79C7FF"/>
        </a:solidFill>
      </p:bgPr>
    </p:bg>
    <p:spTree>
      <p:nvGrpSpPr>
        <p:cNvPr id="1" name=""/>
        <p:cNvGrpSpPr/>
        <p:nvPr/>
      </p:nvGrpSpPr>
      <p:grpSpPr>
        <a:xfrm>
          <a:off x="0" y="0"/>
          <a:ext cx="0" cy="0"/>
          <a:chOff x="0" y="0"/>
          <a:chExt cx="0" cy="0"/>
        </a:xfrm>
      </p:grpSpPr>
      <p:sp>
        <p:nvSpPr>
          <p:cNvPr name="Freeform 2" id="2"/>
          <p:cNvSpPr/>
          <p:nvPr/>
        </p:nvSpPr>
        <p:spPr>
          <a:xfrm flipH="false" flipV="false" rot="0">
            <a:off x="12053561" y="2057400"/>
            <a:ext cx="5915025" cy="8229600"/>
          </a:xfrm>
          <a:custGeom>
            <a:avLst/>
            <a:gdLst/>
            <a:ahLst/>
            <a:cxnLst/>
            <a:rect r="r" b="b" t="t" l="l"/>
            <a:pathLst>
              <a:path h="8229600" w="5915025">
                <a:moveTo>
                  <a:pt x="0" y="0"/>
                </a:moveTo>
                <a:lnTo>
                  <a:pt x="5915025" y="0"/>
                </a:lnTo>
                <a:lnTo>
                  <a:pt x="5915025"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472014" y="-836568"/>
            <a:ext cx="7315200" cy="3474307"/>
          </a:xfrm>
          <a:custGeom>
            <a:avLst/>
            <a:gdLst/>
            <a:ahLst/>
            <a:cxnLst/>
            <a:rect r="r" b="b" t="t" l="l"/>
            <a:pathLst>
              <a:path h="3474307" w="7315200">
                <a:moveTo>
                  <a:pt x="0" y="0"/>
                </a:moveTo>
                <a:lnTo>
                  <a:pt x="7315200" y="0"/>
                </a:lnTo>
                <a:lnTo>
                  <a:pt x="7315200" y="3474307"/>
                </a:lnTo>
                <a:lnTo>
                  <a:pt x="0" y="347430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1817931"/>
            <a:ext cx="7582550" cy="1468166"/>
          </a:xfrm>
          <a:prstGeom prst="rect">
            <a:avLst/>
          </a:prstGeom>
        </p:spPr>
        <p:txBody>
          <a:bodyPr anchor="t" rtlCol="false" tIns="0" lIns="0" bIns="0" rIns="0">
            <a:spAutoFit/>
          </a:bodyPr>
          <a:lstStyle/>
          <a:p>
            <a:pPr algn="l">
              <a:lnSpc>
                <a:spcPts val="11999"/>
              </a:lnSpc>
              <a:spcBef>
                <a:spcPct val="0"/>
              </a:spcBef>
            </a:pPr>
            <a:r>
              <a:rPr lang="en-US" sz="8571">
                <a:solidFill>
                  <a:srgbClr val="1F2447"/>
                </a:solidFill>
                <a:latin typeface="Lilita One"/>
                <a:ea typeface="Lilita One"/>
                <a:cs typeface="Lilita One"/>
                <a:sym typeface="Lilita One"/>
              </a:rPr>
              <a:t>BACKGROUND</a:t>
            </a:r>
          </a:p>
        </p:txBody>
      </p:sp>
      <p:sp>
        <p:nvSpPr>
          <p:cNvPr name="TextBox 5" id="5"/>
          <p:cNvSpPr txBox="true"/>
          <p:nvPr/>
        </p:nvSpPr>
        <p:spPr>
          <a:xfrm rot="0">
            <a:off x="772326" y="3477289"/>
            <a:ext cx="10828508" cy="6364941"/>
          </a:xfrm>
          <a:prstGeom prst="rect">
            <a:avLst/>
          </a:prstGeom>
        </p:spPr>
        <p:txBody>
          <a:bodyPr anchor="t" rtlCol="false" tIns="0" lIns="0" bIns="0" rIns="0">
            <a:spAutoFit/>
          </a:bodyPr>
          <a:lstStyle/>
          <a:p>
            <a:pPr algn="just" marL="590864" indent="-295432" lvl="1">
              <a:lnSpc>
                <a:spcPts val="3831"/>
              </a:lnSpc>
              <a:buFont typeface="Arial"/>
              <a:buChar char="•"/>
            </a:pPr>
            <a:r>
              <a:rPr lang="en-US" sz="2736">
                <a:solidFill>
                  <a:srgbClr val="000000"/>
                </a:solidFill>
                <a:latin typeface="Comic Sans"/>
                <a:ea typeface="Comic Sans"/>
                <a:cs typeface="Comic Sans"/>
                <a:sym typeface="Comic Sans"/>
              </a:rPr>
              <a:t>Nye et al. (2021)</a:t>
            </a:r>
          </a:p>
          <a:p>
            <a:pPr algn="l">
              <a:lnSpc>
                <a:spcPts val="3271"/>
              </a:lnSpc>
            </a:pPr>
            <a:r>
              <a:rPr lang="en-US" sz="2336">
                <a:solidFill>
                  <a:srgbClr val="000000"/>
                </a:solidFill>
                <a:latin typeface="Comic Sans"/>
                <a:ea typeface="Comic Sans"/>
                <a:cs typeface="Comic Sans"/>
                <a:sym typeface="Comic Sans"/>
              </a:rPr>
              <a:t>→ Introduced scratchpads for LLMs to record intermediate computation steps.</a:t>
            </a:r>
          </a:p>
          <a:p>
            <a:pPr algn="l">
              <a:lnSpc>
                <a:spcPts val="3271"/>
              </a:lnSpc>
            </a:pPr>
            <a:r>
              <a:rPr lang="en-US" sz="2336">
                <a:solidFill>
                  <a:srgbClr val="000000"/>
                </a:solidFill>
                <a:latin typeface="Comic Sans"/>
                <a:ea typeface="Comic Sans"/>
                <a:cs typeface="Comic Sans"/>
                <a:sym typeface="Comic Sans"/>
              </a:rPr>
              <a:t>→ Showed improved accuracy in predicting Python function outputs.</a:t>
            </a:r>
          </a:p>
          <a:p>
            <a:pPr algn="l">
              <a:lnSpc>
                <a:spcPts val="3271"/>
              </a:lnSpc>
            </a:pPr>
            <a:r>
              <a:rPr lang="en-US" sz="2336">
                <a:solidFill>
                  <a:srgbClr val="000000"/>
                </a:solidFill>
                <a:latin typeface="Comic Sans"/>
                <a:ea typeface="Comic Sans"/>
                <a:cs typeface="Comic Sans"/>
                <a:sym typeface="Comic Sans"/>
              </a:rPr>
              <a:t>→ Limitation: Not scalable for long executions .</a:t>
            </a:r>
          </a:p>
          <a:p>
            <a:pPr algn="just">
              <a:lnSpc>
                <a:spcPts val="3271"/>
              </a:lnSpc>
            </a:pPr>
          </a:p>
          <a:p>
            <a:pPr algn="just" marL="590864" indent="-295432" lvl="1">
              <a:lnSpc>
                <a:spcPts val="3831"/>
              </a:lnSpc>
              <a:buFont typeface="Arial"/>
              <a:buChar char="•"/>
            </a:pPr>
            <a:r>
              <a:rPr lang="en-US" sz="2736">
                <a:solidFill>
                  <a:srgbClr val="000000"/>
                </a:solidFill>
                <a:latin typeface="Comic Sans"/>
                <a:ea typeface="Comic Sans"/>
                <a:cs typeface="Comic Sans"/>
                <a:sym typeface="Comic Sans"/>
              </a:rPr>
              <a:t>Ni et al. (2024) – NExT</a:t>
            </a:r>
          </a:p>
          <a:p>
            <a:pPr algn="l">
              <a:lnSpc>
                <a:spcPts val="3271"/>
              </a:lnSpc>
            </a:pPr>
            <a:r>
              <a:rPr lang="en-US" sz="2336">
                <a:solidFill>
                  <a:srgbClr val="000000"/>
                </a:solidFill>
                <a:latin typeface="Comic Sans"/>
                <a:ea typeface="Comic Sans"/>
                <a:cs typeface="Comic Sans"/>
                <a:sym typeface="Comic Sans"/>
              </a:rPr>
              <a:t> → Proposed compact trace representations to reduce trace size.</a:t>
            </a:r>
          </a:p>
          <a:p>
            <a:pPr algn="l">
              <a:lnSpc>
                <a:spcPts val="3271"/>
              </a:lnSpc>
            </a:pPr>
            <a:r>
              <a:rPr lang="en-US" sz="2336">
                <a:solidFill>
                  <a:srgbClr val="000000"/>
                </a:solidFill>
                <a:latin typeface="Comic Sans"/>
                <a:ea typeface="Comic Sans"/>
                <a:cs typeface="Comic Sans"/>
                <a:sym typeface="Comic Sans"/>
              </a:rPr>
              <a:t>→ Simplified loops and focused on improving program repair.</a:t>
            </a:r>
          </a:p>
          <a:p>
            <a:pPr algn="just">
              <a:lnSpc>
                <a:spcPts val="3271"/>
              </a:lnSpc>
            </a:pPr>
          </a:p>
          <a:p>
            <a:pPr algn="just" marL="590866" indent="-295433" lvl="1">
              <a:lnSpc>
                <a:spcPts val="3831"/>
              </a:lnSpc>
              <a:buFont typeface="Arial"/>
              <a:buChar char="•"/>
            </a:pPr>
            <a:r>
              <a:rPr lang="en-US" sz="2736">
                <a:solidFill>
                  <a:srgbClr val="000000"/>
                </a:solidFill>
                <a:latin typeface="Comic Sans"/>
                <a:ea typeface="Comic Sans"/>
                <a:cs typeface="Comic Sans"/>
                <a:sym typeface="Comic Sans"/>
              </a:rPr>
              <a:t>Gu et al. (2024) – CruxEval Benchmark</a:t>
            </a:r>
          </a:p>
          <a:p>
            <a:pPr algn="l">
              <a:lnSpc>
                <a:spcPts val="3271"/>
              </a:lnSpc>
            </a:pPr>
            <a:r>
              <a:rPr lang="en-US" sz="2336">
                <a:solidFill>
                  <a:srgbClr val="000000"/>
                </a:solidFill>
                <a:latin typeface="Comic Sans"/>
                <a:ea typeface="Comic Sans"/>
                <a:cs typeface="Comic Sans"/>
                <a:sym typeface="Comic Sans"/>
              </a:rPr>
              <a:t>→ Developed a benchmark specifically to test code reasoning via execution outputs.</a:t>
            </a:r>
          </a:p>
          <a:p>
            <a:pPr algn="l">
              <a:lnSpc>
                <a:spcPts val="3271"/>
              </a:lnSpc>
            </a:pPr>
            <a:r>
              <a:rPr lang="en-US" sz="2336">
                <a:solidFill>
                  <a:srgbClr val="000000"/>
                </a:solidFill>
                <a:latin typeface="Comic Sans"/>
                <a:ea typeface="Comic Sans"/>
                <a:cs typeface="Comic Sans"/>
                <a:sym typeface="Comic Sans"/>
              </a:rPr>
              <a:t>→ Used as the primary evaluation suite in this work.</a:t>
            </a:r>
          </a:p>
          <a:p>
            <a:pPr algn="l">
              <a:lnSpc>
                <a:spcPts val="3271"/>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79C7FF"/>
        </a:solidFill>
      </p:bgPr>
    </p:bg>
    <p:spTree>
      <p:nvGrpSpPr>
        <p:cNvPr id="1" name=""/>
        <p:cNvGrpSpPr/>
        <p:nvPr/>
      </p:nvGrpSpPr>
      <p:grpSpPr>
        <a:xfrm>
          <a:off x="0" y="0"/>
          <a:ext cx="0" cy="0"/>
          <a:chOff x="0" y="0"/>
          <a:chExt cx="0" cy="0"/>
        </a:xfrm>
      </p:grpSpPr>
      <p:sp>
        <p:nvSpPr>
          <p:cNvPr name="Freeform 2" id="2"/>
          <p:cNvSpPr/>
          <p:nvPr/>
        </p:nvSpPr>
        <p:spPr>
          <a:xfrm flipH="false" flipV="false" rot="0">
            <a:off x="10832948" y="3028870"/>
            <a:ext cx="4463587" cy="2907054"/>
          </a:xfrm>
          <a:custGeom>
            <a:avLst/>
            <a:gdLst/>
            <a:ahLst/>
            <a:cxnLst/>
            <a:rect r="r" b="b" t="t" l="l"/>
            <a:pathLst>
              <a:path h="2907054" w="4463587">
                <a:moveTo>
                  <a:pt x="0" y="0"/>
                </a:moveTo>
                <a:lnTo>
                  <a:pt x="4463587" y="0"/>
                </a:lnTo>
                <a:lnTo>
                  <a:pt x="4463587" y="2907054"/>
                </a:lnTo>
                <a:lnTo>
                  <a:pt x="0" y="2907054"/>
                </a:lnTo>
                <a:lnTo>
                  <a:pt x="0" y="0"/>
                </a:lnTo>
                <a:close/>
              </a:path>
            </a:pathLst>
          </a:custGeom>
          <a:blipFill>
            <a:blip r:embed="rId2"/>
            <a:stretch>
              <a:fillRect l="0" t="0" r="0" b="0"/>
            </a:stretch>
          </a:blipFill>
        </p:spPr>
      </p:sp>
      <p:grpSp>
        <p:nvGrpSpPr>
          <p:cNvPr name="Group 3" id="3"/>
          <p:cNvGrpSpPr/>
          <p:nvPr/>
        </p:nvGrpSpPr>
        <p:grpSpPr>
          <a:xfrm rot="0">
            <a:off x="10135438" y="6837170"/>
            <a:ext cx="6354866" cy="3086100"/>
            <a:chOff x="0" y="0"/>
            <a:chExt cx="1673710" cy="812800"/>
          </a:xfrm>
        </p:grpSpPr>
        <p:sp>
          <p:nvSpPr>
            <p:cNvPr name="Freeform 4" id="4"/>
            <p:cNvSpPr/>
            <p:nvPr/>
          </p:nvSpPr>
          <p:spPr>
            <a:xfrm flipH="false" flipV="false" rot="0">
              <a:off x="0" y="0"/>
              <a:ext cx="1673710" cy="812800"/>
            </a:xfrm>
            <a:custGeom>
              <a:avLst/>
              <a:gdLst/>
              <a:ahLst/>
              <a:cxnLst/>
              <a:rect r="r" b="b" t="t" l="l"/>
              <a:pathLst>
                <a:path h="812800" w="1673710">
                  <a:moveTo>
                    <a:pt x="62132" y="0"/>
                  </a:moveTo>
                  <a:lnTo>
                    <a:pt x="1611578" y="0"/>
                  </a:lnTo>
                  <a:cubicBezTo>
                    <a:pt x="1645892" y="0"/>
                    <a:pt x="1673710" y="27817"/>
                    <a:pt x="1673710" y="62132"/>
                  </a:cubicBezTo>
                  <a:lnTo>
                    <a:pt x="1673710" y="750668"/>
                  </a:lnTo>
                  <a:cubicBezTo>
                    <a:pt x="1673710" y="784983"/>
                    <a:pt x="1645892" y="812800"/>
                    <a:pt x="1611578" y="812800"/>
                  </a:cubicBezTo>
                  <a:lnTo>
                    <a:pt x="62132" y="812800"/>
                  </a:lnTo>
                  <a:cubicBezTo>
                    <a:pt x="27817" y="812800"/>
                    <a:pt x="0" y="784983"/>
                    <a:pt x="0" y="750668"/>
                  </a:cubicBezTo>
                  <a:lnTo>
                    <a:pt x="0" y="62132"/>
                  </a:lnTo>
                  <a:cubicBezTo>
                    <a:pt x="0" y="27817"/>
                    <a:pt x="27817" y="0"/>
                    <a:pt x="62132" y="0"/>
                  </a:cubicBezTo>
                  <a:close/>
                </a:path>
              </a:pathLst>
            </a:custGeom>
            <a:solidFill>
              <a:srgbClr val="1F2447"/>
            </a:solidFill>
          </p:spPr>
        </p:sp>
        <p:sp>
          <p:nvSpPr>
            <p:cNvPr name="TextBox 5" id="5"/>
            <p:cNvSpPr txBox="true"/>
            <p:nvPr/>
          </p:nvSpPr>
          <p:spPr>
            <a:xfrm>
              <a:off x="0" y="-47625"/>
              <a:ext cx="1673710" cy="860425"/>
            </a:xfrm>
            <a:prstGeom prst="rect">
              <a:avLst/>
            </a:prstGeom>
          </p:spPr>
          <p:txBody>
            <a:bodyPr anchor="ctr" rtlCol="false" tIns="50800" lIns="50800" bIns="50800" rIns="50800"/>
            <a:lstStyle/>
            <a:p>
              <a:pPr algn="ctr">
                <a:lnSpc>
                  <a:spcPts val="4339"/>
                </a:lnSpc>
              </a:pPr>
              <a:r>
                <a:rPr lang="en-US" sz="3099">
                  <a:solidFill>
                    <a:srgbClr val="FFFFFF"/>
                  </a:solidFill>
                  <a:latin typeface="Canva Sans"/>
                  <a:ea typeface="Canva Sans"/>
                  <a:cs typeface="Canva Sans"/>
                  <a:sym typeface="Canva Sans"/>
                </a:rPr>
                <a:t>1st Step : x = 2 → x becomes 2</a:t>
              </a:r>
            </a:p>
            <a:p>
              <a:pPr algn="ctr">
                <a:lnSpc>
                  <a:spcPts val="4339"/>
                </a:lnSpc>
              </a:pPr>
              <a:r>
                <a:rPr lang="en-US" sz="3099">
                  <a:solidFill>
                    <a:srgbClr val="FFFFFF"/>
                  </a:solidFill>
                  <a:latin typeface="Canva Sans"/>
                  <a:ea typeface="Canva Sans"/>
                  <a:cs typeface="Canva Sans"/>
                  <a:sym typeface="Canva Sans"/>
                </a:rPr>
                <a:t>2</a:t>
              </a:r>
              <a:r>
                <a:rPr lang="en-US" sz="3099">
                  <a:solidFill>
                    <a:srgbClr val="FFFFFF"/>
                  </a:solidFill>
                  <a:latin typeface="Canva Sans"/>
                  <a:ea typeface="Canva Sans"/>
                  <a:cs typeface="Canva Sans"/>
                  <a:sym typeface="Canva Sans"/>
                </a:rPr>
                <a:t>nd</a:t>
              </a:r>
              <a:r>
                <a:rPr lang="en-US" sz="3099">
                  <a:solidFill>
                    <a:srgbClr val="FFFFFF"/>
                  </a:solidFill>
                  <a:latin typeface="Canva Sans"/>
                  <a:ea typeface="Canva Sans"/>
                  <a:cs typeface="Canva Sans"/>
                  <a:sym typeface="Canva Sans"/>
                </a:rPr>
                <a:t> Step: </a:t>
              </a:r>
              <a:r>
                <a:rPr lang="en-US" sz="3099">
                  <a:solidFill>
                    <a:srgbClr val="FFFFFF"/>
                  </a:solidFill>
                  <a:latin typeface="Canva Sans"/>
                  <a:ea typeface="Canva Sans"/>
                  <a:cs typeface="Canva Sans"/>
                  <a:sym typeface="Canva Sans"/>
                </a:rPr>
                <a:t>y = x + 3 → y becomes 5</a:t>
              </a:r>
            </a:p>
            <a:p>
              <a:pPr algn="ctr">
                <a:lnSpc>
                  <a:spcPts val="4339"/>
                </a:lnSpc>
              </a:pPr>
              <a:r>
                <a:rPr lang="en-US" sz="3099">
                  <a:solidFill>
                    <a:srgbClr val="FFFFFF"/>
                  </a:solidFill>
                  <a:latin typeface="Canva Sans"/>
                  <a:ea typeface="Canva Sans"/>
                  <a:cs typeface="Canva Sans"/>
                  <a:sym typeface="Canva Sans"/>
                </a:rPr>
                <a:t>3rd</a:t>
              </a:r>
              <a:r>
                <a:rPr lang="en-US" sz="3099">
                  <a:solidFill>
                    <a:srgbClr val="FFFFFF"/>
                  </a:solidFill>
                  <a:latin typeface="Canva Sans"/>
                  <a:ea typeface="Canva Sans"/>
                  <a:cs typeface="Canva Sans"/>
                  <a:sym typeface="Canva Sans"/>
                </a:rPr>
                <a:t> Step: </a:t>
              </a:r>
              <a:r>
                <a:rPr lang="en-US" sz="3099">
                  <a:solidFill>
                    <a:srgbClr val="FFFFFF"/>
                  </a:solidFill>
                  <a:latin typeface="Canva Sans"/>
                  <a:ea typeface="Canva Sans"/>
                  <a:cs typeface="Canva Sans"/>
                  <a:sym typeface="Canva Sans"/>
                </a:rPr>
                <a:t>print(y) → output is 5</a:t>
              </a:r>
            </a:p>
            <a:p>
              <a:pPr algn="ctr">
                <a:lnSpc>
                  <a:spcPts val="2659"/>
                </a:lnSpc>
                <a:spcBef>
                  <a:spcPct val="0"/>
                </a:spcBef>
              </a:pPr>
            </a:p>
          </p:txBody>
        </p:sp>
      </p:grpSp>
      <p:sp>
        <p:nvSpPr>
          <p:cNvPr name="Freeform 6" id="6"/>
          <p:cNvSpPr/>
          <p:nvPr/>
        </p:nvSpPr>
        <p:spPr>
          <a:xfrm flipH="false" flipV="false" rot="0">
            <a:off x="1344404" y="3986054"/>
            <a:ext cx="7315200" cy="3899741"/>
          </a:xfrm>
          <a:custGeom>
            <a:avLst/>
            <a:gdLst/>
            <a:ahLst/>
            <a:cxnLst/>
            <a:rect r="r" b="b" t="t" l="l"/>
            <a:pathLst>
              <a:path h="3899741" w="7315200">
                <a:moveTo>
                  <a:pt x="0" y="0"/>
                </a:moveTo>
                <a:lnTo>
                  <a:pt x="7315200" y="0"/>
                </a:lnTo>
                <a:lnTo>
                  <a:pt x="7315200" y="3899740"/>
                </a:lnTo>
                <a:lnTo>
                  <a:pt x="0" y="38997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824037" y="2587896"/>
            <a:ext cx="6835567" cy="881947"/>
            <a:chOff x="0" y="0"/>
            <a:chExt cx="1800314" cy="232282"/>
          </a:xfrm>
        </p:grpSpPr>
        <p:sp>
          <p:nvSpPr>
            <p:cNvPr name="Freeform 8" id="8"/>
            <p:cNvSpPr/>
            <p:nvPr/>
          </p:nvSpPr>
          <p:spPr>
            <a:xfrm flipH="false" flipV="false" rot="0">
              <a:off x="0" y="0"/>
              <a:ext cx="1800314" cy="232282"/>
            </a:xfrm>
            <a:custGeom>
              <a:avLst/>
              <a:gdLst/>
              <a:ahLst/>
              <a:cxnLst/>
              <a:rect r="r" b="b" t="t" l="l"/>
              <a:pathLst>
                <a:path h="232282" w="1800314">
                  <a:moveTo>
                    <a:pt x="57762" y="0"/>
                  </a:moveTo>
                  <a:lnTo>
                    <a:pt x="1742552" y="0"/>
                  </a:lnTo>
                  <a:cubicBezTo>
                    <a:pt x="1774453" y="0"/>
                    <a:pt x="1800314" y="25861"/>
                    <a:pt x="1800314" y="57762"/>
                  </a:cubicBezTo>
                  <a:lnTo>
                    <a:pt x="1800314" y="174520"/>
                  </a:lnTo>
                  <a:cubicBezTo>
                    <a:pt x="1800314" y="206421"/>
                    <a:pt x="1774453" y="232282"/>
                    <a:pt x="1742552" y="232282"/>
                  </a:cubicBezTo>
                  <a:lnTo>
                    <a:pt x="57762" y="232282"/>
                  </a:lnTo>
                  <a:cubicBezTo>
                    <a:pt x="25861" y="232282"/>
                    <a:pt x="0" y="206421"/>
                    <a:pt x="0" y="174520"/>
                  </a:cubicBezTo>
                  <a:lnTo>
                    <a:pt x="0" y="57762"/>
                  </a:lnTo>
                  <a:cubicBezTo>
                    <a:pt x="0" y="25861"/>
                    <a:pt x="25861" y="0"/>
                    <a:pt x="57762" y="0"/>
                  </a:cubicBezTo>
                  <a:close/>
                </a:path>
              </a:pathLst>
            </a:custGeom>
            <a:gradFill rotWithShape="true">
              <a:gsLst>
                <a:gs pos="0">
                  <a:srgbClr val="CDFFD8">
                    <a:alpha val="100000"/>
                  </a:srgbClr>
                </a:gs>
                <a:gs pos="100000">
                  <a:srgbClr val="94B9FF">
                    <a:alpha val="100000"/>
                  </a:srgbClr>
                </a:gs>
              </a:gsLst>
              <a:lin ang="0"/>
            </a:gradFill>
          </p:spPr>
        </p:sp>
        <p:sp>
          <p:nvSpPr>
            <p:cNvPr name="TextBox 9" id="9"/>
            <p:cNvSpPr txBox="true"/>
            <p:nvPr/>
          </p:nvSpPr>
          <p:spPr>
            <a:xfrm>
              <a:off x="0" y="-38100"/>
              <a:ext cx="1800314" cy="270382"/>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4521667" y="857250"/>
            <a:ext cx="9244665" cy="1468222"/>
          </a:xfrm>
          <a:prstGeom prst="rect">
            <a:avLst/>
          </a:prstGeom>
        </p:spPr>
        <p:txBody>
          <a:bodyPr anchor="t" rtlCol="false" tIns="0" lIns="0" bIns="0" rIns="0">
            <a:spAutoFit/>
          </a:bodyPr>
          <a:lstStyle/>
          <a:p>
            <a:pPr algn="ctr">
              <a:lnSpc>
                <a:spcPts val="11999"/>
              </a:lnSpc>
              <a:spcBef>
                <a:spcPct val="0"/>
              </a:spcBef>
            </a:pPr>
            <a:r>
              <a:rPr lang="en-US" sz="8571">
                <a:solidFill>
                  <a:srgbClr val="1F2447"/>
                </a:solidFill>
                <a:latin typeface="Lilita One"/>
                <a:ea typeface="Lilita One"/>
                <a:cs typeface="Lilita One"/>
                <a:sym typeface="Lilita One"/>
              </a:rPr>
              <a:t>KEY CONCEPTS</a:t>
            </a:r>
          </a:p>
        </p:txBody>
      </p:sp>
      <p:sp>
        <p:nvSpPr>
          <p:cNvPr name="TextBox 11" id="11"/>
          <p:cNvSpPr txBox="true"/>
          <p:nvPr/>
        </p:nvSpPr>
        <p:spPr>
          <a:xfrm rot="0">
            <a:off x="1820578" y="2731372"/>
            <a:ext cx="6362851" cy="537845"/>
          </a:xfrm>
          <a:prstGeom prst="rect">
            <a:avLst/>
          </a:prstGeom>
        </p:spPr>
        <p:txBody>
          <a:bodyPr anchor="t" rtlCol="false" tIns="0" lIns="0" bIns="0" rIns="0">
            <a:spAutoFit/>
          </a:bodyPr>
          <a:lstStyle/>
          <a:p>
            <a:pPr algn="ctr" marL="0" indent="0" lvl="0">
              <a:lnSpc>
                <a:spcPts val="4480"/>
              </a:lnSpc>
              <a:spcBef>
                <a:spcPct val="0"/>
              </a:spcBef>
            </a:pPr>
            <a:r>
              <a:rPr lang="en-US" b="true" sz="3200">
                <a:solidFill>
                  <a:srgbClr val="000000"/>
                </a:solidFill>
                <a:latin typeface="Comic Sans Bold"/>
                <a:ea typeface="Comic Sans Bold"/>
                <a:cs typeface="Comic Sans Bold"/>
                <a:sym typeface="Comic Sans Bold"/>
              </a:rPr>
              <a:t>Execution Traces</a:t>
            </a:r>
          </a:p>
        </p:txBody>
      </p:sp>
      <p:sp>
        <p:nvSpPr>
          <p:cNvPr name="TextBox 12" id="12"/>
          <p:cNvSpPr txBox="true"/>
          <p:nvPr/>
        </p:nvSpPr>
        <p:spPr>
          <a:xfrm rot="0">
            <a:off x="1820578" y="4795464"/>
            <a:ext cx="6362851" cy="2223770"/>
          </a:xfrm>
          <a:prstGeom prst="rect">
            <a:avLst/>
          </a:prstGeom>
        </p:spPr>
        <p:txBody>
          <a:bodyPr anchor="t" rtlCol="false" tIns="0" lIns="0" bIns="0" rIns="0">
            <a:spAutoFit/>
          </a:bodyPr>
          <a:lstStyle/>
          <a:p>
            <a:pPr algn="ctr">
              <a:lnSpc>
                <a:spcPts val="4480"/>
              </a:lnSpc>
              <a:spcBef>
                <a:spcPct val="0"/>
              </a:spcBef>
            </a:pPr>
            <a:r>
              <a:rPr lang="en-US" b="true" sz="3200">
                <a:solidFill>
                  <a:srgbClr val="000000"/>
                </a:solidFill>
                <a:latin typeface="Comic Sans Bold"/>
                <a:ea typeface="Comic Sans Bold"/>
                <a:cs typeface="Comic Sans Bold"/>
                <a:sym typeface="Comic Sans Bold"/>
              </a:rPr>
              <a:t>A sequence of pr</a:t>
            </a:r>
            <a:r>
              <a:rPr lang="en-US" b="true" sz="3200">
                <a:solidFill>
                  <a:srgbClr val="000000"/>
                </a:solidFill>
                <a:latin typeface="Comic Sans Bold"/>
                <a:ea typeface="Comic Sans Bold"/>
                <a:cs typeface="Comic Sans Bold"/>
                <a:sym typeface="Comic Sans Bold"/>
              </a:rPr>
              <a:t>ogram states during code execution. States include variable values, control flow, etc.</a:t>
            </a:r>
          </a:p>
        </p:txBody>
      </p:sp>
      <p:sp>
        <p:nvSpPr>
          <p:cNvPr name="TextBox 13" id="13"/>
          <p:cNvSpPr txBox="true"/>
          <p:nvPr/>
        </p:nvSpPr>
        <p:spPr>
          <a:xfrm rot="0">
            <a:off x="12189192" y="2249272"/>
            <a:ext cx="1751099" cy="659992"/>
          </a:xfrm>
          <a:prstGeom prst="rect">
            <a:avLst/>
          </a:prstGeom>
        </p:spPr>
        <p:txBody>
          <a:bodyPr anchor="t" rtlCol="false" tIns="0" lIns="0" bIns="0" rIns="0">
            <a:spAutoFit/>
          </a:bodyPr>
          <a:lstStyle/>
          <a:p>
            <a:pPr algn="ctr">
              <a:lnSpc>
                <a:spcPts val="5458"/>
              </a:lnSpc>
              <a:spcBef>
                <a:spcPct val="0"/>
              </a:spcBef>
            </a:pPr>
            <a:r>
              <a:rPr lang="en-US" sz="3898">
                <a:solidFill>
                  <a:srgbClr val="000000"/>
                </a:solidFill>
                <a:latin typeface="Sensei"/>
                <a:ea typeface="Sensei"/>
                <a:cs typeface="Sensei"/>
                <a:sym typeface="Sensei"/>
              </a:rPr>
              <a:t>Example</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79C7FF"/>
        </a:solidFill>
      </p:bgPr>
    </p:bg>
    <p:spTree>
      <p:nvGrpSpPr>
        <p:cNvPr id="1" name=""/>
        <p:cNvGrpSpPr/>
        <p:nvPr/>
      </p:nvGrpSpPr>
      <p:grpSpPr>
        <a:xfrm>
          <a:off x="0" y="0"/>
          <a:ext cx="0" cy="0"/>
          <a:chOff x="0" y="0"/>
          <a:chExt cx="0" cy="0"/>
        </a:xfrm>
      </p:grpSpPr>
      <p:sp>
        <p:nvSpPr>
          <p:cNvPr name="TextBox 2" id="2"/>
          <p:cNvSpPr txBox="true"/>
          <p:nvPr/>
        </p:nvSpPr>
        <p:spPr>
          <a:xfrm rot="0">
            <a:off x="1028700" y="3919317"/>
            <a:ext cx="12133024" cy="3580765"/>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A scratchpad is an intermediate memory used by LLMs to store step-by-step computations before arriving at the final output.</a:t>
            </a:r>
          </a:p>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Helps in tasks like code understanding and output prediction.</a:t>
            </a:r>
          </a:p>
          <a:p>
            <a:pPr algn="l">
              <a:lnSpc>
                <a:spcPts val="4759"/>
              </a:lnSpc>
            </a:pPr>
          </a:p>
        </p:txBody>
      </p:sp>
      <p:grpSp>
        <p:nvGrpSpPr>
          <p:cNvPr name="Group 3" id="3"/>
          <p:cNvGrpSpPr/>
          <p:nvPr/>
        </p:nvGrpSpPr>
        <p:grpSpPr>
          <a:xfrm rot="0">
            <a:off x="1786124" y="6986367"/>
            <a:ext cx="9142932" cy="3086100"/>
            <a:chOff x="0" y="0"/>
            <a:chExt cx="2408015" cy="812800"/>
          </a:xfrm>
        </p:grpSpPr>
        <p:sp>
          <p:nvSpPr>
            <p:cNvPr name="Freeform 4" id="4"/>
            <p:cNvSpPr/>
            <p:nvPr/>
          </p:nvSpPr>
          <p:spPr>
            <a:xfrm flipH="false" flipV="false" rot="0">
              <a:off x="0" y="0"/>
              <a:ext cx="2408015" cy="812800"/>
            </a:xfrm>
            <a:custGeom>
              <a:avLst/>
              <a:gdLst/>
              <a:ahLst/>
              <a:cxnLst/>
              <a:rect r="r" b="b" t="t" l="l"/>
              <a:pathLst>
                <a:path h="812800" w="2408015">
                  <a:moveTo>
                    <a:pt x="71975" y="0"/>
                  </a:moveTo>
                  <a:lnTo>
                    <a:pt x="2336040" y="0"/>
                  </a:lnTo>
                  <a:cubicBezTo>
                    <a:pt x="2355129" y="0"/>
                    <a:pt x="2373436" y="7583"/>
                    <a:pt x="2386934" y="21081"/>
                  </a:cubicBezTo>
                  <a:cubicBezTo>
                    <a:pt x="2400432" y="34579"/>
                    <a:pt x="2408015" y="52886"/>
                    <a:pt x="2408015" y="71975"/>
                  </a:cubicBezTo>
                  <a:lnTo>
                    <a:pt x="2408015" y="740825"/>
                  </a:lnTo>
                  <a:cubicBezTo>
                    <a:pt x="2408015" y="759914"/>
                    <a:pt x="2400432" y="778221"/>
                    <a:pt x="2386934" y="791719"/>
                  </a:cubicBezTo>
                  <a:cubicBezTo>
                    <a:pt x="2373436" y="805217"/>
                    <a:pt x="2355129" y="812800"/>
                    <a:pt x="2336040" y="812800"/>
                  </a:cubicBezTo>
                  <a:lnTo>
                    <a:pt x="71975" y="812800"/>
                  </a:lnTo>
                  <a:cubicBezTo>
                    <a:pt x="52886" y="812800"/>
                    <a:pt x="34579" y="805217"/>
                    <a:pt x="21081" y="791719"/>
                  </a:cubicBezTo>
                  <a:cubicBezTo>
                    <a:pt x="7583" y="778221"/>
                    <a:pt x="0" y="759914"/>
                    <a:pt x="0" y="740825"/>
                  </a:cubicBezTo>
                  <a:lnTo>
                    <a:pt x="0" y="71975"/>
                  </a:lnTo>
                  <a:cubicBezTo>
                    <a:pt x="0" y="52886"/>
                    <a:pt x="7583" y="34579"/>
                    <a:pt x="21081" y="21081"/>
                  </a:cubicBezTo>
                  <a:cubicBezTo>
                    <a:pt x="34579" y="7583"/>
                    <a:pt x="52886" y="0"/>
                    <a:pt x="71975" y="0"/>
                  </a:cubicBezTo>
                  <a:close/>
                </a:path>
              </a:pathLst>
            </a:custGeom>
            <a:solidFill>
              <a:srgbClr val="8FD0FF"/>
            </a:solidFill>
          </p:spPr>
        </p:sp>
        <p:sp>
          <p:nvSpPr>
            <p:cNvPr name="TextBox 5" id="5"/>
            <p:cNvSpPr txBox="true"/>
            <p:nvPr/>
          </p:nvSpPr>
          <p:spPr>
            <a:xfrm>
              <a:off x="0" y="-38100"/>
              <a:ext cx="2408015" cy="850900"/>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618262" y="857250"/>
            <a:ext cx="7051477" cy="1468222"/>
          </a:xfrm>
          <a:prstGeom prst="rect">
            <a:avLst/>
          </a:prstGeom>
        </p:spPr>
        <p:txBody>
          <a:bodyPr anchor="t" rtlCol="false" tIns="0" lIns="0" bIns="0" rIns="0">
            <a:spAutoFit/>
          </a:bodyPr>
          <a:lstStyle/>
          <a:p>
            <a:pPr algn="ctr">
              <a:lnSpc>
                <a:spcPts val="11999"/>
              </a:lnSpc>
              <a:spcBef>
                <a:spcPct val="0"/>
              </a:spcBef>
            </a:pPr>
            <a:r>
              <a:rPr lang="en-US" sz="8571">
                <a:solidFill>
                  <a:srgbClr val="000000"/>
                </a:solidFill>
                <a:latin typeface="Lilita One"/>
                <a:ea typeface="Lilita One"/>
                <a:cs typeface="Lilita One"/>
                <a:sym typeface="Lilita One"/>
              </a:rPr>
              <a:t>KEY CONCEPTS</a:t>
            </a:r>
          </a:p>
        </p:txBody>
      </p:sp>
      <p:sp>
        <p:nvSpPr>
          <p:cNvPr name="TextBox 7" id="7"/>
          <p:cNvSpPr txBox="true"/>
          <p:nvPr/>
        </p:nvSpPr>
        <p:spPr>
          <a:xfrm rot="0">
            <a:off x="1947858" y="2840360"/>
            <a:ext cx="7854752" cy="564608"/>
          </a:xfrm>
          <a:prstGeom prst="rect">
            <a:avLst/>
          </a:prstGeom>
        </p:spPr>
        <p:txBody>
          <a:bodyPr anchor="t" rtlCol="false" tIns="0" lIns="0" bIns="0" rIns="0">
            <a:spAutoFit/>
          </a:bodyPr>
          <a:lstStyle/>
          <a:p>
            <a:pPr algn="ctr">
              <a:lnSpc>
                <a:spcPts val="4579"/>
              </a:lnSpc>
              <a:spcBef>
                <a:spcPct val="0"/>
              </a:spcBef>
            </a:pPr>
            <a:r>
              <a:rPr lang="en-US" sz="3271">
                <a:solidFill>
                  <a:srgbClr val="000000"/>
                </a:solidFill>
                <a:latin typeface="Lilita One"/>
                <a:ea typeface="Lilita One"/>
                <a:cs typeface="Lilita One"/>
                <a:sym typeface="Lilita One"/>
              </a:rPr>
              <a:t>INTRODUCTION OF DYNAMIC SCRATCHPAD</a:t>
            </a:r>
          </a:p>
        </p:txBody>
      </p:sp>
      <p:sp>
        <p:nvSpPr>
          <p:cNvPr name="TextBox 8" id="8"/>
          <p:cNvSpPr txBox="true"/>
          <p:nvPr/>
        </p:nvSpPr>
        <p:spPr>
          <a:xfrm rot="0">
            <a:off x="2498867" y="7176550"/>
            <a:ext cx="4083050" cy="580390"/>
          </a:xfrm>
          <a:prstGeom prst="rect">
            <a:avLst/>
          </a:prstGeom>
        </p:spPr>
        <p:txBody>
          <a:bodyPr anchor="t" rtlCol="false" tIns="0" lIns="0" bIns="0" rIns="0">
            <a:spAutoFit/>
          </a:bodyPr>
          <a:lstStyle/>
          <a:p>
            <a:pPr algn="ctr">
              <a:lnSpc>
                <a:spcPts val="4759"/>
              </a:lnSpc>
            </a:pPr>
            <a:r>
              <a:rPr lang="en-US" sz="3399" b="true">
                <a:solidFill>
                  <a:srgbClr val="000000"/>
                </a:solidFill>
                <a:latin typeface="Canva Sans Bold"/>
                <a:ea typeface="Canva Sans Bold"/>
                <a:cs typeface="Canva Sans Bold"/>
                <a:sym typeface="Canva Sans Bold"/>
              </a:rPr>
              <a:t>Execution Strategy </a:t>
            </a:r>
          </a:p>
        </p:txBody>
      </p:sp>
      <p:sp>
        <p:nvSpPr>
          <p:cNvPr name="TextBox 9" id="9"/>
          <p:cNvSpPr txBox="true"/>
          <p:nvPr/>
        </p:nvSpPr>
        <p:spPr>
          <a:xfrm rot="0">
            <a:off x="2274540" y="8014432"/>
            <a:ext cx="10127962" cy="1780540"/>
          </a:xfrm>
          <a:prstGeom prst="rect">
            <a:avLst/>
          </a:prstGeom>
        </p:spPr>
        <p:txBody>
          <a:bodyPr anchor="t" rtlCol="false" tIns="0" lIns="0" bIns="0" rIns="0">
            <a:spAutoFit/>
          </a:bodyPr>
          <a:lstStyle/>
          <a:p>
            <a:pPr algn="l" marL="734059" indent="-367030" lvl="1">
              <a:lnSpc>
                <a:spcPts val="4759"/>
              </a:lnSpc>
              <a:buAutoNum type="arabicPeriod" startAt="1"/>
            </a:pPr>
            <a:r>
              <a:rPr lang="en-US" sz="3399">
                <a:solidFill>
                  <a:srgbClr val="000000"/>
                </a:solidFill>
                <a:latin typeface="Canva Sans"/>
                <a:ea typeface="Canva Sans"/>
                <a:cs typeface="Canva Sans"/>
                <a:sym typeface="Canva Sans"/>
              </a:rPr>
              <a:t>D</a:t>
            </a:r>
            <a:r>
              <a:rPr lang="en-US" sz="3399">
                <a:solidFill>
                  <a:srgbClr val="000000"/>
                </a:solidFill>
                <a:latin typeface="Canva Sans"/>
                <a:ea typeface="Canva Sans"/>
                <a:cs typeface="Canva Sans"/>
                <a:sym typeface="Canva Sans"/>
              </a:rPr>
              <a:t>irect (No Scratchpad)</a:t>
            </a:r>
          </a:p>
          <a:p>
            <a:pPr algn="l" marL="734059" indent="-367030" lvl="1">
              <a:lnSpc>
                <a:spcPts val="4759"/>
              </a:lnSpc>
              <a:buAutoNum type="arabicPeriod" startAt="1"/>
            </a:pPr>
            <a:r>
              <a:rPr lang="en-US" sz="3399">
                <a:solidFill>
                  <a:srgbClr val="000000"/>
                </a:solidFill>
                <a:latin typeface="Canva Sans"/>
                <a:ea typeface="Canva Sans"/>
                <a:cs typeface="Canva Sans"/>
                <a:sym typeface="Canva Sans"/>
              </a:rPr>
              <a:t>Scratchpad (Regular Scratchpad)</a:t>
            </a:r>
          </a:p>
          <a:p>
            <a:pPr algn="l" marL="734059" indent="-367030" lvl="1">
              <a:lnSpc>
                <a:spcPts val="4759"/>
              </a:lnSpc>
              <a:buAutoNum type="arabicPeriod" startAt="1"/>
            </a:pPr>
            <a:r>
              <a:rPr lang="en-US" sz="3399">
                <a:solidFill>
                  <a:srgbClr val="000000"/>
                </a:solidFill>
                <a:latin typeface="Canva Sans"/>
                <a:ea typeface="Canva Sans"/>
                <a:cs typeface="Canva Sans"/>
                <a:sym typeface="Canva Sans"/>
              </a:rPr>
              <a:t>Dynamic Scratchpad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79C7FF"/>
        </a:solidFill>
      </p:bgPr>
    </p:bg>
    <p:spTree>
      <p:nvGrpSpPr>
        <p:cNvPr id="1" name=""/>
        <p:cNvGrpSpPr/>
        <p:nvPr/>
      </p:nvGrpSpPr>
      <p:grpSpPr>
        <a:xfrm>
          <a:off x="0" y="0"/>
          <a:ext cx="0" cy="0"/>
          <a:chOff x="0" y="0"/>
          <a:chExt cx="0" cy="0"/>
        </a:xfrm>
      </p:grpSpPr>
      <p:sp>
        <p:nvSpPr>
          <p:cNvPr name="Freeform 2" id="2"/>
          <p:cNvSpPr/>
          <p:nvPr/>
        </p:nvSpPr>
        <p:spPr>
          <a:xfrm flipH="false" flipV="false" rot="0">
            <a:off x="2270274" y="1785290"/>
            <a:ext cx="13848290" cy="3358210"/>
          </a:xfrm>
          <a:custGeom>
            <a:avLst/>
            <a:gdLst/>
            <a:ahLst/>
            <a:cxnLst/>
            <a:rect r="r" b="b" t="t" l="l"/>
            <a:pathLst>
              <a:path h="3358210" w="13848290">
                <a:moveTo>
                  <a:pt x="0" y="0"/>
                </a:moveTo>
                <a:lnTo>
                  <a:pt x="13848289" y="0"/>
                </a:lnTo>
                <a:lnTo>
                  <a:pt x="13848289" y="3358210"/>
                </a:lnTo>
                <a:lnTo>
                  <a:pt x="0" y="3358210"/>
                </a:lnTo>
                <a:lnTo>
                  <a:pt x="0" y="0"/>
                </a:lnTo>
                <a:close/>
              </a:path>
            </a:pathLst>
          </a:custGeom>
          <a:blipFill>
            <a:blip r:embed="rId2"/>
            <a:stretch>
              <a:fillRect l="0" t="0" r="0" b="0"/>
            </a:stretch>
          </a:blipFill>
        </p:spPr>
      </p:sp>
      <p:sp>
        <p:nvSpPr>
          <p:cNvPr name="TextBox 3" id="3"/>
          <p:cNvSpPr txBox="true"/>
          <p:nvPr/>
        </p:nvSpPr>
        <p:spPr>
          <a:xfrm rot="0">
            <a:off x="681107" y="6582537"/>
            <a:ext cx="15515730" cy="2380615"/>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Up</a:t>
            </a:r>
            <a:r>
              <a:rPr lang="en-US" sz="3399">
                <a:solidFill>
                  <a:srgbClr val="000000"/>
                </a:solidFill>
                <a:latin typeface="Canva Sans"/>
                <a:ea typeface="Canva Sans"/>
                <a:cs typeface="Canva Sans"/>
                <a:sym typeface="Canva Sans"/>
              </a:rPr>
              <a:t>dates a single, self-contained program state at each step.</a:t>
            </a:r>
          </a:p>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Avoids accumulating unnecessary history.</a:t>
            </a:r>
          </a:p>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Enables success on long executions (up to 14,000 steps!).</a:t>
            </a:r>
          </a:p>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Allows dynamic step skipping, reducing trace size (e.g., from 14k → 1.5k).</a:t>
            </a:r>
          </a:p>
        </p:txBody>
      </p:sp>
      <p:sp>
        <p:nvSpPr>
          <p:cNvPr name="TextBox 4" id="4"/>
          <p:cNvSpPr txBox="true"/>
          <p:nvPr/>
        </p:nvSpPr>
        <p:spPr>
          <a:xfrm rot="0">
            <a:off x="-2940173" y="5556314"/>
            <a:ext cx="15515730" cy="613409"/>
          </a:xfrm>
          <a:prstGeom prst="rect">
            <a:avLst/>
          </a:prstGeom>
        </p:spPr>
        <p:txBody>
          <a:bodyPr anchor="t" rtlCol="false" tIns="0" lIns="0" bIns="0" rIns="0">
            <a:spAutoFit/>
          </a:bodyPr>
          <a:lstStyle/>
          <a:p>
            <a:pPr algn="ctr">
              <a:lnSpc>
                <a:spcPts val="5040"/>
              </a:lnSpc>
            </a:pPr>
            <a:r>
              <a:rPr lang="en-US" sz="3600" b="true">
                <a:solidFill>
                  <a:srgbClr val="000000"/>
                </a:solidFill>
                <a:latin typeface="Canva Sans Bold"/>
                <a:ea typeface="Canva Sans Bold"/>
                <a:cs typeface="Canva Sans Bold"/>
                <a:sym typeface="Canva Sans Bold"/>
              </a:rPr>
              <a:t>Why use Dynamic Scratchpad?</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79C7FF"/>
        </a:solidFill>
      </p:bgPr>
    </p:bg>
    <p:spTree>
      <p:nvGrpSpPr>
        <p:cNvPr id="1" name=""/>
        <p:cNvGrpSpPr/>
        <p:nvPr/>
      </p:nvGrpSpPr>
      <p:grpSpPr>
        <a:xfrm>
          <a:off x="0" y="0"/>
          <a:ext cx="0" cy="0"/>
          <a:chOff x="0" y="0"/>
          <a:chExt cx="0" cy="0"/>
        </a:xfrm>
      </p:grpSpPr>
      <p:sp>
        <p:nvSpPr>
          <p:cNvPr name="TextBox 2" id="2"/>
          <p:cNvSpPr txBox="true"/>
          <p:nvPr/>
        </p:nvSpPr>
        <p:spPr>
          <a:xfrm rot="0">
            <a:off x="6368802" y="4623752"/>
            <a:ext cx="5550396" cy="1144271"/>
          </a:xfrm>
          <a:prstGeom prst="rect">
            <a:avLst/>
          </a:prstGeom>
        </p:spPr>
        <p:txBody>
          <a:bodyPr anchor="t" rtlCol="false" tIns="0" lIns="0" bIns="0" rIns="0">
            <a:spAutoFit/>
          </a:bodyPr>
          <a:lstStyle/>
          <a:p>
            <a:pPr algn="ctr">
              <a:lnSpc>
                <a:spcPts val="9379"/>
              </a:lnSpc>
            </a:pPr>
            <a:r>
              <a:rPr lang="en-US" sz="6699" b="true">
                <a:solidFill>
                  <a:srgbClr val="000000"/>
                </a:solidFill>
                <a:latin typeface="Canva Sans Bold"/>
                <a:ea typeface="Canva Sans Bold"/>
                <a:cs typeface="Canva Sans Bold"/>
                <a:sym typeface="Canva Sans Bold"/>
              </a:rPr>
              <a:t>Methodology</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79C7FF"/>
        </a:solidFill>
      </p:bgPr>
    </p:bg>
    <p:spTree>
      <p:nvGrpSpPr>
        <p:cNvPr id="1" name=""/>
        <p:cNvGrpSpPr/>
        <p:nvPr/>
      </p:nvGrpSpPr>
      <p:grpSpPr>
        <a:xfrm>
          <a:off x="0" y="0"/>
          <a:ext cx="0" cy="0"/>
          <a:chOff x="0" y="0"/>
          <a:chExt cx="0" cy="0"/>
        </a:xfrm>
      </p:grpSpPr>
      <p:sp>
        <p:nvSpPr>
          <p:cNvPr name="TextBox 2" id="2"/>
          <p:cNvSpPr txBox="true"/>
          <p:nvPr/>
        </p:nvSpPr>
        <p:spPr>
          <a:xfrm rot="0">
            <a:off x="2941021" y="923925"/>
            <a:ext cx="11737479" cy="1009652"/>
          </a:xfrm>
          <a:prstGeom prst="rect">
            <a:avLst/>
          </a:prstGeom>
        </p:spPr>
        <p:txBody>
          <a:bodyPr anchor="t" rtlCol="false" tIns="0" lIns="0" bIns="0" rIns="0">
            <a:spAutoFit/>
          </a:bodyPr>
          <a:lstStyle/>
          <a:p>
            <a:pPr algn="ctr">
              <a:lnSpc>
                <a:spcPts val="8399"/>
              </a:lnSpc>
              <a:spcBef>
                <a:spcPct val="0"/>
              </a:spcBef>
            </a:pPr>
            <a:r>
              <a:rPr lang="en-US" sz="5999">
                <a:solidFill>
                  <a:srgbClr val="000000"/>
                </a:solidFill>
                <a:latin typeface="Comic Sans"/>
                <a:ea typeface="Comic Sans"/>
                <a:cs typeface="Comic Sans"/>
                <a:sym typeface="Comic Sans"/>
              </a:rPr>
              <a:t>Challenges for Execution Tracing</a:t>
            </a:r>
          </a:p>
        </p:txBody>
      </p:sp>
      <p:sp>
        <p:nvSpPr>
          <p:cNvPr name="TextBox 3" id="3"/>
          <p:cNvSpPr txBox="true"/>
          <p:nvPr/>
        </p:nvSpPr>
        <p:spPr>
          <a:xfrm rot="0">
            <a:off x="1555084" y="3312561"/>
            <a:ext cx="10823873" cy="646431"/>
          </a:xfrm>
          <a:prstGeom prst="rect">
            <a:avLst/>
          </a:prstGeom>
        </p:spPr>
        <p:txBody>
          <a:bodyPr anchor="t" rtlCol="false" tIns="0" lIns="0" bIns="0" rIns="0">
            <a:spAutoFit/>
          </a:bodyPr>
          <a:lstStyle/>
          <a:p>
            <a:pPr algn="ctr" marL="820409" indent="-410205" lvl="1">
              <a:lnSpc>
                <a:spcPts val="5319"/>
              </a:lnSpc>
              <a:spcBef>
                <a:spcPct val="0"/>
              </a:spcBef>
              <a:buAutoNum type="arabicPeriod" startAt="1"/>
            </a:pPr>
            <a:r>
              <a:rPr lang="en-US" sz="3799">
                <a:solidFill>
                  <a:srgbClr val="000000"/>
                </a:solidFill>
                <a:latin typeface="Canva Sans"/>
                <a:ea typeface="Canva Sans"/>
                <a:cs typeface="Canva Sans"/>
                <a:sym typeface="Canva Sans"/>
              </a:rPr>
              <a:t> Where and how to collect Exectuion traces</a:t>
            </a:r>
          </a:p>
        </p:txBody>
      </p:sp>
      <p:sp>
        <p:nvSpPr>
          <p:cNvPr name="TextBox 4" id="4"/>
          <p:cNvSpPr txBox="true"/>
          <p:nvPr/>
        </p:nvSpPr>
        <p:spPr>
          <a:xfrm rot="0">
            <a:off x="1555084" y="6060751"/>
            <a:ext cx="14509354" cy="646431"/>
          </a:xfrm>
          <a:prstGeom prst="rect">
            <a:avLst/>
          </a:prstGeom>
        </p:spPr>
        <p:txBody>
          <a:bodyPr anchor="t" rtlCol="false" tIns="0" lIns="0" bIns="0" rIns="0">
            <a:spAutoFit/>
          </a:bodyPr>
          <a:lstStyle/>
          <a:p>
            <a:pPr algn="ctr">
              <a:lnSpc>
                <a:spcPts val="5319"/>
              </a:lnSpc>
              <a:spcBef>
                <a:spcPct val="0"/>
              </a:spcBef>
            </a:pPr>
            <a:r>
              <a:rPr lang="en-US" sz="3799">
                <a:solidFill>
                  <a:srgbClr val="000000"/>
                </a:solidFill>
                <a:latin typeface="Canva Sans"/>
                <a:ea typeface="Canva Sans"/>
                <a:cs typeface="Canva Sans"/>
                <a:sym typeface="Canva Sans"/>
              </a:rPr>
              <a:t>2. How to represent these traces to ingest them into the model</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79C7FF"/>
        </a:solidFill>
      </p:bgPr>
    </p:bg>
    <p:spTree>
      <p:nvGrpSpPr>
        <p:cNvPr id="1" name=""/>
        <p:cNvGrpSpPr/>
        <p:nvPr/>
      </p:nvGrpSpPr>
      <p:grpSpPr>
        <a:xfrm>
          <a:off x="0" y="0"/>
          <a:ext cx="0" cy="0"/>
          <a:chOff x="0" y="0"/>
          <a:chExt cx="0" cy="0"/>
        </a:xfrm>
      </p:grpSpPr>
      <p:sp>
        <p:nvSpPr>
          <p:cNvPr name="AutoShape 2" id="2"/>
          <p:cNvSpPr/>
          <p:nvPr/>
        </p:nvSpPr>
        <p:spPr>
          <a:xfrm>
            <a:off x="0" y="704643"/>
            <a:ext cx="18288049" cy="9525"/>
          </a:xfrm>
          <a:prstGeom prst="line">
            <a:avLst/>
          </a:prstGeom>
          <a:ln cap="flat" w="19050">
            <a:solidFill>
              <a:srgbClr val="FFFFFF"/>
            </a:solidFill>
            <a:prstDash val="solid"/>
            <a:headEnd type="none" len="sm" w="sm"/>
            <a:tailEnd type="none" len="sm" w="sm"/>
          </a:ln>
        </p:spPr>
      </p:sp>
      <p:sp>
        <p:nvSpPr>
          <p:cNvPr name="AutoShape 3" id="3"/>
          <p:cNvSpPr/>
          <p:nvPr/>
        </p:nvSpPr>
        <p:spPr>
          <a:xfrm flipV="true">
            <a:off x="5453767" y="-54003"/>
            <a:ext cx="0" cy="10395005"/>
          </a:xfrm>
          <a:prstGeom prst="line">
            <a:avLst/>
          </a:prstGeom>
          <a:ln cap="flat" w="19050">
            <a:solidFill>
              <a:srgbClr val="FFFFFF"/>
            </a:solidFill>
            <a:prstDash val="solid"/>
            <a:headEnd type="none" len="sm" w="sm"/>
            <a:tailEnd type="none" len="sm" w="sm"/>
          </a:ln>
        </p:spPr>
      </p:sp>
      <p:sp>
        <p:nvSpPr>
          <p:cNvPr name="Freeform 4" id="4"/>
          <p:cNvSpPr/>
          <p:nvPr/>
        </p:nvSpPr>
        <p:spPr>
          <a:xfrm flipH="false" flipV="false" rot="0">
            <a:off x="5463292" y="1667645"/>
            <a:ext cx="12413767" cy="6951710"/>
          </a:xfrm>
          <a:custGeom>
            <a:avLst/>
            <a:gdLst/>
            <a:ahLst/>
            <a:cxnLst/>
            <a:rect r="r" b="b" t="t" l="l"/>
            <a:pathLst>
              <a:path h="6951710" w="12413767">
                <a:moveTo>
                  <a:pt x="0" y="0"/>
                </a:moveTo>
                <a:lnTo>
                  <a:pt x="12413767" y="0"/>
                </a:lnTo>
                <a:lnTo>
                  <a:pt x="12413767" y="6951710"/>
                </a:lnTo>
                <a:lnTo>
                  <a:pt x="0" y="6951710"/>
                </a:lnTo>
                <a:lnTo>
                  <a:pt x="0" y="0"/>
                </a:lnTo>
                <a:close/>
              </a:path>
            </a:pathLst>
          </a:custGeom>
          <a:blipFill>
            <a:blip r:embed="rId2"/>
            <a:stretch>
              <a:fillRect l="0" t="0" r="0" b="0"/>
            </a:stretch>
          </a:blipFill>
        </p:spPr>
      </p:sp>
      <p:sp>
        <p:nvSpPr>
          <p:cNvPr name="TextBox 5" id="5"/>
          <p:cNvSpPr txBox="true"/>
          <p:nvPr/>
        </p:nvSpPr>
        <p:spPr>
          <a:xfrm rot="0">
            <a:off x="700792" y="4359593"/>
            <a:ext cx="4762500" cy="1796415"/>
          </a:xfrm>
          <a:prstGeom prst="rect">
            <a:avLst/>
          </a:prstGeom>
        </p:spPr>
        <p:txBody>
          <a:bodyPr anchor="t" rtlCol="false" tIns="0" lIns="0" bIns="0" rIns="0">
            <a:spAutoFit/>
          </a:bodyPr>
          <a:lstStyle/>
          <a:p>
            <a:pPr algn="l" marL="0" indent="0" lvl="0">
              <a:lnSpc>
                <a:spcPts val="6885"/>
              </a:lnSpc>
              <a:spcBef>
                <a:spcPct val="0"/>
              </a:spcBef>
            </a:pPr>
            <a:r>
              <a:rPr lang="en-US" sz="7650">
                <a:solidFill>
                  <a:srgbClr val="000000"/>
                </a:solidFill>
                <a:latin typeface="Comic Sans"/>
                <a:ea typeface="Comic Sans"/>
                <a:cs typeface="Comic Sans"/>
                <a:sym typeface="Comic Sans"/>
              </a:rPr>
              <a:t>E.T Data Pipeline</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79C7FF"/>
        </a:solidFill>
      </p:bgPr>
    </p:bg>
    <p:spTree>
      <p:nvGrpSpPr>
        <p:cNvPr id="1" name=""/>
        <p:cNvGrpSpPr/>
        <p:nvPr/>
      </p:nvGrpSpPr>
      <p:grpSpPr>
        <a:xfrm>
          <a:off x="0" y="0"/>
          <a:ext cx="0" cy="0"/>
          <a:chOff x="0" y="0"/>
          <a:chExt cx="0" cy="0"/>
        </a:xfrm>
      </p:grpSpPr>
      <p:sp>
        <p:nvSpPr>
          <p:cNvPr name="TextBox 2" id="2"/>
          <p:cNvSpPr txBox="true"/>
          <p:nvPr/>
        </p:nvSpPr>
        <p:spPr>
          <a:xfrm rot="0">
            <a:off x="1035454" y="1019175"/>
            <a:ext cx="4288144" cy="2752725"/>
          </a:xfrm>
          <a:prstGeom prst="rect">
            <a:avLst/>
          </a:prstGeom>
        </p:spPr>
        <p:txBody>
          <a:bodyPr anchor="t" rtlCol="false" tIns="0" lIns="0" bIns="0" rIns="0">
            <a:spAutoFit/>
          </a:bodyPr>
          <a:lstStyle/>
          <a:p>
            <a:pPr algn="l" marL="0" indent="0" lvl="0">
              <a:lnSpc>
                <a:spcPts val="7264"/>
              </a:lnSpc>
            </a:pPr>
            <a:r>
              <a:rPr lang="en-US" sz="6053">
                <a:solidFill>
                  <a:srgbClr val="1F2447"/>
                </a:solidFill>
                <a:latin typeface="Lilita One"/>
                <a:ea typeface="Lilita One"/>
                <a:cs typeface="Lilita One"/>
                <a:sym typeface="Lilita One"/>
              </a:rPr>
              <a:t>TRACE COLLECTION PIPELINE</a:t>
            </a:r>
          </a:p>
        </p:txBody>
      </p:sp>
      <p:grpSp>
        <p:nvGrpSpPr>
          <p:cNvPr name="Group 3" id="3"/>
          <p:cNvGrpSpPr/>
          <p:nvPr/>
        </p:nvGrpSpPr>
        <p:grpSpPr>
          <a:xfrm rot="0">
            <a:off x="6373499" y="1786056"/>
            <a:ext cx="9623021" cy="2073474"/>
            <a:chOff x="0" y="0"/>
            <a:chExt cx="12830695" cy="2764632"/>
          </a:xfrm>
        </p:grpSpPr>
        <p:sp>
          <p:nvSpPr>
            <p:cNvPr name="TextBox 4" id="4"/>
            <p:cNvSpPr txBox="true"/>
            <p:nvPr/>
          </p:nvSpPr>
          <p:spPr>
            <a:xfrm rot="0">
              <a:off x="1503992" y="1619621"/>
              <a:ext cx="11326704" cy="1145011"/>
            </a:xfrm>
            <a:prstGeom prst="rect">
              <a:avLst/>
            </a:prstGeom>
          </p:spPr>
          <p:txBody>
            <a:bodyPr anchor="t" rtlCol="false" tIns="0" lIns="0" bIns="0" rIns="0">
              <a:spAutoFit/>
            </a:bodyPr>
            <a:lstStyle/>
            <a:p>
              <a:pPr algn="l" marL="0" indent="0" lvl="0">
                <a:lnSpc>
                  <a:spcPts val="3591"/>
                </a:lnSpc>
                <a:spcBef>
                  <a:spcPct val="0"/>
                </a:spcBef>
              </a:pPr>
              <a:r>
                <a:rPr lang="en-US" sz="2565">
                  <a:solidFill>
                    <a:srgbClr val="000000"/>
                  </a:solidFill>
                  <a:latin typeface="Comic Sans"/>
                  <a:ea typeface="Comic Sans"/>
                  <a:cs typeface="Comic Sans"/>
                  <a:sym typeface="Comic Sans"/>
                </a:rPr>
                <a:t>S</a:t>
              </a:r>
              <a:r>
                <a:rPr lang="en-US" sz="2565">
                  <a:solidFill>
                    <a:srgbClr val="000000"/>
                  </a:solidFill>
                  <a:latin typeface="Comic Sans"/>
                  <a:ea typeface="Comic Sans"/>
                  <a:cs typeface="Comic Sans"/>
                  <a:sym typeface="Comic Sans"/>
                </a:rPr>
                <a:t>tart with Python functions and common imports (e.g., pandas, matplotlib</a:t>
              </a:r>
            </a:p>
          </p:txBody>
        </p:sp>
        <p:sp>
          <p:nvSpPr>
            <p:cNvPr name="TextBox 5" id="5"/>
            <p:cNvSpPr txBox="true"/>
            <p:nvPr/>
          </p:nvSpPr>
          <p:spPr>
            <a:xfrm rot="0">
              <a:off x="1503992" y="0"/>
              <a:ext cx="11326704" cy="1524000"/>
            </a:xfrm>
            <a:prstGeom prst="rect">
              <a:avLst/>
            </a:prstGeom>
          </p:spPr>
          <p:txBody>
            <a:bodyPr anchor="t" rtlCol="false" tIns="0" lIns="0" bIns="0" rIns="0">
              <a:spAutoFit/>
            </a:bodyPr>
            <a:lstStyle/>
            <a:p>
              <a:pPr algn="l" marL="0" indent="0" lvl="0">
                <a:lnSpc>
                  <a:spcPts val="4559"/>
                </a:lnSpc>
              </a:pPr>
              <a:r>
                <a:rPr lang="en-US" b="true" sz="3799">
                  <a:solidFill>
                    <a:srgbClr val="000000"/>
                  </a:solidFill>
                  <a:latin typeface="Comic Sans Bold"/>
                  <a:ea typeface="Comic Sans Bold"/>
                  <a:cs typeface="Comic Sans Bold"/>
                  <a:sym typeface="Comic Sans Bold"/>
                </a:rPr>
                <a:t> Gener</a:t>
              </a:r>
              <a:r>
                <a:rPr lang="en-US" b="true" sz="3799" strike="noStrike">
                  <a:solidFill>
                    <a:srgbClr val="000000"/>
                  </a:solidFill>
                  <a:latin typeface="Comic Sans Bold"/>
                  <a:ea typeface="Comic Sans Bold"/>
                  <a:cs typeface="Comic Sans Bold"/>
                  <a:sym typeface="Comic Sans Bold"/>
                </a:rPr>
                <a:t>ate a large, diverse dataset of executable Python traces.</a:t>
              </a:r>
            </a:p>
          </p:txBody>
        </p:sp>
        <p:sp>
          <p:nvSpPr>
            <p:cNvPr name="TextBox 6" id="6"/>
            <p:cNvSpPr txBox="true"/>
            <p:nvPr/>
          </p:nvSpPr>
          <p:spPr>
            <a:xfrm rot="0">
              <a:off x="0" y="38100"/>
              <a:ext cx="910771" cy="762000"/>
            </a:xfrm>
            <a:prstGeom prst="rect">
              <a:avLst/>
            </a:prstGeom>
          </p:spPr>
          <p:txBody>
            <a:bodyPr anchor="t" rtlCol="false" tIns="0" lIns="0" bIns="0" rIns="0">
              <a:spAutoFit/>
            </a:bodyPr>
            <a:lstStyle/>
            <a:p>
              <a:pPr algn="l" marL="0" indent="0" lvl="0">
                <a:lnSpc>
                  <a:spcPts val="4559"/>
                </a:lnSpc>
              </a:pPr>
              <a:r>
                <a:rPr lang="en-US" b="true" sz="3799">
                  <a:solidFill>
                    <a:srgbClr val="000000"/>
                  </a:solidFill>
                  <a:latin typeface="Comic Sans Bold"/>
                  <a:ea typeface="Comic Sans Bold"/>
                  <a:cs typeface="Comic Sans Bold"/>
                  <a:sym typeface="Comic Sans Bold"/>
                </a:rPr>
                <a:t>01</a:t>
              </a:r>
            </a:p>
          </p:txBody>
        </p:sp>
      </p:grpSp>
      <p:grpSp>
        <p:nvGrpSpPr>
          <p:cNvPr name="Group 7" id="7"/>
          <p:cNvGrpSpPr/>
          <p:nvPr/>
        </p:nvGrpSpPr>
        <p:grpSpPr>
          <a:xfrm rot="0">
            <a:off x="6373499" y="4809261"/>
            <a:ext cx="9623021" cy="2661232"/>
            <a:chOff x="0" y="0"/>
            <a:chExt cx="12830695" cy="3548309"/>
          </a:xfrm>
        </p:grpSpPr>
        <p:sp>
          <p:nvSpPr>
            <p:cNvPr name="TextBox 8" id="8"/>
            <p:cNvSpPr txBox="true"/>
            <p:nvPr/>
          </p:nvSpPr>
          <p:spPr>
            <a:xfrm rot="0">
              <a:off x="1503992" y="797594"/>
              <a:ext cx="11326704" cy="2750715"/>
            </a:xfrm>
            <a:prstGeom prst="rect">
              <a:avLst/>
            </a:prstGeom>
          </p:spPr>
          <p:txBody>
            <a:bodyPr anchor="t" rtlCol="false" tIns="0" lIns="0" bIns="0" rIns="0">
              <a:spAutoFit/>
            </a:bodyPr>
            <a:lstStyle/>
            <a:p>
              <a:pPr algn="l" marL="640274" indent="-320137" lvl="1">
                <a:lnSpc>
                  <a:spcPts val="4151"/>
                </a:lnSpc>
                <a:spcBef>
                  <a:spcPct val="0"/>
                </a:spcBef>
                <a:buFont typeface="Arial"/>
                <a:buChar char="•"/>
              </a:pPr>
              <a:r>
                <a:rPr lang="en-US" sz="2965">
                  <a:solidFill>
                    <a:srgbClr val="000000"/>
                  </a:solidFill>
                  <a:latin typeface="Comic Sans"/>
                  <a:ea typeface="Comic Sans"/>
                  <a:cs typeface="Comic Sans"/>
                  <a:sym typeface="Comic Sans"/>
                </a:rPr>
                <a:t>Discar</a:t>
              </a:r>
              <a:r>
                <a:rPr lang="en-US" sz="2965">
                  <a:solidFill>
                    <a:srgbClr val="000000"/>
                  </a:solidFill>
                  <a:latin typeface="Comic Sans"/>
                  <a:ea typeface="Comic Sans"/>
                  <a:cs typeface="Comic Sans"/>
                  <a:sym typeface="Comic Sans"/>
                </a:rPr>
                <a:t>d inputs causing runtime errors.</a:t>
              </a:r>
            </a:p>
            <a:p>
              <a:pPr algn="l" marL="640274" indent="-320137" lvl="1">
                <a:lnSpc>
                  <a:spcPts val="4151"/>
                </a:lnSpc>
                <a:spcBef>
                  <a:spcPct val="0"/>
                </a:spcBef>
                <a:buFont typeface="Arial"/>
                <a:buChar char="•"/>
              </a:pPr>
              <a:r>
                <a:rPr lang="en-US" sz="2965">
                  <a:solidFill>
                    <a:srgbClr val="000000"/>
                  </a:solidFill>
                  <a:latin typeface="Comic Sans"/>
                  <a:ea typeface="Comic Sans"/>
                  <a:cs typeface="Comic Sans"/>
                  <a:sym typeface="Comic Sans"/>
                </a:rPr>
                <a:t>Measure line coverage and test similarity to ensure quality.</a:t>
              </a:r>
            </a:p>
            <a:p>
              <a:pPr algn="l" marL="0" indent="0" lvl="0">
                <a:lnSpc>
                  <a:spcPts val="4151"/>
                </a:lnSpc>
                <a:spcBef>
                  <a:spcPct val="0"/>
                </a:spcBef>
              </a:pPr>
            </a:p>
          </p:txBody>
        </p:sp>
        <p:sp>
          <p:nvSpPr>
            <p:cNvPr name="TextBox 9" id="9"/>
            <p:cNvSpPr txBox="true"/>
            <p:nvPr/>
          </p:nvSpPr>
          <p:spPr>
            <a:xfrm rot="0">
              <a:off x="1503992" y="0"/>
              <a:ext cx="11326704" cy="850900"/>
            </a:xfrm>
            <a:prstGeom prst="rect">
              <a:avLst/>
            </a:prstGeom>
          </p:spPr>
          <p:txBody>
            <a:bodyPr anchor="t" rtlCol="false" tIns="0" lIns="0" bIns="0" rIns="0">
              <a:spAutoFit/>
            </a:bodyPr>
            <a:lstStyle/>
            <a:p>
              <a:pPr algn="l" marL="0" indent="0" lvl="0">
                <a:lnSpc>
                  <a:spcPts val="5039"/>
                </a:lnSpc>
              </a:pPr>
              <a:r>
                <a:rPr lang="en-US" b="true" sz="4199" strike="noStrike">
                  <a:solidFill>
                    <a:srgbClr val="000000"/>
                  </a:solidFill>
                  <a:latin typeface="Comic Sans Bold"/>
                  <a:ea typeface="Comic Sans Bold"/>
                  <a:cs typeface="Comic Sans Bold"/>
                  <a:sym typeface="Comic Sans Bold"/>
                </a:rPr>
                <a:t>Filters:</a:t>
              </a:r>
            </a:p>
          </p:txBody>
        </p:sp>
        <p:sp>
          <p:nvSpPr>
            <p:cNvPr name="TextBox 10" id="10"/>
            <p:cNvSpPr txBox="true"/>
            <p:nvPr/>
          </p:nvSpPr>
          <p:spPr>
            <a:xfrm rot="0">
              <a:off x="0" y="38100"/>
              <a:ext cx="910771" cy="850900"/>
            </a:xfrm>
            <a:prstGeom prst="rect">
              <a:avLst/>
            </a:prstGeom>
          </p:spPr>
          <p:txBody>
            <a:bodyPr anchor="t" rtlCol="false" tIns="0" lIns="0" bIns="0" rIns="0">
              <a:spAutoFit/>
            </a:bodyPr>
            <a:lstStyle/>
            <a:p>
              <a:pPr algn="l" marL="0" indent="0" lvl="0">
                <a:lnSpc>
                  <a:spcPts val="5039"/>
                </a:lnSpc>
              </a:pPr>
              <a:r>
                <a:rPr lang="en-US" b="true" sz="4199">
                  <a:solidFill>
                    <a:srgbClr val="000000"/>
                  </a:solidFill>
                  <a:latin typeface="Comic Sans Bold"/>
                  <a:ea typeface="Comic Sans Bold"/>
                  <a:cs typeface="Comic Sans Bold"/>
                  <a:sym typeface="Comic Sans Bold"/>
                </a:rPr>
                <a:t>02</a:t>
              </a:r>
            </a:p>
          </p:txBody>
        </p:sp>
      </p:grpSp>
      <p:grpSp>
        <p:nvGrpSpPr>
          <p:cNvPr name="Group 11" id="11"/>
          <p:cNvGrpSpPr/>
          <p:nvPr/>
        </p:nvGrpSpPr>
        <p:grpSpPr>
          <a:xfrm rot="0">
            <a:off x="6373499" y="7874689"/>
            <a:ext cx="9623021" cy="1613482"/>
            <a:chOff x="0" y="0"/>
            <a:chExt cx="12830695" cy="2151309"/>
          </a:xfrm>
        </p:grpSpPr>
        <p:sp>
          <p:nvSpPr>
            <p:cNvPr name="TextBox 12" id="12"/>
            <p:cNvSpPr txBox="true"/>
            <p:nvPr/>
          </p:nvSpPr>
          <p:spPr>
            <a:xfrm rot="0">
              <a:off x="1503992" y="797594"/>
              <a:ext cx="11326704" cy="1353715"/>
            </a:xfrm>
            <a:prstGeom prst="rect">
              <a:avLst/>
            </a:prstGeom>
          </p:spPr>
          <p:txBody>
            <a:bodyPr anchor="t" rtlCol="false" tIns="0" lIns="0" bIns="0" rIns="0">
              <a:spAutoFit/>
            </a:bodyPr>
            <a:lstStyle/>
            <a:p>
              <a:pPr algn="l" marL="0" indent="0" lvl="0">
                <a:lnSpc>
                  <a:spcPts val="4151"/>
                </a:lnSpc>
                <a:spcBef>
                  <a:spcPct val="0"/>
                </a:spcBef>
              </a:pPr>
              <a:r>
                <a:rPr lang="en-US" sz="2965">
                  <a:solidFill>
                    <a:srgbClr val="000000"/>
                  </a:solidFill>
                  <a:latin typeface="Comic Sans"/>
                  <a:ea typeface="Comic Sans"/>
                  <a:cs typeface="Comic Sans"/>
                  <a:sym typeface="Comic Sans"/>
                </a:rPr>
                <a:t>300K</a:t>
              </a:r>
              <a:r>
                <a:rPr lang="en-US" sz="2965">
                  <a:solidFill>
                    <a:srgbClr val="000000"/>
                  </a:solidFill>
                  <a:latin typeface="Comic Sans"/>
                  <a:ea typeface="Comic Sans"/>
                  <a:cs typeface="Comic Sans"/>
                  <a:sym typeface="Comic Sans"/>
                </a:rPr>
                <a:t> functions with avg. 6 inputs each → over 1.5M executions.</a:t>
              </a:r>
            </a:p>
          </p:txBody>
        </p:sp>
        <p:sp>
          <p:nvSpPr>
            <p:cNvPr name="TextBox 13" id="13"/>
            <p:cNvSpPr txBox="true"/>
            <p:nvPr/>
          </p:nvSpPr>
          <p:spPr>
            <a:xfrm rot="0">
              <a:off x="1503992" y="0"/>
              <a:ext cx="11326704" cy="850900"/>
            </a:xfrm>
            <a:prstGeom prst="rect">
              <a:avLst/>
            </a:prstGeom>
          </p:spPr>
          <p:txBody>
            <a:bodyPr anchor="t" rtlCol="false" tIns="0" lIns="0" bIns="0" rIns="0">
              <a:spAutoFit/>
            </a:bodyPr>
            <a:lstStyle/>
            <a:p>
              <a:pPr algn="l" marL="0" indent="0" lvl="0">
                <a:lnSpc>
                  <a:spcPts val="5039"/>
                </a:lnSpc>
              </a:pPr>
              <a:r>
                <a:rPr lang="en-US" b="true" sz="4199">
                  <a:solidFill>
                    <a:srgbClr val="000000"/>
                  </a:solidFill>
                  <a:latin typeface="Comic Sans Bold"/>
                  <a:ea typeface="Comic Sans Bold"/>
                  <a:cs typeface="Comic Sans Bold"/>
                  <a:sym typeface="Comic Sans Bold"/>
                </a:rPr>
                <a:t>Outcom</a:t>
              </a:r>
              <a:r>
                <a:rPr lang="en-US" b="true" sz="4199" strike="noStrike">
                  <a:solidFill>
                    <a:srgbClr val="000000"/>
                  </a:solidFill>
                  <a:latin typeface="Comic Sans Bold"/>
                  <a:ea typeface="Comic Sans Bold"/>
                  <a:cs typeface="Comic Sans Bold"/>
                  <a:sym typeface="Comic Sans Bold"/>
                </a:rPr>
                <a:t>e:</a:t>
              </a:r>
            </a:p>
          </p:txBody>
        </p:sp>
        <p:sp>
          <p:nvSpPr>
            <p:cNvPr name="TextBox 14" id="14"/>
            <p:cNvSpPr txBox="true"/>
            <p:nvPr/>
          </p:nvSpPr>
          <p:spPr>
            <a:xfrm rot="0">
              <a:off x="0" y="38100"/>
              <a:ext cx="910771" cy="850900"/>
            </a:xfrm>
            <a:prstGeom prst="rect">
              <a:avLst/>
            </a:prstGeom>
          </p:spPr>
          <p:txBody>
            <a:bodyPr anchor="t" rtlCol="false" tIns="0" lIns="0" bIns="0" rIns="0">
              <a:spAutoFit/>
            </a:bodyPr>
            <a:lstStyle/>
            <a:p>
              <a:pPr algn="l" marL="0" indent="0" lvl="0">
                <a:lnSpc>
                  <a:spcPts val="5039"/>
                </a:lnSpc>
              </a:pPr>
              <a:r>
                <a:rPr lang="en-US" b="true" sz="4199">
                  <a:solidFill>
                    <a:srgbClr val="000000"/>
                  </a:solidFill>
                  <a:latin typeface="Comic Sans Bold"/>
                  <a:ea typeface="Comic Sans Bold"/>
                  <a:cs typeface="Comic Sans Bold"/>
                  <a:sym typeface="Comic Sans Bold"/>
                </a:rPr>
                <a:t>03</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79C7FF"/>
        </a:solidFill>
      </p:bgPr>
    </p:bg>
    <p:spTree>
      <p:nvGrpSpPr>
        <p:cNvPr id="1" name=""/>
        <p:cNvGrpSpPr/>
        <p:nvPr/>
      </p:nvGrpSpPr>
      <p:grpSpPr>
        <a:xfrm>
          <a:off x="0" y="0"/>
          <a:ext cx="0" cy="0"/>
          <a:chOff x="0" y="0"/>
          <a:chExt cx="0" cy="0"/>
        </a:xfrm>
      </p:grpSpPr>
      <p:sp>
        <p:nvSpPr>
          <p:cNvPr name="AutoShape 2" id="2"/>
          <p:cNvSpPr/>
          <p:nvPr/>
        </p:nvSpPr>
        <p:spPr>
          <a:xfrm>
            <a:off x="1447800" y="2946587"/>
            <a:ext cx="15318116" cy="0"/>
          </a:xfrm>
          <a:prstGeom prst="line">
            <a:avLst/>
          </a:prstGeom>
          <a:ln cap="flat" w="209550">
            <a:solidFill>
              <a:srgbClr val="FFFFFF"/>
            </a:solidFill>
            <a:prstDash val="solid"/>
            <a:headEnd type="none" len="sm" w="sm"/>
            <a:tailEnd type="none" len="sm" w="sm"/>
          </a:ln>
        </p:spPr>
      </p:sp>
      <p:sp>
        <p:nvSpPr>
          <p:cNvPr name="Freeform 3" id="3"/>
          <p:cNvSpPr/>
          <p:nvPr/>
        </p:nvSpPr>
        <p:spPr>
          <a:xfrm flipH="false" flipV="false" rot="0">
            <a:off x="9144000" y="3395939"/>
            <a:ext cx="7909446" cy="6748821"/>
          </a:xfrm>
          <a:custGeom>
            <a:avLst/>
            <a:gdLst/>
            <a:ahLst/>
            <a:cxnLst/>
            <a:rect r="r" b="b" t="t" l="l"/>
            <a:pathLst>
              <a:path h="6748821" w="7909446">
                <a:moveTo>
                  <a:pt x="0" y="0"/>
                </a:moveTo>
                <a:lnTo>
                  <a:pt x="7909446" y="0"/>
                </a:lnTo>
                <a:lnTo>
                  <a:pt x="7909446" y="6748821"/>
                </a:lnTo>
                <a:lnTo>
                  <a:pt x="0" y="6748821"/>
                </a:lnTo>
                <a:lnTo>
                  <a:pt x="0" y="0"/>
                </a:lnTo>
                <a:close/>
              </a:path>
            </a:pathLst>
          </a:custGeom>
          <a:blipFill>
            <a:blip r:embed="rId2"/>
            <a:stretch>
              <a:fillRect l="0" t="0" r="0" b="0"/>
            </a:stretch>
          </a:blipFill>
        </p:spPr>
      </p:sp>
      <p:sp>
        <p:nvSpPr>
          <p:cNvPr name="TextBox 4" id="4"/>
          <p:cNvSpPr txBox="true"/>
          <p:nvPr/>
        </p:nvSpPr>
        <p:spPr>
          <a:xfrm rot="0">
            <a:off x="1522084" y="930796"/>
            <a:ext cx="11745875" cy="1485270"/>
          </a:xfrm>
          <a:prstGeom prst="rect">
            <a:avLst/>
          </a:prstGeom>
        </p:spPr>
        <p:txBody>
          <a:bodyPr anchor="t" rtlCol="false" tIns="0" lIns="0" bIns="0" rIns="0">
            <a:spAutoFit/>
          </a:bodyPr>
          <a:lstStyle/>
          <a:p>
            <a:pPr algn="l" marL="0" indent="0" lvl="0">
              <a:lnSpc>
                <a:spcPts val="5720"/>
              </a:lnSpc>
            </a:pPr>
            <a:r>
              <a:rPr lang="en-US" sz="5200">
                <a:solidFill>
                  <a:srgbClr val="1F2447"/>
                </a:solidFill>
                <a:latin typeface="Lilita One"/>
                <a:ea typeface="Lilita One"/>
                <a:cs typeface="Lilita One"/>
                <a:sym typeface="Lilita One"/>
              </a:rPr>
              <a:t>EXECUTION TRACING </a:t>
            </a:r>
            <a:r>
              <a:rPr lang="en-US" sz="5200">
                <a:solidFill>
                  <a:srgbClr val="1F2447"/>
                </a:solidFill>
                <a:latin typeface="Lilita One"/>
                <a:ea typeface="Lilita One"/>
                <a:cs typeface="Lilita One"/>
                <a:sym typeface="Lilita One"/>
              </a:rPr>
              <a:t>ENGINE: BUILT USING PYTHON’S SYS.SETTRACE</a:t>
            </a:r>
          </a:p>
        </p:txBody>
      </p:sp>
      <p:grpSp>
        <p:nvGrpSpPr>
          <p:cNvPr name="Group 5" id="5"/>
          <p:cNvGrpSpPr/>
          <p:nvPr/>
        </p:nvGrpSpPr>
        <p:grpSpPr>
          <a:xfrm rot="0">
            <a:off x="1028700" y="2946587"/>
            <a:ext cx="6872784" cy="1496588"/>
            <a:chOff x="0" y="0"/>
            <a:chExt cx="9163711" cy="1995450"/>
          </a:xfrm>
        </p:grpSpPr>
        <p:sp>
          <p:nvSpPr>
            <p:cNvPr name="TextBox 6" id="6"/>
            <p:cNvSpPr txBox="true"/>
            <p:nvPr/>
          </p:nvSpPr>
          <p:spPr>
            <a:xfrm rot="0">
              <a:off x="1734732" y="0"/>
              <a:ext cx="7428980" cy="723900"/>
            </a:xfrm>
            <a:prstGeom prst="rect">
              <a:avLst/>
            </a:prstGeom>
          </p:spPr>
          <p:txBody>
            <a:bodyPr anchor="t" rtlCol="false" tIns="0" lIns="0" bIns="0" rIns="0">
              <a:spAutoFit/>
            </a:bodyPr>
            <a:lstStyle/>
            <a:p>
              <a:pPr algn="l" marL="0" indent="0" lvl="0">
                <a:lnSpc>
                  <a:spcPts val="4319"/>
                </a:lnSpc>
              </a:pPr>
              <a:r>
                <a:rPr lang="en-US" b="true" sz="3599">
                  <a:solidFill>
                    <a:srgbClr val="000000"/>
                  </a:solidFill>
                  <a:latin typeface="Comic Sans Bold"/>
                  <a:ea typeface="Comic Sans Bold"/>
                  <a:cs typeface="Comic Sans Bold"/>
                  <a:sym typeface="Comic Sans Bold"/>
                </a:rPr>
                <a:t>Captures Events</a:t>
              </a:r>
            </a:p>
          </p:txBody>
        </p:sp>
        <p:sp>
          <p:nvSpPr>
            <p:cNvPr name="TextBox 7" id="7"/>
            <p:cNvSpPr txBox="true"/>
            <p:nvPr/>
          </p:nvSpPr>
          <p:spPr>
            <a:xfrm rot="0">
              <a:off x="1734732" y="807153"/>
              <a:ext cx="7428980" cy="1188297"/>
            </a:xfrm>
            <a:prstGeom prst="rect">
              <a:avLst/>
            </a:prstGeom>
          </p:spPr>
          <p:txBody>
            <a:bodyPr anchor="t" rtlCol="false" tIns="0" lIns="0" bIns="0" rIns="0">
              <a:spAutoFit/>
            </a:bodyPr>
            <a:lstStyle/>
            <a:p>
              <a:pPr algn="l" marL="0" indent="0" lvl="0">
                <a:lnSpc>
                  <a:spcPts val="3639"/>
                </a:lnSpc>
              </a:pPr>
              <a:r>
                <a:rPr lang="en-US" sz="2599">
                  <a:solidFill>
                    <a:srgbClr val="000000"/>
                  </a:solidFill>
                  <a:latin typeface="Comic Sans"/>
                  <a:ea typeface="Comic Sans"/>
                  <a:cs typeface="Comic Sans"/>
                  <a:sym typeface="Comic Sans"/>
                  <a:hlinkClick r:id="rId3" tooltip="https://docs.google.com/spreadsheets/d/1DUF2isFWsqVSYhbaACYtbgcLi_YjDqpE3GLQIVgkKQg/edit#gid=69851113"/>
                </a:rPr>
                <a:t>Fu</a:t>
              </a:r>
              <a:r>
                <a:rPr lang="en-US" sz="2599">
                  <a:solidFill>
                    <a:srgbClr val="000000"/>
                  </a:solidFill>
                  <a:latin typeface="Comic Sans"/>
                  <a:ea typeface="Comic Sans"/>
                  <a:cs typeface="Comic Sans"/>
                  <a:sym typeface="Comic Sans"/>
                  <a:hlinkClick r:id="rId4" tooltip="https://docs.google.com/spreadsheets/d/1DUF2isFWsqVSYhbaACYtbgcLi_YjDqpE3GLQIVgkKQg/edit#gid=69851113"/>
                </a:rPr>
                <a:t>nction calls, returns, lines, and bytecode instructions.</a:t>
              </a:r>
            </a:p>
          </p:txBody>
        </p:sp>
        <p:sp>
          <p:nvSpPr>
            <p:cNvPr name="TextBox 8" id="8"/>
            <p:cNvSpPr txBox="true"/>
            <p:nvPr/>
          </p:nvSpPr>
          <p:spPr>
            <a:xfrm rot="0">
              <a:off x="0" y="47625"/>
              <a:ext cx="1457179" cy="881168"/>
            </a:xfrm>
            <a:prstGeom prst="rect">
              <a:avLst/>
            </a:prstGeom>
          </p:spPr>
          <p:txBody>
            <a:bodyPr anchor="t" rtlCol="false" tIns="0" lIns="0" bIns="0" rIns="0">
              <a:spAutoFit/>
            </a:bodyPr>
            <a:lstStyle/>
            <a:p>
              <a:pPr algn="l">
                <a:lnSpc>
                  <a:spcPts val="5059"/>
                </a:lnSpc>
              </a:pPr>
              <a:r>
                <a:rPr lang="en-US" b="true" sz="4599">
                  <a:solidFill>
                    <a:srgbClr val="000000"/>
                  </a:solidFill>
                  <a:latin typeface="Comic Sans Bold"/>
                  <a:ea typeface="Comic Sans Bold"/>
                  <a:cs typeface="Comic Sans Bold"/>
                  <a:sym typeface="Comic Sans Bold"/>
                </a:rPr>
                <a:t>01</a:t>
              </a:r>
            </a:p>
          </p:txBody>
        </p:sp>
      </p:grpSp>
      <p:grpSp>
        <p:nvGrpSpPr>
          <p:cNvPr name="Group 9" id="9"/>
          <p:cNvGrpSpPr/>
          <p:nvPr/>
        </p:nvGrpSpPr>
        <p:grpSpPr>
          <a:xfrm rot="0">
            <a:off x="1028700" y="4606661"/>
            <a:ext cx="6872784" cy="2775478"/>
            <a:chOff x="0" y="0"/>
            <a:chExt cx="9163711" cy="3700637"/>
          </a:xfrm>
        </p:grpSpPr>
        <p:sp>
          <p:nvSpPr>
            <p:cNvPr name="TextBox 10" id="10"/>
            <p:cNvSpPr txBox="true"/>
            <p:nvPr/>
          </p:nvSpPr>
          <p:spPr>
            <a:xfrm rot="0">
              <a:off x="0" y="47625"/>
              <a:ext cx="1457179" cy="854075"/>
            </a:xfrm>
            <a:prstGeom prst="rect">
              <a:avLst/>
            </a:prstGeom>
          </p:spPr>
          <p:txBody>
            <a:bodyPr anchor="t" rtlCol="false" tIns="0" lIns="0" bIns="0" rIns="0">
              <a:spAutoFit/>
            </a:bodyPr>
            <a:lstStyle/>
            <a:p>
              <a:pPr algn="l">
                <a:lnSpc>
                  <a:spcPts val="4949"/>
                </a:lnSpc>
              </a:pPr>
              <a:r>
                <a:rPr lang="en-US" b="true" sz="4499">
                  <a:solidFill>
                    <a:srgbClr val="000000"/>
                  </a:solidFill>
                  <a:latin typeface="Comic Sans Bold"/>
                  <a:ea typeface="Comic Sans Bold"/>
                  <a:cs typeface="Comic Sans Bold"/>
                  <a:sym typeface="Comic Sans Bold"/>
                </a:rPr>
                <a:t>02</a:t>
              </a:r>
            </a:p>
          </p:txBody>
        </p:sp>
        <p:sp>
          <p:nvSpPr>
            <p:cNvPr name="TextBox 11" id="11"/>
            <p:cNvSpPr txBox="true"/>
            <p:nvPr/>
          </p:nvSpPr>
          <p:spPr>
            <a:xfrm rot="0">
              <a:off x="1734732" y="9525"/>
              <a:ext cx="7428980" cy="688975"/>
            </a:xfrm>
            <a:prstGeom prst="rect">
              <a:avLst/>
            </a:prstGeom>
          </p:spPr>
          <p:txBody>
            <a:bodyPr anchor="t" rtlCol="false" tIns="0" lIns="0" bIns="0" rIns="0">
              <a:spAutoFit/>
            </a:bodyPr>
            <a:lstStyle/>
            <a:p>
              <a:pPr algn="l" marL="0" indent="0" lvl="0">
                <a:lnSpc>
                  <a:spcPts val="4199"/>
                </a:lnSpc>
              </a:pPr>
              <a:r>
                <a:rPr lang="en-US" b="true" sz="3499">
                  <a:solidFill>
                    <a:srgbClr val="000000"/>
                  </a:solidFill>
                  <a:latin typeface="Comic Sans Bold"/>
                  <a:ea typeface="Comic Sans Bold"/>
                  <a:cs typeface="Comic Sans Bold"/>
                  <a:sym typeface="Comic Sans Bold"/>
                </a:rPr>
                <a:t>St</a:t>
              </a:r>
              <a:r>
                <a:rPr lang="en-US" b="true" sz="3499" strike="noStrike">
                  <a:solidFill>
                    <a:srgbClr val="000000"/>
                  </a:solidFill>
                  <a:latin typeface="Comic Sans Bold"/>
                  <a:ea typeface="Comic Sans Bold"/>
                  <a:cs typeface="Comic Sans Bold"/>
                  <a:sym typeface="Comic Sans Bold"/>
                </a:rPr>
                <a:t>eps into:</a:t>
              </a:r>
            </a:p>
          </p:txBody>
        </p:sp>
        <p:sp>
          <p:nvSpPr>
            <p:cNvPr name="TextBox 12" id="12"/>
            <p:cNvSpPr txBox="true"/>
            <p:nvPr/>
          </p:nvSpPr>
          <p:spPr>
            <a:xfrm rot="0">
              <a:off x="1734732" y="826203"/>
              <a:ext cx="7428980" cy="2874434"/>
            </a:xfrm>
            <a:prstGeom prst="rect">
              <a:avLst/>
            </a:prstGeom>
          </p:spPr>
          <p:txBody>
            <a:bodyPr anchor="t" rtlCol="false" tIns="0" lIns="0" bIns="0" rIns="0">
              <a:spAutoFit/>
            </a:bodyPr>
            <a:lstStyle/>
            <a:p>
              <a:pPr algn="l" marL="539748" indent="-269874" lvl="1">
                <a:lnSpc>
                  <a:spcPts val="3499"/>
                </a:lnSpc>
                <a:buFont typeface="Arial"/>
                <a:buChar char="•"/>
              </a:pPr>
              <a:r>
                <a:rPr lang="en-US" sz="2499">
                  <a:solidFill>
                    <a:srgbClr val="000000"/>
                  </a:solidFill>
                  <a:latin typeface="Comic Sans"/>
                  <a:ea typeface="Comic Sans"/>
                  <a:cs typeface="Comic Sans"/>
                  <a:sym typeface="Comic Sans"/>
                  <a:hlinkClick r:id="rId5" tooltip="https://docs.google.com/spreadsheets/d/1DUF2isFWsqVSYhbaACYtbgcLi_YjDqpE3GLQIVgkKQg/edit#gid=69851113"/>
                </a:rPr>
                <a:t>User-defi</a:t>
              </a:r>
              <a:r>
                <a:rPr lang="en-US" sz="2499">
                  <a:solidFill>
                    <a:srgbClr val="000000"/>
                  </a:solidFill>
                  <a:latin typeface="Comic Sans"/>
                  <a:ea typeface="Comic Sans"/>
                  <a:cs typeface="Comic Sans"/>
                  <a:sym typeface="Comic Sans"/>
                  <a:hlinkClick r:id="rId6" tooltip="https://docs.google.com/spreadsheets/d/1DUF2isFWsqVSYhbaACYtbgcLi_YjDqpE3GLQIVgkKQg/edit#gid=69851113"/>
                </a:rPr>
                <a:t>ned auxiliary functions (same file).</a:t>
              </a:r>
            </a:p>
            <a:p>
              <a:pPr algn="l" marL="539748" indent="-269874" lvl="1">
                <a:lnSpc>
                  <a:spcPts val="3499"/>
                </a:lnSpc>
                <a:buFont typeface="Arial"/>
                <a:buChar char="•"/>
              </a:pPr>
              <a:r>
                <a:rPr lang="en-US" sz="2499">
                  <a:solidFill>
                    <a:srgbClr val="000000"/>
                  </a:solidFill>
                  <a:latin typeface="Comic Sans"/>
                  <a:ea typeface="Comic Sans"/>
                  <a:cs typeface="Comic Sans"/>
                  <a:sym typeface="Comic Sans"/>
                  <a:hlinkClick r:id="rId7" tooltip="https://docs.google.com/spreadsheets/d/1DUF2isFWsqVSYhbaACYtbgcLi_YjDqpE3GLQIVgkKQg/edit#gid=69851113"/>
                </a:rPr>
                <a:t>Ignores external modules and C traces to avoid noise.</a:t>
              </a:r>
            </a:p>
            <a:p>
              <a:pPr algn="l" marL="0" indent="0" lvl="0">
                <a:lnSpc>
                  <a:spcPts val="3499"/>
                </a:lnSpc>
              </a:pPr>
            </a:p>
          </p:txBody>
        </p:sp>
      </p:grpSp>
      <p:grpSp>
        <p:nvGrpSpPr>
          <p:cNvPr name="Group 13" id="13"/>
          <p:cNvGrpSpPr/>
          <p:nvPr/>
        </p:nvGrpSpPr>
        <p:grpSpPr>
          <a:xfrm rot="0">
            <a:off x="1028700" y="7063954"/>
            <a:ext cx="6872784" cy="1496588"/>
            <a:chOff x="0" y="0"/>
            <a:chExt cx="9163711" cy="1995450"/>
          </a:xfrm>
        </p:grpSpPr>
        <p:sp>
          <p:nvSpPr>
            <p:cNvPr name="TextBox 14" id="14"/>
            <p:cNvSpPr txBox="true"/>
            <p:nvPr/>
          </p:nvSpPr>
          <p:spPr>
            <a:xfrm rot="0">
              <a:off x="1734732" y="0"/>
              <a:ext cx="7428980" cy="723900"/>
            </a:xfrm>
            <a:prstGeom prst="rect">
              <a:avLst/>
            </a:prstGeom>
          </p:spPr>
          <p:txBody>
            <a:bodyPr anchor="t" rtlCol="false" tIns="0" lIns="0" bIns="0" rIns="0">
              <a:spAutoFit/>
            </a:bodyPr>
            <a:lstStyle/>
            <a:p>
              <a:pPr algn="l" marL="0" indent="0" lvl="0">
                <a:lnSpc>
                  <a:spcPts val="4319"/>
                </a:lnSpc>
              </a:pPr>
              <a:r>
                <a:rPr lang="en-US" b="true" sz="3599">
                  <a:solidFill>
                    <a:srgbClr val="000000"/>
                  </a:solidFill>
                  <a:latin typeface="Comic Sans Bold"/>
                  <a:ea typeface="Comic Sans Bold"/>
                  <a:cs typeface="Comic Sans Bold"/>
                  <a:sym typeface="Comic Sans Bold"/>
                </a:rPr>
                <a:t>Also Captures</a:t>
              </a:r>
            </a:p>
          </p:txBody>
        </p:sp>
        <p:sp>
          <p:nvSpPr>
            <p:cNvPr name="TextBox 15" id="15"/>
            <p:cNvSpPr txBox="true"/>
            <p:nvPr/>
          </p:nvSpPr>
          <p:spPr>
            <a:xfrm rot="0">
              <a:off x="1734732" y="807153"/>
              <a:ext cx="7428980" cy="1188297"/>
            </a:xfrm>
            <a:prstGeom prst="rect">
              <a:avLst/>
            </a:prstGeom>
          </p:spPr>
          <p:txBody>
            <a:bodyPr anchor="t" rtlCol="false" tIns="0" lIns="0" bIns="0" rIns="0">
              <a:spAutoFit/>
            </a:bodyPr>
            <a:lstStyle/>
            <a:p>
              <a:pPr algn="l" marL="0" indent="0" lvl="0">
                <a:lnSpc>
                  <a:spcPts val="3639"/>
                </a:lnSpc>
              </a:pPr>
              <a:r>
                <a:rPr lang="en-US" sz="2599">
                  <a:solidFill>
                    <a:srgbClr val="000000"/>
                  </a:solidFill>
                  <a:latin typeface="Comic Sans"/>
                  <a:ea typeface="Comic Sans"/>
                  <a:cs typeface="Comic Sans"/>
                  <a:sym typeface="Comic Sans"/>
                  <a:hlinkClick r:id="rId8" tooltip="https://docs.google.com/spreadsheets/d/1DUF2isFWsqVSYhbaACYtbgcLi_YjDqpE3GLQIVgkKQg/edit#gid=69851113"/>
                </a:rPr>
                <a:t>G</a:t>
              </a:r>
              <a:r>
                <a:rPr lang="en-US" sz="2599">
                  <a:solidFill>
                    <a:srgbClr val="000000"/>
                  </a:solidFill>
                  <a:latin typeface="Comic Sans"/>
                  <a:ea typeface="Comic Sans"/>
                  <a:cs typeface="Comic Sans"/>
                  <a:sym typeface="Comic Sans"/>
                  <a:hlinkClick r:id="rId9" tooltip="https://docs.google.com/spreadsheets/d/1DUF2isFWsqVSYhbaACYtbgcLi_YjDqpE3GLQIVgkKQg/edit#gid=69851113"/>
                </a:rPr>
                <a:t>lobal variables, stack state, and opcode-level changes.</a:t>
              </a:r>
            </a:p>
          </p:txBody>
        </p:sp>
        <p:sp>
          <p:nvSpPr>
            <p:cNvPr name="TextBox 16" id="16"/>
            <p:cNvSpPr txBox="true"/>
            <p:nvPr/>
          </p:nvSpPr>
          <p:spPr>
            <a:xfrm rot="0">
              <a:off x="0" y="47625"/>
              <a:ext cx="1457179" cy="881168"/>
            </a:xfrm>
            <a:prstGeom prst="rect">
              <a:avLst/>
            </a:prstGeom>
          </p:spPr>
          <p:txBody>
            <a:bodyPr anchor="t" rtlCol="false" tIns="0" lIns="0" bIns="0" rIns="0">
              <a:spAutoFit/>
            </a:bodyPr>
            <a:lstStyle/>
            <a:p>
              <a:pPr algn="l">
                <a:lnSpc>
                  <a:spcPts val="5059"/>
                </a:lnSpc>
              </a:pPr>
              <a:r>
                <a:rPr lang="en-US" b="true" sz="4599">
                  <a:solidFill>
                    <a:srgbClr val="000000"/>
                  </a:solidFill>
                  <a:latin typeface="Comic Sans Bold"/>
                  <a:ea typeface="Comic Sans Bold"/>
                  <a:cs typeface="Comic Sans Bold"/>
                  <a:sym typeface="Comic Sans Bold"/>
                </a:rPr>
                <a:t>03</a:t>
              </a:r>
            </a:p>
          </p:txBody>
        </p:sp>
      </p:grpSp>
      <p:grpSp>
        <p:nvGrpSpPr>
          <p:cNvPr name="Group 17" id="17"/>
          <p:cNvGrpSpPr/>
          <p:nvPr/>
        </p:nvGrpSpPr>
        <p:grpSpPr>
          <a:xfrm rot="0">
            <a:off x="1028700" y="8683732"/>
            <a:ext cx="6872784" cy="1461028"/>
            <a:chOff x="0" y="0"/>
            <a:chExt cx="9163711" cy="1948037"/>
          </a:xfrm>
        </p:grpSpPr>
        <p:sp>
          <p:nvSpPr>
            <p:cNvPr name="TextBox 18" id="18"/>
            <p:cNvSpPr txBox="true"/>
            <p:nvPr/>
          </p:nvSpPr>
          <p:spPr>
            <a:xfrm rot="0">
              <a:off x="0" y="47625"/>
              <a:ext cx="1457179" cy="854075"/>
            </a:xfrm>
            <a:prstGeom prst="rect">
              <a:avLst/>
            </a:prstGeom>
          </p:spPr>
          <p:txBody>
            <a:bodyPr anchor="t" rtlCol="false" tIns="0" lIns="0" bIns="0" rIns="0">
              <a:spAutoFit/>
            </a:bodyPr>
            <a:lstStyle/>
            <a:p>
              <a:pPr algn="l">
                <a:lnSpc>
                  <a:spcPts val="4949"/>
                </a:lnSpc>
              </a:pPr>
              <a:r>
                <a:rPr lang="en-US" b="true" sz="4499">
                  <a:solidFill>
                    <a:srgbClr val="000000"/>
                  </a:solidFill>
                  <a:latin typeface="Comic Sans Bold"/>
                  <a:ea typeface="Comic Sans Bold"/>
                  <a:cs typeface="Comic Sans Bold"/>
                  <a:sym typeface="Comic Sans Bold"/>
                </a:rPr>
                <a:t>04</a:t>
              </a:r>
            </a:p>
          </p:txBody>
        </p:sp>
        <p:sp>
          <p:nvSpPr>
            <p:cNvPr name="TextBox 19" id="19"/>
            <p:cNvSpPr txBox="true"/>
            <p:nvPr/>
          </p:nvSpPr>
          <p:spPr>
            <a:xfrm rot="0">
              <a:off x="1734732" y="9525"/>
              <a:ext cx="7428980" cy="688975"/>
            </a:xfrm>
            <a:prstGeom prst="rect">
              <a:avLst/>
            </a:prstGeom>
          </p:spPr>
          <p:txBody>
            <a:bodyPr anchor="t" rtlCol="false" tIns="0" lIns="0" bIns="0" rIns="0">
              <a:spAutoFit/>
            </a:bodyPr>
            <a:lstStyle/>
            <a:p>
              <a:pPr algn="l" marL="0" indent="0" lvl="0">
                <a:lnSpc>
                  <a:spcPts val="4199"/>
                </a:lnSpc>
              </a:pPr>
              <a:r>
                <a:rPr lang="en-US" b="true" sz="3499">
                  <a:solidFill>
                    <a:srgbClr val="000000"/>
                  </a:solidFill>
                  <a:latin typeface="Comic Sans Bold"/>
                  <a:ea typeface="Comic Sans Bold"/>
                  <a:cs typeface="Comic Sans Bold"/>
                  <a:sym typeface="Comic Sans Bold"/>
                </a:rPr>
                <a:t>Result</a:t>
              </a:r>
            </a:p>
          </p:txBody>
        </p:sp>
        <p:sp>
          <p:nvSpPr>
            <p:cNvPr name="TextBox 20" id="20"/>
            <p:cNvSpPr txBox="true"/>
            <p:nvPr/>
          </p:nvSpPr>
          <p:spPr>
            <a:xfrm rot="0">
              <a:off x="1734732" y="826203"/>
              <a:ext cx="7428980" cy="1121834"/>
            </a:xfrm>
            <a:prstGeom prst="rect">
              <a:avLst/>
            </a:prstGeom>
          </p:spPr>
          <p:txBody>
            <a:bodyPr anchor="t" rtlCol="false" tIns="0" lIns="0" bIns="0" rIns="0">
              <a:spAutoFit/>
            </a:bodyPr>
            <a:lstStyle/>
            <a:p>
              <a:pPr algn="l" marL="0" indent="0" lvl="0">
                <a:lnSpc>
                  <a:spcPts val="3499"/>
                </a:lnSpc>
              </a:pPr>
              <a:r>
                <a:rPr lang="en-US" sz="2499">
                  <a:solidFill>
                    <a:srgbClr val="000000"/>
                  </a:solidFill>
                  <a:latin typeface="Comic Sans"/>
                  <a:ea typeface="Comic Sans"/>
                  <a:cs typeface="Comic Sans"/>
                  <a:sym typeface="Comic Sans"/>
                  <a:hlinkClick r:id="rId10" tooltip="https://docs.google.com/spreadsheets/d/1DUF2isFWsqVSYhbaACYtbgcLi_YjDqpE3GLQIVgkKQg/edit#gid=69851113"/>
                </a:rPr>
                <a:t>A</a:t>
              </a:r>
              <a:r>
                <a:rPr lang="en-US" sz="2499">
                  <a:solidFill>
                    <a:srgbClr val="000000"/>
                  </a:solidFill>
                  <a:latin typeface="Comic Sans"/>
                  <a:ea typeface="Comic Sans"/>
                  <a:cs typeface="Comic Sans"/>
                  <a:sym typeface="Comic Sans"/>
                  <a:hlinkClick r:id="rId11" tooltip="https://docs.google.com/spreadsheets/d/1DUF2isFWsqVSYhbaACYtbgcLi_YjDqpE3GLQIVgkKQg/edit#gid=69851113"/>
                </a:rPr>
                <a:t> structured dataset of fine-grained execution traces.</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79C7FF"/>
        </a:solidFill>
      </p:bgPr>
    </p:bg>
    <p:spTree>
      <p:nvGrpSpPr>
        <p:cNvPr id="1" name=""/>
        <p:cNvGrpSpPr/>
        <p:nvPr/>
      </p:nvGrpSpPr>
      <p:grpSpPr>
        <a:xfrm>
          <a:off x="0" y="0"/>
          <a:ext cx="0" cy="0"/>
          <a:chOff x="0" y="0"/>
          <a:chExt cx="0" cy="0"/>
        </a:xfrm>
      </p:grpSpPr>
      <p:sp>
        <p:nvSpPr>
          <p:cNvPr name="Freeform 2" id="2"/>
          <p:cNvSpPr/>
          <p:nvPr/>
        </p:nvSpPr>
        <p:spPr>
          <a:xfrm flipH="false" flipV="false" rot="0">
            <a:off x="9556931" y="2131033"/>
            <a:ext cx="4425900" cy="3012467"/>
          </a:xfrm>
          <a:custGeom>
            <a:avLst/>
            <a:gdLst/>
            <a:ahLst/>
            <a:cxnLst/>
            <a:rect r="r" b="b" t="t" l="l"/>
            <a:pathLst>
              <a:path h="3012467" w="4425900">
                <a:moveTo>
                  <a:pt x="0" y="0"/>
                </a:moveTo>
                <a:lnTo>
                  <a:pt x="4425900" y="0"/>
                </a:lnTo>
                <a:lnTo>
                  <a:pt x="4425900" y="3012467"/>
                </a:lnTo>
                <a:lnTo>
                  <a:pt x="0" y="3012467"/>
                </a:lnTo>
                <a:lnTo>
                  <a:pt x="0" y="0"/>
                </a:lnTo>
                <a:close/>
              </a:path>
            </a:pathLst>
          </a:custGeom>
          <a:blipFill>
            <a:blip r:embed="rId2"/>
            <a:stretch>
              <a:fillRect l="0" t="0" r="0" b="0"/>
            </a:stretch>
          </a:blipFill>
        </p:spPr>
      </p:sp>
      <p:sp>
        <p:nvSpPr>
          <p:cNvPr name="Freeform 3" id="3"/>
          <p:cNvSpPr/>
          <p:nvPr/>
        </p:nvSpPr>
        <p:spPr>
          <a:xfrm flipH="false" flipV="false" rot="0">
            <a:off x="9144000" y="5343525"/>
            <a:ext cx="6396085" cy="2136653"/>
          </a:xfrm>
          <a:custGeom>
            <a:avLst/>
            <a:gdLst/>
            <a:ahLst/>
            <a:cxnLst/>
            <a:rect r="r" b="b" t="t" l="l"/>
            <a:pathLst>
              <a:path h="2136653" w="6396085">
                <a:moveTo>
                  <a:pt x="0" y="0"/>
                </a:moveTo>
                <a:lnTo>
                  <a:pt x="6396085" y="0"/>
                </a:lnTo>
                <a:lnTo>
                  <a:pt x="6396085" y="2136653"/>
                </a:lnTo>
                <a:lnTo>
                  <a:pt x="0" y="2136653"/>
                </a:lnTo>
                <a:lnTo>
                  <a:pt x="0" y="0"/>
                </a:lnTo>
                <a:close/>
              </a:path>
            </a:pathLst>
          </a:custGeom>
          <a:blipFill>
            <a:blip r:embed="rId3"/>
            <a:stretch>
              <a:fillRect l="0" t="0" r="0" b="0"/>
            </a:stretch>
          </a:blipFill>
        </p:spPr>
      </p:sp>
      <p:sp>
        <p:nvSpPr>
          <p:cNvPr name="Freeform 4" id="4"/>
          <p:cNvSpPr/>
          <p:nvPr/>
        </p:nvSpPr>
        <p:spPr>
          <a:xfrm flipH="false" flipV="false" rot="0">
            <a:off x="9144000" y="8247454"/>
            <a:ext cx="3452068" cy="1435269"/>
          </a:xfrm>
          <a:custGeom>
            <a:avLst/>
            <a:gdLst/>
            <a:ahLst/>
            <a:cxnLst/>
            <a:rect r="r" b="b" t="t" l="l"/>
            <a:pathLst>
              <a:path h="1435269" w="3452068">
                <a:moveTo>
                  <a:pt x="0" y="0"/>
                </a:moveTo>
                <a:lnTo>
                  <a:pt x="3452068" y="0"/>
                </a:lnTo>
                <a:lnTo>
                  <a:pt x="3452068" y="1435269"/>
                </a:lnTo>
                <a:lnTo>
                  <a:pt x="0" y="1435269"/>
                </a:lnTo>
                <a:lnTo>
                  <a:pt x="0" y="0"/>
                </a:lnTo>
                <a:close/>
              </a:path>
            </a:pathLst>
          </a:custGeom>
          <a:blipFill>
            <a:blip r:embed="rId4"/>
            <a:stretch>
              <a:fillRect l="0" t="0" r="0" b="0"/>
            </a:stretch>
          </a:blipFill>
        </p:spPr>
      </p:sp>
      <p:sp>
        <p:nvSpPr>
          <p:cNvPr name="Freeform 5" id="5"/>
          <p:cNvSpPr/>
          <p:nvPr/>
        </p:nvSpPr>
        <p:spPr>
          <a:xfrm flipH="false" flipV="false" rot="0">
            <a:off x="13982831" y="7480178"/>
            <a:ext cx="3046657" cy="2747686"/>
          </a:xfrm>
          <a:custGeom>
            <a:avLst/>
            <a:gdLst/>
            <a:ahLst/>
            <a:cxnLst/>
            <a:rect r="r" b="b" t="t" l="l"/>
            <a:pathLst>
              <a:path h="2747686" w="3046657">
                <a:moveTo>
                  <a:pt x="0" y="0"/>
                </a:moveTo>
                <a:lnTo>
                  <a:pt x="3046657" y="0"/>
                </a:lnTo>
                <a:lnTo>
                  <a:pt x="3046657" y="2747686"/>
                </a:lnTo>
                <a:lnTo>
                  <a:pt x="0" y="2747686"/>
                </a:lnTo>
                <a:lnTo>
                  <a:pt x="0" y="0"/>
                </a:lnTo>
                <a:close/>
              </a:path>
            </a:pathLst>
          </a:custGeom>
          <a:blipFill>
            <a:blip r:embed="rId5"/>
            <a:stretch>
              <a:fillRect l="0" t="0" r="0" b="0"/>
            </a:stretch>
          </a:blipFill>
        </p:spPr>
      </p:sp>
      <p:sp>
        <p:nvSpPr>
          <p:cNvPr name="TextBox 6" id="6"/>
          <p:cNvSpPr txBox="true"/>
          <p:nvPr/>
        </p:nvSpPr>
        <p:spPr>
          <a:xfrm rot="0">
            <a:off x="2539036" y="923925"/>
            <a:ext cx="12541448" cy="1009652"/>
          </a:xfrm>
          <a:prstGeom prst="rect">
            <a:avLst/>
          </a:prstGeom>
        </p:spPr>
        <p:txBody>
          <a:bodyPr anchor="t" rtlCol="false" tIns="0" lIns="0" bIns="0" rIns="0">
            <a:spAutoFit/>
          </a:bodyPr>
          <a:lstStyle/>
          <a:p>
            <a:pPr algn="ctr">
              <a:lnSpc>
                <a:spcPts val="8399"/>
              </a:lnSpc>
              <a:spcBef>
                <a:spcPct val="0"/>
              </a:spcBef>
            </a:pPr>
            <a:r>
              <a:rPr lang="en-US" sz="5999">
                <a:solidFill>
                  <a:srgbClr val="000000"/>
                </a:solidFill>
                <a:latin typeface="Comic Sans"/>
                <a:ea typeface="Comic Sans"/>
                <a:cs typeface="Comic Sans"/>
                <a:sym typeface="Comic Sans"/>
              </a:rPr>
              <a:t>Trace Representation Granularities</a:t>
            </a:r>
          </a:p>
        </p:txBody>
      </p:sp>
      <p:sp>
        <p:nvSpPr>
          <p:cNvPr name="TextBox 7" id="7"/>
          <p:cNvSpPr txBox="true"/>
          <p:nvPr/>
        </p:nvSpPr>
        <p:spPr>
          <a:xfrm rot="0">
            <a:off x="316866" y="2857500"/>
            <a:ext cx="8492894" cy="6400800"/>
          </a:xfrm>
          <a:prstGeom prst="rect">
            <a:avLst/>
          </a:prstGeom>
        </p:spPr>
        <p:txBody>
          <a:bodyPr anchor="t" rtlCol="false" tIns="0" lIns="0" bIns="0" rIns="0">
            <a:spAutoFit/>
          </a:bodyPr>
          <a:lstStyle/>
          <a:p>
            <a:pPr algn="just">
              <a:lnSpc>
                <a:spcPts val="4200"/>
              </a:lnSpc>
            </a:pPr>
            <a:r>
              <a:rPr lang="en-US" b="true" sz="3500">
                <a:solidFill>
                  <a:srgbClr val="000000"/>
                </a:solidFill>
                <a:latin typeface="Comic Sans Bold"/>
                <a:ea typeface="Comic Sans Bold"/>
                <a:cs typeface="Comic Sans Bold"/>
                <a:sym typeface="Comic Sans Bold"/>
              </a:rPr>
              <a:t>Direct Predictions</a:t>
            </a:r>
          </a:p>
          <a:p>
            <a:pPr algn="just" marL="755651" indent="-377825" lvl="1">
              <a:lnSpc>
                <a:spcPts val="4200"/>
              </a:lnSpc>
              <a:buFont typeface="Arial"/>
              <a:buChar char="•"/>
            </a:pPr>
            <a:r>
              <a:rPr lang="en-US" sz="3500">
                <a:solidFill>
                  <a:srgbClr val="000000"/>
                </a:solidFill>
                <a:latin typeface="Comic Sans"/>
                <a:ea typeface="Comic Sans"/>
                <a:cs typeface="Comic Sans"/>
                <a:sym typeface="Comic Sans"/>
              </a:rPr>
              <a:t>Predict return value from inputs (no intermediate steps).</a:t>
            </a:r>
          </a:p>
          <a:p>
            <a:pPr algn="just">
              <a:lnSpc>
                <a:spcPts val="4200"/>
              </a:lnSpc>
            </a:pPr>
          </a:p>
          <a:p>
            <a:pPr algn="just">
              <a:lnSpc>
                <a:spcPts val="4200"/>
              </a:lnSpc>
              <a:spcBef>
                <a:spcPct val="0"/>
              </a:spcBef>
            </a:pPr>
            <a:r>
              <a:rPr lang="en-US" b="true" sz="3500">
                <a:solidFill>
                  <a:srgbClr val="000000"/>
                </a:solidFill>
                <a:latin typeface="Comic Sans Bold"/>
                <a:ea typeface="Comic Sans Bold"/>
                <a:cs typeface="Comic Sans Bold"/>
                <a:sym typeface="Comic Sans Bold"/>
              </a:rPr>
              <a:t>Line-level Tracing</a:t>
            </a:r>
          </a:p>
          <a:p>
            <a:pPr algn="just" marL="755651" indent="-377825" lvl="1">
              <a:lnSpc>
                <a:spcPts val="4200"/>
              </a:lnSpc>
              <a:buFont typeface="Arial"/>
              <a:buChar char="•"/>
            </a:pPr>
            <a:r>
              <a:rPr lang="en-US" sz="3500">
                <a:solidFill>
                  <a:srgbClr val="000000"/>
                </a:solidFill>
                <a:latin typeface="Comic Sans"/>
                <a:ea typeface="Comic Sans"/>
                <a:cs typeface="Comic Sans"/>
                <a:sym typeface="Comic Sans"/>
              </a:rPr>
              <a:t>Show state changes after each source line.</a:t>
            </a:r>
          </a:p>
          <a:p>
            <a:pPr algn="just">
              <a:lnSpc>
                <a:spcPts val="4200"/>
              </a:lnSpc>
            </a:pPr>
          </a:p>
          <a:p>
            <a:pPr algn="just">
              <a:lnSpc>
                <a:spcPts val="4200"/>
              </a:lnSpc>
              <a:spcBef>
                <a:spcPct val="0"/>
              </a:spcBef>
            </a:pPr>
            <a:r>
              <a:rPr lang="en-US" b="true" sz="3500">
                <a:solidFill>
                  <a:srgbClr val="000000"/>
                </a:solidFill>
                <a:latin typeface="Comic Sans Bold"/>
                <a:ea typeface="Comic Sans Bold"/>
                <a:cs typeface="Comic Sans Bold"/>
                <a:sym typeface="Comic Sans Bold"/>
              </a:rPr>
              <a:t>Instruction-level Tracing</a:t>
            </a:r>
          </a:p>
          <a:p>
            <a:pPr algn="just" marL="755651" indent="-377825" lvl="1">
              <a:lnSpc>
                <a:spcPts val="4200"/>
              </a:lnSpc>
              <a:buFont typeface="Arial"/>
              <a:buChar char="•"/>
            </a:pPr>
            <a:r>
              <a:rPr lang="en-US" sz="3500">
                <a:solidFill>
                  <a:srgbClr val="000000"/>
                </a:solidFill>
                <a:latin typeface="Comic Sans"/>
                <a:ea typeface="Comic Sans"/>
                <a:cs typeface="Comic Sans"/>
                <a:sym typeface="Comic Sans"/>
              </a:rPr>
              <a:t>Track bytecode execution + stack.</a:t>
            </a:r>
          </a:p>
          <a:p>
            <a:pPr algn="just" marL="755651" indent="-377825" lvl="1">
              <a:lnSpc>
                <a:spcPts val="4200"/>
              </a:lnSpc>
              <a:buFont typeface="Arial"/>
              <a:buChar char="•"/>
            </a:pPr>
            <a:r>
              <a:rPr lang="en-US" sz="3500">
                <a:solidFill>
                  <a:srgbClr val="000000"/>
                </a:solidFill>
                <a:latin typeface="Comic Sans"/>
                <a:ea typeface="Comic Sans"/>
                <a:cs typeface="Comic Sans"/>
                <a:sym typeface="Comic Sans"/>
              </a:rPr>
              <a:t>Inline source code comments for readability.</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79C7FF"/>
        </a:solidFill>
      </p:bgPr>
    </p:bg>
    <p:spTree>
      <p:nvGrpSpPr>
        <p:cNvPr id="1" name=""/>
        <p:cNvGrpSpPr/>
        <p:nvPr/>
      </p:nvGrpSpPr>
      <p:grpSpPr>
        <a:xfrm>
          <a:off x="0" y="0"/>
          <a:ext cx="0" cy="0"/>
          <a:chOff x="0" y="0"/>
          <a:chExt cx="0" cy="0"/>
        </a:xfrm>
      </p:grpSpPr>
      <p:sp>
        <p:nvSpPr>
          <p:cNvPr name="TextBox 2" id="2"/>
          <p:cNvSpPr txBox="true"/>
          <p:nvPr/>
        </p:nvSpPr>
        <p:spPr>
          <a:xfrm rot="0">
            <a:off x="3056313" y="923925"/>
            <a:ext cx="11506895" cy="1009652"/>
          </a:xfrm>
          <a:prstGeom prst="rect">
            <a:avLst/>
          </a:prstGeom>
        </p:spPr>
        <p:txBody>
          <a:bodyPr anchor="t" rtlCol="false" tIns="0" lIns="0" bIns="0" rIns="0">
            <a:spAutoFit/>
          </a:bodyPr>
          <a:lstStyle/>
          <a:p>
            <a:pPr algn="ctr">
              <a:lnSpc>
                <a:spcPts val="8399"/>
              </a:lnSpc>
              <a:spcBef>
                <a:spcPct val="0"/>
              </a:spcBef>
            </a:pPr>
            <a:r>
              <a:rPr lang="en-US" sz="5999">
                <a:solidFill>
                  <a:srgbClr val="000000"/>
                </a:solidFill>
                <a:latin typeface="Comic Sans"/>
                <a:ea typeface="Comic Sans"/>
                <a:cs typeface="Comic Sans"/>
                <a:sym typeface="Comic Sans"/>
              </a:rPr>
              <a:t>Scratchpad Reasoning Straegies</a:t>
            </a:r>
          </a:p>
        </p:txBody>
      </p:sp>
      <p:sp>
        <p:nvSpPr>
          <p:cNvPr name="TextBox 3" id="3"/>
          <p:cNvSpPr txBox="true"/>
          <p:nvPr/>
        </p:nvSpPr>
        <p:spPr>
          <a:xfrm rot="0">
            <a:off x="2089278" y="2876550"/>
            <a:ext cx="13440966" cy="6381750"/>
          </a:xfrm>
          <a:prstGeom prst="rect">
            <a:avLst/>
          </a:prstGeom>
        </p:spPr>
        <p:txBody>
          <a:bodyPr anchor="t" rtlCol="false" tIns="0" lIns="0" bIns="0" rIns="0">
            <a:spAutoFit/>
          </a:bodyPr>
          <a:lstStyle/>
          <a:p>
            <a:pPr algn="just">
              <a:lnSpc>
                <a:spcPts val="5039"/>
              </a:lnSpc>
            </a:pPr>
            <a:r>
              <a:rPr lang="en-US" b="true" sz="4199">
                <a:solidFill>
                  <a:srgbClr val="000000"/>
                </a:solidFill>
                <a:latin typeface="Comic Sans Bold"/>
                <a:ea typeface="Comic Sans Bold"/>
                <a:cs typeface="Comic Sans Bold"/>
                <a:sym typeface="Comic Sans Bold"/>
              </a:rPr>
              <a:t>Sc</a:t>
            </a:r>
            <a:r>
              <a:rPr lang="en-US" b="true" sz="4199">
                <a:solidFill>
                  <a:srgbClr val="000000"/>
                </a:solidFill>
                <a:latin typeface="Comic Sans Bold"/>
                <a:ea typeface="Comic Sans Bold"/>
                <a:cs typeface="Comic Sans Bold"/>
                <a:sym typeface="Comic Sans Bold"/>
              </a:rPr>
              <a:t>ratchpad</a:t>
            </a:r>
          </a:p>
          <a:p>
            <a:pPr algn="just" marL="906777" indent="-453388" lvl="1">
              <a:lnSpc>
                <a:spcPts val="5039"/>
              </a:lnSpc>
              <a:buFont typeface="Arial"/>
              <a:buChar char="•"/>
            </a:pPr>
            <a:r>
              <a:rPr lang="en-US" sz="4199">
                <a:solidFill>
                  <a:srgbClr val="000000"/>
                </a:solidFill>
                <a:latin typeface="Comic Sans"/>
                <a:ea typeface="Comic Sans"/>
                <a:cs typeface="Comic Sans"/>
                <a:sym typeface="Comic Sans"/>
              </a:rPr>
              <a:t>Show full locals dict after each step.</a:t>
            </a:r>
          </a:p>
          <a:p>
            <a:pPr algn="just">
              <a:lnSpc>
                <a:spcPts val="5039"/>
              </a:lnSpc>
            </a:pPr>
          </a:p>
          <a:p>
            <a:pPr algn="just">
              <a:lnSpc>
                <a:spcPts val="5039"/>
              </a:lnSpc>
            </a:pPr>
            <a:r>
              <a:rPr lang="en-US" b="true" sz="4199">
                <a:solidFill>
                  <a:srgbClr val="000000"/>
                </a:solidFill>
                <a:latin typeface="Comic Sans Bold"/>
                <a:ea typeface="Comic Sans Bold"/>
                <a:cs typeface="Comic Sans Bold"/>
                <a:sym typeface="Comic Sans Bold"/>
              </a:rPr>
              <a:t>Compact Scratchpad</a:t>
            </a:r>
          </a:p>
          <a:p>
            <a:pPr algn="just" marL="906777" indent="-453388" lvl="1">
              <a:lnSpc>
                <a:spcPts val="5039"/>
              </a:lnSpc>
              <a:buFont typeface="Arial"/>
              <a:buChar char="•"/>
            </a:pPr>
            <a:r>
              <a:rPr lang="en-US" sz="4199">
                <a:solidFill>
                  <a:srgbClr val="000000"/>
                </a:solidFill>
                <a:latin typeface="Comic Sans"/>
                <a:ea typeface="Comic Sans"/>
                <a:cs typeface="Comic Sans"/>
                <a:sym typeface="Comic Sans"/>
              </a:rPr>
              <a:t>O</a:t>
            </a:r>
            <a:r>
              <a:rPr lang="en-US" sz="4199">
                <a:solidFill>
                  <a:srgbClr val="000000"/>
                </a:solidFill>
                <a:latin typeface="Comic Sans"/>
                <a:ea typeface="Comic Sans"/>
                <a:cs typeface="Comic Sans"/>
                <a:sym typeface="Comic Sans"/>
              </a:rPr>
              <a:t>nly variables</a:t>
            </a:r>
            <a:r>
              <a:rPr lang="en-US" sz="4199">
                <a:solidFill>
                  <a:srgbClr val="000000"/>
                </a:solidFill>
                <a:latin typeface="Comic Sans"/>
                <a:ea typeface="Comic Sans"/>
                <a:cs typeface="Comic Sans"/>
                <a:sym typeface="Comic Sans"/>
              </a:rPr>
              <a:t> that changed (diff-based).</a:t>
            </a:r>
          </a:p>
          <a:p>
            <a:pPr algn="just">
              <a:lnSpc>
                <a:spcPts val="5039"/>
              </a:lnSpc>
            </a:pPr>
          </a:p>
          <a:p>
            <a:pPr algn="just">
              <a:lnSpc>
                <a:spcPts val="5039"/>
              </a:lnSpc>
              <a:spcBef>
                <a:spcPct val="0"/>
              </a:spcBef>
            </a:pPr>
            <a:r>
              <a:rPr lang="en-US" b="true" sz="4199">
                <a:solidFill>
                  <a:srgbClr val="000000"/>
                </a:solidFill>
                <a:latin typeface="Comic Sans Bold"/>
                <a:ea typeface="Comic Sans Bold"/>
                <a:cs typeface="Comic Sans Bold"/>
                <a:sym typeface="Comic Sans Bold"/>
              </a:rPr>
              <a:t>Dy</a:t>
            </a:r>
            <a:r>
              <a:rPr lang="en-US" b="true" sz="4199">
                <a:solidFill>
                  <a:srgbClr val="000000"/>
                </a:solidFill>
                <a:latin typeface="Comic Sans Bold"/>
                <a:ea typeface="Comic Sans Bold"/>
                <a:cs typeface="Comic Sans Bold"/>
                <a:sym typeface="Comic Sans Bold"/>
              </a:rPr>
              <a:t>namic Scratchpad</a:t>
            </a:r>
          </a:p>
          <a:p>
            <a:pPr algn="just" marL="906777" indent="-453388" lvl="1">
              <a:lnSpc>
                <a:spcPts val="5039"/>
              </a:lnSpc>
              <a:buFont typeface="Arial"/>
              <a:buChar char="•"/>
            </a:pPr>
            <a:r>
              <a:rPr lang="en-US" sz="4199">
                <a:solidFill>
                  <a:srgbClr val="000000"/>
                </a:solidFill>
                <a:latin typeface="Comic Sans"/>
                <a:ea typeface="Comic Sans"/>
                <a:cs typeface="Comic Sans"/>
                <a:sym typeface="Comic Sans"/>
              </a:rPr>
              <a:t>Single evolving st</a:t>
            </a:r>
            <a:r>
              <a:rPr lang="en-US" sz="4199">
                <a:solidFill>
                  <a:srgbClr val="000000"/>
                </a:solidFill>
                <a:latin typeface="Comic Sans"/>
                <a:ea typeface="Comic Sans"/>
                <a:cs typeface="Comic Sans"/>
                <a:sym typeface="Comic Sans"/>
              </a:rPr>
              <a:t>ate.</a:t>
            </a:r>
          </a:p>
          <a:p>
            <a:pPr algn="just" marL="906777" indent="-453388" lvl="1">
              <a:lnSpc>
                <a:spcPts val="5039"/>
              </a:lnSpc>
              <a:buFont typeface="Arial"/>
              <a:buChar char="•"/>
            </a:pPr>
            <a:r>
              <a:rPr lang="en-US" sz="4199">
                <a:solidFill>
                  <a:srgbClr val="000000"/>
                </a:solidFill>
                <a:latin typeface="Comic Sans"/>
                <a:ea typeface="Comic Sans"/>
                <a:cs typeface="Comic Sans"/>
                <a:sym typeface="Comic Sans"/>
              </a:rPr>
              <a:t>Allows jumping ahead N steps.</a:t>
            </a:r>
          </a:p>
          <a:p>
            <a:pPr algn="just" marL="906777" indent="-453388" lvl="1">
              <a:lnSpc>
                <a:spcPts val="5039"/>
              </a:lnSpc>
              <a:buFont typeface="Arial"/>
              <a:buChar char="•"/>
            </a:pPr>
            <a:r>
              <a:rPr lang="en-US" sz="4199">
                <a:solidFill>
                  <a:srgbClr val="000000"/>
                </a:solidFill>
                <a:latin typeface="Comic Sans"/>
                <a:ea typeface="Comic Sans"/>
                <a:cs typeface="Comic Sans"/>
                <a:sym typeface="Comic Sans"/>
              </a:rPr>
              <a:t>Requires explicit encoding of iterators and stacks.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79C7FF"/>
        </a:solidFill>
      </p:bgPr>
    </p:bg>
    <p:spTree>
      <p:nvGrpSpPr>
        <p:cNvPr id="1" name=""/>
        <p:cNvGrpSpPr/>
        <p:nvPr/>
      </p:nvGrpSpPr>
      <p:grpSpPr>
        <a:xfrm>
          <a:off x="0" y="0"/>
          <a:ext cx="0" cy="0"/>
          <a:chOff x="0" y="0"/>
          <a:chExt cx="0" cy="0"/>
        </a:xfrm>
      </p:grpSpPr>
      <p:sp>
        <p:nvSpPr>
          <p:cNvPr name="Freeform 2" id="2" descr="Pen Tool Line"/>
          <p:cNvSpPr/>
          <p:nvPr/>
        </p:nvSpPr>
        <p:spPr>
          <a:xfrm flipH="false" flipV="false" rot="0">
            <a:off x="341082" y="-1515559"/>
            <a:ext cx="2919351" cy="4114800"/>
          </a:xfrm>
          <a:custGeom>
            <a:avLst/>
            <a:gdLst/>
            <a:ahLst/>
            <a:cxnLst/>
            <a:rect r="r" b="b" t="t" l="l"/>
            <a:pathLst>
              <a:path h="4114800" w="2919351">
                <a:moveTo>
                  <a:pt x="0" y="0"/>
                </a:moveTo>
                <a:lnTo>
                  <a:pt x="2919351" y="0"/>
                </a:lnTo>
                <a:lnTo>
                  <a:pt x="291935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4162425"/>
            <a:ext cx="4549535" cy="1962150"/>
          </a:xfrm>
          <a:prstGeom prst="rect">
            <a:avLst/>
          </a:prstGeom>
        </p:spPr>
        <p:txBody>
          <a:bodyPr anchor="t" rtlCol="false" tIns="0" lIns="0" bIns="0" rIns="0">
            <a:spAutoFit/>
          </a:bodyPr>
          <a:lstStyle/>
          <a:p>
            <a:pPr algn="l" marL="0" indent="0" lvl="0">
              <a:lnSpc>
                <a:spcPts val="7762"/>
              </a:lnSpc>
            </a:pPr>
            <a:r>
              <a:rPr lang="en-US" b="true" sz="6468" u="none">
                <a:solidFill>
                  <a:srgbClr val="000000"/>
                </a:solidFill>
                <a:latin typeface="Canva Sans Bold"/>
                <a:ea typeface="Canva Sans Bold"/>
                <a:cs typeface="Canva Sans Bold"/>
                <a:sym typeface="Canva Sans Bold"/>
              </a:rPr>
              <a:t>Results &amp; Conclusion</a:t>
            </a:r>
          </a:p>
        </p:txBody>
      </p:sp>
      <p:sp>
        <p:nvSpPr>
          <p:cNvPr name="Freeform 4" id="4"/>
          <p:cNvSpPr/>
          <p:nvPr/>
        </p:nvSpPr>
        <p:spPr>
          <a:xfrm flipH="false" flipV="false" rot="0">
            <a:off x="6893060" y="514350"/>
            <a:ext cx="10600223" cy="9258300"/>
          </a:xfrm>
          <a:custGeom>
            <a:avLst/>
            <a:gdLst/>
            <a:ahLst/>
            <a:cxnLst/>
            <a:rect r="r" b="b" t="t" l="l"/>
            <a:pathLst>
              <a:path h="9258300" w="10600223">
                <a:moveTo>
                  <a:pt x="0" y="0"/>
                </a:moveTo>
                <a:lnTo>
                  <a:pt x="10600223" y="0"/>
                </a:lnTo>
                <a:lnTo>
                  <a:pt x="10600223" y="9258300"/>
                </a:lnTo>
                <a:lnTo>
                  <a:pt x="0" y="9258300"/>
                </a:lnTo>
                <a:lnTo>
                  <a:pt x="0" y="0"/>
                </a:lnTo>
                <a:close/>
              </a:path>
            </a:pathLst>
          </a:custGeom>
          <a:blipFill>
            <a:blip r:embed="rId4"/>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p:cSld>
    <p:bg>
      <p:bgPr>
        <a:solidFill>
          <a:srgbClr val="79C7FF"/>
        </a:solidFill>
      </p:bgPr>
    </p:bg>
    <p:spTree>
      <p:nvGrpSpPr>
        <p:cNvPr id="1" name=""/>
        <p:cNvGrpSpPr/>
        <p:nvPr/>
      </p:nvGrpSpPr>
      <p:grpSpPr>
        <a:xfrm>
          <a:off x="0" y="0"/>
          <a:ext cx="0" cy="0"/>
          <a:chOff x="0" y="0"/>
          <a:chExt cx="0" cy="0"/>
        </a:xfrm>
      </p:grpSpPr>
      <p:sp>
        <p:nvSpPr>
          <p:cNvPr name="TextBox 2" id="2"/>
          <p:cNvSpPr txBox="true"/>
          <p:nvPr/>
        </p:nvSpPr>
        <p:spPr>
          <a:xfrm rot="0">
            <a:off x="4234461" y="876300"/>
            <a:ext cx="9727180" cy="1304182"/>
          </a:xfrm>
          <a:prstGeom prst="rect">
            <a:avLst/>
          </a:prstGeom>
        </p:spPr>
        <p:txBody>
          <a:bodyPr anchor="t" rtlCol="false" tIns="0" lIns="0" bIns="0" rIns="0">
            <a:spAutoFit/>
          </a:bodyPr>
          <a:lstStyle/>
          <a:p>
            <a:pPr algn="ctr">
              <a:lnSpc>
                <a:spcPts val="10657"/>
              </a:lnSpc>
              <a:spcBef>
                <a:spcPct val="0"/>
              </a:spcBef>
            </a:pPr>
            <a:r>
              <a:rPr lang="en-US" sz="7612">
                <a:solidFill>
                  <a:srgbClr val="000000"/>
                </a:solidFill>
                <a:latin typeface="Lilita One"/>
                <a:ea typeface="Lilita One"/>
                <a:cs typeface="Lilita One"/>
                <a:sym typeface="Lilita One"/>
              </a:rPr>
              <a:t>RESULTS ON CRUXEVAL</a:t>
            </a:r>
          </a:p>
        </p:txBody>
      </p:sp>
      <p:sp>
        <p:nvSpPr>
          <p:cNvPr name="TextBox 3" id="3"/>
          <p:cNvSpPr txBox="true"/>
          <p:nvPr/>
        </p:nvSpPr>
        <p:spPr>
          <a:xfrm rot="0">
            <a:off x="1498587" y="2385319"/>
            <a:ext cx="4228207" cy="622935"/>
          </a:xfrm>
          <a:prstGeom prst="rect">
            <a:avLst/>
          </a:prstGeom>
        </p:spPr>
        <p:txBody>
          <a:bodyPr anchor="t" rtlCol="false" tIns="0" lIns="0" bIns="0" rIns="0">
            <a:spAutoFit/>
          </a:bodyPr>
          <a:lstStyle/>
          <a:p>
            <a:pPr algn="ctr">
              <a:lnSpc>
                <a:spcPts val="5040"/>
              </a:lnSpc>
              <a:spcBef>
                <a:spcPct val="0"/>
              </a:spcBef>
            </a:pPr>
            <a:r>
              <a:rPr lang="en-US" sz="3600">
                <a:solidFill>
                  <a:srgbClr val="000000"/>
                </a:solidFill>
                <a:latin typeface="Lilita One"/>
                <a:ea typeface="Lilita One"/>
                <a:cs typeface="Lilita One"/>
                <a:sym typeface="Lilita One"/>
              </a:rPr>
              <a:t>OUTPUT PREDICTION</a:t>
            </a:r>
          </a:p>
        </p:txBody>
      </p:sp>
      <p:sp>
        <p:nvSpPr>
          <p:cNvPr name="TextBox 4" id="4"/>
          <p:cNvSpPr txBox="true"/>
          <p:nvPr/>
        </p:nvSpPr>
        <p:spPr>
          <a:xfrm rot="0">
            <a:off x="1498587" y="3179704"/>
            <a:ext cx="7806994" cy="1180465"/>
          </a:xfrm>
          <a:prstGeom prst="rect">
            <a:avLst/>
          </a:prstGeom>
        </p:spPr>
        <p:txBody>
          <a:bodyPr anchor="t" rtlCol="false" tIns="0" lIns="0" bIns="0" rIns="0">
            <a:spAutoFit/>
          </a:bodyPr>
          <a:lstStyle/>
          <a:p>
            <a:pPr algn="l" marL="734061" indent="-367031" lvl="1">
              <a:lnSpc>
                <a:spcPts val="4760"/>
              </a:lnSpc>
              <a:buFont typeface="Arial"/>
              <a:buChar char="•"/>
            </a:pPr>
            <a:r>
              <a:rPr lang="en-US" sz="3400">
                <a:solidFill>
                  <a:srgbClr val="000000"/>
                </a:solidFill>
                <a:latin typeface="Canva Sans"/>
                <a:ea typeface="Canva Sans"/>
                <a:cs typeface="Canva Sans"/>
                <a:sym typeface="Canva Sans"/>
              </a:rPr>
              <a:t>B</a:t>
            </a:r>
            <a:r>
              <a:rPr lang="en-US" sz="3400">
                <a:solidFill>
                  <a:srgbClr val="000000"/>
                </a:solidFill>
                <a:latin typeface="Canva Sans"/>
                <a:ea typeface="Canva Sans"/>
                <a:cs typeface="Canva Sans"/>
                <a:sym typeface="Canva Sans"/>
              </a:rPr>
              <a:t>aseline: ~50%</a:t>
            </a:r>
          </a:p>
          <a:p>
            <a:pPr algn="l" marL="734061" indent="-367031" lvl="1">
              <a:lnSpc>
                <a:spcPts val="4760"/>
              </a:lnSpc>
              <a:buFont typeface="Arial"/>
              <a:buChar char="•"/>
            </a:pPr>
            <a:r>
              <a:rPr lang="en-US" sz="3400">
                <a:solidFill>
                  <a:srgbClr val="000000"/>
                </a:solidFill>
                <a:latin typeface="Canva Sans"/>
                <a:ea typeface="Canva Sans"/>
                <a:cs typeface="Canva Sans"/>
                <a:sym typeface="Canva Sans"/>
              </a:rPr>
              <a:t>With Execution Tuning: ~80%</a:t>
            </a:r>
          </a:p>
        </p:txBody>
      </p:sp>
      <p:sp>
        <p:nvSpPr>
          <p:cNvPr name="TextBox 5" id="5"/>
          <p:cNvSpPr txBox="true"/>
          <p:nvPr/>
        </p:nvSpPr>
        <p:spPr>
          <a:xfrm rot="0">
            <a:off x="1498587" y="6832133"/>
            <a:ext cx="6879241" cy="622935"/>
          </a:xfrm>
          <a:prstGeom prst="rect">
            <a:avLst/>
          </a:prstGeom>
        </p:spPr>
        <p:txBody>
          <a:bodyPr anchor="t" rtlCol="false" tIns="0" lIns="0" bIns="0" rIns="0">
            <a:spAutoFit/>
          </a:bodyPr>
          <a:lstStyle/>
          <a:p>
            <a:pPr algn="l">
              <a:lnSpc>
                <a:spcPts val="5040"/>
              </a:lnSpc>
            </a:pPr>
            <a:r>
              <a:rPr lang="en-US" sz="3600">
                <a:solidFill>
                  <a:srgbClr val="000000"/>
                </a:solidFill>
                <a:latin typeface="Lilita One"/>
                <a:ea typeface="Lilita One"/>
                <a:cs typeface="Lilita One"/>
                <a:sym typeface="Lilita One"/>
              </a:rPr>
              <a:t>Long Executions (14,000+ steps)</a:t>
            </a:r>
          </a:p>
        </p:txBody>
      </p:sp>
      <p:sp>
        <p:nvSpPr>
          <p:cNvPr name="TextBox 6" id="6"/>
          <p:cNvSpPr txBox="true"/>
          <p:nvPr/>
        </p:nvSpPr>
        <p:spPr>
          <a:xfrm rot="0">
            <a:off x="1516281" y="7714058"/>
            <a:ext cx="11525462" cy="1780540"/>
          </a:xfrm>
          <a:prstGeom prst="rect">
            <a:avLst/>
          </a:prstGeom>
        </p:spPr>
        <p:txBody>
          <a:bodyPr anchor="t" rtlCol="false" tIns="0" lIns="0" bIns="0" rIns="0">
            <a:spAutoFit/>
          </a:bodyPr>
          <a:lstStyle/>
          <a:p>
            <a:pPr algn="l">
              <a:lnSpc>
                <a:spcPts val="4759"/>
              </a:lnSpc>
            </a:pPr>
            <a:r>
              <a:rPr lang="en-US" sz="3399">
                <a:solidFill>
                  <a:srgbClr val="000000"/>
                </a:solidFill>
                <a:latin typeface="Canva Sans"/>
                <a:ea typeface="Canva Sans"/>
                <a:cs typeface="Canva Sans"/>
                <a:sym typeface="Canva Sans"/>
              </a:rPr>
              <a:t>Dynam</a:t>
            </a:r>
            <a:r>
              <a:rPr lang="en-US" sz="3399">
                <a:solidFill>
                  <a:srgbClr val="000000"/>
                </a:solidFill>
                <a:latin typeface="Canva Sans"/>
                <a:ea typeface="Canva Sans"/>
                <a:cs typeface="Canva Sans"/>
                <a:sym typeface="Canva Sans"/>
              </a:rPr>
              <a:t>ic Scratchpads enable:</a:t>
            </a:r>
          </a:p>
          <a:p>
            <a:pPr algn="l" marL="734059" indent="-367030" lvl="1">
              <a:lnSpc>
                <a:spcPts val="4759"/>
              </a:lnSpc>
              <a:buAutoNum type="arabicPeriod" startAt="1"/>
            </a:pPr>
            <a:r>
              <a:rPr lang="en-US" sz="3399">
                <a:solidFill>
                  <a:srgbClr val="000000"/>
                </a:solidFill>
                <a:latin typeface="Canva Sans"/>
                <a:ea typeface="Canva Sans"/>
                <a:cs typeface="Canva Sans"/>
                <a:sym typeface="Canva Sans"/>
              </a:rPr>
              <a:t>More accurate intermediate computations</a:t>
            </a:r>
          </a:p>
          <a:p>
            <a:pPr algn="l" marL="734059" indent="-367030" lvl="1">
              <a:lnSpc>
                <a:spcPts val="4759"/>
              </a:lnSpc>
              <a:buAutoNum type="arabicPeriod" startAt="1"/>
            </a:pPr>
            <a:r>
              <a:rPr lang="en-US" sz="3399">
                <a:solidFill>
                  <a:srgbClr val="000000"/>
                </a:solidFill>
                <a:latin typeface="Canva Sans"/>
                <a:ea typeface="Canva Sans"/>
                <a:cs typeface="Canva Sans"/>
                <a:sym typeface="Canva Sans"/>
              </a:rPr>
              <a:t>Better performance on complex, multi-step code</a:t>
            </a:r>
          </a:p>
        </p:txBody>
      </p:sp>
      <p:sp>
        <p:nvSpPr>
          <p:cNvPr name="TextBox 7" id="7"/>
          <p:cNvSpPr txBox="true"/>
          <p:nvPr/>
        </p:nvSpPr>
        <p:spPr>
          <a:xfrm rot="0">
            <a:off x="1516281" y="4607818"/>
            <a:ext cx="3885803" cy="622935"/>
          </a:xfrm>
          <a:prstGeom prst="rect">
            <a:avLst/>
          </a:prstGeom>
        </p:spPr>
        <p:txBody>
          <a:bodyPr anchor="t" rtlCol="false" tIns="0" lIns="0" bIns="0" rIns="0">
            <a:spAutoFit/>
          </a:bodyPr>
          <a:lstStyle/>
          <a:p>
            <a:pPr algn="ctr">
              <a:lnSpc>
                <a:spcPts val="5040"/>
              </a:lnSpc>
              <a:spcBef>
                <a:spcPct val="0"/>
              </a:spcBef>
            </a:pPr>
            <a:r>
              <a:rPr lang="en-US" sz="3600">
                <a:solidFill>
                  <a:srgbClr val="000000"/>
                </a:solidFill>
                <a:latin typeface="Lilita One"/>
                <a:ea typeface="Lilita One"/>
                <a:cs typeface="Lilita One"/>
                <a:sym typeface="Lilita One"/>
              </a:rPr>
              <a:t>INPUT PREDICTION</a:t>
            </a:r>
          </a:p>
        </p:txBody>
      </p:sp>
      <p:sp>
        <p:nvSpPr>
          <p:cNvPr name="TextBox 8" id="8"/>
          <p:cNvSpPr txBox="true"/>
          <p:nvPr/>
        </p:nvSpPr>
        <p:spPr>
          <a:xfrm rot="0">
            <a:off x="1498587" y="5404018"/>
            <a:ext cx="7806994" cy="1180465"/>
          </a:xfrm>
          <a:prstGeom prst="rect">
            <a:avLst/>
          </a:prstGeom>
        </p:spPr>
        <p:txBody>
          <a:bodyPr anchor="t" rtlCol="false" tIns="0" lIns="0" bIns="0" rIns="0">
            <a:spAutoFit/>
          </a:bodyPr>
          <a:lstStyle/>
          <a:p>
            <a:pPr algn="l" marL="734061" indent="-367031" lvl="1">
              <a:lnSpc>
                <a:spcPts val="4760"/>
              </a:lnSpc>
              <a:buFont typeface="Arial"/>
              <a:buChar char="•"/>
            </a:pPr>
            <a:r>
              <a:rPr lang="en-US" sz="3400">
                <a:solidFill>
                  <a:srgbClr val="000000"/>
                </a:solidFill>
                <a:latin typeface="Canva Sans"/>
                <a:ea typeface="Canva Sans"/>
                <a:cs typeface="Canva Sans"/>
                <a:sym typeface="Canva Sans"/>
              </a:rPr>
              <a:t>B</a:t>
            </a:r>
            <a:r>
              <a:rPr lang="en-US" sz="3400">
                <a:solidFill>
                  <a:srgbClr val="000000"/>
                </a:solidFill>
                <a:latin typeface="Canva Sans"/>
                <a:ea typeface="Canva Sans"/>
                <a:cs typeface="Canva Sans"/>
                <a:sym typeface="Canva Sans"/>
              </a:rPr>
              <a:t>aseline: 11%</a:t>
            </a:r>
          </a:p>
          <a:p>
            <a:pPr algn="l" marL="734061" indent="-367031" lvl="1">
              <a:lnSpc>
                <a:spcPts val="4760"/>
              </a:lnSpc>
              <a:buFont typeface="Arial"/>
              <a:buChar char="•"/>
            </a:pPr>
            <a:r>
              <a:rPr lang="en-US" sz="3400">
                <a:solidFill>
                  <a:srgbClr val="000000"/>
                </a:solidFill>
                <a:latin typeface="Canva Sans"/>
                <a:ea typeface="Canva Sans"/>
                <a:cs typeface="Canva Sans"/>
                <a:sym typeface="Canva Sans"/>
              </a:rPr>
              <a:t>With Execution Tuning: 87%</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79C7F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468656"/>
            <a:ext cx="16230600" cy="4861398"/>
          </a:xfrm>
          <a:custGeom>
            <a:avLst/>
            <a:gdLst/>
            <a:ahLst/>
            <a:cxnLst/>
            <a:rect r="r" b="b" t="t" l="l"/>
            <a:pathLst>
              <a:path h="4861398" w="16230600">
                <a:moveTo>
                  <a:pt x="0" y="0"/>
                </a:moveTo>
                <a:lnTo>
                  <a:pt x="16230600" y="0"/>
                </a:lnTo>
                <a:lnTo>
                  <a:pt x="16230600" y="4861398"/>
                </a:lnTo>
                <a:lnTo>
                  <a:pt x="0" y="4861398"/>
                </a:lnTo>
                <a:lnTo>
                  <a:pt x="0" y="0"/>
                </a:lnTo>
                <a:close/>
              </a:path>
            </a:pathLst>
          </a:custGeom>
          <a:blipFill>
            <a:blip r:embed="rId2"/>
            <a:stretch>
              <a:fillRect l="-1106" t="-10055" r="-1106" b="0"/>
            </a:stretch>
          </a:blipFill>
        </p:spPr>
      </p:sp>
      <p:sp>
        <p:nvSpPr>
          <p:cNvPr name="TextBox 3" id="3"/>
          <p:cNvSpPr txBox="true"/>
          <p:nvPr/>
        </p:nvSpPr>
        <p:spPr>
          <a:xfrm rot="0">
            <a:off x="4234461" y="876300"/>
            <a:ext cx="9727180" cy="1304182"/>
          </a:xfrm>
          <a:prstGeom prst="rect">
            <a:avLst/>
          </a:prstGeom>
        </p:spPr>
        <p:txBody>
          <a:bodyPr anchor="t" rtlCol="false" tIns="0" lIns="0" bIns="0" rIns="0">
            <a:spAutoFit/>
          </a:bodyPr>
          <a:lstStyle/>
          <a:p>
            <a:pPr algn="ctr">
              <a:lnSpc>
                <a:spcPts val="10657"/>
              </a:lnSpc>
              <a:spcBef>
                <a:spcPct val="0"/>
              </a:spcBef>
            </a:pPr>
            <a:r>
              <a:rPr lang="en-US" sz="7612">
                <a:solidFill>
                  <a:srgbClr val="000000"/>
                </a:solidFill>
                <a:latin typeface="Lilita One"/>
                <a:ea typeface="Lilita One"/>
                <a:cs typeface="Lilita One"/>
                <a:sym typeface="Lilita One"/>
              </a:rPr>
              <a:t>RESULTS ON CRUXEVAL</a:t>
            </a: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79C7FF"/>
        </a:solidFill>
      </p:bgPr>
    </p:bg>
    <p:spTree>
      <p:nvGrpSpPr>
        <p:cNvPr id="1" name=""/>
        <p:cNvGrpSpPr/>
        <p:nvPr/>
      </p:nvGrpSpPr>
      <p:grpSpPr>
        <a:xfrm>
          <a:off x="0" y="0"/>
          <a:ext cx="0" cy="0"/>
          <a:chOff x="0" y="0"/>
          <a:chExt cx="0" cy="0"/>
        </a:xfrm>
      </p:grpSpPr>
      <p:sp>
        <p:nvSpPr>
          <p:cNvPr name="TextBox 2" id="2"/>
          <p:cNvSpPr txBox="true"/>
          <p:nvPr/>
        </p:nvSpPr>
        <p:spPr>
          <a:xfrm rot="0">
            <a:off x="5213400" y="876300"/>
            <a:ext cx="7769301" cy="1304182"/>
          </a:xfrm>
          <a:prstGeom prst="rect">
            <a:avLst/>
          </a:prstGeom>
        </p:spPr>
        <p:txBody>
          <a:bodyPr anchor="t" rtlCol="false" tIns="0" lIns="0" bIns="0" rIns="0">
            <a:spAutoFit/>
          </a:bodyPr>
          <a:lstStyle/>
          <a:p>
            <a:pPr algn="ctr">
              <a:lnSpc>
                <a:spcPts val="10657"/>
              </a:lnSpc>
              <a:spcBef>
                <a:spcPct val="0"/>
              </a:spcBef>
            </a:pPr>
            <a:r>
              <a:rPr lang="en-US" sz="7612">
                <a:solidFill>
                  <a:srgbClr val="000000"/>
                </a:solidFill>
                <a:latin typeface="Lilita One"/>
                <a:ea typeface="Lilita One"/>
                <a:cs typeface="Lilita One"/>
                <a:sym typeface="Lilita One"/>
              </a:rPr>
              <a:t>RESULTS ON MBPP</a:t>
            </a:r>
          </a:p>
        </p:txBody>
      </p:sp>
      <p:sp>
        <p:nvSpPr>
          <p:cNvPr name="TextBox 3" id="3"/>
          <p:cNvSpPr txBox="true"/>
          <p:nvPr/>
        </p:nvSpPr>
        <p:spPr>
          <a:xfrm rot="0">
            <a:off x="1498587" y="2610459"/>
            <a:ext cx="5508979" cy="622935"/>
          </a:xfrm>
          <a:prstGeom prst="rect">
            <a:avLst/>
          </a:prstGeom>
        </p:spPr>
        <p:txBody>
          <a:bodyPr anchor="t" rtlCol="false" tIns="0" lIns="0" bIns="0" rIns="0">
            <a:spAutoFit/>
          </a:bodyPr>
          <a:lstStyle/>
          <a:p>
            <a:pPr algn="l">
              <a:lnSpc>
                <a:spcPts val="5040"/>
              </a:lnSpc>
              <a:spcBef>
                <a:spcPct val="0"/>
              </a:spcBef>
            </a:pPr>
            <a:r>
              <a:rPr lang="en-US" sz="3600">
                <a:solidFill>
                  <a:srgbClr val="000000"/>
                </a:solidFill>
                <a:latin typeface="Lilita One"/>
                <a:ea typeface="Lilita One"/>
                <a:cs typeface="Lilita One"/>
                <a:sym typeface="Lilita One"/>
              </a:rPr>
              <a:t>EVALUATION ON MBPP</a:t>
            </a:r>
          </a:p>
        </p:txBody>
      </p:sp>
      <p:sp>
        <p:nvSpPr>
          <p:cNvPr name="TextBox 4" id="4"/>
          <p:cNvSpPr txBox="true"/>
          <p:nvPr/>
        </p:nvSpPr>
        <p:spPr>
          <a:xfrm rot="0">
            <a:off x="1498587" y="3672897"/>
            <a:ext cx="13979285" cy="1180465"/>
          </a:xfrm>
          <a:prstGeom prst="rect">
            <a:avLst/>
          </a:prstGeom>
        </p:spPr>
        <p:txBody>
          <a:bodyPr anchor="t" rtlCol="false" tIns="0" lIns="0" bIns="0" rIns="0">
            <a:spAutoFit/>
          </a:bodyPr>
          <a:lstStyle/>
          <a:p>
            <a:pPr algn="l" marL="734061" indent="-367031" lvl="1">
              <a:lnSpc>
                <a:spcPts val="4760"/>
              </a:lnSpc>
              <a:buFont typeface="Arial"/>
              <a:buChar char="•"/>
            </a:pPr>
            <a:r>
              <a:rPr lang="en-US" sz="3400">
                <a:solidFill>
                  <a:srgbClr val="000000"/>
                </a:solidFill>
                <a:latin typeface="Canva Sans"/>
                <a:ea typeface="Canva Sans"/>
                <a:cs typeface="Canva Sans"/>
                <a:sym typeface="Canva Sans"/>
              </a:rPr>
              <a:t>R</a:t>
            </a:r>
            <a:r>
              <a:rPr lang="en-US" sz="3400">
                <a:solidFill>
                  <a:srgbClr val="000000"/>
                </a:solidFill>
                <a:latin typeface="Canva Sans"/>
                <a:ea typeface="Canva Sans"/>
                <a:cs typeface="Canva Sans"/>
                <a:sym typeface="Canva Sans"/>
              </a:rPr>
              <a:t>eal-world coding prompts</a:t>
            </a:r>
          </a:p>
          <a:p>
            <a:pPr algn="l" marL="734061" indent="-367031" lvl="1">
              <a:lnSpc>
                <a:spcPts val="4760"/>
              </a:lnSpc>
              <a:buFont typeface="Arial"/>
              <a:buChar char="•"/>
            </a:pPr>
            <a:r>
              <a:rPr lang="en-US" sz="3400">
                <a:solidFill>
                  <a:srgbClr val="000000"/>
                </a:solidFill>
                <a:latin typeface="Canva Sans"/>
                <a:ea typeface="Canva Sans"/>
                <a:cs typeface="Canva Sans"/>
                <a:sym typeface="Canva Sans"/>
              </a:rPr>
              <a:t>E.T.-trained models show better generalization and accuracy</a:t>
            </a:r>
          </a:p>
        </p:txBody>
      </p:sp>
      <p:sp>
        <p:nvSpPr>
          <p:cNvPr name="TextBox 5" id="5"/>
          <p:cNvSpPr txBox="true"/>
          <p:nvPr/>
        </p:nvSpPr>
        <p:spPr>
          <a:xfrm rot="0">
            <a:off x="1498587" y="5762852"/>
            <a:ext cx="2553571" cy="622870"/>
          </a:xfrm>
          <a:prstGeom prst="rect">
            <a:avLst/>
          </a:prstGeom>
        </p:spPr>
        <p:txBody>
          <a:bodyPr anchor="t" rtlCol="false" tIns="0" lIns="0" bIns="0" rIns="0">
            <a:spAutoFit/>
          </a:bodyPr>
          <a:lstStyle/>
          <a:p>
            <a:pPr algn="l">
              <a:lnSpc>
                <a:spcPts val="5043"/>
              </a:lnSpc>
              <a:spcBef>
                <a:spcPct val="0"/>
              </a:spcBef>
            </a:pPr>
            <a:r>
              <a:rPr lang="en-US" sz="3602">
                <a:solidFill>
                  <a:srgbClr val="000000"/>
                </a:solidFill>
                <a:latin typeface="Lilita One"/>
                <a:ea typeface="Lilita One"/>
                <a:cs typeface="Lilita One"/>
                <a:sym typeface="Lilita One"/>
              </a:rPr>
              <a:t>EXAMPLES</a:t>
            </a:r>
          </a:p>
        </p:txBody>
      </p:sp>
      <p:sp>
        <p:nvSpPr>
          <p:cNvPr name="TextBox 6" id="6"/>
          <p:cNvSpPr txBox="true"/>
          <p:nvPr/>
        </p:nvSpPr>
        <p:spPr>
          <a:xfrm rot="0">
            <a:off x="1498587" y="6838605"/>
            <a:ext cx="7806994" cy="2380615"/>
          </a:xfrm>
          <a:prstGeom prst="rect">
            <a:avLst/>
          </a:prstGeom>
        </p:spPr>
        <p:txBody>
          <a:bodyPr anchor="t" rtlCol="false" tIns="0" lIns="0" bIns="0" rIns="0">
            <a:spAutoFit/>
          </a:bodyPr>
          <a:lstStyle/>
          <a:p>
            <a:pPr algn="l">
              <a:lnSpc>
                <a:spcPts val="4760"/>
              </a:lnSpc>
            </a:pPr>
            <a:r>
              <a:rPr lang="en-US" sz="3400">
                <a:solidFill>
                  <a:srgbClr val="000000"/>
                </a:solidFill>
                <a:latin typeface="Canva Sans"/>
                <a:ea typeface="Canva Sans"/>
                <a:cs typeface="Canva Sans"/>
                <a:sym typeface="Canva Sans"/>
              </a:rPr>
              <a:t>Improved perform</a:t>
            </a:r>
            <a:r>
              <a:rPr lang="en-US" sz="3400">
                <a:solidFill>
                  <a:srgbClr val="000000"/>
                </a:solidFill>
                <a:latin typeface="Canva Sans"/>
                <a:ea typeface="Canva Sans"/>
                <a:cs typeface="Canva Sans"/>
                <a:sym typeface="Canva Sans"/>
              </a:rPr>
              <a:t>ance in:</a:t>
            </a:r>
          </a:p>
          <a:p>
            <a:pPr algn="l" marL="734061" indent="-367031" lvl="1">
              <a:lnSpc>
                <a:spcPts val="4760"/>
              </a:lnSpc>
              <a:buFont typeface="Arial"/>
              <a:buChar char="•"/>
            </a:pPr>
            <a:r>
              <a:rPr lang="en-US" sz="3400">
                <a:solidFill>
                  <a:srgbClr val="000000"/>
                </a:solidFill>
                <a:latin typeface="Canva Sans"/>
                <a:ea typeface="Canva Sans"/>
                <a:cs typeface="Canva Sans"/>
                <a:sym typeface="Canva Sans"/>
              </a:rPr>
              <a:t>Variable tracking</a:t>
            </a:r>
          </a:p>
          <a:p>
            <a:pPr algn="l" marL="734061" indent="-367031" lvl="1">
              <a:lnSpc>
                <a:spcPts val="4760"/>
              </a:lnSpc>
              <a:buFont typeface="Arial"/>
              <a:buChar char="•"/>
            </a:pPr>
            <a:r>
              <a:rPr lang="en-US" sz="3400">
                <a:solidFill>
                  <a:srgbClr val="000000"/>
                </a:solidFill>
                <a:latin typeface="Canva Sans"/>
                <a:ea typeface="Canva Sans"/>
                <a:cs typeface="Canva Sans"/>
                <a:sym typeface="Canva Sans"/>
              </a:rPr>
              <a:t>Loop behavior</a:t>
            </a:r>
          </a:p>
          <a:p>
            <a:pPr algn="l" marL="734061" indent="-367031" lvl="1">
              <a:lnSpc>
                <a:spcPts val="4760"/>
              </a:lnSpc>
              <a:buFont typeface="Arial"/>
              <a:buChar char="•"/>
            </a:pPr>
            <a:r>
              <a:rPr lang="en-US" sz="3400">
                <a:solidFill>
                  <a:srgbClr val="000000"/>
                </a:solidFill>
                <a:latin typeface="Canva Sans"/>
                <a:ea typeface="Canva Sans"/>
                <a:cs typeface="Canva Sans"/>
                <a:sym typeface="Canva Sans"/>
              </a:rPr>
              <a:t>Conditional reasoning</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79C7FF"/>
        </a:solidFill>
      </p:bgPr>
    </p:bg>
    <p:spTree>
      <p:nvGrpSpPr>
        <p:cNvPr id="1" name=""/>
        <p:cNvGrpSpPr/>
        <p:nvPr/>
      </p:nvGrpSpPr>
      <p:grpSpPr>
        <a:xfrm>
          <a:off x="0" y="0"/>
          <a:ext cx="0" cy="0"/>
          <a:chOff x="0" y="0"/>
          <a:chExt cx="0" cy="0"/>
        </a:xfrm>
      </p:grpSpPr>
      <p:sp>
        <p:nvSpPr>
          <p:cNvPr name="TextBox 2" id="2"/>
          <p:cNvSpPr txBox="true"/>
          <p:nvPr/>
        </p:nvSpPr>
        <p:spPr>
          <a:xfrm rot="0">
            <a:off x="5458196" y="857250"/>
            <a:ext cx="7371608" cy="1468166"/>
          </a:xfrm>
          <a:prstGeom prst="rect">
            <a:avLst/>
          </a:prstGeom>
        </p:spPr>
        <p:txBody>
          <a:bodyPr anchor="t" rtlCol="false" tIns="0" lIns="0" bIns="0" rIns="0">
            <a:spAutoFit/>
          </a:bodyPr>
          <a:lstStyle/>
          <a:p>
            <a:pPr algn="ctr">
              <a:lnSpc>
                <a:spcPts val="11999"/>
              </a:lnSpc>
              <a:spcBef>
                <a:spcPct val="0"/>
              </a:spcBef>
            </a:pPr>
            <a:r>
              <a:rPr lang="en-US" sz="8571">
                <a:solidFill>
                  <a:srgbClr val="1F2447"/>
                </a:solidFill>
                <a:latin typeface="Lilita One"/>
                <a:ea typeface="Lilita One"/>
                <a:cs typeface="Lilita One"/>
                <a:sym typeface="Lilita One"/>
              </a:rPr>
              <a:t>CONCLUSION</a:t>
            </a:r>
          </a:p>
        </p:txBody>
      </p:sp>
      <p:sp>
        <p:nvSpPr>
          <p:cNvPr name="TextBox 3" id="3"/>
          <p:cNvSpPr txBox="true"/>
          <p:nvPr/>
        </p:nvSpPr>
        <p:spPr>
          <a:xfrm rot="0">
            <a:off x="1028700" y="2742316"/>
            <a:ext cx="9829980" cy="5595620"/>
          </a:xfrm>
          <a:prstGeom prst="rect">
            <a:avLst/>
          </a:prstGeom>
        </p:spPr>
        <p:txBody>
          <a:bodyPr anchor="t" rtlCol="false" tIns="0" lIns="0" bIns="0" rIns="0">
            <a:spAutoFit/>
          </a:bodyPr>
          <a:lstStyle/>
          <a:p>
            <a:pPr algn="l">
              <a:lnSpc>
                <a:spcPts val="4480"/>
              </a:lnSpc>
              <a:spcBef>
                <a:spcPct val="0"/>
              </a:spcBef>
            </a:pPr>
            <a:r>
              <a:rPr lang="en-US" sz="3200">
                <a:solidFill>
                  <a:srgbClr val="000000"/>
                </a:solidFill>
                <a:latin typeface="Comic Sans"/>
                <a:ea typeface="Comic Sans"/>
                <a:cs typeface="Comic Sans"/>
                <a:sym typeface="Comic Sans"/>
              </a:rPr>
              <a:t>The paper demonstrates that integrating execution traces through the Execution Tuning (E.T.) approach enhances language models' ability to understand and predict code behavior. By leveraging runtime information and dynamic scratchpads, the method improves both forward and backward reasoning tasks. These improvements lead to higher accuracy in benchmarks and suggest broader applicability in code-understanding tasks.</a:t>
            </a:r>
          </a:p>
          <a:p>
            <a:pPr algn="l">
              <a:lnSpc>
                <a:spcPts val="4480"/>
              </a:lnSpc>
              <a:spcBef>
                <a:spcPct val="0"/>
              </a:spcBef>
            </a:pPr>
          </a:p>
        </p:txBody>
      </p:sp>
      <p:sp>
        <p:nvSpPr>
          <p:cNvPr name="Freeform 4" id="4"/>
          <p:cNvSpPr/>
          <p:nvPr/>
        </p:nvSpPr>
        <p:spPr>
          <a:xfrm flipH="false" flipV="false" rot="0">
            <a:off x="11217703" y="2325416"/>
            <a:ext cx="7316847" cy="7961584"/>
          </a:xfrm>
          <a:custGeom>
            <a:avLst/>
            <a:gdLst/>
            <a:ahLst/>
            <a:cxnLst/>
            <a:rect r="r" b="b" t="t" l="l"/>
            <a:pathLst>
              <a:path h="7961584" w="7316847">
                <a:moveTo>
                  <a:pt x="0" y="0"/>
                </a:moveTo>
                <a:lnTo>
                  <a:pt x="7316847" y="0"/>
                </a:lnTo>
                <a:lnTo>
                  <a:pt x="7316847" y="7961584"/>
                </a:lnTo>
                <a:lnTo>
                  <a:pt x="0" y="7961584"/>
                </a:lnTo>
                <a:lnTo>
                  <a:pt x="0" y="0"/>
                </a:lnTo>
                <a:close/>
              </a:path>
            </a:pathLst>
          </a:custGeom>
          <a:blipFill>
            <a:blip r:embed="rId2"/>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79C7FF"/>
        </a:solidFill>
      </p:bgPr>
    </p:bg>
    <p:spTree>
      <p:nvGrpSpPr>
        <p:cNvPr id="1" name=""/>
        <p:cNvGrpSpPr/>
        <p:nvPr/>
      </p:nvGrpSpPr>
      <p:grpSpPr>
        <a:xfrm>
          <a:off x="0" y="0"/>
          <a:ext cx="0" cy="0"/>
          <a:chOff x="0" y="0"/>
          <a:chExt cx="0" cy="0"/>
        </a:xfrm>
      </p:grpSpPr>
      <p:sp>
        <p:nvSpPr>
          <p:cNvPr name="Freeform 2" id="2"/>
          <p:cNvSpPr/>
          <p:nvPr/>
        </p:nvSpPr>
        <p:spPr>
          <a:xfrm flipH="false" flipV="false" rot="0">
            <a:off x="10637224" y="1960771"/>
            <a:ext cx="8674150" cy="8229600"/>
          </a:xfrm>
          <a:custGeom>
            <a:avLst/>
            <a:gdLst/>
            <a:ahLst/>
            <a:cxnLst/>
            <a:rect r="r" b="b" t="t" l="l"/>
            <a:pathLst>
              <a:path h="8229600" w="8674150">
                <a:moveTo>
                  <a:pt x="0" y="0"/>
                </a:moveTo>
                <a:lnTo>
                  <a:pt x="8674150" y="0"/>
                </a:lnTo>
                <a:lnTo>
                  <a:pt x="8674150" y="8229600"/>
                </a:lnTo>
                <a:lnTo>
                  <a:pt x="0" y="8229600"/>
                </a:lnTo>
                <a:lnTo>
                  <a:pt x="0" y="0"/>
                </a:lnTo>
                <a:close/>
              </a:path>
            </a:pathLst>
          </a:custGeom>
          <a:blipFill>
            <a:blip r:embed="rId2"/>
            <a:stretch>
              <a:fillRect l="0" t="0" r="0" b="0"/>
            </a:stretch>
          </a:blipFill>
        </p:spPr>
      </p:sp>
      <p:sp>
        <p:nvSpPr>
          <p:cNvPr name="TextBox 3" id="3"/>
          <p:cNvSpPr txBox="true"/>
          <p:nvPr/>
        </p:nvSpPr>
        <p:spPr>
          <a:xfrm rot="0">
            <a:off x="1028700" y="1114409"/>
            <a:ext cx="12484121" cy="2213743"/>
          </a:xfrm>
          <a:prstGeom prst="rect">
            <a:avLst/>
          </a:prstGeom>
        </p:spPr>
        <p:txBody>
          <a:bodyPr anchor="t" rtlCol="false" tIns="0" lIns="0" bIns="0" rIns="0">
            <a:spAutoFit/>
          </a:bodyPr>
          <a:lstStyle/>
          <a:p>
            <a:pPr algn="l">
              <a:lnSpc>
                <a:spcPts val="16324"/>
              </a:lnSpc>
            </a:pPr>
            <a:r>
              <a:rPr lang="en-US" sz="17004">
                <a:solidFill>
                  <a:srgbClr val="1F2447"/>
                </a:solidFill>
                <a:latin typeface="Lilita One"/>
                <a:ea typeface="Lilita One"/>
                <a:cs typeface="Lilita One"/>
                <a:sym typeface="Lilita One"/>
              </a:rPr>
              <a:t>THANK YOU</a:t>
            </a:r>
          </a:p>
        </p:txBody>
      </p:sp>
      <p:sp>
        <p:nvSpPr>
          <p:cNvPr name="TextBox 4" id="4"/>
          <p:cNvSpPr txBox="true"/>
          <p:nvPr/>
        </p:nvSpPr>
        <p:spPr>
          <a:xfrm rot="0">
            <a:off x="2641194" y="4633277"/>
            <a:ext cx="8390882" cy="906146"/>
          </a:xfrm>
          <a:prstGeom prst="rect">
            <a:avLst/>
          </a:prstGeom>
        </p:spPr>
        <p:txBody>
          <a:bodyPr anchor="t" rtlCol="false" tIns="0" lIns="0" bIns="0" rIns="0">
            <a:spAutoFit/>
          </a:bodyPr>
          <a:lstStyle/>
          <a:p>
            <a:pPr algn="ctr">
              <a:lnSpc>
                <a:spcPts val="7279"/>
              </a:lnSpc>
              <a:spcBef>
                <a:spcPct val="0"/>
              </a:spcBef>
            </a:pPr>
            <a:r>
              <a:rPr lang="en-US" sz="5199">
                <a:solidFill>
                  <a:srgbClr val="1F2447"/>
                </a:solidFill>
                <a:latin typeface="Permanent Marker"/>
                <a:ea typeface="Permanent Marker"/>
                <a:cs typeface="Permanent Marker"/>
                <a:sym typeface="Permanent Marker"/>
              </a:rPr>
              <a:t>Any Questions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DAGmgJSWovQ</dc:identifier>
  <dcterms:modified xsi:type="dcterms:W3CDTF">2011-08-01T06:04:30Z</dcterms:modified>
  <cp:revision>1</cp:revision>
  <dc:title>Light Blue Black Organic Shapes and Tropical Accents Research Paper Presentation</dc:title>
</cp:coreProperties>
</file>