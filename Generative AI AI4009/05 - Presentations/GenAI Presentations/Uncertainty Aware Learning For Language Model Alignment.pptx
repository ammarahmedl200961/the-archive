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Old Standard TT"/>
      <p:regular r:id="rId47"/>
      <p:bold r:id="rId48"/>
      <p: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DCDC78-95A9-431C-8A79-844C4D413082}">
  <a:tblStyle styleId="{8BDCDC78-95A9-431C-8A79-844C4D41308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ldStandardTT-bold.fntdata"/><Relationship Id="rId47" Type="http://schemas.openxmlformats.org/officeDocument/2006/relationships/font" Target="fonts/OldStandardTT-regular.fntdata"/><Relationship Id="rId49" Type="http://schemas.openxmlformats.org/officeDocument/2006/relationships/font" Target="fonts/OldStandardT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5c8c79da0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55c8c79da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Key Results: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High Entropy only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Performs well on High Entropy tasks (conversations, unpredictable contexts)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Fails on Low Entropy tasks (math, structured problems)</a:t>
            </a:r>
            <a:br>
              <a:rPr b="1" lang="en">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Low Entropy only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Performs well on Low Entropy tasks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Fails on High Entropy tasks (dialogues, open-ended questions)</a:t>
            </a:r>
            <a:br>
              <a:rPr b="1" lang="en">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Mixed (SFT)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Moderate performance on both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robust → weaker generalization</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Mixed (UAL)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Best overall performance</a:t>
            </a:r>
            <a:r>
              <a:rPr lang="en">
                <a:solidFill>
                  <a:schemeClr val="dk1"/>
                </a:solidFill>
              </a:rPr>
              <a:t> → good on BOTH Low and High Entropy tasks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Most robust and generalized model</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Handles diverse and mixed scenarios smoothly.</a:t>
            </a:r>
            <a:endParaRPr>
              <a:solidFill>
                <a:schemeClr val="dk1"/>
              </a:solidFill>
            </a:endParaRPr>
          </a:p>
          <a:p>
            <a:pPr indent="0" lvl="0" marL="0" rtl="0" algn="l">
              <a:lnSpc>
                <a:spcPct val="100000"/>
              </a:lnSpc>
              <a:spcBef>
                <a:spcPts val="120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b="1" lang="en"/>
              <a:t>Model</a:t>
            </a:r>
            <a:endParaRPr b="1"/>
          </a:p>
          <a:p>
            <a:pPr indent="0" lvl="0" marL="0" rtl="0" algn="ctr">
              <a:lnSpc>
                <a:spcPct val="115000"/>
              </a:lnSpc>
              <a:spcBef>
                <a:spcPts val="0"/>
              </a:spcBef>
              <a:spcAft>
                <a:spcPts val="0"/>
              </a:spcAft>
              <a:buSzPts val="1400"/>
              <a:buNone/>
            </a:pPr>
            <a:r>
              <a:rPr b="1" lang="en"/>
              <a:t>Math (Average)</a:t>
            </a:r>
            <a:endParaRPr b="1"/>
          </a:p>
          <a:p>
            <a:pPr indent="0" lvl="0" marL="0" rtl="0" algn="ctr">
              <a:lnSpc>
                <a:spcPct val="115000"/>
              </a:lnSpc>
              <a:spcBef>
                <a:spcPts val="0"/>
              </a:spcBef>
              <a:spcAft>
                <a:spcPts val="0"/>
              </a:spcAft>
              <a:buSzPts val="1400"/>
              <a:buNone/>
            </a:pPr>
            <a:r>
              <a:rPr b="1" lang="en"/>
              <a:t>Dialogue (AlpacaEval)</a:t>
            </a:r>
            <a:endParaRPr b="1"/>
          </a:p>
          <a:p>
            <a:pPr indent="0" lvl="0" marL="0" rtl="0" algn="l">
              <a:lnSpc>
                <a:spcPct val="100000"/>
              </a:lnSpc>
              <a:spcBef>
                <a:spcPts val="0"/>
              </a:spcBef>
              <a:spcAft>
                <a:spcPts val="0"/>
              </a:spcAft>
              <a:buSzPts val="1400"/>
              <a:buNone/>
            </a:pPr>
            <a:r>
              <a:rPr lang="en" sz="1400"/>
              <a:t>Base Model</a:t>
            </a:r>
            <a:endParaRPr sz="1400"/>
          </a:p>
          <a:p>
            <a:pPr indent="0" lvl="0" marL="0" rtl="0" algn="l">
              <a:lnSpc>
                <a:spcPct val="100000"/>
              </a:lnSpc>
              <a:spcBef>
                <a:spcPts val="0"/>
              </a:spcBef>
              <a:spcAft>
                <a:spcPts val="0"/>
              </a:spcAft>
              <a:buSzPts val="1400"/>
              <a:buNone/>
            </a:pPr>
            <a:r>
              <a:rPr lang="en" sz="1400"/>
              <a:t>29.40 → Poor</a:t>
            </a:r>
            <a:endParaRPr sz="1400"/>
          </a:p>
          <a:p>
            <a:pPr indent="0" lvl="0" marL="0" rtl="0" algn="l">
              <a:lnSpc>
                <a:spcPct val="100000"/>
              </a:lnSpc>
              <a:spcBef>
                <a:spcPts val="0"/>
              </a:spcBef>
              <a:spcAft>
                <a:spcPts val="0"/>
              </a:spcAft>
              <a:buSzPts val="1400"/>
              <a:buNone/>
            </a:pPr>
            <a:r>
              <a:rPr lang="en" sz="1400"/>
              <a:t>- (Not tested)</a:t>
            </a:r>
            <a:endParaRPr sz="1400"/>
          </a:p>
          <a:p>
            <a:pPr indent="0" lvl="0" marL="0" rtl="0" algn="l">
              <a:lnSpc>
                <a:spcPct val="100000"/>
              </a:lnSpc>
              <a:spcBef>
                <a:spcPts val="0"/>
              </a:spcBef>
              <a:spcAft>
                <a:spcPts val="0"/>
              </a:spcAft>
              <a:buSzPts val="1400"/>
              <a:buNone/>
            </a:pPr>
            <a:r>
              <a:rPr lang="en" sz="1400"/>
              <a:t>High Entropy SFT</a:t>
            </a:r>
            <a:endParaRPr sz="1400"/>
          </a:p>
          <a:p>
            <a:pPr indent="0" lvl="0" marL="0" rtl="0" algn="l">
              <a:lnSpc>
                <a:spcPct val="100000"/>
              </a:lnSpc>
              <a:spcBef>
                <a:spcPts val="0"/>
              </a:spcBef>
              <a:spcAft>
                <a:spcPts val="0"/>
              </a:spcAft>
              <a:buSzPts val="1400"/>
              <a:buNone/>
            </a:pPr>
            <a:r>
              <a:rPr lang="en" sz="1400"/>
              <a:t>38.27 → Weak on math</a:t>
            </a:r>
            <a:endParaRPr sz="1400"/>
          </a:p>
          <a:p>
            <a:pPr indent="0" lvl="0" marL="0" rtl="0" algn="l">
              <a:lnSpc>
                <a:spcPct val="100000"/>
              </a:lnSpc>
              <a:spcBef>
                <a:spcPts val="0"/>
              </a:spcBef>
              <a:spcAft>
                <a:spcPts val="0"/>
              </a:spcAft>
              <a:buSzPts val="1400"/>
              <a:buNone/>
            </a:pPr>
            <a:r>
              <a:rPr lang="en" sz="1400"/>
              <a:t>68.81 → Good on dialogue</a:t>
            </a:r>
            <a:endParaRPr sz="1400"/>
          </a:p>
          <a:p>
            <a:pPr indent="0" lvl="0" marL="0" rtl="0" algn="l">
              <a:lnSpc>
                <a:spcPct val="100000"/>
              </a:lnSpc>
              <a:spcBef>
                <a:spcPts val="0"/>
              </a:spcBef>
              <a:spcAft>
                <a:spcPts val="0"/>
              </a:spcAft>
              <a:buSzPts val="1400"/>
              <a:buNone/>
            </a:pPr>
            <a:r>
              <a:rPr lang="en" sz="1400"/>
              <a:t>Low Entropy SFT</a:t>
            </a:r>
            <a:endParaRPr sz="1400"/>
          </a:p>
          <a:p>
            <a:pPr indent="0" lvl="0" marL="0" rtl="0" algn="l">
              <a:lnSpc>
                <a:spcPct val="100000"/>
              </a:lnSpc>
              <a:spcBef>
                <a:spcPts val="0"/>
              </a:spcBef>
              <a:spcAft>
                <a:spcPts val="0"/>
              </a:spcAft>
              <a:buSzPts val="1400"/>
              <a:buNone/>
            </a:pPr>
            <a:r>
              <a:rPr lang="en" sz="1400"/>
              <a:t>46.51 → Good on math</a:t>
            </a:r>
            <a:endParaRPr sz="1400"/>
          </a:p>
          <a:p>
            <a:pPr indent="0" lvl="0" marL="0" rtl="0" algn="l">
              <a:lnSpc>
                <a:spcPct val="100000"/>
              </a:lnSpc>
              <a:spcBef>
                <a:spcPts val="0"/>
              </a:spcBef>
              <a:spcAft>
                <a:spcPts val="0"/>
              </a:spcAft>
              <a:buSzPts val="1400"/>
              <a:buNone/>
            </a:pPr>
            <a:r>
              <a:rPr lang="en" sz="1400"/>
              <a:t>37.05 → Poor on dialogue</a:t>
            </a:r>
            <a:endParaRPr sz="1400"/>
          </a:p>
          <a:p>
            <a:pPr indent="0" lvl="0" marL="0" rtl="0" algn="l">
              <a:lnSpc>
                <a:spcPct val="100000"/>
              </a:lnSpc>
              <a:spcBef>
                <a:spcPts val="0"/>
              </a:spcBef>
              <a:spcAft>
                <a:spcPts val="0"/>
              </a:spcAft>
              <a:buSzPts val="1400"/>
              <a:buNone/>
            </a:pPr>
            <a:r>
              <a:rPr lang="en" sz="1400"/>
              <a:t>Mixed SFT</a:t>
            </a:r>
            <a:endParaRPr sz="1400"/>
          </a:p>
          <a:p>
            <a:pPr indent="0" lvl="0" marL="0" rtl="0" algn="l">
              <a:lnSpc>
                <a:spcPct val="100000"/>
              </a:lnSpc>
              <a:spcBef>
                <a:spcPts val="0"/>
              </a:spcBef>
              <a:spcAft>
                <a:spcPts val="0"/>
              </a:spcAft>
              <a:buSzPts val="1400"/>
              <a:buNone/>
            </a:pPr>
            <a:r>
              <a:rPr lang="en" sz="1400"/>
              <a:t>42.70 → Decent on math</a:t>
            </a:r>
            <a:endParaRPr sz="1400"/>
          </a:p>
          <a:p>
            <a:pPr indent="0" lvl="0" marL="0" rtl="0" algn="l">
              <a:lnSpc>
                <a:spcPct val="100000"/>
              </a:lnSpc>
              <a:spcBef>
                <a:spcPts val="0"/>
              </a:spcBef>
              <a:spcAft>
                <a:spcPts val="0"/>
              </a:spcAft>
              <a:buSzPts val="1400"/>
              <a:buNone/>
            </a:pPr>
            <a:r>
              <a:rPr lang="en" sz="1400"/>
              <a:t>55.08 → Better on dialogue</a:t>
            </a:r>
            <a:endParaRPr sz="1400"/>
          </a:p>
          <a:p>
            <a:pPr indent="0" lvl="0" marL="0" rtl="0" algn="l">
              <a:lnSpc>
                <a:spcPct val="100000"/>
              </a:lnSpc>
              <a:spcBef>
                <a:spcPts val="0"/>
              </a:spcBef>
              <a:spcAft>
                <a:spcPts val="0"/>
              </a:spcAft>
              <a:buSzPts val="1400"/>
              <a:buNone/>
            </a:pPr>
            <a:r>
              <a:rPr lang="en" sz="1400"/>
              <a:t>Mixed (Ours - UAL)</a:t>
            </a:r>
            <a:endParaRPr sz="1400"/>
          </a:p>
          <a:p>
            <a:pPr indent="0" lvl="0" marL="0" rtl="0" algn="l">
              <a:lnSpc>
                <a:spcPct val="100000"/>
              </a:lnSpc>
              <a:spcBef>
                <a:spcPts val="0"/>
              </a:spcBef>
              <a:spcAft>
                <a:spcPts val="0"/>
              </a:spcAft>
              <a:buSzPts val="1400"/>
              <a:buNone/>
            </a:pPr>
            <a:r>
              <a:rPr b="1" lang="en"/>
              <a:t>44.51 → Best balanced</a:t>
            </a:r>
            <a:endParaRPr b="1"/>
          </a:p>
          <a:p>
            <a:pPr indent="0" lvl="0" marL="0" rtl="0" algn="l">
              <a:lnSpc>
                <a:spcPct val="100000"/>
              </a:lnSpc>
              <a:spcBef>
                <a:spcPts val="0"/>
              </a:spcBef>
              <a:spcAft>
                <a:spcPts val="0"/>
              </a:spcAft>
              <a:buSzPts val="1400"/>
              <a:buNone/>
            </a:pPr>
            <a:r>
              <a:rPr b="1" lang="en"/>
              <a:t>65.70 → Best general dialogue</a:t>
            </a:r>
            <a:endParaRPr b="1"/>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UAL goes a step further: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Estimates uncertainty dynamically per sample/question → e.g. using GPT-4 or PPL</a:t>
            </a:r>
            <a:br>
              <a:rPr b="1" lang="en">
                <a:solidFill>
                  <a:schemeClr val="dk1"/>
                </a:solidFill>
              </a:rPr>
            </a:br>
            <a:r>
              <a:rPr lang="en">
                <a:solidFill>
                  <a:schemeClr val="dk1"/>
                </a:solidFill>
              </a:rPr>
              <a:t> → The model learns which questions it is actually unsure about.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Adapts training based on that uncertainty → applies smoothing or adjustment only when necessary</a:t>
            </a:r>
            <a:br>
              <a:rPr b="1" lang="en">
                <a:solidFill>
                  <a:schemeClr val="dk1"/>
                </a:solidFill>
              </a:rPr>
            </a:br>
            <a:r>
              <a:rPr lang="en">
                <a:solidFill>
                  <a:schemeClr val="dk1"/>
                </a:solidFill>
              </a:rPr>
              <a:t> → If the model is confident → don't smooth much.</a:t>
            </a:r>
            <a:br>
              <a:rPr lang="en">
                <a:solidFill>
                  <a:schemeClr val="dk1"/>
                </a:solidFill>
              </a:rPr>
            </a:br>
            <a:r>
              <a:rPr lang="en">
                <a:solidFill>
                  <a:schemeClr val="dk1"/>
                </a:solidFill>
              </a:rPr>
              <a:t> → If the model is uncertain → smooth more to avoid wrong overconfident learning.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Helps model to not "overfit" on hard or ambiguous examples</a:t>
            </a:r>
            <a:br>
              <a:rPr b="1" lang="en">
                <a:solidFill>
                  <a:schemeClr val="dk1"/>
                </a:solidFill>
              </a:rPr>
            </a:br>
            <a:r>
              <a:rPr lang="en">
                <a:solidFill>
                  <a:schemeClr val="dk1"/>
                </a:solidFill>
              </a:rPr>
              <a:t> → Some examples may have multiple valid answers → UAL ensures the model doesn’t lock onto one wrong pattern.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Balances learning better between easy and hard tasks</a:t>
            </a:r>
            <a:br>
              <a:rPr b="1" lang="en">
                <a:solidFill>
                  <a:schemeClr val="dk1"/>
                </a:solidFill>
              </a:rPr>
            </a:br>
            <a:r>
              <a:rPr lang="en">
                <a:solidFill>
                  <a:schemeClr val="dk1"/>
                </a:solidFill>
              </a:rPr>
              <a:t> → Unlike LS, which applies uniformly, UAL focuses smoothing where it really matters.</a:t>
            </a:r>
            <a:endParaRPr>
              <a:solidFill>
                <a:schemeClr val="dk1"/>
              </a:solidFill>
            </a:endParaRPr>
          </a:p>
          <a:p>
            <a:pPr indent="0" lvl="0" marL="0" rtl="0" algn="l">
              <a:lnSpc>
                <a:spcPct val="100000"/>
              </a:lnSpc>
              <a:spcBef>
                <a:spcPts val="120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Much </a:t>
            </a:r>
            <a:r>
              <a:rPr b="1" lang="en">
                <a:solidFill>
                  <a:schemeClr val="dk1"/>
                </a:solidFill>
              </a:rPr>
              <a:t>more detailed</a:t>
            </a:r>
            <a:r>
              <a:rPr lang="en">
                <a:solidFill>
                  <a:schemeClr val="dk1"/>
                </a:solidFill>
              </a:rPr>
              <a:t> and </a:t>
            </a:r>
            <a:r>
              <a:rPr b="1" lang="en">
                <a:solidFill>
                  <a:schemeClr val="dk1"/>
                </a:solidFill>
              </a:rPr>
              <a:t>empathetic</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Focuses on:</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Grieving process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Avoiding rebound relationships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Letting go of the past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Giving yourself time and care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Reads like a </a:t>
            </a:r>
            <a:r>
              <a:rPr b="1" lang="en">
                <a:solidFill>
                  <a:schemeClr val="dk1"/>
                </a:solidFill>
              </a:rPr>
              <a:t>natural, human answer</a:t>
            </a:r>
            <a:r>
              <a:rPr lang="en">
                <a:solidFill>
                  <a:schemeClr val="dk1"/>
                </a:solidFill>
              </a:rPr>
              <a:t> → warm, nuanced, practical.</a:t>
            </a:r>
            <a:br>
              <a:rPr lang="en">
                <a:solidFill>
                  <a:schemeClr val="dk1"/>
                </a:solidFill>
              </a:rPr>
            </a:b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Supervised Finetuning Answer → Weaker response: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Shorter and less comprehensive.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Generic → only mentions: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Taking time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Practicing forgiveness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Focusing on the future</a:t>
            </a:r>
            <a:endParaRPr>
              <a:solidFill>
                <a:schemeClr val="dk1"/>
              </a:solidFill>
            </a:endParaRPr>
          </a:p>
          <a:p>
            <a:pPr indent="0" lvl="0" marL="0" rtl="0" algn="l">
              <a:lnSpc>
                <a:spcPct val="100000"/>
              </a:lnSpc>
              <a:spcBef>
                <a:spcPts val="1200"/>
              </a:spcBef>
              <a:spcAft>
                <a:spcPts val="0"/>
              </a:spcAft>
              <a:buSzPts val="1400"/>
              <a:buNone/>
            </a:pPr>
            <a:br>
              <a:rPr lang="en"/>
            </a:br>
            <a:r>
              <a:rPr b="1" lang="en" sz="1300">
                <a:solidFill>
                  <a:schemeClr val="dk1"/>
                </a:solidFill>
              </a:rPr>
              <a:t>UAL (Ours) Answer → Better response: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Clearly states: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There are </a:t>
            </a:r>
            <a:r>
              <a:rPr b="1" lang="en">
                <a:solidFill>
                  <a:schemeClr val="dk1"/>
                </a:solidFill>
              </a:rPr>
              <a:t>claims and controversy</a:t>
            </a:r>
            <a:r>
              <a:rPr lang="en">
                <a:solidFill>
                  <a:schemeClr val="dk1"/>
                </a:solidFill>
              </a:rPr>
              <a:t>, BUT → </a:t>
            </a:r>
            <a:r>
              <a:rPr b="1" lang="en">
                <a:solidFill>
                  <a:schemeClr val="dk1"/>
                </a:solidFill>
              </a:rPr>
              <a:t>no credible evidence of fraud</a:t>
            </a:r>
            <a:r>
              <a:rPr lang="en">
                <a:solidFill>
                  <a:schemeClr val="dk1"/>
                </a:solidFill>
              </a:rPr>
              <a: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Lists states with vote margins → but explains they were legitimate wins.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Ends with → </a:t>
            </a:r>
            <a:r>
              <a:rPr b="1" lang="en">
                <a:solidFill>
                  <a:schemeClr val="dk1"/>
                </a:solidFill>
              </a:rPr>
              <a:t>"there has been no credible evidence to support the claims"</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Balanced, fact-based, </a:t>
            </a:r>
            <a:r>
              <a:rPr b="1" lang="en">
                <a:solidFill>
                  <a:schemeClr val="dk1"/>
                </a:solidFill>
              </a:rPr>
              <a:t>counters misinformation clearly</a:t>
            </a:r>
            <a:r>
              <a:rPr lang="en">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Supervised Finetuning Answer → Weaker response: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Lists states where cheating was "alleged" but: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 clarification → leaves it ambiguous.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Ends with vague disclaimer → </a:t>
            </a:r>
            <a:r>
              <a:rPr b="1" lang="en">
                <a:solidFill>
                  <a:schemeClr val="dk1"/>
                </a:solidFill>
              </a:rPr>
              <a:t>"I'm not making any claims..."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Could be interpreted as accepting the cheating narrative → </a:t>
            </a:r>
            <a:r>
              <a:rPr b="1" lang="en">
                <a:solidFill>
                  <a:schemeClr val="dk1"/>
                </a:solidFill>
              </a:rPr>
              <a:t>dangerous</a:t>
            </a:r>
            <a:r>
              <a:rPr lang="en">
                <a:solidFill>
                  <a:schemeClr val="dk1"/>
                </a:solidFill>
              </a:rPr>
              <a:t>.</a:t>
            </a:r>
            <a:endParaRPr>
              <a:solidFill>
                <a:schemeClr val="dk1"/>
              </a:solidFill>
            </a:endParaRPr>
          </a:p>
          <a:p>
            <a:pPr indent="0" lvl="0" marL="0" rtl="0" algn="l">
              <a:lnSpc>
                <a:spcPct val="100000"/>
              </a:lnSpc>
              <a:spcBef>
                <a:spcPts val="120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After obtaining these responses, we use GPT-4 in place of human judgment to gather preference data. Although some studies suggest that LLMs-as-judge may exhibit a certain degree of bias (Zhao et al., 2023; Sottana et al., 2023; Xu et al., 2024), strong proprietary LLMs, e.g., GPT-4, are capable of making preference determinations that are highly consistent with those of human annotators (Dubois et al., 2023), thus proving to be wellsuited for the task of evaluating model response quality.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5c8c79da0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55c8c79da0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4200"/>
              <a:buNone/>
              <a:defRPr sz="4200">
                <a:solidFill>
                  <a:schemeClr val="accent1"/>
                </a:solidFill>
              </a:defRPr>
            </a:lvl1pPr>
            <a:lvl2pPr lvl="1" algn="l">
              <a:lnSpc>
                <a:spcPct val="100000"/>
              </a:lnSpc>
              <a:spcBef>
                <a:spcPts val="0"/>
              </a:spcBef>
              <a:spcAft>
                <a:spcPts val="0"/>
              </a:spcAft>
              <a:buClr>
                <a:schemeClr val="accent1"/>
              </a:buClr>
              <a:buSzPts val="4200"/>
              <a:buNone/>
              <a:defRPr sz="4200">
                <a:solidFill>
                  <a:schemeClr val="accent1"/>
                </a:solidFill>
              </a:defRPr>
            </a:lvl2pPr>
            <a:lvl3pPr lvl="2" algn="l">
              <a:lnSpc>
                <a:spcPct val="100000"/>
              </a:lnSpc>
              <a:spcBef>
                <a:spcPts val="0"/>
              </a:spcBef>
              <a:spcAft>
                <a:spcPts val="0"/>
              </a:spcAft>
              <a:buClr>
                <a:schemeClr val="accent1"/>
              </a:buClr>
              <a:buSzPts val="4200"/>
              <a:buNone/>
              <a:defRPr sz="4200">
                <a:solidFill>
                  <a:schemeClr val="accent1"/>
                </a:solidFill>
              </a:defRPr>
            </a:lvl3pPr>
            <a:lvl4pPr lvl="3" algn="l">
              <a:lnSpc>
                <a:spcPct val="100000"/>
              </a:lnSpc>
              <a:spcBef>
                <a:spcPts val="0"/>
              </a:spcBef>
              <a:spcAft>
                <a:spcPts val="0"/>
              </a:spcAft>
              <a:buClr>
                <a:schemeClr val="accent1"/>
              </a:buClr>
              <a:buSzPts val="4200"/>
              <a:buNone/>
              <a:defRPr sz="4200">
                <a:solidFill>
                  <a:schemeClr val="accent1"/>
                </a:solidFill>
              </a:defRPr>
            </a:lvl4pPr>
            <a:lvl5pPr lvl="4" algn="l">
              <a:lnSpc>
                <a:spcPct val="100000"/>
              </a:lnSpc>
              <a:spcBef>
                <a:spcPts val="0"/>
              </a:spcBef>
              <a:spcAft>
                <a:spcPts val="0"/>
              </a:spcAft>
              <a:buClr>
                <a:schemeClr val="accent1"/>
              </a:buClr>
              <a:buSzPts val="4200"/>
              <a:buNone/>
              <a:defRPr sz="4200">
                <a:solidFill>
                  <a:schemeClr val="accent1"/>
                </a:solidFill>
              </a:defRPr>
            </a:lvl5pPr>
            <a:lvl6pPr lvl="5" algn="l">
              <a:lnSpc>
                <a:spcPct val="100000"/>
              </a:lnSpc>
              <a:spcBef>
                <a:spcPts val="0"/>
              </a:spcBef>
              <a:spcAft>
                <a:spcPts val="0"/>
              </a:spcAft>
              <a:buClr>
                <a:schemeClr val="accent1"/>
              </a:buClr>
              <a:buSzPts val="4200"/>
              <a:buNone/>
              <a:defRPr sz="4200">
                <a:solidFill>
                  <a:schemeClr val="accent1"/>
                </a:solidFill>
              </a:defRPr>
            </a:lvl6pPr>
            <a:lvl7pPr lvl="6" algn="l">
              <a:lnSpc>
                <a:spcPct val="100000"/>
              </a:lnSpc>
              <a:spcBef>
                <a:spcPts val="0"/>
              </a:spcBef>
              <a:spcAft>
                <a:spcPts val="0"/>
              </a:spcAft>
              <a:buClr>
                <a:schemeClr val="accent1"/>
              </a:buClr>
              <a:buSzPts val="4200"/>
              <a:buNone/>
              <a:defRPr sz="4200">
                <a:solidFill>
                  <a:schemeClr val="accent1"/>
                </a:solidFill>
              </a:defRPr>
            </a:lvl7pPr>
            <a:lvl8pPr lvl="7" algn="l">
              <a:lnSpc>
                <a:spcPct val="100000"/>
              </a:lnSpc>
              <a:spcBef>
                <a:spcPts val="0"/>
              </a:spcBef>
              <a:spcAft>
                <a:spcPts val="0"/>
              </a:spcAft>
              <a:buClr>
                <a:schemeClr val="accent1"/>
              </a:buClr>
              <a:buSzPts val="4200"/>
              <a:buNone/>
              <a:defRPr sz="4200">
                <a:solidFill>
                  <a:schemeClr val="accent1"/>
                </a:solidFill>
              </a:defRPr>
            </a:lvl8pPr>
            <a:lvl9pPr lvl="8" algn="l">
              <a:lnSpc>
                <a:spcPct val="100000"/>
              </a:lnSpc>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2400"/>
              <a:buNone/>
              <a:defRPr sz="2400">
                <a:solidFill>
                  <a:schemeClr val="accent2"/>
                </a:solidFill>
              </a:defRPr>
            </a:lvl1pPr>
            <a:lvl2pPr lvl="1" algn="l">
              <a:lnSpc>
                <a:spcPct val="100000"/>
              </a:lnSpc>
              <a:spcBef>
                <a:spcPts val="0"/>
              </a:spcBef>
              <a:spcAft>
                <a:spcPts val="0"/>
              </a:spcAft>
              <a:buClr>
                <a:schemeClr val="accent2"/>
              </a:buClr>
              <a:buSzPts val="2400"/>
              <a:buNone/>
              <a:defRPr sz="2400">
                <a:solidFill>
                  <a:schemeClr val="accent2"/>
                </a:solidFill>
              </a:defRPr>
            </a:lvl2pPr>
            <a:lvl3pPr lvl="2" algn="l">
              <a:lnSpc>
                <a:spcPct val="100000"/>
              </a:lnSpc>
              <a:spcBef>
                <a:spcPts val="0"/>
              </a:spcBef>
              <a:spcAft>
                <a:spcPts val="0"/>
              </a:spcAft>
              <a:buClr>
                <a:schemeClr val="accent2"/>
              </a:buClr>
              <a:buSzPts val="2400"/>
              <a:buNone/>
              <a:defRPr sz="2400">
                <a:solidFill>
                  <a:schemeClr val="accent2"/>
                </a:solidFill>
              </a:defRPr>
            </a:lvl3pPr>
            <a:lvl4pPr lvl="3" algn="l">
              <a:lnSpc>
                <a:spcPct val="100000"/>
              </a:lnSpc>
              <a:spcBef>
                <a:spcPts val="0"/>
              </a:spcBef>
              <a:spcAft>
                <a:spcPts val="0"/>
              </a:spcAft>
              <a:buClr>
                <a:schemeClr val="accent2"/>
              </a:buClr>
              <a:buSzPts val="2400"/>
              <a:buNone/>
              <a:defRPr sz="2400">
                <a:solidFill>
                  <a:schemeClr val="accent2"/>
                </a:solidFill>
              </a:defRPr>
            </a:lvl4pPr>
            <a:lvl5pPr lvl="4" algn="l">
              <a:lnSpc>
                <a:spcPct val="100000"/>
              </a:lnSpc>
              <a:spcBef>
                <a:spcPts val="0"/>
              </a:spcBef>
              <a:spcAft>
                <a:spcPts val="0"/>
              </a:spcAft>
              <a:buClr>
                <a:schemeClr val="accent2"/>
              </a:buClr>
              <a:buSzPts val="2400"/>
              <a:buNone/>
              <a:defRPr sz="2400">
                <a:solidFill>
                  <a:schemeClr val="accent2"/>
                </a:solidFill>
              </a:defRPr>
            </a:lvl5pPr>
            <a:lvl6pPr lvl="5" algn="l">
              <a:lnSpc>
                <a:spcPct val="100000"/>
              </a:lnSpc>
              <a:spcBef>
                <a:spcPts val="0"/>
              </a:spcBef>
              <a:spcAft>
                <a:spcPts val="0"/>
              </a:spcAft>
              <a:buClr>
                <a:schemeClr val="accent2"/>
              </a:buClr>
              <a:buSzPts val="2400"/>
              <a:buNone/>
              <a:defRPr sz="2400">
                <a:solidFill>
                  <a:schemeClr val="accent2"/>
                </a:solidFill>
              </a:defRPr>
            </a:lvl6pPr>
            <a:lvl7pPr lvl="6" algn="l">
              <a:lnSpc>
                <a:spcPct val="100000"/>
              </a:lnSpc>
              <a:spcBef>
                <a:spcPts val="0"/>
              </a:spcBef>
              <a:spcAft>
                <a:spcPts val="0"/>
              </a:spcAft>
              <a:buClr>
                <a:schemeClr val="accent2"/>
              </a:buClr>
              <a:buSzPts val="2400"/>
              <a:buNone/>
              <a:defRPr sz="2400">
                <a:solidFill>
                  <a:schemeClr val="accent2"/>
                </a:solidFill>
              </a:defRPr>
            </a:lvl7pPr>
            <a:lvl8pPr lvl="7" algn="l">
              <a:lnSpc>
                <a:spcPct val="100000"/>
              </a:lnSpc>
              <a:spcBef>
                <a:spcPts val="0"/>
              </a:spcBef>
              <a:spcAft>
                <a:spcPts val="0"/>
              </a:spcAft>
              <a:buClr>
                <a:schemeClr val="accent2"/>
              </a:buClr>
              <a:buSzPts val="2400"/>
              <a:buNone/>
              <a:defRPr sz="2400">
                <a:solidFill>
                  <a:schemeClr val="accent2"/>
                </a:solidFill>
              </a:defRPr>
            </a:lvl8pPr>
            <a:lvl9pPr lvl="8" algn="l">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490250" y="526350"/>
            <a:ext cx="56040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accent1"/>
              </a:buClr>
              <a:buSzPts val="5400"/>
              <a:buNone/>
              <a:defRPr sz="5400">
                <a:solidFill>
                  <a:schemeClr val="accent1"/>
                </a:solidFill>
              </a:defRPr>
            </a:lvl1pPr>
            <a:lvl2pPr lvl="1" algn="l">
              <a:lnSpc>
                <a:spcPct val="100000"/>
              </a:lnSpc>
              <a:spcBef>
                <a:spcPts val="0"/>
              </a:spcBef>
              <a:spcAft>
                <a:spcPts val="0"/>
              </a:spcAft>
              <a:buClr>
                <a:schemeClr val="accent1"/>
              </a:buClr>
              <a:buSzPts val="5400"/>
              <a:buNone/>
              <a:defRPr sz="5400">
                <a:solidFill>
                  <a:schemeClr val="accent1"/>
                </a:solidFill>
              </a:defRPr>
            </a:lvl2pPr>
            <a:lvl3pPr lvl="2" algn="l">
              <a:lnSpc>
                <a:spcPct val="100000"/>
              </a:lnSpc>
              <a:spcBef>
                <a:spcPts val="0"/>
              </a:spcBef>
              <a:spcAft>
                <a:spcPts val="0"/>
              </a:spcAft>
              <a:buClr>
                <a:schemeClr val="accent1"/>
              </a:buClr>
              <a:buSzPts val="5400"/>
              <a:buNone/>
              <a:defRPr sz="5400">
                <a:solidFill>
                  <a:schemeClr val="accent1"/>
                </a:solidFill>
              </a:defRPr>
            </a:lvl3pPr>
            <a:lvl4pPr lvl="3" algn="l">
              <a:lnSpc>
                <a:spcPct val="100000"/>
              </a:lnSpc>
              <a:spcBef>
                <a:spcPts val="0"/>
              </a:spcBef>
              <a:spcAft>
                <a:spcPts val="0"/>
              </a:spcAft>
              <a:buClr>
                <a:schemeClr val="accent1"/>
              </a:buClr>
              <a:buSzPts val="5400"/>
              <a:buNone/>
              <a:defRPr sz="5400">
                <a:solidFill>
                  <a:schemeClr val="accent1"/>
                </a:solidFill>
              </a:defRPr>
            </a:lvl4pPr>
            <a:lvl5pPr lvl="4" algn="l">
              <a:lnSpc>
                <a:spcPct val="100000"/>
              </a:lnSpc>
              <a:spcBef>
                <a:spcPts val="0"/>
              </a:spcBef>
              <a:spcAft>
                <a:spcPts val="0"/>
              </a:spcAft>
              <a:buClr>
                <a:schemeClr val="accent1"/>
              </a:buClr>
              <a:buSzPts val="5400"/>
              <a:buNone/>
              <a:defRPr sz="5400">
                <a:solidFill>
                  <a:schemeClr val="accent1"/>
                </a:solidFill>
              </a:defRPr>
            </a:lvl5pPr>
            <a:lvl6pPr lvl="5" algn="l">
              <a:lnSpc>
                <a:spcPct val="100000"/>
              </a:lnSpc>
              <a:spcBef>
                <a:spcPts val="0"/>
              </a:spcBef>
              <a:spcAft>
                <a:spcPts val="0"/>
              </a:spcAft>
              <a:buClr>
                <a:schemeClr val="accent1"/>
              </a:buClr>
              <a:buSzPts val="5400"/>
              <a:buNone/>
              <a:defRPr sz="5400">
                <a:solidFill>
                  <a:schemeClr val="accent1"/>
                </a:solidFill>
              </a:defRPr>
            </a:lvl6pPr>
            <a:lvl7pPr lvl="6" algn="l">
              <a:lnSpc>
                <a:spcPct val="100000"/>
              </a:lnSpc>
              <a:spcBef>
                <a:spcPts val="0"/>
              </a:spcBef>
              <a:spcAft>
                <a:spcPts val="0"/>
              </a:spcAft>
              <a:buClr>
                <a:schemeClr val="accent1"/>
              </a:buClr>
              <a:buSzPts val="5400"/>
              <a:buNone/>
              <a:defRPr sz="5400">
                <a:solidFill>
                  <a:schemeClr val="accent1"/>
                </a:solidFill>
              </a:defRPr>
            </a:lvl7pPr>
            <a:lvl8pPr lvl="7" algn="l">
              <a:lnSpc>
                <a:spcPct val="100000"/>
              </a:lnSpc>
              <a:spcBef>
                <a:spcPts val="0"/>
              </a:spcBef>
              <a:spcAft>
                <a:spcPts val="0"/>
              </a:spcAft>
              <a:buClr>
                <a:schemeClr val="accent1"/>
              </a:buClr>
              <a:buSzPts val="5400"/>
              <a:buNone/>
              <a:defRPr sz="5400">
                <a:solidFill>
                  <a:schemeClr val="accent1"/>
                </a:solidFill>
              </a:defRPr>
            </a:lvl8pPr>
            <a:lvl9pPr lvl="8" algn="l">
              <a:lnSpc>
                <a:spcPct val="100000"/>
              </a:lnSpc>
              <a:spcBef>
                <a:spcPts val="0"/>
              </a:spcBef>
              <a:spcAft>
                <a:spcPts val="0"/>
              </a:spcAft>
              <a:buClr>
                <a:schemeClr val="accent1"/>
              </a:buClr>
              <a:buSzPts val="5400"/>
              <a:buNone/>
              <a:defRPr sz="5400">
                <a:solidFill>
                  <a:schemeClr val="accent1"/>
                </a:solidFill>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cxnSp>
        <p:nvCxnSpPr>
          <p:cNvPr id="19" name="Google Shape;19;p4"/>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20" name="Google Shape;20;p4"/>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solidFill>
                  <a:schemeClr val="accent1"/>
                </a:solidFill>
              </a:defRPr>
            </a:lvl1pPr>
            <a:lvl2pPr lvl="1" algn="l">
              <a:lnSpc>
                <a:spcPct val="100000"/>
              </a:lnSpc>
              <a:spcBef>
                <a:spcPts val="0"/>
              </a:spcBef>
              <a:spcAft>
                <a:spcPts val="0"/>
              </a:spcAft>
              <a:buClr>
                <a:schemeClr val="accent1"/>
              </a:buClr>
              <a:buSzPts val="6000"/>
              <a:buNone/>
              <a:defRPr sz="6000">
                <a:solidFill>
                  <a:schemeClr val="accent1"/>
                </a:solidFill>
              </a:defRPr>
            </a:lvl2pPr>
            <a:lvl3pPr lvl="2" algn="l">
              <a:lnSpc>
                <a:spcPct val="100000"/>
              </a:lnSpc>
              <a:spcBef>
                <a:spcPts val="0"/>
              </a:spcBef>
              <a:spcAft>
                <a:spcPts val="0"/>
              </a:spcAft>
              <a:buClr>
                <a:schemeClr val="accent1"/>
              </a:buClr>
              <a:buSzPts val="6000"/>
              <a:buNone/>
              <a:defRPr sz="6000">
                <a:solidFill>
                  <a:schemeClr val="accent1"/>
                </a:solidFill>
              </a:defRPr>
            </a:lvl3pPr>
            <a:lvl4pPr lvl="3" algn="l">
              <a:lnSpc>
                <a:spcPct val="100000"/>
              </a:lnSpc>
              <a:spcBef>
                <a:spcPts val="0"/>
              </a:spcBef>
              <a:spcAft>
                <a:spcPts val="0"/>
              </a:spcAft>
              <a:buClr>
                <a:schemeClr val="accent1"/>
              </a:buClr>
              <a:buSzPts val="6000"/>
              <a:buNone/>
              <a:defRPr sz="6000">
                <a:solidFill>
                  <a:schemeClr val="accent1"/>
                </a:solidFill>
              </a:defRPr>
            </a:lvl4pPr>
            <a:lvl5pPr lvl="4" algn="l">
              <a:lnSpc>
                <a:spcPct val="100000"/>
              </a:lnSpc>
              <a:spcBef>
                <a:spcPts val="0"/>
              </a:spcBef>
              <a:spcAft>
                <a:spcPts val="0"/>
              </a:spcAft>
              <a:buClr>
                <a:schemeClr val="accent1"/>
              </a:buClr>
              <a:buSzPts val="6000"/>
              <a:buNone/>
              <a:defRPr sz="6000">
                <a:solidFill>
                  <a:schemeClr val="accent1"/>
                </a:solidFill>
              </a:defRPr>
            </a:lvl5pPr>
            <a:lvl6pPr lvl="5" algn="l">
              <a:lnSpc>
                <a:spcPct val="100000"/>
              </a:lnSpc>
              <a:spcBef>
                <a:spcPts val="0"/>
              </a:spcBef>
              <a:spcAft>
                <a:spcPts val="0"/>
              </a:spcAft>
              <a:buClr>
                <a:schemeClr val="accent1"/>
              </a:buClr>
              <a:buSzPts val="6000"/>
              <a:buNone/>
              <a:defRPr sz="6000">
                <a:solidFill>
                  <a:schemeClr val="accent1"/>
                </a:solidFill>
              </a:defRPr>
            </a:lvl6pPr>
            <a:lvl7pPr lvl="6" algn="l">
              <a:lnSpc>
                <a:spcPct val="100000"/>
              </a:lnSpc>
              <a:spcBef>
                <a:spcPts val="0"/>
              </a:spcBef>
              <a:spcAft>
                <a:spcPts val="0"/>
              </a:spcAft>
              <a:buClr>
                <a:schemeClr val="accent1"/>
              </a:buClr>
              <a:buSzPts val="6000"/>
              <a:buNone/>
              <a:defRPr sz="6000">
                <a:solidFill>
                  <a:schemeClr val="accent1"/>
                </a:solidFill>
              </a:defRPr>
            </a:lvl7pPr>
            <a:lvl8pPr lvl="7" algn="l">
              <a:lnSpc>
                <a:spcPct val="100000"/>
              </a:lnSpc>
              <a:spcBef>
                <a:spcPts val="0"/>
              </a:spcBef>
              <a:spcAft>
                <a:spcPts val="0"/>
              </a:spcAft>
              <a:buClr>
                <a:schemeClr val="accent1"/>
              </a:buClr>
              <a:buSzPts val="6000"/>
              <a:buNone/>
              <a:defRPr sz="6000">
                <a:solidFill>
                  <a:schemeClr val="accent1"/>
                </a:solidFill>
              </a:defRPr>
            </a:lvl8pPr>
            <a:lvl9pPr lvl="8" algn="l">
              <a:lnSpc>
                <a:spcPct val="100000"/>
              </a:lnSpc>
              <a:spcBef>
                <a:spcPts val="0"/>
              </a:spcBef>
              <a:spcAft>
                <a:spcPts val="0"/>
              </a:spcAft>
              <a:buClr>
                <a:schemeClr val="accent1"/>
              </a:buClr>
              <a:buSzPts val="6000"/>
              <a:buNone/>
              <a:defRPr sz="6000">
                <a:solidFill>
                  <a:schemeClr val="accent1"/>
                </a:solidFill>
              </a:defRPr>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 name="Shape 22"/>
        <p:cNvGrpSpPr/>
        <p:nvPr/>
      </p:nvGrpSpPr>
      <p:grpSpPr>
        <a:xfrm>
          <a:off x="0" y="0"/>
          <a:ext cx="0" cy="0"/>
          <a:chOff x="0" y="0"/>
          <a:chExt cx="0" cy="0"/>
        </a:xfrm>
      </p:grpSpPr>
      <p:sp>
        <p:nvSpPr>
          <p:cNvPr id="23" name="Google Shape;23;p5"/>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 name="Google Shape;24;p5"/>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25" name="Google Shape;25;p5"/>
          <p:cNvSpPr txBox="1"/>
          <p:nvPr>
            <p:ph type="title"/>
          </p:nvPr>
        </p:nvSpPr>
        <p:spPr>
          <a:xfrm>
            <a:off x="265500" y="1382350"/>
            <a:ext cx="4045200" cy="1333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2"/>
              </a:buClr>
              <a:buSzPts val="4200"/>
              <a:buNone/>
              <a:defRPr sz="4200">
                <a:solidFill>
                  <a:schemeClr val="lt2"/>
                </a:solidFill>
              </a:defRPr>
            </a:lvl1pPr>
            <a:lvl2pPr lvl="1" algn="ctr">
              <a:lnSpc>
                <a:spcPct val="100000"/>
              </a:lnSpc>
              <a:spcBef>
                <a:spcPts val="0"/>
              </a:spcBef>
              <a:spcAft>
                <a:spcPts val="0"/>
              </a:spcAft>
              <a:buClr>
                <a:schemeClr val="lt2"/>
              </a:buClr>
              <a:buSzPts val="4200"/>
              <a:buNone/>
              <a:defRPr sz="4200">
                <a:solidFill>
                  <a:schemeClr val="lt2"/>
                </a:solidFill>
              </a:defRPr>
            </a:lvl2pPr>
            <a:lvl3pPr lvl="2" algn="ctr">
              <a:lnSpc>
                <a:spcPct val="100000"/>
              </a:lnSpc>
              <a:spcBef>
                <a:spcPts val="0"/>
              </a:spcBef>
              <a:spcAft>
                <a:spcPts val="0"/>
              </a:spcAft>
              <a:buClr>
                <a:schemeClr val="lt2"/>
              </a:buClr>
              <a:buSzPts val="4200"/>
              <a:buNone/>
              <a:defRPr sz="4200">
                <a:solidFill>
                  <a:schemeClr val="lt2"/>
                </a:solidFill>
              </a:defRPr>
            </a:lvl3pPr>
            <a:lvl4pPr lvl="3" algn="ctr">
              <a:lnSpc>
                <a:spcPct val="100000"/>
              </a:lnSpc>
              <a:spcBef>
                <a:spcPts val="0"/>
              </a:spcBef>
              <a:spcAft>
                <a:spcPts val="0"/>
              </a:spcAft>
              <a:buClr>
                <a:schemeClr val="lt2"/>
              </a:buClr>
              <a:buSzPts val="4200"/>
              <a:buNone/>
              <a:defRPr sz="4200">
                <a:solidFill>
                  <a:schemeClr val="lt2"/>
                </a:solidFill>
              </a:defRPr>
            </a:lvl4pPr>
            <a:lvl5pPr lvl="4" algn="ctr">
              <a:lnSpc>
                <a:spcPct val="100000"/>
              </a:lnSpc>
              <a:spcBef>
                <a:spcPts val="0"/>
              </a:spcBef>
              <a:spcAft>
                <a:spcPts val="0"/>
              </a:spcAft>
              <a:buClr>
                <a:schemeClr val="lt2"/>
              </a:buClr>
              <a:buSzPts val="4200"/>
              <a:buNone/>
              <a:defRPr sz="4200">
                <a:solidFill>
                  <a:schemeClr val="lt2"/>
                </a:solidFill>
              </a:defRPr>
            </a:lvl5pPr>
            <a:lvl6pPr lvl="5" algn="ctr">
              <a:lnSpc>
                <a:spcPct val="100000"/>
              </a:lnSpc>
              <a:spcBef>
                <a:spcPts val="0"/>
              </a:spcBef>
              <a:spcAft>
                <a:spcPts val="0"/>
              </a:spcAft>
              <a:buClr>
                <a:schemeClr val="lt2"/>
              </a:buClr>
              <a:buSzPts val="4200"/>
              <a:buNone/>
              <a:defRPr sz="4200">
                <a:solidFill>
                  <a:schemeClr val="lt2"/>
                </a:solidFill>
              </a:defRPr>
            </a:lvl6pPr>
            <a:lvl7pPr lvl="6" algn="ctr">
              <a:lnSpc>
                <a:spcPct val="100000"/>
              </a:lnSpc>
              <a:spcBef>
                <a:spcPts val="0"/>
              </a:spcBef>
              <a:spcAft>
                <a:spcPts val="0"/>
              </a:spcAft>
              <a:buClr>
                <a:schemeClr val="lt2"/>
              </a:buClr>
              <a:buSzPts val="4200"/>
              <a:buNone/>
              <a:defRPr sz="4200">
                <a:solidFill>
                  <a:schemeClr val="lt2"/>
                </a:solidFill>
              </a:defRPr>
            </a:lvl7pPr>
            <a:lvl8pPr lvl="7" algn="ctr">
              <a:lnSpc>
                <a:spcPct val="100000"/>
              </a:lnSpc>
              <a:spcBef>
                <a:spcPts val="0"/>
              </a:spcBef>
              <a:spcAft>
                <a:spcPts val="0"/>
              </a:spcAft>
              <a:buClr>
                <a:schemeClr val="lt2"/>
              </a:buClr>
              <a:buSzPts val="4200"/>
              <a:buNone/>
              <a:defRPr sz="4200">
                <a:solidFill>
                  <a:schemeClr val="lt2"/>
                </a:solidFill>
              </a:defRPr>
            </a:lvl8pPr>
            <a:lvl9pPr lvl="8" algn="ctr">
              <a:lnSpc>
                <a:spcPct val="100000"/>
              </a:lnSpc>
              <a:spcBef>
                <a:spcPts val="0"/>
              </a:spcBef>
              <a:spcAft>
                <a:spcPts val="0"/>
              </a:spcAft>
              <a:buClr>
                <a:schemeClr val="lt2"/>
              </a:buClr>
              <a:buSzPts val="4200"/>
              <a:buNone/>
              <a:defRPr sz="4200">
                <a:solidFill>
                  <a:schemeClr val="lt2"/>
                </a:solidFill>
              </a:defRPr>
            </a:lvl9pPr>
          </a:lstStyle>
          <a:p/>
        </p:txBody>
      </p:sp>
      <p:sp>
        <p:nvSpPr>
          <p:cNvPr id="26" name="Google Shape;26;p5"/>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 name="Google Shape;27;p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accent1"/>
              </a:buClr>
              <a:buSzPts val="1800"/>
              <a:buChar char="●"/>
              <a:defRPr>
                <a:solidFill>
                  <a:schemeClr val="accent1"/>
                </a:solidFill>
              </a:defRPr>
            </a:lvl1pPr>
            <a:lvl2pPr indent="-317500" lvl="1" marL="914400" algn="l">
              <a:lnSpc>
                <a:spcPct val="115000"/>
              </a:lnSpc>
              <a:spcBef>
                <a:spcPts val="1600"/>
              </a:spcBef>
              <a:spcAft>
                <a:spcPts val="0"/>
              </a:spcAft>
              <a:buClr>
                <a:schemeClr val="accent1"/>
              </a:buClr>
              <a:buSzPts val="1400"/>
              <a:buChar char="○"/>
              <a:defRPr>
                <a:solidFill>
                  <a:schemeClr val="accent1"/>
                </a:solidFill>
              </a:defRPr>
            </a:lvl2pPr>
            <a:lvl3pPr indent="-317500" lvl="2" marL="1371600" algn="l">
              <a:lnSpc>
                <a:spcPct val="115000"/>
              </a:lnSpc>
              <a:spcBef>
                <a:spcPts val="1600"/>
              </a:spcBef>
              <a:spcAft>
                <a:spcPts val="0"/>
              </a:spcAft>
              <a:buClr>
                <a:schemeClr val="accent1"/>
              </a:buClr>
              <a:buSzPts val="1400"/>
              <a:buChar char="■"/>
              <a:defRPr>
                <a:solidFill>
                  <a:schemeClr val="accent1"/>
                </a:solidFill>
              </a:defRPr>
            </a:lvl3pPr>
            <a:lvl4pPr indent="-317500" lvl="3" marL="1828800" algn="l">
              <a:lnSpc>
                <a:spcPct val="115000"/>
              </a:lnSpc>
              <a:spcBef>
                <a:spcPts val="1600"/>
              </a:spcBef>
              <a:spcAft>
                <a:spcPts val="0"/>
              </a:spcAft>
              <a:buClr>
                <a:schemeClr val="accent1"/>
              </a:buClr>
              <a:buSzPts val="1400"/>
              <a:buChar char="●"/>
              <a:defRPr>
                <a:solidFill>
                  <a:schemeClr val="accent1"/>
                </a:solidFill>
              </a:defRPr>
            </a:lvl4pPr>
            <a:lvl5pPr indent="-317500" lvl="4" marL="2286000" algn="l">
              <a:lnSpc>
                <a:spcPct val="115000"/>
              </a:lnSpc>
              <a:spcBef>
                <a:spcPts val="1600"/>
              </a:spcBef>
              <a:spcAft>
                <a:spcPts val="0"/>
              </a:spcAft>
              <a:buClr>
                <a:schemeClr val="accent1"/>
              </a:buClr>
              <a:buSzPts val="1400"/>
              <a:buChar char="○"/>
              <a:defRPr>
                <a:solidFill>
                  <a:schemeClr val="accent1"/>
                </a:solidFill>
              </a:defRPr>
            </a:lvl5pPr>
            <a:lvl6pPr indent="-317500" lvl="5" marL="2743200" algn="l">
              <a:lnSpc>
                <a:spcPct val="115000"/>
              </a:lnSpc>
              <a:spcBef>
                <a:spcPts val="1600"/>
              </a:spcBef>
              <a:spcAft>
                <a:spcPts val="0"/>
              </a:spcAft>
              <a:buClr>
                <a:schemeClr val="accent1"/>
              </a:buClr>
              <a:buSzPts val="1400"/>
              <a:buChar char="■"/>
              <a:defRPr>
                <a:solidFill>
                  <a:schemeClr val="accent1"/>
                </a:solidFill>
              </a:defRPr>
            </a:lvl6pPr>
            <a:lvl7pPr indent="-317500" lvl="6" marL="3200400" algn="l">
              <a:lnSpc>
                <a:spcPct val="115000"/>
              </a:lnSpc>
              <a:spcBef>
                <a:spcPts val="1600"/>
              </a:spcBef>
              <a:spcAft>
                <a:spcPts val="0"/>
              </a:spcAft>
              <a:buClr>
                <a:schemeClr val="accent1"/>
              </a:buClr>
              <a:buSzPts val="1400"/>
              <a:buChar char="●"/>
              <a:defRPr>
                <a:solidFill>
                  <a:schemeClr val="accent1"/>
                </a:solidFill>
              </a:defRPr>
            </a:lvl7pPr>
            <a:lvl8pPr indent="-317500" lvl="7" marL="3657600" algn="l">
              <a:lnSpc>
                <a:spcPct val="115000"/>
              </a:lnSpc>
              <a:spcBef>
                <a:spcPts val="1600"/>
              </a:spcBef>
              <a:spcAft>
                <a:spcPts val="0"/>
              </a:spcAft>
              <a:buClr>
                <a:schemeClr val="accent1"/>
              </a:buClr>
              <a:buSzPts val="1400"/>
              <a:buChar char="○"/>
              <a:defRPr>
                <a:solidFill>
                  <a:schemeClr val="accent1"/>
                </a:solidFill>
              </a:defRPr>
            </a:lvl8pPr>
            <a:lvl9pPr indent="-317500" lvl="8" marL="4114800" algn="l">
              <a:lnSpc>
                <a:spcPct val="115000"/>
              </a:lnSpc>
              <a:spcBef>
                <a:spcPts val="1600"/>
              </a:spcBef>
              <a:spcAft>
                <a:spcPts val="1600"/>
              </a:spcAft>
              <a:buClr>
                <a:schemeClr val="accent1"/>
              </a:buClr>
              <a:buSzPts val="1400"/>
              <a:buChar char="■"/>
              <a:defRPr>
                <a:solidFill>
                  <a:schemeClr val="accent1"/>
                </a:solidFill>
              </a:defRPr>
            </a:lvl9pPr>
          </a:lstStyle>
          <a:p/>
        </p:txBody>
      </p:sp>
      <p:sp>
        <p:nvSpPr>
          <p:cNvPr id="28" name="Google Shape;2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6"/>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 name="Google Shape;32;p6"/>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3" name="Google Shape;3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7"/>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6" name="Google Shape;36;p7"/>
          <p:cNvSpPr txBox="1"/>
          <p:nvPr>
            <p:ph idx="1" type="body"/>
          </p:nvPr>
        </p:nvSpPr>
        <p:spPr>
          <a:xfrm>
            <a:off x="311700" y="1171675"/>
            <a:ext cx="3999900" cy="3397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7"/>
          <p:cNvSpPr txBox="1"/>
          <p:nvPr>
            <p:ph idx="2" type="body"/>
          </p:nvPr>
        </p:nvSpPr>
        <p:spPr>
          <a:xfrm>
            <a:off x="4832400" y="1171675"/>
            <a:ext cx="3999900" cy="3397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4" name="Google Shape;44;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5" name="Google Shape;4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1pPr>
            <a:lvl2pPr lvl="1"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2pPr>
            <a:lvl3pPr lvl="2"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3pPr>
            <a:lvl4pPr lvl="3"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4pPr>
            <a:lvl5pPr lvl="4"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5pPr>
            <a:lvl6pPr lvl="5"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6pPr>
            <a:lvl7pPr lvl="6"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7pPr>
            <a:lvl8pPr lvl="7"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8pPr>
            <a:lvl9pPr lvl="8" marR="0" rtl="0" algn="l">
              <a:lnSpc>
                <a:spcPct val="100000"/>
              </a:lnSpc>
              <a:spcBef>
                <a:spcPts val="0"/>
              </a:spcBef>
              <a:spcAft>
                <a:spcPts val="0"/>
              </a:spcAft>
              <a:buClr>
                <a:schemeClr val="dk1"/>
              </a:buClr>
              <a:buSzPts val="3000"/>
              <a:buFont typeface="Old Standard TT"/>
              <a:buNone/>
              <a:defRPr b="0" i="0" sz="3000" u="none" cap="none" strike="noStrike">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1"/>
              </a:buClr>
              <a:buSzPts val="1800"/>
              <a:buFont typeface="Old Standard TT"/>
              <a:buChar char="●"/>
              <a:defRPr b="0" i="0" sz="1800" u="none" cap="none" strike="noStrike">
                <a:solidFill>
                  <a:schemeClr val="dk1"/>
                </a:solidFill>
                <a:latin typeface="Old Standard TT"/>
                <a:ea typeface="Old Standard TT"/>
                <a:cs typeface="Old Standard TT"/>
                <a:sym typeface="Old Standard TT"/>
              </a:defRPr>
            </a:lvl1pPr>
            <a:lvl2pPr indent="-317500" lvl="1" marL="9144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2pPr>
            <a:lvl3pPr indent="-317500" lvl="2" marL="13716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3pPr>
            <a:lvl4pPr indent="-317500" lvl="3" marL="18288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4pPr>
            <a:lvl5pPr indent="-317500" lvl="4" marL="22860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5pPr>
            <a:lvl6pPr indent="-317500" lvl="5" marL="27432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6pPr>
            <a:lvl7pPr indent="-317500" lvl="6" marL="32004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7pPr>
            <a:lvl8pPr indent="-317500" lvl="7" marL="3657600" marR="0" rtl="0" algn="l">
              <a:lnSpc>
                <a:spcPct val="115000"/>
              </a:lnSpc>
              <a:spcBef>
                <a:spcPts val="1600"/>
              </a:spcBef>
              <a:spcAft>
                <a:spcPts val="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8pPr>
            <a:lvl9pPr indent="-317500" lvl="8" marL="4114800" marR="0" rtl="0" algn="l">
              <a:lnSpc>
                <a:spcPct val="115000"/>
              </a:lnSpc>
              <a:spcBef>
                <a:spcPts val="1600"/>
              </a:spcBef>
              <a:spcAft>
                <a:spcPts val="1600"/>
              </a:spcAft>
              <a:buClr>
                <a:schemeClr val="dk1"/>
              </a:buClr>
              <a:buSzPts val="1400"/>
              <a:buFont typeface="Old Standard TT"/>
              <a:buChar char="■"/>
              <a:defRPr b="0" i="0" sz="1400" u="none" cap="none" strike="noStrike">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1035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a:solidFill>
                  <a:schemeClr val="lt1"/>
                </a:solidFill>
              </a:rPr>
              <a:t>Uncertainty Aware Learning for Language Model Alignment</a:t>
            </a:r>
            <a:endParaRPr>
              <a:solidFill>
                <a:schemeClr val="lt1"/>
              </a:solidFill>
            </a:endParaRPr>
          </a:p>
        </p:txBody>
      </p:sp>
      <p:sp>
        <p:nvSpPr>
          <p:cNvPr id="60" name="Google Shape;60;p13"/>
          <p:cNvSpPr txBox="1"/>
          <p:nvPr>
            <p:ph idx="1" type="subTitle"/>
          </p:nvPr>
        </p:nvSpPr>
        <p:spPr>
          <a:xfrm>
            <a:off x="512700" y="3671699"/>
            <a:ext cx="8118600" cy="147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solidFill>
                  <a:schemeClr val="lt1"/>
                </a:solidFill>
              </a:rPr>
              <a:t>Syed Jazib Ali                  21L-6236</a:t>
            </a:r>
            <a:endParaRPr sz="1900">
              <a:solidFill>
                <a:schemeClr val="lt1"/>
              </a:solidFill>
            </a:endParaRPr>
          </a:p>
          <a:p>
            <a:pPr indent="0" lvl="0" marL="0" rtl="0" algn="l">
              <a:lnSpc>
                <a:spcPct val="100000"/>
              </a:lnSpc>
              <a:spcBef>
                <a:spcPts val="0"/>
              </a:spcBef>
              <a:spcAft>
                <a:spcPts val="0"/>
              </a:spcAft>
              <a:buSzPts val="2400"/>
              <a:buNone/>
            </a:pPr>
            <a:r>
              <a:rPr lang="en" sz="1900">
                <a:solidFill>
                  <a:schemeClr val="lt1"/>
                </a:solidFill>
              </a:rPr>
              <a:t>Syed Mujtaba Haider        21L-5613</a:t>
            </a:r>
            <a:endParaRPr sz="1900">
              <a:solidFill>
                <a:schemeClr val="lt1"/>
              </a:solidFill>
            </a:endParaRPr>
          </a:p>
          <a:p>
            <a:pPr indent="0" lvl="0" marL="0" rtl="0" algn="l">
              <a:lnSpc>
                <a:spcPct val="100000"/>
              </a:lnSpc>
              <a:spcBef>
                <a:spcPts val="0"/>
              </a:spcBef>
              <a:spcAft>
                <a:spcPts val="0"/>
              </a:spcAft>
              <a:buSzPts val="2400"/>
              <a:buNone/>
            </a:pPr>
            <a:r>
              <a:rPr lang="en" sz="1900">
                <a:solidFill>
                  <a:schemeClr val="lt1"/>
                </a:solidFill>
              </a:rPr>
              <a:t>Eyad Salman                    21L-7695</a:t>
            </a:r>
            <a:endParaRPr sz="1900">
              <a:solidFill>
                <a:schemeClr val="lt1"/>
              </a:solidFill>
            </a:endParaRPr>
          </a:p>
          <a:p>
            <a:pPr indent="0" lvl="0" marL="0" rtl="0" algn="l">
              <a:lnSpc>
                <a:spcPct val="100000"/>
              </a:lnSpc>
              <a:spcBef>
                <a:spcPts val="0"/>
              </a:spcBef>
              <a:spcAft>
                <a:spcPts val="0"/>
              </a:spcAft>
              <a:buSzPts val="2400"/>
              <a:buNone/>
            </a:pPr>
            <a:r>
              <a:rPr lang="en" sz="1900">
                <a:solidFill>
                  <a:schemeClr val="lt1"/>
                </a:solidFill>
              </a:rPr>
              <a:t>Khurram Imran                21L-6256</a:t>
            </a:r>
            <a:endParaRPr sz="19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490250" y="526350"/>
            <a:ext cx="8202000" cy="4090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400"/>
              <a:buNone/>
            </a:pPr>
            <a:r>
              <a:rPr b="1" lang="en" sz="3600">
                <a:solidFill>
                  <a:schemeClr val="dk1"/>
                </a:solidFill>
                <a:latin typeface="Arial"/>
                <a:ea typeface="Arial"/>
                <a:cs typeface="Arial"/>
                <a:sym typeface="Arial"/>
              </a:rPr>
              <a:t>What is this paper about?</a:t>
            </a:r>
            <a:endParaRPr sz="3600">
              <a:solidFill>
                <a:schemeClr val="dk1"/>
              </a:solidFill>
              <a:latin typeface="Arial"/>
              <a:ea typeface="Arial"/>
              <a:cs typeface="Arial"/>
              <a:sym typeface="Arial"/>
            </a:endParaRPr>
          </a:p>
          <a:p>
            <a:pPr indent="0" lvl="0" marL="0" rtl="0" algn="l">
              <a:lnSpc>
                <a:spcPct val="100000"/>
              </a:lnSpc>
              <a:spcBef>
                <a:spcPts val="0"/>
              </a:spcBef>
              <a:spcAft>
                <a:spcPts val="0"/>
              </a:spcAft>
              <a:buSzPts val="5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5400"/>
              <a:buNone/>
            </a:pPr>
            <a:r>
              <a:rPr lang="en" sz="3000">
                <a:solidFill>
                  <a:schemeClr val="dk1"/>
                </a:solidFill>
                <a:latin typeface="Arial"/>
                <a:ea typeface="Arial"/>
                <a:cs typeface="Arial"/>
                <a:sym typeface="Arial"/>
              </a:rPr>
              <a:t>This paper focuses on </a:t>
            </a:r>
            <a:r>
              <a:rPr b="1" lang="en" sz="3000">
                <a:solidFill>
                  <a:schemeClr val="dk1"/>
                </a:solidFill>
                <a:latin typeface="Arial"/>
                <a:ea typeface="Arial"/>
                <a:cs typeface="Arial"/>
                <a:sym typeface="Arial"/>
              </a:rPr>
              <a:t>instruction tuning</a:t>
            </a:r>
            <a:r>
              <a:rPr lang="en" sz="3000">
                <a:solidFill>
                  <a:schemeClr val="dk1"/>
                </a:solidFill>
                <a:latin typeface="Arial"/>
                <a:ea typeface="Arial"/>
                <a:cs typeface="Arial"/>
                <a:sym typeface="Arial"/>
              </a:rPr>
              <a:t> for large language models (LLMs) — aligning pretrained models (like LLaMA-2, Mistral) to better follow human instructions. The key innovation is to make this tuning process </a:t>
            </a:r>
            <a:r>
              <a:rPr b="1" lang="en" sz="3000">
                <a:solidFill>
                  <a:schemeClr val="dk1"/>
                </a:solidFill>
                <a:latin typeface="Arial"/>
                <a:ea typeface="Arial"/>
                <a:cs typeface="Arial"/>
                <a:sym typeface="Arial"/>
              </a:rPr>
              <a:t>uncertainty-aware</a:t>
            </a:r>
            <a:r>
              <a:rPr lang="en" sz="3000">
                <a:solidFill>
                  <a:schemeClr val="dk1"/>
                </a:solidFill>
                <a:latin typeface="Arial"/>
                <a:ea typeface="Arial"/>
                <a:cs typeface="Arial"/>
                <a:sym typeface="Arial"/>
              </a:rPr>
              <a:t>, instead of treating all training examples equally.</a:t>
            </a:r>
            <a:endParaRPr sz="7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Problem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4350" y="1025950"/>
            <a:ext cx="5058900" cy="3097500"/>
          </a:xfrm>
          <a:prstGeom prst="rect">
            <a:avLst/>
          </a:prstGeom>
          <a:noFill/>
          <a:ln>
            <a:noFill/>
          </a:ln>
        </p:spPr>
        <p:txBody>
          <a:bodyPr anchorCtr="0" anchor="ctr"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Font typeface="Arial"/>
              <a:buChar char="●"/>
            </a:pPr>
            <a:r>
              <a:rPr lang="en" sz="2000">
                <a:solidFill>
                  <a:schemeClr val="dk1"/>
                </a:solidFill>
                <a:latin typeface="Arial"/>
                <a:ea typeface="Arial"/>
                <a:cs typeface="Arial"/>
                <a:sym typeface="Arial"/>
              </a:rPr>
              <a:t>Different examples have different levels of uncertainty</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Char char="●"/>
            </a:pPr>
            <a:r>
              <a:rPr lang="en" sz="2000">
                <a:solidFill>
                  <a:schemeClr val="dk1"/>
                </a:solidFill>
                <a:latin typeface="Arial"/>
                <a:ea typeface="Arial"/>
                <a:cs typeface="Arial"/>
                <a:sym typeface="Arial"/>
              </a:rPr>
              <a:t>High &amp; Low uncertainty tasks treated equally → suboptimal performance</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Char char="●"/>
            </a:pPr>
            <a:r>
              <a:rPr lang="en" sz="2000">
                <a:solidFill>
                  <a:schemeClr val="dk1"/>
                </a:solidFill>
                <a:latin typeface="Arial"/>
                <a:ea typeface="Arial"/>
                <a:cs typeface="Arial"/>
                <a:sym typeface="Arial"/>
              </a:rPr>
              <a:t>Catastrophic Forgetting</a:t>
            </a:r>
            <a:endParaRPr sz="2000">
              <a:solidFill>
                <a:schemeClr val="dk1"/>
              </a:solidFill>
              <a:latin typeface="Arial"/>
              <a:ea typeface="Arial"/>
              <a:cs typeface="Arial"/>
              <a:sym typeface="Arial"/>
            </a:endParaRPr>
          </a:p>
        </p:txBody>
      </p:sp>
      <p:sp>
        <p:nvSpPr>
          <p:cNvPr id="76" name="Google Shape;76;p16"/>
          <p:cNvSpPr txBox="1"/>
          <p:nvPr/>
        </p:nvSpPr>
        <p:spPr>
          <a:xfrm>
            <a:off x="648200" y="180850"/>
            <a:ext cx="7879800" cy="91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rPr b="1" i="0" lang="en" sz="2200" u="none" cap="none" strike="noStrike">
                <a:solidFill>
                  <a:schemeClr val="dk1"/>
                </a:solidFill>
                <a:latin typeface="Arial"/>
                <a:ea typeface="Arial"/>
                <a:cs typeface="Arial"/>
                <a:sym typeface="Arial"/>
              </a:rPr>
              <a:t>Supervised Fine-Tuning (SFT) treats all examples equally during training. </a:t>
            </a:r>
            <a:endParaRPr b="1" i="0" sz="2200" u="none" cap="none" strike="noStrike">
              <a:solidFill>
                <a:schemeClr val="dk1"/>
              </a:solidFill>
              <a:latin typeface="Old Standard TT"/>
              <a:ea typeface="Old Standard TT"/>
              <a:cs typeface="Old Standard TT"/>
              <a:sym typeface="Old Standard TT"/>
            </a:endParaRPr>
          </a:p>
        </p:txBody>
      </p:sp>
      <p:pic>
        <p:nvPicPr>
          <p:cNvPr id="77" name="Google Shape;77;p16" title="2-removebg-preview (1).png"/>
          <p:cNvPicPr preferRelativeResize="0"/>
          <p:nvPr/>
        </p:nvPicPr>
        <p:blipFill rotWithShape="1">
          <a:blip r:embed="rId3">
            <a:alphaModFix/>
          </a:blip>
          <a:srcRect b="0" l="0" r="0" t="0"/>
          <a:stretch/>
        </p:blipFill>
        <p:spPr>
          <a:xfrm>
            <a:off x="5274850" y="1295400"/>
            <a:ext cx="3440925" cy="2552700"/>
          </a:xfrm>
          <a:prstGeom prst="rect">
            <a:avLst/>
          </a:prstGeom>
          <a:noFill/>
          <a:ln>
            <a:noFill/>
          </a:ln>
        </p:spPr>
      </p:pic>
      <p:sp>
        <p:nvSpPr>
          <p:cNvPr id="78" name="Google Shape;78;p16"/>
          <p:cNvSpPr txBox="1"/>
          <p:nvPr/>
        </p:nvSpPr>
        <p:spPr>
          <a:xfrm>
            <a:off x="5274850" y="3848100"/>
            <a:ext cx="3534900" cy="9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Illustration of feature clustering. Compared</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To SFT, UAL-based models show more convergence in the feature space</a:t>
            </a:r>
            <a:endParaRPr b="1" i="0" sz="12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265500" y="1496100"/>
            <a:ext cx="4045200" cy="2370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200"/>
              <a:buNone/>
            </a:pPr>
            <a:r>
              <a:rPr lang="en">
                <a:solidFill>
                  <a:schemeClr val="dk1"/>
                </a:solidFill>
              </a:rPr>
              <a:t>Uncertainty</a:t>
            </a:r>
            <a:endParaRPr>
              <a:solidFill>
                <a:schemeClr val="dk1"/>
              </a:solidFill>
            </a:endParaRPr>
          </a:p>
          <a:p>
            <a:pPr indent="0" lvl="0" marL="0" rtl="0" algn="ctr">
              <a:lnSpc>
                <a:spcPct val="100000"/>
              </a:lnSpc>
              <a:spcBef>
                <a:spcPts val="0"/>
              </a:spcBef>
              <a:spcAft>
                <a:spcPts val="0"/>
              </a:spcAft>
              <a:buSzPts val="4200"/>
              <a:buNone/>
            </a:pPr>
            <a:r>
              <a:rPr lang="en">
                <a:solidFill>
                  <a:schemeClr val="dk1"/>
                </a:solidFill>
              </a:rPr>
              <a:t>Aware Learning (UAL)</a:t>
            </a:r>
            <a:endParaRPr>
              <a:solidFill>
                <a:schemeClr val="dk1"/>
              </a:solidFill>
            </a:endParaRPr>
          </a:p>
        </p:txBody>
      </p:sp>
      <p:sp>
        <p:nvSpPr>
          <p:cNvPr id="84" name="Google Shape;84;p17"/>
          <p:cNvSpPr txBox="1"/>
          <p:nvPr>
            <p:ph idx="1" type="subTitle"/>
          </p:nvPr>
        </p:nvSpPr>
        <p:spPr>
          <a:xfrm rot="-10599530">
            <a:off x="101426" y="4513"/>
            <a:ext cx="159571" cy="159571"/>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100"/>
              <a:buNone/>
            </a:pPr>
            <a:r>
              <a:t/>
            </a:r>
            <a:endParaRPr/>
          </a:p>
        </p:txBody>
      </p:sp>
      <p:sp>
        <p:nvSpPr>
          <p:cNvPr id="85" name="Google Shape;85;p1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SzPts val="1800"/>
              <a:buNone/>
            </a:pPr>
            <a:r>
              <a:rPr b="1" lang="en" sz="2600">
                <a:solidFill>
                  <a:schemeClr val="lt1"/>
                </a:solidFill>
                <a:latin typeface="Arial"/>
                <a:ea typeface="Arial"/>
                <a:cs typeface="Arial"/>
                <a:sym typeface="Arial"/>
              </a:rPr>
              <a:t>The paper introduces UAL, a new method that adapts the learning process based on the uncertainty of each training example.</a:t>
            </a:r>
            <a:endParaRPr b="1" sz="33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3600">
                <a:latin typeface="Arial"/>
                <a:ea typeface="Arial"/>
                <a:cs typeface="Arial"/>
                <a:sym typeface="Arial"/>
              </a:rPr>
              <a:t>                Uncertainty Hypothesis</a:t>
            </a:r>
            <a:endParaRPr b="1" sz="3600">
              <a:latin typeface="Arial"/>
              <a:ea typeface="Arial"/>
              <a:cs typeface="Arial"/>
              <a:sym typeface="Arial"/>
            </a:endParaRPr>
          </a:p>
          <a:p>
            <a:pPr indent="0" lvl="0" marL="0" rtl="0" algn="l">
              <a:lnSpc>
                <a:spcPct val="100000"/>
              </a:lnSpc>
              <a:spcBef>
                <a:spcPts val="0"/>
              </a:spcBef>
              <a:spcAft>
                <a:spcPts val="0"/>
              </a:spcAft>
              <a:buClr>
                <a:schemeClr val="dk1"/>
              </a:buClr>
              <a:buSzPts val="5400"/>
              <a:buFont typeface="Arial"/>
              <a:buNone/>
            </a:pPr>
            <a:r>
              <a:t/>
            </a:r>
            <a:endParaRPr b="1" sz="3600">
              <a:latin typeface="Arial"/>
              <a:ea typeface="Arial"/>
              <a:cs typeface="Arial"/>
              <a:sym typeface="Arial"/>
            </a:endParaRPr>
          </a:p>
        </p:txBody>
      </p:sp>
      <p:sp>
        <p:nvSpPr>
          <p:cNvPr id="91" name="Google Shape;91;p18"/>
          <p:cNvSpPr txBox="1"/>
          <p:nvPr>
            <p:ph idx="1" type="body"/>
          </p:nvPr>
        </p:nvSpPr>
        <p:spPr>
          <a:xfrm>
            <a:off x="311700" y="1058225"/>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t/>
            </a:r>
            <a:endParaRPr sz="20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lang="en" sz="2000">
                <a:latin typeface="Arial"/>
                <a:ea typeface="Arial"/>
                <a:cs typeface="Arial"/>
                <a:sym typeface="Arial"/>
              </a:rPr>
              <a:t>Not all data samples are equally difficult or ambiguous</a:t>
            </a:r>
            <a:endParaRPr sz="20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lang="en" sz="2000">
                <a:latin typeface="Arial"/>
                <a:ea typeface="Arial"/>
                <a:cs typeface="Arial"/>
                <a:sym typeface="Arial"/>
              </a:rPr>
              <a:t>Low uncertainty samples→ </a:t>
            </a:r>
            <a:r>
              <a:rPr b="1" lang="en" sz="2000">
                <a:latin typeface="Arial"/>
                <a:ea typeface="Arial"/>
                <a:cs typeface="Arial"/>
                <a:sym typeface="Arial"/>
              </a:rPr>
              <a:t>low smoothing</a:t>
            </a:r>
            <a:r>
              <a:rPr lang="en" sz="2000">
                <a:latin typeface="Arial"/>
                <a:ea typeface="Arial"/>
                <a:cs typeface="Arial"/>
                <a:sym typeface="Arial"/>
              </a:rPr>
              <a:t> → more strict training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High uncertainty samples → </a:t>
            </a:r>
            <a:r>
              <a:rPr b="1" lang="en" sz="2000">
                <a:latin typeface="Arial"/>
                <a:ea typeface="Arial"/>
                <a:cs typeface="Arial"/>
                <a:sym typeface="Arial"/>
              </a:rPr>
              <a:t>high smoothing</a:t>
            </a:r>
            <a:r>
              <a:rPr lang="en" sz="2000">
                <a:latin typeface="Arial"/>
                <a:ea typeface="Arial"/>
                <a:cs typeface="Arial"/>
                <a:sym typeface="Arial"/>
              </a:rPr>
              <a:t> → more relaxed training</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This adaptive label smoothing helps the model learn more flexibly.</a:t>
            </a:r>
            <a:endParaRPr sz="20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3600">
                <a:latin typeface="Arial"/>
                <a:ea typeface="Arial"/>
                <a:cs typeface="Arial"/>
                <a:sym typeface="Arial"/>
              </a:rPr>
              <a:t>               </a:t>
            </a:r>
            <a:endParaRPr b="1" sz="3600">
              <a:latin typeface="Arial"/>
              <a:ea typeface="Arial"/>
              <a:cs typeface="Arial"/>
              <a:sym typeface="Arial"/>
            </a:endParaRPr>
          </a:p>
        </p:txBody>
      </p:sp>
      <p:sp>
        <p:nvSpPr>
          <p:cNvPr id="97" name="Google Shape;97;p19"/>
          <p:cNvSpPr txBox="1"/>
          <p:nvPr/>
        </p:nvSpPr>
        <p:spPr>
          <a:xfrm>
            <a:off x="456000" y="3736700"/>
            <a:ext cx="8232000" cy="128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a:solidFill>
                  <a:schemeClr val="dk1"/>
                </a:solidFill>
              </a:rPr>
              <a:t>Mistral-7B (Jiang et al., 2023) aligned with UAL on the mixed scenario dataset has an improvement of 10.62% on the high entropy scenario and 1.81% on the low entropy scenario, compared with SFT. Evaluation results from models solely SFT aligned with high-entropy data (i.e., HE aligned with ShareGPT-6k) or low-entropy data (i.e., LE aligned with MetaMath-6k) are also provided for reference.</a:t>
            </a:r>
            <a:endParaRPr b="1" i="0" sz="1400" u="none" cap="none" strike="noStrike">
              <a:solidFill>
                <a:schemeClr val="dk1"/>
              </a:solidFill>
              <a:latin typeface="Arial"/>
              <a:ea typeface="Arial"/>
              <a:cs typeface="Arial"/>
              <a:sym typeface="Arial"/>
            </a:endParaRPr>
          </a:p>
        </p:txBody>
      </p:sp>
      <p:pic>
        <p:nvPicPr>
          <p:cNvPr id="98" name="Google Shape;98;p19" title="1.png"/>
          <p:cNvPicPr preferRelativeResize="0"/>
          <p:nvPr/>
        </p:nvPicPr>
        <p:blipFill>
          <a:blip r:embed="rId3">
            <a:alphaModFix/>
          </a:blip>
          <a:stretch>
            <a:fillRect/>
          </a:stretch>
        </p:blipFill>
        <p:spPr>
          <a:xfrm>
            <a:off x="1901225" y="210150"/>
            <a:ext cx="5073050" cy="3409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3600">
                <a:latin typeface="Arial"/>
                <a:ea typeface="Arial"/>
                <a:cs typeface="Arial"/>
                <a:sym typeface="Arial"/>
              </a:rPr>
              <a:t>Uncertainty Estimation</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09" name="Google Shape;109;p21"/>
          <p:cNvSpPr txBox="1"/>
          <p:nvPr>
            <p:ph idx="1" type="body"/>
          </p:nvPr>
        </p:nvSpPr>
        <p:spPr>
          <a:xfrm>
            <a:off x="311700" y="1058225"/>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Measures how uncertain or ambiguous each training sample is</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Uses GPT-4 to assign uncertainty scores to samples</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Generate uncertainty scores per sample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Scores represent the degree of uncertainty on a scale (0 to 99)</a:t>
            </a:r>
            <a:endParaRPr sz="20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3" name="Shape 113"/>
        <p:cNvGrpSpPr/>
        <p:nvPr/>
      </p:nvGrpSpPr>
      <p:grpSpPr>
        <a:xfrm>
          <a:off x="0" y="0"/>
          <a:ext cx="0" cy="0"/>
          <a:chOff x="0" y="0"/>
          <a:chExt cx="0" cy="0"/>
        </a:xfrm>
      </p:grpSpPr>
      <p:pic>
        <p:nvPicPr>
          <p:cNvPr id="114" name="Google Shape;114;p22" title="Image no 11.png"/>
          <p:cNvPicPr preferRelativeResize="0"/>
          <p:nvPr/>
        </p:nvPicPr>
        <p:blipFill rotWithShape="1">
          <a:blip r:embed="rId3">
            <a:alphaModFix/>
          </a:blip>
          <a:srcRect b="0" l="0" r="0" t="0"/>
          <a:stretch/>
        </p:blipFill>
        <p:spPr>
          <a:xfrm>
            <a:off x="0" y="257700"/>
            <a:ext cx="9144000" cy="3833775"/>
          </a:xfrm>
          <a:prstGeom prst="rect">
            <a:avLst/>
          </a:prstGeom>
          <a:noFill/>
          <a:ln>
            <a:noFill/>
          </a:ln>
        </p:spPr>
      </p:pic>
      <p:sp>
        <p:nvSpPr>
          <p:cNvPr id="115" name="Google Shape;115;p22"/>
          <p:cNvSpPr txBox="1"/>
          <p:nvPr/>
        </p:nvSpPr>
        <p:spPr>
          <a:xfrm>
            <a:off x="2286150" y="4091475"/>
            <a:ext cx="4571700" cy="9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300" u="none" cap="none" strike="noStrike">
                <a:solidFill>
                  <a:schemeClr val="dk1"/>
                </a:solidFill>
                <a:latin typeface="Arial"/>
                <a:ea typeface="Arial"/>
                <a:cs typeface="Arial"/>
                <a:sym typeface="Arial"/>
              </a:rPr>
              <a:t>Uncertainty estimation by GPT-4. </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300" u="none" cap="none" strike="noStrike">
                <a:solidFill>
                  <a:schemeClr val="dk1"/>
                </a:solidFill>
                <a:latin typeface="Arial"/>
                <a:ea typeface="Arial"/>
                <a:cs typeface="Arial"/>
                <a:sym typeface="Arial"/>
              </a:rPr>
              <a:t>LEFT: Uncertainty scores of Deita-6k alignment dataset. </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300" u="none" cap="none" strike="noStrike">
                <a:solidFill>
                  <a:schemeClr val="dk1"/>
                </a:solidFill>
                <a:latin typeface="Arial"/>
                <a:ea typeface="Arial"/>
                <a:cs typeface="Arial"/>
                <a:sym typeface="Arial"/>
              </a:rPr>
              <a:t>RIGHT: Uncertainty scores of LIMA dataset.</a:t>
            </a:r>
            <a:endParaRPr b="1" i="0" sz="13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Data Set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4" name="Shape 124"/>
        <p:cNvGrpSpPr/>
        <p:nvPr/>
      </p:nvGrpSpPr>
      <p:grpSpPr>
        <a:xfrm>
          <a:off x="0" y="0"/>
          <a:ext cx="0" cy="0"/>
          <a:chOff x="0" y="0"/>
          <a:chExt cx="0" cy="0"/>
        </a:xfrm>
      </p:grpSpPr>
      <p:sp>
        <p:nvSpPr>
          <p:cNvPr id="125" name="Google Shape;125;p24"/>
          <p:cNvSpPr txBox="1"/>
          <p:nvPr>
            <p:ph type="title"/>
          </p:nvPr>
        </p:nvSpPr>
        <p:spPr>
          <a:xfrm>
            <a:off x="0" y="258725"/>
            <a:ext cx="9144000" cy="799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en" sz="3600">
                <a:latin typeface="Arial"/>
                <a:ea typeface="Arial"/>
                <a:cs typeface="Arial"/>
                <a:sym typeface="Arial"/>
              </a:rPr>
              <a:t>Dataset</a:t>
            </a:r>
            <a:endParaRPr b="1" sz="3600">
              <a:latin typeface="Arial"/>
              <a:ea typeface="Arial"/>
              <a:cs typeface="Arial"/>
              <a:sym typeface="Arial"/>
            </a:endParaRPr>
          </a:p>
          <a:p>
            <a:pPr indent="0" lvl="0" marL="0" rtl="0" algn="ctr">
              <a:lnSpc>
                <a:spcPct val="100000"/>
              </a:lnSpc>
              <a:spcBef>
                <a:spcPts val="0"/>
              </a:spcBef>
              <a:spcAft>
                <a:spcPts val="0"/>
              </a:spcAft>
              <a:buSzPts val="3000"/>
              <a:buNone/>
            </a:pPr>
            <a:r>
              <a:t/>
            </a:r>
            <a:endParaRPr b="1" sz="3600">
              <a:latin typeface="Arial"/>
              <a:ea typeface="Arial"/>
              <a:cs typeface="Arial"/>
              <a:sym typeface="Arial"/>
            </a:endParaRPr>
          </a:p>
        </p:txBody>
      </p:sp>
      <p:sp>
        <p:nvSpPr>
          <p:cNvPr id="126" name="Google Shape;126;p24"/>
          <p:cNvSpPr txBox="1"/>
          <p:nvPr>
            <p:ph idx="1" type="body"/>
          </p:nvPr>
        </p:nvSpPr>
        <p:spPr>
          <a:xfrm>
            <a:off x="311700" y="1058225"/>
            <a:ext cx="5259300" cy="323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LIMA-1k → Low entropy, precise questions</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Deita-6k → Diverse, high entropy</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MetaMath-6k → Low entropy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ShareGPT-6k → High entropy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Mixed-6k → Combination of ShareGPT + MetaMath.</a:t>
            </a:r>
            <a:endParaRPr sz="2000">
              <a:latin typeface="Arial"/>
              <a:ea typeface="Arial"/>
              <a:cs typeface="Arial"/>
              <a:sym typeface="Arial"/>
            </a:endParaRPr>
          </a:p>
        </p:txBody>
      </p:sp>
      <p:pic>
        <p:nvPicPr>
          <p:cNvPr id="127" name="Google Shape;127;p24" title="Image number 2.png"/>
          <p:cNvPicPr preferRelativeResize="0"/>
          <p:nvPr/>
        </p:nvPicPr>
        <p:blipFill rotWithShape="1">
          <a:blip r:embed="rId3">
            <a:alphaModFix/>
          </a:blip>
          <a:srcRect b="0" l="0" r="0" t="0"/>
          <a:stretch/>
        </p:blipFill>
        <p:spPr>
          <a:xfrm>
            <a:off x="4942750" y="799550"/>
            <a:ext cx="4060070" cy="2126725"/>
          </a:xfrm>
          <a:prstGeom prst="rect">
            <a:avLst/>
          </a:prstGeom>
          <a:noFill/>
          <a:ln>
            <a:noFill/>
          </a:ln>
        </p:spPr>
      </p:pic>
      <p:sp>
        <p:nvSpPr>
          <p:cNvPr id="128" name="Google Shape;128;p24"/>
          <p:cNvSpPr txBox="1"/>
          <p:nvPr/>
        </p:nvSpPr>
        <p:spPr>
          <a:xfrm>
            <a:off x="5770650" y="2792350"/>
            <a:ext cx="3000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Statistics of the alignment datasets employed in the empirical study</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3600">
                <a:latin typeface="Arial"/>
                <a:ea typeface="Arial"/>
                <a:cs typeface="Arial"/>
                <a:sym typeface="Arial"/>
              </a:rPr>
              <a:t>Uncertainty Mapping</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34" name="Google Shape;134;p25"/>
          <p:cNvSpPr txBox="1"/>
          <p:nvPr>
            <p:ph idx="1" type="body"/>
          </p:nvPr>
        </p:nvSpPr>
        <p:spPr>
          <a:xfrm>
            <a:off x="311700" y="1058225"/>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Linear function F(U) maps uncertainty → smoothing value.</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Low uncertainty → small smoothing → strong learning.</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High uncertainty → higher smoothing → relaxed learning.</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 sz="2000">
                <a:latin typeface="Arial"/>
                <a:ea typeface="Arial"/>
                <a:cs typeface="Arial"/>
                <a:sym typeface="Arial"/>
              </a:rPr>
              <a:t>This adaptive smoothing allows better generalization.</a:t>
            </a:r>
            <a:endParaRPr sz="2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4624450" y="-2214750"/>
            <a:ext cx="4849800" cy="214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400"/>
              <a:buNone/>
            </a:pPr>
            <a:r>
              <a:t/>
            </a:r>
            <a:endParaRPr sz="3000">
              <a:solidFill>
                <a:schemeClr val="dk1"/>
              </a:solidFill>
              <a:latin typeface="Arial"/>
              <a:ea typeface="Arial"/>
              <a:cs typeface="Arial"/>
              <a:sym typeface="Arial"/>
            </a:endParaRPr>
          </a:p>
        </p:txBody>
      </p:sp>
      <p:graphicFrame>
        <p:nvGraphicFramePr>
          <p:cNvPr id="140" name="Google Shape;140;p26"/>
          <p:cNvGraphicFramePr/>
          <p:nvPr/>
        </p:nvGraphicFramePr>
        <p:xfrm>
          <a:off x="418450" y="1258350"/>
          <a:ext cx="3000000" cy="3000000"/>
        </p:xfrm>
        <a:graphic>
          <a:graphicData uri="http://schemas.openxmlformats.org/drawingml/2006/table">
            <a:tbl>
              <a:tblPr>
                <a:noFill/>
                <a:tableStyleId>{8BDCDC78-95A9-431C-8A79-844C4D413082}</a:tableStyleId>
              </a:tblPr>
              <a:tblGrid>
                <a:gridCol w="3520825"/>
                <a:gridCol w="1529725"/>
                <a:gridCol w="1664575"/>
                <a:gridCol w="159197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Feature</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Standard SFT</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Token-level Uncertainty (e.g., PPL-based)</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UAL (This Paper)</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Treats all data equally?</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Granularity</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None</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Token-level</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Sample-level (simpler, faster)</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Uses external LLM (like GPT-4) for uncertainty?</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Integrates uncertainty into training loss?</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Partial</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Handles both low &amp; high-entropy tasks?</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Partial</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Mitigates catastrophic forgetting?</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No</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solidFill>
                          <a:schemeClr val="dk1"/>
                        </a:solidFill>
                      </a:endParaRPr>
                    </a:p>
                  </a:txBody>
                  <a:tcPr marT="91425" marB="91425" marR="91425" marL="91425"/>
                </a:tc>
              </a:tr>
            </a:tbl>
          </a:graphicData>
        </a:graphic>
      </p:graphicFrame>
      <p:sp>
        <p:nvSpPr>
          <p:cNvPr id="141" name="Google Shape;141;p26"/>
          <p:cNvSpPr txBox="1"/>
          <p:nvPr/>
        </p:nvSpPr>
        <p:spPr>
          <a:xfrm>
            <a:off x="418450" y="315075"/>
            <a:ext cx="8502900" cy="8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chemeClr val="dk1"/>
                </a:solidFill>
                <a:latin typeface="Arial"/>
                <a:ea typeface="Arial"/>
                <a:cs typeface="Arial"/>
                <a:sym typeface="Arial"/>
              </a:rPr>
              <a:t>What’s New Compared to Prior Work?</a:t>
            </a:r>
            <a:endParaRPr b="1" i="0" sz="3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Experiments and 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3600">
                <a:latin typeface="Arial"/>
                <a:ea typeface="Arial"/>
                <a:cs typeface="Arial"/>
                <a:sym typeface="Arial"/>
              </a:rPr>
              <a:t>Experimental Setup</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52" name="Google Shape;152;p28"/>
          <p:cNvSpPr txBox="1"/>
          <p:nvPr>
            <p:ph idx="1" type="body"/>
          </p:nvPr>
        </p:nvSpPr>
        <p:spPr>
          <a:xfrm>
            <a:off x="311700" y="1058225"/>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Used Llama2-7B and Mistral-7B models.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Evaluated on OpenLLM benchmarks → ARC-c, HellaSwag, TruthfulQA, MMLU.</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Used AlpacaEval for general dialogue and GSM8k / MetaMath for low-entropy math tasks.</a:t>
            </a:r>
            <a:endParaRPr sz="21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6" name="Shape 156"/>
        <p:cNvGrpSpPr/>
        <p:nvPr/>
      </p:nvGrpSpPr>
      <p:grpSpPr>
        <a:xfrm>
          <a:off x="0" y="0"/>
          <a:ext cx="0" cy="0"/>
          <a:chOff x="0" y="0"/>
          <a:chExt cx="0" cy="0"/>
        </a:xfrm>
      </p:grpSpPr>
      <p:pic>
        <p:nvPicPr>
          <p:cNvPr id="157" name="Google Shape;157;p29" title="Image no 3.png"/>
          <p:cNvPicPr preferRelativeResize="0"/>
          <p:nvPr/>
        </p:nvPicPr>
        <p:blipFill rotWithShape="1">
          <a:blip r:embed="rId3">
            <a:alphaModFix/>
          </a:blip>
          <a:srcRect b="0" l="0" r="0" t="8591"/>
          <a:stretch/>
        </p:blipFill>
        <p:spPr>
          <a:xfrm>
            <a:off x="490725" y="458675"/>
            <a:ext cx="8162551" cy="3383900"/>
          </a:xfrm>
          <a:prstGeom prst="rect">
            <a:avLst/>
          </a:prstGeom>
          <a:noFill/>
          <a:ln>
            <a:noFill/>
          </a:ln>
        </p:spPr>
      </p:pic>
      <p:sp>
        <p:nvSpPr>
          <p:cNvPr id="158" name="Google Shape;158;p29"/>
          <p:cNvSpPr txBox="1"/>
          <p:nvPr/>
        </p:nvSpPr>
        <p:spPr>
          <a:xfrm>
            <a:off x="962675" y="3955575"/>
            <a:ext cx="7353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The Open LLM Leaderboard benchmark evaluation results of Llama-2 (Team, 2023) and Mistralbased (Jiang et al., 2023) models employing inference (Best-of-4, zero-shot) strategy</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2" name="Shape 162"/>
        <p:cNvGrpSpPr/>
        <p:nvPr/>
      </p:nvGrpSpPr>
      <p:grpSpPr>
        <a:xfrm>
          <a:off x="0" y="0"/>
          <a:ext cx="0" cy="0"/>
          <a:chOff x="0" y="0"/>
          <a:chExt cx="0" cy="0"/>
        </a:xfrm>
      </p:grpSpPr>
      <p:sp>
        <p:nvSpPr>
          <p:cNvPr id="163" name="Google Shape;163;p30"/>
          <p:cNvSpPr txBox="1"/>
          <p:nvPr>
            <p:ph type="title"/>
          </p:nvPr>
        </p:nvSpPr>
        <p:spPr>
          <a:xfrm>
            <a:off x="-1545325" y="310075"/>
            <a:ext cx="11776200" cy="6132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3500">
                <a:latin typeface="Arial"/>
                <a:ea typeface="Arial"/>
                <a:cs typeface="Arial"/>
                <a:sym typeface="Arial"/>
              </a:rPr>
              <a:t>Comprehensive Benchmark Evaluation</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64" name="Google Shape;164;p30"/>
          <p:cNvSpPr txBox="1"/>
          <p:nvPr>
            <p:ph idx="1" type="body"/>
          </p:nvPr>
        </p:nvSpPr>
        <p:spPr>
          <a:xfrm>
            <a:off x="311700" y="1148200"/>
            <a:ext cx="8520600" cy="3397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UAL models outperform SFT models consistently.</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SFT suffers from catastrophic forgetting → drop on some tasks.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UAL mitigates this → consistent gains across all benchmarks.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PPL-based uncertainty helps, but GPT-4-based uncertainty works best.</a:t>
            </a:r>
            <a:endParaRPr sz="21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pic>
        <p:nvPicPr>
          <p:cNvPr id="169" name="Google Shape;169;p31" title="Image number 5.png"/>
          <p:cNvPicPr preferRelativeResize="0"/>
          <p:nvPr/>
        </p:nvPicPr>
        <p:blipFill rotWithShape="1">
          <a:blip r:embed="rId3">
            <a:alphaModFix/>
          </a:blip>
          <a:srcRect b="0" l="0" r="0" t="0"/>
          <a:stretch/>
        </p:blipFill>
        <p:spPr>
          <a:xfrm>
            <a:off x="137425" y="837375"/>
            <a:ext cx="4572325" cy="2629725"/>
          </a:xfrm>
          <a:prstGeom prst="rect">
            <a:avLst/>
          </a:prstGeom>
          <a:noFill/>
          <a:ln>
            <a:noFill/>
          </a:ln>
        </p:spPr>
      </p:pic>
      <p:pic>
        <p:nvPicPr>
          <p:cNvPr id="170" name="Google Shape;170;p31" title="Image number 4.png"/>
          <p:cNvPicPr preferRelativeResize="0"/>
          <p:nvPr/>
        </p:nvPicPr>
        <p:blipFill rotWithShape="1">
          <a:blip r:embed="rId4">
            <a:alphaModFix/>
          </a:blip>
          <a:srcRect b="0" l="0" r="0" t="18982"/>
          <a:stretch/>
        </p:blipFill>
        <p:spPr>
          <a:xfrm>
            <a:off x="4920075" y="853575"/>
            <a:ext cx="4026075" cy="2629725"/>
          </a:xfrm>
          <a:prstGeom prst="rect">
            <a:avLst/>
          </a:prstGeom>
          <a:noFill/>
          <a:ln>
            <a:noFill/>
          </a:ln>
        </p:spPr>
      </p:pic>
      <p:sp>
        <p:nvSpPr>
          <p:cNvPr id="171" name="Google Shape;171;p31"/>
          <p:cNvSpPr txBox="1"/>
          <p:nvPr/>
        </p:nvSpPr>
        <p:spPr>
          <a:xfrm>
            <a:off x="1051825" y="3584650"/>
            <a:ext cx="114357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Figure 3: Training dynamics of Llama-2 and Mistral based models using SFT and UAL</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5" name="Shape 175"/>
        <p:cNvGrpSpPr/>
        <p:nvPr/>
      </p:nvGrpSpPr>
      <p:grpSpPr>
        <a:xfrm>
          <a:off x="0" y="0"/>
          <a:ext cx="0" cy="0"/>
          <a:chOff x="0" y="0"/>
          <a:chExt cx="0" cy="0"/>
        </a:xfrm>
      </p:grpSpPr>
      <p:sp>
        <p:nvSpPr>
          <p:cNvPr id="176" name="Google Shape;176;p32"/>
          <p:cNvSpPr txBox="1"/>
          <p:nvPr>
            <p:ph type="title"/>
          </p:nvPr>
        </p:nvSpPr>
        <p:spPr>
          <a:xfrm>
            <a:off x="-1545325" y="310075"/>
            <a:ext cx="11776200" cy="6132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3500">
                <a:latin typeface="Arial"/>
                <a:ea typeface="Arial"/>
                <a:cs typeface="Arial"/>
                <a:sym typeface="Arial"/>
              </a:rPr>
              <a:t> 				Mixed Entropy Scenarios</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77" name="Google Shape;177;p32"/>
          <p:cNvSpPr txBox="1"/>
          <p:nvPr>
            <p:ph idx="1" type="body"/>
          </p:nvPr>
        </p:nvSpPr>
        <p:spPr>
          <a:xfrm>
            <a:off x="311700" y="1148200"/>
            <a:ext cx="8520600" cy="3397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SzPts val="2100"/>
              <a:buFont typeface="Arial"/>
              <a:buChar char="●"/>
            </a:pPr>
            <a:r>
              <a:rPr b="1" lang="en" sz="2100">
                <a:latin typeface="Arial"/>
                <a:ea typeface="Arial"/>
                <a:cs typeface="Arial"/>
                <a:sym typeface="Arial"/>
              </a:rPr>
              <a:t>Evaluated models trained on: </a:t>
            </a:r>
            <a:r>
              <a:rPr lang="en" sz="2100">
                <a:latin typeface="Arial"/>
                <a:ea typeface="Arial"/>
                <a:cs typeface="Arial"/>
                <a:sym typeface="Arial"/>
              </a:rPr>
              <a:t>High Entropy only, Low Entropy only, Mixed (SFT), Mixed (UAL)</a:t>
            </a:r>
            <a:endParaRPr sz="2100">
              <a:latin typeface="Arial"/>
              <a:ea typeface="Arial"/>
              <a:cs typeface="Arial"/>
              <a:sym typeface="Arial"/>
            </a:endParaRPr>
          </a:p>
          <a:p>
            <a:pPr indent="0" lvl="0" marL="0" rtl="0" algn="l">
              <a:lnSpc>
                <a:spcPct val="115000"/>
              </a:lnSpc>
              <a:spcBef>
                <a:spcPts val="0"/>
              </a:spcBef>
              <a:spcAft>
                <a:spcPts val="0"/>
              </a:spcAft>
              <a:buSzPts val="1800"/>
              <a:buNone/>
            </a:pPr>
            <a:r>
              <a:rPr b="1" lang="en" sz="2200">
                <a:latin typeface="Arial"/>
                <a:ea typeface="Arial"/>
                <a:cs typeface="Arial"/>
                <a:sym typeface="Arial"/>
              </a:rPr>
              <a:t>Findings:</a:t>
            </a:r>
            <a:endParaRPr b="1" sz="22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Models trained only on High Entropy → poor Low Entropy performance.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Models trained only on Low Entropy → poor High Entropy performance.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Mixed + UAL → Best generalization → boosts in both.</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b="1" lang="en" sz="2100">
                <a:latin typeface="Arial"/>
                <a:ea typeface="Arial"/>
                <a:cs typeface="Arial"/>
                <a:sym typeface="Arial"/>
              </a:rPr>
              <a:t>UAL is robust</a:t>
            </a:r>
            <a:endParaRPr b="1" sz="21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1" name="Shape 181"/>
        <p:cNvGrpSpPr/>
        <p:nvPr/>
      </p:nvGrpSpPr>
      <p:grpSpPr>
        <a:xfrm>
          <a:off x="0" y="0"/>
          <a:ext cx="0" cy="0"/>
          <a:chOff x="0" y="0"/>
          <a:chExt cx="0" cy="0"/>
        </a:xfrm>
      </p:grpSpPr>
      <p:pic>
        <p:nvPicPr>
          <p:cNvPr id="182" name="Google Shape;182;p33" title="Image number 6.png"/>
          <p:cNvPicPr preferRelativeResize="0"/>
          <p:nvPr/>
        </p:nvPicPr>
        <p:blipFill rotWithShape="1">
          <a:blip r:embed="rId3">
            <a:alphaModFix/>
          </a:blip>
          <a:srcRect b="0" l="0" r="0" t="0"/>
          <a:stretch/>
        </p:blipFill>
        <p:spPr>
          <a:xfrm>
            <a:off x="407325" y="572300"/>
            <a:ext cx="8096700" cy="2719050"/>
          </a:xfrm>
          <a:prstGeom prst="rect">
            <a:avLst/>
          </a:prstGeom>
          <a:noFill/>
          <a:ln>
            <a:noFill/>
          </a:ln>
        </p:spPr>
      </p:pic>
      <p:sp>
        <p:nvSpPr>
          <p:cNvPr id="183" name="Google Shape;183;p33"/>
          <p:cNvSpPr txBox="1"/>
          <p:nvPr/>
        </p:nvSpPr>
        <p:spPr>
          <a:xfrm>
            <a:off x="597325" y="3483825"/>
            <a:ext cx="6618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Table 3: The zero-shot evaluation results (/wo Bestof-n strategy) on math problem solving and general dialogue (i.e., AlpacaEval) scenarios</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7" name="Shape 187"/>
        <p:cNvGrpSpPr/>
        <p:nvPr/>
      </p:nvGrpSpPr>
      <p:grpSpPr>
        <a:xfrm>
          <a:off x="0" y="0"/>
          <a:ext cx="0" cy="0"/>
          <a:chOff x="0" y="0"/>
          <a:chExt cx="0" cy="0"/>
        </a:xfrm>
      </p:grpSpPr>
      <p:sp>
        <p:nvSpPr>
          <p:cNvPr id="188" name="Google Shape;188;p34"/>
          <p:cNvSpPr txBox="1"/>
          <p:nvPr>
            <p:ph type="title"/>
          </p:nvPr>
        </p:nvSpPr>
        <p:spPr>
          <a:xfrm>
            <a:off x="-1545325" y="310075"/>
            <a:ext cx="11776200" cy="613200"/>
          </a:xfrm>
          <a:prstGeom prst="rect">
            <a:avLst/>
          </a:prstGeom>
          <a:noFill/>
          <a:ln>
            <a:noFill/>
          </a:ln>
        </p:spPr>
        <p:txBody>
          <a:bodyPr anchorCtr="0" anchor="t" bIns="91425" lIns="91425" spcFirstLastPara="1" rIns="91425" wrap="square" tIns="91425">
            <a:noAutofit/>
          </a:bodyPr>
          <a:lstStyle/>
          <a:p>
            <a:pPr indent="457200" lvl="0" marL="3657600" rtl="0" algn="l">
              <a:lnSpc>
                <a:spcPct val="100000"/>
              </a:lnSpc>
              <a:spcBef>
                <a:spcPts val="0"/>
              </a:spcBef>
              <a:spcAft>
                <a:spcPts val="0"/>
              </a:spcAft>
              <a:buSzPts val="3000"/>
              <a:buNone/>
            </a:pPr>
            <a:r>
              <a:rPr b="1" lang="en" sz="3500">
                <a:latin typeface="Arial"/>
                <a:ea typeface="Arial"/>
                <a:cs typeface="Arial"/>
                <a:sym typeface="Arial"/>
              </a:rPr>
              <a:t>Ablation Study</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189" name="Google Shape;189;p34"/>
          <p:cNvSpPr txBox="1"/>
          <p:nvPr>
            <p:ph idx="1" type="body"/>
          </p:nvPr>
        </p:nvSpPr>
        <p:spPr>
          <a:xfrm>
            <a:off x="311700" y="1072000"/>
            <a:ext cx="8520600" cy="3397200"/>
          </a:xfrm>
          <a:prstGeom prst="rect">
            <a:avLst/>
          </a:prstGeom>
          <a:noFill/>
          <a:ln>
            <a:noFill/>
          </a:ln>
        </p:spPr>
        <p:txBody>
          <a:bodyPr anchorCtr="0" anchor="t" bIns="91425" lIns="91425" spcFirstLastPara="1" rIns="91425" wrap="square" tIns="91425">
            <a:noAutofit/>
          </a:bodyPr>
          <a:lstStyle/>
          <a:p>
            <a:pPr indent="-133350" lvl="0" marL="0" rtl="0" algn="l">
              <a:lnSpc>
                <a:spcPct val="115000"/>
              </a:lnSpc>
              <a:spcBef>
                <a:spcPts val="0"/>
              </a:spcBef>
              <a:spcAft>
                <a:spcPts val="0"/>
              </a:spcAft>
              <a:buSzPts val="2100"/>
              <a:buFont typeface="Arial"/>
              <a:buChar char="●"/>
            </a:pPr>
            <a:r>
              <a:rPr b="1" lang="en" sz="2100">
                <a:latin typeface="Arial"/>
                <a:ea typeface="Arial"/>
                <a:cs typeface="Arial"/>
                <a:sym typeface="Arial"/>
              </a:rPr>
              <a:t> Compared:</a:t>
            </a:r>
            <a:r>
              <a:rPr lang="en" sz="2100">
                <a:latin typeface="Arial"/>
                <a:ea typeface="Arial"/>
                <a:cs typeface="Arial"/>
                <a:sym typeface="Arial"/>
              </a:rPr>
              <a:t> No smoothing, Label Smoothing only, Label Smoothing + Uncertainty (UAL)</a:t>
            </a:r>
            <a:endParaRPr sz="2100">
              <a:latin typeface="Arial"/>
              <a:ea typeface="Arial"/>
              <a:cs typeface="Arial"/>
              <a:sym typeface="Arial"/>
            </a:endParaRPr>
          </a:p>
          <a:p>
            <a:pPr indent="0" lvl="0" marL="0" rtl="0" algn="l">
              <a:lnSpc>
                <a:spcPct val="115000"/>
              </a:lnSpc>
              <a:spcBef>
                <a:spcPts val="0"/>
              </a:spcBef>
              <a:spcAft>
                <a:spcPts val="0"/>
              </a:spcAft>
              <a:buSzPts val="1800"/>
              <a:buNone/>
            </a:pPr>
            <a:r>
              <a:rPr b="1" lang="en" sz="2200">
                <a:latin typeface="Arial"/>
                <a:ea typeface="Arial"/>
                <a:cs typeface="Arial"/>
                <a:sym typeface="Arial"/>
              </a:rPr>
              <a:t>Findings:</a:t>
            </a:r>
            <a:endParaRPr b="1" sz="22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Label smoothing helps clustering but NOT overall performance.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UAL → Best Silhouette scores and benchmark performance.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Mixed + UAL → Best generalization → boosts in both.</a:t>
            </a:r>
            <a:endParaRPr sz="21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3" name="Shape 193"/>
        <p:cNvGrpSpPr/>
        <p:nvPr/>
      </p:nvGrpSpPr>
      <p:grpSpPr>
        <a:xfrm>
          <a:off x="0" y="0"/>
          <a:ext cx="0" cy="0"/>
          <a:chOff x="0" y="0"/>
          <a:chExt cx="0" cy="0"/>
        </a:xfrm>
      </p:grpSpPr>
      <p:sp>
        <p:nvSpPr>
          <p:cNvPr id="194" name="Google Shape;194;p35"/>
          <p:cNvSpPr txBox="1"/>
          <p:nvPr/>
        </p:nvSpPr>
        <p:spPr>
          <a:xfrm>
            <a:off x="608875" y="3096300"/>
            <a:ext cx="83361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Ablation Study. LS indicates label smoothing technique. Models are evaluated on the four benchmarks from OpenLLM Leaderboard and the average performance are reported</a:t>
            </a:r>
            <a:endParaRPr b="1" i="0" sz="1300" u="none" cap="none" strike="noStrike">
              <a:solidFill>
                <a:srgbClr val="000000"/>
              </a:solidFill>
              <a:latin typeface="Arial"/>
              <a:ea typeface="Arial"/>
              <a:cs typeface="Arial"/>
              <a:sym typeface="Arial"/>
            </a:endParaRPr>
          </a:p>
        </p:txBody>
      </p:sp>
      <p:pic>
        <p:nvPicPr>
          <p:cNvPr id="195" name="Google Shape;195;p35" title="2.png"/>
          <p:cNvPicPr preferRelativeResize="0"/>
          <p:nvPr/>
        </p:nvPicPr>
        <p:blipFill>
          <a:blip r:embed="rId3">
            <a:alphaModFix/>
          </a:blip>
          <a:stretch>
            <a:fillRect/>
          </a:stretch>
        </p:blipFill>
        <p:spPr>
          <a:xfrm>
            <a:off x="608875" y="897175"/>
            <a:ext cx="7926250" cy="1838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9" name="Shape 199"/>
        <p:cNvGrpSpPr/>
        <p:nvPr/>
      </p:nvGrpSpPr>
      <p:grpSpPr>
        <a:xfrm>
          <a:off x="0" y="0"/>
          <a:ext cx="0" cy="0"/>
          <a:chOff x="0" y="0"/>
          <a:chExt cx="0" cy="0"/>
        </a:xfrm>
      </p:grpSpPr>
      <p:sp>
        <p:nvSpPr>
          <p:cNvPr id="200" name="Google Shape;200;p36"/>
          <p:cNvSpPr txBox="1"/>
          <p:nvPr>
            <p:ph type="title"/>
          </p:nvPr>
        </p:nvSpPr>
        <p:spPr>
          <a:xfrm>
            <a:off x="-1545325" y="310075"/>
            <a:ext cx="11776200" cy="613200"/>
          </a:xfrm>
          <a:prstGeom prst="rect">
            <a:avLst/>
          </a:prstGeom>
          <a:noFill/>
          <a:ln>
            <a:noFill/>
          </a:ln>
        </p:spPr>
        <p:txBody>
          <a:bodyPr anchorCtr="0" anchor="t" bIns="91425" lIns="91425" spcFirstLastPara="1" rIns="91425" wrap="square" tIns="91425">
            <a:noAutofit/>
          </a:bodyPr>
          <a:lstStyle/>
          <a:p>
            <a:pPr indent="457200" lvl="0" marL="3657600" rtl="0" algn="l">
              <a:lnSpc>
                <a:spcPct val="100000"/>
              </a:lnSpc>
              <a:spcBef>
                <a:spcPts val="0"/>
              </a:spcBef>
              <a:spcAft>
                <a:spcPts val="0"/>
              </a:spcAft>
              <a:buSzPts val="3000"/>
              <a:buNone/>
            </a:pPr>
            <a:r>
              <a:rPr b="1" lang="en" sz="3500">
                <a:latin typeface="Arial"/>
                <a:ea typeface="Arial"/>
                <a:cs typeface="Arial"/>
                <a:sym typeface="Arial"/>
              </a:rPr>
              <a:t>Case Study</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201" name="Google Shape;201;p36"/>
          <p:cNvSpPr txBox="1"/>
          <p:nvPr>
            <p:ph idx="1" type="body"/>
          </p:nvPr>
        </p:nvSpPr>
        <p:spPr>
          <a:xfrm>
            <a:off x="311700" y="1072000"/>
            <a:ext cx="8672100" cy="3397200"/>
          </a:xfrm>
          <a:prstGeom prst="rect">
            <a:avLst/>
          </a:prstGeom>
          <a:noFill/>
          <a:ln>
            <a:noFill/>
          </a:ln>
        </p:spPr>
        <p:txBody>
          <a:bodyPr anchorCtr="0" anchor="t" bIns="91425" lIns="91425" spcFirstLastPara="1" rIns="91425" wrap="square" tIns="91425">
            <a:noAutofit/>
          </a:bodyPr>
          <a:lstStyle/>
          <a:p>
            <a:pPr indent="-133350" lvl="0" marL="0" rtl="0" algn="l">
              <a:lnSpc>
                <a:spcPct val="115000"/>
              </a:lnSpc>
              <a:spcBef>
                <a:spcPts val="0"/>
              </a:spcBef>
              <a:spcAft>
                <a:spcPts val="0"/>
              </a:spcAft>
              <a:buSzPts val="2100"/>
              <a:buFont typeface="Arial"/>
              <a:buChar char="●"/>
            </a:pPr>
            <a:r>
              <a:rPr b="1" lang="en" sz="2100">
                <a:latin typeface="Arial"/>
                <a:ea typeface="Arial"/>
                <a:cs typeface="Arial"/>
                <a:sym typeface="Arial"/>
              </a:rPr>
              <a:t> </a:t>
            </a:r>
            <a:r>
              <a:rPr lang="en" sz="2100">
                <a:latin typeface="Arial"/>
                <a:ea typeface="Arial"/>
                <a:cs typeface="Arial"/>
                <a:sym typeface="Arial"/>
              </a:rPr>
              <a:t>Break up Advice and US Elections 2020 Cheating Question</a:t>
            </a:r>
            <a:endParaRPr sz="2100">
              <a:latin typeface="Arial"/>
              <a:ea typeface="Arial"/>
              <a:cs typeface="Arial"/>
              <a:sym typeface="Arial"/>
            </a:endParaRPr>
          </a:p>
          <a:p>
            <a:pPr indent="0" lvl="0" marL="0" rtl="0" algn="l">
              <a:lnSpc>
                <a:spcPct val="115000"/>
              </a:lnSpc>
              <a:spcBef>
                <a:spcPts val="0"/>
              </a:spcBef>
              <a:spcAft>
                <a:spcPts val="0"/>
              </a:spcAft>
              <a:buSzPts val="1800"/>
              <a:buNone/>
            </a:pPr>
            <a:r>
              <a:rPr b="1" lang="en" sz="2200">
                <a:latin typeface="Arial"/>
                <a:ea typeface="Arial"/>
                <a:cs typeface="Arial"/>
                <a:sym typeface="Arial"/>
              </a:rPr>
              <a:t>Findings:</a:t>
            </a:r>
            <a:endParaRPr b="1" sz="22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SFT model → generic, less sensitive, less factual answers.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UAL model → more nuanced, personalized, and factual answers.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Especially effective at reducing hallucinations + misinformation.</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b="1" lang="en" sz="2100">
                <a:latin typeface="Arial"/>
                <a:ea typeface="Arial"/>
                <a:cs typeface="Arial"/>
                <a:sym typeface="Arial"/>
              </a:rPr>
              <a:t>UAL improves generation quality → not just accuracy.</a:t>
            </a:r>
            <a:endParaRPr b="1" sz="2100">
              <a:latin typeface="Arial"/>
              <a:ea typeface="Arial"/>
              <a:cs typeface="Arial"/>
              <a:sym typeface="Arial"/>
            </a:endParaRPr>
          </a:p>
          <a:p>
            <a:pPr indent="0" lvl="0" marL="0" rtl="0" algn="l">
              <a:lnSpc>
                <a:spcPct val="115000"/>
              </a:lnSpc>
              <a:spcBef>
                <a:spcPts val="0"/>
              </a:spcBef>
              <a:spcAft>
                <a:spcPts val="0"/>
              </a:spcAft>
              <a:buSzPts val="1800"/>
              <a:buNone/>
            </a:pPr>
            <a:r>
              <a:t/>
            </a:r>
            <a:endParaRPr sz="21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5" name="Shape 205"/>
        <p:cNvGrpSpPr/>
        <p:nvPr/>
      </p:nvGrpSpPr>
      <p:grpSpPr>
        <a:xfrm>
          <a:off x="0" y="0"/>
          <a:ext cx="0" cy="0"/>
          <a:chOff x="0" y="0"/>
          <a:chExt cx="0" cy="0"/>
        </a:xfrm>
      </p:grpSpPr>
      <p:pic>
        <p:nvPicPr>
          <p:cNvPr id="206" name="Google Shape;206;p37" title="image no 22.png"/>
          <p:cNvPicPr preferRelativeResize="0"/>
          <p:nvPr/>
        </p:nvPicPr>
        <p:blipFill rotWithShape="1">
          <a:blip r:embed="rId3">
            <a:alphaModFix/>
          </a:blip>
          <a:srcRect b="0" l="1450" r="11167" t="0"/>
          <a:stretch/>
        </p:blipFill>
        <p:spPr>
          <a:xfrm>
            <a:off x="782475" y="227375"/>
            <a:ext cx="7527801" cy="3841325"/>
          </a:xfrm>
          <a:prstGeom prst="rect">
            <a:avLst/>
          </a:prstGeom>
          <a:noFill/>
          <a:ln>
            <a:noFill/>
          </a:ln>
        </p:spPr>
      </p:pic>
      <p:sp>
        <p:nvSpPr>
          <p:cNvPr id="207" name="Google Shape;207;p37"/>
          <p:cNvSpPr txBox="1"/>
          <p:nvPr/>
        </p:nvSpPr>
        <p:spPr>
          <a:xfrm>
            <a:off x="323375" y="4213925"/>
            <a:ext cx="7986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Example responses of UAL and SFT Mistral-7B models</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1" name="Shape 211"/>
        <p:cNvGrpSpPr/>
        <p:nvPr/>
      </p:nvGrpSpPr>
      <p:grpSpPr>
        <a:xfrm>
          <a:off x="0" y="0"/>
          <a:ext cx="0" cy="0"/>
          <a:chOff x="0" y="0"/>
          <a:chExt cx="0" cy="0"/>
        </a:xfrm>
      </p:grpSpPr>
      <p:pic>
        <p:nvPicPr>
          <p:cNvPr id="212" name="Google Shape;212;p38" title="image no 24.png"/>
          <p:cNvPicPr preferRelativeResize="0"/>
          <p:nvPr/>
        </p:nvPicPr>
        <p:blipFill rotWithShape="1">
          <a:blip r:embed="rId3">
            <a:alphaModFix/>
          </a:blip>
          <a:srcRect b="0" l="0" r="6681" t="0"/>
          <a:stretch/>
        </p:blipFill>
        <p:spPr>
          <a:xfrm>
            <a:off x="964600" y="133750"/>
            <a:ext cx="6910826" cy="4158800"/>
          </a:xfrm>
          <a:prstGeom prst="rect">
            <a:avLst/>
          </a:prstGeom>
          <a:noFill/>
          <a:ln>
            <a:noFill/>
          </a:ln>
        </p:spPr>
      </p:pic>
      <p:sp>
        <p:nvSpPr>
          <p:cNvPr id="213" name="Google Shape;213;p38"/>
          <p:cNvSpPr txBox="1"/>
          <p:nvPr/>
        </p:nvSpPr>
        <p:spPr>
          <a:xfrm>
            <a:off x="323375" y="4366325"/>
            <a:ext cx="7986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Example responses of UAL and SFT Mistral-7B models</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7" name="Shape 217"/>
        <p:cNvGrpSpPr/>
        <p:nvPr/>
      </p:nvGrpSpPr>
      <p:grpSpPr>
        <a:xfrm>
          <a:off x="0" y="0"/>
          <a:ext cx="0" cy="0"/>
          <a:chOff x="0" y="0"/>
          <a:chExt cx="0" cy="0"/>
        </a:xfrm>
      </p:grpSpPr>
      <p:sp>
        <p:nvSpPr>
          <p:cNvPr id="218" name="Google Shape;218;p39"/>
          <p:cNvSpPr txBox="1"/>
          <p:nvPr>
            <p:ph type="title"/>
          </p:nvPr>
        </p:nvSpPr>
        <p:spPr>
          <a:xfrm>
            <a:off x="-1545325" y="310075"/>
            <a:ext cx="11776200" cy="613200"/>
          </a:xfrm>
          <a:prstGeom prst="rect">
            <a:avLst/>
          </a:prstGeom>
          <a:noFill/>
          <a:ln>
            <a:noFill/>
          </a:ln>
        </p:spPr>
        <p:txBody>
          <a:bodyPr anchorCtr="0" anchor="t" bIns="91425" lIns="91425" spcFirstLastPara="1" rIns="91425" wrap="square" tIns="91425">
            <a:noAutofit/>
          </a:bodyPr>
          <a:lstStyle/>
          <a:p>
            <a:pPr indent="0" lvl="0" marL="3657600" rtl="0" algn="l">
              <a:lnSpc>
                <a:spcPct val="100000"/>
              </a:lnSpc>
              <a:spcBef>
                <a:spcPts val="0"/>
              </a:spcBef>
              <a:spcAft>
                <a:spcPts val="0"/>
              </a:spcAft>
              <a:buSzPts val="3000"/>
              <a:buNone/>
            </a:pPr>
            <a:r>
              <a:rPr b="1" lang="en" sz="3500">
                <a:latin typeface="Arial"/>
                <a:ea typeface="Arial"/>
                <a:cs typeface="Arial"/>
                <a:sym typeface="Arial"/>
              </a:rPr>
              <a:t>GPT-4 Preference Evaluation</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219" name="Google Shape;219;p39"/>
          <p:cNvSpPr txBox="1"/>
          <p:nvPr>
            <p:ph idx="1" type="body"/>
          </p:nvPr>
        </p:nvSpPr>
        <p:spPr>
          <a:xfrm>
            <a:off x="311700" y="1072000"/>
            <a:ext cx="8672100" cy="3397200"/>
          </a:xfrm>
          <a:prstGeom prst="rect">
            <a:avLst/>
          </a:prstGeom>
          <a:noFill/>
          <a:ln>
            <a:noFill/>
          </a:ln>
        </p:spPr>
        <p:txBody>
          <a:bodyPr anchorCtr="0" anchor="t" bIns="91425" lIns="91425" spcFirstLastPara="1" rIns="91425" wrap="square" tIns="91425">
            <a:noAutofit/>
          </a:bodyPr>
          <a:lstStyle/>
          <a:p>
            <a:pPr indent="-133350" lvl="0" marL="0" rtl="0" algn="l">
              <a:lnSpc>
                <a:spcPct val="115000"/>
              </a:lnSpc>
              <a:spcBef>
                <a:spcPts val="0"/>
              </a:spcBef>
              <a:spcAft>
                <a:spcPts val="0"/>
              </a:spcAft>
              <a:buSzPts val="2100"/>
              <a:buFont typeface="Arial"/>
              <a:buChar char="●"/>
            </a:pPr>
            <a:r>
              <a:rPr lang="en" sz="2100">
                <a:latin typeface="Arial"/>
                <a:ea typeface="Arial"/>
                <a:cs typeface="Arial"/>
                <a:sym typeface="Arial"/>
              </a:rPr>
              <a:t> GPT-4 judged responses for 300 LIMA test set instructions.</a:t>
            </a:r>
            <a:endParaRPr sz="2100">
              <a:latin typeface="Arial"/>
              <a:ea typeface="Arial"/>
              <a:cs typeface="Arial"/>
              <a:sym typeface="Arial"/>
            </a:endParaRPr>
          </a:p>
          <a:p>
            <a:pPr indent="-133350" lvl="0" marL="0" rtl="0" algn="l">
              <a:lnSpc>
                <a:spcPct val="115000"/>
              </a:lnSpc>
              <a:spcBef>
                <a:spcPts val="0"/>
              </a:spcBef>
              <a:spcAft>
                <a:spcPts val="0"/>
              </a:spcAft>
              <a:buSzPts val="2100"/>
              <a:buFont typeface="Arial"/>
              <a:buChar char="●"/>
            </a:pPr>
            <a:r>
              <a:rPr lang="en" sz="2100">
                <a:latin typeface="Arial"/>
                <a:ea typeface="Arial"/>
                <a:cs typeface="Arial"/>
                <a:sym typeface="Arial"/>
              </a:rPr>
              <a:t> Compared SFT vs UAL for Llama2-7B and Mistral-7B.</a:t>
            </a:r>
            <a:endParaRPr sz="2100">
              <a:latin typeface="Arial"/>
              <a:ea typeface="Arial"/>
              <a:cs typeface="Arial"/>
              <a:sym typeface="Arial"/>
            </a:endParaRPr>
          </a:p>
          <a:p>
            <a:pPr indent="0" lvl="0" marL="0" rtl="0" algn="l">
              <a:lnSpc>
                <a:spcPct val="115000"/>
              </a:lnSpc>
              <a:spcBef>
                <a:spcPts val="0"/>
              </a:spcBef>
              <a:spcAft>
                <a:spcPts val="0"/>
              </a:spcAft>
              <a:buSzPts val="1800"/>
              <a:buNone/>
            </a:pPr>
            <a:r>
              <a:rPr b="1" lang="en" sz="2200">
                <a:latin typeface="Arial"/>
                <a:ea typeface="Arial"/>
                <a:cs typeface="Arial"/>
                <a:sym typeface="Arial"/>
              </a:rPr>
              <a:t>Findings:</a:t>
            </a:r>
            <a:endParaRPr b="1" sz="22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UAL preferred by GPT-4 more often.</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Stronger result on Llama2 (more pronounced effect).</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 sz="2100">
                <a:latin typeface="Arial"/>
                <a:ea typeface="Arial"/>
                <a:cs typeface="Arial"/>
                <a:sym typeface="Arial"/>
              </a:rPr>
              <a:t>Label smoothing alone → less preferred than UAL.</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b="1" lang="en" sz="2100">
                <a:latin typeface="Arial"/>
                <a:ea typeface="Arial"/>
                <a:cs typeface="Arial"/>
                <a:sym typeface="Arial"/>
              </a:rPr>
              <a:t>UAL → preferred even from human-like judge perspective.</a:t>
            </a:r>
            <a:endParaRPr b="1" sz="2100">
              <a:latin typeface="Arial"/>
              <a:ea typeface="Arial"/>
              <a:cs typeface="Arial"/>
              <a:sym typeface="Arial"/>
            </a:endParaRPr>
          </a:p>
          <a:p>
            <a:pPr indent="0" lvl="0" marL="0" rtl="0" algn="l">
              <a:lnSpc>
                <a:spcPct val="115000"/>
              </a:lnSpc>
              <a:spcBef>
                <a:spcPts val="0"/>
              </a:spcBef>
              <a:spcAft>
                <a:spcPts val="0"/>
              </a:spcAft>
              <a:buSzPts val="1800"/>
              <a:buNone/>
            </a:pPr>
            <a:r>
              <a:t/>
            </a:r>
            <a:endParaRPr sz="21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3" name="Shape 223"/>
        <p:cNvGrpSpPr/>
        <p:nvPr/>
      </p:nvGrpSpPr>
      <p:grpSpPr>
        <a:xfrm>
          <a:off x="0" y="0"/>
          <a:ext cx="0" cy="0"/>
          <a:chOff x="0" y="0"/>
          <a:chExt cx="0" cy="0"/>
        </a:xfrm>
      </p:grpSpPr>
      <p:pic>
        <p:nvPicPr>
          <p:cNvPr id="224" name="Google Shape;224;p40" title="Image no 9.png"/>
          <p:cNvPicPr preferRelativeResize="0"/>
          <p:nvPr/>
        </p:nvPicPr>
        <p:blipFill rotWithShape="1">
          <a:blip r:embed="rId3">
            <a:alphaModFix/>
          </a:blip>
          <a:srcRect b="0" l="0" r="0" t="0"/>
          <a:stretch/>
        </p:blipFill>
        <p:spPr>
          <a:xfrm>
            <a:off x="1262100" y="242350"/>
            <a:ext cx="6165525" cy="3680400"/>
          </a:xfrm>
          <a:prstGeom prst="rect">
            <a:avLst/>
          </a:prstGeom>
          <a:noFill/>
          <a:ln>
            <a:noFill/>
          </a:ln>
        </p:spPr>
      </p:pic>
      <p:sp>
        <p:nvSpPr>
          <p:cNvPr id="225" name="Google Shape;225;p40"/>
          <p:cNvSpPr txBox="1"/>
          <p:nvPr/>
        </p:nvSpPr>
        <p:spPr>
          <a:xfrm>
            <a:off x="198150" y="4082100"/>
            <a:ext cx="87477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Figure 6: GPT-4-turbo evaluation results on model response quality. TOP: SFT and common SFT aligned Llama-2-7B response quality comparison MIDDLE: UAL and SFT aligned Mistral-7B response quality comparison. BOTTOM: UAL and SFT aligned Llama-2-7B response quality comparison</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9" name="Shape 229"/>
        <p:cNvGrpSpPr/>
        <p:nvPr/>
      </p:nvGrpSpPr>
      <p:grpSpPr>
        <a:xfrm>
          <a:off x="0" y="0"/>
          <a:ext cx="0" cy="0"/>
          <a:chOff x="0" y="0"/>
          <a:chExt cx="0" cy="0"/>
        </a:xfrm>
      </p:grpSpPr>
      <p:sp>
        <p:nvSpPr>
          <p:cNvPr id="230" name="Google Shape;230;p41"/>
          <p:cNvSpPr txBox="1"/>
          <p:nvPr/>
        </p:nvSpPr>
        <p:spPr>
          <a:xfrm>
            <a:off x="274350" y="3467575"/>
            <a:ext cx="8747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Table 5: Average Silhouette Coefficient scores for features on one hundred randomly selected</a:t>
            </a:r>
            <a:endParaRPr b="1"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 pairs of tokens</a:t>
            </a:r>
            <a:endParaRPr b="1" i="0" sz="1300" u="none" cap="none" strike="noStrike">
              <a:solidFill>
                <a:srgbClr val="000000"/>
              </a:solidFill>
              <a:latin typeface="Arial"/>
              <a:ea typeface="Arial"/>
              <a:cs typeface="Arial"/>
              <a:sym typeface="Arial"/>
            </a:endParaRPr>
          </a:p>
        </p:txBody>
      </p:sp>
      <p:pic>
        <p:nvPicPr>
          <p:cNvPr id="231" name="Google Shape;231;p41" title="images no 22.png"/>
          <p:cNvPicPr preferRelativeResize="0"/>
          <p:nvPr/>
        </p:nvPicPr>
        <p:blipFill rotWithShape="1">
          <a:blip r:embed="rId3">
            <a:alphaModFix/>
          </a:blip>
          <a:srcRect b="0" l="0" r="0" t="0"/>
          <a:stretch/>
        </p:blipFill>
        <p:spPr>
          <a:xfrm>
            <a:off x="182775" y="381350"/>
            <a:ext cx="8442000" cy="2856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Alternative view</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0" name="Shape 240"/>
        <p:cNvGrpSpPr/>
        <p:nvPr/>
      </p:nvGrpSpPr>
      <p:grpSpPr>
        <a:xfrm>
          <a:off x="0" y="0"/>
          <a:ext cx="0" cy="0"/>
          <a:chOff x="0" y="0"/>
          <a:chExt cx="0" cy="0"/>
        </a:xfrm>
      </p:grpSpPr>
      <p:sp>
        <p:nvSpPr>
          <p:cNvPr id="241" name="Google Shape;241;p43"/>
          <p:cNvSpPr txBox="1"/>
          <p:nvPr>
            <p:ph type="title"/>
          </p:nvPr>
        </p:nvSpPr>
        <p:spPr>
          <a:xfrm>
            <a:off x="-1545325" y="5275"/>
            <a:ext cx="11776200" cy="613200"/>
          </a:xfrm>
          <a:prstGeom prst="rect">
            <a:avLst/>
          </a:prstGeom>
          <a:noFill/>
          <a:ln>
            <a:noFill/>
          </a:ln>
        </p:spPr>
        <p:txBody>
          <a:bodyPr anchorCtr="0" anchor="t" bIns="91425" lIns="91425" spcFirstLastPara="1" rIns="91425" wrap="square" tIns="91425">
            <a:noAutofit/>
          </a:bodyPr>
          <a:lstStyle/>
          <a:p>
            <a:pPr indent="0" lvl="0" marL="3657600" rtl="0" algn="l">
              <a:lnSpc>
                <a:spcPct val="100000"/>
              </a:lnSpc>
              <a:spcBef>
                <a:spcPts val="0"/>
              </a:spcBef>
              <a:spcAft>
                <a:spcPts val="0"/>
              </a:spcAft>
              <a:buSzPts val="3000"/>
              <a:buNone/>
            </a:pPr>
            <a:r>
              <a:rPr b="1" lang="en" sz="3500">
                <a:latin typeface="Arial"/>
                <a:ea typeface="Arial"/>
                <a:cs typeface="Arial"/>
                <a:sym typeface="Arial"/>
              </a:rPr>
              <a:t>Visualizations of features </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5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457200" lvl="0" marL="1371600" rtl="0" algn="l">
              <a:lnSpc>
                <a:spcPct val="100000"/>
              </a:lnSpc>
              <a:spcBef>
                <a:spcPts val="0"/>
              </a:spcBef>
              <a:spcAft>
                <a:spcPts val="0"/>
              </a:spcAft>
              <a:buSzPts val="3000"/>
              <a:buNone/>
            </a:pPr>
            <a:r>
              <a:t/>
            </a:r>
            <a:endParaRPr b="1" sz="3600">
              <a:latin typeface="Arial"/>
              <a:ea typeface="Arial"/>
              <a:cs typeface="Arial"/>
              <a:sym typeface="Arial"/>
            </a:endParaRPr>
          </a:p>
          <a:p>
            <a:pPr indent="0" lvl="0" marL="0" rtl="0" algn="l">
              <a:lnSpc>
                <a:spcPct val="100000"/>
              </a:lnSpc>
              <a:spcBef>
                <a:spcPts val="0"/>
              </a:spcBef>
              <a:spcAft>
                <a:spcPts val="0"/>
              </a:spcAft>
              <a:buSzPts val="3000"/>
              <a:buNone/>
            </a:pPr>
            <a:r>
              <a:t/>
            </a:r>
            <a:endParaRPr b="1" sz="3600">
              <a:latin typeface="Arial"/>
              <a:ea typeface="Arial"/>
              <a:cs typeface="Arial"/>
              <a:sym typeface="Arial"/>
            </a:endParaRPr>
          </a:p>
        </p:txBody>
      </p:sp>
      <p:sp>
        <p:nvSpPr>
          <p:cNvPr id="242" name="Google Shape;242;p43"/>
          <p:cNvSpPr txBox="1"/>
          <p:nvPr/>
        </p:nvSpPr>
        <p:spPr>
          <a:xfrm>
            <a:off x="2192675" y="4029075"/>
            <a:ext cx="43002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Visualizations of features from </a:t>
            </a:r>
            <a:endParaRPr b="1"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(LEFT) Llama-2-7B, </a:t>
            </a:r>
            <a:endParaRPr b="1"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(MIDDLE) LIMA-7B-SFT (Llama-2) and </a:t>
            </a:r>
            <a:endParaRPr b="1"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(RIGHT) LIMA-7B-UAL (Llama-2) for a pair of token</a:t>
            </a:r>
            <a:endParaRPr b="1" i="0" sz="1300" u="none" cap="none" strike="noStrike">
              <a:solidFill>
                <a:srgbClr val="000000"/>
              </a:solidFill>
              <a:latin typeface="Arial"/>
              <a:ea typeface="Arial"/>
              <a:cs typeface="Arial"/>
              <a:sym typeface="Arial"/>
            </a:endParaRPr>
          </a:p>
        </p:txBody>
      </p:sp>
      <p:pic>
        <p:nvPicPr>
          <p:cNvPr id="243" name="Google Shape;243;p43" title="3.png"/>
          <p:cNvPicPr preferRelativeResize="0"/>
          <p:nvPr/>
        </p:nvPicPr>
        <p:blipFill>
          <a:blip r:embed="rId3">
            <a:alphaModFix/>
          </a:blip>
          <a:stretch>
            <a:fillRect/>
          </a:stretch>
        </p:blipFill>
        <p:spPr>
          <a:xfrm>
            <a:off x="0" y="1114425"/>
            <a:ext cx="9143999" cy="2914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4"/>
          <p:cNvSpPr txBox="1"/>
          <p:nvPr>
            <p:ph type="title"/>
          </p:nvPr>
        </p:nvSpPr>
        <p:spPr>
          <a:xfrm>
            <a:off x="248950" y="334650"/>
            <a:ext cx="8325600" cy="4255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400"/>
              <a:buNone/>
            </a:pPr>
            <a:r>
              <a:rPr b="1" lang="en" sz="3600">
                <a:solidFill>
                  <a:schemeClr val="dk1"/>
                </a:solidFill>
                <a:latin typeface="Arial"/>
                <a:ea typeface="Arial"/>
                <a:cs typeface="Arial"/>
                <a:sym typeface="Arial"/>
              </a:rPr>
              <a:t>Key Results</a:t>
            </a:r>
            <a:endParaRPr b="1" sz="3600">
              <a:solidFill>
                <a:schemeClr val="dk1"/>
              </a:solidFill>
              <a:latin typeface="Arial"/>
              <a:ea typeface="Arial"/>
              <a:cs typeface="Arial"/>
              <a:sym typeface="Arial"/>
            </a:endParaRPr>
          </a:p>
          <a:p>
            <a:pPr indent="0" lvl="0" marL="0" rtl="0" algn="l">
              <a:lnSpc>
                <a:spcPct val="100000"/>
              </a:lnSpc>
              <a:spcBef>
                <a:spcPts val="0"/>
              </a:spcBef>
              <a:spcAft>
                <a:spcPts val="0"/>
              </a:spcAft>
              <a:buSzPts val="5400"/>
              <a:buNone/>
            </a:pPr>
            <a:r>
              <a:t/>
            </a:r>
            <a:endParaRPr sz="1200">
              <a:solidFill>
                <a:schemeClr val="dk1"/>
              </a:solidFill>
              <a:latin typeface="Arial"/>
              <a:ea typeface="Arial"/>
              <a:cs typeface="Arial"/>
              <a:sym typeface="Arial"/>
            </a:endParaRPr>
          </a:p>
          <a:p>
            <a:pPr indent="-349250" lvl="0" marL="457200" rtl="0" algn="l">
              <a:lnSpc>
                <a:spcPct val="115000"/>
              </a:lnSpc>
              <a:spcBef>
                <a:spcPts val="1200"/>
              </a:spcBef>
              <a:spcAft>
                <a:spcPts val="0"/>
              </a:spcAft>
              <a:buClr>
                <a:schemeClr val="dk1"/>
              </a:buClr>
              <a:buSzPts val="1900"/>
              <a:buFont typeface="Arial"/>
              <a:buChar char="●"/>
            </a:pPr>
            <a:r>
              <a:rPr lang="en" sz="1900">
                <a:solidFill>
                  <a:schemeClr val="dk1"/>
                </a:solidFill>
                <a:latin typeface="Arial"/>
                <a:ea typeface="Arial"/>
                <a:cs typeface="Arial"/>
                <a:sym typeface="Arial"/>
              </a:rPr>
              <a:t>UAL consistently </a:t>
            </a:r>
            <a:r>
              <a:rPr b="1" lang="en" sz="1900">
                <a:solidFill>
                  <a:schemeClr val="dk1"/>
                </a:solidFill>
                <a:latin typeface="Arial"/>
                <a:ea typeface="Arial"/>
                <a:cs typeface="Arial"/>
                <a:sym typeface="Arial"/>
              </a:rPr>
              <a:t>outperforms vanilla SFT</a:t>
            </a:r>
            <a:r>
              <a:rPr lang="en" sz="1900">
                <a:solidFill>
                  <a:schemeClr val="dk1"/>
                </a:solidFill>
                <a:latin typeface="Arial"/>
                <a:ea typeface="Arial"/>
                <a:cs typeface="Arial"/>
                <a:sym typeface="Arial"/>
              </a:rPr>
              <a:t> across benchmarks like MMLU, ARC-c, HellaSwag, and TruthfulQA.</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 sz="1900">
                <a:solidFill>
                  <a:schemeClr val="dk1"/>
                </a:solidFill>
                <a:latin typeface="Arial"/>
                <a:ea typeface="Arial"/>
                <a:cs typeface="Arial"/>
                <a:sym typeface="Arial"/>
              </a:rPr>
              <a:t>On </a:t>
            </a:r>
            <a:r>
              <a:rPr b="1" lang="en" sz="1900">
                <a:solidFill>
                  <a:schemeClr val="dk1"/>
                </a:solidFill>
                <a:latin typeface="Arial"/>
                <a:ea typeface="Arial"/>
                <a:cs typeface="Arial"/>
                <a:sym typeface="Arial"/>
              </a:rPr>
              <a:t>high-entropy tasks</a:t>
            </a:r>
            <a:r>
              <a:rPr lang="en" sz="1900">
                <a:solidFill>
                  <a:schemeClr val="dk1"/>
                </a:solidFill>
                <a:latin typeface="Arial"/>
                <a:ea typeface="Arial"/>
                <a:cs typeface="Arial"/>
                <a:sym typeface="Arial"/>
              </a:rPr>
              <a:t> (like general conversation), UAL improves performance by </a:t>
            </a:r>
            <a:r>
              <a:rPr b="1" lang="en" sz="1900">
                <a:solidFill>
                  <a:schemeClr val="dk1"/>
                </a:solidFill>
                <a:latin typeface="Arial"/>
                <a:ea typeface="Arial"/>
                <a:cs typeface="Arial"/>
                <a:sym typeface="Arial"/>
              </a:rPr>
              <a:t>+10.62%</a:t>
            </a:r>
            <a:r>
              <a:rPr lang="en" sz="1900">
                <a:solidFill>
                  <a:schemeClr val="dk1"/>
                </a:solidFill>
                <a:latin typeface="Arial"/>
                <a:ea typeface="Arial"/>
                <a:cs typeface="Arial"/>
                <a:sym typeface="Arial"/>
              </a:rPr>
              <a:t>.</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 sz="1900">
                <a:solidFill>
                  <a:schemeClr val="dk1"/>
                </a:solidFill>
                <a:latin typeface="Arial"/>
                <a:ea typeface="Arial"/>
                <a:cs typeface="Arial"/>
                <a:sym typeface="Arial"/>
              </a:rPr>
              <a:t>On </a:t>
            </a:r>
            <a:r>
              <a:rPr b="1" lang="en" sz="1900">
                <a:solidFill>
                  <a:schemeClr val="dk1"/>
                </a:solidFill>
                <a:latin typeface="Arial"/>
                <a:ea typeface="Arial"/>
                <a:cs typeface="Arial"/>
                <a:sym typeface="Arial"/>
              </a:rPr>
              <a:t>low-entropy tasks</a:t>
            </a:r>
            <a:r>
              <a:rPr lang="en" sz="1900">
                <a:solidFill>
                  <a:schemeClr val="dk1"/>
                </a:solidFill>
                <a:latin typeface="Arial"/>
                <a:ea typeface="Arial"/>
                <a:cs typeface="Arial"/>
                <a:sym typeface="Arial"/>
              </a:rPr>
              <a:t> (like math), it shows </a:t>
            </a:r>
            <a:r>
              <a:rPr b="1" lang="en" sz="1900">
                <a:solidFill>
                  <a:schemeClr val="dk1"/>
                </a:solidFill>
                <a:latin typeface="Arial"/>
                <a:ea typeface="Arial"/>
                <a:cs typeface="Arial"/>
                <a:sym typeface="Arial"/>
              </a:rPr>
              <a:t>+1.81%</a:t>
            </a:r>
            <a:r>
              <a:rPr lang="en" sz="1900">
                <a:solidFill>
                  <a:schemeClr val="dk1"/>
                </a:solidFill>
                <a:latin typeface="Arial"/>
                <a:ea typeface="Arial"/>
                <a:cs typeface="Arial"/>
                <a:sym typeface="Arial"/>
              </a:rPr>
              <a:t> gains.</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 sz="1900">
                <a:solidFill>
                  <a:schemeClr val="dk1"/>
                </a:solidFill>
                <a:latin typeface="Arial"/>
                <a:ea typeface="Arial"/>
                <a:cs typeface="Arial"/>
                <a:sym typeface="Arial"/>
              </a:rPr>
              <a:t>Models trained with UAL generalize better and </a:t>
            </a:r>
            <a:r>
              <a:rPr b="1" lang="en" sz="1900">
                <a:solidFill>
                  <a:schemeClr val="dk1"/>
                </a:solidFill>
                <a:latin typeface="Arial"/>
                <a:ea typeface="Arial"/>
                <a:cs typeface="Arial"/>
                <a:sym typeface="Arial"/>
              </a:rPr>
              <a:t>cluster token representations more effectively</a:t>
            </a:r>
            <a:r>
              <a:rPr lang="en" sz="1900">
                <a:solidFill>
                  <a:schemeClr val="dk1"/>
                </a:solidFill>
                <a:latin typeface="Arial"/>
                <a:ea typeface="Arial"/>
                <a:cs typeface="Arial"/>
                <a:sym typeface="Arial"/>
              </a:rPr>
              <a:t> (as shown by PCA and Silhouette Coefficient).</a:t>
            </a:r>
            <a:endParaRPr sz="38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Relation to Prior Work</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6"/>
          <p:cNvSpPr txBox="1"/>
          <p:nvPr>
            <p:ph type="title"/>
          </p:nvPr>
        </p:nvSpPr>
        <p:spPr>
          <a:xfrm>
            <a:off x="248950" y="334650"/>
            <a:ext cx="8325600" cy="4255200"/>
          </a:xfrm>
          <a:prstGeom prst="rect">
            <a:avLst/>
          </a:prstGeom>
          <a:noFill/>
          <a:ln>
            <a:noFill/>
          </a:ln>
        </p:spPr>
        <p:txBody>
          <a:bodyPr anchorCtr="0" anchor="ctr"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Font typeface="Arial"/>
              <a:buChar char="●"/>
            </a:pPr>
            <a:r>
              <a:rPr b="1" lang="en" sz="2000">
                <a:solidFill>
                  <a:schemeClr val="dk1"/>
                </a:solidFill>
                <a:latin typeface="Arial"/>
                <a:ea typeface="Arial"/>
                <a:cs typeface="Arial"/>
                <a:sym typeface="Arial"/>
              </a:rPr>
              <a:t>RLHF</a:t>
            </a:r>
            <a:r>
              <a:rPr lang="en" sz="2000">
                <a:solidFill>
                  <a:schemeClr val="dk1"/>
                </a:solidFill>
                <a:latin typeface="Arial"/>
                <a:ea typeface="Arial"/>
                <a:cs typeface="Arial"/>
                <a:sym typeface="Arial"/>
              </a:rPr>
              <a:t> (Reinforcement Learning with Human Feedback): More complex, requires reward modeling and policy optimization.</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Char char="●"/>
            </a:pPr>
            <a:r>
              <a:rPr b="1" lang="en" sz="2000">
                <a:solidFill>
                  <a:schemeClr val="dk1"/>
                </a:solidFill>
                <a:latin typeface="Arial"/>
                <a:ea typeface="Arial"/>
                <a:cs typeface="Arial"/>
                <a:sym typeface="Arial"/>
              </a:rPr>
              <a:t>Token-level uncertainty methods</a:t>
            </a:r>
            <a:r>
              <a:rPr lang="en" sz="2000">
                <a:solidFill>
                  <a:schemeClr val="dk1"/>
                </a:solidFill>
                <a:latin typeface="Arial"/>
                <a:ea typeface="Arial"/>
                <a:cs typeface="Arial"/>
                <a:sym typeface="Arial"/>
              </a:rPr>
              <a:t> (e.g., using PPL): Compute uncertainty based on model's own token-level confidence → more compute-heavy and less robust.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Char char="●"/>
            </a:pPr>
            <a:r>
              <a:rPr b="1" lang="en" sz="2000">
                <a:solidFill>
                  <a:schemeClr val="dk1"/>
                </a:solidFill>
                <a:latin typeface="Arial"/>
                <a:ea typeface="Arial"/>
                <a:cs typeface="Arial"/>
                <a:sym typeface="Arial"/>
              </a:rPr>
              <a:t>UAL</a:t>
            </a:r>
            <a:r>
              <a:rPr lang="en" sz="2000">
                <a:solidFill>
                  <a:schemeClr val="dk1"/>
                </a:solidFill>
                <a:latin typeface="Arial"/>
                <a:ea typeface="Arial"/>
                <a:cs typeface="Arial"/>
                <a:sym typeface="Arial"/>
              </a:rPr>
              <a:t> differs by:</a:t>
            </a:r>
            <a:endParaRPr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Font typeface="Arial"/>
              <a:buChar char="○"/>
            </a:pPr>
            <a:r>
              <a:rPr lang="en" sz="2000">
                <a:solidFill>
                  <a:schemeClr val="dk1"/>
                </a:solidFill>
                <a:latin typeface="Arial"/>
                <a:ea typeface="Arial"/>
                <a:cs typeface="Arial"/>
                <a:sym typeface="Arial"/>
              </a:rPr>
              <a:t>Using </a:t>
            </a:r>
            <a:r>
              <a:rPr b="1" lang="en" sz="2000">
                <a:solidFill>
                  <a:schemeClr val="dk1"/>
                </a:solidFill>
                <a:latin typeface="Arial"/>
                <a:ea typeface="Arial"/>
                <a:cs typeface="Arial"/>
                <a:sym typeface="Arial"/>
              </a:rPr>
              <a:t>external LLMs like GPT-4</a:t>
            </a:r>
            <a:r>
              <a:rPr lang="en" sz="2000">
                <a:solidFill>
                  <a:schemeClr val="dk1"/>
                </a:solidFill>
                <a:latin typeface="Arial"/>
                <a:ea typeface="Arial"/>
                <a:cs typeface="Arial"/>
                <a:sym typeface="Arial"/>
              </a:rPr>
              <a:t> to evaluate </a:t>
            </a:r>
            <a:r>
              <a:rPr i="1" lang="en" sz="2000">
                <a:solidFill>
                  <a:schemeClr val="dk1"/>
                </a:solidFill>
                <a:latin typeface="Arial"/>
                <a:ea typeface="Arial"/>
                <a:cs typeface="Arial"/>
                <a:sym typeface="Arial"/>
              </a:rPr>
              <a:t>task-level</a:t>
            </a:r>
            <a:r>
              <a:rPr lang="en" sz="2000">
                <a:solidFill>
                  <a:schemeClr val="dk1"/>
                </a:solidFill>
                <a:latin typeface="Arial"/>
                <a:ea typeface="Arial"/>
                <a:cs typeface="Arial"/>
                <a:sym typeface="Arial"/>
              </a:rPr>
              <a:t> uncertainty.</a:t>
            </a:r>
            <a:endParaRPr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Font typeface="Arial"/>
              <a:buChar char="○"/>
            </a:pPr>
            <a:r>
              <a:rPr lang="en" sz="2000">
                <a:solidFill>
                  <a:schemeClr val="dk1"/>
                </a:solidFill>
                <a:latin typeface="Arial"/>
                <a:ea typeface="Arial"/>
                <a:cs typeface="Arial"/>
                <a:sym typeface="Arial"/>
              </a:rPr>
              <a:t>Simplifying the process via </a:t>
            </a:r>
            <a:r>
              <a:rPr b="1" lang="en" sz="2000">
                <a:solidFill>
                  <a:schemeClr val="dk1"/>
                </a:solidFill>
                <a:latin typeface="Arial"/>
                <a:ea typeface="Arial"/>
                <a:cs typeface="Arial"/>
                <a:sym typeface="Arial"/>
              </a:rPr>
              <a:t>adaptive label smoothing</a:t>
            </a:r>
            <a:r>
              <a:rPr lang="en"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Font typeface="Arial"/>
              <a:buChar char="○"/>
            </a:pPr>
            <a:r>
              <a:rPr lang="en" sz="2000">
                <a:solidFill>
                  <a:schemeClr val="dk1"/>
                </a:solidFill>
                <a:latin typeface="Arial"/>
                <a:ea typeface="Arial"/>
                <a:cs typeface="Arial"/>
                <a:sym typeface="Arial"/>
              </a:rPr>
              <a:t>Focusing on </a:t>
            </a:r>
            <a:r>
              <a:rPr i="1" lang="en" sz="2000">
                <a:solidFill>
                  <a:schemeClr val="dk1"/>
                </a:solidFill>
                <a:latin typeface="Arial"/>
                <a:ea typeface="Arial"/>
                <a:cs typeface="Arial"/>
                <a:sym typeface="Arial"/>
              </a:rPr>
              <a:t>sample-level</a:t>
            </a:r>
            <a:r>
              <a:rPr lang="en" sz="2000">
                <a:solidFill>
                  <a:schemeClr val="dk1"/>
                </a:solidFill>
                <a:latin typeface="Arial"/>
                <a:ea typeface="Arial"/>
                <a:cs typeface="Arial"/>
                <a:sym typeface="Arial"/>
              </a:rPr>
              <a:t> adjustments instead of per-token modeling.</a:t>
            </a:r>
            <a:endParaRPr b="1" sz="45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7"/>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Takeaway for Peers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248950" y="334650"/>
            <a:ext cx="8325600" cy="425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SzPts val="5400"/>
              <a:buNone/>
            </a:pPr>
            <a:r>
              <a:rPr lang="en" sz="2200">
                <a:solidFill>
                  <a:schemeClr val="dk1"/>
                </a:solidFill>
                <a:latin typeface="Arial"/>
                <a:ea typeface="Arial"/>
                <a:cs typeface="Arial"/>
                <a:sym typeface="Arial"/>
              </a:rPr>
              <a:t>If you're training LLMs and doing instruction tuning:</a:t>
            </a:r>
            <a:endParaRPr sz="2200">
              <a:solidFill>
                <a:schemeClr val="dk1"/>
              </a:solidFill>
              <a:latin typeface="Arial"/>
              <a:ea typeface="Arial"/>
              <a:cs typeface="Arial"/>
              <a:sym typeface="Arial"/>
            </a:endParaRPr>
          </a:p>
          <a:p>
            <a:pPr indent="-368300" lvl="0" marL="457200" rtl="0" algn="l">
              <a:lnSpc>
                <a:spcPct val="115000"/>
              </a:lnSpc>
              <a:spcBef>
                <a:spcPts val="1200"/>
              </a:spcBef>
              <a:spcAft>
                <a:spcPts val="0"/>
              </a:spcAft>
              <a:buClr>
                <a:schemeClr val="dk1"/>
              </a:buClr>
              <a:buSzPts val="2200"/>
              <a:buFont typeface="Arial"/>
              <a:buChar char="●"/>
            </a:pPr>
            <a:r>
              <a:rPr b="1" lang="en" sz="2200">
                <a:solidFill>
                  <a:schemeClr val="dk1"/>
                </a:solidFill>
                <a:latin typeface="Arial"/>
                <a:ea typeface="Arial"/>
                <a:cs typeface="Arial"/>
                <a:sym typeface="Arial"/>
              </a:rPr>
              <a:t>Don't treat all data the same.</a:t>
            </a:r>
            <a:endParaRPr b="1"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Estimate how "certain" or "ambiguous" a sample is.</a:t>
            </a:r>
            <a:endParaRPr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Then </a:t>
            </a:r>
            <a:r>
              <a:rPr b="1" lang="en" sz="2200">
                <a:solidFill>
                  <a:schemeClr val="dk1"/>
                </a:solidFill>
                <a:latin typeface="Arial"/>
                <a:ea typeface="Arial"/>
                <a:cs typeface="Arial"/>
                <a:sym typeface="Arial"/>
              </a:rPr>
              <a:t>adjust your training supervision accordingly</a:t>
            </a:r>
            <a:r>
              <a:rPr lang="en" sz="2200">
                <a:solidFill>
                  <a:schemeClr val="dk1"/>
                </a:solidFill>
                <a:latin typeface="Arial"/>
                <a:ea typeface="Arial"/>
                <a:cs typeface="Arial"/>
                <a:sym typeface="Arial"/>
              </a:rPr>
              <a:t> — more strict for clear tasks, softer for open-ended ones.</a:t>
            </a:r>
            <a:endParaRPr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UAL shows that </a:t>
            </a:r>
            <a:r>
              <a:rPr b="1" lang="en" sz="2200">
                <a:solidFill>
                  <a:schemeClr val="dk1"/>
                </a:solidFill>
                <a:latin typeface="Arial"/>
                <a:ea typeface="Arial"/>
                <a:cs typeface="Arial"/>
                <a:sym typeface="Arial"/>
              </a:rPr>
              <a:t>a simple twist on loss functions (label smoothing)</a:t>
            </a:r>
            <a:r>
              <a:rPr lang="en" sz="2200">
                <a:solidFill>
                  <a:schemeClr val="dk1"/>
                </a:solidFill>
                <a:latin typeface="Arial"/>
                <a:ea typeface="Arial"/>
                <a:cs typeface="Arial"/>
                <a:sym typeface="Arial"/>
              </a:rPr>
              <a:t>, guided by uncertainty, can significantly improve alignment and generalization.</a:t>
            </a:r>
            <a:endParaRPr b="1" sz="31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9"/>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Limitations and Future Work</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0"/>
          <p:cNvSpPr txBox="1"/>
          <p:nvPr>
            <p:ph type="title"/>
          </p:nvPr>
        </p:nvSpPr>
        <p:spPr>
          <a:xfrm>
            <a:off x="248950" y="334650"/>
            <a:ext cx="8325600" cy="425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SzPts val="5400"/>
              <a:buNone/>
            </a:pPr>
            <a:r>
              <a:rPr b="1" lang="en" sz="2300">
                <a:solidFill>
                  <a:schemeClr val="dk1"/>
                </a:solidFill>
                <a:latin typeface="Arial"/>
                <a:ea typeface="Arial"/>
                <a:cs typeface="Arial"/>
                <a:sym typeface="Arial"/>
              </a:rPr>
              <a:t>Limitations:</a:t>
            </a:r>
            <a:endParaRPr b="1" sz="23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Only tested on models up to 7B (Llama2 and Mistral).</a:t>
            </a:r>
            <a:endParaRPr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Requires uncertainty scoring → adds preprocessing step.</a:t>
            </a:r>
            <a:endParaRPr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Uncertainty definition is empirical → no strong mathematical foundation yet. strict for clear tasks, softer for open-ended ones.</a:t>
            </a:r>
            <a:endParaRPr sz="2200">
              <a:solidFill>
                <a:schemeClr val="dk1"/>
              </a:solidFill>
              <a:latin typeface="Arial"/>
              <a:ea typeface="Arial"/>
              <a:cs typeface="Arial"/>
              <a:sym typeface="Arial"/>
            </a:endParaRPr>
          </a:p>
          <a:p>
            <a:pPr indent="0" lvl="0" marL="0" rtl="0" algn="l">
              <a:lnSpc>
                <a:spcPct val="115000"/>
              </a:lnSpc>
              <a:spcBef>
                <a:spcPts val="1200"/>
              </a:spcBef>
              <a:spcAft>
                <a:spcPts val="0"/>
              </a:spcAft>
              <a:buSzPts val="5400"/>
              <a:buNone/>
            </a:pPr>
            <a:r>
              <a:rPr b="1" lang="en" sz="2300">
                <a:solidFill>
                  <a:schemeClr val="dk1"/>
                </a:solidFill>
                <a:latin typeface="Arial"/>
                <a:ea typeface="Arial"/>
                <a:cs typeface="Arial"/>
                <a:sym typeface="Arial"/>
              </a:rPr>
              <a:t>Future work:</a:t>
            </a:r>
            <a:endParaRPr sz="2200">
              <a:solidFill>
                <a:schemeClr val="dk1"/>
              </a:solidFill>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Font typeface="Arial"/>
              <a:buChar char="●"/>
            </a:pPr>
            <a:r>
              <a:rPr lang="en" sz="2200">
                <a:solidFill>
                  <a:schemeClr val="dk1"/>
                </a:solidFill>
                <a:latin typeface="Arial"/>
                <a:ea typeface="Arial"/>
                <a:cs typeface="Arial"/>
                <a:sym typeface="Arial"/>
              </a:rPr>
              <a:t>Potential → broaden UAL use in NLP alignment</a:t>
            </a:r>
            <a:endParaRPr b="1" sz="31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2" name="Shape 282"/>
        <p:cNvGrpSpPr/>
        <p:nvPr/>
      </p:nvGrpSpPr>
      <p:grpSpPr>
        <a:xfrm>
          <a:off x="0" y="0"/>
          <a:ext cx="0" cy="0"/>
          <a:chOff x="0" y="0"/>
          <a:chExt cx="0" cy="0"/>
        </a:xfrm>
      </p:grpSpPr>
      <p:sp>
        <p:nvSpPr>
          <p:cNvPr id="283" name="Google Shape;283;p5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3500"/>
              <a:t>Conclusion</a:t>
            </a:r>
            <a:endParaRPr b="1" sz="3500"/>
          </a:p>
        </p:txBody>
      </p:sp>
      <p:sp>
        <p:nvSpPr>
          <p:cNvPr id="284" name="Google Shape;284;p5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sz="3000"/>
              <a:t>Uncertainty Aware Learning improves alignment in LLMs by making training sensitive to sample difficulty (uncertainty). This helps achieve better performance, more stable learning, better representations, and superior generalization — especially in mixed or challenging scenarios.</a:t>
            </a:r>
            <a:endParaRPr sz="3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2"/>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