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84" r:id="rId7"/>
    <p:sldId id="278" r:id="rId8"/>
    <p:sldId id="279" r:id="rId9"/>
    <p:sldId id="259" r:id="rId10"/>
    <p:sldId id="280" r:id="rId11"/>
    <p:sldId id="282" r:id="rId12"/>
    <p:sldId id="281" r:id="rId13"/>
    <p:sldId id="286" r:id="rId14"/>
    <p:sldId id="288" r:id="rId15"/>
    <p:sldId id="289" r:id="rId16"/>
    <p:sldId id="287" r:id="rId17"/>
    <p:sldId id="291" r:id="rId18"/>
    <p:sldId id="293" r:id="rId19"/>
    <p:sldId id="267" r:id="rId20"/>
    <p:sldId id="29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18" autoAdjust="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11/4/2023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4T11:08:51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2713 1 24575,'1'65'0,"-3"78"0,2-139 0,0 0 0,-1-1 0,0 1 0,0-1 0,0 0 0,0 1 0,0-1 0,-1 0 0,0 1 0,1-1 0,-1 0 0,0 0 0,-1 0 0,1-1 0,0 1 0,-1-1 0,1 1 0,-1-1 0,0 0 0,0 0 0,0 0 0,0 0 0,0 0 0,-1-1 0,1 1 0,0-1 0,-1 0 0,1 0 0,-4 0 0,-12 2 0,1 0 0,0-2 0,-1 0 0,-28-3 0,18 1 0,-1398-7 0,917 9 0,477 1 0,-1 1 0,-44 11 0,42-7 0,-63 4 0,-146-12-1365,214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4T11:08:56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1330 24575,'0'-6'0,"1"1"0,0-1 0,0 1 0,1 0 0,0-1 0,0 1 0,0 0 0,0 0 0,6-9 0,34-45 0,-23 34 0,2-5 0,116-164 0,193-210 0,-16 96 0,-287 283 0,-1-3 0,32-40 0,-18 18 0,-11 8 0,-29 41 0,1 1 0,-1-1 0,1 0 0,-1 0 0,1 1 0,-1-1 0,1 0 0,-1 0 0,0 1 0,1-1 0,-1 0 0,0 0 0,0 0 0,1 0 0,-1 1 0,0-1 0,0 0 0,0 0 0,0 0 0,0 0 0,0 0 0,0 0 0,-1 1 0,1-1 0,0 0 0,0 0 0,-1 0 0,1 0 0,-1 1 0,1-1 0,0 0 0,-1 0 0,1 1 0,-1-1 0,0 0 0,1 1 0,-1-1 0,0 1 0,1-1 0,-1 1 0,0-1 0,1 1 0,-1-1 0,0 1 0,0 0 0,0-1 0,1 1 0,-1 0 0,0 0 0,0-1 0,0 1 0,-1 0 0,-12 1 0,-1 0 0,1 0 0,0 2 0,0 0 0,0 0 0,-26 11 0,-30 7 0,60-19 0,-8 1 0,0 0 0,0 2 0,0 0 0,1 1 0,-1 1 0,-19 11 0,37-18 0,-1 0 0,1 0 0,-1 0 0,1 0 0,0 1 0,-1-1 0,1 0 0,-1 0 0,1 0 0,-1 1 0,1-1 0,-1 0 0,1 1 0,0-1 0,-1 0 0,1 1 0,0-1 0,-1 0 0,1 1 0,0-1 0,0 1 0,-1-1 0,1 1 0,0-1 0,0 1 0,0-1 0,-1 1 0,1-1 0,0 0 0,0 1 0,0-1 0,0 1 0,0-1 0,0 1 0,0 0 0,0-1 0,0 1 0,0-1 0,0 0 0,1 1 0,-1-1 0,0 1 0,0-1 0,0 1 0,1-1 0,-1 1 0,0-1 0,0 1 0,1-1 0,-1 0 0,0 1 0,1-1 0,-1 0 0,1 1 0,-1-1 0,1 1 0,1 0 0,0-1 0,1 1 0,-1 0 0,0-1 0,0 1 0,1-1 0,-1 1 0,0-1 0,1 0 0,-1 0 0,4-1 0,36-8 0,0-2 0,54-21 0,-2 0 0,-84 29 0,1 0 0,-1 0 0,1 1 0,-1 1 0,1 0 0,-1 0 0,16 2 0,-24-1 0,1 1 0,-1-1 0,1 1 0,-1-1 0,0 1 0,0 0 0,1 0 0,-1 0 0,0 0 0,0 0 0,0 1 0,0-1 0,0 0 0,0 1 0,0 0 0,-1-1 0,1 1 0,-1 0 0,1 0 0,-1 0 0,1 0 0,-1 0 0,0 0 0,0 0 0,0 1 0,0-1 0,-1 0 0,1 0 0,-1 1 0,1-1 0,-1 1 0,0-1 0,0 0 0,0 1 0,0-1 0,0 1 0,-1 3 0,-2 14 0,-1 1 0,-1-1 0,-11 31 0,9-27 0,0-1 0,-5 32 0,6 51-1365,6-75-5461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4T11:09:04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304 623 24575,'-2'-5'0,"0"0"0,0 0 0,-1 1 0,0-1 0,0 1 0,0-1 0,0 1 0,-1 1 0,0-1 0,0 0 0,-4-3 0,-6-6 0,2 0 0,-1 0 0,-1 1 0,0 0 0,-1 1 0,0 1 0,0 0 0,-20-8 0,20 9 0,1 0 0,0-1 0,1-1 0,0 0 0,-15-18 0,26 27 0,0 0 0,0 0 0,1-1 0,-1 1 0,1-1 0,0 1 0,-1-1 0,1 1 0,0-1 0,0 0 0,1 1 0,-1-1 0,1 0 0,-1 0 0,1 0 0,0 0 0,0 1 0,0-1 0,0 0 0,1 0 0,-1 0 0,1 1 0,-1-1 0,1 0 0,0 0 0,0 1 0,1-1 0,-1 1 0,0-1 0,1 1 0,-1-1 0,4-2 0,6-9 0,2 0 0,-1 1 0,2 0 0,16-11 0,0-2 0,38-45 57,34-28-1479,-86 86-5404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11/4/2023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49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27705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575404"/>
            <a:ext cx="9857014" cy="621603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67492" y="2653167"/>
            <a:ext cx="9779183" cy="343648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71EB95-DE30-3F1F-F9EC-DA4858055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1"/>
            <a:ext cx="9779182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4826" y="1071418"/>
            <a:ext cx="7342348" cy="3423380"/>
          </a:xfrm>
        </p:spPr>
        <p:txBody>
          <a:bodyPr anchor="b" anchorCtr="0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2837" y="1071418"/>
            <a:ext cx="1364297" cy="1740788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19153" y="3295278"/>
            <a:ext cx="1364297" cy="1690799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2389" y="4599720"/>
            <a:ext cx="3511550" cy="853643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F76E36-451C-4A7D-4E26-8AB78D34D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57012" y="-1664"/>
            <a:ext cx="2334989" cy="6859664"/>
            <a:chOff x="9857012" y="-1664"/>
            <a:chExt cx="2334989" cy="6859664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AB3BC7E-B34F-EF47-B125-1574C5484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V="1">
              <a:off x="9499940" y="355410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CBC82D0-4F72-C649-8B7F-D4B087957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10866436" y="1879977"/>
              <a:ext cx="1325563" cy="1325563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383F23A-D872-2A4C-B386-A9D269BE6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024507" y="-1664"/>
              <a:ext cx="1167494" cy="1881641"/>
            </a:xfrm>
            <a:custGeom>
              <a:avLst/>
              <a:gdLst>
                <a:gd name="connsiteX0" fmla="*/ 1167473 w 1167494"/>
                <a:gd name="connsiteY0" fmla="*/ 0 h 1881641"/>
                <a:gd name="connsiteX1" fmla="*/ 1167493 w 1167494"/>
                <a:gd name="connsiteY1" fmla="*/ 0 h 1881641"/>
                <a:gd name="connsiteX2" fmla="*/ 1167493 w 1167494"/>
                <a:gd name="connsiteY2" fmla="*/ 714148 h 1881641"/>
                <a:gd name="connsiteX3" fmla="*/ 1166666 w 1167494"/>
                <a:gd name="connsiteY3" fmla="*/ 730534 h 1881641"/>
                <a:gd name="connsiteX4" fmla="*/ 1167494 w 1167494"/>
                <a:gd name="connsiteY4" fmla="*/ 730534 h 1881641"/>
                <a:gd name="connsiteX5" fmla="*/ 1167494 w 1167494"/>
                <a:gd name="connsiteY5" fmla="*/ 1378059 h 1881641"/>
                <a:gd name="connsiteX6" fmla="*/ 1167493 w 1167494"/>
                <a:gd name="connsiteY6" fmla="*/ 1378059 h 1881641"/>
                <a:gd name="connsiteX7" fmla="*/ 1167493 w 1167494"/>
                <a:gd name="connsiteY7" fmla="*/ 1881641 h 1881641"/>
                <a:gd name="connsiteX8" fmla="*/ 0 w 1167494"/>
                <a:gd name="connsiteY8" fmla="*/ 1881641 h 1881641"/>
                <a:gd name="connsiteX9" fmla="*/ 0 w 1167494"/>
                <a:gd name="connsiteY9" fmla="*/ 1234116 h 1881641"/>
                <a:gd name="connsiteX10" fmla="*/ 0 w 1167494"/>
                <a:gd name="connsiteY10" fmla="*/ 1167492 h 1881641"/>
                <a:gd name="connsiteX11" fmla="*/ 1048124 w 1167494"/>
                <a:gd name="connsiteY11" fmla="*/ 6027 h 188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7494" h="1881641">
                  <a:moveTo>
                    <a:pt x="1167473" y="0"/>
                  </a:moveTo>
                  <a:lnTo>
                    <a:pt x="1167493" y="0"/>
                  </a:lnTo>
                  <a:lnTo>
                    <a:pt x="1167493" y="714148"/>
                  </a:lnTo>
                  <a:lnTo>
                    <a:pt x="1166666" y="730534"/>
                  </a:lnTo>
                  <a:lnTo>
                    <a:pt x="1167494" y="730534"/>
                  </a:lnTo>
                  <a:lnTo>
                    <a:pt x="1167494" y="1378059"/>
                  </a:lnTo>
                  <a:lnTo>
                    <a:pt x="1167493" y="1378059"/>
                  </a:lnTo>
                  <a:lnTo>
                    <a:pt x="1167493" y="1881641"/>
                  </a:lnTo>
                  <a:lnTo>
                    <a:pt x="0" y="1881641"/>
                  </a:lnTo>
                  <a:lnTo>
                    <a:pt x="0" y="1234116"/>
                  </a:lnTo>
                  <a:lnTo>
                    <a:pt x="0" y="1167492"/>
                  </a:lnTo>
                  <a:cubicBezTo>
                    <a:pt x="0" y="563002"/>
                    <a:pt x="459408" y="65814"/>
                    <a:pt x="1048124" y="60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221FFDB-AAE2-5943-97A1-82D66AE0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334091" y="2737752"/>
              <a:ext cx="1380830" cy="138083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E58EEF7-63CA-A845-BAC4-9D3BE0591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6200000" flipH="1">
              <a:off x="10667432" y="5333432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57A4624-D8ED-2E4B-AF8C-00DFA6A72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V="1">
              <a:off x="9857012" y="3651505"/>
              <a:ext cx="1325563" cy="1325563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F312EF8-91BE-5946-BE31-8CFE107A2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 flipV="1">
              <a:off x="9857013" y="4976359"/>
              <a:ext cx="1167494" cy="1881641"/>
            </a:xfrm>
            <a:custGeom>
              <a:avLst/>
              <a:gdLst>
                <a:gd name="connsiteX0" fmla="*/ 1167473 w 1167494"/>
                <a:gd name="connsiteY0" fmla="*/ 0 h 1881641"/>
                <a:gd name="connsiteX1" fmla="*/ 1167493 w 1167494"/>
                <a:gd name="connsiteY1" fmla="*/ 0 h 1881641"/>
                <a:gd name="connsiteX2" fmla="*/ 1167493 w 1167494"/>
                <a:gd name="connsiteY2" fmla="*/ 714148 h 1881641"/>
                <a:gd name="connsiteX3" fmla="*/ 1166666 w 1167494"/>
                <a:gd name="connsiteY3" fmla="*/ 730534 h 1881641"/>
                <a:gd name="connsiteX4" fmla="*/ 1167494 w 1167494"/>
                <a:gd name="connsiteY4" fmla="*/ 730534 h 1881641"/>
                <a:gd name="connsiteX5" fmla="*/ 1167494 w 1167494"/>
                <a:gd name="connsiteY5" fmla="*/ 1378059 h 1881641"/>
                <a:gd name="connsiteX6" fmla="*/ 1167493 w 1167494"/>
                <a:gd name="connsiteY6" fmla="*/ 1378059 h 1881641"/>
                <a:gd name="connsiteX7" fmla="*/ 1167493 w 1167494"/>
                <a:gd name="connsiteY7" fmla="*/ 1881641 h 1881641"/>
                <a:gd name="connsiteX8" fmla="*/ 0 w 1167494"/>
                <a:gd name="connsiteY8" fmla="*/ 1881641 h 1881641"/>
                <a:gd name="connsiteX9" fmla="*/ 0 w 1167494"/>
                <a:gd name="connsiteY9" fmla="*/ 1234116 h 1881641"/>
                <a:gd name="connsiteX10" fmla="*/ 0 w 1167494"/>
                <a:gd name="connsiteY10" fmla="*/ 1167492 h 1881641"/>
                <a:gd name="connsiteX11" fmla="*/ 1048124 w 1167494"/>
                <a:gd name="connsiteY11" fmla="*/ 6027 h 188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67494" h="1881641">
                  <a:moveTo>
                    <a:pt x="1167473" y="0"/>
                  </a:moveTo>
                  <a:lnTo>
                    <a:pt x="1167493" y="0"/>
                  </a:lnTo>
                  <a:lnTo>
                    <a:pt x="1167493" y="714148"/>
                  </a:lnTo>
                  <a:lnTo>
                    <a:pt x="1166666" y="730534"/>
                  </a:lnTo>
                  <a:lnTo>
                    <a:pt x="1167494" y="730534"/>
                  </a:lnTo>
                  <a:lnTo>
                    <a:pt x="1167494" y="1378059"/>
                  </a:lnTo>
                  <a:lnTo>
                    <a:pt x="1167493" y="1378059"/>
                  </a:lnTo>
                  <a:lnTo>
                    <a:pt x="1167493" y="1881641"/>
                  </a:lnTo>
                  <a:lnTo>
                    <a:pt x="0" y="1881641"/>
                  </a:lnTo>
                  <a:lnTo>
                    <a:pt x="0" y="1234116"/>
                  </a:lnTo>
                  <a:lnTo>
                    <a:pt x="0" y="1167492"/>
                  </a:lnTo>
                  <a:cubicBezTo>
                    <a:pt x="0" y="563002"/>
                    <a:pt x="459408" y="65814"/>
                    <a:pt x="1048124" y="6027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136526"/>
            <a:ext cx="8401624" cy="1570038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429" y="2227758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227758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5"/>
            <a:ext cx="2281237" cy="62118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95813" y="2227758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223923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0"/>
            <a:ext cx="2281237" cy="621189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0429" y="4254273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300151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8"/>
            <a:ext cx="2281237" cy="57147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95813" y="4254273"/>
            <a:ext cx="1200374" cy="1201242"/>
          </a:xfrm>
        </p:spPr>
        <p:txBody>
          <a:bodyPr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300151"/>
            <a:ext cx="2281237" cy="54630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8"/>
            <a:ext cx="2281237" cy="57147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0430" y="71021"/>
            <a:ext cx="10678142" cy="1635542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429" y="2068734"/>
            <a:ext cx="904987" cy="905641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549397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348367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147335" y="2068734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50429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549397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348367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147335" y="4118551"/>
            <a:ext cx="904987" cy="905641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663665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663665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martAr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7563"/>
            <a:ext cx="9779182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8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0"/>
            <a:ext cx="9779183" cy="1706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1785669"/>
            <a:ext cx="9779182" cy="4278702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EBCFC05-28F2-ED12-5DAE-0D1A11FE8A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66813" y="2023984"/>
            <a:ext cx="4664075" cy="469051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487DE67-2E54-8713-8739-3604335870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3235" y="2023984"/>
            <a:ext cx="4664075" cy="469051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 rot="5400000" flipH="1">
              <a:off x="11258144" y="5924144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381000"/>
            <a:ext cx="9779183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794B347-3274-3D51-85DF-420355004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66813" y="2020329"/>
            <a:ext cx="3219450" cy="4689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1" y="2526318"/>
            <a:ext cx="3218688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AAFFF32-276A-0586-D4FD-02CA694F3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787" y="2020329"/>
            <a:ext cx="3173279" cy="4689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83787" y="2526318"/>
            <a:ext cx="3173279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FDD55F25-7BEF-26A6-157A-97540EC739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00082" y="2018581"/>
            <a:ext cx="3173279" cy="46893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800" b="0"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0082" y="2526318"/>
            <a:ext cx="3173279" cy="28286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57414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7" r:id="rId10"/>
    <p:sldLayoutId id="2147483663" r:id="rId11"/>
    <p:sldLayoutId id="2147483664" r:id="rId12"/>
    <p:sldLayoutId id="2147483665" r:id="rId13"/>
    <p:sldLayoutId id="2147483666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3.xml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1.jpeg"/><Relationship Id="rId4" Type="http://schemas.openxmlformats.org/officeDocument/2006/relationships/image" Target="../media/image10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courses/18-s096-topics-in-mathematics-with-applications-in-finance-fall-2013/resources/lecture-6-regression-analysis/" TargetMode="External"/><Relationship Id="rId2" Type="http://schemas.openxmlformats.org/officeDocument/2006/relationships/hyperlink" Target="https://www2.isye.gatech.edu/~yxie77/isye2028/lecture11.pdf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277050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575404"/>
            <a:ext cx="9857014" cy="621603"/>
          </a:xfrm>
        </p:spPr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Introduction of ML (Machine Learning)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What is Linear Regression?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Its importance through use-cases. (</a:t>
            </a:r>
            <a:r>
              <a:rPr lang="en-US" i="1" dirty="0"/>
              <a:t>Applications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it works? (</a:t>
            </a:r>
            <a:r>
              <a:rPr lang="en-US" i="1" dirty="0"/>
              <a:t>Mathematical Working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Evaluation Metrics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Lecture Take-Away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118D-F5CF-9264-E1A0-8E3B7AEC8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</p:spPr>
        <p:txBody>
          <a:bodyPr/>
          <a:lstStyle/>
          <a:p>
            <a:r>
              <a:rPr lang="en-US" dirty="0"/>
              <a:t>4/11/2023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A8FA-7697-E534-909E-440F9F99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i="0" dirty="0">
                <a:effectLst/>
                <a:latin typeface="arial" panose="020B0604020202020204" pitchFamily="34" charset="0"/>
              </a:rPr>
              <a:t>Machine learning is </a:t>
            </a:r>
            <a:r>
              <a:rPr lang="en-US" sz="3200" b="1" i="0" dirty="0">
                <a:effectLst/>
                <a:latin typeface="arial" panose="020B0604020202020204" pitchFamily="34" charset="0"/>
              </a:rPr>
              <a:t>a field of artificial intelligence that allows systems to learn and improve from</a:t>
            </a:r>
            <a:r>
              <a:rPr lang="en-US" sz="3200" b="0" i="0" dirty="0">
                <a:effectLst/>
                <a:latin typeface="arial" panose="020B0604020202020204" pitchFamily="34" charset="0"/>
              </a:rPr>
              <a:t> experience without being explicitly programmed.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58DDF-4AE9-5D7D-B5DE-EB66BD6C82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2587E-C97D-8F84-E874-BFE49A6651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237354-4291-B6C6-DF16-B691D61F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E99E4F-ADFB-40D5-7796-5DE6424F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2AB3432-8E81-026C-5F88-5226651AABF9}"/>
              </a:ext>
            </a:extLst>
          </p:cNvPr>
          <p:cNvSpPr txBox="1">
            <a:spLocks/>
          </p:cNvSpPr>
          <p:nvPr/>
        </p:nvSpPr>
        <p:spPr>
          <a:xfrm>
            <a:off x="1206408" y="619618"/>
            <a:ext cx="9779183" cy="15700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Introduction of 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D4464B-799E-D2F4-7FD7-197DC0BE14B7}"/>
              </a:ext>
            </a:extLst>
          </p:cNvPr>
          <p:cNvSpPr/>
          <p:nvPr/>
        </p:nvSpPr>
        <p:spPr>
          <a:xfrm>
            <a:off x="2730501" y="3987800"/>
            <a:ext cx="6693086" cy="5069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20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EC7BC-FB39-B148-37BF-01689D06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17F4C3-D9F9-CC4C-CA1D-FD557740FB80}"/>
              </a:ext>
            </a:extLst>
          </p:cNvPr>
          <p:cNvSpPr/>
          <p:nvPr/>
        </p:nvSpPr>
        <p:spPr>
          <a:xfrm rot="5400000">
            <a:off x="3636369" y="1526974"/>
            <a:ext cx="1008447" cy="3910806"/>
          </a:xfrm>
          <a:custGeom>
            <a:avLst/>
            <a:gdLst>
              <a:gd name="connsiteX0" fmla="*/ 0 w 419673"/>
              <a:gd name="connsiteY0" fmla="*/ 0 h 1199524"/>
              <a:gd name="connsiteX1" fmla="*/ 209836 w 419673"/>
              <a:gd name="connsiteY1" fmla="*/ 0 h 1199524"/>
              <a:gd name="connsiteX2" fmla="*/ 209836 w 419673"/>
              <a:gd name="connsiteY2" fmla="*/ 1199524 h 1199524"/>
              <a:gd name="connsiteX3" fmla="*/ 419673 w 419673"/>
              <a:gd name="connsiteY3" fmla="*/ 1199524 h 1199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1199524">
                <a:moveTo>
                  <a:pt x="0" y="0"/>
                </a:moveTo>
                <a:lnTo>
                  <a:pt x="209836" y="0"/>
                </a:lnTo>
                <a:lnTo>
                  <a:pt x="209836" y="1199524"/>
                </a:lnTo>
                <a:lnTo>
                  <a:pt x="419673" y="1199524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0766" tIns="567992" rIns="190766" bIns="567991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2B0061-F19E-8675-D3B7-898092B872AE}"/>
              </a:ext>
            </a:extLst>
          </p:cNvPr>
          <p:cNvSpPr/>
          <p:nvPr/>
        </p:nvSpPr>
        <p:spPr>
          <a:xfrm rot="5400000">
            <a:off x="4942432" y="2832889"/>
            <a:ext cx="1008445" cy="1298684"/>
          </a:xfrm>
          <a:custGeom>
            <a:avLst/>
            <a:gdLst>
              <a:gd name="connsiteX0" fmla="*/ 0 w 419673"/>
              <a:gd name="connsiteY0" fmla="*/ 0 h 399841"/>
              <a:gd name="connsiteX1" fmla="*/ 209836 w 419673"/>
              <a:gd name="connsiteY1" fmla="*/ 0 h 399841"/>
              <a:gd name="connsiteX2" fmla="*/ 209836 w 419673"/>
              <a:gd name="connsiteY2" fmla="*/ 399841 h 399841"/>
              <a:gd name="connsiteX3" fmla="*/ 419673 w 419673"/>
              <a:gd name="connsiteY3" fmla="*/ 399841 h 39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399841">
                <a:moveTo>
                  <a:pt x="0" y="0"/>
                </a:moveTo>
                <a:lnTo>
                  <a:pt x="209836" y="0"/>
                </a:lnTo>
                <a:lnTo>
                  <a:pt x="209836" y="399841"/>
                </a:lnTo>
                <a:lnTo>
                  <a:pt x="419673" y="399841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8046" tIns="185429" rIns="208045" bIns="185430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DDF740-4BBD-5913-3505-A9967640D767}"/>
              </a:ext>
            </a:extLst>
          </p:cNvPr>
          <p:cNvSpPr/>
          <p:nvPr/>
        </p:nvSpPr>
        <p:spPr>
          <a:xfrm rot="5400000">
            <a:off x="6149150" y="2924857"/>
            <a:ext cx="1008446" cy="1114747"/>
          </a:xfrm>
          <a:custGeom>
            <a:avLst/>
            <a:gdLst>
              <a:gd name="connsiteX0" fmla="*/ 0 w 419673"/>
              <a:gd name="connsiteY0" fmla="*/ 399841 h 399841"/>
              <a:gd name="connsiteX1" fmla="*/ 209836 w 419673"/>
              <a:gd name="connsiteY1" fmla="*/ 399841 h 399841"/>
              <a:gd name="connsiteX2" fmla="*/ 209836 w 419673"/>
              <a:gd name="connsiteY2" fmla="*/ 0 h 399841"/>
              <a:gd name="connsiteX3" fmla="*/ 419673 w 419673"/>
              <a:gd name="connsiteY3" fmla="*/ 0 h 39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399841">
                <a:moveTo>
                  <a:pt x="0" y="399841"/>
                </a:moveTo>
                <a:lnTo>
                  <a:pt x="209836" y="399841"/>
                </a:lnTo>
                <a:lnTo>
                  <a:pt x="209836" y="0"/>
                </a:lnTo>
                <a:lnTo>
                  <a:pt x="419673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8046" tIns="185430" rIns="208045" bIns="185429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ECB5E2-2ED1-3A9B-BACC-AA9B4013C407}"/>
              </a:ext>
            </a:extLst>
          </p:cNvPr>
          <p:cNvSpPr/>
          <p:nvPr/>
        </p:nvSpPr>
        <p:spPr>
          <a:xfrm rot="5400000">
            <a:off x="7345804" y="1728203"/>
            <a:ext cx="1008446" cy="3508063"/>
          </a:xfrm>
          <a:custGeom>
            <a:avLst/>
            <a:gdLst>
              <a:gd name="connsiteX0" fmla="*/ 0 w 419673"/>
              <a:gd name="connsiteY0" fmla="*/ 1199524 h 1199524"/>
              <a:gd name="connsiteX1" fmla="*/ 209836 w 419673"/>
              <a:gd name="connsiteY1" fmla="*/ 1199524 h 1199524"/>
              <a:gd name="connsiteX2" fmla="*/ 209836 w 419673"/>
              <a:gd name="connsiteY2" fmla="*/ 0 h 1199524"/>
              <a:gd name="connsiteX3" fmla="*/ 419673 w 419673"/>
              <a:gd name="connsiteY3" fmla="*/ 0 h 1199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1199524">
                <a:moveTo>
                  <a:pt x="0" y="1199524"/>
                </a:moveTo>
                <a:lnTo>
                  <a:pt x="209836" y="1199524"/>
                </a:lnTo>
                <a:lnTo>
                  <a:pt x="209836" y="0"/>
                </a:lnTo>
                <a:lnTo>
                  <a:pt x="419673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0766" tIns="567992" rIns="190766" bIns="567991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64B01-56DB-6834-1CB0-0BD81BA125F1}"/>
              </a:ext>
            </a:extLst>
          </p:cNvPr>
          <p:cNvSpPr/>
          <p:nvPr/>
        </p:nvSpPr>
        <p:spPr>
          <a:xfrm>
            <a:off x="4412456" y="2338261"/>
            <a:ext cx="3367087" cy="639746"/>
          </a:xfrm>
          <a:custGeom>
            <a:avLst/>
            <a:gdLst>
              <a:gd name="connsiteX0" fmla="*/ 0 w 3367087"/>
              <a:gd name="connsiteY0" fmla="*/ 0 h 639746"/>
              <a:gd name="connsiteX1" fmla="*/ 3367087 w 3367087"/>
              <a:gd name="connsiteY1" fmla="*/ 0 h 639746"/>
              <a:gd name="connsiteX2" fmla="*/ 3367087 w 3367087"/>
              <a:gd name="connsiteY2" fmla="*/ 639746 h 639746"/>
              <a:gd name="connsiteX3" fmla="*/ 0 w 3367087"/>
              <a:gd name="connsiteY3" fmla="*/ 639746 h 639746"/>
              <a:gd name="connsiteX4" fmla="*/ 0 w 3367087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7087" h="639746">
                <a:moveTo>
                  <a:pt x="0" y="0"/>
                </a:moveTo>
                <a:lnTo>
                  <a:pt x="3367087" y="0"/>
                </a:lnTo>
                <a:lnTo>
                  <a:pt x="3367087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589" tIns="21590" rIns="21590" bIns="2158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kern="1200" dirty="0"/>
              <a:t>Machine Learning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E228394-6E12-5DE8-97B8-66863FFBC6E9}"/>
              </a:ext>
            </a:extLst>
          </p:cNvPr>
          <p:cNvSpPr/>
          <p:nvPr/>
        </p:nvSpPr>
        <p:spPr>
          <a:xfrm>
            <a:off x="1107756" y="3991414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Supervised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9B5624-9581-0D67-4EA0-03751763475A}"/>
              </a:ext>
            </a:extLst>
          </p:cNvPr>
          <p:cNvSpPr/>
          <p:nvPr/>
        </p:nvSpPr>
        <p:spPr>
          <a:xfrm>
            <a:off x="6043549" y="3986598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Unsupervised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D9276A-C7F3-E5C0-D310-CEA67B701E51}"/>
              </a:ext>
            </a:extLst>
          </p:cNvPr>
          <p:cNvSpPr/>
          <p:nvPr/>
        </p:nvSpPr>
        <p:spPr>
          <a:xfrm>
            <a:off x="3597790" y="3986597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Semi-Supervised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9FA8C1F-43B9-C65B-FC43-28EEDA7B0624}"/>
              </a:ext>
            </a:extLst>
          </p:cNvPr>
          <p:cNvSpPr/>
          <p:nvPr/>
        </p:nvSpPr>
        <p:spPr>
          <a:xfrm>
            <a:off x="8489309" y="3986597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Reinforcement Learning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9E801-4D24-343D-1222-B183068CE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861C0-8FDC-6CA2-7270-3AFFE9415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2809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EC7BC-FB39-B148-37BF-01689D06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17F4C3-D9F9-CC4C-CA1D-FD557740FB80}"/>
              </a:ext>
            </a:extLst>
          </p:cNvPr>
          <p:cNvSpPr/>
          <p:nvPr/>
        </p:nvSpPr>
        <p:spPr>
          <a:xfrm rot="5400000">
            <a:off x="3636369" y="1526974"/>
            <a:ext cx="1008447" cy="3910806"/>
          </a:xfrm>
          <a:custGeom>
            <a:avLst/>
            <a:gdLst>
              <a:gd name="connsiteX0" fmla="*/ 0 w 419673"/>
              <a:gd name="connsiteY0" fmla="*/ 0 h 1199524"/>
              <a:gd name="connsiteX1" fmla="*/ 209836 w 419673"/>
              <a:gd name="connsiteY1" fmla="*/ 0 h 1199524"/>
              <a:gd name="connsiteX2" fmla="*/ 209836 w 419673"/>
              <a:gd name="connsiteY2" fmla="*/ 1199524 h 1199524"/>
              <a:gd name="connsiteX3" fmla="*/ 419673 w 419673"/>
              <a:gd name="connsiteY3" fmla="*/ 1199524 h 1199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1199524">
                <a:moveTo>
                  <a:pt x="0" y="0"/>
                </a:moveTo>
                <a:lnTo>
                  <a:pt x="209836" y="0"/>
                </a:lnTo>
                <a:lnTo>
                  <a:pt x="209836" y="1199524"/>
                </a:lnTo>
                <a:lnTo>
                  <a:pt x="419673" y="1199524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0766" tIns="567992" rIns="190766" bIns="567991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2B0061-F19E-8675-D3B7-898092B872AE}"/>
              </a:ext>
            </a:extLst>
          </p:cNvPr>
          <p:cNvSpPr/>
          <p:nvPr/>
        </p:nvSpPr>
        <p:spPr>
          <a:xfrm rot="5400000">
            <a:off x="4942432" y="2832889"/>
            <a:ext cx="1008445" cy="1298684"/>
          </a:xfrm>
          <a:custGeom>
            <a:avLst/>
            <a:gdLst>
              <a:gd name="connsiteX0" fmla="*/ 0 w 419673"/>
              <a:gd name="connsiteY0" fmla="*/ 0 h 399841"/>
              <a:gd name="connsiteX1" fmla="*/ 209836 w 419673"/>
              <a:gd name="connsiteY1" fmla="*/ 0 h 399841"/>
              <a:gd name="connsiteX2" fmla="*/ 209836 w 419673"/>
              <a:gd name="connsiteY2" fmla="*/ 399841 h 399841"/>
              <a:gd name="connsiteX3" fmla="*/ 419673 w 419673"/>
              <a:gd name="connsiteY3" fmla="*/ 399841 h 39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399841">
                <a:moveTo>
                  <a:pt x="0" y="0"/>
                </a:moveTo>
                <a:lnTo>
                  <a:pt x="209836" y="0"/>
                </a:lnTo>
                <a:lnTo>
                  <a:pt x="209836" y="399841"/>
                </a:lnTo>
                <a:lnTo>
                  <a:pt x="419673" y="399841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8046" tIns="185429" rIns="208045" bIns="185430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DDF740-4BBD-5913-3505-A9967640D767}"/>
              </a:ext>
            </a:extLst>
          </p:cNvPr>
          <p:cNvSpPr/>
          <p:nvPr/>
        </p:nvSpPr>
        <p:spPr>
          <a:xfrm rot="5400000">
            <a:off x="6149150" y="2924857"/>
            <a:ext cx="1008446" cy="1114747"/>
          </a:xfrm>
          <a:custGeom>
            <a:avLst/>
            <a:gdLst>
              <a:gd name="connsiteX0" fmla="*/ 0 w 419673"/>
              <a:gd name="connsiteY0" fmla="*/ 399841 h 399841"/>
              <a:gd name="connsiteX1" fmla="*/ 209836 w 419673"/>
              <a:gd name="connsiteY1" fmla="*/ 399841 h 399841"/>
              <a:gd name="connsiteX2" fmla="*/ 209836 w 419673"/>
              <a:gd name="connsiteY2" fmla="*/ 0 h 399841"/>
              <a:gd name="connsiteX3" fmla="*/ 419673 w 419673"/>
              <a:gd name="connsiteY3" fmla="*/ 0 h 399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399841">
                <a:moveTo>
                  <a:pt x="0" y="399841"/>
                </a:moveTo>
                <a:lnTo>
                  <a:pt x="209836" y="399841"/>
                </a:lnTo>
                <a:lnTo>
                  <a:pt x="209836" y="0"/>
                </a:lnTo>
                <a:lnTo>
                  <a:pt x="419673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8046" tIns="185430" rIns="208045" bIns="185429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ECB5E2-2ED1-3A9B-BACC-AA9B4013C407}"/>
              </a:ext>
            </a:extLst>
          </p:cNvPr>
          <p:cNvSpPr/>
          <p:nvPr/>
        </p:nvSpPr>
        <p:spPr>
          <a:xfrm rot="5400000">
            <a:off x="7345804" y="1728203"/>
            <a:ext cx="1008446" cy="3508063"/>
          </a:xfrm>
          <a:custGeom>
            <a:avLst/>
            <a:gdLst>
              <a:gd name="connsiteX0" fmla="*/ 0 w 419673"/>
              <a:gd name="connsiteY0" fmla="*/ 1199524 h 1199524"/>
              <a:gd name="connsiteX1" fmla="*/ 209836 w 419673"/>
              <a:gd name="connsiteY1" fmla="*/ 1199524 h 1199524"/>
              <a:gd name="connsiteX2" fmla="*/ 209836 w 419673"/>
              <a:gd name="connsiteY2" fmla="*/ 0 h 1199524"/>
              <a:gd name="connsiteX3" fmla="*/ 419673 w 419673"/>
              <a:gd name="connsiteY3" fmla="*/ 0 h 1199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673" h="1199524">
                <a:moveTo>
                  <a:pt x="0" y="1199524"/>
                </a:moveTo>
                <a:lnTo>
                  <a:pt x="209836" y="1199524"/>
                </a:lnTo>
                <a:lnTo>
                  <a:pt x="209836" y="0"/>
                </a:lnTo>
                <a:lnTo>
                  <a:pt x="419673" y="0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0766" tIns="567992" rIns="190766" bIns="567991" numCol="1" spcCol="1270" anchor="ctr" anchorCtr="0">
            <a:noAutofit/>
          </a:bodyPr>
          <a:lstStyle/>
          <a:p>
            <a:pPr marL="0" lvl="0" indent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500" kern="12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164B01-56DB-6834-1CB0-0BD81BA125F1}"/>
              </a:ext>
            </a:extLst>
          </p:cNvPr>
          <p:cNvSpPr/>
          <p:nvPr/>
        </p:nvSpPr>
        <p:spPr>
          <a:xfrm>
            <a:off x="4412456" y="2338261"/>
            <a:ext cx="3367087" cy="639746"/>
          </a:xfrm>
          <a:custGeom>
            <a:avLst/>
            <a:gdLst>
              <a:gd name="connsiteX0" fmla="*/ 0 w 3367087"/>
              <a:gd name="connsiteY0" fmla="*/ 0 h 639746"/>
              <a:gd name="connsiteX1" fmla="*/ 3367087 w 3367087"/>
              <a:gd name="connsiteY1" fmla="*/ 0 h 639746"/>
              <a:gd name="connsiteX2" fmla="*/ 3367087 w 3367087"/>
              <a:gd name="connsiteY2" fmla="*/ 639746 h 639746"/>
              <a:gd name="connsiteX3" fmla="*/ 0 w 3367087"/>
              <a:gd name="connsiteY3" fmla="*/ 639746 h 639746"/>
              <a:gd name="connsiteX4" fmla="*/ 0 w 3367087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7087" h="639746">
                <a:moveTo>
                  <a:pt x="0" y="0"/>
                </a:moveTo>
                <a:lnTo>
                  <a:pt x="3367087" y="0"/>
                </a:lnTo>
                <a:lnTo>
                  <a:pt x="3367087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589" tIns="21590" rIns="21590" bIns="21589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400" kern="1200" dirty="0"/>
              <a:t>Machine Learning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E228394-6E12-5DE8-97B8-66863FFBC6E9}"/>
              </a:ext>
            </a:extLst>
          </p:cNvPr>
          <p:cNvSpPr/>
          <p:nvPr/>
        </p:nvSpPr>
        <p:spPr>
          <a:xfrm>
            <a:off x="1107756" y="3991414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Supervised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9B5624-9581-0D67-4EA0-03751763475A}"/>
              </a:ext>
            </a:extLst>
          </p:cNvPr>
          <p:cNvSpPr/>
          <p:nvPr/>
        </p:nvSpPr>
        <p:spPr>
          <a:xfrm>
            <a:off x="6043549" y="3986598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Unsupervised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D9276A-C7F3-E5C0-D310-CEA67B701E51}"/>
              </a:ext>
            </a:extLst>
          </p:cNvPr>
          <p:cNvSpPr/>
          <p:nvPr/>
        </p:nvSpPr>
        <p:spPr>
          <a:xfrm>
            <a:off x="3597790" y="3986597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Semi-Supervised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9FA8C1F-43B9-C65B-FC43-28EEDA7B0624}"/>
              </a:ext>
            </a:extLst>
          </p:cNvPr>
          <p:cNvSpPr/>
          <p:nvPr/>
        </p:nvSpPr>
        <p:spPr>
          <a:xfrm>
            <a:off x="8489309" y="3986597"/>
            <a:ext cx="2098368" cy="639746"/>
          </a:xfrm>
          <a:custGeom>
            <a:avLst/>
            <a:gdLst>
              <a:gd name="connsiteX0" fmla="*/ 0 w 2098368"/>
              <a:gd name="connsiteY0" fmla="*/ 0 h 639746"/>
              <a:gd name="connsiteX1" fmla="*/ 2098368 w 2098368"/>
              <a:gd name="connsiteY1" fmla="*/ 0 h 639746"/>
              <a:gd name="connsiteX2" fmla="*/ 2098368 w 2098368"/>
              <a:gd name="connsiteY2" fmla="*/ 639746 h 639746"/>
              <a:gd name="connsiteX3" fmla="*/ 0 w 2098368"/>
              <a:gd name="connsiteY3" fmla="*/ 639746 h 639746"/>
              <a:gd name="connsiteX4" fmla="*/ 0 w 2098368"/>
              <a:gd name="connsiteY4" fmla="*/ 0 h 639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368" h="639746">
                <a:moveTo>
                  <a:pt x="0" y="0"/>
                </a:moveTo>
                <a:lnTo>
                  <a:pt x="2098368" y="0"/>
                </a:lnTo>
                <a:lnTo>
                  <a:pt x="2098368" y="639746"/>
                </a:lnTo>
                <a:lnTo>
                  <a:pt x="0" y="6397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70" tIns="13970" rIns="13970" bIns="13970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/>
              <a:t>Reinforcement Learning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9E801-4D24-343D-1222-B183068CE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MOCK LECTURE @ UOL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861C0-8FDC-6CA2-7270-3AFFE9415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280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Linear Regression?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AF76-B16B-7901-DBEE-C3224B9E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9ADB7E8-4A69-4D7A-3DB4-564111B12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39FAB8-5B67-CDD4-8C7D-9A5889E6E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8D963-8B0F-EB92-05D9-D955037FA0A1}"/>
              </a:ext>
            </a:extLst>
          </p:cNvPr>
          <p:cNvSpPr txBox="1"/>
          <p:nvPr/>
        </p:nvSpPr>
        <p:spPr>
          <a:xfrm>
            <a:off x="1359262" y="2505670"/>
            <a:ext cx="9587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Linear Regression is a statistical method used in data science and machine learning to model the relationship between a </a:t>
            </a:r>
            <a:r>
              <a:rPr lang="en-US" b="1" i="0" dirty="0">
                <a:solidFill>
                  <a:schemeClr val="accent1"/>
                </a:solidFill>
                <a:effectLst/>
                <a:latin typeface="Söhne"/>
              </a:rPr>
              <a:t>dependent variable</a:t>
            </a:r>
            <a:r>
              <a:rPr lang="en-US" b="0" i="0" dirty="0">
                <a:solidFill>
                  <a:schemeClr val="accent1"/>
                </a:solidFill>
                <a:effectLst/>
                <a:latin typeface="Söhne"/>
              </a:rPr>
              <a:t>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en-US" b="0" i="1" dirty="0">
                <a:solidFill>
                  <a:srgbClr val="374151"/>
                </a:solidFill>
                <a:effectLst/>
                <a:latin typeface="Söhne"/>
              </a:rPr>
              <a:t>often called the target or response variable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 and one or more </a:t>
            </a:r>
            <a:r>
              <a:rPr lang="en-US" b="1" i="0" dirty="0">
                <a:solidFill>
                  <a:schemeClr val="accent1"/>
                </a:solidFill>
                <a:effectLst/>
                <a:latin typeface="Söhne"/>
              </a:rPr>
              <a:t>independent variables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n-US" b="0" i="1" dirty="0">
                <a:solidFill>
                  <a:srgbClr val="374151"/>
                </a:solidFill>
                <a:effectLst/>
                <a:latin typeface="Söhne"/>
              </a:rPr>
              <a:t>predictors or features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25E68-A250-AEBB-27E0-280855BEDF87}"/>
              </a:ext>
            </a:extLst>
          </p:cNvPr>
          <p:cNvSpPr txBox="1"/>
          <p:nvPr/>
        </p:nvSpPr>
        <p:spPr>
          <a:xfrm>
            <a:off x="3715160" y="4228107"/>
            <a:ext cx="46838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How to find relationship?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0016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FA55-C715-7C5F-2475-E8D3210A6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83943-BD1D-FB1D-44C4-9A2500AB5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Uses of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17757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9167-D743-3AC5-43C1-5C010B96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432D-2CFA-613C-C6F3-ED48F25FD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Söhne"/>
              </a:rPr>
              <a:t>Stock Price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Söhne"/>
              </a:rPr>
              <a:t>Sales Forecasting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Söhne"/>
              </a:rPr>
              <a:t>Real Estate Price Prediction</a:t>
            </a:r>
            <a:endParaRPr lang="en-US" dirty="0">
              <a:latin typeface="Söhn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Söhne"/>
              </a:rPr>
              <a:t>Player Performance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Söhne"/>
              </a:rPr>
              <a:t>Energy Consumption Prediction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16D97-6838-6B2F-3B35-667520BBD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CCFF6-3CF8-D0AA-1F97-F8F19851E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527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FA55-C715-7C5F-2475-E8D3210A6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Mathematics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83943-BD1D-FB1D-44C4-9A2500AB5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linear regression works?</a:t>
            </a:r>
          </a:p>
        </p:txBody>
      </p:sp>
    </p:spTree>
    <p:extLst>
      <p:ext uri="{BB962C8B-B14F-4D97-AF65-F5344CB8AC3E}">
        <p14:creationId xmlns:p14="http://schemas.microsoft.com/office/powerpoint/2010/main" val="3599944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5B1E-4321-2BDA-7BF5-C4C2B038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Mathematics Calculations: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17EE-1445-8C21-6869-10EA8536E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A840-8327-6226-CC8B-CB9D1A276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 descr="University of Lahore - Wikipedia">
            <a:extLst>
              <a:ext uri="{FF2B5EF4-FFF2-40B4-BE49-F238E27FC236}">
                <a16:creationId xmlns:a16="http://schemas.microsoft.com/office/drawing/2014/main" id="{38D854EF-0029-25C2-FDFE-155DD148A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87" y="73025"/>
            <a:ext cx="1523626" cy="55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63E64-E2E9-3240-7495-7BA5899018CC}"/>
                  </a:ext>
                </a:extLst>
              </p:cNvPr>
              <p:cNvSpPr txBox="1"/>
              <p:nvPr/>
            </p:nvSpPr>
            <p:spPr>
              <a:xfrm>
                <a:off x="6425581" y="3710820"/>
                <a:ext cx="2746457" cy="655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dirty="0"/>
                  <a:t>b</a:t>
                </a:r>
                <a:r>
                  <a:rPr lang="en-US" sz="3600" baseline="-25000" dirty="0"/>
                  <a:t>1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– </m:t>
                            </m:r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sz="2400" dirty="0"/>
                              <m:t>)(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Y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– </m:t>
                            </m:r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sz="2400" dirty="0"/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– </m:t>
                            </m:r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sz="2400" dirty="0"/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sz="2400" baseline="30000" dirty="0"/>
                              <m:t>2</m:t>
                            </m:r>
                          </m:e>
                        </m:nary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763E64-E2E9-3240-7495-7BA589901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581" y="3710820"/>
                <a:ext cx="2746457" cy="655564"/>
              </a:xfrm>
              <a:prstGeom prst="rect">
                <a:avLst/>
              </a:prstGeom>
              <a:blipFill>
                <a:blip r:embed="rId3"/>
                <a:stretch>
                  <a:fillRect l="-9978" t="-20561" b="-27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8781217D-997F-1E2F-FB82-47282871C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753347"/>
              </p:ext>
            </p:extLst>
          </p:nvPr>
        </p:nvGraphicFramePr>
        <p:xfrm>
          <a:off x="1116013" y="2017712"/>
          <a:ext cx="3966852" cy="32863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83426">
                  <a:extLst>
                    <a:ext uri="{9D8B030D-6E8A-4147-A177-3AD203B41FA5}">
                      <a16:colId xmlns:a16="http://schemas.microsoft.com/office/drawing/2014/main" val="741840110"/>
                    </a:ext>
                  </a:extLst>
                </a:gridCol>
                <a:gridCol w="1983426">
                  <a:extLst>
                    <a:ext uri="{9D8B030D-6E8A-4147-A177-3AD203B41FA5}">
                      <a16:colId xmlns:a16="http://schemas.microsoft.com/office/drawing/2014/main" val="565141359"/>
                    </a:ext>
                  </a:extLst>
                </a:gridCol>
              </a:tblGrid>
              <a:tr h="547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Ads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 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211123"/>
                  </a:ext>
                </a:extLst>
              </a:tr>
              <a:tr h="547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383917"/>
                  </a:ext>
                </a:extLst>
              </a:tr>
              <a:tr h="547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551322"/>
                  </a:ext>
                </a:extLst>
              </a:tr>
              <a:tr h="547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599973"/>
                  </a:ext>
                </a:extLst>
              </a:tr>
              <a:tr h="547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0142790"/>
                  </a:ext>
                </a:extLst>
              </a:tr>
              <a:tr h="5477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8854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1A3802-49FC-6411-B02B-8807A1B46864}"/>
                  </a:ext>
                </a:extLst>
              </p:cNvPr>
              <p:cNvSpPr txBox="1"/>
              <p:nvPr/>
            </p:nvSpPr>
            <p:spPr>
              <a:xfrm>
                <a:off x="6379876" y="4960569"/>
                <a:ext cx="226632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 err="1"/>
                  <a:t>b</a:t>
                </a:r>
                <a:r>
                  <a:rPr lang="en-US" sz="3200" baseline="-25000" dirty="0" err="1"/>
                  <a:t>o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baseline="-2500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1A3802-49FC-6411-B02B-8807A1B46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876" y="4960569"/>
                <a:ext cx="2266326" cy="584775"/>
              </a:xfrm>
              <a:prstGeom prst="rect">
                <a:avLst/>
              </a:prstGeom>
              <a:blipFill>
                <a:blip r:embed="rId4"/>
                <a:stretch>
                  <a:fillRect l="-7008" t="-12500" r="-3235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BEE49C-BF0E-5EEF-393A-7E93A2AA9A65}"/>
                  </a:ext>
                </a:extLst>
              </p:cNvPr>
              <p:cNvSpPr txBox="1"/>
              <p:nvPr/>
            </p:nvSpPr>
            <p:spPr>
              <a:xfrm>
                <a:off x="6234883" y="2125665"/>
                <a:ext cx="5269776" cy="598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Y = mx + c     </a:t>
                </a:r>
                <a:r>
                  <a:rPr lang="en-US" sz="3200" b="1" i="1" dirty="0"/>
                  <a:t>or</a:t>
                </a:r>
                <a:r>
                  <a:rPr lang="en-US" sz="3200" dirty="0"/>
                  <a:t>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baseline="-2500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) + </a:t>
                </a:r>
                <a:r>
                  <a:rPr lang="en-US" sz="2400" b="1" i="1" dirty="0" err="1"/>
                  <a:t>b</a:t>
                </a:r>
                <a:r>
                  <a:rPr lang="en-US" sz="2400" baseline="-25000" dirty="0" err="1"/>
                  <a:t>o</a:t>
                </a:r>
                <a:endParaRPr lang="en-US" sz="2400" baseline="-25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BEE49C-BF0E-5EEF-393A-7E93A2AA9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883" y="2125665"/>
                <a:ext cx="5269776" cy="598177"/>
              </a:xfrm>
              <a:prstGeom prst="rect">
                <a:avLst/>
              </a:prstGeom>
              <a:blipFill>
                <a:blip r:embed="rId5"/>
                <a:stretch>
                  <a:fillRect l="-3009" t="-10204" b="-33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9A50CB1-4918-3C45-43B9-4A64A396C680}"/>
              </a:ext>
            </a:extLst>
          </p:cNvPr>
          <p:cNvSpPr txBox="1"/>
          <p:nvPr/>
        </p:nvSpPr>
        <p:spPr>
          <a:xfrm>
            <a:off x="6057083" y="1877498"/>
            <a:ext cx="2046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- Equation of Line:</a:t>
            </a:r>
            <a:endParaRPr lang="en-US" sz="1400" b="1" i="1" baseline="-25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83286-A18E-05F3-EBDC-A77600E7C31C}"/>
              </a:ext>
            </a:extLst>
          </p:cNvPr>
          <p:cNvSpPr txBox="1"/>
          <p:nvPr/>
        </p:nvSpPr>
        <p:spPr>
          <a:xfrm>
            <a:off x="6096000" y="3299453"/>
            <a:ext cx="378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- Formula for regression coefficient:</a:t>
            </a:r>
            <a:endParaRPr lang="en-US" sz="1400" b="1" i="1" baseline="-2500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03ADC8-BBB1-A2C5-41F6-97D1BA0E12DE}"/>
              </a:ext>
            </a:extLst>
          </p:cNvPr>
          <p:cNvSpPr txBox="1"/>
          <p:nvPr/>
        </p:nvSpPr>
        <p:spPr>
          <a:xfrm>
            <a:off x="6119950" y="4670599"/>
            <a:ext cx="2549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1"/>
                </a:solidFill>
              </a:rPr>
              <a:t>- Formula for Intercept:</a:t>
            </a:r>
            <a:endParaRPr lang="en-US" sz="1400" b="1" i="1" baseline="-250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6ECD2EF-4DD1-B007-7E93-E96D629F88D2}"/>
                  </a:ext>
                </a:extLst>
              </p14:cNvPr>
              <p14:cNvContentPartPr/>
              <p14:nvPr/>
            </p14:nvContentPartPr>
            <p14:xfrm>
              <a:off x="6148080" y="2653900"/>
              <a:ext cx="977400" cy="115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6ECD2EF-4DD1-B007-7E93-E96D629F88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39080" y="2645260"/>
                <a:ext cx="9950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DA71EE-FAC4-BC33-C44B-752D5729B6BE}"/>
                  </a:ext>
                </a:extLst>
              </p14:cNvPr>
              <p14:cNvContentPartPr/>
              <p14:nvPr/>
            </p14:nvContentPartPr>
            <p14:xfrm>
              <a:off x="8153280" y="1820140"/>
              <a:ext cx="415440" cy="479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DA71EE-FAC4-BC33-C44B-752D5729B6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44640" y="1811140"/>
                <a:ext cx="433080" cy="4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61644B1-6598-3F0E-9F12-84E84D71E4AB}"/>
                  </a:ext>
                </a:extLst>
              </p14:cNvPr>
              <p14:cNvContentPartPr/>
              <p14:nvPr/>
            </p14:nvContentPartPr>
            <p14:xfrm>
              <a:off x="6151320" y="2645980"/>
              <a:ext cx="113400" cy="224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61644B1-6598-3F0E-9F12-84E84D71E4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42680" y="2637340"/>
                <a:ext cx="131040" cy="2419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CF0B9FD-9C4C-19F9-8444-04A8BF00C2A1}"/>
              </a:ext>
            </a:extLst>
          </p:cNvPr>
          <p:cNvSpPr txBox="1"/>
          <p:nvPr/>
        </p:nvSpPr>
        <p:spPr>
          <a:xfrm>
            <a:off x="5245592" y="2523787"/>
            <a:ext cx="2823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Slope: </a:t>
            </a:r>
          </a:p>
          <a:p>
            <a:r>
              <a:rPr lang="en-US" sz="1600" dirty="0"/>
              <a:t>“</a:t>
            </a:r>
            <a:r>
              <a:rPr lang="en-US" sz="1600" i="1" dirty="0"/>
              <a:t>Unit of change in Y due to X”</a:t>
            </a:r>
            <a:endParaRPr lang="en-US" sz="1200" i="1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D50558-7DE2-7B9E-C352-17F0B7FDFD16}"/>
              </a:ext>
            </a:extLst>
          </p:cNvPr>
          <p:cNvSpPr txBox="1"/>
          <p:nvPr/>
        </p:nvSpPr>
        <p:spPr>
          <a:xfrm>
            <a:off x="8472226" y="1345942"/>
            <a:ext cx="1187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Intercept</a:t>
            </a:r>
            <a:endParaRPr lang="en-US" sz="16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483698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5B1E-4321-2BDA-7BF5-C4C2B038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Mathematics Calculations: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17EE-1445-8C21-6869-10EA8536E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A840-8327-6226-CC8B-CB9D1A276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 descr="University of Lahore - Wikipedia">
            <a:extLst>
              <a:ext uri="{FF2B5EF4-FFF2-40B4-BE49-F238E27FC236}">
                <a16:creationId xmlns:a16="http://schemas.microsoft.com/office/drawing/2014/main" id="{38D854EF-0029-25C2-FDFE-155DD148A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87" y="73025"/>
            <a:ext cx="1523626" cy="55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2789F58F-E88C-FAE9-CC9C-A721020D6D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57262082"/>
                  </p:ext>
                </p:extLst>
              </p:nvPr>
            </p:nvGraphicFramePr>
            <p:xfrm>
              <a:off x="1166812" y="2106613"/>
              <a:ext cx="10021885" cy="2727682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670314">
                      <a:extLst>
                        <a:ext uri="{9D8B030D-6E8A-4147-A177-3AD203B41FA5}">
                          <a16:colId xmlns:a16="http://schemas.microsoft.com/office/drawing/2014/main" val="1650751082"/>
                        </a:ext>
                      </a:extLst>
                    </a:gridCol>
                    <a:gridCol w="1670314">
                      <a:extLst>
                        <a:ext uri="{9D8B030D-6E8A-4147-A177-3AD203B41FA5}">
                          <a16:colId xmlns:a16="http://schemas.microsoft.com/office/drawing/2014/main" val="2932745807"/>
                        </a:ext>
                      </a:extLst>
                    </a:gridCol>
                    <a:gridCol w="1488943">
                      <a:extLst>
                        <a:ext uri="{9D8B030D-6E8A-4147-A177-3AD203B41FA5}">
                          <a16:colId xmlns:a16="http://schemas.microsoft.com/office/drawing/2014/main" val="29916843"/>
                        </a:ext>
                      </a:extLst>
                    </a:gridCol>
                    <a:gridCol w="1280717">
                      <a:extLst>
                        <a:ext uri="{9D8B030D-6E8A-4147-A177-3AD203B41FA5}">
                          <a16:colId xmlns:a16="http://schemas.microsoft.com/office/drawing/2014/main" val="1415682540"/>
                        </a:ext>
                      </a:extLst>
                    </a:gridCol>
                    <a:gridCol w="2324100">
                      <a:extLst>
                        <a:ext uri="{9D8B030D-6E8A-4147-A177-3AD203B41FA5}">
                          <a16:colId xmlns:a16="http://schemas.microsoft.com/office/drawing/2014/main" val="2412227614"/>
                        </a:ext>
                      </a:extLst>
                    </a:gridCol>
                    <a:gridCol w="1587497">
                      <a:extLst>
                        <a:ext uri="{9D8B030D-6E8A-4147-A177-3AD203B41FA5}">
                          <a16:colId xmlns:a16="http://schemas.microsoft.com/office/drawing/2014/main" val="540820830"/>
                        </a:ext>
                      </a:extLst>
                    </a:gridCol>
                  </a:tblGrid>
                  <a:tr h="324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Ads (X)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Sales (Y)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(X –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b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  <m:r>
                                <a:rPr lang="en-US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(X –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6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)(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  <m:r>
                                <a:rPr lang="en-US" sz="160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16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600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(X –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  <a:r>
                            <a:rPr lang="en-US" baseline="30000" dirty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293948"/>
                      </a:ext>
                    </a:extLst>
                  </a:tr>
                  <a:tr h="324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263581"/>
                      </a:ext>
                    </a:extLst>
                  </a:tr>
                  <a:tr h="324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647699"/>
                      </a:ext>
                    </a:extLst>
                  </a:tr>
                  <a:tr h="324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0039723"/>
                      </a:ext>
                    </a:extLst>
                  </a:tr>
                  <a:tr h="324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501754"/>
                      </a:ext>
                    </a:extLst>
                  </a:tr>
                  <a:tr h="3243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074446"/>
                      </a:ext>
                    </a:extLst>
                  </a:tr>
                  <a:tr h="5331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=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dirty="0"/>
                            <a:t>= 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US" sz="1800" dirty="0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dirty="0" smtClean="0"/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dirty="0" smtClean="0"/>
                                    <m:t> –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acc>
                                  <m:r>
                                    <m:rPr>
                                      <m:nor/>
                                    </m:rPr>
                                    <a:rPr lang="en-US" sz="1800" dirty="0"/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dirty="0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b="0" dirty="0" smtClean="0"/>
                                    <m:t>Y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 dirty="0" smtClean="0"/>
                                    <m:t> –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smtClean="0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</m:acc>
                                  <m:r>
                                    <m:rPr>
                                      <m:nor/>
                                    </m:rPr>
                                    <a:rPr lang="en-US" sz="1800" dirty="0"/>
                                    <m:t>)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sz="1800" dirty="0"/>
                            <a:t> = 20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US" dirty="0" smtClean="0"/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 smtClean="0"/>
                                    <m:t>X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dirty="0" smtClean="0"/>
                                    <m:t> –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acc>
                                  <m:r>
                                    <m:rPr>
                                      <m:nor/>
                                    </m:rPr>
                                    <a:rPr lang="en-US" dirty="0"/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baseline="30000" dirty="0"/>
                                    <m:t>2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dirty="0"/>
                            <a:t> =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063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2789F58F-E88C-FAE9-CC9C-A721020D6D5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57262082"/>
                  </p:ext>
                </p:extLst>
              </p:nvPr>
            </p:nvGraphicFramePr>
            <p:xfrm>
              <a:off x="1166812" y="2106613"/>
              <a:ext cx="10021885" cy="2727682"/>
            </p:xfrm>
            <a:graphic>
              <a:graphicData uri="http://schemas.openxmlformats.org/drawingml/2006/table">
                <a:tbl>
                  <a:tblPr firstRow="1" bandRow="1">
                    <a:tableStyleId>{BDBED569-4797-4DF1-A0F4-6AAB3CD982D8}</a:tableStyleId>
                  </a:tblPr>
                  <a:tblGrid>
                    <a:gridCol w="1670314">
                      <a:extLst>
                        <a:ext uri="{9D8B030D-6E8A-4147-A177-3AD203B41FA5}">
                          <a16:colId xmlns:a16="http://schemas.microsoft.com/office/drawing/2014/main" val="1650751082"/>
                        </a:ext>
                      </a:extLst>
                    </a:gridCol>
                    <a:gridCol w="1670314">
                      <a:extLst>
                        <a:ext uri="{9D8B030D-6E8A-4147-A177-3AD203B41FA5}">
                          <a16:colId xmlns:a16="http://schemas.microsoft.com/office/drawing/2014/main" val="2932745807"/>
                        </a:ext>
                      </a:extLst>
                    </a:gridCol>
                    <a:gridCol w="1488943">
                      <a:extLst>
                        <a:ext uri="{9D8B030D-6E8A-4147-A177-3AD203B41FA5}">
                          <a16:colId xmlns:a16="http://schemas.microsoft.com/office/drawing/2014/main" val="29916843"/>
                        </a:ext>
                      </a:extLst>
                    </a:gridCol>
                    <a:gridCol w="1280717">
                      <a:extLst>
                        <a:ext uri="{9D8B030D-6E8A-4147-A177-3AD203B41FA5}">
                          <a16:colId xmlns:a16="http://schemas.microsoft.com/office/drawing/2014/main" val="1415682540"/>
                        </a:ext>
                      </a:extLst>
                    </a:gridCol>
                    <a:gridCol w="2324100">
                      <a:extLst>
                        <a:ext uri="{9D8B030D-6E8A-4147-A177-3AD203B41FA5}">
                          <a16:colId xmlns:a16="http://schemas.microsoft.com/office/drawing/2014/main" val="2412227614"/>
                        </a:ext>
                      </a:extLst>
                    </a:gridCol>
                    <a:gridCol w="1587497">
                      <a:extLst>
                        <a:ext uri="{9D8B030D-6E8A-4147-A177-3AD203B41FA5}">
                          <a16:colId xmlns:a16="http://schemas.microsoft.com/office/drawing/2014/main" val="54082083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Ads (X)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Sales (Y)</a:t>
                          </a:r>
                        </a:p>
                      </a:txBody>
                      <a:tcP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4082" t="-8333" r="-348980" b="-7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8095" t="-8333" r="-307143" b="-7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3517" t="-8333" r="-69291" b="-7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0651" t="-8333" r="-1149" b="-7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29394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26358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6476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00397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35017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4074446"/>
                      </a:ext>
                    </a:extLst>
                  </a:tr>
                  <a:tr h="5331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5" t="-415909" r="-501460" b="-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65" t="-415909" r="-401460" b="-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3517" t="-415909" r="-69291" b="-9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30651" t="-415909" r="-1149" b="-97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063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0182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Title 1">
            <a:extLst>
              <a:ext uri="{FF2B5EF4-FFF2-40B4-BE49-F238E27FC236}">
                <a16:creationId xmlns:a16="http://schemas.microsoft.com/office/drawing/2014/main" id="{22728395-12E5-4E30-3D69-67DE03F5D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 dirty="0"/>
              <a:t>Regression Line (Chart)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341A-72A0-495E-E307-EE94B12CE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C5631-338D-ACC7-C158-233FCC41D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046F8-7A68-ACC9-12DB-0FEC77C27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860" y="1674780"/>
            <a:ext cx="5308446" cy="4681570"/>
          </a:xfrm>
          <a:prstGeom prst="rect">
            <a:avLst/>
          </a:prstGeom>
        </p:spPr>
      </p:pic>
      <p:pic>
        <p:nvPicPr>
          <p:cNvPr id="9" name="Picture 8" descr="University of Lahore - Wikipedia">
            <a:extLst>
              <a:ext uri="{FF2B5EF4-FFF2-40B4-BE49-F238E27FC236}">
                <a16:creationId xmlns:a16="http://schemas.microsoft.com/office/drawing/2014/main" id="{D6379F62-AE0F-F05C-271E-1C1B5E796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87" y="73025"/>
            <a:ext cx="1523626" cy="55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A2F5E6-EEE3-46E1-85E2-276C641373F9}"/>
              </a:ext>
            </a:extLst>
          </p:cNvPr>
          <p:cNvSpPr/>
          <p:nvPr/>
        </p:nvSpPr>
        <p:spPr>
          <a:xfrm>
            <a:off x="3606801" y="5704472"/>
            <a:ext cx="2705099" cy="3651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23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FA55-C715-7C5F-2475-E8D3210A6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dirty="0"/>
              <a:t>Evaluation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83943-BD1D-FB1D-44C4-9A2500AB5A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 evaluate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2977725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BF93A3-C218-6261-B607-96052BA9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83BD22-EBA4-8E4E-8567-05E272E93A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i="0" dirty="0">
                <a:effectLst/>
                <a:latin typeface="Söhne"/>
              </a:rPr>
              <a:t>Mean squared error (MSE).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7D301A8-10F3-7659-4C19-67C051413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- N is number of values</a:t>
                </a:r>
              </a:p>
              <a:p>
                <a:r>
                  <a:rPr lang="en-US" dirty="0"/>
                  <a:t>- Y</a:t>
                </a:r>
                <a:r>
                  <a:rPr lang="en-US" baseline="-25000" dirty="0"/>
                  <a:t>i</a:t>
                </a:r>
                <a:r>
                  <a:rPr lang="en-US" dirty="0"/>
                  <a:t> is actual values</a:t>
                </a:r>
              </a:p>
              <a:p>
                <a:r>
                  <a:rPr lang="en-US" dirty="0"/>
                  <a:t>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dirty="0"/>
                  <a:t> is predicted value of Y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7D301A8-10F3-7659-4C19-67C051413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D480-BEC2-A0E6-5C8A-8C953A3366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235" y="2023984"/>
            <a:ext cx="5527764" cy="469051"/>
          </a:xfrm>
        </p:spPr>
        <p:txBody>
          <a:bodyPr/>
          <a:lstStyle/>
          <a:p>
            <a:r>
              <a:rPr lang="en-US" dirty="0">
                <a:latin typeface="Söhne"/>
              </a:rPr>
              <a:t>C</a:t>
            </a:r>
            <a:r>
              <a:rPr lang="en-US" i="0" dirty="0">
                <a:effectLst/>
                <a:latin typeface="Söhne"/>
              </a:rPr>
              <a:t>oefficient of determination (R</a:t>
            </a:r>
            <a:r>
              <a:rPr lang="en-US" i="0" baseline="30000" dirty="0">
                <a:effectLst/>
                <a:latin typeface="Söhne"/>
              </a:rPr>
              <a:t>2</a:t>
            </a:r>
            <a:r>
              <a:rPr lang="en-US" i="0" dirty="0">
                <a:effectLst/>
                <a:latin typeface="Söhne"/>
              </a:rPr>
              <a:t>):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4922A2A-B92B-D16D-10D7-B5154BC71E3E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6283235" y="2528203"/>
                <a:ext cx="4663440" cy="3682097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- SSR: Sum of square due to regression</a:t>
                </a:r>
              </a:p>
              <a:p>
                <a:r>
                  <a:rPr lang="en-US" dirty="0"/>
                  <a:t>- SST: Total sum of squares</a:t>
                </a:r>
              </a:p>
              <a:p>
                <a:r>
                  <a:rPr lang="en-US" dirty="0"/>
                  <a:t>-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dirty="0"/>
                  <a:t> is mean of Y</a:t>
                </a:r>
              </a:p>
              <a:p>
                <a:r>
                  <a:rPr lang="en-US" dirty="0"/>
                  <a:t>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r>
                  <a:rPr lang="en-US" dirty="0"/>
                  <a:t> is predicted value of Y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34922A2A-B92B-D16D-10D7-B5154BC71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6283235" y="2528203"/>
                <a:ext cx="4663440" cy="3682097"/>
              </a:xfrm>
              <a:blipFill>
                <a:blip r:embed="rId3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65627-235D-FB7B-E558-E01C316D0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2" name="Picture 2" descr="Machine learning: an introduction to mean squared error and ...">
            <a:extLst>
              <a:ext uri="{FF2B5EF4-FFF2-40B4-BE49-F238E27FC236}">
                <a16:creationId xmlns:a16="http://schemas.microsoft.com/office/drawing/2014/main" id="{7635D4D8-E909-D046-2246-C0CC50B85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325" y="2618021"/>
            <a:ext cx="3216275" cy="887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R-squared, R2 in Linear Regression: Concepts, Examples - Analytics Yogi">
            <a:extLst>
              <a:ext uri="{FF2B5EF4-FFF2-40B4-BE49-F238E27FC236}">
                <a16:creationId xmlns:a16="http://schemas.microsoft.com/office/drawing/2014/main" id="{635BB70B-869F-A9E2-DF47-0E933D78F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548" y="2544147"/>
            <a:ext cx="2887752" cy="108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8954CEAE-105F-B61D-3976-DF9389648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5" name="Picture 14" descr="University of Lahore - Wikipedia">
            <a:extLst>
              <a:ext uri="{FF2B5EF4-FFF2-40B4-BE49-F238E27FC236}">
                <a16:creationId xmlns:a16="http://schemas.microsoft.com/office/drawing/2014/main" id="{4F91D3BE-A6E0-4E06-7501-5868E5F58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87" y="73025"/>
            <a:ext cx="1523626" cy="55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65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1A202-23A3-4F3A-AA92-0172C8D2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Take-Away: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D8152-D9C3-204A-9444-45CD4F180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7362-01DC-0E4C-9B34-0DF3FD449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0CC658-59B1-78E1-E449-A0E60949BA6D}"/>
              </a:ext>
            </a:extLst>
          </p:cNvPr>
          <p:cNvSpPr txBox="1"/>
          <p:nvPr/>
        </p:nvSpPr>
        <p:spPr>
          <a:xfrm>
            <a:off x="1241335" y="1832035"/>
            <a:ext cx="10044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Linear Regression is an ______ algorithm:</a:t>
            </a:r>
          </a:p>
          <a:p>
            <a:r>
              <a:rPr lang="en-US" dirty="0"/>
              <a:t>A. Unsupervised 		</a:t>
            </a:r>
            <a:r>
              <a:rPr lang="en-US" b="1" dirty="0"/>
              <a:t>B. Supervised </a:t>
            </a:r>
            <a:r>
              <a:rPr lang="en-US" dirty="0"/>
              <a:t>		C. Semi-Supervised	D. None</a:t>
            </a:r>
          </a:p>
          <a:p>
            <a:endParaRPr lang="en-US" dirty="0"/>
          </a:p>
          <a:p>
            <a:pPr algn="l"/>
            <a:r>
              <a:rPr lang="en-US" b="1" i="0" dirty="0">
                <a:effectLst/>
                <a:latin typeface="Söhne"/>
              </a:rPr>
              <a:t>What is the primary purpose of Linear Regression in data science?</a:t>
            </a:r>
          </a:p>
          <a:p>
            <a:pPr marL="342900" indent="-342900" algn="l">
              <a:buAutoNum type="alphaUcPeriod"/>
            </a:pPr>
            <a:r>
              <a:rPr lang="en-US" b="0" i="0" dirty="0">
                <a:effectLst/>
                <a:latin typeface="Söhne"/>
              </a:rPr>
              <a:t>To visualize data patterns 			B. To classify data into categories </a:t>
            </a:r>
          </a:p>
          <a:p>
            <a:pPr algn="l"/>
            <a:r>
              <a:rPr lang="en-US" b="1" i="0" dirty="0">
                <a:effectLst/>
                <a:latin typeface="Söhne"/>
              </a:rPr>
              <a:t>C. To model relationships between variables  </a:t>
            </a:r>
            <a:r>
              <a:rPr lang="en-US" b="0" i="0" dirty="0">
                <a:effectLst/>
                <a:latin typeface="Söhne"/>
              </a:rPr>
              <a:t>	D. To perform clustering analysis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Linear Regression can be used for:</a:t>
            </a:r>
          </a:p>
          <a:p>
            <a:r>
              <a:rPr lang="en-US" b="1" dirty="0"/>
              <a:t>A. Numeric Data</a:t>
            </a:r>
            <a:r>
              <a:rPr lang="en-US" dirty="0"/>
              <a:t>		B. Categorical Data	C. Both		D. None</a:t>
            </a:r>
          </a:p>
          <a:p>
            <a:endParaRPr lang="en-US" dirty="0"/>
          </a:p>
          <a:p>
            <a:r>
              <a:rPr lang="en-US" b="1" i="0" dirty="0">
                <a:effectLst/>
                <a:latin typeface="Söhne"/>
              </a:rPr>
              <a:t>In which domain is Linear Regression commonly used?</a:t>
            </a:r>
          </a:p>
          <a:p>
            <a:pPr marL="342900" indent="-342900">
              <a:buAutoNum type="alphaUcPeriod"/>
            </a:pPr>
            <a:r>
              <a:rPr lang="en-US" b="0" i="0" dirty="0">
                <a:effectLst/>
                <a:latin typeface="Söhne"/>
              </a:rPr>
              <a:t>Healthcare 		B. Education 		</a:t>
            </a:r>
            <a:r>
              <a:rPr lang="en-US" b="1" i="0" dirty="0">
                <a:effectLst/>
                <a:latin typeface="Söhne"/>
              </a:rPr>
              <a:t>C. Finance </a:t>
            </a:r>
            <a:r>
              <a:rPr lang="en-US" b="0" i="0" dirty="0">
                <a:effectLst/>
                <a:latin typeface="Söhne"/>
              </a:rPr>
              <a:t>	D. Environmental Science</a:t>
            </a:r>
          </a:p>
          <a:p>
            <a:endParaRPr lang="en-US" dirty="0"/>
          </a:p>
          <a:p>
            <a:r>
              <a:rPr lang="en-US" b="1" dirty="0"/>
              <a:t>What is M in Regression Equation, Y = mx + c?</a:t>
            </a:r>
          </a:p>
          <a:p>
            <a:r>
              <a:rPr lang="en-US" dirty="0"/>
              <a:t>A. Intercept 		</a:t>
            </a:r>
            <a:r>
              <a:rPr lang="en-US" b="1" dirty="0"/>
              <a:t>B. Slope</a:t>
            </a:r>
            <a:r>
              <a:rPr lang="en-US" dirty="0"/>
              <a:t>			C. Error		D. Constant</a:t>
            </a:r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7897F-3E46-5B13-4DF1-D9A33C37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8BB30-4DA9-02CD-DC26-16E9DBC35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lang="en-US" sz="2400" dirty="0"/>
              <a:t>Lecture from </a:t>
            </a:r>
            <a:r>
              <a:rPr lang="en-US" sz="2400" u="sng" dirty="0">
                <a:solidFill>
                  <a:schemeClr val="accent1"/>
                </a:solidFill>
                <a:latin typeface="arial" panose="020B0604020202020204" pitchFamily="34" charset="0"/>
              </a:rPr>
              <a:t>Lecture 9: Linear Regression</a:t>
            </a:r>
            <a:r>
              <a:rPr lang="en-US" sz="2400" u="sng" dirty="0">
                <a:solidFill>
                  <a:srgbClr val="8AB4F8"/>
                </a:solidFill>
                <a:latin typeface="arial" panose="020B0604020202020204" pitchFamily="34" charset="0"/>
              </a:rPr>
              <a:t>,</a:t>
            </a:r>
            <a:r>
              <a:rPr lang="en-US" sz="2400" dirty="0">
                <a:solidFill>
                  <a:srgbClr val="8AB4F8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</a:rPr>
              <a:t>UW Genome Sciences</a:t>
            </a:r>
          </a:p>
          <a:p>
            <a:pPr marL="514350" indent="-514350" algn="l">
              <a:buAutoNum type="arabicPeriod"/>
            </a:pPr>
            <a:r>
              <a:rPr lang="en-US" sz="2400" dirty="0"/>
              <a:t>Lecture from John S. Loucks</a:t>
            </a:r>
          </a:p>
          <a:p>
            <a:pPr marL="514350" indent="-514350" algn="l">
              <a:buAutoNum type="arabicPeriod"/>
            </a:pPr>
            <a:r>
              <a:rPr lang="en-US" sz="2400" dirty="0"/>
              <a:t>Lecture from Georgia Institute </a:t>
            </a:r>
            <a:r>
              <a:rPr lang="en-US" sz="2400" dirty="0">
                <a:hlinkClick r:id="rId2"/>
              </a:rPr>
              <a:t>https://www2.isye.gatech.edu/~yxie77/isye2028/lecture11.pdf</a:t>
            </a:r>
            <a:endParaRPr lang="en-US" sz="24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>
                <a:hlinkClick r:id="rId3"/>
              </a:rPr>
              <a:t>MIT </a:t>
            </a:r>
            <a:r>
              <a:rPr lang="en-US" sz="2400" dirty="0" err="1">
                <a:hlinkClick r:id="rId3"/>
              </a:rPr>
              <a:t>OpenCourseWare</a:t>
            </a:r>
            <a:r>
              <a:rPr lang="en-US" sz="2400" dirty="0">
                <a:hlinkClick r:id="rId3"/>
              </a:rPr>
              <a:t>, Lecture 6: Regression Analysis</a:t>
            </a:r>
          </a:p>
          <a:p>
            <a:pPr marL="514350" indent="-514350" algn="l">
              <a:buAutoNum type="arabicPeriod"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849AD-F2B1-BA2C-9434-6E81977240D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4-11-2023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2AC3D-DDA4-C2C8-B7DA-32278F348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AC04A-B60C-C9FC-CA49-66C57FA1E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2498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1"/>
</p:tagLst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versal presentation_Win32_SL_v3" id="{4076E796-F1D4-4536-92F3-AFC92AB14B6B}" vid="{57967FCE-8768-4968-B994-8B7812D48F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8D935D-389D-40E1-8AE8-5A46931C4E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3ACD8C-D672-4B38-852F-3C3D35FA4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25C03C-2AB9-472A-B845-6A8AF27BB7F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{87144D3C-CB2C-4C93-BF3C-54EFE0928896}tf45331398_win32</Template>
  <TotalTime>3893</TotalTime>
  <Words>617</Words>
  <Application>Microsoft Office PowerPoint</Application>
  <PresentationFormat>Widescreen</PresentationFormat>
  <Paragraphs>162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</vt:lpstr>
      <vt:lpstr>Calibri</vt:lpstr>
      <vt:lpstr>Cambria Math</vt:lpstr>
      <vt:lpstr>Söhne</vt:lpstr>
      <vt:lpstr>Tenorite</vt:lpstr>
      <vt:lpstr>Custom</vt:lpstr>
      <vt:lpstr>Linear Regression</vt:lpstr>
      <vt:lpstr>Agenda</vt:lpstr>
      <vt:lpstr>Machine learning is a field of artificial intelligence that allows systems to learn and improve from experience without being explicitly programmed.</vt:lpstr>
      <vt:lpstr>Types of ML</vt:lpstr>
      <vt:lpstr>Types of ML</vt:lpstr>
      <vt:lpstr>Linear Regression</vt:lpstr>
      <vt:lpstr>Linear Regression</vt:lpstr>
      <vt:lpstr>Applications</vt:lpstr>
      <vt:lpstr>Applications</vt:lpstr>
      <vt:lpstr>Mathematics</vt:lpstr>
      <vt:lpstr>Mathematics Calculations:</vt:lpstr>
      <vt:lpstr>Mathematics Calculations:</vt:lpstr>
      <vt:lpstr>Regression Line (Chart)</vt:lpstr>
      <vt:lpstr>Evaluation Metrics</vt:lpstr>
      <vt:lpstr>Evaluation Metrics</vt:lpstr>
      <vt:lpstr>Lecture Take-Away: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 LECTURE</dc:title>
  <dc:creator>Asif Ahsaan</dc:creator>
  <cp:lastModifiedBy>Syed Mujtaba Hassan Rizvi</cp:lastModifiedBy>
  <cp:revision>20</cp:revision>
  <dcterms:created xsi:type="dcterms:W3CDTF">2023-09-21T21:45:48Z</dcterms:created>
  <dcterms:modified xsi:type="dcterms:W3CDTF">2023-11-04T03:38:17Z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