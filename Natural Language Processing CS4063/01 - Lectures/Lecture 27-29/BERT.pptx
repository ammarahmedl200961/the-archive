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2" r:id="rId5"/>
    <p:sldId id="263" r:id="rId6"/>
    <p:sldId id="266" r:id="rId7"/>
    <p:sldId id="282" r:id="rId8"/>
    <p:sldId id="306" r:id="rId9"/>
    <p:sldId id="298" r:id="rId10"/>
    <p:sldId id="296" r:id="rId11"/>
    <p:sldId id="297" r:id="rId12"/>
    <p:sldId id="295" r:id="rId13"/>
    <p:sldId id="290" r:id="rId14"/>
    <p:sldId id="291" r:id="rId15"/>
    <p:sldId id="268" r:id="rId16"/>
    <p:sldId id="303" r:id="rId17"/>
    <p:sldId id="304" r:id="rId18"/>
    <p:sldId id="305" r:id="rId19"/>
    <p:sldId id="302" r:id="rId20"/>
    <p:sldId id="269" r:id="rId21"/>
    <p:sldId id="292" r:id="rId22"/>
    <p:sldId id="293" r:id="rId23"/>
    <p:sldId id="294" r:id="rId24"/>
    <p:sldId id="307" r:id="rId25"/>
    <p:sldId id="308" r:id="rId26"/>
    <p:sldId id="289" r:id="rId27"/>
    <p:sldId id="283" r:id="rId28"/>
    <p:sldId id="284" r:id="rId29"/>
    <p:sldId id="285" r:id="rId30"/>
    <p:sldId id="301" r:id="rId31"/>
    <p:sldId id="288" r:id="rId32"/>
    <p:sldId id="273" r:id="rId33"/>
    <p:sldId id="274" r:id="rId34"/>
    <p:sldId id="299" r:id="rId35"/>
    <p:sldId id="278" r:id="rId36"/>
    <p:sldId id="280" r:id="rId37"/>
    <p:sldId id="281" r:id="rId38"/>
    <p:sldId id="300" r:id="rId39"/>
    <p:sldId id="275"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1" d="100"/>
          <a:sy n="71" d="100"/>
        </p:scale>
        <p:origin x="61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67521E2-1EE3-4897-A926-53C48B18C9BD}" type="datetimeFigureOut">
              <a:rPr lang="en-US" smtClean="0"/>
              <a:t>5/23/2022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FB655B-7664-418B-8A7C-EAE67671C61E}" type="slidenum">
              <a:rPr lang="en-US" smtClean="0"/>
              <a:t>‹#›</a:t>
            </a:fld>
            <a:endParaRPr lang="en-US"/>
          </a:p>
        </p:txBody>
      </p:sp>
    </p:spTree>
    <p:extLst>
      <p:ext uri="{BB962C8B-B14F-4D97-AF65-F5344CB8AC3E}">
        <p14:creationId xmlns:p14="http://schemas.microsoft.com/office/powerpoint/2010/main" val="2857794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67521E2-1EE3-4897-A926-53C48B18C9BD}" type="datetimeFigureOut">
              <a:rPr lang="en-US" smtClean="0"/>
              <a:t>5/23/2022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FB655B-7664-418B-8A7C-EAE67671C61E}" type="slidenum">
              <a:rPr lang="en-US" smtClean="0"/>
              <a:t>‹#›</a:t>
            </a:fld>
            <a:endParaRPr lang="en-US"/>
          </a:p>
        </p:txBody>
      </p:sp>
    </p:spTree>
    <p:extLst>
      <p:ext uri="{BB962C8B-B14F-4D97-AF65-F5344CB8AC3E}">
        <p14:creationId xmlns:p14="http://schemas.microsoft.com/office/powerpoint/2010/main" val="33454832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67521E2-1EE3-4897-A926-53C48B18C9BD}" type="datetimeFigureOut">
              <a:rPr lang="en-US" smtClean="0"/>
              <a:t>5/23/2022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FB655B-7664-418B-8A7C-EAE67671C61E}" type="slidenum">
              <a:rPr lang="en-US" smtClean="0"/>
              <a:t>‹#›</a:t>
            </a:fld>
            <a:endParaRPr lang="en-US"/>
          </a:p>
        </p:txBody>
      </p:sp>
    </p:spTree>
    <p:extLst>
      <p:ext uri="{BB962C8B-B14F-4D97-AF65-F5344CB8AC3E}">
        <p14:creationId xmlns:p14="http://schemas.microsoft.com/office/powerpoint/2010/main" val="1971228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67521E2-1EE3-4897-A926-53C48B18C9BD}" type="datetimeFigureOut">
              <a:rPr lang="en-US" smtClean="0"/>
              <a:t>5/23/2022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FB655B-7664-418B-8A7C-EAE67671C61E}" type="slidenum">
              <a:rPr lang="en-US" smtClean="0"/>
              <a:t>‹#›</a:t>
            </a:fld>
            <a:endParaRPr lang="en-US"/>
          </a:p>
        </p:txBody>
      </p:sp>
    </p:spTree>
    <p:extLst>
      <p:ext uri="{BB962C8B-B14F-4D97-AF65-F5344CB8AC3E}">
        <p14:creationId xmlns:p14="http://schemas.microsoft.com/office/powerpoint/2010/main" val="580364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67521E2-1EE3-4897-A926-53C48B18C9BD}" type="datetimeFigureOut">
              <a:rPr lang="en-US" smtClean="0"/>
              <a:t>5/23/2022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FB655B-7664-418B-8A7C-EAE67671C61E}" type="slidenum">
              <a:rPr lang="en-US" smtClean="0"/>
              <a:t>‹#›</a:t>
            </a:fld>
            <a:endParaRPr lang="en-US"/>
          </a:p>
        </p:txBody>
      </p:sp>
    </p:spTree>
    <p:extLst>
      <p:ext uri="{BB962C8B-B14F-4D97-AF65-F5344CB8AC3E}">
        <p14:creationId xmlns:p14="http://schemas.microsoft.com/office/powerpoint/2010/main" val="1884440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67521E2-1EE3-4897-A926-53C48B18C9BD}" type="datetimeFigureOut">
              <a:rPr lang="en-US" smtClean="0"/>
              <a:t>5/23/2022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FB655B-7664-418B-8A7C-EAE67671C61E}" type="slidenum">
              <a:rPr lang="en-US" smtClean="0"/>
              <a:t>‹#›</a:t>
            </a:fld>
            <a:endParaRPr lang="en-US"/>
          </a:p>
        </p:txBody>
      </p:sp>
    </p:spTree>
    <p:extLst>
      <p:ext uri="{BB962C8B-B14F-4D97-AF65-F5344CB8AC3E}">
        <p14:creationId xmlns:p14="http://schemas.microsoft.com/office/powerpoint/2010/main" val="22467102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7521E2-1EE3-4897-A926-53C48B18C9BD}" type="datetimeFigureOut">
              <a:rPr lang="en-US" smtClean="0"/>
              <a:t>5/23/2022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FB655B-7664-418B-8A7C-EAE67671C61E}" type="slidenum">
              <a:rPr lang="en-US" smtClean="0"/>
              <a:t>‹#›</a:t>
            </a:fld>
            <a:endParaRPr lang="en-US"/>
          </a:p>
        </p:txBody>
      </p:sp>
    </p:spTree>
    <p:extLst>
      <p:ext uri="{BB962C8B-B14F-4D97-AF65-F5344CB8AC3E}">
        <p14:creationId xmlns:p14="http://schemas.microsoft.com/office/powerpoint/2010/main" val="1827661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67521E2-1EE3-4897-A926-53C48B18C9BD}" type="datetimeFigureOut">
              <a:rPr lang="en-US" smtClean="0"/>
              <a:t>5/23/2022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FB655B-7664-418B-8A7C-EAE67671C61E}" type="slidenum">
              <a:rPr lang="en-US" smtClean="0"/>
              <a:t>‹#›</a:t>
            </a:fld>
            <a:endParaRPr lang="en-US"/>
          </a:p>
        </p:txBody>
      </p:sp>
    </p:spTree>
    <p:extLst>
      <p:ext uri="{BB962C8B-B14F-4D97-AF65-F5344CB8AC3E}">
        <p14:creationId xmlns:p14="http://schemas.microsoft.com/office/powerpoint/2010/main" val="19571214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67521E2-1EE3-4897-A926-53C48B18C9BD}" type="datetimeFigureOut">
              <a:rPr lang="en-US" smtClean="0"/>
              <a:t>5/23/2022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FB655B-7664-418B-8A7C-EAE67671C61E}" type="slidenum">
              <a:rPr lang="en-US" smtClean="0"/>
              <a:t>‹#›</a:t>
            </a:fld>
            <a:endParaRPr lang="en-US"/>
          </a:p>
        </p:txBody>
      </p:sp>
    </p:spTree>
    <p:extLst>
      <p:ext uri="{BB962C8B-B14F-4D97-AF65-F5344CB8AC3E}">
        <p14:creationId xmlns:p14="http://schemas.microsoft.com/office/powerpoint/2010/main" val="14050901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67521E2-1EE3-4897-A926-53C48B18C9BD}" type="datetimeFigureOut">
              <a:rPr lang="en-US" smtClean="0"/>
              <a:t>5/23/2022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FB655B-7664-418B-8A7C-EAE67671C61E}" type="slidenum">
              <a:rPr lang="en-US" smtClean="0"/>
              <a:t>‹#›</a:t>
            </a:fld>
            <a:endParaRPr lang="en-US"/>
          </a:p>
        </p:txBody>
      </p:sp>
    </p:spTree>
    <p:extLst>
      <p:ext uri="{BB962C8B-B14F-4D97-AF65-F5344CB8AC3E}">
        <p14:creationId xmlns:p14="http://schemas.microsoft.com/office/powerpoint/2010/main" val="3276958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67521E2-1EE3-4897-A926-53C48B18C9BD}" type="datetimeFigureOut">
              <a:rPr lang="en-US" smtClean="0"/>
              <a:t>5/23/2022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FB655B-7664-418B-8A7C-EAE67671C61E}" type="slidenum">
              <a:rPr lang="en-US" smtClean="0"/>
              <a:t>‹#›</a:t>
            </a:fld>
            <a:endParaRPr lang="en-US"/>
          </a:p>
        </p:txBody>
      </p:sp>
    </p:spTree>
    <p:extLst>
      <p:ext uri="{BB962C8B-B14F-4D97-AF65-F5344CB8AC3E}">
        <p14:creationId xmlns:p14="http://schemas.microsoft.com/office/powerpoint/2010/main" val="2279913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7521E2-1EE3-4897-A926-53C48B18C9BD}" type="datetimeFigureOut">
              <a:rPr lang="en-US" smtClean="0"/>
              <a:t>5/23/2022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FB655B-7664-418B-8A7C-EAE67671C61E}" type="slidenum">
              <a:rPr lang="en-US" smtClean="0"/>
              <a:t>‹#›</a:t>
            </a:fld>
            <a:endParaRPr lang="en-US"/>
          </a:p>
        </p:txBody>
      </p:sp>
    </p:spTree>
    <p:extLst>
      <p:ext uri="{BB962C8B-B14F-4D97-AF65-F5344CB8AC3E}">
        <p14:creationId xmlns:p14="http://schemas.microsoft.com/office/powerpoint/2010/main" val="33397268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medium.com/dissecting-bert/dissecting-bert-part2-335ff2ed9c73" TargetMode="External"/><Relationship Id="rId2" Type="http://schemas.openxmlformats.org/officeDocument/2006/relationships/hyperlink" Target="http://jalammar.github.io/illustrated-bert/" TargetMode="External"/><Relationship Id="rId1" Type="http://schemas.openxmlformats.org/officeDocument/2006/relationships/slideLayout" Target="../slideLayouts/slideLayout2.xml"/><Relationship Id="rId5" Type="http://schemas.openxmlformats.org/officeDocument/2006/relationships/hyperlink" Target="https://mccormickml.com/2019/05/14/BERT-word-embeddings-tutorial/" TargetMode="External"/><Relationship Id="rId4" Type="http://schemas.openxmlformats.org/officeDocument/2006/relationships/hyperlink" Target="https://billpku.github.io/2019/04/20/BERT%20in%20theory/#About-BERT-masked-LM-tas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BERT</a:t>
            </a:r>
            <a:br>
              <a:rPr lang="en-US" dirty="0" smtClean="0"/>
            </a:br>
            <a:r>
              <a:rPr lang="en-US" dirty="0" smtClean="0"/>
              <a:t>(Bidirectional </a:t>
            </a:r>
            <a:r>
              <a:rPr lang="en-US" dirty="0"/>
              <a:t>Transformers for</a:t>
            </a:r>
            <a:br>
              <a:rPr lang="en-US" dirty="0"/>
            </a:br>
            <a:r>
              <a:rPr lang="en-US" dirty="0"/>
              <a:t>Language </a:t>
            </a:r>
            <a:r>
              <a:rPr lang="en-US" dirty="0" smtClean="0"/>
              <a:t>Understanding)</a:t>
            </a:r>
            <a:endParaRPr lang="en-US" dirty="0"/>
          </a:p>
        </p:txBody>
      </p:sp>
      <p:sp>
        <p:nvSpPr>
          <p:cNvPr id="3" name="Subtitle 2"/>
          <p:cNvSpPr>
            <a:spLocks noGrp="1"/>
          </p:cNvSpPr>
          <p:nvPr>
            <p:ph type="subTitle" idx="1"/>
          </p:nvPr>
        </p:nvSpPr>
        <p:spPr>
          <a:xfrm>
            <a:off x="1524000" y="4262718"/>
            <a:ext cx="9144000" cy="995082"/>
          </a:xfrm>
        </p:spPr>
        <p:txBody>
          <a:bodyPr/>
          <a:lstStyle/>
          <a:p>
            <a:endParaRPr lang="en-US" dirty="0"/>
          </a:p>
        </p:txBody>
      </p:sp>
    </p:spTree>
    <p:extLst>
      <p:ext uri="{BB962C8B-B14F-4D97-AF65-F5344CB8AC3E}">
        <p14:creationId xmlns:p14="http://schemas.microsoft.com/office/powerpoint/2010/main" val="19989624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95487"/>
          </a:xfrm>
        </p:spPr>
        <p:txBody>
          <a:bodyPr>
            <a:normAutofit fontScale="90000"/>
          </a:bodyPr>
          <a:lstStyle/>
          <a:p>
            <a:r>
              <a:rPr lang="en-US" dirty="0" smtClean="0"/>
              <a:t>BERT trains language </a:t>
            </a:r>
            <a:r>
              <a:rPr lang="en-US" dirty="0"/>
              <a:t>m</a:t>
            </a:r>
            <a:r>
              <a:rPr lang="en-US" dirty="0" smtClean="0"/>
              <a:t>odel in both directions</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39327" y="1032248"/>
            <a:ext cx="7185356" cy="5597894"/>
          </a:xfrm>
        </p:spPr>
      </p:pic>
    </p:spTree>
    <p:extLst>
      <p:ext uri="{BB962C8B-B14F-4D97-AF65-F5344CB8AC3E}">
        <p14:creationId xmlns:p14="http://schemas.microsoft.com/office/powerpoint/2010/main" val="14523347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miro.medium.com/max/1024/1*nowJA74IqzzIexvAOCy1_w.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728" y="1973448"/>
            <a:ext cx="11125121" cy="2248927"/>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p:cNvSpPr txBox="1">
            <a:spLocks/>
          </p:cNvSpPr>
          <p:nvPr/>
        </p:nvSpPr>
        <p:spPr>
          <a:xfrm>
            <a:off x="838200" y="365125"/>
            <a:ext cx="10515600" cy="495487"/>
          </a:xfrm>
          <a:prstGeom prst="rect">
            <a:avLst/>
          </a:prstGeom>
        </p:spPr>
        <p:txBody>
          <a:bodyPr vert="horz" lIns="91440" tIns="45720" rIns="91440" bIns="45720" rtlCol="0" anchor="ctr">
            <a:normAutofit fontScale="8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mtClean="0"/>
              <a:t>BERT trains Language Model in both directions</a:t>
            </a:r>
            <a:endParaRPr lang="en-US" dirty="0"/>
          </a:p>
        </p:txBody>
      </p:sp>
    </p:spTree>
    <p:extLst>
      <p:ext uri="{BB962C8B-B14F-4D97-AF65-F5344CB8AC3E}">
        <p14:creationId xmlns:p14="http://schemas.microsoft.com/office/powerpoint/2010/main" val="90269904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http://jalammar.github.io/images/bert-base-bert-larg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703" y="917854"/>
            <a:ext cx="11589577" cy="4770251"/>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p:cNvSpPr>
            <a:spLocks noGrp="1"/>
          </p:cNvSpPr>
          <p:nvPr>
            <p:ph type="title"/>
          </p:nvPr>
        </p:nvSpPr>
        <p:spPr>
          <a:xfrm>
            <a:off x="838200" y="365125"/>
            <a:ext cx="10515600" cy="374463"/>
          </a:xfrm>
        </p:spPr>
        <p:txBody>
          <a:bodyPr>
            <a:normAutofit fontScale="90000"/>
          </a:bodyPr>
          <a:lstStyle/>
          <a:p>
            <a:r>
              <a:rPr lang="en-US" dirty="0" smtClean="0"/>
              <a:t/>
            </a:r>
            <a:br>
              <a:rPr lang="en-US" dirty="0" smtClean="0"/>
            </a:br>
            <a:r>
              <a:rPr lang="en-US" dirty="0" smtClean="0"/>
              <a:t>BERT</a:t>
            </a:r>
            <a:endParaRPr lang="en-US" dirty="0"/>
          </a:p>
        </p:txBody>
      </p:sp>
    </p:spTree>
    <p:extLst>
      <p:ext uri="{BB962C8B-B14F-4D97-AF65-F5344CB8AC3E}">
        <p14:creationId xmlns:p14="http://schemas.microsoft.com/office/powerpoint/2010/main" val="332820931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http://jalammar.github.io/images/bert-base-bert-large-encoder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4278" y="983689"/>
            <a:ext cx="11443444" cy="4811993"/>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p:cNvSpPr txBox="1">
            <a:spLocks/>
          </p:cNvSpPr>
          <p:nvPr/>
        </p:nvSpPr>
        <p:spPr>
          <a:xfrm>
            <a:off x="838200" y="284442"/>
            <a:ext cx="10515600" cy="842870"/>
          </a:xfrm>
          <a:prstGeom prst="rect">
            <a:avLst/>
          </a:prstGeom>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smtClean="0"/>
              <a:t/>
            </a:r>
            <a:br>
              <a:rPr lang="en-US" dirty="0" smtClean="0"/>
            </a:br>
            <a:r>
              <a:rPr lang="en-US" dirty="0" smtClean="0"/>
              <a:t>BERT: Only Encoders are used </a:t>
            </a:r>
            <a:endParaRPr lang="en-US" dirty="0"/>
          </a:p>
        </p:txBody>
      </p:sp>
      <p:sp>
        <p:nvSpPr>
          <p:cNvPr id="7" name="Rectangle 6"/>
          <p:cNvSpPr/>
          <p:nvPr/>
        </p:nvSpPr>
        <p:spPr>
          <a:xfrm>
            <a:off x="365313" y="5848598"/>
            <a:ext cx="10558181" cy="646331"/>
          </a:xfrm>
          <a:prstGeom prst="rect">
            <a:avLst/>
          </a:prstGeom>
        </p:spPr>
        <p:txBody>
          <a:bodyPr wrap="square">
            <a:spAutoFit/>
          </a:bodyPr>
          <a:lstStyle/>
          <a:p>
            <a:r>
              <a:rPr lang="en-US" b="0" i="0" dirty="0" smtClean="0">
                <a:solidFill>
                  <a:srgbClr val="222222"/>
                </a:solidFill>
                <a:effectLst/>
                <a:latin typeface="Helvetica" panose="020B0604020202020204" pitchFamily="34" charset="0"/>
              </a:rPr>
              <a:t>These also have larger feedforward-networks (768 and 1024 hidden units respectively), and more attention heads (12 and 16 respectively)</a:t>
            </a:r>
            <a:endParaRPr lang="en-US" dirty="0"/>
          </a:p>
        </p:txBody>
      </p:sp>
    </p:spTree>
    <p:extLst>
      <p:ext uri="{BB962C8B-B14F-4D97-AF65-F5344CB8AC3E}">
        <p14:creationId xmlns:p14="http://schemas.microsoft.com/office/powerpoint/2010/main" val="82106610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http://jalammar.github.io/images/bert-output-vecto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389" y="933403"/>
            <a:ext cx="11431128" cy="4781597"/>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p:cNvSpPr txBox="1">
            <a:spLocks/>
          </p:cNvSpPr>
          <p:nvPr/>
        </p:nvSpPr>
        <p:spPr>
          <a:xfrm>
            <a:off x="740153" y="301391"/>
            <a:ext cx="10515600" cy="842870"/>
          </a:xfrm>
          <a:prstGeom prst="rect">
            <a:avLst/>
          </a:prstGeom>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smtClean="0"/>
              <a:t/>
            </a:r>
            <a:br>
              <a:rPr lang="en-US" dirty="0" smtClean="0"/>
            </a:br>
            <a:r>
              <a:rPr lang="en-US" dirty="0" smtClean="0"/>
              <a:t>BERT: Only Encoders are used </a:t>
            </a:r>
            <a:endParaRPr lang="en-US" dirty="0"/>
          </a:p>
        </p:txBody>
      </p:sp>
    </p:spTree>
    <p:extLst>
      <p:ext uri="{BB962C8B-B14F-4D97-AF65-F5344CB8AC3E}">
        <p14:creationId xmlns:p14="http://schemas.microsoft.com/office/powerpoint/2010/main" val="295330293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smtClean="0"/>
              <a:t>Use [MASK] token for 15% for text</a:t>
            </a:r>
            <a:endParaRPr lang="en-US" dirty="0" smtClean="0"/>
          </a:p>
          <a:p>
            <a:r>
              <a:rPr lang="en-US" dirty="0" smtClean="0"/>
              <a:t>In </a:t>
            </a:r>
            <a:r>
              <a:rPr lang="en-US" dirty="0"/>
              <a:t>this 15% tokens, 80% will be replaced with ‘[MASK]’, 10% will be replaced with a random word from vocabulary, 10% will not be replaced</a:t>
            </a:r>
            <a:r>
              <a:rPr lang="en-US" dirty="0" smtClean="0"/>
              <a:t>.</a:t>
            </a:r>
          </a:p>
        </p:txBody>
      </p:sp>
      <p:sp>
        <p:nvSpPr>
          <p:cNvPr id="4" name="Title 1"/>
          <p:cNvSpPr>
            <a:spLocks noGrp="1"/>
          </p:cNvSpPr>
          <p:nvPr>
            <p:ph type="title"/>
          </p:nvPr>
        </p:nvSpPr>
        <p:spPr/>
        <p:txBody>
          <a:bodyPr>
            <a:normAutofit/>
          </a:bodyPr>
          <a:lstStyle/>
          <a:p>
            <a:r>
              <a:rPr lang="en-US" b="1" dirty="0"/>
              <a:t>BERT: F</a:t>
            </a:r>
            <a:r>
              <a:rPr lang="en-US" b="1" dirty="0" smtClean="0"/>
              <a:t>or </a:t>
            </a:r>
            <a:r>
              <a:rPr lang="en-US" b="1" dirty="0"/>
              <a:t>L</a:t>
            </a:r>
            <a:r>
              <a:rPr lang="en-US" b="1" dirty="0" smtClean="0"/>
              <a:t>anguage </a:t>
            </a:r>
            <a:r>
              <a:rPr lang="en-US" b="1" dirty="0"/>
              <a:t>M</a:t>
            </a:r>
            <a:r>
              <a:rPr lang="en-US" b="1" dirty="0" smtClean="0"/>
              <a:t>odeling</a:t>
            </a:r>
            <a:endParaRPr lang="en-US" dirty="0"/>
          </a:p>
        </p:txBody>
      </p:sp>
    </p:spTree>
    <p:extLst>
      <p:ext uri="{BB962C8B-B14F-4D97-AF65-F5344CB8AC3E}">
        <p14:creationId xmlns:p14="http://schemas.microsoft.com/office/powerpoint/2010/main" val="330607678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6518" y="149972"/>
            <a:ext cx="11308976" cy="662781"/>
          </a:xfrm>
        </p:spPr>
        <p:txBody>
          <a:bodyPr>
            <a:normAutofit fontScale="90000"/>
          </a:bodyPr>
          <a:lstStyle/>
          <a:p>
            <a:r>
              <a:rPr lang="en-US" b="1" dirty="0" smtClean="0"/>
              <a:t>language modeling: Use [MASK] token for 15% for text</a:t>
            </a:r>
            <a:endParaRPr lang="en-US" dirty="0"/>
          </a:p>
        </p:txBody>
      </p:sp>
      <p:pic>
        <p:nvPicPr>
          <p:cNvPr id="11266" name="Picture 2" descr="http://jalammar.github.io/images/BERT-language-modeling-masked-lm.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8917" y="1027906"/>
            <a:ext cx="8302626" cy="5455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275831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All 15% are not MASKED</a:t>
            </a:r>
            <a:r>
              <a:rPr lang="en-US" dirty="0" smtClean="0"/>
              <a:t/>
            </a:r>
            <a:br>
              <a:rPr lang="en-US" dirty="0" smtClean="0"/>
            </a:br>
            <a:endParaRPr lang="en-US" dirty="0"/>
          </a:p>
        </p:txBody>
      </p:sp>
      <p:sp>
        <p:nvSpPr>
          <p:cNvPr id="4" name="Rectangle 1"/>
          <p:cNvSpPr>
            <a:spLocks noGrp="1" noChangeArrowheads="1"/>
          </p:cNvSpPr>
          <p:nvPr>
            <p:ph idx="1"/>
          </p:nvPr>
        </p:nvSpPr>
        <p:spPr bwMode="auto">
          <a:xfrm>
            <a:off x="838200" y="2493201"/>
            <a:ext cx="8916415" cy="30162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smtClean="0">
                <a:ln>
                  <a:noFill/>
                </a:ln>
                <a:solidFill>
                  <a:schemeClr val="tx1"/>
                </a:solidFill>
                <a:effectLst/>
                <a:latin typeface="medium-content-serif-font"/>
              </a:rPr>
              <a:t>80% were replaced by the ‘&lt;MASK&gt;’ token</a:t>
            </a:r>
            <a:endParaRPr kumimoji="0" lang="en-US" altLang="en-US" b="0" i="0" u="none" strike="noStrike" cap="none" normalizeH="0" baseline="0" dirty="0" smtClean="0">
              <a:ln>
                <a:noFill/>
              </a:ln>
              <a:solidFill>
                <a:schemeClr val="tx1"/>
              </a:solidFill>
              <a:effectLst/>
              <a:latin typeface="medium-content-sans-serif-fon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1" u="none" strike="noStrike" cap="none" normalizeH="0" baseline="0" dirty="0" smtClean="0">
                <a:ln>
                  <a:noFill/>
                </a:ln>
                <a:solidFill>
                  <a:schemeClr val="tx1"/>
                </a:solidFill>
                <a:effectLst/>
                <a:latin typeface="medium-content-serif-font"/>
              </a:rPr>
              <a:t>Example: “My dog is </a:t>
            </a:r>
            <a:r>
              <a:rPr kumimoji="0" lang="en-US" altLang="en-US" b="1" i="1" u="none" strike="noStrike" cap="none" normalizeH="0" baseline="0" dirty="0" smtClean="0">
                <a:ln>
                  <a:noFill/>
                </a:ln>
                <a:solidFill>
                  <a:schemeClr val="tx1"/>
                </a:solidFill>
                <a:effectLst/>
                <a:latin typeface="medium-content-serif-font"/>
              </a:rPr>
              <a:t>&lt;MASK&gt;</a:t>
            </a:r>
            <a:r>
              <a:rPr kumimoji="0" lang="en-US" altLang="en-US" b="0" i="1" u="none" strike="noStrike" cap="none" normalizeH="0" baseline="0" dirty="0" smtClean="0">
                <a:ln>
                  <a:noFill/>
                </a:ln>
                <a:solidFill>
                  <a:schemeClr val="tx1"/>
                </a:solidFill>
                <a:effectLst/>
                <a:latin typeface="medium-content-serif-font"/>
              </a:rPr>
              <a:t>”</a:t>
            </a:r>
            <a:endParaRPr kumimoji="0" lang="en-US" altLang="en-US" sz="20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smtClean="0">
                <a:ln>
                  <a:noFill/>
                </a:ln>
                <a:solidFill>
                  <a:schemeClr val="tx1"/>
                </a:solidFill>
                <a:effectLst/>
                <a:latin typeface="medium-content-serif-font"/>
              </a:rPr>
              <a:t>10% were replaced by a random token</a:t>
            </a:r>
            <a:endParaRPr kumimoji="0" lang="en-US" altLang="en-US" b="0" i="0" u="none" strike="noStrike" cap="none" normalizeH="0" baseline="0" dirty="0" smtClean="0">
              <a:ln>
                <a:noFill/>
              </a:ln>
              <a:solidFill>
                <a:schemeClr val="tx1"/>
              </a:solidFill>
              <a:effectLst/>
              <a:latin typeface="medium-content-sans-serif-fon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1" u="none" strike="noStrike" cap="none" normalizeH="0" baseline="0" dirty="0" smtClean="0">
                <a:ln>
                  <a:noFill/>
                </a:ln>
                <a:solidFill>
                  <a:schemeClr val="tx1"/>
                </a:solidFill>
                <a:effectLst/>
                <a:latin typeface="medium-content-serif-font"/>
              </a:rPr>
              <a:t>Example: “My dog is </a:t>
            </a:r>
            <a:r>
              <a:rPr kumimoji="0" lang="en-US" altLang="en-US" b="1" i="0" u="none" strike="noStrike" cap="none" normalizeH="0" baseline="0" dirty="0" smtClean="0">
                <a:ln>
                  <a:noFill/>
                </a:ln>
                <a:solidFill>
                  <a:schemeClr val="tx1"/>
                </a:solidFill>
                <a:effectLst/>
                <a:latin typeface="medium-content-serif-font"/>
              </a:rPr>
              <a:t>apple</a:t>
            </a:r>
            <a:r>
              <a:rPr kumimoji="0" lang="en-US" altLang="en-US" b="0" i="1" u="none" strike="noStrike" cap="none" normalizeH="0" baseline="0" dirty="0" smtClean="0">
                <a:ln>
                  <a:noFill/>
                </a:ln>
                <a:solidFill>
                  <a:schemeClr val="tx1"/>
                </a:solidFill>
                <a:effectLst/>
                <a:latin typeface="medium-content-serif-font"/>
              </a:rPr>
              <a:t>”</a:t>
            </a:r>
            <a:endParaRPr kumimoji="0" lang="en-US" altLang="en-US" sz="20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smtClean="0">
                <a:ln>
                  <a:noFill/>
                </a:ln>
                <a:solidFill>
                  <a:schemeClr val="tx1"/>
                </a:solidFill>
                <a:effectLst/>
                <a:latin typeface="medium-content-serif-font"/>
              </a:rPr>
              <a:t>10% were left intact</a:t>
            </a:r>
            <a:endParaRPr kumimoji="0" lang="en-US" altLang="en-US" b="0" i="0" u="none" strike="noStrike" cap="none" normalizeH="0" baseline="0" dirty="0" smtClean="0">
              <a:ln>
                <a:noFill/>
              </a:ln>
              <a:solidFill>
                <a:schemeClr val="tx1"/>
              </a:solidFill>
              <a:effectLst/>
              <a:latin typeface="medium-content-sans-serif-fon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1" u="none" strike="noStrike" cap="none" normalizeH="0" baseline="0" dirty="0" smtClean="0">
                <a:ln>
                  <a:noFill/>
                </a:ln>
                <a:solidFill>
                  <a:schemeClr val="tx1"/>
                </a:solidFill>
                <a:effectLst/>
                <a:latin typeface="medium-content-serif-font"/>
              </a:rPr>
              <a:t>Example: “My dog is </a:t>
            </a:r>
            <a:r>
              <a:rPr kumimoji="0" lang="en-US" altLang="en-US" b="1" i="0" u="none" strike="noStrike" cap="none" normalizeH="0" baseline="0" dirty="0" smtClean="0">
                <a:ln>
                  <a:noFill/>
                </a:ln>
                <a:solidFill>
                  <a:schemeClr val="tx1"/>
                </a:solidFill>
                <a:effectLst/>
                <a:latin typeface="medium-content-serif-font"/>
              </a:rPr>
              <a:t>hairy</a:t>
            </a:r>
            <a:r>
              <a:rPr kumimoji="0" lang="en-US" altLang="en-US" b="0" i="1" u="none" strike="noStrike" cap="none" normalizeH="0" baseline="0" dirty="0" smtClean="0">
                <a:ln>
                  <a:noFill/>
                </a:ln>
                <a:solidFill>
                  <a:schemeClr val="tx1"/>
                </a:solidFill>
                <a:effectLst/>
                <a:latin typeface="medium-content-serif-font"/>
              </a:rPr>
              <a:t>”</a:t>
            </a:r>
            <a:endParaRPr kumimoji="0" lang="en-US" altLang="en-US" sz="36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1026792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Why did they not use a ‘&lt;MASK&gt;’ replacement token all around?</a:t>
            </a:r>
            <a:endParaRPr lang="en-US" dirty="0"/>
          </a:p>
        </p:txBody>
      </p:sp>
    </p:spTree>
    <p:extLst>
      <p:ext uri="{BB962C8B-B14F-4D97-AF65-F5344CB8AC3E}">
        <p14:creationId xmlns:p14="http://schemas.microsoft.com/office/powerpoint/2010/main" val="174300363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0" i="0" dirty="0" smtClean="0">
                <a:effectLst/>
                <a:latin typeface="medium-content-serif-font"/>
              </a:rPr>
              <a:t>If the model had been trained on only predicting ‘&lt;MASK&gt;’ tokens and then never saw this token during fine-tuning, it would have thought that there was no need to predict anything and this would have hampered performance</a:t>
            </a:r>
          </a:p>
          <a:p>
            <a:r>
              <a:rPr lang="en-US" b="0" i="0" dirty="0" smtClean="0">
                <a:effectLst/>
                <a:latin typeface="medium-content-serif-font"/>
              </a:rPr>
              <a:t>By sometimes asking it to predict a word in a position that did not have a ‘&lt;MASK&gt;’ token, the model needed to learn a contextual representation of </a:t>
            </a:r>
            <a:r>
              <a:rPr lang="en-US" b="0" i="1" dirty="0" smtClean="0">
                <a:effectLst/>
                <a:latin typeface="medium-content-serif-font"/>
              </a:rPr>
              <a:t>all</a:t>
            </a:r>
            <a:r>
              <a:rPr lang="en-US" b="0" i="0" dirty="0" smtClean="0">
                <a:effectLst/>
                <a:latin typeface="medium-content-serif-font"/>
              </a:rPr>
              <a:t> the words in the input sentence, just in case it was asked to predict them afterwards.</a:t>
            </a:r>
            <a:endParaRPr lang="en-US" dirty="0" smtClean="0"/>
          </a:p>
          <a:p>
            <a:endParaRPr lang="en-US" dirty="0" smtClean="0"/>
          </a:p>
          <a:p>
            <a:endParaRPr lang="en-US" dirty="0"/>
          </a:p>
        </p:txBody>
      </p:sp>
    </p:spTree>
    <p:extLst>
      <p:ext uri="{BB962C8B-B14F-4D97-AF65-F5344CB8AC3E}">
        <p14:creationId xmlns:p14="http://schemas.microsoft.com/office/powerpoint/2010/main" val="106645270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8953" y="884331"/>
            <a:ext cx="10515600" cy="4351338"/>
          </a:xfrm>
        </p:spPr>
        <p:txBody>
          <a:bodyPr>
            <a:normAutofit/>
          </a:bodyPr>
          <a:lstStyle/>
          <a:p>
            <a:r>
              <a:rPr lang="en-US" sz="4000" i="1" dirty="0"/>
              <a:t>Are not random tokens enough? Why did they leave some sentences intact</a:t>
            </a:r>
            <a:r>
              <a:rPr lang="en-US" sz="4000" i="1" dirty="0" smtClean="0"/>
              <a:t>?</a:t>
            </a:r>
          </a:p>
          <a:p>
            <a:pPr marL="0" indent="0">
              <a:buNone/>
            </a:pPr>
            <a:r>
              <a:rPr lang="en-US" sz="2000" dirty="0"/>
              <a:t>	</a:t>
            </a:r>
            <a:endParaRPr lang="en-US" sz="2000" dirty="0" smtClean="0"/>
          </a:p>
          <a:p>
            <a:pPr marL="0" indent="0">
              <a:buNone/>
            </a:pPr>
            <a:r>
              <a:rPr lang="en-US" sz="2400" dirty="0" smtClean="0"/>
              <a:t>Ideally </a:t>
            </a:r>
            <a:r>
              <a:rPr lang="en-US" sz="2400" dirty="0"/>
              <a:t>we want the model’s representation of the masked token to be better than random. </a:t>
            </a:r>
            <a:r>
              <a:rPr lang="en-US" sz="2400" dirty="0" smtClean="0"/>
              <a:t>By </a:t>
            </a:r>
            <a:r>
              <a:rPr lang="en-US" sz="2400" dirty="0"/>
              <a:t>sometimes keeping the sentence intact (while still asking the model to predict the </a:t>
            </a:r>
            <a:r>
              <a:rPr lang="en-US" sz="2400" dirty="0" smtClean="0"/>
              <a:t>chosen </a:t>
            </a:r>
            <a:r>
              <a:rPr lang="en-US" sz="2400" dirty="0"/>
              <a:t>token) the authors biased the model to learn a meaningful representation of the </a:t>
            </a:r>
            <a:r>
              <a:rPr lang="en-US" sz="2400" dirty="0" smtClean="0"/>
              <a:t>	masked </a:t>
            </a:r>
            <a:r>
              <a:rPr lang="en-US" sz="2400" dirty="0"/>
              <a:t>tokens.</a:t>
            </a:r>
          </a:p>
        </p:txBody>
      </p:sp>
    </p:spTree>
    <p:extLst>
      <p:ext uri="{BB962C8B-B14F-4D97-AF65-F5344CB8AC3E}">
        <p14:creationId xmlns:p14="http://schemas.microsoft.com/office/powerpoint/2010/main" val="419247274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i="1" dirty="0"/>
              <a:t>Will random tokens confuse the model</a:t>
            </a:r>
            <a:r>
              <a:rPr lang="en-US" i="1" dirty="0" smtClean="0"/>
              <a:t>?</a:t>
            </a:r>
            <a:br>
              <a:rPr lang="en-US" i="1" dirty="0" smtClean="0"/>
            </a:br>
            <a:r>
              <a:rPr lang="en-US" i="1" dirty="0"/>
              <a:t/>
            </a:r>
            <a:br>
              <a:rPr lang="en-US" i="1" dirty="0"/>
            </a:br>
            <a:endParaRPr lang="en-US" dirty="0"/>
          </a:p>
        </p:txBody>
      </p:sp>
      <p:sp>
        <p:nvSpPr>
          <p:cNvPr id="3" name="Rectangle 2"/>
          <p:cNvSpPr/>
          <p:nvPr/>
        </p:nvSpPr>
        <p:spPr>
          <a:xfrm>
            <a:off x="838200" y="1958805"/>
            <a:ext cx="10515600" cy="830997"/>
          </a:xfrm>
          <a:prstGeom prst="rect">
            <a:avLst/>
          </a:prstGeom>
        </p:spPr>
        <p:txBody>
          <a:bodyPr wrap="square">
            <a:spAutoFit/>
          </a:bodyPr>
          <a:lstStyle/>
          <a:p>
            <a:r>
              <a:rPr lang="en-US" sz="2400" dirty="0">
                <a:solidFill>
                  <a:srgbClr val="292929"/>
                </a:solidFill>
                <a:latin typeface="charter"/>
              </a:rPr>
              <a:t>T</a:t>
            </a:r>
            <a:r>
              <a:rPr lang="en-US" sz="2400" dirty="0" smtClean="0">
                <a:solidFill>
                  <a:srgbClr val="292929"/>
                </a:solidFill>
                <a:latin typeface="charter"/>
              </a:rPr>
              <a:t>he </a:t>
            </a:r>
            <a:r>
              <a:rPr lang="en-US" sz="2400" dirty="0">
                <a:solidFill>
                  <a:srgbClr val="292929"/>
                </a:solidFill>
                <a:latin typeface="charter"/>
              </a:rPr>
              <a:t>random replacement happened in 1.5% of the tokens (10%*15%) and the authors claim that it did not affect the model’s performance.</a:t>
            </a:r>
            <a:endParaRPr lang="en-US" sz="2400" dirty="0"/>
          </a:p>
        </p:txBody>
      </p:sp>
    </p:spTree>
    <p:extLst>
      <p:ext uri="{BB962C8B-B14F-4D97-AF65-F5344CB8AC3E}">
        <p14:creationId xmlns:p14="http://schemas.microsoft.com/office/powerpoint/2010/main" val="314150895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37882"/>
            <a:ext cx="10515600" cy="5639081"/>
          </a:xfrm>
        </p:spPr>
        <p:txBody>
          <a:bodyPr/>
          <a:lstStyle/>
          <a:p>
            <a:r>
              <a:rPr lang="en-US" sz="3600" i="1" dirty="0"/>
              <a:t>The model will only predict 15% of the tokens but language models predict 100% of tokens, does this mean that the model needs more iterations to achieve the same loss</a:t>
            </a:r>
            <a:r>
              <a:rPr lang="en-US" sz="3600" i="1" dirty="0" smtClean="0"/>
              <a:t>?</a:t>
            </a:r>
          </a:p>
          <a:p>
            <a:endParaRPr lang="en-US" i="1" dirty="0"/>
          </a:p>
          <a:p>
            <a:r>
              <a:rPr lang="en-US" dirty="0" smtClean="0"/>
              <a:t>Training will be slower as model only predicts 15% of words</a:t>
            </a:r>
          </a:p>
          <a:p>
            <a:endParaRPr lang="en-US" dirty="0"/>
          </a:p>
        </p:txBody>
      </p:sp>
    </p:spTree>
    <p:extLst>
      <p:ext uri="{BB962C8B-B14F-4D97-AF65-F5344CB8AC3E}">
        <p14:creationId xmlns:p14="http://schemas.microsoft.com/office/powerpoint/2010/main" val="219795341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6518" y="149972"/>
            <a:ext cx="11308976" cy="662781"/>
          </a:xfrm>
        </p:spPr>
        <p:txBody>
          <a:bodyPr>
            <a:normAutofit fontScale="90000"/>
          </a:bodyPr>
          <a:lstStyle/>
          <a:p>
            <a:r>
              <a:rPr lang="en-US" b="1" dirty="0" smtClean="0"/>
              <a:t>language modeling: Use [MASK] token for 15% for text</a:t>
            </a:r>
            <a:endParaRPr lang="en-US" dirty="0"/>
          </a:p>
        </p:txBody>
      </p:sp>
      <p:pic>
        <p:nvPicPr>
          <p:cNvPr id="11266" name="Picture 2" descr="http://jalammar.github.io/images/BERT-language-modeling-masked-lm.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8917" y="1027906"/>
            <a:ext cx="8302626" cy="5455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569838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374463"/>
          </a:xfrm>
        </p:spPr>
        <p:txBody>
          <a:bodyPr>
            <a:normAutofit fontScale="90000"/>
          </a:bodyPr>
          <a:lstStyle/>
          <a:p>
            <a:r>
              <a:rPr lang="en-US" dirty="0" smtClean="0"/>
              <a:t/>
            </a:r>
            <a:br>
              <a:rPr lang="en-US" dirty="0" smtClean="0"/>
            </a:br>
            <a:r>
              <a:rPr lang="en-US" dirty="0" smtClean="0"/>
              <a:t>BERT: Sentence </a:t>
            </a:r>
            <a:r>
              <a:rPr lang="en-US" dirty="0"/>
              <a:t>C</a:t>
            </a:r>
            <a:r>
              <a:rPr lang="en-US" dirty="0" smtClean="0"/>
              <a:t>lassification </a:t>
            </a:r>
            <a:endParaRPr lang="en-US" dirty="0"/>
          </a:p>
        </p:txBody>
      </p:sp>
      <p:pic>
        <p:nvPicPr>
          <p:cNvPr id="3074" name="Picture 2" descr="http://jalammar.github.io/images/BERT-classification-spam.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58153"/>
            <a:ext cx="11722614" cy="43568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840745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ttp://jalammar.github.io/images/spam-labeled-datase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4411" y="2273952"/>
            <a:ext cx="8355602" cy="3508283"/>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p:cNvSpPr>
            <a:spLocks noGrp="1"/>
          </p:cNvSpPr>
          <p:nvPr>
            <p:ph type="title"/>
          </p:nvPr>
        </p:nvSpPr>
        <p:spPr/>
        <p:txBody>
          <a:bodyPr>
            <a:normAutofit/>
          </a:bodyPr>
          <a:lstStyle/>
          <a:p>
            <a:r>
              <a:rPr lang="en-US" dirty="0" smtClean="0"/>
              <a:t/>
            </a:r>
            <a:br>
              <a:rPr lang="en-US" dirty="0" smtClean="0"/>
            </a:br>
            <a:r>
              <a:rPr lang="en-US" dirty="0" smtClean="0"/>
              <a:t>BERT: Sentence </a:t>
            </a:r>
            <a:r>
              <a:rPr lang="en-US" dirty="0"/>
              <a:t>C</a:t>
            </a:r>
            <a:r>
              <a:rPr lang="en-US" dirty="0" smtClean="0"/>
              <a:t>lassification </a:t>
            </a:r>
            <a:endParaRPr lang="en-US" dirty="0"/>
          </a:p>
        </p:txBody>
      </p:sp>
    </p:spTree>
    <p:extLst>
      <p:ext uri="{BB962C8B-B14F-4D97-AF65-F5344CB8AC3E}">
        <p14:creationId xmlns:p14="http://schemas.microsoft.com/office/powerpoint/2010/main" val="646784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http://jalammar.github.io/images/bert-input-outpu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059" y="1768101"/>
            <a:ext cx="11477034" cy="4390652"/>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p:cNvSpPr>
            <a:spLocks noGrp="1"/>
          </p:cNvSpPr>
          <p:nvPr>
            <p:ph type="title"/>
          </p:nvPr>
        </p:nvSpPr>
        <p:spPr>
          <a:xfrm>
            <a:off x="838200" y="136525"/>
            <a:ext cx="10515600" cy="842870"/>
          </a:xfrm>
        </p:spPr>
        <p:txBody>
          <a:bodyPr>
            <a:normAutofit fontScale="90000"/>
          </a:bodyPr>
          <a:lstStyle/>
          <a:p>
            <a:r>
              <a:rPr lang="en-US" dirty="0" smtClean="0"/>
              <a:t/>
            </a:r>
            <a:br>
              <a:rPr lang="en-US" dirty="0" smtClean="0"/>
            </a:br>
            <a:r>
              <a:rPr lang="en-US" dirty="0" smtClean="0"/>
              <a:t>BERT: A special [CLS] token is used for classification</a:t>
            </a:r>
            <a:endParaRPr lang="en-US" dirty="0"/>
          </a:p>
        </p:txBody>
      </p:sp>
    </p:spTree>
    <p:extLst>
      <p:ext uri="{BB962C8B-B14F-4D97-AF65-F5344CB8AC3E}">
        <p14:creationId xmlns:p14="http://schemas.microsoft.com/office/powerpoint/2010/main" val="21487229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http://jalammar.github.io/images/bert-classifi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5045" y="1225497"/>
            <a:ext cx="10224061" cy="5632503"/>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p:cNvSpPr>
            <a:spLocks noGrp="1"/>
          </p:cNvSpPr>
          <p:nvPr>
            <p:ph type="title"/>
          </p:nvPr>
        </p:nvSpPr>
        <p:spPr>
          <a:xfrm>
            <a:off x="838200" y="149972"/>
            <a:ext cx="10515600" cy="842870"/>
          </a:xfrm>
        </p:spPr>
        <p:txBody>
          <a:bodyPr>
            <a:normAutofit fontScale="90000"/>
          </a:bodyPr>
          <a:lstStyle/>
          <a:p>
            <a:r>
              <a:rPr lang="en-US" dirty="0" smtClean="0"/>
              <a:t/>
            </a:r>
            <a:br>
              <a:rPr lang="en-US" dirty="0" smtClean="0"/>
            </a:br>
            <a:r>
              <a:rPr lang="en-US" dirty="0" smtClean="0"/>
              <a:t>BERT: A special [CLS] token is used for classification</a:t>
            </a:r>
            <a:endParaRPr lang="en-US" dirty="0"/>
          </a:p>
        </p:txBody>
      </p:sp>
    </p:spTree>
    <p:extLst>
      <p:ext uri="{BB962C8B-B14F-4D97-AF65-F5344CB8AC3E}">
        <p14:creationId xmlns:p14="http://schemas.microsoft.com/office/powerpoint/2010/main" val="38956883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The sentence </a:t>
            </a:r>
            <a:r>
              <a:rPr lang="en-US" dirty="0"/>
              <a:t>pair contains 2 sentences, 50% of the sentence pairs are related sentences which appears in the document one by one, 50% of the sentence pairs are not related, which the sentence are combined randomly</a:t>
            </a:r>
            <a:r>
              <a:rPr lang="en-US" dirty="0" smtClean="0"/>
              <a:t>.</a:t>
            </a:r>
          </a:p>
          <a:p>
            <a:r>
              <a:rPr lang="en-US" dirty="0" smtClean="0"/>
              <a:t>Useful for many NLP tasks like QA, entailment, inference </a:t>
            </a:r>
            <a:r>
              <a:rPr lang="en-US" dirty="0" err="1" smtClean="0"/>
              <a:t>etc</a:t>
            </a:r>
            <a:endParaRPr lang="en-US" dirty="0"/>
          </a:p>
        </p:txBody>
      </p:sp>
      <p:sp>
        <p:nvSpPr>
          <p:cNvPr id="5" name="Title 1"/>
          <p:cNvSpPr txBox="1">
            <a:spLocks/>
          </p:cNvSpPr>
          <p:nvPr/>
        </p:nvSpPr>
        <p:spPr>
          <a:xfrm>
            <a:off x="838200" y="365125"/>
            <a:ext cx="10515600" cy="662781"/>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r>
              <a:rPr lang="en-US" b="1" dirty="0" smtClean="0"/>
              <a:t>BERT: </a:t>
            </a:r>
            <a:r>
              <a:rPr lang="en-US" b="1" dirty="0"/>
              <a:t>Two-sentence Tasks</a:t>
            </a:r>
          </a:p>
        </p:txBody>
      </p:sp>
    </p:spTree>
    <p:extLst>
      <p:ext uri="{BB962C8B-B14F-4D97-AF65-F5344CB8AC3E}">
        <p14:creationId xmlns:p14="http://schemas.microsoft.com/office/powerpoint/2010/main" val="57421931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BERT: Two-sentence Tasks</a:t>
            </a:r>
            <a:br>
              <a:rPr lang="en-US" b="1" dirty="0" smtClean="0"/>
            </a:br>
            <a:endParaRPr lang="en-US" dirty="0"/>
          </a:p>
        </p:txBody>
      </p:sp>
      <p:sp>
        <p:nvSpPr>
          <p:cNvPr id="3" name="Content Placeholder 2"/>
          <p:cNvSpPr>
            <a:spLocks noGrp="1"/>
          </p:cNvSpPr>
          <p:nvPr>
            <p:ph idx="1"/>
          </p:nvPr>
        </p:nvSpPr>
        <p:spPr/>
        <p:txBody>
          <a:bodyPr/>
          <a:lstStyle/>
          <a:p>
            <a:r>
              <a:rPr lang="en-US" i="1" dirty="0"/>
              <a:t>Input = [CLS] the man went to [MASK] store [SEP] he bought a gallon [MASK] milk [SEP</a:t>
            </a:r>
            <a:r>
              <a:rPr lang="en-US" i="1" dirty="0" smtClean="0"/>
              <a:t>]</a:t>
            </a:r>
          </a:p>
          <a:p>
            <a:r>
              <a:rPr lang="en-US" dirty="0"/>
              <a:t>In this case the sentences are adjacent, so the label in [CLS] would be ‘&lt;</a:t>
            </a:r>
            <a:r>
              <a:rPr lang="en-US" dirty="0" err="1"/>
              <a:t>IsNext</a:t>
            </a:r>
            <a:r>
              <a:rPr lang="en-US" dirty="0"/>
              <a:t>&gt;’ as in</a:t>
            </a:r>
            <a:r>
              <a:rPr lang="en-US" dirty="0" smtClean="0"/>
              <a:t>:</a:t>
            </a:r>
          </a:p>
          <a:p>
            <a:r>
              <a:rPr lang="en-US" i="1" dirty="0"/>
              <a:t>Input = &lt;</a:t>
            </a:r>
            <a:r>
              <a:rPr lang="en-US" i="1" dirty="0" err="1"/>
              <a:t>IsNext</a:t>
            </a:r>
            <a:r>
              <a:rPr lang="en-US" i="1" dirty="0"/>
              <a:t>&gt; the man went to [MASK] store [SEP] he bought a gallon [MASK] milk [SEP]</a:t>
            </a:r>
            <a:endParaRPr lang="en-US" i="1" dirty="0" smtClean="0"/>
          </a:p>
          <a:p>
            <a:endParaRPr lang="en-US" dirty="0"/>
          </a:p>
        </p:txBody>
      </p:sp>
    </p:spTree>
    <p:extLst>
      <p:ext uri="{BB962C8B-B14F-4D97-AF65-F5344CB8AC3E}">
        <p14:creationId xmlns:p14="http://schemas.microsoft.com/office/powerpoint/2010/main" val="204808040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BERT: Two-sentence Tasks</a:t>
            </a:r>
            <a:br>
              <a:rPr lang="en-US" b="1" dirty="0" smtClean="0"/>
            </a:br>
            <a:endParaRPr lang="en-US" dirty="0"/>
          </a:p>
        </p:txBody>
      </p:sp>
      <p:sp>
        <p:nvSpPr>
          <p:cNvPr id="3" name="Content Placeholder 2"/>
          <p:cNvSpPr>
            <a:spLocks noGrp="1"/>
          </p:cNvSpPr>
          <p:nvPr>
            <p:ph idx="1"/>
          </p:nvPr>
        </p:nvSpPr>
        <p:spPr/>
        <p:txBody>
          <a:bodyPr/>
          <a:lstStyle/>
          <a:p>
            <a:r>
              <a:rPr lang="en-US" dirty="0"/>
              <a:t>The loss was calculated as the sum of the mean masked LM likelihood and the mean next sentence prediction likelihood.</a:t>
            </a:r>
          </a:p>
        </p:txBody>
      </p:sp>
    </p:spTree>
    <p:extLst>
      <p:ext uri="{BB962C8B-B14F-4D97-AF65-F5344CB8AC3E}">
        <p14:creationId xmlns:p14="http://schemas.microsoft.com/office/powerpoint/2010/main" val="187317037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http://jalammar.github.io/images/bert-next-sentence-prediction.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1293" y="282572"/>
            <a:ext cx="9278471" cy="63794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112424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Segmentation Embedding</a:t>
            </a:r>
            <a:r>
              <a:rPr lang="en-US" b="1" dirty="0"/>
              <a:t/>
            </a:r>
            <a:br>
              <a:rPr lang="en-US" b="1" dirty="0"/>
            </a:br>
            <a:endParaRPr lang="en-US" dirty="0"/>
          </a:p>
        </p:txBody>
      </p:sp>
      <p:sp>
        <p:nvSpPr>
          <p:cNvPr id="3" name="Content Placeholder 2"/>
          <p:cNvSpPr>
            <a:spLocks noGrp="1"/>
          </p:cNvSpPr>
          <p:nvPr>
            <p:ph idx="1"/>
          </p:nvPr>
        </p:nvSpPr>
        <p:spPr/>
        <p:txBody>
          <a:bodyPr/>
          <a:lstStyle/>
          <a:p>
            <a:r>
              <a:rPr lang="en-US" dirty="0"/>
              <a:t>E.g. token sentence</a:t>
            </a:r>
            <a:r>
              <a:rPr lang="en-US" dirty="0" smtClean="0"/>
              <a:t>:</a:t>
            </a:r>
          </a:p>
          <a:p>
            <a:r>
              <a:rPr lang="en-US" dirty="0" smtClean="0"/>
              <a:t> </a:t>
            </a:r>
            <a:r>
              <a:rPr lang="en-US" dirty="0"/>
              <a:t>‘[CLS] I have a dream [SEP] The cat is white [SEP</a:t>
            </a:r>
            <a:r>
              <a:rPr lang="en-US" dirty="0" smtClean="0"/>
              <a:t>]’,</a:t>
            </a:r>
          </a:p>
          <a:p>
            <a:r>
              <a:rPr lang="en-US" dirty="0" smtClean="0"/>
              <a:t> </a:t>
            </a:r>
            <a:r>
              <a:rPr lang="en-US" dirty="0"/>
              <a:t>segmentation embedding: [0,0,0,0,0,1,1,1,1,1]</a:t>
            </a:r>
          </a:p>
        </p:txBody>
      </p:sp>
    </p:spTree>
    <p:extLst>
      <p:ext uri="{BB962C8B-B14F-4D97-AF65-F5344CB8AC3E}">
        <p14:creationId xmlns:p14="http://schemas.microsoft.com/office/powerpoint/2010/main" val="318742029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Mask word embedding</a:t>
            </a:r>
          </a:p>
        </p:txBody>
      </p:sp>
      <p:sp>
        <p:nvSpPr>
          <p:cNvPr id="3" name="Content Placeholder 2"/>
          <p:cNvSpPr>
            <a:spLocks noGrp="1"/>
          </p:cNvSpPr>
          <p:nvPr>
            <p:ph idx="1"/>
          </p:nvPr>
        </p:nvSpPr>
        <p:spPr/>
        <p:txBody>
          <a:bodyPr/>
          <a:lstStyle/>
          <a:p>
            <a:r>
              <a:rPr lang="en-US" dirty="0" smtClean="0"/>
              <a:t> </a:t>
            </a:r>
            <a:r>
              <a:rPr lang="en-US" dirty="0"/>
              <a:t>0 represents normal word, 1 represents mask word. </a:t>
            </a:r>
          </a:p>
        </p:txBody>
      </p:sp>
    </p:spTree>
    <p:extLst>
      <p:ext uri="{BB962C8B-B14F-4D97-AF65-F5344CB8AC3E}">
        <p14:creationId xmlns:p14="http://schemas.microsoft.com/office/powerpoint/2010/main" val="97931437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Out of vocabulary words</a:t>
            </a:r>
            <a:br>
              <a:rPr lang="en-US" b="1" dirty="0"/>
            </a:br>
            <a:endParaRPr lang="en-US" dirty="0"/>
          </a:p>
        </p:txBody>
      </p:sp>
      <p:sp>
        <p:nvSpPr>
          <p:cNvPr id="3" name="Content Placeholder 2"/>
          <p:cNvSpPr>
            <a:spLocks noGrp="1"/>
          </p:cNvSpPr>
          <p:nvPr>
            <p:ph idx="1"/>
          </p:nvPr>
        </p:nvSpPr>
        <p:spPr/>
        <p:txBody>
          <a:bodyPr>
            <a:normAutofit/>
          </a:bodyPr>
          <a:lstStyle/>
          <a:p>
            <a:r>
              <a:rPr lang="en-US" sz="4000" dirty="0" smtClean="0"/>
              <a:t>BERT Tokenization: </a:t>
            </a:r>
            <a:r>
              <a:rPr lang="en-US" sz="4000" dirty="0" err="1" smtClean="0"/>
              <a:t>WordPiece</a:t>
            </a:r>
            <a:r>
              <a:rPr lang="en-US" sz="4000" dirty="0" smtClean="0"/>
              <a:t> model</a:t>
            </a:r>
            <a:endParaRPr lang="en-US" sz="4000" dirty="0"/>
          </a:p>
        </p:txBody>
      </p:sp>
    </p:spTree>
    <p:extLst>
      <p:ext uri="{BB962C8B-B14F-4D97-AF65-F5344CB8AC3E}">
        <p14:creationId xmlns:p14="http://schemas.microsoft.com/office/powerpoint/2010/main" val="305305353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BERT Tokenization: </a:t>
            </a:r>
            <a:r>
              <a:rPr lang="en-US" dirty="0" err="1"/>
              <a:t>WordPiece</a:t>
            </a:r>
            <a:r>
              <a:rPr lang="en-US" dirty="0"/>
              <a:t> </a:t>
            </a:r>
            <a:r>
              <a:rPr lang="en-US" dirty="0" smtClean="0"/>
              <a:t>model</a:t>
            </a:r>
            <a:endParaRPr lang="en-US" dirty="0"/>
          </a:p>
        </p:txBody>
      </p:sp>
      <p:sp>
        <p:nvSpPr>
          <p:cNvPr id="3" name="Content Placeholder 2"/>
          <p:cNvSpPr>
            <a:spLocks noGrp="1"/>
          </p:cNvSpPr>
          <p:nvPr>
            <p:ph idx="1"/>
          </p:nvPr>
        </p:nvSpPr>
        <p:spPr/>
        <p:txBody>
          <a:bodyPr/>
          <a:lstStyle/>
          <a:p>
            <a:endParaRPr lang="en-US" dirty="0"/>
          </a:p>
          <a:p>
            <a:r>
              <a:rPr lang="en-US" dirty="0"/>
              <a:t>This model greedily creates a fixed-size vocabulary of individual characters, </a:t>
            </a:r>
            <a:r>
              <a:rPr lang="en-US" dirty="0" err="1"/>
              <a:t>subwords</a:t>
            </a:r>
            <a:r>
              <a:rPr lang="en-US" dirty="0"/>
              <a:t>, and words that best fits our language data. Since the vocabulary limit size </a:t>
            </a:r>
            <a:r>
              <a:rPr lang="en-US" dirty="0" smtClean="0"/>
              <a:t>of </a:t>
            </a:r>
            <a:r>
              <a:rPr lang="en-US" dirty="0"/>
              <a:t>BERT tokenizer model is 30,000, the </a:t>
            </a:r>
            <a:r>
              <a:rPr lang="en-US" dirty="0" err="1"/>
              <a:t>WordPiece</a:t>
            </a:r>
            <a:r>
              <a:rPr lang="en-US" dirty="0"/>
              <a:t> model generated a vocabulary that contains all English characters plus the ~30,000 most common words and </a:t>
            </a:r>
            <a:r>
              <a:rPr lang="en-US" dirty="0" err="1"/>
              <a:t>subwords</a:t>
            </a:r>
            <a:r>
              <a:rPr lang="en-US" dirty="0"/>
              <a:t> found in the English</a:t>
            </a:r>
          </a:p>
          <a:p>
            <a:endParaRPr lang="en-US" dirty="0"/>
          </a:p>
        </p:txBody>
      </p:sp>
    </p:spTree>
    <p:extLst>
      <p:ext uri="{BB962C8B-B14F-4D97-AF65-F5344CB8AC3E}">
        <p14:creationId xmlns:p14="http://schemas.microsoft.com/office/powerpoint/2010/main" val="80678203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Whole </a:t>
            </a:r>
            <a:r>
              <a:rPr lang="en-US" dirty="0"/>
              <a:t>words</a:t>
            </a:r>
          </a:p>
          <a:p>
            <a:r>
              <a:rPr lang="en-US" dirty="0" err="1"/>
              <a:t>Subwords</a:t>
            </a:r>
            <a:r>
              <a:rPr lang="en-US" dirty="0"/>
              <a:t> </a:t>
            </a:r>
            <a:r>
              <a:rPr lang="en-US" dirty="0" err="1"/>
              <a:t>occuring</a:t>
            </a:r>
            <a:r>
              <a:rPr lang="en-US" dirty="0"/>
              <a:t> at the front of a word or in </a:t>
            </a:r>
            <a:r>
              <a:rPr lang="en-US" dirty="0" smtClean="0"/>
              <a:t>isolation. </a:t>
            </a:r>
          </a:p>
          <a:p>
            <a:r>
              <a:rPr lang="en-US" dirty="0" err="1" smtClean="0"/>
              <a:t>Subwords</a:t>
            </a:r>
            <a:r>
              <a:rPr lang="en-US" dirty="0" smtClean="0"/>
              <a:t> </a:t>
            </a:r>
            <a:r>
              <a:rPr lang="en-US" dirty="0"/>
              <a:t>not at the front of a word, which are preceded by ‘##’ to denote this case</a:t>
            </a:r>
          </a:p>
          <a:p>
            <a:r>
              <a:rPr lang="en-US" dirty="0"/>
              <a:t>Individual </a:t>
            </a:r>
            <a:r>
              <a:rPr lang="en-US" dirty="0" smtClean="0"/>
              <a:t>characters</a:t>
            </a:r>
          </a:p>
          <a:p>
            <a:r>
              <a:rPr lang="en-US" dirty="0" smtClean="0"/>
              <a:t>The word “</a:t>
            </a:r>
            <a:r>
              <a:rPr lang="en-US" dirty="0" err="1" smtClean="0"/>
              <a:t>embeddings</a:t>
            </a:r>
            <a:r>
              <a:rPr lang="en-US" dirty="0" smtClean="0"/>
              <a:t>” is represented:</a:t>
            </a:r>
          </a:p>
          <a:p>
            <a:pPr marL="0" indent="0">
              <a:buNone/>
            </a:pPr>
            <a:r>
              <a:rPr lang="en-US" dirty="0" smtClean="0"/>
              <a:t>	[‘</a:t>
            </a:r>
            <a:r>
              <a:rPr lang="en-US" dirty="0" err="1" smtClean="0"/>
              <a:t>em</a:t>
            </a:r>
            <a:r>
              <a:rPr lang="en-US" dirty="0" smtClean="0"/>
              <a:t>’, ‘##bed’, ‘##ding’, ‘##s’]</a:t>
            </a:r>
          </a:p>
          <a:p>
            <a:pPr marL="0" indent="0">
              <a:buNone/>
            </a:pPr>
            <a:endParaRPr lang="en-US" dirty="0"/>
          </a:p>
          <a:p>
            <a:endParaRPr lang="en-US" dirty="0" smtClean="0"/>
          </a:p>
          <a:p>
            <a:endParaRPr lang="en-US" dirty="0"/>
          </a:p>
        </p:txBody>
      </p:sp>
      <p:sp>
        <p:nvSpPr>
          <p:cNvPr id="4" name="Title 1"/>
          <p:cNvSpPr>
            <a:spLocks noGrp="1"/>
          </p:cNvSpPr>
          <p:nvPr>
            <p:ph type="title"/>
          </p:nvPr>
        </p:nvSpPr>
        <p:spPr/>
        <p:txBody>
          <a:bodyPr/>
          <a:lstStyle/>
          <a:p>
            <a:r>
              <a:rPr lang="en-US" dirty="0" smtClean="0"/>
              <a:t>BERT Tokenization: </a:t>
            </a:r>
            <a:r>
              <a:rPr lang="en-US" dirty="0" err="1"/>
              <a:t>WordPiece</a:t>
            </a:r>
            <a:r>
              <a:rPr lang="en-US" dirty="0"/>
              <a:t> </a:t>
            </a:r>
            <a:r>
              <a:rPr lang="en-US" dirty="0" smtClean="0"/>
              <a:t>model</a:t>
            </a:r>
            <a:endParaRPr lang="en-US" dirty="0"/>
          </a:p>
        </p:txBody>
      </p:sp>
    </p:spTree>
    <p:extLst>
      <p:ext uri="{BB962C8B-B14F-4D97-AF65-F5344CB8AC3E}">
        <p14:creationId xmlns:p14="http://schemas.microsoft.com/office/powerpoint/2010/main" val="52133831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R</a:t>
            </a:r>
            <a:r>
              <a:rPr lang="en-US" dirty="0" smtClean="0"/>
              <a:t>ather </a:t>
            </a:r>
            <a:r>
              <a:rPr lang="en-US" dirty="0"/>
              <a:t>than assigning out of vocabulary words to a catch-all token like ‘OOV’ or ‘UNK,’ words that are not in the vocabulary are decomposed into </a:t>
            </a:r>
            <a:r>
              <a:rPr lang="en-US" dirty="0" err="1"/>
              <a:t>subword</a:t>
            </a:r>
            <a:r>
              <a:rPr lang="en-US" dirty="0"/>
              <a:t> and character tokens that we can then generate </a:t>
            </a:r>
            <a:r>
              <a:rPr lang="en-US" dirty="0" err="1"/>
              <a:t>embeddings</a:t>
            </a:r>
            <a:r>
              <a:rPr lang="en-US" dirty="0"/>
              <a:t> for.</a:t>
            </a:r>
          </a:p>
        </p:txBody>
      </p:sp>
      <p:sp>
        <p:nvSpPr>
          <p:cNvPr id="4" name="Title 1"/>
          <p:cNvSpPr>
            <a:spLocks noGrp="1"/>
          </p:cNvSpPr>
          <p:nvPr>
            <p:ph type="title"/>
          </p:nvPr>
        </p:nvSpPr>
        <p:spPr/>
        <p:txBody>
          <a:bodyPr/>
          <a:lstStyle/>
          <a:p>
            <a:r>
              <a:rPr lang="en-US" dirty="0" smtClean="0"/>
              <a:t>BERT Tokenization: </a:t>
            </a:r>
            <a:r>
              <a:rPr lang="en-US" dirty="0" err="1"/>
              <a:t>WordPiece</a:t>
            </a:r>
            <a:r>
              <a:rPr lang="en-US" dirty="0"/>
              <a:t> </a:t>
            </a:r>
            <a:r>
              <a:rPr lang="en-US" dirty="0" smtClean="0"/>
              <a:t>model</a:t>
            </a:r>
            <a:endParaRPr lang="en-US" dirty="0"/>
          </a:p>
        </p:txBody>
      </p:sp>
    </p:spTree>
    <p:extLst>
      <p:ext uri="{BB962C8B-B14F-4D97-AF65-F5344CB8AC3E}">
        <p14:creationId xmlns:p14="http://schemas.microsoft.com/office/powerpoint/2010/main" val="291698402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Context Based Similarity</a:t>
            </a:r>
            <a:endParaRPr lang="en-US" dirty="0"/>
          </a:p>
        </p:txBody>
      </p:sp>
      <p:sp>
        <p:nvSpPr>
          <p:cNvPr id="6" name="Rectangle 2"/>
          <p:cNvSpPr>
            <a:spLocks noGrp="1" noChangeArrowheads="1"/>
          </p:cNvSpPr>
          <p:nvPr>
            <p:ph idx="1"/>
          </p:nvPr>
        </p:nvSpPr>
        <p:spPr bwMode="auto">
          <a:xfrm>
            <a:off x="838200" y="3623035"/>
            <a:ext cx="8828058" cy="2585323"/>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515151"/>
                </a:solidFill>
                <a:effectLst/>
                <a:latin typeface="Menlo"/>
              </a:rPr>
              <a:t>First 5 vector values for each instance of "bank".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smtClean="0">
              <a:ln>
                <a:noFill/>
              </a:ln>
              <a:solidFill>
                <a:srgbClr val="515151"/>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515151"/>
                </a:solidFill>
                <a:effectLst/>
                <a:latin typeface="Menlo"/>
              </a:rPr>
              <a:t>bank vault tensor([ 3.3596, -2.9805, -1.5421, 0.7065, 2.0031])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smtClean="0">
              <a:ln>
                <a:noFill/>
              </a:ln>
              <a:solidFill>
                <a:srgbClr val="515151"/>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515151"/>
                </a:solidFill>
                <a:effectLst/>
                <a:latin typeface="Menlo"/>
              </a:rPr>
              <a:t>bank robber tensor([ 2.7359, -2.5577, -1.3094, 0.6797, 1.6633])</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515151"/>
                </a:solidFill>
                <a:effectLst/>
                <a:latin typeface="Menlo"/>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515151"/>
                </a:solidFill>
                <a:effectLst/>
                <a:latin typeface="Menlo"/>
              </a:rPr>
              <a:t>river bank tensor([ 1.5266, -0.8895, -0.5152, -0.9298, 2.8334])</a:t>
            </a:r>
            <a:r>
              <a:rPr kumimoji="0" lang="en-US" altLang="en-US" sz="2000" b="0" i="0" u="none" strike="noStrike" cap="none" normalizeH="0" baseline="0" dirty="0" smtClean="0">
                <a:ln>
                  <a:noFill/>
                </a:ln>
                <a:solidFill>
                  <a:schemeClr val="tx1"/>
                </a:solidFill>
                <a:effectLst/>
              </a:rPr>
              <a:t> </a:t>
            </a:r>
            <a:endParaRPr kumimoji="0" lang="en-US" altLang="en-US" sz="3600" b="0" i="0" u="none" strike="noStrike" cap="none" normalizeH="0" baseline="0" dirty="0" smtClean="0">
              <a:ln>
                <a:noFill/>
              </a:ln>
              <a:solidFill>
                <a:schemeClr val="tx1"/>
              </a:solidFill>
              <a:effectLst/>
              <a:latin typeface="Arial" panose="020B0604020202020204" pitchFamily="34" charset="0"/>
            </a:endParaRPr>
          </a:p>
        </p:txBody>
      </p:sp>
      <p:sp>
        <p:nvSpPr>
          <p:cNvPr id="7" name="Rectangle 6"/>
          <p:cNvSpPr/>
          <p:nvPr/>
        </p:nvSpPr>
        <p:spPr>
          <a:xfrm>
            <a:off x="838199" y="1690688"/>
            <a:ext cx="10322859" cy="954107"/>
          </a:xfrm>
          <a:prstGeom prst="rect">
            <a:avLst/>
          </a:prstGeom>
        </p:spPr>
        <p:txBody>
          <a:bodyPr wrap="square">
            <a:spAutoFit/>
          </a:bodyPr>
          <a:lstStyle/>
          <a:p>
            <a:r>
              <a:rPr lang="en-US" dirty="0">
                <a:solidFill>
                  <a:srgbClr val="515151"/>
                </a:solidFill>
                <a:latin typeface="-apple-system"/>
              </a:rPr>
              <a:t>“</a:t>
            </a:r>
            <a:r>
              <a:rPr lang="en-US" sz="2800" dirty="0">
                <a:solidFill>
                  <a:srgbClr val="515151"/>
                </a:solidFill>
                <a:latin typeface="-apple-system"/>
              </a:rPr>
              <a:t>After stealing money from the </a:t>
            </a:r>
            <a:r>
              <a:rPr lang="en-US" sz="2800" b="1" dirty="0">
                <a:solidFill>
                  <a:srgbClr val="303030"/>
                </a:solidFill>
                <a:latin typeface="-apple-system"/>
              </a:rPr>
              <a:t>bank vault</a:t>
            </a:r>
            <a:r>
              <a:rPr lang="en-US" sz="2800" dirty="0">
                <a:solidFill>
                  <a:srgbClr val="515151"/>
                </a:solidFill>
                <a:latin typeface="-apple-system"/>
              </a:rPr>
              <a:t>, the </a:t>
            </a:r>
            <a:r>
              <a:rPr lang="en-US" sz="2800" b="1" dirty="0">
                <a:solidFill>
                  <a:srgbClr val="303030"/>
                </a:solidFill>
                <a:latin typeface="-apple-system"/>
              </a:rPr>
              <a:t>bank robber</a:t>
            </a:r>
            <a:r>
              <a:rPr lang="en-US" sz="2800" dirty="0">
                <a:solidFill>
                  <a:srgbClr val="515151"/>
                </a:solidFill>
                <a:latin typeface="-apple-system"/>
              </a:rPr>
              <a:t> was seen fishing on the Mississippi </a:t>
            </a:r>
            <a:r>
              <a:rPr lang="en-US" sz="2800" b="1" dirty="0">
                <a:solidFill>
                  <a:srgbClr val="303030"/>
                </a:solidFill>
                <a:latin typeface="-apple-system"/>
              </a:rPr>
              <a:t>river bank</a:t>
            </a:r>
            <a:r>
              <a:rPr lang="en-US" sz="2800" dirty="0">
                <a:solidFill>
                  <a:srgbClr val="515151"/>
                </a:solidFill>
                <a:latin typeface="-apple-system"/>
              </a:rPr>
              <a:t>.”</a:t>
            </a:r>
            <a:endParaRPr lang="en-US" sz="2800" dirty="0"/>
          </a:p>
        </p:txBody>
      </p:sp>
    </p:spTree>
    <p:extLst>
      <p:ext uri="{BB962C8B-B14F-4D97-AF65-F5344CB8AC3E}">
        <p14:creationId xmlns:p14="http://schemas.microsoft.com/office/powerpoint/2010/main" val="121680361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Context Based Similarity</a:t>
            </a:r>
            <a:endParaRPr lang="en-US" dirty="0"/>
          </a:p>
        </p:txBody>
      </p:sp>
      <p:sp>
        <p:nvSpPr>
          <p:cNvPr id="3" name="Content Placeholder 2"/>
          <p:cNvSpPr>
            <a:spLocks noGrp="1"/>
          </p:cNvSpPr>
          <p:nvPr>
            <p:ph idx="1"/>
          </p:nvPr>
        </p:nvSpPr>
        <p:spPr/>
        <p:txBody>
          <a:bodyPr/>
          <a:lstStyle/>
          <a:p>
            <a:r>
              <a:rPr lang="en-US" dirty="0" smtClean="0"/>
              <a:t>Similarity of ‘bank’ as in ‘bank robber’ to ‘bank’ as in ‘river bank’</a:t>
            </a:r>
          </a:p>
          <a:p>
            <a:pPr lvl="1"/>
            <a:r>
              <a:rPr lang="en-US" dirty="0" smtClean="0"/>
              <a:t>Cosine similarity = 0.67</a:t>
            </a:r>
          </a:p>
          <a:p>
            <a:pPr lvl="1"/>
            <a:endParaRPr lang="en-US" dirty="0"/>
          </a:p>
          <a:p>
            <a:pPr lvl="1"/>
            <a:endParaRPr lang="en-US" dirty="0" smtClean="0"/>
          </a:p>
          <a:p>
            <a:pPr marL="457200" lvl="1" indent="0">
              <a:buNone/>
            </a:pPr>
            <a:endParaRPr lang="en-US" dirty="0" smtClean="0"/>
          </a:p>
          <a:p>
            <a:r>
              <a:rPr lang="en-US" dirty="0" smtClean="0"/>
              <a:t>Similarity of ‘bank’ as in ‘bank robber’ to ‘bank’ as in ‘bank vault’</a:t>
            </a:r>
          </a:p>
          <a:p>
            <a:pPr lvl="1"/>
            <a:r>
              <a:rPr lang="en-US" dirty="0" smtClean="0"/>
              <a:t>Cosine similarity = 0.9</a:t>
            </a:r>
          </a:p>
          <a:p>
            <a:endParaRPr lang="en-US" dirty="0" smtClean="0"/>
          </a:p>
          <a:p>
            <a:endParaRPr lang="en-US" dirty="0"/>
          </a:p>
        </p:txBody>
      </p:sp>
    </p:spTree>
    <p:extLst>
      <p:ext uri="{BB962C8B-B14F-4D97-AF65-F5344CB8AC3E}">
        <p14:creationId xmlns:p14="http://schemas.microsoft.com/office/powerpoint/2010/main" val="138708735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How to use pretrained model</a:t>
            </a:r>
            <a:br>
              <a:rPr lang="en-US" b="1" dirty="0"/>
            </a:br>
            <a:endParaRPr lang="en-US" dirty="0"/>
          </a:p>
        </p:txBody>
      </p:sp>
      <p:sp>
        <p:nvSpPr>
          <p:cNvPr id="3" name="Content Placeholder 2"/>
          <p:cNvSpPr>
            <a:spLocks noGrp="1"/>
          </p:cNvSpPr>
          <p:nvPr>
            <p:ph idx="1"/>
          </p:nvPr>
        </p:nvSpPr>
        <p:spPr/>
        <p:txBody>
          <a:bodyPr>
            <a:normAutofit/>
          </a:bodyPr>
          <a:lstStyle/>
          <a:p>
            <a:r>
              <a:rPr lang="en-US" sz="4400" dirty="0" smtClean="0"/>
              <a:t>Fine Tune</a:t>
            </a:r>
          </a:p>
          <a:p>
            <a:endParaRPr lang="en-US" sz="4400" dirty="0" smtClean="0"/>
          </a:p>
          <a:p>
            <a:r>
              <a:rPr lang="en-US" sz="4400" dirty="0" smtClean="0"/>
              <a:t>Feature based</a:t>
            </a:r>
            <a:endParaRPr lang="en-US" sz="4400" dirty="0"/>
          </a:p>
        </p:txBody>
      </p:sp>
    </p:spTree>
    <p:extLst>
      <p:ext uri="{BB962C8B-B14F-4D97-AF65-F5344CB8AC3E}">
        <p14:creationId xmlns:p14="http://schemas.microsoft.com/office/powerpoint/2010/main" val="377289338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BERT as Fine Tuned Model </a:t>
            </a:r>
            <a:endParaRPr lang="en-US" dirty="0"/>
          </a:p>
        </p:txBody>
      </p:sp>
      <p:sp>
        <p:nvSpPr>
          <p:cNvPr id="3" name="Content Placeholder 2"/>
          <p:cNvSpPr>
            <a:spLocks noGrp="1"/>
          </p:cNvSpPr>
          <p:nvPr>
            <p:ph idx="1"/>
          </p:nvPr>
        </p:nvSpPr>
        <p:spPr/>
        <p:txBody>
          <a:bodyPr/>
          <a:lstStyle/>
          <a:p>
            <a:r>
              <a:rPr lang="en-US" dirty="0"/>
              <a:t>A</a:t>
            </a:r>
            <a:r>
              <a:rPr lang="en-US" dirty="0" smtClean="0"/>
              <a:t>dd </a:t>
            </a:r>
            <a:r>
              <a:rPr lang="en-US" dirty="0"/>
              <a:t>a classifier (like softmax layer) after the pretrianed model, then use downstream task data to learn new layer’s weights and slightly change the </a:t>
            </a:r>
            <a:r>
              <a:rPr lang="en-US" dirty="0" smtClean="0"/>
              <a:t>weights </a:t>
            </a:r>
            <a:r>
              <a:rPr lang="en-US" dirty="0"/>
              <a:t>of pretrained model with </a:t>
            </a:r>
            <a:r>
              <a:rPr lang="en-US" dirty="0" smtClean="0"/>
              <a:t>back propagation</a:t>
            </a:r>
          </a:p>
          <a:p>
            <a:r>
              <a:rPr lang="en-US" b="1" dirty="0"/>
              <a:t>Pros:</a:t>
            </a:r>
            <a:r>
              <a:rPr lang="en-US" dirty="0"/>
              <a:t> when we don’t have enough labeled data for training, with </a:t>
            </a:r>
            <a:r>
              <a:rPr lang="en-US" dirty="0" smtClean="0"/>
              <a:t>transfer </a:t>
            </a:r>
            <a:r>
              <a:rPr lang="en-US" dirty="0"/>
              <a:t>learning by pretrained </a:t>
            </a:r>
            <a:r>
              <a:rPr lang="en-US" dirty="0" smtClean="0"/>
              <a:t>model </a:t>
            </a:r>
            <a:r>
              <a:rPr lang="en-US" dirty="0"/>
              <a:t>,we can somehow increase our training model accuracy with little training data. </a:t>
            </a:r>
            <a:endParaRPr lang="en-US" dirty="0" smtClean="0"/>
          </a:p>
          <a:p>
            <a:r>
              <a:rPr lang="en-US" b="1" dirty="0"/>
              <a:t>Cons:</a:t>
            </a:r>
            <a:r>
              <a:rPr lang="en-US" dirty="0"/>
              <a:t> </a:t>
            </a:r>
            <a:r>
              <a:rPr lang="en-US" dirty="0" smtClean="0"/>
              <a:t>Task’s </a:t>
            </a:r>
            <a:r>
              <a:rPr lang="en-US" dirty="0"/>
              <a:t>input embedding must be the same as the pretrained task, also, the task between downstream and </a:t>
            </a:r>
            <a:r>
              <a:rPr lang="en-US" dirty="0" smtClean="0"/>
              <a:t>pretrained task </a:t>
            </a:r>
            <a:r>
              <a:rPr lang="en-US" dirty="0"/>
              <a:t>can not be too different, </a:t>
            </a:r>
            <a:r>
              <a:rPr lang="en-US" dirty="0" smtClean="0"/>
              <a:t>otherwise</a:t>
            </a:r>
            <a:r>
              <a:rPr lang="en-US" dirty="0"/>
              <a:t>, what model have learned form pretrained task cannot apply to new task.</a:t>
            </a:r>
          </a:p>
        </p:txBody>
      </p:sp>
    </p:spTree>
    <p:extLst>
      <p:ext uri="{BB962C8B-B14F-4D97-AF65-F5344CB8AC3E}">
        <p14:creationId xmlns:p14="http://schemas.microsoft.com/office/powerpoint/2010/main" val="59934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jalammar.github.io/images/bert-transfer-learnin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4471"/>
            <a:ext cx="1245017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605357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BERT as Feature Extraction Model</a:t>
            </a:r>
            <a:endParaRPr lang="en-US" b="1" dirty="0"/>
          </a:p>
        </p:txBody>
      </p:sp>
      <p:sp>
        <p:nvSpPr>
          <p:cNvPr id="3" name="Content Placeholder 2"/>
          <p:cNvSpPr>
            <a:spLocks noGrp="1"/>
          </p:cNvSpPr>
          <p:nvPr>
            <p:ph idx="1"/>
          </p:nvPr>
        </p:nvSpPr>
        <p:spPr/>
        <p:txBody>
          <a:bodyPr/>
          <a:lstStyle/>
          <a:p>
            <a:r>
              <a:rPr lang="en-US" dirty="0"/>
              <a:t>Just like what </a:t>
            </a:r>
            <a:r>
              <a:rPr lang="en-US" dirty="0" smtClean="0"/>
              <a:t>W2V, </a:t>
            </a:r>
            <a:r>
              <a:rPr lang="en-US" dirty="0"/>
              <a:t>we treat the </a:t>
            </a:r>
            <a:r>
              <a:rPr lang="en-US" dirty="0" smtClean="0"/>
              <a:t>pretrained </a:t>
            </a:r>
            <a:r>
              <a:rPr lang="en-US" dirty="0"/>
              <a:t>result as a feature embedding for our downstream task, then we will use our full defined model(like: LSTM) to learn some abstract mapping knowledge from the embedding .</a:t>
            </a:r>
          </a:p>
          <a:p>
            <a:r>
              <a:rPr lang="en-US" b="1" dirty="0"/>
              <a:t>Pros:</a:t>
            </a:r>
            <a:r>
              <a:rPr lang="en-US" dirty="0"/>
              <a:t> when we get enough learning data, its ok to learn from pretrained embedding, we have little restrict from </a:t>
            </a:r>
            <a:r>
              <a:rPr lang="en-US" dirty="0" smtClean="0"/>
              <a:t>pretrained </a:t>
            </a:r>
            <a:r>
              <a:rPr lang="en-US" dirty="0"/>
              <a:t>model ,since it just act like an input for the whole model</a:t>
            </a:r>
          </a:p>
          <a:p>
            <a:r>
              <a:rPr lang="en-US" b="1" dirty="0"/>
              <a:t>Cons:</a:t>
            </a:r>
            <a:r>
              <a:rPr lang="en-US" dirty="0"/>
              <a:t> we need to learn the model from scratch, and our model can be only used for only one task</a:t>
            </a:r>
          </a:p>
          <a:p>
            <a:endParaRPr lang="en-US" dirty="0"/>
          </a:p>
        </p:txBody>
      </p:sp>
    </p:spTree>
    <p:extLst>
      <p:ext uri="{BB962C8B-B14F-4D97-AF65-F5344CB8AC3E}">
        <p14:creationId xmlns:p14="http://schemas.microsoft.com/office/powerpoint/2010/main" val="4131335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838200" y="365125"/>
            <a:ext cx="10515600" cy="662781"/>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r>
              <a:rPr lang="en-US" b="1" dirty="0" smtClean="0"/>
              <a:t>BERT: For Feature Extraction</a:t>
            </a:r>
            <a:endParaRPr lang="en-US" b="1" dirty="0"/>
          </a:p>
        </p:txBody>
      </p:sp>
      <p:pic>
        <p:nvPicPr>
          <p:cNvPr id="15362" name="Picture 2" descr="http://jalammar.github.io/images/bert-contexualized-embedding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3799" y="1277961"/>
            <a:ext cx="9459072" cy="5253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520640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http://jalammar.github.io/images/bert-feature-extraction-contextualized-embedding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704" y="181168"/>
            <a:ext cx="10534837" cy="6352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782087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BERT: </a:t>
            </a:r>
            <a:r>
              <a:rPr lang="en-US" dirty="0" err="1" smtClean="0"/>
              <a:t>Multihead</a:t>
            </a:r>
            <a:r>
              <a:rPr lang="en-US" dirty="0" smtClean="0"/>
              <a:t> Redundancy</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The following paper has description of the regularization term added to the loss for ensuring that different attention heads learn different distributions. The regularization term makes sure attention distributions are different and focus on only few items.</a:t>
            </a:r>
          </a:p>
          <a:p>
            <a:r>
              <a:rPr lang="en-US" dirty="0"/>
              <a:t>A STRUCTURED SELF-ATTENTIVE SENTENCE EMBEDDING</a:t>
            </a:r>
            <a:r>
              <a:rPr lang="en-US" dirty="0" smtClean="0"/>
              <a:t> (https://arxiv.org/pdf/1703.03130.pdf)</a:t>
            </a:r>
          </a:p>
          <a:p>
            <a:pPr marL="0" indent="0">
              <a:buNone/>
            </a:pPr>
            <a:endParaRPr lang="en-US" dirty="0" smtClean="0"/>
          </a:p>
          <a:p>
            <a:r>
              <a:rPr lang="en-US" dirty="0" smtClean="0"/>
              <a:t>The following paper has visualization examples of different BERT attention heads paying attention to different words.</a:t>
            </a:r>
          </a:p>
          <a:p>
            <a:r>
              <a:rPr lang="en-US" dirty="0"/>
              <a:t>What Does BERT Look </a:t>
            </a:r>
            <a:r>
              <a:rPr lang="en-US" dirty="0" err="1"/>
              <a:t>At?An</a:t>
            </a:r>
            <a:r>
              <a:rPr lang="en-US" dirty="0"/>
              <a:t> Analysis of BERT’s Attention </a:t>
            </a:r>
            <a:r>
              <a:rPr lang="en-US" dirty="0" smtClean="0"/>
              <a:t>(https://nlp.stanford.edu/pubs/clark2019what.pdf)</a:t>
            </a:r>
          </a:p>
          <a:p>
            <a:endParaRPr lang="en-US" dirty="0"/>
          </a:p>
        </p:txBody>
      </p:sp>
    </p:spTree>
    <p:extLst>
      <p:ext uri="{BB962C8B-B14F-4D97-AF65-F5344CB8AC3E}">
        <p14:creationId xmlns:p14="http://schemas.microsoft.com/office/powerpoint/2010/main" val="173308342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normAutofit/>
          </a:bodyPr>
          <a:lstStyle/>
          <a:p>
            <a:r>
              <a:rPr lang="en-US" sz="2200" dirty="0" smtClean="0"/>
              <a:t>Jacob Devlin, Ming-Wei Chang, Kenton Lee, Kristina </a:t>
            </a:r>
            <a:r>
              <a:rPr lang="en-US" sz="2200" dirty="0" err="1" smtClean="0"/>
              <a:t>Toutanova</a:t>
            </a:r>
            <a:r>
              <a:rPr lang="en-US" sz="2200" dirty="0" smtClean="0"/>
              <a:t>, </a:t>
            </a:r>
            <a:r>
              <a:rPr lang="en-US" sz="2200" b="1" dirty="0" smtClean="0"/>
              <a:t>BERT</a:t>
            </a:r>
            <a:r>
              <a:rPr lang="en-US" sz="2200" b="1" dirty="0"/>
              <a:t>: Pre-training of Deep Bidirectional Transformers for Language </a:t>
            </a:r>
            <a:r>
              <a:rPr lang="en-US" sz="2200" b="1" dirty="0" smtClean="0"/>
              <a:t>Understanding</a:t>
            </a:r>
            <a:r>
              <a:rPr lang="en-US" sz="2200" dirty="0" smtClean="0"/>
              <a:t>, </a:t>
            </a:r>
            <a:r>
              <a:rPr lang="en-US" sz="2200" i="1" dirty="0" smtClean="0"/>
              <a:t>Proceedings </a:t>
            </a:r>
            <a:r>
              <a:rPr lang="en-US" sz="2200" i="1" dirty="0"/>
              <a:t>of the 2019 Conference of the North American Chapter of the Association for Computational Linguistics: Human Language Technologies, Volume 1 </a:t>
            </a:r>
            <a:endParaRPr lang="en-US" sz="2200" i="1" dirty="0" smtClean="0">
              <a:hlinkClick r:id="rId2"/>
            </a:endParaRPr>
          </a:p>
          <a:p>
            <a:r>
              <a:rPr lang="en-US" sz="2000" dirty="0" smtClean="0">
                <a:hlinkClick r:id="rId2"/>
              </a:rPr>
              <a:t>http://jalammar.github.io/illustrated-bert/</a:t>
            </a:r>
            <a:endParaRPr lang="en-US" sz="2000" dirty="0" smtClean="0">
              <a:hlinkClick r:id="rId3"/>
            </a:endParaRPr>
          </a:p>
          <a:p>
            <a:r>
              <a:rPr lang="en-US" sz="2000" dirty="0" smtClean="0">
                <a:hlinkClick r:id="rId3"/>
              </a:rPr>
              <a:t>https://medium.com/dissecting-bert/dissecting-bert-part2-335ff2ed9c73</a:t>
            </a:r>
            <a:endParaRPr lang="en-US" sz="2000" dirty="0" smtClean="0">
              <a:hlinkClick r:id="rId4"/>
            </a:endParaRPr>
          </a:p>
          <a:p>
            <a:r>
              <a:rPr lang="en-US" sz="2000" dirty="0" smtClean="0">
                <a:hlinkClick r:id="rId4"/>
              </a:rPr>
              <a:t>https://billpku.github.io/2019/04/20/BERT%20in%20theory/#About-BERT-masked-LM-task</a:t>
            </a:r>
            <a:endParaRPr lang="en-US" sz="2000" dirty="0" smtClean="0"/>
          </a:p>
          <a:p>
            <a:r>
              <a:rPr lang="en-US" sz="2000" dirty="0" smtClean="0">
                <a:hlinkClick r:id="rId5"/>
              </a:rPr>
              <a:t>https://mccormickml.com/2019/05/14/BERT-word-embeddings-tutorial</a:t>
            </a:r>
            <a:r>
              <a:rPr lang="en-US" dirty="0" smtClean="0">
                <a:hlinkClick r:id="rId5"/>
              </a:rPr>
              <a:t>/</a:t>
            </a:r>
            <a:endParaRPr lang="en-US" dirty="0"/>
          </a:p>
        </p:txBody>
      </p:sp>
    </p:spTree>
    <p:extLst>
      <p:ext uri="{BB962C8B-B14F-4D97-AF65-F5344CB8AC3E}">
        <p14:creationId xmlns:p14="http://schemas.microsoft.com/office/powerpoint/2010/main" val="38359522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9977</TotalTime>
  <Words>1002</Words>
  <Application>Microsoft Office PowerPoint</Application>
  <PresentationFormat>Widescreen</PresentationFormat>
  <Paragraphs>106</Paragraphs>
  <Slides>39</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39</vt:i4>
      </vt:variant>
    </vt:vector>
  </HeadingPairs>
  <TitlesOfParts>
    <vt:vector size="49" baseType="lpstr">
      <vt:lpstr>-apple-system</vt:lpstr>
      <vt:lpstr>Arial</vt:lpstr>
      <vt:lpstr>Calibri</vt:lpstr>
      <vt:lpstr>Calibri Light</vt:lpstr>
      <vt:lpstr>charter</vt:lpstr>
      <vt:lpstr>Helvetica</vt:lpstr>
      <vt:lpstr>medium-content-sans-serif-font</vt:lpstr>
      <vt:lpstr>medium-content-serif-font</vt:lpstr>
      <vt:lpstr>Menlo</vt:lpstr>
      <vt:lpstr>Office Theme</vt:lpstr>
      <vt:lpstr>BERT (Bidirectional Transformers for Language Understanding)</vt:lpstr>
      <vt:lpstr>BERT trains language model in both directions</vt:lpstr>
      <vt:lpstr>PowerPoint Presentation</vt:lpstr>
      <vt:lpstr> BERT</vt:lpstr>
      <vt:lpstr>PowerPoint Presentation</vt:lpstr>
      <vt:lpstr>PowerPoint Presentation</vt:lpstr>
      <vt:lpstr>BERT: For Language Modeling</vt:lpstr>
      <vt:lpstr>language modeling: Use [MASK] token for 15% for text</vt:lpstr>
      <vt:lpstr>All 15% are not MASKED </vt:lpstr>
      <vt:lpstr>Why did they not use a ‘&lt;MASK&gt;’ replacement token all around?</vt:lpstr>
      <vt:lpstr>PowerPoint Presentation</vt:lpstr>
      <vt:lpstr>PowerPoint Presentation</vt:lpstr>
      <vt:lpstr>Will random tokens confuse the model?  </vt:lpstr>
      <vt:lpstr>PowerPoint Presentation</vt:lpstr>
      <vt:lpstr>language modeling: Use [MASK] token for 15% for text</vt:lpstr>
      <vt:lpstr> BERT: Sentence Classification </vt:lpstr>
      <vt:lpstr> BERT: Sentence Classification </vt:lpstr>
      <vt:lpstr> BERT: A special [CLS] token is used for classification</vt:lpstr>
      <vt:lpstr> BERT: A special [CLS] token is used for classification</vt:lpstr>
      <vt:lpstr>PowerPoint Presentation</vt:lpstr>
      <vt:lpstr>BERT: Two-sentence Tasks </vt:lpstr>
      <vt:lpstr>BERT: Two-sentence Tasks </vt:lpstr>
      <vt:lpstr>PowerPoint Presentation</vt:lpstr>
      <vt:lpstr>Segmentation Embedding </vt:lpstr>
      <vt:lpstr>Mask word embedding</vt:lpstr>
      <vt:lpstr>Out of vocabulary words </vt:lpstr>
      <vt:lpstr>BERT Tokenization: WordPiece model</vt:lpstr>
      <vt:lpstr>BERT Tokenization: WordPiece model</vt:lpstr>
      <vt:lpstr>BERT Tokenization: WordPiece model</vt:lpstr>
      <vt:lpstr>Context Based Similarity</vt:lpstr>
      <vt:lpstr>Context Based Similarity</vt:lpstr>
      <vt:lpstr>How to use pretrained model </vt:lpstr>
      <vt:lpstr>BERT as Fine Tuned Model </vt:lpstr>
      <vt:lpstr>PowerPoint Presentation</vt:lpstr>
      <vt:lpstr>BERT as Feature Extraction Model</vt:lpstr>
      <vt:lpstr>PowerPoint Presentation</vt:lpstr>
      <vt:lpstr>PowerPoint Presentation</vt:lpstr>
      <vt:lpstr>BERT: Multihead Redundancy</vt:lpstr>
      <vt:lpstr>References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BERT (Bidirectional Transformers for Language Understanding)</dc:title>
  <dc:creator>Dr Maryam Bashir</dc:creator>
  <cp:lastModifiedBy>Dr Maryam Bashir</cp:lastModifiedBy>
  <cp:revision>23</cp:revision>
  <dcterms:created xsi:type="dcterms:W3CDTF">2019-11-01T06:49:42Z</dcterms:created>
  <dcterms:modified xsi:type="dcterms:W3CDTF">2022-05-24T04:58:11Z</dcterms:modified>
</cp:coreProperties>
</file>