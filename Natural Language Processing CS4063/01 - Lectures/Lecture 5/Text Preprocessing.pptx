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9" r:id="rId1"/>
  </p:sldMasterIdLst>
  <p:notesMasterIdLst>
    <p:notesMasterId r:id="rId19"/>
  </p:notesMasterIdLst>
  <p:handoutMasterIdLst>
    <p:handoutMasterId r:id="rId20"/>
  </p:handoutMasterIdLst>
  <p:sldIdLst>
    <p:sldId id="482" r:id="rId2"/>
    <p:sldId id="432" r:id="rId3"/>
    <p:sldId id="419" r:id="rId4"/>
    <p:sldId id="481" r:id="rId5"/>
    <p:sldId id="468" r:id="rId6"/>
    <p:sldId id="469" r:id="rId7"/>
    <p:sldId id="433" r:id="rId8"/>
    <p:sldId id="470" r:id="rId9"/>
    <p:sldId id="429" r:id="rId10"/>
    <p:sldId id="430" r:id="rId11"/>
    <p:sldId id="471" r:id="rId12"/>
    <p:sldId id="431" r:id="rId13"/>
    <p:sldId id="478" r:id="rId14"/>
    <p:sldId id="434" r:id="rId15"/>
    <p:sldId id="450" r:id="rId16"/>
    <p:sldId id="462" r:id="rId17"/>
    <p:sldId id="435" r:id="rId18"/>
  </p:sldIdLst>
  <p:sldSz cx="9144000" cy="5143500" type="screen16x9"/>
  <p:notesSz cx="6845300" cy="9396413"/>
  <p:defaultTextStyle>
    <a:defPPr>
      <a:defRPr lang="en-US"/>
    </a:defPPr>
    <a:lvl1pPr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5pPr>
    <a:lvl6pPr marL="2286000" algn="l" defTabSz="457200" rtl="0" eaLnBrk="1" latinLnBrk="0" hangingPunct="1">
      <a:defRPr sz="2400" kern="1200">
        <a:solidFill>
          <a:schemeClr val="tx1"/>
        </a:solidFill>
        <a:latin typeface="Lucida Sans" charset="0"/>
        <a:ea typeface="ＭＳ Ｐゴシック" charset="0"/>
        <a:cs typeface="ＭＳ Ｐゴシック" charset="0"/>
      </a:defRPr>
    </a:lvl6pPr>
    <a:lvl7pPr marL="2743200" algn="l" defTabSz="457200" rtl="0" eaLnBrk="1" latinLnBrk="0" hangingPunct="1">
      <a:defRPr sz="2400" kern="1200">
        <a:solidFill>
          <a:schemeClr val="tx1"/>
        </a:solidFill>
        <a:latin typeface="Lucida Sans" charset="0"/>
        <a:ea typeface="ＭＳ Ｐゴシック" charset="0"/>
        <a:cs typeface="ＭＳ Ｐゴシック" charset="0"/>
      </a:defRPr>
    </a:lvl7pPr>
    <a:lvl8pPr marL="3200400" algn="l" defTabSz="457200" rtl="0" eaLnBrk="1" latinLnBrk="0" hangingPunct="1">
      <a:defRPr sz="2400" kern="1200">
        <a:solidFill>
          <a:schemeClr val="tx1"/>
        </a:solidFill>
        <a:latin typeface="Lucida Sans" charset="0"/>
        <a:ea typeface="ＭＳ Ｐゴシック" charset="0"/>
        <a:cs typeface="ＭＳ Ｐゴシック" charset="0"/>
      </a:defRPr>
    </a:lvl8pPr>
    <a:lvl9pPr marL="3657600" algn="l" defTabSz="457200" rtl="0" eaLnBrk="1" latinLnBrk="0" hangingPunct="1">
      <a:defRPr sz="2400" kern="1200">
        <a:solidFill>
          <a:schemeClr val="tx1"/>
        </a:solidFill>
        <a:latin typeface="Lucida San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959">
          <p15:clr>
            <a:srgbClr val="A4A3A4"/>
          </p15:clr>
        </p15:guide>
        <p15:guide id="2" pos="215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4001D"/>
    <a:srgbClr val="A40508"/>
    <a:srgbClr val="A50021"/>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5" autoAdjust="0"/>
    <p:restoredTop sz="81034" autoAdjust="0"/>
  </p:normalViewPr>
  <p:slideViewPr>
    <p:cSldViewPr>
      <p:cViewPr varScale="1">
        <p:scale>
          <a:sx n="124" d="100"/>
          <a:sy n="124" d="100"/>
        </p:scale>
        <p:origin x="1146" y="114"/>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0240"/>
    </p:cViewPr>
  </p:sorterViewPr>
  <p:notesViewPr>
    <p:cSldViewPr snapToGrid="0" snapToObjects="1">
      <p:cViewPr varScale="1">
        <p:scale>
          <a:sx n="62" d="100"/>
          <a:sy n="62" d="100"/>
        </p:scale>
        <p:origin x="-2224" y="-112"/>
      </p:cViewPr>
      <p:guideLst>
        <p:guide orient="horz" pos="2959"/>
        <p:guide pos="2156"/>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67038" cy="469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ahoma" charset="0"/>
                <a:ea typeface="+mn-ea"/>
                <a:cs typeface="+mn-cs"/>
              </a:defRPr>
            </a:lvl1pPr>
          </a:lstStyle>
          <a:p>
            <a:pPr>
              <a:defRPr/>
            </a:pPr>
            <a:endParaRPr lang="en-US"/>
          </a:p>
        </p:txBody>
      </p:sp>
      <p:sp>
        <p:nvSpPr>
          <p:cNvPr id="97283" name="Rectangle 3"/>
          <p:cNvSpPr>
            <a:spLocks noGrp="1" noChangeArrowheads="1"/>
          </p:cNvSpPr>
          <p:nvPr>
            <p:ph type="dt" sz="quarter" idx="1"/>
          </p:nvPr>
        </p:nvSpPr>
        <p:spPr bwMode="auto">
          <a:xfrm>
            <a:off x="3878263" y="0"/>
            <a:ext cx="2967037" cy="469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ahoma" charset="0"/>
                <a:ea typeface="+mn-ea"/>
                <a:cs typeface="+mn-cs"/>
              </a:defRPr>
            </a:lvl1pPr>
          </a:lstStyle>
          <a:p>
            <a:pPr>
              <a:defRPr/>
            </a:pPr>
            <a:endParaRPr lang="en-US"/>
          </a:p>
        </p:txBody>
      </p:sp>
      <p:sp>
        <p:nvSpPr>
          <p:cNvPr id="97284" name="Rectangle 4"/>
          <p:cNvSpPr>
            <a:spLocks noGrp="1" noChangeArrowheads="1"/>
          </p:cNvSpPr>
          <p:nvPr>
            <p:ph type="ftr" sz="quarter" idx="2"/>
          </p:nvPr>
        </p:nvSpPr>
        <p:spPr bwMode="auto">
          <a:xfrm>
            <a:off x="0" y="8926513"/>
            <a:ext cx="2967038" cy="469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ahoma" charset="0"/>
                <a:ea typeface="+mn-ea"/>
                <a:cs typeface="+mn-cs"/>
              </a:defRPr>
            </a:lvl1pPr>
          </a:lstStyle>
          <a:p>
            <a:pPr>
              <a:defRPr/>
            </a:pPr>
            <a:endParaRPr lang="en-US"/>
          </a:p>
        </p:txBody>
      </p:sp>
      <p:sp>
        <p:nvSpPr>
          <p:cNvPr id="97285" name="Rectangle 5"/>
          <p:cNvSpPr>
            <a:spLocks noGrp="1" noChangeArrowheads="1"/>
          </p:cNvSpPr>
          <p:nvPr>
            <p:ph type="sldNum" sz="quarter" idx="3"/>
          </p:nvPr>
        </p:nvSpPr>
        <p:spPr bwMode="auto">
          <a:xfrm>
            <a:off x="3878263" y="8926513"/>
            <a:ext cx="2967037" cy="469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ahoma" charset="0"/>
              </a:defRPr>
            </a:lvl1pPr>
          </a:lstStyle>
          <a:p>
            <a:fld id="{8A029216-D615-3945-A1F3-D96FC886DA62}" type="slidenum">
              <a:rPr lang="en-US"/>
              <a:pPr/>
              <a:t>‹#›</a:t>
            </a:fld>
            <a:endParaRPr lang="en-US"/>
          </a:p>
        </p:txBody>
      </p:sp>
    </p:spTree>
    <p:extLst>
      <p:ext uri="{BB962C8B-B14F-4D97-AF65-F5344CB8AC3E}">
        <p14:creationId xmlns:p14="http://schemas.microsoft.com/office/powerpoint/2010/main" val="325172630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0834" name="Rectangle 2"/>
          <p:cNvSpPr>
            <a:spLocks noGrp="1" noChangeArrowheads="1"/>
          </p:cNvSpPr>
          <p:nvPr>
            <p:ph type="hdr" sz="quarter"/>
          </p:nvPr>
        </p:nvSpPr>
        <p:spPr bwMode="auto">
          <a:xfrm>
            <a:off x="0" y="0"/>
            <a:ext cx="2967038" cy="469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cs typeface="+mn-cs"/>
              </a:defRPr>
            </a:lvl1pPr>
          </a:lstStyle>
          <a:p>
            <a:pPr>
              <a:defRPr/>
            </a:pPr>
            <a:endParaRPr lang="en-US"/>
          </a:p>
        </p:txBody>
      </p:sp>
      <p:sp>
        <p:nvSpPr>
          <p:cNvPr id="120835" name="Rectangle 3"/>
          <p:cNvSpPr>
            <a:spLocks noGrp="1" noChangeArrowheads="1"/>
          </p:cNvSpPr>
          <p:nvPr>
            <p:ph type="dt" idx="1"/>
          </p:nvPr>
        </p:nvSpPr>
        <p:spPr bwMode="auto">
          <a:xfrm>
            <a:off x="3878263" y="0"/>
            <a:ext cx="2967037" cy="469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cs typeface="+mn-cs"/>
              </a:defRPr>
            </a:lvl1pPr>
          </a:lstStyle>
          <a:p>
            <a:pPr>
              <a:defRPr/>
            </a:pPr>
            <a:endParaRPr lang="en-US"/>
          </a:p>
        </p:txBody>
      </p:sp>
      <p:sp>
        <p:nvSpPr>
          <p:cNvPr id="15364" name="Rectangle 4"/>
          <p:cNvSpPr>
            <a:spLocks noGrp="1" noRot="1" noChangeAspect="1" noChangeArrowheads="1" noTextEdit="1"/>
          </p:cNvSpPr>
          <p:nvPr>
            <p:ph type="sldImg" idx="2"/>
          </p:nvPr>
        </p:nvSpPr>
        <p:spPr bwMode="auto">
          <a:xfrm>
            <a:off x="290513" y="704850"/>
            <a:ext cx="6264275" cy="3524250"/>
          </a:xfrm>
          <a:prstGeom prst="rect">
            <a:avLst/>
          </a:prstGeom>
          <a:noFill/>
          <a:ln w="9525">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120837" name="Rectangle 5"/>
          <p:cNvSpPr>
            <a:spLocks noGrp="1" noChangeArrowheads="1"/>
          </p:cNvSpPr>
          <p:nvPr>
            <p:ph type="body" sz="quarter" idx="3"/>
          </p:nvPr>
        </p:nvSpPr>
        <p:spPr bwMode="auto">
          <a:xfrm>
            <a:off x="912813" y="4464050"/>
            <a:ext cx="5019675" cy="42275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0838" name="Rectangle 6"/>
          <p:cNvSpPr>
            <a:spLocks noGrp="1" noChangeArrowheads="1"/>
          </p:cNvSpPr>
          <p:nvPr>
            <p:ph type="ftr" sz="quarter" idx="4"/>
          </p:nvPr>
        </p:nvSpPr>
        <p:spPr bwMode="auto">
          <a:xfrm>
            <a:off x="0" y="8926513"/>
            <a:ext cx="2967038" cy="469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cs typeface="+mn-cs"/>
              </a:defRPr>
            </a:lvl1pPr>
          </a:lstStyle>
          <a:p>
            <a:pPr>
              <a:defRPr/>
            </a:pPr>
            <a:endParaRPr lang="en-US"/>
          </a:p>
        </p:txBody>
      </p:sp>
      <p:sp>
        <p:nvSpPr>
          <p:cNvPr id="120839" name="Rectangle 7"/>
          <p:cNvSpPr>
            <a:spLocks noGrp="1" noChangeArrowheads="1"/>
          </p:cNvSpPr>
          <p:nvPr>
            <p:ph type="sldNum" sz="quarter" idx="5"/>
          </p:nvPr>
        </p:nvSpPr>
        <p:spPr bwMode="auto">
          <a:xfrm>
            <a:off x="3878263" y="8926513"/>
            <a:ext cx="2967037" cy="469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3EB9031F-EB71-7642-8F3C-6FDC1408CB92}" type="slidenum">
              <a:rPr lang="en-US"/>
              <a:pPr/>
              <a:t>‹#›</a:t>
            </a:fld>
            <a:endParaRPr lang="en-US"/>
          </a:p>
        </p:txBody>
      </p:sp>
    </p:spTree>
    <p:extLst>
      <p:ext uri="{BB962C8B-B14F-4D97-AF65-F5344CB8AC3E}">
        <p14:creationId xmlns:p14="http://schemas.microsoft.com/office/powerpoint/2010/main" val="378627321"/>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kumimoji="1" sz="1200" kern="1200">
        <a:solidFill>
          <a:schemeClr val="tx1"/>
        </a:solidFill>
        <a:latin typeface="Arial" pitchFamily="-65" charset="0"/>
        <a:ea typeface="ＭＳ Ｐゴシック" pitchFamily="-65" charset="-128"/>
        <a:cs typeface="ＭＳ Ｐゴシック" pitchFamily="-65" charset="-128"/>
      </a:defRPr>
    </a:lvl1pPr>
    <a:lvl2pPr marL="457200" algn="l" rtl="0" eaLnBrk="0" fontAlgn="base" hangingPunct="0">
      <a:spcBef>
        <a:spcPct val="30000"/>
      </a:spcBef>
      <a:spcAft>
        <a:spcPct val="0"/>
      </a:spcAft>
      <a:defRPr kumimoji="1" sz="1200" kern="1200">
        <a:solidFill>
          <a:schemeClr val="tx1"/>
        </a:solidFill>
        <a:latin typeface="Arial" pitchFamily="-65" charset="0"/>
        <a:ea typeface="ＭＳ Ｐゴシック" pitchFamily="-65" charset="-128"/>
        <a:cs typeface="+mn-cs"/>
      </a:defRPr>
    </a:lvl2pPr>
    <a:lvl3pPr marL="914400" algn="l" rtl="0" eaLnBrk="0" fontAlgn="base" hangingPunct="0">
      <a:spcBef>
        <a:spcPct val="30000"/>
      </a:spcBef>
      <a:spcAft>
        <a:spcPct val="0"/>
      </a:spcAft>
      <a:defRPr kumimoji="1" sz="1200" kern="1200">
        <a:solidFill>
          <a:schemeClr val="tx1"/>
        </a:solidFill>
        <a:latin typeface="Arial" pitchFamily="-65" charset="0"/>
        <a:ea typeface="ＭＳ Ｐゴシック" pitchFamily="-65" charset="-128"/>
        <a:cs typeface="+mn-cs"/>
      </a:defRPr>
    </a:lvl3pPr>
    <a:lvl4pPr marL="1371600" algn="l" rtl="0" eaLnBrk="0" fontAlgn="base" hangingPunct="0">
      <a:spcBef>
        <a:spcPct val="30000"/>
      </a:spcBef>
      <a:spcAft>
        <a:spcPct val="0"/>
      </a:spcAft>
      <a:defRPr kumimoji="1" sz="1200" kern="1200">
        <a:solidFill>
          <a:schemeClr val="tx1"/>
        </a:solidFill>
        <a:latin typeface="Arial" pitchFamily="-65" charset="0"/>
        <a:ea typeface="ＭＳ Ｐゴシック" pitchFamily="-65" charset="-128"/>
        <a:cs typeface="+mn-cs"/>
      </a:defRPr>
    </a:lvl4pPr>
    <a:lvl5pPr marL="1828800" algn="l" rtl="0" eaLnBrk="0" fontAlgn="base" hangingPunct="0">
      <a:spcBef>
        <a:spcPct val="30000"/>
      </a:spcBef>
      <a:spcAft>
        <a:spcPct val="0"/>
      </a:spcAft>
      <a:defRPr kumimoji="1" sz="1200" kern="1200">
        <a:solidFill>
          <a:schemeClr val="tx1"/>
        </a:solidFill>
        <a:latin typeface="Arial" pitchFamily="-65" charset="0"/>
        <a:ea typeface="ＭＳ Ｐゴシック" pitchFamily="-65"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C01B9DA1-D091-A64A-A0FC-8E8CCCAFB71C}" type="slidenum">
              <a:rPr lang="en-US"/>
              <a:pPr/>
              <a:t>2</a:t>
            </a:fld>
            <a:endParaRPr lang="en-US"/>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r>
              <a:rPr lang="en-US" b="0" i="0" dirty="0">
                <a:solidFill>
                  <a:srgbClr val="374151"/>
                </a:solidFill>
                <a:effectLst/>
                <a:latin typeface="Söhne"/>
              </a:rPr>
              <a:t>Morphology is a branch of linguistics that studies the structure and form of words in a language. It deals with the rules and processes that determine the way words are built up from smaller units of meaning, known as morphemes.</a:t>
            </a:r>
          </a:p>
          <a:p>
            <a:endParaRPr lang="en-US" b="0" i="0" dirty="0">
              <a:solidFill>
                <a:srgbClr val="374151"/>
              </a:solidFill>
              <a:effectLst/>
              <a:latin typeface="Söhne"/>
            </a:endParaRPr>
          </a:p>
          <a:p>
            <a:r>
              <a:rPr lang="en-US" b="0" i="0" dirty="0">
                <a:solidFill>
                  <a:srgbClr val="374151"/>
                </a:solidFill>
                <a:effectLst/>
                <a:latin typeface="Söhne"/>
              </a:rPr>
              <a:t>Parsing involves analyzing a sentence's syntax to determine its grammatical structure and identify the relationships between the words in the sentence. It breaks down the sentence into constituent parts, such as nouns, verbs, adjectives, and adverbs, and assigns each word a label indicating its role in the sentence. Parsing is used for tasks such as language generation, information extraction, and question answering.</a:t>
            </a:r>
            <a:endParaRPr lang="en-US" dirty="0"/>
          </a:p>
        </p:txBody>
      </p:sp>
    </p:spTree>
    <p:extLst>
      <p:ext uri="{BB962C8B-B14F-4D97-AF65-F5344CB8AC3E}">
        <p14:creationId xmlns:p14="http://schemas.microsoft.com/office/powerpoint/2010/main" val="15793954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AA652608-6990-6E43-AA5F-49A5045801F2}" type="slidenum">
              <a:rPr lang="en-US"/>
              <a:pPr/>
              <a:t>3</a:t>
            </a:fld>
            <a:endParaRPr lang="en-US"/>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p:spPr>
        <p:txBody>
          <a:bodyPr/>
          <a:lstStyle/>
          <a:p>
            <a:r>
              <a:rPr lang="en-US" dirty="0"/>
              <a:t>Bound morphemes are further divided into </a:t>
            </a:r>
          </a:p>
          <a:p>
            <a:r>
              <a:rPr lang="en-US" b="1" dirty="0"/>
              <a:t>Derivational</a:t>
            </a:r>
            <a:r>
              <a:rPr lang="en-US" dirty="0"/>
              <a:t>: when they use with a free morpheme </a:t>
            </a:r>
            <a:r>
              <a:rPr lang="en-US" b="1" dirty="0"/>
              <a:t>they change its meaning</a:t>
            </a:r>
            <a:r>
              <a:rPr lang="en-US" dirty="0"/>
              <a:t>, </a:t>
            </a:r>
            <a:r>
              <a:rPr lang="en-US" u="sng" dirty="0"/>
              <a:t>un</a:t>
            </a:r>
            <a:r>
              <a:rPr lang="en-US" u="none" dirty="0"/>
              <a:t>kind, immature, </a:t>
            </a:r>
          </a:p>
          <a:p>
            <a:r>
              <a:rPr lang="en-US" b="1" dirty="0"/>
              <a:t>Inflectional</a:t>
            </a:r>
            <a:r>
              <a:rPr lang="en-US" dirty="0"/>
              <a:t>: </a:t>
            </a:r>
            <a:r>
              <a:rPr lang="en-US" b="0" i="1" dirty="0"/>
              <a:t>depicts plurality, tense change </a:t>
            </a:r>
            <a:r>
              <a:rPr lang="en-US" dirty="0" err="1"/>
              <a:t>etc</a:t>
            </a:r>
            <a:r>
              <a:rPr lang="en-US" dirty="0"/>
              <a:t> cat</a:t>
            </a:r>
            <a:r>
              <a:rPr lang="en-US" u="sng" dirty="0"/>
              <a:t>s, </a:t>
            </a:r>
            <a:r>
              <a:rPr lang="en-US" u="none" dirty="0"/>
              <a:t>stopp</a:t>
            </a:r>
            <a:r>
              <a:rPr lang="en-US" u="sng" dirty="0"/>
              <a:t>ed</a:t>
            </a:r>
            <a:r>
              <a:rPr lang="en-US" u="none" dirty="0"/>
              <a:t> , runn</a:t>
            </a:r>
            <a:r>
              <a:rPr lang="en-US" u="sng" dirty="0"/>
              <a:t>ing, ran is also an inflected form</a:t>
            </a:r>
          </a:p>
          <a:p>
            <a:r>
              <a:rPr lang="en-US" u="sng" dirty="0"/>
              <a:t>Inactive, incorrect, imbalance</a:t>
            </a:r>
          </a:p>
          <a:p>
            <a:endParaRPr lang="en-US" u="sng" dirty="0"/>
          </a:p>
          <a:p>
            <a:r>
              <a:rPr lang="en-US" u="none" dirty="0"/>
              <a:t>Urdu and Arabic are morphologically very rich languages.</a:t>
            </a:r>
          </a:p>
        </p:txBody>
      </p:sp>
    </p:spTree>
    <p:extLst>
      <p:ext uri="{BB962C8B-B14F-4D97-AF65-F5344CB8AC3E}">
        <p14:creationId xmlns:p14="http://schemas.microsoft.com/office/powerpoint/2010/main" val="12023762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and vocab are same</a:t>
            </a:r>
          </a:p>
          <a:p>
            <a:r>
              <a:rPr lang="en-US" dirty="0"/>
              <a:t>Token is num of words in the sentence</a:t>
            </a:r>
          </a:p>
          <a:p>
            <a:r>
              <a:rPr lang="en-US" b="1" dirty="0"/>
              <a:t>On, the are being repeated so not included in the vocab</a:t>
            </a:r>
          </a:p>
          <a:p>
            <a:r>
              <a:rPr lang="en-US" b="0" dirty="0"/>
              <a:t>If u want to normalize the terms , emphasis will be useful to retain. So depends if u want to collapse them as one term or tret them as another.</a:t>
            </a:r>
          </a:p>
          <a:p>
            <a:endParaRPr lang="aa-ET" dirty="0"/>
          </a:p>
        </p:txBody>
      </p:sp>
      <p:sp>
        <p:nvSpPr>
          <p:cNvPr id="4" name="Slide Number Placeholder 3"/>
          <p:cNvSpPr>
            <a:spLocks noGrp="1"/>
          </p:cNvSpPr>
          <p:nvPr>
            <p:ph type="sldNum" sz="quarter" idx="5"/>
          </p:nvPr>
        </p:nvSpPr>
        <p:spPr/>
        <p:txBody>
          <a:bodyPr/>
          <a:lstStyle/>
          <a:p>
            <a:fld id="{3EB9031F-EB71-7642-8F3C-6FDC1408CB92}" type="slidenum">
              <a:rPr lang="en-US" smtClean="0"/>
              <a:pPr/>
              <a:t>5</a:t>
            </a:fld>
            <a:endParaRPr lang="en-US"/>
          </a:p>
        </p:txBody>
      </p:sp>
    </p:spTree>
    <p:extLst>
      <p:ext uri="{BB962C8B-B14F-4D97-AF65-F5344CB8AC3E}">
        <p14:creationId xmlns:p14="http://schemas.microsoft.com/office/powerpoint/2010/main" val="17099777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AA652608-6990-6E43-AA5F-49A5045801F2}" type="slidenum">
              <a:rPr lang="en-US"/>
              <a:pPr/>
              <a:t>6</a:t>
            </a:fld>
            <a:endParaRPr lang="en-US"/>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p:spPr>
        <p:txBody>
          <a:bodyPr/>
          <a:lstStyle/>
          <a:p>
            <a:r>
              <a:rPr lang="en-US" dirty="0"/>
              <a:t>Stem? Mean bearing word</a:t>
            </a:r>
          </a:p>
        </p:txBody>
      </p:sp>
    </p:spTree>
    <p:extLst>
      <p:ext uri="{BB962C8B-B14F-4D97-AF65-F5344CB8AC3E}">
        <p14:creationId xmlns:p14="http://schemas.microsoft.com/office/powerpoint/2010/main" val="25294676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AA652608-6990-6E43-AA5F-49A5045801F2}" type="slidenum">
              <a:rPr lang="en-US"/>
              <a:pPr/>
              <a:t>8</a:t>
            </a:fld>
            <a:endParaRPr lang="en-US"/>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p:spPr>
        <p:txBody>
          <a:bodyPr/>
          <a:lstStyle/>
          <a:p>
            <a:r>
              <a:rPr lang="en-US" b="0" i="0" dirty="0">
                <a:solidFill>
                  <a:srgbClr val="374151"/>
                </a:solidFill>
                <a:effectLst/>
                <a:latin typeface="Söhne"/>
              </a:rPr>
              <a:t>"Inflected" indicates changes made to a word to express grammatical features such as tense, number, gender, or case. The "surface form" refers to how the word looks or sounds in its written or spoken manifestation.</a:t>
            </a:r>
            <a:endParaRPr lang="en-US" dirty="0"/>
          </a:p>
          <a:p>
            <a:endParaRPr lang="en-US" dirty="0"/>
          </a:p>
          <a:p>
            <a:r>
              <a:rPr lang="en-US" dirty="0" err="1"/>
              <a:t>Lemmatiation</a:t>
            </a:r>
            <a:r>
              <a:rPr lang="en-US" dirty="0"/>
              <a:t> is done by morphological parsing</a:t>
            </a:r>
          </a:p>
          <a:p>
            <a:r>
              <a:rPr lang="en-US" dirty="0"/>
              <a:t>Stemming is a simplified form of lemmatization, reduces to stems and chops off affixes</a:t>
            </a:r>
          </a:p>
        </p:txBody>
      </p:sp>
    </p:spTree>
    <p:extLst>
      <p:ext uri="{BB962C8B-B14F-4D97-AF65-F5344CB8AC3E}">
        <p14:creationId xmlns:p14="http://schemas.microsoft.com/office/powerpoint/2010/main" val="33239561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The idea here is to allow for variations in capitalization and pluralization while searching for related terms. </a:t>
            </a:r>
          </a:p>
          <a:p>
            <a:r>
              <a:rPr lang="en-US" dirty="0" err="1"/>
              <a:t>Lemmatiation</a:t>
            </a:r>
            <a:r>
              <a:rPr lang="en-US" dirty="0"/>
              <a:t> is done by morphological parsing</a:t>
            </a:r>
          </a:p>
          <a:p>
            <a:r>
              <a:rPr lang="en-US" dirty="0"/>
              <a:t>Stemming is a simplified form of lemmatization, reduces to stems and chops off affixes</a:t>
            </a:r>
          </a:p>
          <a:p>
            <a:endParaRPr lang="aa-ET" dirty="0"/>
          </a:p>
        </p:txBody>
      </p:sp>
      <p:sp>
        <p:nvSpPr>
          <p:cNvPr id="4" name="Slide Number Placeholder 3"/>
          <p:cNvSpPr>
            <a:spLocks noGrp="1"/>
          </p:cNvSpPr>
          <p:nvPr>
            <p:ph type="sldNum" sz="quarter" idx="5"/>
          </p:nvPr>
        </p:nvSpPr>
        <p:spPr/>
        <p:txBody>
          <a:bodyPr/>
          <a:lstStyle/>
          <a:p>
            <a:fld id="{3EB9031F-EB71-7642-8F3C-6FDC1408CB92}" type="slidenum">
              <a:rPr lang="en-US" smtClean="0"/>
              <a:pPr/>
              <a:t>9</a:t>
            </a:fld>
            <a:endParaRPr lang="en-US"/>
          </a:p>
        </p:txBody>
      </p:sp>
    </p:spTree>
    <p:extLst>
      <p:ext uri="{BB962C8B-B14F-4D97-AF65-F5344CB8AC3E}">
        <p14:creationId xmlns:p14="http://schemas.microsoft.com/office/powerpoint/2010/main" val="20354105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Case folding, also known as case normalization, is a preprocessing step in NLP that involves converting all the text data to a standard case (usually lowercase). This step is used to ensure that words are treated equally, regardless of their capitalization.</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Machine translation</a:t>
            </a:r>
          </a:p>
          <a:p>
            <a:endParaRPr lang="aa-ET" dirty="0"/>
          </a:p>
        </p:txBody>
      </p:sp>
      <p:sp>
        <p:nvSpPr>
          <p:cNvPr id="4" name="Slide Number Placeholder 3"/>
          <p:cNvSpPr>
            <a:spLocks noGrp="1"/>
          </p:cNvSpPr>
          <p:nvPr>
            <p:ph type="sldNum" sz="quarter" idx="5"/>
          </p:nvPr>
        </p:nvSpPr>
        <p:spPr/>
        <p:txBody>
          <a:bodyPr/>
          <a:lstStyle/>
          <a:p>
            <a:fld id="{3EB9031F-EB71-7642-8F3C-6FDC1408CB92}" type="slidenum">
              <a:rPr lang="en-US" smtClean="0"/>
              <a:pPr/>
              <a:t>10</a:t>
            </a:fld>
            <a:endParaRPr lang="en-US"/>
          </a:p>
        </p:txBody>
      </p:sp>
    </p:spTree>
    <p:extLst>
      <p:ext uri="{BB962C8B-B14F-4D97-AF65-F5344CB8AC3E}">
        <p14:creationId xmlns:p14="http://schemas.microsoft.com/office/powerpoint/2010/main" val="5673361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AA652608-6990-6E43-AA5F-49A5045801F2}" type="slidenum">
              <a:rPr lang="en-US"/>
              <a:pPr/>
              <a:t>11</a:t>
            </a:fld>
            <a:endParaRPr lang="en-US"/>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p:spPr>
        <p:txBody>
          <a:bodyPr/>
          <a:lstStyle/>
          <a:p>
            <a:pPr algn="l">
              <a:buFont typeface="+mj-lt"/>
              <a:buAutoNum type="arabicPeriod"/>
            </a:pPr>
            <a:endParaRPr lang="en-US" b="0" i="0" dirty="0">
              <a:solidFill>
                <a:srgbClr val="374151"/>
              </a:solidFill>
              <a:effectLst/>
              <a:latin typeface="Söhne"/>
            </a:endParaRPr>
          </a:p>
          <a:p>
            <a:pPr marL="742950" lvl="1" indent="-285750" algn="l">
              <a:buFont typeface="+mj-lt"/>
              <a:buAutoNum type="arabicPeriod"/>
            </a:pPr>
            <a:r>
              <a:rPr lang="en-US" b="0" i="0" dirty="0">
                <a:solidFill>
                  <a:srgbClr val="374151"/>
                </a:solidFill>
                <a:effectLst/>
                <a:latin typeface="Söhne"/>
              </a:rPr>
              <a:t>Word: "children"</a:t>
            </a:r>
          </a:p>
          <a:p>
            <a:pPr marL="742950" lvl="1" indent="-285750" algn="l">
              <a:buFont typeface="+mj-lt"/>
              <a:buAutoNum type="arabicPeriod"/>
            </a:pPr>
            <a:r>
              <a:rPr lang="en-US" b="0" i="0" dirty="0">
                <a:solidFill>
                  <a:srgbClr val="374151"/>
                </a:solidFill>
                <a:effectLst/>
                <a:latin typeface="Söhne"/>
              </a:rPr>
              <a:t>Stemming: "children" (Stemmer may not handle irregular plurals correctly)</a:t>
            </a:r>
          </a:p>
          <a:p>
            <a:pPr marL="742950" lvl="1" indent="-285750" algn="l">
              <a:buFont typeface="+mj-lt"/>
              <a:buAutoNum type="arabicPeriod"/>
            </a:pPr>
            <a:r>
              <a:rPr lang="en-US" b="0" i="0" dirty="0">
                <a:solidFill>
                  <a:srgbClr val="374151"/>
                </a:solidFill>
                <a:effectLst/>
                <a:latin typeface="Söhne"/>
              </a:rPr>
              <a:t>Lemmatization: "child" (Lemmatization correctly reduces to the base form)</a:t>
            </a:r>
          </a:p>
          <a:p>
            <a:pPr algn="l">
              <a:buFont typeface="+mj-lt"/>
              <a:buAutoNum type="arabicPeriod"/>
            </a:pPr>
            <a:r>
              <a:rPr lang="en-US" b="1" i="0" dirty="0">
                <a:solidFill>
                  <a:srgbClr val="374151"/>
                </a:solidFill>
                <a:effectLst/>
                <a:latin typeface="Söhne"/>
              </a:rPr>
              <a:t>Irregular Verbs:</a:t>
            </a:r>
            <a:endParaRPr lang="en-US" b="0" i="0" dirty="0">
              <a:solidFill>
                <a:srgbClr val="374151"/>
              </a:solidFill>
              <a:effectLst/>
              <a:latin typeface="Söhne"/>
            </a:endParaRPr>
          </a:p>
          <a:p>
            <a:pPr marL="742950" lvl="1" indent="-285750" algn="l">
              <a:buFont typeface="+mj-lt"/>
              <a:buAutoNum type="arabicPeriod"/>
            </a:pPr>
            <a:r>
              <a:rPr lang="en-US" b="0" i="0" dirty="0">
                <a:solidFill>
                  <a:srgbClr val="374151"/>
                </a:solidFill>
                <a:effectLst/>
                <a:latin typeface="Söhne"/>
              </a:rPr>
              <a:t>Word: "went"</a:t>
            </a:r>
          </a:p>
          <a:p>
            <a:pPr marL="742950" lvl="1" indent="-285750" algn="l">
              <a:buFont typeface="+mj-lt"/>
              <a:buAutoNum type="arabicPeriod"/>
            </a:pPr>
            <a:r>
              <a:rPr lang="en-US" b="0" i="0" dirty="0">
                <a:solidFill>
                  <a:srgbClr val="374151"/>
                </a:solidFill>
                <a:effectLst/>
                <a:latin typeface="Söhne"/>
              </a:rPr>
              <a:t>Stemming: "went" (Stemmer may not recognize irregular verb forms)</a:t>
            </a:r>
          </a:p>
          <a:p>
            <a:pPr marL="742950" lvl="1" indent="-285750" algn="l">
              <a:buFont typeface="+mj-lt"/>
              <a:buAutoNum type="arabicPeriod"/>
            </a:pPr>
            <a:r>
              <a:rPr lang="en-US" b="0" i="0" dirty="0">
                <a:solidFill>
                  <a:srgbClr val="374151"/>
                </a:solidFill>
                <a:effectLst/>
                <a:latin typeface="Söhne"/>
              </a:rPr>
              <a:t>Lemmatization: "go" (Lemmatization correctly reduces to the base form)</a:t>
            </a:r>
          </a:p>
          <a:p>
            <a:pPr marL="742950" lvl="1" indent="-285750" algn="l">
              <a:buFont typeface="+mj-lt"/>
              <a:buAutoNum type="arabicPeriod"/>
            </a:pPr>
            <a:endParaRPr lang="en-US" b="0" i="0" dirty="0">
              <a:solidFill>
                <a:srgbClr val="374151"/>
              </a:solidFill>
              <a:effectLst/>
              <a:latin typeface="Söhne"/>
            </a:endParaRPr>
          </a:p>
          <a:p>
            <a:pPr marL="742950" lvl="1" indent="-285750" algn="l">
              <a:buFont typeface="+mj-lt"/>
              <a:buAutoNum type="arabicPeriod"/>
            </a:pPr>
            <a:r>
              <a:rPr lang="en-US" b="0" i="0" dirty="0">
                <a:solidFill>
                  <a:srgbClr val="374151"/>
                </a:solidFill>
                <a:effectLst/>
                <a:latin typeface="Söhne"/>
              </a:rPr>
              <a:t>Word: better</a:t>
            </a:r>
          </a:p>
          <a:p>
            <a:pPr marL="742950" lvl="1" indent="-285750" algn="l">
              <a:buFont typeface="+mj-lt"/>
              <a:buAutoNum type="arabicPeriod"/>
            </a:pPr>
            <a:r>
              <a:rPr lang="en-US" b="0" i="0" dirty="0">
                <a:solidFill>
                  <a:srgbClr val="374151"/>
                </a:solidFill>
                <a:effectLst/>
                <a:latin typeface="Söhne"/>
              </a:rPr>
              <a:t>Stemmer: better</a:t>
            </a:r>
          </a:p>
          <a:p>
            <a:pPr marL="742950" lvl="1" indent="-285750" algn="l">
              <a:buFont typeface="+mj-lt"/>
              <a:buAutoNum type="arabicPeriod"/>
            </a:pPr>
            <a:r>
              <a:rPr lang="en-US" b="0" i="0" dirty="0">
                <a:solidFill>
                  <a:srgbClr val="374151"/>
                </a:solidFill>
                <a:effectLst/>
                <a:latin typeface="Söhne"/>
              </a:rPr>
              <a:t>Lemma: good</a:t>
            </a:r>
          </a:p>
        </p:txBody>
      </p:sp>
    </p:spTree>
    <p:extLst>
      <p:ext uri="{BB962C8B-B14F-4D97-AF65-F5344CB8AC3E}">
        <p14:creationId xmlns:p14="http://schemas.microsoft.com/office/powerpoint/2010/main" val="19945597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process of simplifying or normalizing words by transforming them into their base or root form.</a:t>
            </a:r>
          </a:p>
          <a:p>
            <a:endParaRPr lang="en-US" b="0" i="0" dirty="0">
              <a:solidFill>
                <a:srgbClr val="374151"/>
              </a:solidFill>
              <a:effectLst/>
              <a:latin typeface="Söhne"/>
            </a:endParaRPr>
          </a:p>
          <a:p>
            <a:r>
              <a:rPr lang="en-US" b="0" i="0" dirty="0">
                <a:solidFill>
                  <a:srgbClr val="374151"/>
                </a:solidFill>
                <a:effectLst/>
                <a:latin typeface="Söhne"/>
              </a:rPr>
              <a:t>I am happy (first form)</a:t>
            </a:r>
          </a:p>
          <a:p>
            <a:r>
              <a:rPr lang="en-US" b="0" i="0" dirty="0">
                <a:solidFill>
                  <a:srgbClr val="374151"/>
                </a:solidFill>
                <a:effectLst/>
                <a:latin typeface="Söhne"/>
              </a:rPr>
              <a:t>You are smart (2nd form)</a:t>
            </a:r>
          </a:p>
          <a:p>
            <a:r>
              <a:rPr lang="en-US" b="0" i="0" dirty="0">
                <a:solidFill>
                  <a:srgbClr val="374151"/>
                </a:solidFill>
                <a:effectLst/>
                <a:latin typeface="Söhne"/>
              </a:rPr>
              <a:t>She is creative (third form) and all these inflected forms belong to base form to be</a:t>
            </a:r>
            <a:endParaRPr lang="aa-ET" dirty="0"/>
          </a:p>
        </p:txBody>
      </p:sp>
      <p:sp>
        <p:nvSpPr>
          <p:cNvPr id="4" name="Slide Number Placeholder 3"/>
          <p:cNvSpPr>
            <a:spLocks noGrp="1"/>
          </p:cNvSpPr>
          <p:nvPr>
            <p:ph type="sldNum" sz="quarter" idx="5"/>
          </p:nvPr>
        </p:nvSpPr>
        <p:spPr/>
        <p:txBody>
          <a:bodyPr/>
          <a:lstStyle/>
          <a:p>
            <a:fld id="{3EB9031F-EB71-7642-8F3C-6FDC1408CB92}" type="slidenum">
              <a:rPr lang="en-US" smtClean="0"/>
              <a:pPr/>
              <a:t>12</a:t>
            </a:fld>
            <a:endParaRPr lang="en-US"/>
          </a:p>
        </p:txBody>
      </p:sp>
    </p:spTree>
    <p:extLst>
      <p:ext uri="{BB962C8B-B14F-4D97-AF65-F5344CB8AC3E}">
        <p14:creationId xmlns:p14="http://schemas.microsoft.com/office/powerpoint/2010/main" val="29328730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0" i="0" dirty="0">
                <a:solidFill>
                  <a:srgbClr val="374151"/>
                </a:solidFill>
                <a:effectLst/>
                <a:latin typeface="Söhne"/>
              </a:rPr>
              <a:t>Removing plurals and -'s</a:t>
            </a:r>
          </a:p>
          <a:p>
            <a:pPr algn="l">
              <a:buFont typeface="+mj-lt"/>
              <a:buAutoNum type="arabicPeriod"/>
            </a:pPr>
            <a:r>
              <a:rPr lang="en-US" b="0" i="0" dirty="0">
                <a:solidFill>
                  <a:srgbClr val="374151"/>
                </a:solidFill>
                <a:effectLst/>
                <a:latin typeface="Söhne"/>
              </a:rPr>
              <a:t>Removing -ed and -</a:t>
            </a:r>
            <a:r>
              <a:rPr lang="en-US" b="0" i="0" dirty="0" err="1">
                <a:solidFill>
                  <a:srgbClr val="374151"/>
                </a:solidFill>
                <a:effectLst/>
                <a:latin typeface="Söhne"/>
              </a:rPr>
              <a:t>ing</a:t>
            </a:r>
            <a:endParaRPr lang="en-US" b="0" i="0" dirty="0">
              <a:solidFill>
                <a:srgbClr val="374151"/>
              </a:solidFill>
              <a:effectLst/>
              <a:latin typeface="Söhne"/>
            </a:endParaRPr>
          </a:p>
          <a:p>
            <a:pPr algn="l">
              <a:buFont typeface="+mj-lt"/>
              <a:buAutoNum type="arabicPeriod"/>
            </a:pPr>
            <a:r>
              <a:rPr lang="en-US" b="0" i="0" dirty="0">
                <a:solidFill>
                  <a:srgbClr val="374151"/>
                </a:solidFill>
                <a:effectLst/>
                <a:latin typeface="Söhne"/>
              </a:rPr>
              <a:t>Removing adjectival and adverbial suffixes: al", "-</a:t>
            </a:r>
            <a:r>
              <a:rPr lang="en-US" b="0" i="0" dirty="0" err="1">
                <a:solidFill>
                  <a:srgbClr val="374151"/>
                </a:solidFill>
                <a:effectLst/>
                <a:latin typeface="Söhne"/>
              </a:rPr>
              <a:t>ful</a:t>
            </a:r>
            <a:r>
              <a:rPr lang="en-US" b="0" i="0" dirty="0">
                <a:solidFill>
                  <a:srgbClr val="374151"/>
                </a:solidFill>
                <a:effectLst/>
                <a:latin typeface="Söhne"/>
              </a:rPr>
              <a:t>", and "-</a:t>
            </a:r>
            <a:r>
              <a:rPr lang="en-US" b="0" i="0" dirty="0" err="1">
                <a:solidFill>
                  <a:srgbClr val="374151"/>
                </a:solidFill>
                <a:effectLst/>
                <a:latin typeface="Söhne"/>
              </a:rPr>
              <a:t>ous</a:t>
            </a:r>
            <a:r>
              <a:rPr lang="en-US" b="0" i="0" dirty="0">
                <a:solidFill>
                  <a:srgbClr val="374151"/>
                </a:solidFill>
                <a:effectLst/>
                <a:latin typeface="Söhne"/>
              </a:rPr>
              <a:t> </a:t>
            </a:r>
          </a:p>
          <a:p>
            <a:pPr algn="l">
              <a:buFont typeface="+mj-lt"/>
              <a:buAutoNum type="arabicPeriod"/>
            </a:pPr>
            <a:r>
              <a:rPr lang="en-US" b="0" i="0" dirty="0">
                <a:solidFill>
                  <a:srgbClr val="374151"/>
                </a:solidFill>
                <a:effectLst/>
                <a:latin typeface="Söhne"/>
              </a:rPr>
              <a:t>Removing the -</a:t>
            </a:r>
            <a:r>
              <a:rPr lang="en-US" b="0" i="0" dirty="0" err="1">
                <a:solidFill>
                  <a:srgbClr val="374151"/>
                </a:solidFill>
                <a:effectLst/>
                <a:latin typeface="Söhne"/>
              </a:rPr>
              <a:t>ly</a:t>
            </a:r>
            <a:r>
              <a:rPr lang="en-US" b="0" i="0" dirty="0">
                <a:solidFill>
                  <a:srgbClr val="374151"/>
                </a:solidFill>
                <a:effectLst/>
                <a:latin typeface="Söhne"/>
              </a:rPr>
              <a:t> suffix</a:t>
            </a:r>
          </a:p>
          <a:p>
            <a:pPr algn="l">
              <a:buFont typeface="+mj-lt"/>
              <a:buAutoNum type="arabicPeriod"/>
            </a:pPr>
            <a:r>
              <a:rPr lang="en-US" b="0" i="0" dirty="0">
                <a:solidFill>
                  <a:srgbClr val="374151"/>
                </a:solidFill>
                <a:effectLst/>
                <a:latin typeface="Söhne"/>
              </a:rPr>
              <a:t>Removing the remaining suffixes</a:t>
            </a:r>
          </a:p>
          <a:p>
            <a:endParaRPr lang="aa-ET" dirty="0"/>
          </a:p>
        </p:txBody>
      </p:sp>
      <p:sp>
        <p:nvSpPr>
          <p:cNvPr id="4" name="Slide Number Placeholder 3"/>
          <p:cNvSpPr>
            <a:spLocks noGrp="1"/>
          </p:cNvSpPr>
          <p:nvPr>
            <p:ph type="sldNum" sz="quarter" idx="5"/>
          </p:nvPr>
        </p:nvSpPr>
        <p:spPr/>
        <p:txBody>
          <a:bodyPr/>
          <a:lstStyle/>
          <a:p>
            <a:fld id="{3EB9031F-EB71-7642-8F3C-6FDC1408CB92}" type="slidenum">
              <a:rPr lang="en-US" smtClean="0"/>
              <a:pPr/>
              <a:t>14</a:t>
            </a:fld>
            <a:endParaRPr lang="en-US"/>
          </a:p>
        </p:txBody>
      </p:sp>
    </p:spTree>
    <p:extLst>
      <p:ext uri="{BB962C8B-B14F-4D97-AF65-F5344CB8AC3E}">
        <p14:creationId xmlns:p14="http://schemas.microsoft.com/office/powerpoint/2010/main" val="28896841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CBE32076-AB54-DD42-AB81-EE05460AD3D3}" type="slidenum">
              <a:rPr lang="en-US"/>
              <a:pPr/>
              <a:t>17</a:t>
            </a:fld>
            <a:endParaRPr lang="en-US"/>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7689980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05826" name="Rectangle 2"/>
          <p:cNvSpPr>
            <a:spLocks noGrp="1" noChangeArrowheads="1"/>
          </p:cNvSpPr>
          <p:nvPr>
            <p:ph type="ctrTitle"/>
          </p:nvPr>
        </p:nvSpPr>
        <p:spPr>
          <a:xfrm>
            <a:off x="4572000" y="510778"/>
            <a:ext cx="3890964" cy="1298972"/>
          </a:xfrm>
        </p:spPr>
        <p:txBody>
          <a:bodyPr/>
          <a:lstStyle>
            <a:lvl1pPr algn="ctr">
              <a:defRPr sz="3200" b="1"/>
            </a:lvl1pPr>
          </a:lstStyle>
          <a:p>
            <a:r>
              <a:rPr lang="en-US"/>
              <a:t>Click to edit Master title style</a:t>
            </a:r>
            <a:endParaRPr lang="en-US" dirty="0"/>
          </a:p>
        </p:txBody>
      </p:sp>
      <p:sp>
        <p:nvSpPr>
          <p:cNvPr id="205827" name="Rectangle 3"/>
          <p:cNvSpPr>
            <a:spLocks noGrp="1" noChangeArrowheads="1"/>
          </p:cNvSpPr>
          <p:nvPr>
            <p:ph type="subTitle" idx="1"/>
          </p:nvPr>
        </p:nvSpPr>
        <p:spPr>
          <a:xfrm>
            <a:off x="4572000" y="2876550"/>
            <a:ext cx="3886200" cy="1676400"/>
          </a:xfrm>
        </p:spPr>
        <p:txBody>
          <a:bodyPr/>
          <a:lstStyle>
            <a:lvl1pPr marL="0" indent="0" algn="ctr">
              <a:spcBef>
                <a:spcPts val="900"/>
              </a:spcBef>
              <a:buFont typeface="Times" pitchFamily="-65" charset="0"/>
              <a:buNone/>
              <a:defRPr/>
            </a:lvl1pPr>
          </a:lstStyle>
          <a:p>
            <a:r>
              <a:rPr lang="en-US"/>
              <a:t>Click to edit Master subtitle style</a:t>
            </a:r>
            <a:endParaRPr lang="en-US" dirty="0"/>
          </a:p>
        </p:txBody>
      </p:sp>
      <p:sp>
        <p:nvSpPr>
          <p:cNvPr id="5" name="Rectangle 4"/>
          <p:cNvSpPr>
            <a:spLocks noGrp="1" noChangeArrowheads="1"/>
          </p:cNvSpPr>
          <p:nvPr>
            <p:ph type="dt" sz="half" idx="10"/>
          </p:nvPr>
        </p:nvSpPr>
        <p:spPr>
          <a:xfrm>
            <a:off x="7239000" y="4705350"/>
            <a:ext cx="1219200" cy="342900"/>
          </a:xfrm>
        </p:spPr>
        <p:txBody>
          <a:bodyPr anchor="b"/>
          <a:lstStyle>
            <a:lvl1pPr>
              <a:defRPr>
                <a:solidFill>
                  <a:schemeClr val="bg2"/>
                </a:solidFill>
              </a:defRPr>
            </a:lvl1pPr>
          </a:lstStyle>
          <a:p>
            <a:pPr>
              <a:defRPr/>
            </a:pPr>
            <a:endParaRPr lang="en-US" dirty="0"/>
          </a:p>
        </p:txBody>
      </p:sp>
      <p:sp>
        <p:nvSpPr>
          <p:cNvPr id="6" name="Rectangle 5"/>
          <p:cNvSpPr>
            <a:spLocks noGrp="1" noChangeArrowheads="1"/>
          </p:cNvSpPr>
          <p:nvPr>
            <p:ph type="ftr" sz="quarter" idx="11"/>
          </p:nvPr>
        </p:nvSpPr>
        <p:spPr>
          <a:xfrm>
            <a:off x="5334000" y="4705350"/>
            <a:ext cx="1905000" cy="342900"/>
          </a:xfrm>
        </p:spPr>
        <p:txBody>
          <a:bodyPr anchor="b"/>
          <a:lstStyle>
            <a:lvl1pPr>
              <a:defRPr>
                <a:solidFill>
                  <a:schemeClr val="bg2"/>
                </a:solidFill>
              </a:defRPr>
            </a:lvl1pPr>
          </a:lstStyle>
          <a:p>
            <a:pPr>
              <a:defRPr/>
            </a:pPr>
            <a:endParaRPr lang="en-US" dirty="0"/>
          </a:p>
        </p:txBody>
      </p:sp>
      <p:sp>
        <p:nvSpPr>
          <p:cNvPr id="11" name="Rectangle 6"/>
          <p:cNvSpPr>
            <a:spLocks noGrp="1" noChangeArrowheads="1"/>
          </p:cNvSpPr>
          <p:nvPr>
            <p:ph type="sldNum" sz="quarter" idx="12"/>
          </p:nvPr>
        </p:nvSpPr>
        <p:spPr>
          <a:xfrm>
            <a:off x="4572000" y="4705350"/>
            <a:ext cx="765174" cy="342900"/>
          </a:xfrm>
        </p:spPr>
        <p:txBody>
          <a:bodyPr anchor="b"/>
          <a:lstStyle>
            <a:lvl1pPr>
              <a:defRPr>
                <a:solidFill>
                  <a:schemeClr val="bg2"/>
                </a:solidFill>
              </a:defRPr>
            </a:lvl1pPr>
          </a:lstStyle>
          <a:p>
            <a:fld id="{E74C7FEE-6B48-4643-BCFB-F13B0E13E171}" type="slidenum">
              <a:rPr lang="en-US"/>
              <a:pPr/>
              <a:t>‹#›</a:t>
            </a:fld>
            <a:endParaRPr lang="en-US" dirty="0"/>
          </a:p>
        </p:txBody>
      </p:sp>
    </p:spTree>
    <p:extLst>
      <p:ext uri="{BB962C8B-B14F-4D97-AF65-F5344CB8AC3E}">
        <p14:creationId xmlns:p14="http://schemas.microsoft.com/office/powerpoint/2010/main" val="2807211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04800" y="1352550"/>
            <a:ext cx="8534400" cy="3333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5"/>
          <p:cNvSpPr>
            <a:spLocks noGrp="1" noChangeArrowheads="1"/>
          </p:cNvSpPr>
          <p:nvPr>
            <p:ph type="dt" sz="half" idx="10"/>
          </p:nvPr>
        </p:nvSpPr>
        <p:spPr>
          <a:xfrm>
            <a:off x="6858000" y="4705350"/>
            <a:ext cx="1981200" cy="342900"/>
          </a:xfrm>
          <a:ln/>
        </p:spPr>
        <p:txBody>
          <a:bodyPr/>
          <a:lstStyle>
            <a:lvl1pPr>
              <a:defRPr/>
            </a:lvl1pPr>
          </a:lstStyle>
          <a:p>
            <a:pPr>
              <a:defRPr/>
            </a:pPr>
            <a:endParaRPr lang="en-US"/>
          </a:p>
        </p:txBody>
      </p:sp>
      <p:sp>
        <p:nvSpPr>
          <p:cNvPr id="5" name="Rectangle 6"/>
          <p:cNvSpPr>
            <a:spLocks noGrp="1" noChangeArrowheads="1"/>
          </p:cNvSpPr>
          <p:nvPr>
            <p:ph type="ftr" sz="quarter" idx="11"/>
          </p:nvPr>
        </p:nvSpPr>
        <p:spPr>
          <a:xfrm>
            <a:off x="3048000" y="4705350"/>
            <a:ext cx="2895600" cy="342900"/>
          </a:xfrm>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10F35DC5-7E65-8247-99AB-4E984F8A921E}" type="slidenum">
              <a:rPr lang="en-US"/>
              <a:pPr/>
              <a:t>‹#›</a:t>
            </a:fld>
            <a:endParaRPr lang="en-US"/>
          </a:p>
        </p:txBody>
      </p:sp>
      <p:sp>
        <p:nvSpPr>
          <p:cNvPr id="8"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Tree>
    <p:extLst>
      <p:ext uri="{BB962C8B-B14F-4D97-AF65-F5344CB8AC3E}">
        <p14:creationId xmlns:p14="http://schemas.microsoft.com/office/powerpoint/2010/main" val="2386176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200" b="1" cap="all"/>
            </a:lvl1pPr>
          </a:lstStyle>
          <a:p>
            <a:r>
              <a:rPr lang="en-US"/>
              <a:t>Click to edit Master title style</a:t>
            </a:r>
            <a:endParaRPr lang="en-US" dirty="0"/>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9C2BDC8F-D922-0A4E-AAA0-9C7D97FF3D71}" type="slidenum">
              <a:rPr lang="en-US"/>
              <a:pPr/>
              <a:t>‹#›</a:t>
            </a:fld>
            <a:endParaRPr lang="en-US"/>
          </a:p>
        </p:txBody>
      </p:sp>
    </p:spTree>
    <p:extLst>
      <p:ext uri="{BB962C8B-B14F-4D97-AF65-F5344CB8AC3E}">
        <p14:creationId xmlns:p14="http://schemas.microsoft.com/office/powerpoint/2010/main" val="231173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4800" y="1314450"/>
            <a:ext cx="3810000" cy="3371850"/>
          </a:xfrm>
        </p:spPr>
        <p:txBody>
          <a:bodyPr/>
          <a:lstStyle>
            <a:lvl1pPr>
              <a:defRPr sz="2400"/>
            </a:lvl1pPr>
            <a:lvl2pPr>
              <a:defRPr sz="20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67200" y="1314450"/>
            <a:ext cx="3810000" cy="3371850"/>
          </a:xfrm>
        </p:spPr>
        <p:txBody>
          <a:bodyPr/>
          <a:lstStyle>
            <a:lvl1pPr>
              <a:defRPr sz="2400"/>
            </a:lvl1pPr>
            <a:lvl2pPr>
              <a:defRPr sz="20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5"/>
          <p:cNvSpPr>
            <a:spLocks noGrp="1" noChangeArrowheads="1"/>
          </p:cNvSpPr>
          <p:nvPr>
            <p:ph type="dt" sz="half" idx="10"/>
          </p:nvPr>
        </p:nvSpPr>
        <p:spPr>
          <a:xfrm>
            <a:off x="6096000" y="4705350"/>
            <a:ext cx="1981200" cy="342900"/>
          </a:xfrm>
          <a:ln/>
        </p:spPr>
        <p:txBody>
          <a:bodyPr/>
          <a:lstStyle>
            <a:lvl1pPr>
              <a:defRPr/>
            </a:lvl1pPr>
          </a:lstStyle>
          <a:p>
            <a:pPr>
              <a:defRPr/>
            </a:pPr>
            <a:endParaRPr lang="en-US" dirty="0"/>
          </a:p>
        </p:txBody>
      </p:sp>
      <p:sp>
        <p:nvSpPr>
          <p:cNvPr id="6" name="Rectangle 6"/>
          <p:cNvSpPr>
            <a:spLocks noGrp="1" noChangeArrowheads="1"/>
          </p:cNvSpPr>
          <p:nvPr>
            <p:ph type="ftr" sz="quarter" idx="11"/>
          </p:nvPr>
        </p:nvSpPr>
        <p:spPr>
          <a:xfrm>
            <a:off x="2667000" y="4686300"/>
            <a:ext cx="2895600" cy="342900"/>
          </a:xfrm>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BAC7A63A-31A1-2C4C-95AA-A445DBCAB174}" type="slidenum">
              <a:rPr lang="en-US"/>
              <a:pPr/>
              <a:t>‹#›</a:t>
            </a:fld>
            <a:endParaRPr lang="en-US"/>
          </a:p>
        </p:txBody>
      </p:sp>
      <p:sp>
        <p:nvSpPr>
          <p:cNvPr id="9"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Tree>
    <p:extLst>
      <p:ext uri="{BB962C8B-B14F-4D97-AF65-F5344CB8AC3E}">
        <p14:creationId xmlns:p14="http://schemas.microsoft.com/office/powerpoint/2010/main" val="3639134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4800" y="1253728"/>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04800" y="1733550"/>
            <a:ext cx="4040188" cy="29718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2626" y="1253728"/>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92626" y="1733550"/>
            <a:ext cx="4041775" cy="29718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5"/>
          <p:cNvSpPr>
            <a:spLocks noGrp="1" noChangeArrowheads="1"/>
          </p:cNvSpPr>
          <p:nvPr>
            <p:ph type="dt" sz="half" idx="10"/>
          </p:nvPr>
        </p:nvSpPr>
        <p:spPr>
          <a:xfrm>
            <a:off x="6248400" y="4705350"/>
            <a:ext cx="1981200" cy="342900"/>
          </a:xfrm>
          <a:ln/>
        </p:spPr>
        <p:txBody>
          <a:bodyPr/>
          <a:lstStyle>
            <a:lvl1pPr>
              <a:defRPr/>
            </a:lvl1pPr>
          </a:lstStyle>
          <a:p>
            <a:pPr>
              <a:defRPr/>
            </a:pPr>
            <a:endParaRPr lang="en-US"/>
          </a:p>
        </p:txBody>
      </p:sp>
      <p:sp>
        <p:nvSpPr>
          <p:cNvPr id="8" name="Rectangle 6"/>
          <p:cNvSpPr>
            <a:spLocks noGrp="1" noChangeArrowheads="1"/>
          </p:cNvSpPr>
          <p:nvPr>
            <p:ph type="ftr" sz="quarter" idx="11"/>
          </p:nvPr>
        </p:nvSpPr>
        <p:spPr>
          <a:xfrm>
            <a:off x="2819400" y="4705350"/>
            <a:ext cx="2895600" cy="342900"/>
          </a:xfrm>
          <a:ln/>
        </p:spPr>
        <p:txBody>
          <a:bodyPr/>
          <a:lstStyle>
            <a:lvl1pPr>
              <a:defRPr/>
            </a:lvl1pPr>
          </a:lstStyle>
          <a:p>
            <a:pPr>
              <a:defRPr/>
            </a:pPr>
            <a:endParaRPr lang="en-US"/>
          </a:p>
        </p:txBody>
      </p:sp>
      <p:sp>
        <p:nvSpPr>
          <p:cNvPr id="9" name="Rectangle 7"/>
          <p:cNvSpPr>
            <a:spLocks noGrp="1" noChangeArrowheads="1"/>
          </p:cNvSpPr>
          <p:nvPr>
            <p:ph type="sldNum" sz="quarter" idx="12"/>
          </p:nvPr>
        </p:nvSpPr>
        <p:spPr>
          <a:ln/>
        </p:spPr>
        <p:txBody>
          <a:bodyPr/>
          <a:lstStyle>
            <a:lvl1pPr>
              <a:defRPr/>
            </a:lvl1pPr>
          </a:lstStyle>
          <a:p>
            <a:fld id="{231C68C3-6089-F349-9232-42643877B0CF}" type="slidenum">
              <a:rPr lang="en-US"/>
              <a:pPr/>
              <a:t>‹#›</a:t>
            </a:fld>
            <a:endParaRPr lang="en-US"/>
          </a:p>
        </p:txBody>
      </p:sp>
      <p:sp>
        <p:nvSpPr>
          <p:cNvPr id="10"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
        <p:nvSpPr>
          <p:cNvPr id="11" name="Title 1"/>
          <p:cNvSpPr>
            <a:spLocks noGrp="1"/>
          </p:cNvSpPr>
          <p:nvPr>
            <p:ph type="title"/>
          </p:nvPr>
        </p:nvSpPr>
        <p:spPr>
          <a:xfrm>
            <a:off x="1371600" y="381000"/>
            <a:ext cx="7467600" cy="742950"/>
          </a:xfrm>
        </p:spPr>
        <p:txBody>
          <a:bodyPr/>
          <a:lstStyle/>
          <a:p>
            <a:r>
              <a:rPr lang="en-US"/>
              <a:t>Click to edit Master title style</a:t>
            </a:r>
            <a:endParaRPr lang="en-US" dirty="0"/>
          </a:p>
        </p:txBody>
      </p:sp>
    </p:spTree>
    <p:extLst>
      <p:ext uri="{BB962C8B-B14F-4D97-AF65-F5344CB8AC3E}">
        <p14:creationId xmlns:p14="http://schemas.microsoft.com/office/powerpoint/2010/main" val="480275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dt" sz="half" idx="10"/>
          </p:nvPr>
        </p:nvSpPr>
        <p:spPr>
          <a:ln/>
        </p:spPr>
        <p:txBody>
          <a:bodyPr/>
          <a:lstStyle>
            <a:lvl1pPr>
              <a:defRPr/>
            </a:lvl1pPr>
          </a:lstStyle>
          <a:p>
            <a:pPr>
              <a:defRPr/>
            </a:pPr>
            <a:endParaRPr lang="en-US"/>
          </a:p>
        </p:txBody>
      </p:sp>
      <p:sp>
        <p:nvSpPr>
          <p:cNvPr id="4" name="Rectangle 6"/>
          <p:cNvSpPr>
            <a:spLocks noGrp="1" noChangeArrowheads="1"/>
          </p:cNvSpPr>
          <p:nvPr>
            <p:ph type="ftr" sz="quarter" idx="11"/>
          </p:nvPr>
        </p:nvSpPr>
        <p:spPr>
          <a:ln/>
        </p:spPr>
        <p:txBody>
          <a:bodyPr/>
          <a:lstStyle>
            <a:lvl1pPr>
              <a:defRPr/>
            </a:lvl1pPr>
          </a:lstStyle>
          <a:p>
            <a:pPr>
              <a:defRPr/>
            </a:pPr>
            <a:endParaRPr lang="en-US"/>
          </a:p>
        </p:txBody>
      </p:sp>
      <p:sp>
        <p:nvSpPr>
          <p:cNvPr id="5" name="Rectangle 7"/>
          <p:cNvSpPr>
            <a:spLocks noGrp="1" noChangeArrowheads="1"/>
          </p:cNvSpPr>
          <p:nvPr>
            <p:ph type="sldNum" sz="quarter" idx="12"/>
          </p:nvPr>
        </p:nvSpPr>
        <p:spPr>
          <a:ln/>
        </p:spPr>
        <p:txBody>
          <a:bodyPr/>
          <a:lstStyle>
            <a:lvl1pPr>
              <a:defRPr/>
            </a:lvl1pPr>
          </a:lstStyle>
          <a:p>
            <a:fld id="{03BC7101-16EA-C942-850C-355264FDE9E8}" type="slidenum">
              <a:rPr lang="en-US"/>
              <a:pPr/>
              <a:t>‹#›</a:t>
            </a:fld>
            <a:endParaRPr lang="en-US"/>
          </a:p>
        </p:txBody>
      </p:sp>
      <p:sp>
        <p:nvSpPr>
          <p:cNvPr id="6"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Tree>
    <p:extLst>
      <p:ext uri="{BB962C8B-B14F-4D97-AF65-F5344CB8AC3E}">
        <p14:creationId xmlns:p14="http://schemas.microsoft.com/office/powerpoint/2010/main" val="118628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p>
        </p:txBody>
      </p:sp>
      <p:sp>
        <p:nvSpPr>
          <p:cNvPr id="3" name="Rectangle 6"/>
          <p:cNvSpPr>
            <a:spLocks noGrp="1" noChangeArrowheads="1"/>
          </p:cNvSpPr>
          <p:nvPr>
            <p:ph type="ftr" sz="quarter" idx="11"/>
          </p:nvPr>
        </p:nvSpPr>
        <p:spPr>
          <a:ln/>
        </p:spPr>
        <p:txBody>
          <a:bodyPr/>
          <a:lstStyle>
            <a:lvl1pPr>
              <a:defRPr/>
            </a:lvl1pPr>
          </a:lstStyle>
          <a:p>
            <a:pPr>
              <a:defRPr/>
            </a:pPr>
            <a:endParaRPr lang="en-US"/>
          </a:p>
        </p:txBody>
      </p:sp>
      <p:sp>
        <p:nvSpPr>
          <p:cNvPr id="4" name="Rectangle 7"/>
          <p:cNvSpPr>
            <a:spLocks noGrp="1" noChangeArrowheads="1"/>
          </p:cNvSpPr>
          <p:nvPr>
            <p:ph type="sldNum" sz="quarter" idx="12"/>
          </p:nvPr>
        </p:nvSpPr>
        <p:spPr>
          <a:ln/>
        </p:spPr>
        <p:txBody>
          <a:bodyPr/>
          <a:lstStyle>
            <a:lvl1pPr>
              <a:defRPr/>
            </a:lvl1pPr>
          </a:lstStyle>
          <a:p>
            <a:fld id="{B228E5E2-1321-4548-96C8-615581C5A8C2}" type="slidenum">
              <a:rPr lang="en-US"/>
              <a:pPr/>
              <a:t>‹#›</a:t>
            </a:fld>
            <a:endParaRPr lang="en-US"/>
          </a:p>
        </p:txBody>
      </p:sp>
    </p:spTree>
    <p:extLst>
      <p:ext uri="{BB962C8B-B14F-4D97-AF65-F5344CB8AC3E}">
        <p14:creationId xmlns:p14="http://schemas.microsoft.com/office/powerpoint/2010/main" val="3941278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750"/>
            <a:ext cx="3008313" cy="871538"/>
          </a:xfrm>
        </p:spPr>
        <p:txBody>
          <a:bodyPr/>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2343150"/>
            <a:ext cx="3008313" cy="225147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83729988-E849-C549-AA67-252EA40F09C2}" type="slidenum">
              <a:rPr lang="en-US"/>
              <a:pPr/>
              <a:t>‹#›</a:t>
            </a:fld>
            <a:endParaRPr lang="en-US"/>
          </a:p>
        </p:txBody>
      </p:sp>
      <p:sp>
        <p:nvSpPr>
          <p:cNvPr id="8"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Tree>
    <p:extLst>
      <p:ext uri="{BB962C8B-B14F-4D97-AF65-F5344CB8AC3E}">
        <p14:creationId xmlns:p14="http://schemas.microsoft.com/office/powerpoint/2010/main" val="2833127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Drag picture to placeholder or click icon to add</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497882B1-C6D6-A945-BB8B-B7B1B12471B5}" type="slidenum">
              <a:rPr lang="en-US"/>
              <a:pPr/>
              <a:t>‹#›</a:t>
            </a:fld>
            <a:endParaRPr lang="en-US"/>
          </a:p>
        </p:txBody>
      </p:sp>
    </p:spTree>
    <p:extLst>
      <p:ext uri="{BB962C8B-B14F-4D97-AF65-F5344CB8AC3E}">
        <p14:creationId xmlns:p14="http://schemas.microsoft.com/office/powerpoint/2010/main" val="1506046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C1DFA8D9-15F1-AF4D-8149-0C26EB27AC9C}" type="slidenum">
              <a:rPr lang="en-US"/>
              <a:pPr/>
              <a:t>‹#›</a:t>
            </a:fld>
            <a:endParaRPr lang="en-US"/>
          </a:p>
        </p:txBody>
      </p:sp>
    </p:spTree>
    <p:extLst>
      <p:ext uri="{BB962C8B-B14F-4D97-AF65-F5344CB8AC3E}">
        <p14:creationId xmlns:p14="http://schemas.microsoft.com/office/powerpoint/2010/main" val="3316983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29450" y="285750"/>
            <a:ext cx="2114550" cy="44005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285750"/>
            <a:ext cx="6191250" cy="44005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6857BED9-9427-674C-8047-314E304C86F8}" type="slidenum">
              <a:rPr lang="en-US"/>
              <a:pPr/>
              <a:t>‹#›</a:t>
            </a:fld>
            <a:endParaRPr lang="en-US"/>
          </a:p>
        </p:txBody>
      </p:sp>
    </p:spTree>
    <p:extLst>
      <p:ext uri="{BB962C8B-B14F-4D97-AF65-F5344CB8AC3E}">
        <p14:creationId xmlns:p14="http://schemas.microsoft.com/office/powerpoint/2010/main" val="37430817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over Tex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04800" y="1314450"/>
            <a:ext cx="7772400" cy="1628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3057525"/>
            <a:ext cx="7772400" cy="1628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E943D734-B240-FB4D-AF6E-6869FD669100}" type="slidenum">
              <a:rPr lang="en-US"/>
              <a:pPr/>
              <a:t>‹#›</a:t>
            </a:fld>
            <a:endParaRPr lang="en-US"/>
          </a:p>
        </p:txBody>
      </p:sp>
      <p:sp>
        <p:nvSpPr>
          <p:cNvPr id="9"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
        <p:nvSpPr>
          <p:cNvPr id="10" name="Title 1"/>
          <p:cNvSpPr>
            <a:spLocks noGrp="1"/>
          </p:cNvSpPr>
          <p:nvPr>
            <p:ph type="title"/>
          </p:nvPr>
        </p:nvSpPr>
        <p:spPr>
          <a:xfrm>
            <a:off x="1371600" y="381000"/>
            <a:ext cx="7467600" cy="742950"/>
          </a:xfrm>
        </p:spPr>
        <p:txBody>
          <a:bodyPr/>
          <a:lstStyle/>
          <a:p>
            <a:r>
              <a:rPr lang="en-US"/>
              <a:t>Click to edit Master title style</a:t>
            </a:r>
            <a:endParaRPr lang="en-US" dirty="0"/>
          </a:p>
        </p:txBody>
      </p:sp>
    </p:spTree>
    <p:extLst>
      <p:ext uri="{BB962C8B-B14F-4D97-AF65-F5344CB8AC3E}">
        <p14:creationId xmlns:p14="http://schemas.microsoft.com/office/powerpoint/2010/main" val="34953000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Nar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04800" y="1352550"/>
            <a:ext cx="6858000" cy="3333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5"/>
          <p:cNvSpPr>
            <a:spLocks noGrp="1" noChangeArrowheads="1"/>
          </p:cNvSpPr>
          <p:nvPr>
            <p:ph type="dt" sz="half" idx="10"/>
          </p:nvPr>
        </p:nvSpPr>
        <p:spPr>
          <a:xfrm>
            <a:off x="5181600" y="4705350"/>
            <a:ext cx="1981200" cy="342900"/>
          </a:xfrm>
          <a:ln/>
        </p:spPr>
        <p:txBody>
          <a:bodyPr/>
          <a:lstStyle>
            <a:lvl1pPr>
              <a:defRPr/>
            </a:lvl1pPr>
          </a:lstStyle>
          <a:p>
            <a:pPr>
              <a:defRPr/>
            </a:pPr>
            <a:endParaRPr lang="en-US" dirty="0"/>
          </a:p>
        </p:txBody>
      </p:sp>
      <p:sp>
        <p:nvSpPr>
          <p:cNvPr id="5" name="Rectangle 6"/>
          <p:cNvSpPr>
            <a:spLocks noGrp="1" noChangeArrowheads="1"/>
          </p:cNvSpPr>
          <p:nvPr>
            <p:ph type="ftr" sz="quarter" idx="11"/>
          </p:nvPr>
        </p:nvSpPr>
        <p:spPr>
          <a:xfrm>
            <a:off x="2286000" y="4705350"/>
            <a:ext cx="2895600" cy="342900"/>
          </a:xfrm>
          <a:ln/>
        </p:spPr>
        <p:txBody>
          <a:bodyPr/>
          <a:lstStyle>
            <a:lvl1pPr>
              <a:defRPr/>
            </a:lvl1pPr>
          </a:lstStyle>
          <a:p>
            <a:pPr>
              <a:defRPr/>
            </a:pPr>
            <a:endParaRPr lang="en-US" dirty="0"/>
          </a:p>
        </p:txBody>
      </p:sp>
      <p:sp>
        <p:nvSpPr>
          <p:cNvPr id="6" name="Rectangle 7"/>
          <p:cNvSpPr>
            <a:spLocks noGrp="1" noChangeArrowheads="1"/>
          </p:cNvSpPr>
          <p:nvPr>
            <p:ph type="sldNum" sz="quarter" idx="12"/>
          </p:nvPr>
        </p:nvSpPr>
        <p:spPr>
          <a:ln/>
        </p:spPr>
        <p:txBody>
          <a:bodyPr/>
          <a:lstStyle>
            <a:lvl1pPr>
              <a:defRPr/>
            </a:lvl1pPr>
          </a:lstStyle>
          <a:p>
            <a:fld id="{10F35DC5-7E65-8247-99AB-4E984F8A921E}" type="slidenum">
              <a:rPr lang="en-US"/>
              <a:pPr/>
              <a:t>‹#›</a:t>
            </a:fld>
            <a:endParaRPr lang="en-US"/>
          </a:p>
        </p:txBody>
      </p:sp>
      <p:sp>
        <p:nvSpPr>
          <p:cNvPr id="8"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Tree>
    <p:extLst>
      <p:ext uri="{BB962C8B-B14F-4D97-AF65-F5344CB8AC3E}">
        <p14:creationId xmlns:p14="http://schemas.microsoft.com/office/powerpoint/2010/main" val="18177066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blank" preserve="1">
  <p:cSld name="Completely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87680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3"/>
          <p:cNvSpPr>
            <a:spLocks noGrp="1" noChangeArrowheads="1"/>
          </p:cNvSpPr>
          <p:nvPr>
            <p:ph type="title"/>
          </p:nvPr>
        </p:nvSpPr>
        <p:spPr bwMode="auto">
          <a:xfrm>
            <a:off x="1371600" y="381000"/>
            <a:ext cx="7467600" cy="742950"/>
          </a:xfrm>
          <a:prstGeom prst="rect">
            <a:avLst/>
          </a:prstGeom>
          <a:noFill/>
          <a:ln>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endParaRPr lang="en-US" dirty="0"/>
          </a:p>
        </p:txBody>
      </p:sp>
      <p:sp>
        <p:nvSpPr>
          <p:cNvPr id="1029" name="Rectangle 4"/>
          <p:cNvSpPr>
            <a:spLocks noGrp="1" noChangeArrowheads="1"/>
          </p:cNvSpPr>
          <p:nvPr>
            <p:ph type="body" idx="1"/>
          </p:nvPr>
        </p:nvSpPr>
        <p:spPr bwMode="auto">
          <a:xfrm>
            <a:off x="304800" y="1352550"/>
            <a:ext cx="7772400" cy="3333750"/>
          </a:xfrm>
          <a:prstGeom prst="rect">
            <a:avLst/>
          </a:prstGeom>
          <a:noFill/>
          <a:ln>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4805" name="Rectangle 5"/>
          <p:cNvSpPr>
            <a:spLocks noGrp="1" noChangeArrowheads="1"/>
          </p:cNvSpPr>
          <p:nvPr>
            <p:ph type="dt" sz="half" idx="2"/>
          </p:nvPr>
        </p:nvSpPr>
        <p:spPr bwMode="auto">
          <a:xfrm>
            <a:off x="6096000" y="4705350"/>
            <a:ext cx="19812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ea typeface="+mn-ea"/>
                <a:cs typeface="+mn-cs"/>
              </a:defRPr>
            </a:lvl1pPr>
          </a:lstStyle>
          <a:p>
            <a:pPr>
              <a:defRPr/>
            </a:pPr>
            <a:endParaRPr lang="en-US" dirty="0"/>
          </a:p>
        </p:txBody>
      </p:sp>
      <p:sp>
        <p:nvSpPr>
          <p:cNvPr id="204806" name="Rectangle 6"/>
          <p:cNvSpPr>
            <a:spLocks noGrp="1" noChangeArrowheads="1"/>
          </p:cNvSpPr>
          <p:nvPr>
            <p:ph type="ftr" sz="quarter" idx="3"/>
          </p:nvPr>
        </p:nvSpPr>
        <p:spPr bwMode="auto">
          <a:xfrm>
            <a:off x="2743200" y="4686300"/>
            <a:ext cx="28956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ea typeface="+mn-ea"/>
                <a:cs typeface="+mn-cs"/>
              </a:defRPr>
            </a:lvl1pPr>
          </a:lstStyle>
          <a:p>
            <a:pPr>
              <a:defRPr/>
            </a:pPr>
            <a:endParaRPr lang="en-US" dirty="0"/>
          </a:p>
        </p:txBody>
      </p:sp>
      <p:sp>
        <p:nvSpPr>
          <p:cNvPr id="204807" name="Rectangle 7"/>
          <p:cNvSpPr>
            <a:spLocks noGrp="1" noChangeArrowheads="1"/>
          </p:cNvSpPr>
          <p:nvPr>
            <p:ph type="sldNum" sz="quarter" idx="4"/>
          </p:nvPr>
        </p:nvSpPr>
        <p:spPr bwMode="auto">
          <a:xfrm>
            <a:off x="304800" y="4705350"/>
            <a:ext cx="19812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400">
                <a:latin typeface="+mn-lt"/>
              </a:defRPr>
            </a:lvl1pPr>
          </a:lstStyle>
          <a:p>
            <a:fld id="{91F816EA-24CC-2048-859A-C5EA9F275392}"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10"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1" r:id="rId13"/>
    <p:sldLayoutId id="2147483712" r:id="rId14"/>
  </p:sldLayoutIdLst>
  <p:hf hdr="0" ftr="0" dt="0"/>
  <p:txStyles>
    <p:titleStyle>
      <a:lvl1pPr algn="l" rtl="0" eaLnBrk="1" fontAlgn="base" hangingPunct="1">
        <a:spcBef>
          <a:spcPct val="0"/>
        </a:spcBef>
        <a:spcAft>
          <a:spcPct val="0"/>
        </a:spcAft>
        <a:defRPr sz="3200" b="1">
          <a:solidFill>
            <a:schemeClr val="tx1"/>
          </a:solidFill>
          <a:latin typeface="+mj-lt"/>
          <a:ea typeface="ＭＳ Ｐゴシック" pitchFamily="-65" charset="-128"/>
          <a:cs typeface="ＭＳ Ｐゴシック" pitchFamily="-65" charset="-128"/>
        </a:defRPr>
      </a:lvl1pPr>
      <a:lvl2pPr algn="l" rtl="0" eaLnBrk="1" fontAlgn="base" hangingPunct="1">
        <a:spcBef>
          <a:spcPct val="0"/>
        </a:spcBef>
        <a:spcAft>
          <a:spcPct val="0"/>
        </a:spcAft>
        <a:defRPr sz="3600">
          <a:solidFill>
            <a:schemeClr val="tx1"/>
          </a:solidFill>
          <a:latin typeface="Lucida Sans" pitchFamily="-65" charset="0"/>
          <a:ea typeface="ＭＳ Ｐゴシック" pitchFamily="-65" charset="-128"/>
          <a:cs typeface="ＭＳ Ｐゴシック" pitchFamily="-65" charset="-128"/>
        </a:defRPr>
      </a:lvl2pPr>
      <a:lvl3pPr algn="l" rtl="0" eaLnBrk="1" fontAlgn="base" hangingPunct="1">
        <a:spcBef>
          <a:spcPct val="0"/>
        </a:spcBef>
        <a:spcAft>
          <a:spcPct val="0"/>
        </a:spcAft>
        <a:defRPr sz="3600">
          <a:solidFill>
            <a:schemeClr val="tx1"/>
          </a:solidFill>
          <a:latin typeface="Lucida Sans" pitchFamily="-65" charset="0"/>
          <a:ea typeface="ＭＳ Ｐゴシック" pitchFamily="-65" charset="-128"/>
          <a:cs typeface="ＭＳ Ｐゴシック" pitchFamily="-65" charset="-128"/>
        </a:defRPr>
      </a:lvl3pPr>
      <a:lvl4pPr algn="l" rtl="0" eaLnBrk="1" fontAlgn="base" hangingPunct="1">
        <a:spcBef>
          <a:spcPct val="0"/>
        </a:spcBef>
        <a:spcAft>
          <a:spcPct val="0"/>
        </a:spcAft>
        <a:defRPr sz="3600">
          <a:solidFill>
            <a:schemeClr val="tx1"/>
          </a:solidFill>
          <a:latin typeface="Lucida Sans" pitchFamily="-65" charset="0"/>
          <a:ea typeface="ＭＳ Ｐゴシック" pitchFamily="-65" charset="-128"/>
          <a:cs typeface="ＭＳ Ｐゴシック" pitchFamily="-65" charset="-128"/>
        </a:defRPr>
      </a:lvl4pPr>
      <a:lvl5pPr algn="l" rtl="0" eaLnBrk="1" fontAlgn="base" hangingPunct="1">
        <a:spcBef>
          <a:spcPct val="0"/>
        </a:spcBef>
        <a:spcAft>
          <a:spcPct val="0"/>
        </a:spcAft>
        <a:defRPr sz="3600">
          <a:solidFill>
            <a:schemeClr val="tx1"/>
          </a:solidFill>
          <a:latin typeface="Lucida Sans" pitchFamily="-65" charset="0"/>
          <a:ea typeface="ＭＳ Ｐゴシック" pitchFamily="-65" charset="-128"/>
          <a:cs typeface="ＭＳ Ｐゴシック" pitchFamily="-65" charset="-128"/>
        </a:defRPr>
      </a:lvl5pPr>
      <a:lvl6pPr marL="457200" algn="l" rtl="0" eaLnBrk="1" fontAlgn="base" hangingPunct="1">
        <a:spcBef>
          <a:spcPct val="0"/>
        </a:spcBef>
        <a:spcAft>
          <a:spcPct val="0"/>
        </a:spcAft>
        <a:defRPr sz="3600">
          <a:solidFill>
            <a:schemeClr val="tx1"/>
          </a:solidFill>
          <a:latin typeface="Lucida Sans" pitchFamily="-65" charset="0"/>
        </a:defRPr>
      </a:lvl6pPr>
      <a:lvl7pPr marL="914400" algn="l" rtl="0" eaLnBrk="1" fontAlgn="base" hangingPunct="1">
        <a:spcBef>
          <a:spcPct val="0"/>
        </a:spcBef>
        <a:spcAft>
          <a:spcPct val="0"/>
        </a:spcAft>
        <a:defRPr sz="3600">
          <a:solidFill>
            <a:schemeClr val="tx1"/>
          </a:solidFill>
          <a:latin typeface="Lucida Sans" pitchFamily="-65" charset="0"/>
        </a:defRPr>
      </a:lvl7pPr>
      <a:lvl8pPr marL="1371600" algn="l" rtl="0" eaLnBrk="1" fontAlgn="base" hangingPunct="1">
        <a:spcBef>
          <a:spcPct val="0"/>
        </a:spcBef>
        <a:spcAft>
          <a:spcPct val="0"/>
        </a:spcAft>
        <a:defRPr sz="3600">
          <a:solidFill>
            <a:schemeClr val="tx1"/>
          </a:solidFill>
          <a:latin typeface="Lucida Sans" pitchFamily="-65" charset="0"/>
        </a:defRPr>
      </a:lvl8pPr>
      <a:lvl9pPr marL="1828800" algn="l" rtl="0" eaLnBrk="1" fontAlgn="base" hangingPunct="1">
        <a:spcBef>
          <a:spcPct val="0"/>
        </a:spcBef>
        <a:spcAft>
          <a:spcPct val="0"/>
        </a:spcAft>
        <a:defRPr sz="3600">
          <a:solidFill>
            <a:schemeClr val="tx1"/>
          </a:solidFill>
          <a:latin typeface="Lucida Sans" pitchFamily="-65" charset="0"/>
        </a:defRPr>
      </a:lvl9pPr>
    </p:titleStyle>
    <p:bodyStyle>
      <a:lvl1pPr marL="342900" indent="-342900" algn="l" rtl="0" eaLnBrk="1" fontAlgn="base" hangingPunct="1">
        <a:spcBef>
          <a:spcPct val="20000"/>
        </a:spcBef>
        <a:spcAft>
          <a:spcPct val="0"/>
        </a:spcAft>
        <a:buClr>
          <a:srgbClr val="CC0000"/>
        </a:buClr>
        <a:buFont typeface="Times" charset="0"/>
        <a:buChar char="•"/>
        <a:defRPr sz="2400">
          <a:solidFill>
            <a:schemeClr val="tx1"/>
          </a:solidFill>
          <a:latin typeface="+mn-lt"/>
          <a:ea typeface="ＭＳ Ｐゴシック" pitchFamily="-65" charset="-128"/>
          <a:cs typeface="ＭＳ Ｐゴシック" pitchFamily="-65" charset="-128"/>
        </a:defRPr>
      </a:lvl1pPr>
      <a:lvl2pPr marL="685800" indent="-228600" algn="l" rtl="0" eaLnBrk="1" fontAlgn="base" hangingPunct="1">
        <a:spcBef>
          <a:spcPct val="20000"/>
        </a:spcBef>
        <a:spcAft>
          <a:spcPct val="0"/>
        </a:spcAft>
        <a:buClr>
          <a:schemeClr val="tx1"/>
        </a:buClr>
        <a:buFont typeface="Times" charset="0"/>
        <a:buChar char="•"/>
        <a:defRPr sz="2000">
          <a:solidFill>
            <a:schemeClr val="tx1"/>
          </a:solidFill>
          <a:latin typeface="+mn-lt"/>
          <a:ea typeface="ＭＳ Ｐゴシック" pitchFamily="-65" charset="-128"/>
        </a:defRPr>
      </a:lvl2pPr>
      <a:lvl3pPr marL="1028700" indent="-228600" algn="l" rtl="0" eaLnBrk="1" fontAlgn="base" hangingPunct="1">
        <a:spcBef>
          <a:spcPct val="20000"/>
        </a:spcBef>
        <a:spcAft>
          <a:spcPct val="0"/>
        </a:spcAft>
        <a:buClr>
          <a:srgbClr val="CC0000"/>
        </a:buClr>
        <a:buFont typeface="Times" charset="0"/>
        <a:buChar char="•"/>
        <a:defRPr sz="2000">
          <a:solidFill>
            <a:schemeClr val="tx1"/>
          </a:solidFill>
          <a:latin typeface="+mn-lt"/>
          <a:ea typeface="ＭＳ Ｐゴシック" pitchFamily="-65" charset="-128"/>
        </a:defRPr>
      </a:lvl3pPr>
      <a:lvl4pPr marL="1371600" indent="-228600" algn="l" rtl="0" eaLnBrk="1" fontAlgn="base" hangingPunct="1">
        <a:spcBef>
          <a:spcPct val="20000"/>
        </a:spcBef>
        <a:spcAft>
          <a:spcPct val="0"/>
        </a:spcAft>
        <a:buClr>
          <a:schemeClr val="tx1"/>
        </a:buClr>
        <a:buFont typeface="Times" charset="0"/>
        <a:buChar char="•"/>
        <a:defRPr>
          <a:solidFill>
            <a:schemeClr val="tx1"/>
          </a:solidFill>
          <a:latin typeface="+mn-lt"/>
          <a:ea typeface="ＭＳ Ｐゴシック" pitchFamily="-65" charset="-128"/>
        </a:defRPr>
      </a:lvl4pPr>
      <a:lvl5pPr marL="1714500" indent="-228600" algn="l" rtl="0" eaLnBrk="1" fontAlgn="base" hangingPunct="1">
        <a:spcBef>
          <a:spcPct val="20000"/>
        </a:spcBef>
        <a:spcAft>
          <a:spcPct val="0"/>
        </a:spcAft>
        <a:buClr>
          <a:srgbClr val="CC0000"/>
        </a:buClr>
        <a:buFont typeface="Times" charset="0"/>
        <a:buChar char="•"/>
        <a:defRPr>
          <a:solidFill>
            <a:schemeClr val="tx1"/>
          </a:solidFill>
          <a:latin typeface="+mn-lt"/>
          <a:ea typeface="ＭＳ Ｐゴシック" pitchFamily="-65" charset="-128"/>
        </a:defRPr>
      </a:lvl5pPr>
      <a:lvl6pPr marL="21717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6pPr>
      <a:lvl7pPr marL="26289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7pPr>
      <a:lvl8pPr marL="30861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8pPr>
      <a:lvl9pPr marL="35433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Text Preprocessing</a:t>
            </a:r>
            <a:endParaRPr lang="en-US" dirty="0"/>
          </a:p>
        </p:txBody>
      </p:sp>
    </p:spTree>
    <p:extLst>
      <p:ext uri="{BB962C8B-B14F-4D97-AF65-F5344CB8AC3E}">
        <p14:creationId xmlns:p14="http://schemas.microsoft.com/office/powerpoint/2010/main" val="38177477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US" dirty="0"/>
              <a:t>Morphology</a:t>
            </a:r>
          </a:p>
        </p:txBody>
      </p:sp>
      <p:sp>
        <p:nvSpPr>
          <p:cNvPr id="43011" name="Rectangle 3"/>
          <p:cNvSpPr>
            <a:spLocks noGrp="1" noChangeArrowheads="1"/>
          </p:cNvSpPr>
          <p:nvPr>
            <p:ph sz="quarter" idx="1"/>
          </p:nvPr>
        </p:nvSpPr>
        <p:spPr>
          <a:xfrm>
            <a:off x="304800" y="1428750"/>
            <a:ext cx="8534400" cy="3333750"/>
          </a:xfrm>
        </p:spPr>
        <p:txBody>
          <a:bodyPr/>
          <a:lstStyle/>
          <a:p>
            <a:r>
              <a:rPr lang="en-US" dirty="0"/>
              <a:t>Study of word forms, their construction and uses</a:t>
            </a:r>
          </a:p>
          <a:p>
            <a:pPr lvl="1"/>
            <a:r>
              <a:rPr lang="en-US" sz="1800" dirty="0"/>
              <a:t>Cat, cats</a:t>
            </a:r>
          </a:p>
          <a:p>
            <a:pPr lvl="1"/>
            <a:r>
              <a:rPr lang="en-US" sz="1800" dirty="0"/>
              <a:t>Run, ran, running; stop, stopped</a:t>
            </a:r>
          </a:p>
          <a:p>
            <a:r>
              <a:rPr lang="en-US" sz="2800" b="1" dirty="0"/>
              <a:t>Morphemes</a:t>
            </a:r>
            <a:r>
              <a:rPr lang="en-US" sz="2800" dirty="0"/>
              <a:t>:</a:t>
            </a:r>
          </a:p>
          <a:p>
            <a:pPr lvl="1"/>
            <a:r>
              <a:rPr lang="en-US" sz="2400" dirty="0"/>
              <a:t>The small meaningful units that make up words</a:t>
            </a:r>
          </a:p>
          <a:p>
            <a:pPr lvl="1"/>
            <a:r>
              <a:rPr lang="en-US" sz="2400" b="1" dirty="0">
                <a:solidFill>
                  <a:srgbClr val="FF0000"/>
                </a:solidFill>
              </a:rPr>
              <a:t>Stems</a:t>
            </a:r>
            <a:r>
              <a:rPr lang="en-US" sz="2400" dirty="0"/>
              <a:t>: The core meaning-bearing units</a:t>
            </a:r>
          </a:p>
          <a:p>
            <a:pPr lvl="1"/>
            <a:r>
              <a:rPr lang="en-US" sz="2400" b="1" dirty="0">
                <a:solidFill>
                  <a:srgbClr val="FF0000"/>
                </a:solidFill>
              </a:rPr>
              <a:t>Affixes</a:t>
            </a:r>
            <a:r>
              <a:rPr lang="en-US" sz="2400" dirty="0"/>
              <a:t>: Bits and pieces that adhere to stems</a:t>
            </a:r>
          </a:p>
          <a:p>
            <a:pPr lvl="2"/>
            <a:r>
              <a:rPr lang="en-US" sz="2400" dirty="0"/>
              <a:t>Often with grammatical functions</a:t>
            </a:r>
          </a:p>
        </p:txBody>
      </p:sp>
    </p:spTree>
    <p:extLst>
      <p:ext uri="{BB962C8B-B14F-4D97-AF65-F5344CB8AC3E}">
        <p14:creationId xmlns:p14="http://schemas.microsoft.com/office/powerpoint/2010/main" val="3003631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143000" y="152400"/>
            <a:ext cx="7467600" cy="742950"/>
          </a:xfrm>
        </p:spPr>
        <p:txBody>
          <a:bodyPr/>
          <a:lstStyle/>
          <a:p>
            <a:r>
              <a:rPr lang="en-US" dirty="0"/>
              <a:t>Morphology</a:t>
            </a:r>
          </a:p>
        </p:txBody>
      </p:sp>
      <p:sp>
        <p:nvSpPr>
          <p:cNvPr id="22531" name="Rectangle 3"/>
          <p:cNvSpPr>
            <a:spLocks noGrp="1" noChangeArrowheads="1"/>
          </p:cNvSpPr>
          <p:nvPr>
            <p:ph sz="quarter" idx="1"/>
          </p:nvPr>
        </p:nvSpPr>
        <p:spPr>
          <a:xfrm>
            <a:off x="285750" y="895350"/>
            <a:ext cx="8534400" cy="3657600"/>
          </a:xfrm>
        </p:spPr>
        <p:txBody>
          <a:bodyPr/>
          <a:lstStyle/>
          <a:p>
            <a:r>
              <a:rPr lang="en-US" sz="2000" b="1" dirty="0"/>
              <a:t>Morpheme</a:t>
            </a:r>
            <a:r>
              <a:rPr lang="en-US" sz="2000" dirty="0"/>
              <a:t>: smallest unit that has some function in a word</a:t>
            </a:r>
          </a:p>
          <a:p>
            <a:pPr lvl="1"/>
            <a:r>
              <a:rPr lang="en-US" b="1" dirty="0"/>
              <a:t>Stem/root</a:t>
            </a:r>
            <a:r>
              <a:rPr lang="en-US" dirty="0"/>
              <a:t>: core meaning bearing morpheme</a:t>
            </a:r>
          </a:p>
          <a:p>
            <a:pPr lvl="2"/>
            <a:r>
              <a:rPr lang="en-US" b="1" dirty="0"/>
              <a:t>Free morpheme </a:t>
            </a:r>
            <a:r>
              <a:rPr lang="en-US" dirty="0"/>
              <a:t>can be used by itself</a:t>
            </a:r>
          </a:p>
          <a:p>
            <a:pPr lvl="2"/>
            <a:r>
              <a:rPr lang="en-US" dirty="0"/>
              <a:t>Cat; stop; run; sit</a:t>
            </a:r>
          </a:p>
          <a:p>
            <a:pPr lvl="1"/>
            <a:r>
              <a:rPr lang="en-US" b="1" dirty="0"/>
              <a:t>Affixes</a:t>
            </a:r>
            <a:r>
              <a:rPr lang="en-US" dirty="0"/>
              <a:t>: bound morpheme: has to be bound with others to make sense</a:t>
            </a:r>
          </a:p>
          <a:p>
            <a:pPr lvl="1"/>
            <a:r>
              <a:rPr lang="en-US" dirty="0"/>
              <a:t>prefixes (un, dis, in, </a:t>
            </a:r>
            <a:r>
              <a:rPr lang="en-US" dirty="0" err="1"/>
              <a:t>im</a:t>
            </a:r>
            <a:r>
              <a:rPr lang="en-US" dirty="0"/>
              <a:t>) and suffixes (s, er, </a:t>
            </a:r>
            <a:r>
              <a:rPr lang="en-US" dirty="0" err="1"/>
              <a:t>ly</a:t>
            </a:r>
            <a:r>
              <a:rPr lang="en-US" dirty="0"/>
              <a:t>)</a:t>
            </a:r>
          </a:p>
          <a:p>
            <a:pPr lvl="1"/>
            <a:r>
              <a:rPr lang="en-US" sz="1900" u="sng" dirty="0"/>
              <a:t>Un</a:t>
            </a:r>
            <a:r>
              <a:rPr lang="en-US" sz="1900" dirty="0"/>
              <a:t>kind, </a:t>
            </a:r>
            <a:r>
              <a:rPr lang="en-US" sz="1900" u="sng" dirty="0"/>
              <a:t>im</a:t>
            </a:r>
            <a:r>
              <a:rPr lang="en-US" sz="1900" dirty="0"/>
              <a:t>mature, </a:t>
            </a:r>
            <a:r>
              <a:rPr lang="en-US" sz="1900" u="sng" dirty="0"/>
              <a:t>dis</a:t>
            </a:r>
            <a:r>
              <a:rPr lang="en-US" sz="1900" dirty="0"/>
              <a:t>like</a:t>
            </a:r>
          </a:p>
          <a:p>
            <a:pPr lvl="1"/>
            <a:r>
              <a:rPr lang="en-US" sz="1900" dirty="0"/>
              <a:t>Cat</a:t>
            </a:r>
            <a:r>
              <a:rPr lang="en-US" sz="1900" u="sng" dirty="0"/>
              <a:t>s</a:t>
            </a:r>
            <a:r>
              <a:rPr lang="en-US" sz="1900" dirty="0"/>
              <a:t>; low</a:t>
            </a:r>
            <a:r>
              <a:rPr lang="en-US" sz="1900" u="sng" dirty="0"/>
              <a:t>er</a:t>
            </a:r>
            <a:r>
              <a:rPr lang="en-US" sz="1900" dirty="0"/>
              <a:t>, like</a:t>
            </a:r>
            <a:r>
              <a:rPr lang="en-US" sz="1900" u="sng" dirty="0"/>
              <a:t>ly </a:t>
            </a:r>
          </a:p>
          <a:p>
            <a:r>
              <a:rPr lang="en-US" sz="2000" b="1" dirty="0"/>
              <a:t>Derivational</a:t>
            </a:r>
            <a:r>
              <a:rPr lang="en-US" sz="2000" dirty="0"/>
              <a:t>: when they use with a free morpheme they </a:t>
            </a:r>
            <a:r>
              <a:rPr lang="en-US" sz="2000" u="sng" dirty="0"/>
              <a:t>change its meaning</a:t>
            </a:r>
            <a:r>
              <a:rPr lang="en-US" sz="2000" dirty="0"/>
              <a:t>, </a:t>
            </a:r>
            <a:r>
              <a:rPr lang="en-US" sz="2000" u="sng" dirty="0"/>
              <a:t>un</a:t>
            </a:r>
            <a:r>
              <a:rPr lang="en-US" sz="2000" dirty="0"/>
              <a:t>kind, </a:t>
            </a:r>
            <a:r>
              <a:rPr lang="en-US" sz="2000" u="sng" dirty="0"/>
              <a:t>im</a:t>
            </a:r>
            <a:r>
              <a:rPr lang="en-US" sz="2000" dirty="0"/>
              <a:t>mature, </a:t>
            </a:r>
          </a:p>
          <a:p>
            <a:r>
              <a:rPr lang="en-US" sz="2000" b="1" dirty="0"/>
              <a:t>Inflectional</a:t>
            </a:r>
            <a:r>
              <a:rPr lang="en-US" sz="2000" dirty="0"/>
              <a:t>: </a:t>
            </a:r>
            <a:r>
              <a:rPr lang="en-US" sz="2000" u="sng" dirty="0"/>
              <a:t>depicts plurality</a:t>
            </a:r>
            <a:r>
              <a:rPr lang="en-US" sz="2000" dirty="0"/>
              <a:t>, tense change </a:t>
            </a:r>
            <a:r>
              <a:rPr lang="en-US" sz="2000" dirty="0" err="1"/>
              <a:t>etc</a:t>
            </a:r>
            <a:r>
              <a:rPr lang="en-US" sz="2000" dirty="0"/>
              <a:t> cat</a:t>
            </a:r>
            <a:r>
              <a:rPr lang="en-US" sz="2000" u="sng" dirty="0"/>
              <a:t>s</a:t>
            </a:r>
            <a:r>
              <a:rPr lang="en-US" sz="2000" dirty="0"/>
              <a:t>, stopp</a:t>
            </a:r>
            <a:r>
              <a:rPr lang="en-US" sz="2000" u="sng" dirty="0"/>
              <a:t>ed</a:t>
            </a:r>
            <a:r>
              <a:rPr lang="en-US" sz="2000" dirty="0"/>
              <a:t> , runn</a:t>
            </a:r>
            <a:r>
              <a:rPr lang="en-US" sz="2000" u="sng" dirty="0"/>
              <a:t>ing</a:t>
            </a:r>
            <a:r>
              <a:rPr lang="en-US" sz="2000" dirty="0"/>
              <a:t>, ran is also a</a:t>
            </a:r>
            <a:r>
              <a:rPr lang="en-US" sz="2200" dirty="0"/>
              <a:t>n inflected form</a:t>
            </a:r>
          </a:p>
          <a:p>
            <a:pPr lvl="1"/>
            <a:endParaRPr lang="en-US" sz="1900" u="sng" dirty="0"/>
          </a:p>
          <a:p>
            <a:pPr marL="457200" lvl="1" indent="0">
              <a:buNone/>
            </a:pPr>
            <a:endParaRPr lang="en-US" sz="1900" dirty="0"/>
          </a:p>
        </p:txBody>
      </p:sp>
    </p:spTree>
    <p:extLst>
      <p:ext uri="{BB962C8B-B14F-4D97-AF65-F5344CB8AC3E}">
        <p14:creationId xmlns:p14="http://schemas.microsoft.com/office/powerpoint/2010/main" val="2977914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55B82A7-77D2-D541-7CAC-BEEADE132BF0}"/>
              </a:ext>
            </a:extLst>
          </p:cNvPr>
          <p:cNvSpPr>
            <a:spLocks noGrp="1"/>
          </p:cNvSpPr>
          <p:nvPr>
            <p:ph idx="1"/>
          </p:nvPr>
        </p:nvSpPr>
        <p:spPr>
          <a:xfrm>
            <a:off x="290015" y="514350"/>
            <a:ext cx="8534400" cy="3333750"/>
          </a:xfrm>
        </p:spPr>
        <p:txBody>
          <a:bodyPr/>
          <a:lstStyle/>
          <a:p>
            <a:pPr algn="l">
              <a:buFont typeface="+mj-lt"/>
              <a:buAutoNum type="arabicPeriod"/>
            </a:pPr>
            <a:r>
              <a:rPr lang="en-US" sz="1800" b="1" i="0" dirty="0">
                <a:effectLst/>
                <a:latin typeface="Söhne"/>
              </a:rPr>
              <a:t>Compounding:</a:t>
            </a:r>
            <a:endParaRPr lang="en-US" sz="1800" b="0" i="0" dirty="0">
              <a:effectLst/>
              <a:latin typeface="Söhne"/>
            </a:endParaRPr>
          </a:p>
          <a:p>
            <a:pPr marL="742950" lvl="1" indent="-285750" algn="l">
              <a:buFont typeface="+mj-lt"/>
              <a:buAutoNum type="arabicPeriod"/>
            </a:pPr>
            <a:r>
              <a:rPr lang="en-US" sz="1600" b="1" i="0" dirty="0">
                <a:effectLst/>
                <a:latin typeface="Söhne"/>
              </a:rPr>
              <a:t>Process:</a:t>
            </a:r>
            <a:r>
              <a:rPr lang="en-US" sz="1600" b="0" i="0" dirty="0">
                <a:effectLst/>
                <a:latin typeface="Söhne"/>
              </a:rPr>
              <a:t> Compounding involves combining two or more independent words to create a new word.</a:t>
            </a:r>
          </a:p>
          <a:p>
            <a:pPr marL="742950" lvl="1" indent="-285750" algn="l">
              <a:buFont typeface="+mj-lt"/>
              <a:buAutoNum type="arabicPeriod"/>
            </a:pPr>
            <a:r>
              <a:rPr lang="en-US" sz="1600" b="1" i="0" dirty="0">
                <a:effectLst/>
                <a:latin typeface="Söhne"/>
              </a:rPr>
              <a:t>Formation:</a:t>
            </a:r>
            <a:r>
              <a:rPr lang="en-US" sz="1600" b="0" i="0" dirty="0">
                <a:effectLst/>
                <a:latin typeface="Söhne"/>
              </a:rPr>
              <a:t> The resulting compound word often carries a meaning that is a combination of the meanings of its individual components.</a:t>
            </a:r>
          </a:p>
          <a:p>
            <a:pPr marL="742950" lvl="1" indent="-285750" algn="l">
              <a:buFont typeface="+mj-lt"/>
              <a:buAutoNum type="arabicPeriod"/>
            </a:pPr>
            <a:r>
              <a:rPr lang="en-US" sz="1600" b="1" i="0" dirty="0">
                <a:effectLst/>
                <a:latin typeface="Söhne"/>
              </a:rPr>
              <a:t>Examples:</a:t>
            </a:r>
            <a:r>
              <a:rPr lang="en-US" sz="1600" b="0" i="0" dirty="0">
                <a:effectLst/>
                <a:latin typeface="Söhne"/>
              </a:rPr>
              <a:t> "toothbrush" (tooth + brush), "whiteboard" (white + board), "football" (foot + ball).</a:t>
            </a:r>
          </a:p>
          <a:p>
            <a:pPr algn="l">
              <a:buFont typeface="+mj-lt"/>
              <a:buAutoNum type="arabicPeriod"/>
            </a:pPr>
            <a:r>
              <a:rPr lang="en-US" sz="1800" b="1" i="0" dirty="0">
                <a:effectLst/>
                <a:latin typeface="Söhne"/>
              </a:rPr>
              <a:t>Reduplication:</a:t>
            </a:r>
            <a:endParaRPr lang="en-US" sz="1800" b="0" i="0" dirty="0">
              <a:effectLst/>
              <a:latin typeface="Söhne"/>
            </a:endParaRPr>
          </a:p>
          <a:p>
            <a:pPr marL="742950" lvl="1" indent="-285750" algn="l">
              <a:buFont typeface="+mj-lt"/>
              <a:buAutoNum type="arabicPeriod"/>
            </a:pPr>
            <a:r>
              <a:rPr lang="en-US" sz="1600" b="1" i="0" dirty="0">
                <a:effectLst/>
                <a:latin typeface="Söhne"/>
              </a:rPr>
              <a:t>Process:</a:t>
            </a:r>
            <a:r>
              <a:rPr lang="en-US" sz="1600" b="0" i="0" dirty="0">
                <a:effectLst/>
                <a:latin typeface="Söhne"/>
              </a:rPr>
              <a:t> Reduplication involves the repetition of all or part of a word to create a new word or form.</a:t>
            </a:r>
          </a:p>
          <a:p>
            <a:pPr marL="742950" lvl="1" indent="-285750" algn="l">
              <a:buFont typeface="+mj-lt"/>
              <a:buAutoNum type="arabicPeriod"/>
            </a:pPr>
            <a:r>
              <a:rPr lang="en-US" sz="1600" b="1" i="0" dirty="0">
                <a:effectLst/>
                <a:latin typeface="Söhne"/>
              </a:rPr>
              <a:t>Formation:</a:t>
            </a:r>
            <a:r>
              <a:rPr lang="en-US" sz="1600" b="0" i="0" dirty="0">
                <a:effectLst/>
                <a:latin typeface="Söhne"/>
              </a:rPr>
              <a:t> The repeated portion can be a full or partial copy of the original word, and it often serves a grammatical or semantic function.</a:t>
            </a:r>
          </a:p>
          <a:p>
            <a:pPr marL="742950" lvl="1" indent="-285750" algn="l">
              <a:buFont typeface="+mj-lt"/>
              <a:buAutoNum type="arabicPeriod"/>
            </a:pPr>
            <a:r>
              <a:rPr lang="en-US" sz="1600" b="1" i="0" dirty="0">
                <a:effectLst/>
                <a:latin typeface="Söhne"/>
              </a:rPr>
              <a:t>Examples:</a:t>
            </a:r>
            <a:endParaRPr lang="en-US" sz="1600" b="0" i="0" dirty="0">
              <a:effectLst/>
              <a:latin typeface="Söhne"/>
            </a:endParaRPr>
          </a:p>
          <a:p>
            <a:pPr marL="1143000" lvl="2" indent="-228600" algn="l">
              <a:buFont typeface="+mj-lt"/>
              <a:buAutoNum type="arabicPeriod"/>
            </a:pPr>
            <a:r>
              <a:rPr lang="en-US" sz="1600" b="0" i="0" dirty="0">
                <a:effectLst/>
                <a:latin typeface="Söhne"/>
              </a:rPr>
              <a:t>Full reduplication: "bye-bye," "choo-choo."</a:t>
            </a:r>
          </a:p>
          <a:p>
            <a:pPr marL="1143000" lvl="2" indent="-228600" algn="l">
              <a:buFont typeface="+mj-lt"/>
              <a:buAutoNum type="arabicPeriod"/>
            </a:pPr>
            <a:r>
              <a:rPr lang="en-US" sz="1600" b="0" i="0" dirty="0">
                <a:effectLst/>
                <a:latin typeface="Söhne"/>
              </a:rPr>
              <a:t>Partial reduplication: "zigzag," "mishmash."</a:t>
            </a:r>
          </a:p>
          <a:p>
            <a:endParaRPr lang="aa-ET" sz="1800" dirty="0"/>
          </a:p>
        </p:txBody>
      </p:sp>
      <p:sp>
        <p:nvSpPr>
          <p:cNvPr id="4" name="Slide Number Placeholder 3">
            <a:extLst>
              <a:ext uri="{FF2B5EF4-FFF2-40B4-BE49-F238E27FC236}">
                <a16:creationId xmlns:a16="http://schemas.microsoft.com/office/drawing/2014/main" xmlns="" id="{999B0763-C094-27CC-CBF0-0628C3829B68}"/>
              </a:ext>
            </a:extLst>
          </p:cNvPr>
          <p:cNvSpPr>
            <a:spLocks noGrp="1"/>
          </p:cNvSpPr>
          <p:nvPr>
            <p:ph type="sldNum" sz="quarter" idx="12"/>
          </p:nvPr>
        </p:nvSpPr>
        <p:spPr/>
        <p:txBody>
          <a:bodyPr/>
          <a:lstStyle/>
          <a:p>
            <a:fld id="{10F35DC5-7E65-8247-99AB-4E984F8A921E}" type="slidenum">
              <a:rPr lang="en-US" smtClean="0"/>
              <a:pPr/>
              <a:t>4</a:t>
            </a:fld>
            <a:endParaRPr lang="en-US"/>
          </a:p>
        </p:txBody>
      </p:sp>
    </p:spTree>
    <p:extLst>
      <p:ext uri="{BB962C8B-B14F-4D97-AF65-F5344CB8AC3E}">
        <p14:creationId xmlns:p14="http://schemas.microsoft.com/office/powerpoint/2010/main" val="2930890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550E868-63DE-9729-FAAF-5382C76973EA}"/>
              </a:ext>
            </a:extLst>
          </p:cNvPr>
          <p:cNvSpPr>
            <a:spLocks noGrp="1"/>
          </p:cNvSpPr>
          <p:nvPr>
            <p:ph idx="1"/>
          </p:nvPr>
        </p:nvSpPr>
        <p:spPr>
          <a:xfrm>
            <a:off x="304800" y="361950"/>
            <a:ext cx="8534400" cy="4324350"/>
          </a:xfrm>
        </p:spPr>
        <p:txBody>
          <a:bodyPr/>
          <a:lstStyle/>
          <a:p>
            <a:r>
              <a:rPr lang="en-US" b="1" dirty="0"/>
              <a:t>He sat on the chair but he likes sitting on the floor</a:t>
            </a:r>
          </a:p>
          <a:p>
            <a:pPr marL="0" indent="0">
              <a:buNone/>
            </a:pPr>
            <a:r>
              <a:rPr lang="en-US" dirty="0"/>
              <a:t>Words are defined as space delimited sequence of characters</a:t>
            </a:r>
          </a:p>
          <a:p>
            <a:r>
              <a:rPr lang="en-US" dirty="0"/>
              <a:t>Tokens: N=12, </a:t>
            </a:r>
          </a:p>
          <a:p>
            <a:r>
              <a:rPr lang="en-US" dirty="0"/>
              <a:t>V{He, sat, on, the, chair, but, he, likes, sitting, floor}</a:t>
            </a:r>
          </a:p>
          <a:p>
            <a:r>
              <a:rPr lang="en-US" i="1" dirty="0"/>
              <a:t>He, he: </a:t>
            </a:r>
            <a:r>
              <a:rPr lang="en-US" dirty="0"/>
              <a:t>should these be collapsed as one?</a:t>
            </a:r>
          </a:p>
          <a:p>
            <a:r>
              <a:rPr lang="en-US" b="1" dirty="0"/>
              <a:t>Normalization</a:t>
            </a:r>
            <a:r>
              <a:rPr lang="en-US" dirty="0"/>
              <a:t>: </a:t>
            </a:r>
            <a:r>
              <a:rPr lang="en-US" dirty="0" err="1"/>
              <a:t>He,he</a:t>
            </a:r>
            <a:r>
              <a:rPr lang="en-US" dirty="0"/>
              <a:t> are same types (collapse them into 1)</a:t>
            </a:r>
          </a:p>
          <a:p>
            <a:r>
              <a:rPr lang="en-US" dirty="0"/>
              <a:t>Depends on the application you are working on</a:t>
            </a:r>
          </a:p>
          <a:p>
            <a:r>
              <a:rPr lang="en-US" dirty="0"/>
              <a:t>Sentiment analysis:</a:t>
            </a:r>
          </a:p>
          <a:p>
            <a:pPr lvl="1"/>
            <a:r>
              <a:rPr lang="en-US" i="1" dirty="0"/>
              <a:t>The food was delicious.</a:t>
            </a:r>
          </a:p>
          <a:p>
            <a:pPr lvl="1"/>
            <a:r>
              <a:rPr lang="en-US" i="1" dirty="0"/>
              <a:t>The food was DELICIOUSSS.</a:t>
            </a:r>
          </a:p>
          <a:p>
            <a:endParaRPr lang="en-US" i="1" dirty="0"/>
          </a:p>
          <a:p>
            <a:endParaRPr lang="aa-ET" dirty="0"/>
          </a:p>
        </p:txBody>
      </p:sp>
      <p:sp>
        <p:nvSpPr>
          <p:cNvPr id="4" name="Slide Number Placeholder 3">
            <a:extLst>
              <a:ext uri="{FF2B5EF4-FFF2-40B4-BE49-F238E27FC236}">
                <a16:creationId xmlns:a16="http://schemas.microsoft.com/office/drawing/2014/main" xmlns="" id="{84AB2F1C-CC72-B15B-1314-7DECB38FCCDA}"/>
              </a:ext>
            </a:extLst>
          </p:cNvPr>
          <p:cNvSpPr>
            <a:spLocks noGrp="1"/>
          </p:cNvSpPr>
          <p:nvPr>
            <p:ph type="sldNum" sz="quarter" idx="12"/>
          </p:nvPr>
        </p:nvSpPr>
        <p:spPr/>
        <p:txBody>
          <a:bodyPr/>
          <a:lstStyle/>
          <a:p>
            <a:fld id="{10F35DC5-7E65-8247-99AB-4E984F8A921E}" type="slidenum">
              <a:rPr lang="en-US" smtClean="0"/>
              <a:pPr/>
              <a:t>5</a:t>
            </a:fld>
            <a:endParaRPr lang="en-US"/>
          </a:p>
        </p:txBody>
      </p:sp>
    </p:spTree>
    <p:extLst>
      <p:ext uri="{BB962C8B-B14F-4D97-AF65-F5344CB8AC3E}">
        <p14:creationId xmlns:p14="http://schemas.microsoft.com/office/powerpoint/2010/main" val="2125592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dirty="0"/>
              <a:t>How many words? (Normalization)</a:t>
            </a:r>
          </a:p>
        </p:txBody>
      </p:sp>
      <p:sp>
        <p:nvSpPr>
          <p:cNvPr id="22531" name="Rectangle 3"/>
          <p:cNvSpPr>
            <a:spLocks noGrp="1" noChangeArrowheads="1"/>
          </p:cNvSpPr>
          <p:nvPr>
            <p:ph sz="quarter" idx="1"/>
          </p:nvPr>
        </p:nvSpPr>
        <p:spPr>
          <a:xfrm>
            <a:off x="304800" y="1200150"/>
            <a:ext cx="8534400" cy="3333750"/>
          </a:xfrm>
        </p:spPr>
        <p:txBody>
          <a:bodyPr/>
          <a:lstStyle/>
          <a:p>
            <a:r>
              <a:rPr lang="en-US" sz="2000" dirty="0"/>
              <a:t>sat, sitting : should these be collapsed as 1</a:t>
            </a:r>
          </a:p>
          <a:p>
            <a:r>
              <a:rPr lang="en-US" sz="2800" b="1" dirty="0"/>
              <a:t>Stemming</a:t>
            </a:r>
            <a:r>
              <a:rPr lang="en-US" sz="2800" dirty="0"/>
              <a:t>: </a:t>
            </a:r>
            <a:r>
              <a:rPr lang="en-US" dirty="0"/>
              <a:t>applies a set of rules to reduce words to their stems</a:t>
            </a:r>
          </a:p>
          <a:p>
            <a:pPr lvl="1"/>
            <a:r>
              <a:rPr lang="en-US" sz="1900" dirty="0"/>
              <a:t>Runner, run, ran, running, runs </a:t>
            </a:r>
            <a:r>
              <a:rPr lang="en-US" sz="1900" dirty="0">
                <a:sym typeface="Wingdings" panose="05000000000000000000" pitchFamily="2" charset="2"/>
              </a:rPr>
              <a:t> run</a:t>
            </a:r>
            <a:r>
              <a:rPr lang="aa-ET" dirty="0"/>
              <a:t/>
            </a:r>
            <a:br>
              <a:rPr lang="aa-ET" dirty="0"/>
            </a:br>
            <a:r>
              <a:rPr lang="en-US" sz="1800" dirty="0"/>
              <a:t>The rules are applied recursively to reach the stem</a:t>
            </a:r>
          </a:p>
          <a:p>
            <a:pPr lvl="1"/>
            <a:r>
              <a:rPr lang="en-US" sz="1800" dirty="0"/>
              <a:t>Using stemmer you reduce the vocab</a:t>
            </a:r>
          </a:p>
          <a:p>
            <a:pPr lvl="1"/>
            <a:r>
              <a:rPr lang="en-US" sz="1800" dirty="0"/>
              <a:t>Automatic, automated, automata might be collapsed as </a:t>
            </a:r>
            <a:r>
              <a:rPr lang="en-US" sz="1800" b="1" dirty="0"/>
              <a:t>automat</a:t>
            </a:r>
          </a:p>
          <a:p>
            <a:pPr lvl="1"/>
            <a:r>
              <a:rPr lang="en-US" sz="1800" dirty="0"/>
              <a:t>FP and FN errors are common in stemmers</a:t>
            </a:r>
          </a:p>
          <a:p>
            <a:pPr lvl="1"/>
            <a:r>
              <a:rPr lang="en-US" sz="1800" b="1" dirty="0"/>
              <a:t>Issues</a:t>
            </a:r>
            <a:r>
              <a:rPr lang="en-US" sz="1800" dirty="0"/>
              <a:t>: might get meaningless words (automat), </a:t>
            </a:r>
          </a:p>
          <a:p>
            <a:pPr lvl="2"/>
            <a:r>
              <a:rPr lang="en-US" sz="1800" dirty="0"/>
              <a:t>might intermingle multiple meaning words into one (automatic, automata)</a:t>
            </a:r>
          </a:p>
          <a:p>
            <a:pPr lvl="1"/>
            <a:endParaRPr lang="en-US" sz="1600" dirty="0"/>
          </a:p>
        </p:txBody>
      </p:sp>
    </p:spTree>
    <p:extLst>
      <p:ext uri="{BB962C8B-B14F-4D97-AF65-F5344CB8AC3E}">
        <p14:creationId xmlns:p14="http://schemas.microsoft.com/office/powerpoint/2010/main" val="1736718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dirty="0"/>
              <a:t>Stemming</a:t>
            </a:r>
          </a:p>
        </p:txBody>
      </p:sp>
      <p:sp>
        <p:nvSpPr>
          <p:cNvPr id="38915" name="Rectangle 3"/>
          <p:cNvSpPr>
            <a:spLocks noGrp="1" noChangeArrowheads="1"/>
          </p:cNvSpPr>
          <p:nvPr>
            <p:ph sz="quarter" idx="1"/>
          </p:nvPr>
        </p:nvSpPr>
        <p:spPr/>
        <p:txBody>
          <a:bodyPr/>
          <a:lstStyle/>
          <a:p>
            <a:pPr eaLnBrk="1" hangingPunct="1"/>
            <a:r>
              <a:rPr lang="en-US" dirty="0"/>
              <a:t>Stemming algorithms can be </a:t>
            </a:r>
            <a:r>
              <a:rPr lang="en-US" b="1" dirty="0"/>
              <a:t>rule-based or probabilistic</a:t>
            </a:r>
            <a:r>
              <a:rPr lang="en-US" dirty="0"/>
              <a:t>.</a:t>
            </a:r>
          </a:p>
          <a:p>
            <a:pPr eaLnBrk="1" hangingPunct="1"/>
            <a:r>
              <a:rPr lang="en-US" b="1" dirty="0"/>
              <a:t>Rule-based</a:t>
            </a:r>
            <a:r>
              <a:rPr lang="en-US" dirty="0"/>
              <a:t> stemmers use a set of predefined rules to remove suffixes and other word endings. For example, a rule-based stemmer might remove the suffix -s from all nouns and the suffix -ed from all verbs.</a:t>
            </a:r>
          </a:p>
          <a:p>
            <a:pPr eaLnBrk="1" hangingPunct="1"/>
            <a:r>
              <a:rPr lang="en-US" b="1" dirty="0"/>
              <a:t>Probabilistic</a:t>
            </a:r>
            <a:r>
              <a:rPr lang="en-US" dirty="0"/>
              <a:t> stemmers use statistical models to determine the most likely stem for a word based on its frequency and usage patterns in a large corpus of text.</a:t>
            </a:r>
          </a:p>
        </p:txBody>
      </p:sp>
      <p:sp>
        <p:nvSpPr>
          <p:cNvPr id="38916" name="Rectangle 4"/>
          <p:cNvSpPr>
            <a:spLocks noChangeArrowheads="1"/>
          </p:cNvSpPr>
          <p:nvPr/>
        </p:nvSpPr>
        <p:spPr bwMode="auto">
          <a:xfrm>
            <a:off x="777875" y="1253729"/>
            <a:ext cx="184666" cy="461665"/>
          </a:xfrm>
          <a:prstGeom prst="rect">
            <a:avLst/>
          </a:prstGeom>
          <a:noFill/>
          <a:ln w="9525">
            <a:noFill/>
            <a:miter lim="800000"/>
            <a:headEnd/>
            <a:tailEnd/>
          </a:ln>
        </p:spPr>
        <p:txBody>
          <a:bodyPr wrap="none">
            <a:prstTxWarp prst="textNoShape">
              <a:avLst/>
            </a:prstTxWarp>
            <a:spAutoFit/>
          </a:bodyPr>
          <a:lstStyle/>
          <a:p>
            <a:endParaRPr lang="en-US">
              <a:latin typeface="Arial" charset="0"/>
            </a:endParaRPr>
          </a:p>
        </p:txBody>
      </p:sp>
    </p:spTree>
    <p:extLst>
      <p:ext uri="{BB962C8B-B14F-4D97-AF65-F5344CB8AC3E}">
        <p14:creationId xmlns:p14="http://schemas.microsoft.com/office/powerpoint/2010/main" val="3485210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dirty="0"/>
              <a:t>How many words?</a:t>
            </a:r>
          </a:p>
        </p:txBody>
      </p:sp>
      <p:sp>
        <p:nvSpPr>
          <p:cNvPr id="22531" name="Rectangle 3"/>
          <p:cNvSpPr>
            <a:spLocks noGrp="1" noChangeArrowheads="1"/>
          </p:cNvSpPr>
          <p:nvPr>
            <p:ph sz="quarter" idx="1"/>
          </p:nvPr>
        </p:nvSpPr>
        <p:spPr/>
        <p:txBody>
          <a:bodyPr/>
          <a:lstStyle/>
          <a:p>
            <a:r>
              <a:rPr lang="en-US" sz="2800" dirty="0"/>
              <a:t>I do</a:t>
            </a:r>
            <a:r>
              <a:rPr lang="en-US" sz="2800" dirty="0">
                <a:solidFill>
                  <a:schemeClr val="accent3">
                    <a:lumMod val="60000"/>
                    <a:lumOff val="40000"/>
                  </a:schemeClr>
                </a:solidFill>
              </a:rPr>
              <a:t> uh </a:t>
            </a:r>
            <a:r>
              <a:rPr lang="en-US" sz="2800" dirty="0">
                <a:solidFill>
                  <a:srgbClr val="00B0F0"/>
                </a:solidFill>
              </a:rPr>
              <a:t>main</a:t>
            </a:r>
            <a:r>
              <a:rPr lang="en-US" sz="2800" dirty="0"/>
              <a:t>- mainly business data processing</a:t>
            </a:r>
          </a:p>
          <a:p>
            <a:pPr lvl="1"/>
            <a:r>
              <a:rPr lang="en-US" sz="2400" dirty="0">
                <a:solidFill>
                  <a:srgbClr val="00B0F0"/>
                </a:solidFill>
              </a:rPr>
              <a:t>Fragments</a:t>
            </a:r>
            <a:r>
              <a:rPr lang="en-US" sz="2400" dirty="0"/>
              <a:t>, </a:t>
            </a:r>
            <a:r>
              <a:rPr lang="en-US" sz="2400" dirty="0">
                <a:solidFill>
                  <a:schemeClr val="accent3">
                    <a:lumMod val="60000"/>
                    <a:lumOff val="40000"/>
                  </a:schemeClr>
                </a:solidFill>
              </a:rPr>
              <a:t>filled pauses</a:t>
            </a:r>
          </a:p>
          <a:p>
            <a:r>
              <a:rPr lang="en-US" sz="2800" dirty="0"/>
              <a:t>Seuss’s </a:t>
            </a:r>
            <a:r>
              <a:rPr lang="en-US" sz="2800" dirty="0">
                <a:solidFill>
                  <a:srgbClr val="FF0000"/>
                </a:solidFill>
              </a:rPr>
              <a:t>cat </a:t>
            </a:r>
            <a:r>
              <a:rPr lang="en-US" sz="2800" dirty="0"/>
              <a:t>in the hat is different from other</a:t>
            </a:r>
            <a:r>
              <a:rPr lang="en-US" sz="2800" dirty="0">
                <a:solidFill>
                  <a:srgbClr val="FF0000"/>
                </a:solidFill>
              </a:rPr>
              <a:t> cats! </a:t>
            </a:r>
            <a:endParaRPr lang="en-US" sz="2800" dirty="0"/>
          </a:p>
          <a:p>
            <a:pPr lvl="1"/>
            <a:r>
              <a:rPr lang="en-US" sz="2400" b="1" dirty="0"/>
              <a:t>Lemma</a:t>
            </a:r>
            <a:r>
              <a:rPr lang="en-US" sz="2400" dirty="0"/>
              <a:t>: same stem, part of speech, rough word sense</a:t>
            </a:r>
          </a:p>
          <a:p>
            <a:pPr lvl="2"/>
            <a:r>
              <a:rPr lang="en-US" sz="2000" dirty="0">
                <a:solidFill>
                  <a:srgbClr val="FF0000"/>
                </a:solidFill>
              </a:rPr>
              <a:t>cat </a:t>
            </a:r>
            <a:r>
              <a:rPr lang="en-US" sz="2000" dirty="0"/>
              <a:t>and </a:t>
            </a:r>
            <a:r>
              <a:rPr lang="en-US" sz="2000" dirty="0">
                <a:solidFill>
                  <a:srgbClr val="FF0000"/>
                </a:solidFill>
              </a:rPr>
              <a:t>cats </a:t>
            </a:r>
            <a:r>
              <a:rPr lang="en-US" sz="2000" dirty="0"/>
              <a:t>= same lemma</a:t>
            </a:r>
          </a:p>
          <a:p>
            <a:pPr lvl="1"/>
            <a:r>
              <a:rPr lang="en-US" sz="2400" b="1" dirty="0" err="1"/>
              <a:t>Wordform</a:t>
            </a:r>
            <a:r>
              <a:rPr lang="en-US" sz="2400" dirty="0"/>
              <a:t>: the full inflected surface form</a:t>
            </a:r>
          </a:p>
          <a:p>
            <a:pPr lvl="2"/>
            <a:r>
              <a:rPr lang="en-US" sz="2000" dirty="0">
                <a:solidFill>
                  <a:srgbClr val="FF0000"/>
                </a:solidFill>
              </a:rPr>
              <a:t>cat </a:t>
            </a:r>
            <a:r>
              <a:rPr lang="en-US" sz="2000" dirty="0"/>
              <a:t>and </a:t>
            </a:r>
            <a:r>
              <a:rPr lang="en-US" sz="2000" dirty="0">
                <a:solidFill>
                  <a:srgbClr val="FF0000"/>
                </a:solidFill>
              </a:rPr>
              <a:t>cats </a:t>
            </a:r>
            <a:r>
              <a:rPr lang="en-US" sz="2000" dirty="0"/>
              <a:t>= different </a:t>
            </a:r>
            <a:r>
              <a:rPr lang="en-US" sz="2000" dirty="0" err="1"/>
              <a:t>wordforms</a:t>
            </a:r>
            <a:endParaRPr lang="en-US" sz="2000" dirty="0"/>
          </a:p>
        </p:txBody>
      </p:sp>
    </p:spTree>
    <p:extLst>
      <p:ext uri="{BB962C8B-B14F-4D97-AF65-F5344CB8AC3E}">
        <p14:creationId xmlns:p14="http://schemas.microsoft.com/office/powerpoint/2010/main" val="3182607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050"/>
          <p:cNvSpPr>
            <a:spLocks noGrp="1" noChangeArrowheads="1"/>
          </p:cNvSpPr>
          <p:nvPr>
            <p:ph type="title"/>
          </p:nvPr>
        </p:nvSpPr>
        <p:spPr>
          <a:xfrm>
            <a:off x="1371600" y="209550"/>
            <a:ext cx="7467600" cy="742950"/>
          </a:xfrm>
        </p:spPr>
        <p:txBody>
          <a:bodyPr/>
          <a:lstStyle/>
          <a:p>
            <a:pPr eaLnBrk="1" hangingPunct="1"/>
            <a:r>
              <a:rPr lang="en-US" dirty="0"/>
              <a:t>Normalization</a:t>
            </a:r>
          </a:p>
        </p:txBody>
      </p:sp>
      <p:sp>
        <p:nvSpPr>
          <p:cNvPr id="35843" name="Rectangle 2051"/>
          <p:cNvSpPr>
            <a:spLocks noGrp="1" noChangeArrowheads="1"/>
          </p:cNvSpPr>
          <p:nvPr>
            <p:ph sz="quarter" idx="1"/>
          </p:nvPr>
        </p:nvSpPr>
        <p:spPr/>
        <p:txBody>
          <a:bodyPr/>
          <a:lstStyle/>
          <a:p>
            <a:pPr eaLnBrk="1" hangingPunct="1"/>
            <a:r>
              <a:rPr lang="en-US" dirty="0">
                <a:sym typeface="Symbol" charset="2"/>
              </a:rPr>
              <a:t>Need to “normalize” terms </a:t>
            </a:r>
          </a:p>
          <a:p>
            <a:pPr lvl="1" eaLnBrk="1" hangingPunct="1"/>
            <a:r>
              <a:rPr lang="en-US" dirty="0">
                <a:sym typeface="Symbol" charset="2"/>
              </a:rPr>
              <a:t>Information Retrieval: indexed text &amp; query terms must have same form.</a:t>
            </a:r>
          </a:p>
          <a:p>
            <a:pPr lvl="2" eaLnBrk="1" hangingPunct="1"/>
            <a:r>
              <a:rPr lang="en-US" sz="1800" dirty="0">
                <a:sym typeface="Symbol" charset="2"/>
              </a:rPr>
              <a:t>We want to match </a:t>
            </a:r>
            <a:r>
              <a:rPr lang="en-US" sz="1800" b="1" i="1" dirty="0">
                <a:sym typeface="Symbol" charset="2"/>
              </a:rPr>
              <a:t>U.S.A.</a:t>
            </a:r>
            <a:r>
              <a:rPr lang="en-US" sz="1800" dirty="0">
                <a:sym typeface="Symbol" charset="2"/>
              </a:rPr>
              <a:t> and </a:t>
            </a:r>
            <a:r>
              <a:rPr lang="en-US" sz="1800" b="1" i="1" dirty="0">
                <a:sym typeface="Symbol" charset="2"/>
              </a:rPr>
              <a:t>USA</a:t>
            </a:r>
            <a:endParaRPr lang="en-US" sz="1800" dirty="0">
              <a:sym typeface="Symbol" charset="2"/>
            </a:endParaRPr>
          </a:p>
          <a:p>
            <a:pPr eaLnBrk="1" hangingPunct="1"/>
            <a:r>
              <a:rPr lang="en-US" dirty="0">
                <a:sym typeface="Symbol" charset="2"/>
              </a:rPr>
              <a:t>We implicitly define equivalence classes of terms</a:t>
            </a:r>
          </a:p>
          <a:p>
            <a:pPr lvl="1" eaLnBrk="1" hangingPunct="1"/>
            <a:r>
              <a:rPr lang="en-US" dirty="0">
                <a:sym typeface="Symbol" charset="2"/>
              </a:rPr>
              <a:t>e.g., deleting periods in a term</a:t>
            </a:r>
          </a:p>
          <a:p>
            <a:pPr eaLnBrk="1" hangingPunct="1"/>
            <a:r>
              <a:rPr lang="en-US" dirty="0">
                <a:sym typeface="Symbol" charset="2"/>
              </a:rPr>
              <a:t>Alternative: asymmetric expansion:</a:t>
            </a:r>
          </a:p>
          <a:p>
            <a:pPr lvl="1" eaLnBrk="1" hangingPunct="1"/>
            <a:r>
              <a:rPr lang="en-US" sz="1600" dirty="0">
                <a:sym typeface="Symbol" charset="2"/>
              </a:rPr>
              <a:t>Enter: </a:t>
            </a:r>
            <a:r>
              <a:rPr lang="en-US" sz="1600" b="1" i="1" dirty="0">
                <a:sym typeface="Symbol" charset="2"/>
              </a:rPr>
              <a:t>window</a:t>
            </a:r>
            <a:r>
              <a:rPr lang="en-US" sz="1600" dirty="0">
                <a:sym typeface="Symbol" charset="2"/>
              </a:rPr>
              <a:t>	Search: </a:t>
            </a:r>
            <a:r>
              <a:rPr lang="en-US" sz="1600" b="1" i="1" dirty="0">
                <a:sym typeface="Symbol" charset="2"/>
              </a:rPr>
              <a:t>window, windows</a:t>
            </a:r>
          </a:p>
          <a:p>
            <a:pPr lvl="1" eaLnBrk="1" hangingPunct="1"/>
            <a:r>
              <a:rPr lang="en-US" sz="1600" dirty="0">
                <a:sym typeface="Symbol" charset="2"/>
              </a:rPr>
              <a:t>Enter: </a:t>
            </a:r>
            <a:r>
              <a:rPr lang="en-US" sz="1600" b="1" i="1" dirty="0">
                <a:sym typeface="Symbol" charset="2"/>
              </a:rPr>
              <a:t>windows</a:t>
            </a:r>
            <a:r>
              <a:rPr lang="en-US" sz="1600" dirty="0">
                <a:sym typeface="Symbol" charset="2"/>
              </a:rPr>
              <a:t>	Search: </a:t>
            </a:r>
            <a:r>
              <a:rPr lang="en-US" sz="1600" b="1" i="1" dirty="0">
                <a:sym typeface="Symbol" charset="2"/>
              </a:rPr>
              <a:t>Windows, windows, window</a:t>
            </a:r>
          </a:p>
          <a:p>
            <a:pPr lvl="1" eaLnBrk="1" hangingPunct="1"/>
            <a:r>
              <a:rPr lang="en-US" sz="1600" dirty="0">
                <a:sym typeface="Symbol" charset="2"/>
              </a:rPr>
              <a:t>Enter: </a:t>
            </a:r>
            <a:r>
              <a:rPr lang="en-US" sz="1600" b="1" i="1" dirty="0">
                <a:sym typeface="Symbol" charset="2"/>
              </a:rPr>
              <a:t>Windows</a:t>
            </a:r>
            <a:r>
              <a:rPr lang="en-US" sz="1600" dirty="0">
                <a:sym typeface="Symbol" charset="2"/>
              </a:rPr>
              <a:t>	Search: </a:t>
            </a:r>
            <a:r>
              <a:rPr lang="en-US" sz="1600" b="1" i="1" dirty="0">
                <a:sym typeface="Symbol" charset="2"/>
              </a:rPr>
              <a:t>Windows</a:t>
            </a:r>
          </a:p>
          <a:p>
            <a:pPr eaLnBrk="1" hangingPunct="1"/>
            <a:r>
              <a:rPr lang="en-US" dirty="0">
                <a:sym typeface="Symbol" charset="2"/>
              </a:rPr>
              <a:t>Potentially more powerful, but less efficient</a:t>
            </a:r>
          </a:p>
          <a:p>
            <a:pPr lvl="1" eaLnBrk="1" hangingPunct="1"/>
            <a:endParaRPr lang="en-US" sz="1800" dirty="0">
              <a:sym typeface="Symbol" charset="2"/>
            </a:endParaRPr>
          </a:p>
        </p:txBody>
      </p:sp>
    </p:spTree>
    <p:extLst>
      <p:ext uri="{BB962C8B-B14F-4D97-AF65-F5344CB8AC3E}">
        <p14:creationId xmlns:p14="http://schemas.microsoft.com/office/powerpoint/2010/main" val="15965307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6"/>
          <p:cNvSpPr>
            <a:spLocks noGrp="1" noChangeArrowheads="1"/>
          </p:cNvSpPr>
          <p:nvPr>
            <p:ph type="title"/>
          </p:nvPr>
        </p:nvSpPr>
        <p:spPr>
          <a:xfrm>
            <a:off x="1371600" y="366713"/>
            <a:ext cx="7467600" cy="742950"/>
          </a:xfrm>
        </p:spPr>
        <p:txBody>
          <a:bodyPr/>
          <a:lstStyle/>
          <a:p>
            <a:pPr eaLnBrk="1" hangingPunct="1"/>
            <a:r>
              <a:rPr lang="en-US" dirty="0"/>
              <a:t>Case folding</a:t>
            </a:r>
          </a:p>
        </p:txBody>
      </p:sp>
      <p:sp>
        <p:nvSpPr>
          <p:cNvPr id="36867" name="Rectangle 7"/>
          <p:cNvSpPr>
            <a:spLocks noGrp="1" noChangeArrowheads="1"/>
          </p:cNvSpPr>
          <p:nvPr>
            <p:ph sz="quarter" idx="1"/>
          </p:nvPr>
        </p:nvSpPr>
        <p:spPr/>
        <p:txBody>
          <a:bodyPr/>
          <a:lstStyle/>
          <a:p>
            <a:pPr eaLnBrk="1" hangingPunct="1"/>
            <a:r>
              <a:rPr lang="en-US" sz="2800" dirty="0"/>
              <a:t>Applications like IR: reduce all letters to lower case</a:t>
            </a:r>
          </a:p>
          <a:p>
            <a:pPr lvl="1" eaLnBrk="1" hangingPunct="1"/>
            <a:r>
              <a:rPr lang="en-US" sz="2400" dirty="0"/>
              <a:t>Since users tend to use lower case</a:t>
            </a:r>
          </a:p>
          <a:p>
            <a:pPr lvl="1" eaLnBrk="1" hangingPunct="1"/>
            <a:r>
              <a:rPr lang="en-US" sz="2400" dirty="0"/>
              <a:t>Possible exception: upper case in mid-sentence?</a:t>
            </a:r>
          </a:p>
          <a:p>
            <a:pPr lvl="2" eaLnBrk="1" hangingPunct="1"/>
            <a:r>
              <a:rPr lang="en-US" sz="2000" dirty="0"/>
              <a:t>e.g., </a:t>
            </a:r>
            <a:r>
              <a:rPr lang="en-US" sz="2000" b="1" i="1" dirty="0"/>
              <a:t>General Motors</a:t>
            </a:r>
          </a:p>
          <a:p>
            <a:pPr lvl="2" eaLnBrk="1" hangingPunct="1"/>
            <a:r>
              <a:rPr lang="en-US" sz="2000" b="1" i="1" dirty="0"/>
              <a:t>Fed</a:t>
            </a:r>
            <a:r>
              <a:rPr lang="en-US" sz="2000" dirty="0"/>
              <a:t> vs. </a:t>
            </a:r>
            <a:r>
              <a:rPr lang="en-US" sz="2000" b="1" i="1" dirty="0"/>
              <a:t>fed</a:t>
            </a:r>
          </a:p>
          <a:p>
            <a:pPr lvl="2" eaLnBrk="1" hangingPunct="1"/>
            <a:r>
              <a:rPr lang="en-US" sz="2000" b="1" i="1" dirty="0"/>
              <a:t>SAIL</a:t>
            </a:r>
            <a:r>
              <a:rPr lang="en-US" sz="2000" dirty="0"/>
              <a:t> vs. </a:t>
            </a:r>
            <a:r>
              <a:rPr lang="en-US" sz="2000" b="1" i="1" dirty="0"/>
              <a:t>sail</a:t>
            </a:r>
          </a:p>
          <a:p>
            <a:r>
              <a:rPr lang="en-US" sz="2800" dirty="0"/>
              <a:t>For sentiment analysis, MT, Information extraction</a:t>
            </a:r>
          </a:p>
          <a:p>
            <a:pPr lvl="1"/>
            <a:r>
              <a:rPr lang="en-US" sz="2400" dirty="0"/>
              <a:t>Case is helpful (</a:t>
            </a:r>
            <a:r>
              <a:rPr lang="en-US" sz="2400" b="1" i="1" dirty="0"/>
              <a:t>US</a:t>
            </a:r>
            <a:r>
              <a:rPr lang="en-US" sz="2400" dirty="0"/>
              <a:t> versus </a:t>
            </a:r>
            <a:r>
              <a:rPr lang="en-US" sz="2400" b="1" i="1" dirty="0"/>
              <a:t>us </a:t>
            </a:r>
            <a:r>
              <a:rPr lang="en-US" sz="2400" dirty="0"/>
              <a:t>is important)</a:t>
            </a:r>
          </a:p>
        </p:txBody>
      </p:sp>
    </p:spTree>
    <p:extLst>
      <p:ext uri="{BB962C8B-B14F-4D97-AF65-F5344CB8AC3E}">
        <p14:creationId xmlns:p14="http://schemas.microsoft.com/office/powerpoint/2010/main" val="4155993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dirty="0"/>
              <a:t>How many words? (Normalization)</a:t>
            </a:r>
          </a:p>
        </p:txBody>
      </p:sp>
      <p:sp>
        <p:nvSpPr>
          <p:cNvPr id="22531" name="Rectangle 3"/>
          <p:cNvSpPr>
            <a:spLocks noGrp="1" noChangeArrowheads="1"/>
          </p:cNvSpPr>
          <p:nvPr>
            <p:ph sz="quarter" idx="1"/>
          </p:nvPr>
        </p:nvSpPr>
        <p:spPr/>
        <p:txBody>
          <a:bodyPr/>
          <a:lstStyle/>
          <a:p>
            <a:r>
              <a:rPr lang="en-US" sz="2800" b="1" dirty="0"/>
              <a:t>Lemmatization: </a:t>
            </a:r>
            <a:r>
              <a:rPr lang="en-US" dirty="0"/>
              <a:t>dictionary based</a:t>
            </a:r>
          </a:p>
          <a:p>
            <a:r>
              <a:rPr lang="en-US" sz="1800" b="1" dirty="0"/>
              <a:t>Replaces words with the dictionary root word/head word</a:t>
            </a:r>
          </a:p>
          <a:p>
            <a:r>
              <a:rPr lang="en-US" sz="1800" i="1" dirty="0"/>
              <a:t>Lemmatization is the process of reducing a word to its base or dictionary form, called the </a:t>
            </a:r>
            <a:r>
              <a:rPr lang="en-US" sz="1800" b="1" i="1" dirty="0"/>
              <a:t>lemma</a:t>
            </a:r>
            <a:r>
              <a:rPr lang="en-US" sz="1800" i="1" dirty="0"/>
              <a:t>. This is different from stemming, which reduces words to their root form, which may not necessarily be a dictionary word.</a:t>
            </a:r>
          </a:p>
          <a:p>
            <a:r>
              <a:rPr lang="en-US" sz="1800" dirty="0"/>
              <a:t>ran, runs, running </a:t>
            </a:r>
            <a:r>
              <a:rPr lang="en-US" sz="1800" dirty="0">
                <a:sym typeface="Wingdings" panose="05000000000000000000" pitchFamily="2" charset="2"/>
              </a:rPr>
              <a:t> </a:t>
            </a:r>
            <a:r>
              <a:rPr lang="en-US" sz="1800" b="1" dirty="0"/>
              <a:t>run</a:t>
            </a:r>
          </a:p>
          <a:p>
            <a:r>
              <a:rPr lang="en-US" sz="1800" b="1" dirty="0"/>
              <a:t>runner, runners </a:t>
            </a:r>
            <a:r>
              <a:rPr lang="en-US" sz="1800" b="1" dirty="0">
                <a:sym typeface="Wingdings" panose="05000000000000000000" pitchFamily="2" charset="2"/>
              </a:rPr>
              <a:t> runner</a:t>
            </a:r>
            <a:endParaRPr lang="en-US" sz="1800" b="1" dirty="0"/>
          </a:p>
          <a:p>
            <a:r>
              <a:rPr lang="en-US" sz="1800" b="1" dirty="0"/>
              <a:t>sat, sitting </a:t>
            </a:r>
            <a:r>
              <a:rPr lang="en-US" sz="1800" b="1" dirty="0">
                <a:sym typeface="Wingdings" panose="05000000000000000000" pitchFamily="2" charset="2"/>
              </a:rPr>
              <a:t> sit</a:t>
            </a:r>
          </a:p>
          <a:p>
            <a:r>
              <a:rPr lang="en-US" sz="1800" b="1" dirty="0">
                <a:sym typeface="Wingdings" panose="05000000000000000000" pitchFamily="2" charset="2"/>
              </a:rPr>
              <a:t>Children  child</a:t>
            </a:r>
          </a:p>
          <a:p>
            <a:r>
              <a:rPr lang="en-US" sz="2000" dirty="0">
                <a:sym typeface="Wingdings" panose="05000000000000000000" pitchFamily="2" charset="2"/>
              </a:rPr>
              <a:t>Normalization will be done according to your task!</a:t>
            </a:r>
            <a:endParaRPr lang="en-US" sz="2000" dirty="0"/>
          </a:p>
        </p:txBody>
      </p:sp>
    </p:spTree>
    <p:extLst>
      <p:ext uri="{BB962C8B-B14F-4D97-AF65-F5344CB8AC3E}">
        <p14:creationId xmlns:p14="http://schemas.microsoft.com/office/powerpoint/2010/main" val="35923805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a:t>Lemmatization</a:t>
            </a:r>
          </a:p>
        </p:txBody>
      </p:sp>
      <p:sp>
        <p:nvSpPr>
          <p:cNvPr id="37891" name="Rectangle 3"/>
          <p:cNvSpPr>
            <a:spLocks noGrp="1" noChangeArrowheads="1"/>
          </p:cNvSpPr>
          <p:nvPr>
            <p:ph sz="quarter" idx="1"/>
          </p:nvPr>
        </p:nvSpPr>
        <p:spPr>
          <a:xfrm>
            <a:off x="152400" y="1352550"/>
            <a:ext cx="8686800" cy="3333750"/>
          </a:xfrm>
        </p:spPr>
        <p:txBody>
          <a:bodyPr/>
          <a:lstStyle/>
          <a:p>
            <a:pPr eaLnBrk="1" hangingPunct="1"/>
            <a:r>
              <a:rPr lang="en-US" dirty="0"/>
              <a:t>Reduce inflections or variant forms to base form</a:t>
            </a:r>
          </a:p>
          <a:p>
            <a:pPr lvl="1" eaLnBrk="1" hangingPunct="1">
              <a:spcBef>
                <a:spcPts val="500"/>
              </a:spcBef>
              <a:spcAft>
                <a:spcPts val="500"/>
              </a:spcAft>
            </a:pPr>
            <a:r>
              <a:rPr lang="en-US" sz="2400" i="1" dirty="0"/>
              <a:t>am, are,</a:t>
            </a:r>
            <a:r>
              <a:rPr lang="en-US" sz="2400" dirty="0"/>
              <a:t> </a:t>
            </a:r>
            <a:r>
              <a:rPr lang="en-US" sz="2400" i="1" dirty="0"/>
              <a:t>is </a:t>
            </a:r>
            <a:r>
              <a:rPr lang="en-US" sz="2400" dirty="0">
                <a:sym typeface="Symbol" charset="2"/>
              </a:rPr>
              <a:t></a:t>
            </a:r>
            <a:r>
              <a:rPr lang="en-US" sz="2400" dirty="0"/>
              <a:t> </a:t>
            </a:r>
            <a:r>
              <a:rPr lang="en-US" sz="2400" i="1" dirty="0"/>
              <a:t>be</a:t>
            </a:r>
            <a:endParaRPr lang="en-US" sz="2400" dirty="0"/>
          </a:p>
          <a:p>
            <a:pPr lvl="1" eaLnBrk="1" hangingPunct="1">
              <a:spcBef>
                <a:spcPts val="500"/>
              </a:spcBef>
              <a:spcAft>
                <a:spcPts val="500"/>
              </a:spcAft>
            </a:pPr>
            <a:r>
              <a:rPr lang="en-US" sz="2400" i="1" dirty="0"/>
              <a:t>car, cars, car's</a:t>
            </a:r>
            <a:r>
              <a:rPr lang="en-US" sz="2400" dirty="0"/>
              <a:t>, </a:t>
            </a:r>
            <a:r>
              <a:rPr lang="en-US" sz="2400" i="1" dirty="0"/>
              <a:t>cars'</a:t>
            </a:r>
            <a:r>
              <a:rPr lang="en-US" sz="2400" dirty="0"/>
              <a:t> </a:t>
            </a:r>
            <a:r>
              <a:rPr lang="en-US" sz="2400" dirty="0">
                <a:sym typeface="Symbol" charset="2"/>
              </a:rPr>
              <a:t></a:t>
            </a:r>
            <a:r>
              <a:rPr lang="en-US" sz="2400" dirty="0"/>
              <a:t> </a:t>
            </a:r>
            <a:r>
              <a:rPr lang="en-US" sz="2400" i="1" dirty="0"/>
              <a:t>car</a:t>
            </a:r>
          </a:p>
          <a:p>
            <a:pPr eaLnBrk="1" hangingPunct="1">
              <a:spcBef>
                <a:spcPts val="500"/>
              </a:spcBef>
              <a:spcAft>
                <a:spcPts val="500"/>
              </a:spcAft>
            </a:pPr>
            <a:r>
              <a:rPr lang="en-US" i="1" dirty="0"/>
              <a:t>the boy</a:t>
            </a:r>
            <a:r>
              <a:rPr lang="en-US" i="1" dirty="0">
                <a:solidFill>
                  <a:srgbClr val="FF0000"/>
                </a:solidFill>
              </a:rPr>
              <a:t>'s</a:t>
            </a:r>
            <a:r>
              <a:rPr lang="en-US" i="1" dirty="0"/>
              <a:t> cars </a:t>
            </a:r>
            <a:r>
              <a:rPr lang="en-US" b="1" i="1" dirty="0"/>
              <a:t>are</a:t>
            </a:r>
            <a:r>
              <a:rPr lang="en-US" i="1" dirty="0"/>
              <a:t> different colors</a:t>
            </a:r>
            <a:r>
              <a:rPr lang="en-US" dirty="0"/>
              <a:t> </a:t>
            </a:r>
            <a:r>
              <a:rPr lang="en-US" dirty="0">
                <a:sym typeface="Symbol" charset="2"/>
              </a:rPr>
              <a:t></a:t>
            </a:r>
            <a:r>
              <a:rPr lang="en-US" dirty="0"/>
              <a:t> </a:t>
            </a:r>
            <a:r>
              <a:rPr lang="en-US" i="1" dirty="0"/>
              <a:t>the boy car </a:t>
            </a:r>
            <a:r>
              <a:rPr lang="en-US" b="1" i="1" dirty="0"/>
              <a:t>be</a:t>
            </a:r>
            <a:r>
              <a:rPr lang="en-US" i="1" dirty="0"/>
              <a:t> different color</a:t>
            </a:r>
          </a:p>
          <a:p>
            <a:pPr eaLnBrk="1" hangingPunct="1">
              <a:spcBef>
                <a:spcPts val="500"/>
              </a:spcBef>
              <a:spcAft>
                <a:spcPts val="500"/>
              </a:spcAft>
            </a:pPr>
            <a:r>
              <a:rPr lang="en-US" dirty="0"/>
              <a:t>Lemmatization: have to find correct dictionary headword form</a:t>
            </a:r>
          </a:p>
          <a:p>
            <a:pPr>
              <a:lnSpc>
                <a:spcPct val="90000"/>
              </a:lnSpc>
            </a:pPr>
            <a:r>
              <a:rPr lang="en-US" dirty="0"/>
              <a:t>Machine translation</a:t>
            </a:r>
          </a:p>
          <a:p>
            <a:pPr lvl="1">
              <a:lnSpc>
                <a:spcPct val="90000"/>
              </a:lnSpc>
            </a:pPr>
            <a:r>
              <a:rPr lang="en-US" dirty="0"/>
              <a:t>Spanish </a:t>
            </a:r>
            <a:r>
              <a:rPr lang="en-US" dirty="0" err="1">
                <a:solidFill>
                  <a:srgbClr val="A50021"/>
                </a:solidFill>
              </a:rPr>
              <a:t>quiero</a:t>
            </a:r>
            <a:r>
              <a:rPr lang="en-US" dirty="0"/>
              <a:t> (‘I want’), </a:t>
            </a:r>
            <a:r>
              <a:rPr lang="en-US" dirty="0" err="1">
                <a:solidFill>
                  <a:srgbClr val="A50021"/>
                </a:solidFill>
              </a:rPr>
              <a:t>quieres</a:t>
            </a:r>
            <a:r>
              <a:rPr lang="en-US" dirty="0"/>
              <a:t> (‘you want’) same lemma as </a:t>
            </a:r>
            <a:r>
              <a:rPr lang="en-US" dirty="0" err="1">
                <a:solidFill>
                  <a:srgbClr val="A50021"/>
                </a:solidFill>
              </a:rPr>
              <a:t>querer</a:t>
            </a:r>
            <a:r>
              <a:rPr lang="en-US" dirty="0"/>
              <a:t> ‘want’</a:t>
            </a:r>
          </a:p>
          <a:p>
            <a:pPr lvl="1">
              <a:spcBef>
                <a:spcPts val="500"/>
              </a:spcBef>
              <a:spcAft>
                <a:spcPts val="500"/>
              </a:spcAft>
            </a:pPr>
            <a:endParaRPr lang="en-US" dirty="0"/>
          </a:p>
        </p:txBody>
      </p:sp>
    </p:spTree>
    <p:extLst>
      <p:ext uri="{BB962C8B-B14F-4D97-AF65-F5344CB8AC3E}">
        <p14:creationId xmlns:p14="http://schemas.microsoft.com/office/powerpoint/2010/main" val="795520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sz="quarter" idx="1"/>
          </p:nvPr>
        </p:nvSpPr>
        <p:spPr>
          <a:xfrm>
            <a:off x="152400" y="1352550"/>
            <a:ext cx="8686800" cy="3333750"/>
          </a:xfrm>
        </p:spPr>
        <p:txBody>
          <a:bodyPr/>
          <a:lstStyle/>
          <a:p>
            <a:pPr algn="l">
              <a:buFont typeface="Arial" panose="020B0604020202020204" pitchFamily="34" charset="0"/>
              <a:buChar char="•"/>
            </a:pPr>
            <a:r>
              <a:rPr lang="en-US" b="1" i="0" dirty="0">
                <a:effectLst/>
                <a:latin typeface="Söhne"/>
              </a:rPr>
              <a:t>Lemmatization:</a:t>
            </a:r>
            <a:endParaRPr lang="en-US" b="0" i="0" dirty="0">
              <a:effectLst/>
              <a:latin typeface="Söhne"/>
            </a:endParaRPr>
          </a:p>
          <a:p>
            <a:pPr marL="742950" lvl="1" indent="-285750" algn="l">
              <a:buFont typeface="Arial" panose="020B0604020202020204" pitchFamily="34" charset="0"/>
              <a:buChar char="•"/>
            </a:pPr>
            <a:r>
              <a:rPr lang="en-US" b="0" i="0" dirty="0">
                <a:effectLst/>
                <a:latin typeface="Söhne"/>
              </a:rPr>
              <a:t>Choose lemmatization when word accuracy and valid words are crucial.</a:t>
            </a:r>
          </a:p>
          <a:p>
            <a:pPr marL="742950" lvl="1" indent="-285750" algn="l">
              <a:buFont typeface="Arial" panose="020B0604020202020204" pitchFamily="34" charset="0"/>
              <a:buChar char="•"/>
            </a:pPr>
            <a:r>
              <a:rPr lang="en-US" b="0" i="0" dirty="0">
                <a:effectLst/>
                <a:latin typeface="Söhne"/>
              </a:rPr>
              <a:t>Useful in applications where linguistic precision is required, such as sentiment analysis, machine translation, or question answering.</a:t>
            </a:r>
          </a:p>
          <a:p>
            <a:pPr algn="l">
              <a:buFont typeface="Arial" panose="020B0604020202020204" pitchFamily="34" charset="0"/>
              <a:buChar char="•"/>
            </a:pPr>
            <a:r>
              <a:rPr lang="en-US" b="1" i="0" dirty="0">
                <a:effectLst/>
                <a:latin typeface="Söhne"/>
              </a:rPr>
              <a:t>Stemming:</a:t>
            </a:r>
            <a:endParaRPr lang="en-US" b="0" i="0" dirty="0">
              <a:effectLst/>
              <a:latin typeface="Söhne"/>
            </a:endParaRPr>
          </a:p>
          <a:p>
            <a:pPr marL="742950" lvl="1" indent="-285750" algn="l">
              <a:buFont typeface="Arial" panose="020B0604020202020204" pitchFamily="34" charset="0"/>
              <a:buChar char="•"/>
            </a:pPr>
            <a:r>
              <a:rPr lang="en-US" b="0" i="0" dirty="0">
                <a:effectLst/>
                <a:latin typeface="Söhne"/>
              </a:rPr>
              <a:t>Choose stemming when you need a faster, simpler approach.</a:t>
            </a:r>
          </a:p>
          <a:p>
            <a:pPr marL="742950" lvl="1" indent="-285750" algn="l">
              <a:buFont typeface="Arial" panose="020B0604020202020204" pitchFamily="34" charset="0"/>
              <a:buChar char="•"/>
            </a:pPr>
            <a:r>
              <a:rPr lang="en-US" b="0" i="0" dirty="0">
                <a:effectLst/>
                <a:latin typeface="Söhne"/>
              </a:rPr>
              <a:t>Suitable for tasks like information retrieval, search engines, or cases where linguistic precision is less critical.</a:t>
            </a:r>
          </a:p>
        </p:txBody>
      </p:sp>
    </p:spTree>
    <p:extLst>
      <p:ext uri="{BB962C8B-B14F-4D97-AF65-F5344CB8AC3E}">
        <p14:creationId xmlns:p14="http://schemas.microsoft.com/office/powerpoint/2010/main" val="36026027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2133600" y="28121"/>
            <a:ext cx="10134600" cy="742950"/>
          </a:xfrm>
        </p:spPr>
        <p:txBody>
          <a:bodyPr/>
          <a:lstStyle/>
          <a:p>
            <a:pPr eaLnBrk="1" hangingPunct="1"/>
            <a:r>
              <a:rPr lang="en-US" dirty="0"/>
              <a:t>Porter’s algorithm</a:t>
            </a:r>
            <a:br>
              <a:rPr lang="en-US" dirty="0"/>
            </a:br>
            <a:r>
              <a:rPr lang="en-US" sz="2000" dirty="0"/>
              <a:t>The most common English stemmer</a:t>
            </a:r>
            <a:endParaRPr lang="en-US" dirty="0"/>
          </a:p>
        </p:txBody>
      </p:sp>
      <p:sp>
        <p:nvSpPr>
          <p:cNvPr id="39939" name="Rectangle 3"/>
          <p:cNvSpPr>
            <a:spLocks noGrp="1" noChangeArrowheads="1"/>
          </p:cNvSpPr>
          <p:nvPr>
            <p:ph sz="quarter" idx="1"/>
          </p:nvPr>
        </p:nvSpPr>
        <p:spPr>
          <a:xfrm>
            <a:off x="-76200" y="514350"/>
            <a:ext cx="4876800" cy="3333750"/>
          </a:xfrm>
        </p:spPr>
        <p:txBody>
          <a:bodyPr/>
          <a:lstStyle/>
          <a:p>
            <a:pPr marL="0" indent="0">
              <a:buNone/>
            </a:pPr>
            <a:r>
              <a:rPr lang="en-US" sz="2000" dirty="0"/>
              <a:t>   Step 1a</a:t>
            </a:r>
          </a:p>
          <a:p>
            <a:pPr marL="457200" lvl="1" indent="0">
              <a:buNone/>
            </a:pPr>
            <a:r>
              <a:rPr lang="en-US" sz="1600" dirty="0" err="1">
                <a:latin typeface="Courier"/>
                <a:cs typeface="Courier"/>
              </a:rPr>
              <a:t>sses</a:t>
            </a:r>
            <a:r>
              <a:rPr lang="en-US" sz="1600" dirty="0">
                <a:latin typeface="Courier"/>
                <a:cs typeface="Courier"/>
              </a:rPr>
              <a:t> </a:t>
            </a:r>
            <a:r>
              <a:rPr lang="en-US" sz="1600" dirty="0">
                <a:latin typeface="Courier"/>
                <a:cs typeface="Courier"/>
                <a:sym typeface="Symbol" charset="2"/>
              </a:rPr>
              <a:t> </a:t>
            </a:r>
            <a:r>
              <a:rPr lang="en-US" sz="1600" dirty="0" err="1">
                <a:latin typeface="Courier"/>
                <a:cs typeface="Courier"/>
                <a:sym typeface="Symbol" charset="2"/>
              </a:rPr>
              <a:t>ss</a:t>
            </a:r>
            <a:r>
              <a:rPr lang="en-US" sz="1600" dirty="0">
                <a:latin typeface="Courier"/>
                <a:cs typeface="Courier"/>
                <a:sym typeface="Symbol" charset="2"/>
              </a:rPr>
              <a:t>	 </a:t>
            </a:r>
            <a:r>
              <a:rPr lang="en-US" sz="1600" dirty="0">
                <a:solidFill>
                  <a:schemeClr val="accent5">
                    <a:lumMod val="75000"/>
                  </a:schemeClr>
                </a:solidFill>
                <a:latin typeface="Courier"/>
                <a:cs typeface="Courier"/>
                <a:sym typeface="Symbol" charset="2"/>
              </a:rPr>
              <a:t>caresses  caress</a:t>
            </a:r>
          </a:p>
          <a:p>
            <a:pPr marL="457200" lvl="1" indent="0">
              <a:buNone/>
            </a:pPr>
            <a:r>
              <a:rPr lang="en-US" sz="1600" dirty="0" err="1">
                <a:latin typeface="Courier"/>
                <a:cs typeface="Courier"/>
              </a:rPr>
              <a:t>ies</a:t>
            </a:r>
            <a:r>
              <a:rPr lang="en-US" sz="1600" dirty="0">
                <a:latin typeface="Courier"/>
                <a:cs typeface="Courier"/>
              </a:rPr>
              <a:t>  </a:t>
            </a:r>
            <a:r>
              <a:rPr lang="en-US" sz="1600" dirty="0">
                <a:latin typeface="Courier"/>
                <a:cs typeface="Courier"/>
                <a:sym typeface="Symbol" charset="2"/>
              </a:rPr>
              <a:t> </a:t>
            </a:r>
            <a:r>
              <a:rPr lang="en-US" sz="1600" dirty="0" err="1">
                <a:latin typeface="Courier"/>
                <a:cs typeface="Courier"/>
                <a:sym typeface="Symbol" charset="2"/>
              </a:rPr>
              <a:t>i</a:t>
            </a:r>
            <a:r>
              <a:rPr lang="en-US" sz="1600" dirty="0">
                <a:latin typeface="Courier"/>
                <a:cs typeface="Courier"/>
                <a:sym typeface="Symbol" charset="2"/>
              </a:rPr>
              <a:t>	 </a:t>
            </a:r>
            <a:r>
              <a:rPr lang="en-US" sz="1600" dirty="0">
                <a:solidFill>
                  <a:schemeClr val="accent5">
                    <a:lumMod val="75000"/>
                  </a:schemeClr>
                </a:solidFill>
                <a:latin typeface="Courier"/>
                <a:cs typeface="Courier"/>
                <a:sym typeface="Symbol" charset="2"/>
              </a:rPr>
              <a:t>ponies    </a:t>
            </a:r>
            <a:r>
              <a:rPr lang="en-US" sz="1600" dirty="0" err="1">
                <a:solidFill>
                  <a:schemeClr val="accent5">
                    <a:lumMod val="75000"/>
                  </a:schemeClr>
                </a:solidFill>
                <a:latin typeface="Courier"/>
                <a:cs typeface="Courier"/>
                <a:sym typeface="Symbol" charset="2"/>
              </a:rPr>
              <a:t>poni</a:t>
            </a:r>
            <a:endParaRPr lang="en-US" sz="1600" dirty="0">
              <a:solidFill>
                <a:schemeClr val="accent5">
                  <a:lumMod val="75000"/>
                </a:schemeClr>
              </a:solidFill>
              <a:latin typeface="Courier"/>
              <a:cs typeface="Courier"/>
              <a:sym typeface="Symbol" charset="2"/>
            </a:endParaRPr>
          </a:p>
          <a:p>
            <a:pPr marL="457200" lvl="1" indent="0">
              <a:buNone/>
            </a:pPr>
            <a:r>
              <a:rPr lang="en-US" sz="1600" dirty="0" err="1">
                <a:latin typeface="Courier"/>
                <a:cs typeface="Courier"/>
                <a:sym typeface="Symbol" charset="2"/>
              </a:rPr>
              <a:t>ss</a:t>
            </a:r>
            <a:r>
              <a:rPr lang="en-US" sz="1600" dirty="0">
                <a:latin typeface="Courier"/>
                <a:cs typeface="Courier"/>
                <a:sym typeface="Symbol" charset="2"/>
              </a:rPr>
              <a:t>    </a:t>
            </a:r>
            <a:r>
              <a:rPr lang="en-US" sz="1600" dirty="0" err="1">
                <a:latin typeface="Courier"/>
                <a:cs typeface="Courier"/>
                <a:sym typeface="Symbol" charset="2"/>
              </a:rPr>
              <a:t>ss</a:t>
            </a:r>
            <a:r>
              <a:rPr lang="en-US" sz="1600" dirty="0">
                <a:latin typeface="Courier"/>
                <a:cs typeface="Courier"/>
                <a:sym typeface="Symbol" charset="2"/>
              </a:rPr>
              <a:t>	 </a:t>
            </a:r>
            <a:r>
              <a:rPr lang="en-US" sz="1600" dirty="0">
                <a:solidFill>
                  <a:schemeClr val="accent5">
                    <a:lumMod val="75000"/>
                  </a:schemeClr>
                </a:solidFill>
                <a:latin typeface="Courier"/>
                <a:cs typeface="Courier"/>
                <a:sym typeface="Symbol" charset="2"/>
              </a:rPr>
              <a:t>caress    caress</a:t>
            </a:r>
          </a:p>
          <a:p>
            <a:pPr marL="457200" lvl="1" indent="0">
              <a:buNone/>
            </a:pPr>
            <a:r>
              <a:rPr lang="en-US" sz="1600" dirty="0">
                <a:latin typeface="Courier"/>
                <a:cs typeface="Courier"/>
                <a:sym typeface="Symbol" charset="2"/>
              </a:rPr>
              <a:t>s     </a:t>
            </a:r>
            <a:r>
              <a:rPr lang="en-US" sz="1600" dirty="0" err="1">
                <a:sym typeface="Symbol" charset="2"/>
              </a:rPr>
              <a:t>ø</a:t>
            </a:r>
            <a:r>
              <a:rPr lang="en-US" sz="1600" dirty="0">
                <a:sym typeface="Symbol" charset="2"/>
              </a:rPr>
              <a:t>         </a:t>
            </a:r>
            <a:r>
              <a:rPr lang="en-US" sz="1600" dirty="0">
                <a:solidFill>
                  <a:schemeClr val="accent5">
                    <a:lumMod val="75000"/>
                  </a:schemeClr>
                </a:solidFill>
                <a:latin typeface="Courier"/>
                <a:cs typeface="Courier"/>
                <a:sym typeface="Symbol" charset="2"/>
              </a:rPr>
              <a:t>cats       cat</a:t>
            </a:r>
          </a:p>
          <a:p>
            <a:pPr marL="0" indent="0">
              <a:buNone/>
            </a:pPr>
            <a:r>
              <a:rPr lang="en-US" sz="2000" dirty="0">
                <a:latin typeface="Calibri"/>
                <a:cs typeface="Calibri"/>
                <a:sym typeface="Symbol" charset="2"/>
              </a:rPr>
              <a:t>  Step 1b</a:t>
            </a:r>
          </a:p>
          <a:p>
            <a:pPr marL="457200" lvl="1" indent="0">
              <a:buNone/>
            </a:pPr>
            <a:r>
              <a:rPr lang="en-US" sz="1600" dirty="0">
                <a:latin typeface="Courier"/>
                <a:cs typeface="Courier"/>
                <a:sym typeface="Symbol" charset="2"/>
              </a:rPr>
              <a:t>(*v*)</a:t>
            </a:r>
            <a:r>
              <a:rPr lang="en-US" sz="1600" dirty="0" err="1">
                <a:latin typeface="Courier"/>
                <a:cs typeface="Courier"/>
                <a:sym typeface="Symbol" charset="2"/>
              </a:rPr>
              <a:t>ing</a:t>
            </a:r>
            <a:r>
              <a:rPr lang="en-US" sz="1600" dirty="0">
                <a:latin typeface="Courier"/>
                <a:cs typeface="Courier"/>
                <a:sym typeface="Symbol" charset="2"/>
              </a:rPr>
              <a:t>  </a:t>
            </a:r>
            <a:r>
              <a:rPr lang="en-US" sz="1600" dirty="0" err="1">
                <a:sym typeface="Symbol" charset="2"/>
              </a:rPr>
              <a:t>ø</a:t>
            </a:r>
            <a:r>
              <a:rPr lang="en-US" sz="1600" dirty="0">
                <a:sym typeface="Symbol" charset="2"/>
              </a:rPr>
              <a:t>    </a:t>
            </a:r>
            <a:r>
              <a:rPr lang="en-US" sz="1600" dirty="0">
                <a:solidFill>
                  <a:schemeClr val="accent5">
                    <a:lumMod val="75000"/>
                  </a:schemeClr>
                </a:solidFill>
                <a:latin typeface="Courier"/>
                <a:cs typeface="Courier"/>
                <a:sym typeface="Symbol" charset="2"/>
              </a:rPr>
              <a:t>walking    walk</a:t>
            </a:r>
          </a:p>
          <a:p>
            <a:pPr marL="457200" lvl="1" indent="0">
              <a:buNone/>
            </a:pPr>
            <a:r>
              <a:rPr lang="en-US" sz="1600" dirty="0">
                <a:solidFill>
                  <a:schemeClr val="accent5">
                    <a:lumMod val="75000"/>
                  </a:schemeClr>
                </a:solidFill>
                <a:latin typeface="Courier"/>
                <a:cs typeface="Courier"/>
                <a:sym typeface="Symbol" charset="2"/>
              </a:rPr>
              <a:t>              sing       sing</a:t>
            </a:r>
          </a:p>
          <a:p>
            <a:pPr marL="457200" lvl="1" indent="0">
              <a:buNone/>
            </a:pPr>
            <a:r>
              <a:rPr lang="en-US" sz="1600" dirty="0">
                <a:latin typeface="Courier"/>
                <a:cs typeface="Courier"/>
                <a:sym typeface="Symbol" charset="2"/>
              </a:rPr>
              <a:t>(*v*)</a:t>
            </a:r>
            <a:r>
              <a:rPr lang="en-US" sz="1600" dirty="0" err="1">
                <a:latin typeface="Courier"/>
                <a:cs typeface="Courier"/>
                <a:sym typeface="Symbol" charset="2"/>
              </a:rPr>
              <a:t>ed</a:t>
            </a:r>
            <a:r>
              <a:rPr lang="en-US" sz="1600" dirty="0">
                <a:latin typeface="Courier"/>
                <a:cs typeface="Courier"/>
                <a:sym typeface="Symbol" charset="2"/>
              </a:rPr>
              <a:t>   </a:t>
            </a:r>
            <a:r>
              <a:rPr lang="en-US" sz="1600" dirty="0" err="1">
                <a:sym typeface="Symbol" charset="2"/>
              </a:rPr>
              <a:t>ø</a:t>
            </a:r>
            <a:r>
              <a:rPr lang="en-US" sz="1600" dirty="0">
                <a:sym typeface="Symbol" charset="2"/>
              </a:rPr>
              <a:t>    </a:t>
            </a:r>
            <a:r>
              <a:rPr lang="en-US" sz="1600" dirty="0">
                <a:solidFill>
                  <a:schemeClr val="accent5">
                    <a:lumMod val="75000"/>
                  </a:schemeClr>
                </a:solidFill>
                <a:latin typeface="Courier"/>
                <a:cs typeface="Courier"/>
                <a:sym typeface="Symbol" charset="2"/>
              </a:rPr>
              <a:t>plastered  plaster</a:t>
            </a:r>
          </a:p>
          <a:p>
            <a:pPr marL="457200" lvl="1" indent="0">
              <a:buNone/>
            </a:pPr>
            <a:r>
              <a:rPr lang="en-US" sz="1800" dirty="0">
                <a:solidFill>
                  <a:schemeClr val="accent5">
                    <a:lumMod val="75000"/>
                  </a:schemeClr>
                </a:solidFill>
                <a:latin typeface="Courier"/>
                <a:cs typeface="Courier"/>
                <a:sym typeface="Symbol" charset="2"/>
              </a:rPr>
              <a:t>…</a:t>
            </a:r>
          </a:p>
          <a:p>
            <a:endParaRPr lang="en-US" sz="2200" dirty="0">
              <a:latin typeface="Courier"/>
              <a:cs typeface="Courier"/>
              <a:sym typeface="Symbol" charset="2"/>
            </a:endParaRPr>
          </a:p>
        </p:txBody>
      </p:sp>
      <p:sp>
        <p:nvSpPr>
          <p:cNvPr id="5" name="Rectangle 3"/>
          <p:cNvSpPr txBox="1">
            <a:spLocks noChangeArrowheads="1"/>
          </p:cNvSpPr>
          <p:nvPr/>
        </p:nvSpPr>
        <p:spPr bwMode="auto">
          <a:xfrm>
            <a:off x="4263571" y="742950"/>
            <a:ext cx="4876800" cy="3333750"/>
          </a:xfrm>
          <a:prstGeom prst="rect">
            <a:avLst/>
          </a:prstGeom>
          <a:noFill/>
          <a:ln>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CC0000"/>
              </a:buClr>
              <a:buFont typeface="Times" charset="0"/>
              <a:buChar char="•"/>
              <a:defRPr sz="2400">
                <a:solidFill>
                  <a:schemeClr val="tx1"/>
                </a:solidFill>
                <a:latin typeface="+mn-lt"/>
                <a:ea typeface="ＭＳ Ｐゴシック" pitchFamily="-65" charset="-128"/>
                <a:cs typeface="ＭＳ Ｐゴシック" pitchFamily="-65" charset="-128"/>
              </a:defRPr>
            </a:lvl1pPr>
            <a:lvl2pPr marL="685800" indent="-228600" algn="l" rtl="0" eaLnBrk="1" fontAlgn="base" hangingPunct="1">
              <a:spcBef>
                <a:spcPct val="20000"/>
              </a:spcBef>
              <a:spcAft>
                <a:spcPct val="0"/>
              </a:spcAft>
              <a:buClr>
                <a:schemeClr val="tx1"/>
              </a:buClr>
              <a:buFont typeface="Times" charset="0"/>
              <a:buChar char="•"/>
              <a:defRPr sz="2000">
                <a:solidFill>
                  <a:schemeClr val="tx1"/>
                </a:solidFill>
                <a:latin typeface="+mn-lt"/>
                <a:ea typeface="ＭＳ Ｐゴシック" pitchFamily="-65" charset="-128"/>
              </a:defRPr>
            </a:lvl2pPr>
            <a:lvl3pPr marL="1028700" indent="-228600" algn="l" rtl="0" eaLnBrk="1" fontAlgn="base" hangingPunct="1">
              <a:spcBef>
                <a:spcPct val="20000"/>
              </a:spcBef>
              <a:spcAft>
                <a:spcPct val="0"/>
              </a:spcAft>
              <a:buClr>
                <a:srgbClr val="CC0000"/>
              </a:buClr>
              <a:buFont typeface="Times" charset="0"/>
              <a:buChar char="•"/>
              <a:defRPr sz="2000">
                <a:solidFill>
                  <a:schemeClr val="tx1"/>
                </a:solidFill>
                <a:latin typeface="+mn-lt"/>
                <a:ea typeface="ＭＳ Ｐゴシック" pitchFamily="-65" charset="-128"/>
              </a:defRPr>
            </a:lvl3pPr>
            <a:lvl4pPr marL="1371600" indent="-228600" algn="l" rtl="0" eaLnBrk="1" fontAlgn="base" hangingPunct="1">
              <a:spcBef>
                <a:spcPct val="20000"/>
              </a:spcBef>
              <a:spcAft>
                <a:spcPct val="0"/>
              </a:spcAft>
              <a:buClr>
                <a:schemeClr val="tx1"/>
              </a:buClr>
              <a:buFont typeface="Times" charset="0"/>
              <a:buChar char="•"/>
              <a:defRPr>
                <a:solidFill>
                  <a:schemeClr val="tx1"/>
                </a:solidFill>
                <a:latin typeface="+mn-lt"/>
                <a:ea typeface="ＭＳ Ｐゴシック" pitchFamily="-65" charset="-128"/>
              </a:defRPr>
            </a:lvl4pPr>
            <a:lvl5pPr marL="1714500" indent="-228600" algn="l" rtl="0" eaLnBrk="1" fontAlgn="base" hangingPunct="1">
              <a:spcBef>
                <a:spcPct val="20000"/>
              </a:spcBef>
              <a:spcAft>
                <a:spcPct val="0"/>
              </a:spcAft>
              <a:buClr>
                <a:srgbClr val="CC0000"/>
              </a:buClr>
              <a:buFont typeface="Times" charset="0"/>
              <a:buChar char="•"/>
              <a:defRPr>
                <a:solidFill>
                  <a:schemeClr val="tx1"/>
                </a:solidFill>
                <a:latin typeface="+mn-lt"/>
                <a:ea typeface="ＭＳ Ｐゴシック" pitchFamily="-65" charset="-128"/>
              </a:defRPr>
            </a:lvl5pPr>
            <a:lvl6pPr marL="21717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6pPr>
            <a:lvl7pPr marL="26289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7pPr>
            <a:lvl8pPr marL="30861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8pPr>
            <a:lvl9pPr marL="35433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9pPr>
          </a:lstStyle>
          <a:p>
            <a:pPr marL="0" indent="0">
              <a:buFont typeface="Times" charset="0"/>
              <a:buNone/>
            </a:pPr>
            <a:r>
              <a:rPr lang="en-US" sz="2000" dirty="0"/>
              <a:t>   Step 2 (for long stems)</a:t>
            </a:r>
          </a:p>
          <a:p>
            <a:pPr marL="457200" lvl="1" indent="0">
              <a:buFont typeface="Times" charset="0"/>
              <a:buNone/>
            </a:pPr>
            <a:r>
              <a:rPr lang="en-US" sz="1600" dirty="0" err="1">
                <a:latin typeface="Courier"/>
                <a:cs typeface="Courier"/>
              </a:rPr>
              <a:t>ational</a:t>
            </a:r>
            <a:r>
              <a:rPr lang="en-US" sz="1600" dirty="0">
                <a:latin typeface="Courier"/>
                <a:cs typeface="Courier"/>
                <a:sym typeface="Symbol" charset="2"/>
              </a:rPr>
              <a:t> ate </a:t>
            </a:r>
            <a:r>
              <a:rPr lang="en-US" sz="1600" dirty="0">
                <a:solidFill>
                  <a:schemeClr val="accent5">
                    <a:lumMod val="75000"/>
                  </a:schemeClr>
                </a:solidFill>
                <a:latin typeface="Courier"/>
                <a:cs typeface="Courier"/>
                <a:sym typeface="Symbol" charset="2"/>
              </a:rPr>
              <a:t>relational relate</a:t>
            </a:r>
          </a:p>
          <a:p>
            <a:pPr marL="457200" lvl="1" indent="0">
              <a:buFont typeface="Times" charset="0"/>
              <a:buNone/>
            </a:pPr>
            <a:r>
              <a:rPr lang="en-US" sz="1600" dirty="0" err="1">
                <a:latin typeface="Courier"/>
                <a:cs typeface="Courier"/>
              </a:rPr>
              <a:t>izer</a:t>
            </a:r>
            <a:r>
              <a:rPr lang="en-US" sz="1600" dirty="0">
                <a:latin typeface="Courier"/>
                <a:cs typeface="Courier"/>
                <a:sym typeface="Symbol" charset="2"/>
              </a:rPr>
              <a:t> </a:t>
            </a:r>
            <a:r>
              <a:rPr lang="en-US" sz="1600" dirty="0" err="1">
                <a:latin typeface="Courier"/>
                <a:cs typeface="Courier"/>
                <a:sym typeface="Symbol" charset="2"/>
              </a:rPr>
              <a:t>ize</a:t>
            </a:r>
            <a:r>
              <a:rPr lang="en-US" sz="1600" dirty="0">
                <a:latin typeface="Courier"/>
                <a:cs typeface="Courier"/>
                <a:sym typeface="Symbol" charset="2"/>
              </a:rPr>
              <a:t>	  </a:t>
            </a:r>
            <a:r>
              <a:rPr lang="en-US" sz="1600" dirty="0">
                <a:solidFill>
                  <a:schemeClr val="accent5">
                    <a:lumMod val="75000"/>
                  </a:schemeClr>
                </a:solidFill>
                <a:latin typeface="Courier"/>
                <a:cs typeface="Courier"/>
                <a:sym typeface="Symbol" charset="2"/>
              </a:rPr>
              <a:t>digitizer  digitize</a:t>
            </a:r>
          </a:p>
          <a:p>
            <a:pPr marL="457200" lvl="1" indent="0">
              <a:buFont typeface="Times" charset="0"/>
              <a:buNone/>
            </a:pPr>
            <a:r>
              <a:rPr lang="en-US" sz="1600" dirty="0" err="1">
                <a:latin typeface="Courier"/>
                <a:cs typeface="Courier"/>
                <a:sym typeface="Symbol" charset="2"/>
              </a:rPr>
              <a:t>ator</a:t>
            </a:r>
            <a:r>
              <a:rPr lang="en-US" sz="1600" dirty="0">
                <a:latin typeface="Courier"/>
                <a:cs typeface="Courier"/>
                <a:sym typeface="Symbol" charset="2"/>
              </a:rPr>
              <a:t> ate	  </a:t>
            </a:r>
            <a:r>
              <a:rPr lang="en-US" sz="1600" dirty="0">
                <a:solidFill>
                  <a:schemeClr val="accent5">
                    <a:lumMod val="75000"/>
                  </a:schemeClr>
                </a:solidFill>
                <a:latin typeface="Courier"/>
                <a:cs typeface="Courier"/>
                <a:sym typeface="Symbol" charset="2"/>
              </a:rPr>
              <a:t>operator   operate</a:t>
            </a:r>
          </a:p>
          <a:p>
            <a:pPr marL="457200" lvl="1" indent="0">
              <a:buFont typeface="Times" charset="0"/>
              <a:buNone/>
            </a:pPr>
            <a:r>
              <a:rPr lang="en-US" sz="1600" dirty="0">
                <a:latin typeface="Courier"/>
                <a:cs typeface="Courier"/>
                <a:sym typeface="Symbol" charset="2"/>
              </a:rPr>
              <a:t>…</a:t>
            </a:r>
            <a:endParaRPr lang="en-US" sz="1600" dirty="0">
              <a:solidFill>
                <a:schemeClr val="accent5">
                  <a:lumMod val="75000"/>
                </a:schemeClr>
              </a:solidFill>
              <a:latin typeface="Courier"/>
              <a:cs typeface="Courier"/>
              <a:sym typeface="Symbol" charset="2"/>
            </a:endParaRPr>
          </a:p>
          <a:p>
            <a:pPr marL="0" indent="0">
              <a:buFont typeface="Times" charset="0"/>
              <a:buNone/>
            </a:pPr>
            <a:r>
              <a:rPr lang="en-US" sz="2000" dirty="0">
                <a:latin typeface="Calibri"/>
                <a:cs typeface="Calibri"/>
                <a:sym typeface="Symbol" charset="2"/>
              </a:rPr>
              <a:t>    Step 3 (for longer stems)</a:t>
            </a:r>
          </a:p>
          <a:p>
            <a:pPr marL="457200" lvl="1" indent="0">
              <a:buFont typeface="Times" charset="0"/>
              <a:buNone/>
            </a:pPr>
            <a:r>
              <a:rPr lang="en-US" sz="1600" dirty="0">
                <a:latin typeface="Courier"/>
                <a:cs typeface="Courier"/>
                <a:sym typeface="Symbol" charset="2"/>
              </a:rPr>
              <a:t>al     </a:t>
            </a:r>
            <a:r>
              <a:rPr lang="en-US" sz="1600" dirty="0" err="1">
                <a:sym typeface="Symbol" charset="2"/>
              </a:rPr>
              <a:t>ø</a:t>
            </a:r>
            <a:r>
              <a:rPr lang="en-US" sz="1600" dirty="0">
                <a:sym typeface="Symbol" charset="2"/>
              </a:rPr>
              <a:t>      </a:t>
            </a:r>
            <a:r>
              <a:rPr lang="en-US" sz="1600" dirty="0">
                <a:solidFill>
                  <a:schemeClr val="accent5">
                    <a:lumMod val="75000"/>
                  </a:schemeClr>
                </a:solidFill>
                <a:latin typeface="Courier"/>
                <a:cs typeface="Courier"/>
                <a:sym typeface="Symbol" charset="2"/>
              </a:rPr>
              <a:t>revival     </a:t>
            </a:r>
            <a:r>
              <a:rPr lang="en-US" sz="1600" dirty="0" err="1">
                <a:solidFill>
                  <a:schemeClr val="accent5">
                    <a:lumMod val="75000"/>
                  </a:schemeClr>
                </a:solidFill>
                <a:latin typeface="Courier"/>
                <a:cs typeface="Courier"/>
                <a:sym typeface="Symbol" charset="2"/>
              </a:rPr>
              <a:t>reviv</a:t>
            </a:r>
            <a:endParaRPr lang="en-US" sz="1600" dirty="0">
              <a:solidFill>
                <a:schemeClr val="accent5">
                  <a:lumMod val="75000"/>
                </a:schemeClr>
              </a:solidFill>
              <a:latin typeface="Courier"/>
              <a:cs typeface="Courier"/>
              <a:sym typeface="Symbol" charset="2"/>
            </a:endParaRPr>
          </a:p>
          <a:p>
            <a:pPr marL="457200" lvl="1" indent="0">
              <a:buFont typeface="Times" charset="0"/>
              <a:buNone/>
            </a:pPr>
            <a:r>
              <a:rPr lang="en-US" sz="1600" dirty="0">
                <a:latin typeface="Courier"/>
                <a:cs typeface="Courier"/>
                <a:sym typeface="Symbol" charset="2"/>
              </a:rPr>
              <a:t>able   </a:t>
            </a:r>
            <a:r>
              <a:rPr lang="en-US" sz="1600" dirty="0" err="1">
                <a:sym typeface="Symbol" charset="2"/>
              </a:rPr>
              <a:t>ø</a:t>
            </a:r>
            <a:r>
              <a:rPr lang="en-US" sz="1600" dirty="0">
                <a:sym typeface="Symbol" charset="2"/>
              </a:rPr>
              <a:t>      </a:t>
            </a:r>
            <a:r>
              <a:rPr lang="en-US" sz="1600" dirty="0">
                <a:solidFill>
                  <a:schemeClr val="accent5">
                    <a:lumMod val="75000"/>
                  </a:schemeClr>
                </a:solidFill>
                <a:latin typeface="Courier"/>
                <a:cs typeface="Courier"/>
                <a:sym typeface="Symbol" charset="2"/>
              </a:rPr>
              <a:t>adjustable  adjust</a:t>
            </a:r>
          </a:p>
          <a:p>
            <a:pPr marL="457200" lvl="1" indent="0">
              <a:buNone/>
            </a:pPr>
            <a:r>
              <a:rPr lang="en-US" sz="1600" dirty="0">
                <a:latin typeface="Courier"/>
                <a:cs typeface="Courier"/>
                <a:sym typeface="Symbol" charset="2"/>
              </a:rPr>
              <a:t>ate    </a:t>
            </a:r>
            <a:r>
              <a:rPr lang="en-US" sz="1600" dirty="0" err="1">
                <a:latin typeface="Courier"/>
                <a:cs typeface="Courier"/>
                <a:sym typeface="Symbol" charset="2"/>
              </a:rPr>
              <a:t>ø</a:t>
            </a:r>
            <a:r>
              <a:rPr lang="en-US" sz="1600" dirty="0">
                <a:latin typeface="Courier"/>
                <a:cs typeface="Courier"/>
                <a:sym typeface="Symbol" charset="2"/>
              </a:rPr>
              <a:t>  </a:t>
            </a:r>
            <a:r>
              <a:rPr lang="en-US" sz="1600" dirty="0">
                <a:solidFill>
                  <a:schemeClr val="accent5">
                    <a:lumMod val="75000"/>
                  </a:schemeClr>
                </a:solidFill>
                <a:latin typeface="Courier"/>
                <a:cs typeface="Courier"/>
                <a:sym typeface="Symbol" charset="2"/>
              </a:rPr>
              <a:t>activate    </a:t>
            </a:r>
            <a:r>
              <a:rPr lang="en-US" sz="1600" dirty="0" err="1">
                <a:solidFill>
                  <a:schemeClr val="accent5">
                    <a:lumMod val="75000"/>
                  </a:schemeClr>
                </a:solidFill>
                <a:latin typeface="Courier"/>
                <a:cs typeface="Courier"/>
                <a:sym typeface="Symbol" charset="2"/>
              </a:rPr>
              <a:t>activ</a:t>
            </a:r>
            <a:endParaRPr lang="en-US" sz="1600" dirty="0">
              <a:solidFill>
                <a:schemeClr val="accent5">
                  <a:lumMod val="75000"/>
                </a:schemeClr>
              </a:solidFill>
              <a:latin typeface="Courier"/>
              <a:cs typeface="Courier"/>
              <a:sym typeface="Symbol" charset="2"/>
            </a:endParaRPr>
          </a:p>
          <a:p>
            <a:pPr marL="457200" lvl="1" indent="0">
              <a:buNone/>
            </a:pPr>
            <a:r>
              <a:rPr lang="en-US" sz="1600" dirty="0">
                <a:latin typeface="Courier"/>
                <a:cs typeface="Courier"/>
                <a:sym typeface="Symbol" charset="2"/>
              </a:rPr>
              <a:t>…</a:t>
            </a:r>
            <a:endParaRPr lang="en-US" sz="1600" dirty="0">
              <a:solidFill>
                <a:schemeClr val="accent5">
                  <a:lumMod val="75000"/>
                </a:schemeClr>
              </a:solidFill>
              <a:latin typeface="Courier"/>
              <a:cs typeface="Courier"/>
              <a:sym typeface="Symbol" charset="2"/>
            </a:endParaRPr>
          </a:p>
          <a:p>
            <a:endParaRPr lang="en-US" sz="2200" dirty="0">
              <a:latin typeface="Courier"/>
              <a:cs typeface="Courier"/>
              <a:sym typeface="Symbol" charset="2"/>
            </a:endParaRPr>
          </a:p>
        </p:txBody>
      </p:sp>
      <p:sp>
        <p:nvSpPr>
          <p:cNvPr id="3" name="TextBox 2">
            <a:extLst>
              <a:ext uri="{FF2B5EF4-FFF2-40B4-BE49-F238E27FC236}">
                <a16:creationId xmlns:a16="http://schemas.microsoft.com/office/drawing/2014/main" xmlns="" id="{FA11593E-106F-87B9-DF39-044F94D2D20F}"/>
              </a:ext>
            </a:extLst>
          </p:cNvPr>
          <p:cNvSpPr txBox="1"/>
          <p:nvPr/>
        </p:nvSpPr>
        <p:spPr>
          <a:xfrm>
            <a:off x="228600" y="3685766"/>
            <a:ext cx="9144000" cy="1754326"/>
          </a:xfrm>
          <a:prstGeom prst="rect">
            <a:avLst/>
          </a:prstGeom>
          <a:noFill/>
        </p:spPr>
        <p:txBody>
          <a:bodyPr wrap="square">
            <a:spAutoFit/>
          </a:bodyPr>
          <a:lstStyle/>
          <a:p>
            <a:r>
              <a:rPr lang="en-US" sz="1800" b="0" i="0" dirty="0">
                <a:solidFill>
                  <a:srgbClr val="374151"/>
                </a:solidFill>
                <a:effectLst/>
                <a:latin typeface="Söhne"/>
              </a:rPr>
              <a:t>Porter stemming is more commonly applied to words with suffixes, such as plurals or verb inflections.</a:t>
            </a:r>
          </a:p>
          <a:p>
            <a:r>
              <a:rPr lang="en-US" sz="1800" b="0" i="0" dirty="0">
                <a:solidFill>
                  <a:srgbClr val="374151"/>
                </a:solidFill>
                <a:effectLst/>
                <a:latin typeface="Söhne"/>
              </a:rPr>
              <a:t> Verb inflections refer to changes in the form of a verb to convey different grammatical meanings. These changes typically involve variations in tense, mood, aspect, number, and person.</a:t>
            </a:r>
          </a:p>
          <a:p>
            <a:endParaRPr lang="aa-ET" sz="1800" dirty="0"/>
          </a:p>
        </p:txBody>
      </p:sp>
    </p:spTree>
    <p:extLst>
      <p:ext uri="{BB962C8B-B14F-4D97-AF65-F5344CB8AC3E}">
        <p14:creationId xmlns:p14="http://schemas.microsoft.com/office/powerpoint/2010/main" val="27074325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Viewing morphology in a corpus</a:t>
            </a:r>
            <a:br>
              <a:rPr lang="en-US" dirty="0"/>
            </a:br>
            <a:endParaRPr lang="en-US" dirty="0"/>
          </a:p>
        </p:txBody>
      </p:sp>
      <p:sp>
        <p:nvSpPr>
          <p:cNvPr id="3" name="Content Placeholder 2"/>
          <p:cNvSpPr>
            <a:spLocks noGrp="1"/>
          </p:cNvSpPr>
          <p:nvPr>
            <p:ph idx="1"/>
          </p:nvPr>
        </p:nvSpPr>
        <p:spPr>
          <a:xfrm>
            <a:off x="838200" y="2266950"/>
            <a:ext cx="8077200" cy="762000"/>
          </a:xfrm>
        </p:spPr>
        <p:txBody>
          <a:bodyPr/>
          <a:lstStyle/>
          <a:p>
            <a:pPr marL="457200" lvl="1" indent="0">
              <a:buNone/>
            </a:pPr>
            <a:r>
              <a:rPr lang="en-US" sz="2800" dirty="0">
                <a:latin typeface="Courier"/>
                <a:cs typeface="Courier"/>
                <a:sym typeface="Symbol" charset="2"/>
              </a:rPr>
              <a:t>(*v*)</a:t>
            </a:r>
            <a:r>
              <a:rPr lang="en-US" sz="2800" dirty="0" err="1">
                <a:latin typeface="Courier"/>
                <a:cs typeface="Courier"/>
                <a:sym typeface="Symbol" charset="2"/>
              </a:rPr>
              <a:t>ing</a:t>
            </a:r>
            <a:r>
              <a:rPr lang="en-US" sz="2800" dirty="0">
                <a:latin typeface="Courier"/>
                <a:cs typeface="Courier"/>
                <a:sym typeface="Symbol" charset="2"/>
              </a:rPr>
              <a:t>  </a:t>
            </a:r>
            <a:r>
              <a:rPr lang="en-US" sz="2800" dirty="0" err="1">
                <a:sym typeface="Symbol" charset="2"/>
              </a:rPr>
              <a:t>ø</a:t>
            </a:r>
            <a:r>
              <a:rPr lang="en-US" sz="2800" dirty="0">
                <a:sym typeface="Symbol" charset="2"/>
              </a:rPr>
              <a:t>    </a:t>
            </a:r>
            <a:r>
              <a:rPr lang="en-US" sz="2800" dirty="0">
                <a:solidFill>
                  <a:schemeClr val="accent5">
                    <a:lumMod val="75000"/>
                  </a:schemeClr>
                </a:solidFill>
                <a:latin typeface="Courier"/>
                <a:cs typeface="Courier"/>
                <a:sym typeface="Symbol" charset="2"/>
              </a:rPr>
              <a:t>walking    walk</a:t>
            </a:r>
          </a:p>
          <a:p>
            <a:pPr marL="457200" lvl="1" indent="0">
              <a:buNone/>
            </a:pPr>
            <a:r>
              <a:rPr lang="en-US" sz="2800" dirty="0">
                <a:solidFill>
                  <a:schemeClr val="accent5">
                    <a:lumMod val="75000"/>
                  </a:schemeClr>
                </a:solidFill>
                <a:latin typeface="Courier"/>
                <a:cs typeface="Courier"/>
                <a:sym typeface="Symbol" charset="2"/>
              </a:rPr>
              <a:t>              sing       sing</a:t>
            </a:r>
          </a:p>
          <a:p>
            <a:pPr marL="457200" lvl="1" indent="0">
              <a:buNone/>
            </a:pPr>
            <a:endParaRPr lang="en-US" sz="1600" dirty="0">
              <a:solidFill>
                <a:schemeClr val="accent5">
                  <a:lumMod val="75000"/>
                </a:schemeClr>
              </a:solidFill>
              <a:latin typeface="Courier"/>
              <a:cs typeface="Courier"/>
              <a:sym typeface="Symbol" charset="2"/>
            </a:endParaRPr>
          </a:p>
        </p:txBody>
      </p:sp>
      <p:sp>
        <p:nvSpPr>
          <p:cNvPr id="4" name="Slide Number Placeholder 3"/>
          <p:cNvSpPr>
            <a:spLocks noGrp="1"/>
          </p:cNvSpPr>
          <p:nvPr>
            <p:ph type="sldNum" sz="quarter" idx="12"/>
          </p:nvPr>
        </p:nvSpPr>
        <p:spPr/>
        <p:txBody>
          <a:bodyPr/>
          <a:lstStyle/>
          <a:p>
            <a:fld id="{10F35DC5-7E65-8247-99AB-4E984F8A921E}" type="slidenum">
              <a:rPr lang="en-US" smtClean="0"/>
              <a:pPr/>
              <a:t>15</a:t>
            </a:fld>
            <a:endParaRPr lang="en-US"/>
          </a:p>
        </p:txBody>
      </p:sp>
    </p:spTree>
    <p:extLst>
      <p:ext uri="{BB962C8B-B14F-4D97-AF65-F5344CB8AC3E}">
        <p14:creationId xmlns:p14="http://schemas.microsoft.com/office/powerpoint/2010/main" val="3743103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Viewing morphology in a corpus</a:t>
            </a:r>
            <a:br>
              <a:rPr lang="en-US" dirty="0"/>
            </a:br>
            <a:r>
              <a:rPr lang="en-US" dirty="0"/>
              <a:t>Why only strip –</a:t>
            </a:r>
            <a:r>
              <a:rPr lang="en-US" dirty="0" err="1"/>
              <a:t>ing</a:t>
            </a:r>
            <a:r>
              <a:rPr lang="en-US" dirty="0"/>
              <a:t> if there is a vowel?</a:t>
            </a:r>
          </a:p>
        </p:txBody>
      </p:sp>
      <p:sp>
        <p:nvSpPr>
          <p:cNvPr id="3" name="Content Placeholder 2"/>
          <p:cNvSpPr>
            <a:spLocks noGrp="1"/>
          </p:cNvSpPr>
          <p:nvPr>
            <p:ph idx="1"/>
          </p:nvPr>
        </p:nvSpPr>
        <p:spPr>
          <a:xfrm>
            <a:off x="838200" y="1352550"/>
            <a:ext cx="8077200" cy="762000"/>
          </a:xfrm>
        </p:spPr>
        <p:txBody>
          <a:bodyPr/>
          <a:lstStyle/>
          <a:p>
            <a:pPr marL="457200" lvl="1" indent="0">
              <a:buNone/>
            </a:pPr>
            <a:r>
              <a:rPr lang="en-US" sz="1600" dirty="0">
                <a:latin typeface="Courier"/>
                <a:cs typeface="Courier"/>
                <a:sym typeface="Symbol" charset="2"/>
              </a:rPr>
              <a:t>(*v*)</a:t>
            </a:r>
            <a:r>
              <a:rPr lang="en-US" sz="1600" dirty="0" err="1">
                <a:latin typeface="Courier"/>
                <a:cs typeface="Courier"/>
                <a:sym typeface="Symbol" charset="2"/>
              </a:rPr>
              <a:t>ing</a:t>
            </a:r>
            <a:r>
              <a:rPr lang="en-US" sz="1600" dirty="0">
                <a:latin typeface="Courier"/>
                <a:cs typeface="Courier"/>
                <a:sym typeface="Symbol" charset="2"/>
              </a:rPr>
              <a:t>  </a:t>
            </a:r>
            <a:r>
              <a:rPr lang="en-US" sz="1600" dirty="0" err="1">
                <a:sym typeface="Symbol" charset="2"/>
              </a:rPr>
              <a:t>ø</a:t>
            </a:r>
            <a:r>
              <a:rPr lang="en-US" sz="1600" dirty="0">
                <a:sym typeface="Symbol" charset="2"/>
              </a:rPr>
              <a:t>    </a:t>
            </a:r>
            <a:r>
              <a:rPr lang="en-US" sz="1600" dirty="0">
                <a:solidFill>
                  <a:schemeClr val="accent5">
                    <a:lumMod val="75000"/>
                  </a:schemeClr>
                </a:solidFill>
                <a:latin typeface="Courier"/>
                <a:cs typeface="Courier"/>
                <a:sym typeface="Symbol" charset="2"/>
              </a:rPr>
              <a:t>walking    walk</a:t>
            </a:r>
          </a:p>
          <a:p>
            <a:pPr marL="457200" lvl="1" indent="0">
              <a:buNone/>
            </a:pPr>
            <a:r>
              <a:rPr lang="en-US" sz="1600" dirty="0">
                <a:solidFill>
                  <a:schemeClr val="accent5">
                    <a:lumMod val="75000"/>
                  </a:schemeClr>
                </a:solidFill>
                <a:latin typeface="Courier"/>
                <a:cs typeface="Courier"/>
                <a:sym typeface="Symbol" charset="2"/>
              </a:rPr>
              <a:t>              sing       sing</a:t>
            </a:r>
          </a:p>
          <a:p>
            <a:pPr marL="457200" lvl="1" indent="0">
              <a:buNone/>
            </a:pPr>
            <a:endParaRPr lang="en-US" sz="1600" dirty="0">
              <a:solidFill>
                <a:schemeClr val="accent5">
                  <a:lumMod val="75000"/>
                </a:schemeClr>
              </a:solidFill>
              <a:latin typeface="Courier"/>
              <a:cs typeface="Courier"/>
              <a:sym typeface="Symbol" charset="2"/>
            </a:endParaRPr>
          </a:p>
        </p:txBody>
      </p:sp>
      <p:sp>
        <p:nvSpPr>
          <p:cNvPr id="4" name="Slide Number Placeholder 3"/>
          <p:cNvSpPr>
            <a:spLocks noGrp="1"/>
          </p:cNvSpPr>
          <p:nvPr>
            <p:ph type="sldNum" sz="quarter" idx="12"/>
          </p:nvPr>
        </p:nvSpPr>
        <p:spPr/>
        <p:txBody>
          <a:bodyPr/>
          <a:lstStyle/>
          <a:p>
            <a:fld id="{10F35DC5-7E65-8247-99AB-4E984F8A921E}" type="slidenum">
              <a:rPr lang="en-US" smtClean="0"/>
              <a:pPr/>
              <a:t>16</a:t>
            </a:fld>
            <a:endParaRPr lang="en-US"/>
          </a:p>
        </p:txBody>
      </p:sp>
      <p:sp>
        <p:nvSpPr>
          <p:cNvPr id="6" name="Rectangle 3"/>
          <p:cNvSpPr txBox="1">
            <a:spLocks noChangeArrowheads="1"/>
          </p:cNvSpPr>
          <p:nvPr/>
        </p:nvSpPr>
        <p:spPr bwMode="auto">
          <a:xfrm>
            <a:off x="35999" y="2266950"/>
            <a:ext cx="9108001" cy="2743200"/>
          </a:xfrm>
          <a:prstGeom prst="rect">
            <a:avLst/>
          </a:prstGeom>
          <a:noFill/>
          <a:ln>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1" fontAlgn="base" hangingPunct="1">
              <a:spcBef>
                <a:spcPct val="20000"/>
              </a:spcBef>
              <a:spcAft>
                <a:spcPct val="0"/>
              </a:spcAft>
              <a:buClr>
                <a:srgbClr val="CC0000"/>
              </a:buClr>
              <a:buFont typeface="Times" charset="0"/>
              <a:buChar char="•"/>
              <a:defRPr sz="2400">
                <a:solidFill>
                  <a:schemeClr val="tx1"/>
                </a:solidFill>
                <a:latin typeface="+mn-lt"/>
                <a:ea typeface="ＭＳ Ｐゴシック" pitchFamily="-65" charset="-128"/>
                <a:cs typeface="ＭＳ Ｐゴシック" pitchFamily="-65" charset="-128"/>
              </a:defRPr>
            </a:lvl1pPr>
            <a:lvl2pPr marL="685800" indent="-228600" algn="l" rtl="0" eaLnBrk="1" fontAlgn="base" hangingPunct="1">
              <a:spcBef>
                <a:spcPct val="20000"/>
              </a:spcBef>
              <a:spcAft>
                <a:spcPct val="0"/>
              </a:spcAft>
              <a:buClr>
                <a:schemeClr val="tx1"/>
              </a:buClr>
              <a:buFont typeface="Times" charset="0"/>
              <a:buChar char="•"/>
              <a:defRPr sz="2000">
                <a:solidFill>
                  <a:schemeClr val="tx1"/>
                </a:solidFill>
                <a:latin typeface="+mn-lt"/>
                <a:ea typeface="ＭＳ Ｐゴシック" pitchFamily="-65" charset="-128"/>
              </a:defRPr>
            </a:lvl2pPr>
            <a:lvl3pPr marL="1028700" indent="-228600" algn="l" rtl="0" eaLnBrk="1" fontAlgn="base" hangingPunct="1">
              <a:spcBef>
                <a:spcPct val="20000"/>
              </a:spcBef>
              <a:spcAft>
                <a:spcPct val="0"/>
              </a:spcAft>
              <a:buClr>
                <a:srgbClr val="CC0000"/>
              </a:buClr>
              <a:buFont typeface="Times" charset="0"/>
              <a:buChar char="•"/>
              <a:defRPr sz="2000">
                <a:solidFill>
                  <a:schemeClr val="tx1"/>
                </a:solidFill>
                <a:latin typeface="+mn-lt"/>
                <a:ea typeface="ＭＳ Ｐゴシック" pitchFamily="-65" charset="-128"/>
              </a:defRPr>
            </a:lvl3pPr>
            <a:lvl4pPr marL="1371600" indent="-228600" algn="l" rtl="0" eaLnBrk="1" fontAlgn="base" hangingPunct="1">
              <a:spcBef>
                <a:spcPct val="20000"/>
              </a:spcBef>
              <a:spcAft>
                <a:spcPct val="0"/>
              </a:spcAft>
              <a:buClr>
                <a:schemeClr val="tx1"/>
              </a:buClr>
              <a:buFont typeface="Times" charset="0"/>
              <a:buChar char="•"/>
              <a:defRPr>
                <a:solidFill>
                  <a:schemeClr val="tx1"/>
                </a:solidFill>
                <a:latin typeface="+mn-lt"/>
                <a:ea typeface="ＭＳ Ｐゴシック" pitchFamily="-65" charset="-128"/>
              </a:defRPr>
            </a:lvl4pPr>
            <a:lvl5pPr marL="1714500" indent="-228600" algn="l" rtl="0" eaLnBrk="1" fontAlgn="base" hangingPunct="1">
              <a:spcBef>
                <a:spcPct val="20000"/>
              </a:spcBef>
              <a:spcAft>
                <a:spcPct val="0"/>
              </a:spcAft>
              <a:buClr>
                <a:srgbClr val="CC0000"/>
              </a:buClr>
              <a:buFont typeface="Times" charset="0"/>
              <a:buChar char="•"/>
              <a:defRPr>
                <a:solidFill>
                  <a:schemeClr val="tx1"/>
                </a:solidFill>
                <a:latin typeface="+mn-lt"/>
                <a:ea typeface="ＭＳ Ｐゴシック" pitchFamily="-65" charset="-128"/>
              </a:defRPr>
            </a:lvl5pPr>
            <a:lvl6pPr marL="21717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6pPr>
            <a:lvl7pPr marL="26289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7pPr>
            <a:lvl8pPr marL="30861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8pPr>
            <a:lvl9pPr marL="35433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9pPr>
          </a:lstStyle>
          <a:p>
            <a:pPr marL="0" indent="0">
              <a:lnSpc>
                <a:spcPct val="90000"/>
              </a:lnSpc>
              <a:buNone/>
            </a:pPr>
            <a:r>
              <a:rPr lang="en-US" sz="1400" dirty="0" err="1">
                <a:latin typeface="Courier"/>
                <a:cs typeface="Courier"/>
              </a:rPr>
              <a:t>tr</a:t>
            </a:r>
            <a:r>
              <a:rPr lang="en-US" sz="1400" dirty="0">
                <a:latin typeface="Courier"/>
                <a:cs typeface="Courier"/>
              </a:rPr>
              <a:t> -</a:t>
            </a:r>
            <a:r>
              <a:rPr lang="en-US" sz="1400" dirty="0" err="1">
                <a:latin typeface="Courier"/>
                <a:cs typeface="Courier"/>
              </a:rPr>
              <a:t>sc</a:t>
            </a:r>
            <a:r>
              <a:rPr lang="en-US" sz="1400" dirty="0">
                <a:latin typeface="Courier"/>
                <a:cs typeface="Courier"/>
              </a:rPr>
              <a:t> 'A-</a:t>
            </a:r>
            <a:r>
              <a:rPr lang="en-US" sz="1400" dirty="0" err="1">
                <a:latin typeface="Courier"/>
                <a:cs typeface="Courier"/>
              </a:rPr>
              <a:t>Za</a:t>
            </a:r>
            <a:r>
              <a:rPr lang="en-US" sz="1400" dirty="0">
                <a:latin typeface="Courier"/>
                <a:cs typeface="Courier"/>
              </a:rPr>
              <a:t>-z' '\n' &lt; </a:t>
            </a:r>
            <a:r>
              <a:rPr lang="en-US" sz="1400" dirty="0" err="1">
                <a:latin typeface="Courier"/>
                <a:cs typeface="Courier"/>
              </a:rPr>
              <a:t>shakes.txt</a:t>
            </a:r>
            <a:r>
              <a:rPr lang="en-US" sz="1400" dirty="0">
                <a:latin typeface="Courier"/>
                <a:cs typeface="Courier"/>
              </a:rPr>
              <a:t> | </a:t>
            </a:r>
            <a:r>
              <a:rPr lang="en-US" sz="1400" dirty="0" err="1">
                <a:latin typeface="Courier"/>
                <a:cs typeface="Courier"/>
              </a:rPr>
              <a:t>grep</a:t>
            </a:r>
            <a:r>
              <a:rPr lang="en-US" sz="1400" dirty="0">
                <a:latin typeface="Courier"/>
                <a:cs typeface="Courier"/>
              </a:rPr>
              <a:t> ’</a:t>
            </a:r>
            <a:r>
              <a:rPr lang="en-US" sz="1400" dirty="0" err="1">
                <a:latin typeface="Courier"/>
                <a:cs typeface="Courier"/>
              </a:rPr>
              <a:t>ing</a:t>
            </a:r>
            <a:r>
              <a:rPr lang="en-US" sz="1400" dirty="0">
                <a:latin typeface="Courier"/>
                <a:cs typeface="Courier"/>
              </a:rPr>
              <a:t>$' | sort | </a:t>
            </a:r>
            <a:r>
              <a:rPr lang="en-US" sz="1400" dirty="0" err="1">
                <a:latin typeface="Courier"/>
                <a:cs typeface="Courier"/>
              </a:rPr>
              <a:t>uniq</a:t>
            </a:r>
            <a:r>
              <a:rPr lang="en-US" sz="1400" dirty="0">
                <a:latin typeface="Courier"/>
                <a:cs typeface="Courier"/>
              </a:rPr>
              <a:t> -c | sort –nr </a:t>
            </a:r>
          </a:p>
          <a:p>
            <a:pPr marL="0" indent="0">
              <a:lnSpc>
                <a:spcPct val="90000"/>
              </a:lnSpc>
              <a:buNone/>
            </a:pPr>
            <a:endParaRPr lang="en-US" sz="1400" dirty="0">
              <a:latin typeface="Courier"/>
              <a:cs typeface="Courier"/>
            </a:endParaRPr>
          </a:p>
          <a:p>
            <a:pPr marL="0" indent="0">
              <a:lnSpc>
                <a:spcPct val="90000"/>
              </a:lnSpc>
              <a:buNone/>
            </a:pPr>
            <a:endParaRPr lang="en-US" sz="1400" dirty="0">
              <a:latin typeface="Courier"/>
              <a:cs typeface="Courier"/>
            </a:endParaRPr>
          </a:p>
          <a:p>
            <a:pPr marL="0" indent="0">
              <a:lnSpc>
                <a:spcPct val="90000"/>
              </a:lnSpc>
              <a:buNone/>
            </a:pPr>
            <a:endParaRPr lang="en-US" sz="1400" dirty="0">
              <a:latin typeface="Courier"/>
              <a:cs typeface="Courier"/>
            </a:endParaRPr>
          </a:p>
          <a:p>
            <a:pPr marL="0" indent="0">
              <a:lnSpc>
                <a:spcPct val="90000"/>
              </a:lnSpc>
              <a:buNone/>
            </a:pPr>
            <a:endParaRPr lang="en-US" sz="1400" dirty="0">
              <a:latin typeface="Courier"/>
              <a:cs typeface="Courier"/>
            </a:endParaRPr>
          </a:p>
          <a:p>
            <a:pPr marL="0" indent="0">
              <a:lnSpc>
                <a:spcPct val="90000"/>
              </a:lnSpc>
              <a:buNone/>
            </a:pPr>
            <a:endParaRPr lang="en-US" sz="1400" dirty="0">
              <a:solidFill>
                <a:schemeClr val="accent5">
                  <a:lumMod val="60000"/>
                  <a:lumOff val="40000"/>
                </a:schemeClr>
              </a:solidFill>
              <a:latin typeface="Courier"/>
              <a:cs typeface="Courier"/>
            </a:endParaRPr>
          </a:p>
          <a:p>
            <a:pPr marL="0" indent="0">
              <a:lnSpc>
                <a:spcPct val="90000"/>
              </a:lnSpc>
              <a:buNone/>
            </a:pPr>
            <a:endParaRPr lang="en-US" sz="1400" dirty="0">
              <a:latin typeface="Courier"/>
              <a:cs typeface="Courier"/>
            </a:endParaRPr>
          </a:p>
          <a:p>
            <a:pPr marL="0" indent="0">
              <a:lnSpc>
                <a:spcPct val="90000"/>
              </a:lnSpc>
              <a:buNone/>
            </a:pPr>
            <a:endParaRPr lang="en-US" sz="1400" dirty="0">
              <a:latin typeface="Courier"/>
              <a:cs typeface="Courier"/>
            </a:endParaRPr>
          </a:p>
          <a:p>
            <a:pPr marL="0" indent="0">
              <a:lnSpc>
                <a:spcPct val="90000"/>
              </a:lnSpc>
              <a:buNone/>
            </a:pPr>
            <a:endParaRPr lang="en-US" sz="1400" dirty="0">
              <a:latin typeface="Courier"/>
              <a:cs typeface="Courier"/>
            </a:endParaRPr>
          </a:p>
          <a:p>
            <a:pPr marL="0" indent="0">
              <a:lnSpc>
                <a:spcPct val="90000"/>
              </a:lnSpc>
              <a:buNone/>
            </a:pPr>
            <a:r>
              <a:rPr lang="en-US" sz="1350" dirty="0" err="1">
                <a:latin typeface="Courier"/>
                <a:cs typeface="Courier"/>
              </a:rPr>
              <a:t>tr</a:t>
            </a:r>
            <a:r>
              <a:rPr lang="en-US" sz="1350" dirty="0">
                <a:latin typeface="Courier"/>
                <a:cs typeface="Courier"/>
              </a:rPr>
              <a:t> -</a:t>
            </a:r>
            <a:r>
              <a:rPr lang="en-US" sz="1350" dirty="0" err="1">
                <a:latin typeface="Courier"/>
                <a:cs typeface="Courier"/>
              </a:rPr>
              <a:t>sc</a:t>
            </a:r>
            <a:r>
              <a:rPr lang="en-US" sz="1350" dirty="0">
                <a:latin typeface="Courier"/>
                <a:cs typeface="Courier"/>
              </a:rPr>
              <a:t> 'A-</a:t>
            </a:r>
            <a:r>
              <a:rPr lang="en-US" sz="1350" dirty="0" err="1">
                <a:latin typeface="Courier"/>
                <a:cs typeface="Courier"/>
              </a:rPr>
              <a:t>Za</a:t>
            </a:r>
            <a:r>
              <a:rPr lang="en-US" sz="1350" dirty="0">
                <a:latin typeface="Courier"/>
                <a:cs typeface="Courier"/>
              </a:rPr>
              <a:t>-z' '\n' &lt; </a:t>
            </a:r>
            <a:r>
              <a:rPr lang="en-US" sz="1350" dirty="0" err="1">
                <a:latin typeface="Courier"/>
                <a:cs typeface="Courier"/>
              </a:rPr>
              <a:t>shakes.txt</a:t>
            </a:r>
            <a:r>
              <a:rPr lang="en-US" sz="1350" dirty="0">
                <a:latin typeface="Courier"/>
                <a:cs typeface="Courier"/>
              </a:rPr>
              <a:t> | </a:t>
            </a:r>
            <a:r>
              <a:rPr lang="en-US" sz="1350" dirty="0" err="1">
                <a:latin typeface="Courier"/>
                <a:cs typeface="Courier"/>
              </a:rPr>
              <a:t>grep</a:t>
            </a:r>
            <a:r>
              <a:rPr lang="en-US" sz="1350" dirty="0">
                <a:latin typeface="Courier"/>
                <a:cs typeface="Courier"/>
              </a:rPr>
              <a:t> '[</a:t>
            </a:r>
            <a:r>
              <a:rPr lang="en-US" sz="1350" dirty="0" err="1">
                <a:latin typeface="Courier"/>
                <a:cs typeface="Courier"/>
              </a:rPr>
              <a:t>aeiou</a:t>
            </a:r>
            <a:r>
              <a:rPr lang="en-US" sz="1350" dirty="0">
                <a:latin typeface="Courier"/>
                <a:cs typeface="Courier"/>
              </a:rPr>
              <a:t>].*</a:t>
            </a:r>
            <a:r>
              <a:rPr lang="en-US" sz="1350" dirty="0" err="1">
                <a:latin typeface="Courier"/>
                <a:cs typeface="Courier"/>
              </a:rPr>
              <a:t>ing</a:t>
            </a:r>
            <a:r>
              <a:rPr lang="en-US" sz="1350" dirty="0">
                <a:latin typeface="Courier"/>
                <a:cs typeface="Courier"/>
              </a:rPr>
              <a:t>$' | sort | </a:t>
            </a:r>
            <a:r>
              <a:rPr lang="en-US" sz="1350" dirty="0" err="1">
                <a:latin typeface="Courier"/>
                <a:cs typeface="Courier"/>
              </a:rPr>
              <a:t>uniq</a:t>
            </a:r>
            <a:r>
              <a:rPr lang="en-US" sz="1350" dirty="0">
                <a:latin typeface="Courier"/>
                <a:cs typeface="Courier"/>
              </a:rPr>
              <a:t> -c | sort –nr</a:t>
            </a:r>
          </a:p>
        </p:txBody>
      </p:sp>
      <p:sp>
        <p:nvSpPr>
          <p:cNvPr id="7" name="TextBox 6"/>
          <p:cNvSpPr txBox="1"/>
          <p:nvPr/>
        </p:nvSpPr>
        <p:spPr>
          <a:xfrm>
            <a:off x="4038600" y="2571750"/>
            <a:ext cx="1385190" cy="1757404"/>
          </a:xfrm>
          <a:prstGeom prst="rect">
            <a:avLst/>
          </a:prstGeom>
          <a:noFill/>
        </p:spPr>
        <p:txBody>
          <a:bodyPr wrap="none" rtlCol="0">
            <a:spAutoFit/>
          </a:bodyPr>
          <a:lstStyle/>
          <a:p>
            <a:pPr marL="0" indent="0">
              <a:lnSpc>
                <a:spcPct val="90000"/>
              </a:lnSpc>
              <a:buNone/>
            </a:pPr>
            <a:r>
              <a:rPr lang="en-US" sz="1200" dirty="0">
                <a:latin typeface="Courier"/>
                <a:cs typeface="Courier"/>
              </a:rPr>
              <a:t>548 being</a:t>
            </a:r>
          </a:p>
          <a:p>
            <a:pPr marL="0" indent="0">
              <a:lnSpc>
                <a:spcPct val="90000"/>
              </a:lnSpc>
              <a:buNone/>
            </a:pPr>
            <a:r>
              <a:rPr lang="en-US" sz="1200" dirty="0">
                <a:solidFill>
                  <a:srgbClr val="A6A6A6"/>
                </a:solidFill>
                <a:latin typeface="Courier"/>
                <a:cs typeface="Courier"/>
              </a:rPr>
              <a:t>541 nothing</a:t>
            </a:r>
          </a:p>
          <a:p>
            <a:pPr marL="0" indent="0">
              <a:lnSpc>
                <a:spcPct val="90000"/>
              </a:lnSpc>
              <a:buNone/>
            </a:pPr>
            <a:r>
              <a:rPr lang="en-US" sz="1200" dirty="0">
                <a:solidFill>
                  <a:srgbClr val="A6A6A6"/>
                </a:solidFill>
                <a:latin typeface="Courier"/>
                <a:cs typeface="Courier"/>
              </a:rPr>
              <a:t>152 something</a:t>
            </a:r>
          </a:p>
          <a:p>
            <a:pPr marL="0" indent="0">
              <a:lnSpc>
                <a:spcPct val="90000"/>
              </a:lnSpc>
              <a:buNone/>
            </a:pPr>
            <a:r>
              <a:rPr lang="en-US" sz="1200" dirty="0">
                <a:latin typeface="Courier"/>
                <a:cs typeface="Courier"/>
              </a:rPr>
              <a:t>145 coming</a:t>
            </a:r>
          </a:p>
          <a:p>
            <a:pPr marL="0" indent="0">
              <a:lnSpc>
                <a:spcPct val="90000"/>
              </a:lnSpc>
              <a:buNone/>
            </a:pPr>
            <a:r>
              <a:rPr lang="en-US" sz="1200" dirty="0">
                <a:solidFill>
                  <a:srgbClr val="A6A6A6"/>
                </a:solidFill>
                <a:latin typeface="Courier"/>
                <a:cs typeface="Courier"/>
              </a:rPr>
              <a:t>130 morning</a:t>
            </a:r>
          </a:p>
          <a:p>
            <a:pPr marL="0" indent="0">
              <a:lnSpc>
                <a:spcPct val="90000"/>
              </a:lnSpc>
              <a:buNone/>
            </a:pPr>
            <a:r>
              <a:rPr lang="en-US" sz="1200" dirty="0">
                <a:latin typeface="Courier"/>
                <a:cs typeface="Courier"/>
              </a:rPr>
              <a:t>122 having</a:t>
            </a:r>
          </a:p>
          <a:p>
            <a:pPr marL="0" indent="0">
              <a:lnSpc>
                <a:spcPct val="90000"/>
              </a:lnSpc>
              <a:buNone/>
            </a:pPr>
            <a:r>
              <a:rPr lang="en-US" sz="1200" dirty="0">
                <a:latin typeface="Courier"/>
                <a:cs typeface="Courier"/>
              </a:rPr>
              <a:t>120 living</a:t>
            </a:r>
          </a:p>
          <a:p>
            <a:pPr marL="0" indent="0">
              <a:lnSpc>
                <a:spcPct val="90000"/>
              </a:lnSpc>
              <a:buNone/>
            </a:pPr>
            <a:r>
              <a:rPr lang="en-US" sz="1200" dirty="0">
                <a:latin typeface="Courier"/>
                <a:cs typeface="Courier"/>
              </a:rPr>
              <a:t>117 loving</a:t>
            </a:r>
          </a:p>
          <a:p>
            <a:pPr marL="0" indent="0">
              <a:lnSpc>
                <a:spcPct val="90000"/>
              </a:lnSpc>
              <a:buNone/>
            </a:pPr>
            <a:r>
              <a:rPr lang="en-US" sz="1200" dirty="0">
                <a:latin typeface="Courier"/>
                <a:cs typeface="Courier"/>
              </a:rPr>
              <a:t>116 Being</a:t>
            </a:r>
          </a:p>
          <a:p>
            <a:pPr marL="0" indent="0">
              <a:lnSpc>
                <a:spcPct val="90000"/>
              </a:lnSpc>
              <a:buNone/>
            </a:pPr>
            <a:r>
              <a:rPr lang="en-US" sz="1200" dirty="0">
                <a:latin typeface="Courier"/>
                <a:cs typeface="Courier"/>
              </a:rPr>
              <a:t>102 going</a:t>
            </a:r>
          </a:p>
        </p:txBody>
      </p:sp>
      <p:sp>
        <p:nvSpPr>
          <p:cNvPr id="8" name="TextBox 7"/>
          <p:cNvSpPr txBox="1"/>
          <p:nvPr/>
        </p:nvSpPr>
        <p:spPr>
          <a:xfrm>
            <a:off x="1828800" y="2571750"/>
            <a:ext cx="1479892" cy="1757404"/>
          </a:xfrm>
          <a:prstGeom prst="rect">
            <a:avLst/>
          </a:prstGeom>
          <a:noFill/>
        </p:spPr>
        <p:txBody>
          <a:bodyPr wrap="none" rtlCol="0">
            <a:spAutoFit/>
          </a:bodyPr>
          <a:lstStyle/>
          <a:p>
            <a:pPr marL="0" indent="0">
              <a:lnSpc>
                <a:spcPct val="90000"/>
              </a:lnSpc>
              <a:buNone/>
            </a:pPr>
            <a:r>
              <a:rPr lang="en-US" sz="1200" dirty="0">
                <a:solidFill>
                  <a:schemeClr val="bg1">
                    <a:lumMod val="65000"/>
                  </a:schemeClr>
                </a:solidFill>
                <a:latin typeface="Courier"/>
                <a:cs typeface="Courier"/>
              </a:rPr>
              <a:t>1312 King</a:t>
            </a:r>
          </a:p>
          <a:p>
            <a:pPr marL="0" indent="0">
              <a:lnSpc>
                <a:spcPct val="90000"/>
              </a:lnSpc>
              <a:buNone/>
            </a:pPr>
            <a:r>
              <a:rPr lang="en-US" sz="1200" dirty="0">
                <a:latin typeface="Courier"/>
                <a:cs typeface="Courier"/>
              </a:rPr>
              <a:t> 548 being</a:t>
            </a:r>
          </a:p>
          <a:p>
            <a:pPr marL="0" indent="0">
              <a:lnSpc>
                <a:spcPct val="90000"/>
              </a:lnSpc>
              <a:buNone/>
            </a:pPr>
            <a:r>
              <a:rPr lang="en-US" sz="1200" dirty="0">
                <a:solidFill>
                  <a:srgbClr val="7CD7CF"/>
                </a:solidFill>
                <a:latin typeface="Courier"/>
                <a:cs typeface="Courier"/>
              </a:rPr>
              <a:t> </a:t>
            </a:r>
            <a:r>
              <a:rPr lang="en-US" sz="1200" dirty="0">
                <a:solidFill>
                  <a:schemeClr val="bg1">
                    <a:lumMod val="65000"/>
                  </a:schemeClr>
                </a:solidFill>
                <a:latin typeface="Courier"/>
                <a:cs typeface="Courier"/>
              </a:rPr>
              <a:t>541 nothing</a:t>
            </a:r>
          </a:p>
          <a:p>
            <a:pPr marL="0" indent="0">
              <a:lnSpc>
                <a:spcPct val="90000"/>
              </a:lnSpc>
              <a:buNone/>
            </a:pPr>
            <a:r>
              <a:rPr lang="en-US" sz="1200" dirty="0">
                <a:solidFill>
                  <a:schemeClr val="bg1">
                    <a:lumMod val="65000"/>
                  </a:schemeClr>
                </a:solidFill>
                <a:latin typeface="Courier"/>
                <a:cs typeface="Courier"/>
              </a:rPr>
              <a:t> 388 king</a:t>
            </a:r>
          </a:p>
          <a:p>
            <a:pPr marL="0" indent="0">
              <a:lnSpc>
                <a:spcPct val="90000"/>
              </a:lnSpc>
              <a:buNone/>
            </a:pPr>
            <a:r>
              <a:rPr lang="en-US" sz="1200" dirty="0">
                <a:solidFill>
                  <a:schemeClr val="bg1">
                    <a:lumMod val="65000"/>
                  </a:schemeClr>
                </a:solidFill>
                <a:latin typeface="Courier"/>
                <a:cs typeface="Courier"/>
              </a:rPr>
              <a:t> 375 bring</a:t>
            </a:r>
          </a:p>
          <a:p>
            <a:pPr marL="0" indent="0">
              <a:lnSpc>
                <a:spcPct val="90000"/>
              </a:lnSpc>
              <a:buNone/>
            </a:pPr>
            <a:r>
              <a:rPr lang="en-US" sz="1200" dirty="0">
                <a:solidFill>
                  <a:schemeClr val="bg1">
                    <a:lumMod val="65000"/>
                  </a:schemeClr>
                </a:solidFill>
                <a:latin typeface="Courier"/>
                <a:cs typeface="Courier"/>
              </a:rPr>
              <a:t> 358 thing</a:t>
            </a:r>
          </a:p>
          <a:p>
            <a:pPr marL="0" indent="0">
              <a:lnSpc>
                <a:spcPct val="90000"/>
              </a:lnSpc>
              <a:buNone/>
            </a:pPr>
            <a:r>
              <a:rPr lang="en-US" sz="1200" dirty="0">
                <a:solidFill>
                  <a:schemeClr val="bg1">
                    <a:lumMod val="65000"/>
                  </a:schemeClr>
                </a:solidFill>
                <a:latin typeface="Courier"/>
                <a:cs typeface="Courier"/>
              </a:rPr>
              <a:t> 307 ring</a:t>
            </a:r>
          </a:p>
          <a:p>
            <a:pPr marL="0" indent="0">
              <a:lnSpc>
                <a:spcPct val="90000"/>
              </a:lnSpc>
              <a:buNone/>
            </a:pPr>
            <a:r>
              <a:rPr lang="en-US" sz="1200" dirty="0">
                <a:solidFill>
                  <a:schemeClr val="bg1">
                    <a:lumMod val="65000"/>
                  </a:schemeClr>
                </a:solidFill>
                <a:latin typeface="Courier"/>
                <a:cs typeface="Courier"/>
              </a:rPr>
              <a:t> 152 something</a:t>
            </a:r>
          </a:p>
          <a:p>
            <a:pPr marL="0" indent="0">
              <a:lnSpc>
                <a:spcPct val="90000"/>
              </a:lnSpc>
              <a:buNone/>
            </a:pPr>
            <a:r>
              <a:rPr lang="en-US" sz="1200" dirty="0">
                <a:latin typeface="Courier"/>
                <a:cs typeface="Courier"/>
              </a:rPr>
              <a:t> 145 coming</a:t>
            </a:r>
          </a:p>
          <a:p>
            <a:pPr marL="0" indent="0">
              <a:lnSpc>
                <a:spcPct val="90000"/>
              </a:lnSpc>
              <a:buNone/>
            </a:pPr>
            <a:r>
              <a:rPr lang="en-US" sz="1200" dirty="0">
                <a:solidFill>
                  <a:schemeClr val="bg1">
                    <a:lumMod val="65000"/>
                  </a:schemeClr>
                </a:solidFill>
                <a:latin typeface="Courier"/>
                <a:cs typeface="Courier"/>
              </a:rPr>
              <a:t> 130 morning </a:t>
            </a:r>
          </a:p>
        </p:txBody>
      </p:sp>
    </p:spTree>
    <p:extLst>
      <p:ext uri="{BB962C8B-B14F-4D97-AF65-F5344CB8AC3E}">
        <p14:creationId xmlns:p14="http://schemas.microsoft.com/office/powerpoint/2010/main" val="2735149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a:t>Dealing with complex morphology is sometimes necessary</a:t>
            </a:r>
          </a:p>
        </p:txBody>
      </p:sp>
      <p:sp>
        <p:nvSpPr>
          <p:cNvPr id="53251" name="Rectangle 3"/>
          <p:cNvSpPr>
            <a:spLocks noGrp="1" noChangeArrowheads="1"/>
          </p:cNvSpPr>
          <p:nvPr>
            <p:ph type="body" idx="1"/>
          </p:nvPr>
        </p:nvSpPr>
        <p:spPr>
          <a:xfrm>
            <a:off x="304800" y="1352550"/>
            <a:ext cx="8686800" cy="3333750"/>
          </a:xfrm>
        </p:spPr>
        <p:txBody>
          <a:bodyPr>
            <a:normAutofit fontScale="92500" lnSpcReduction="10000"/>
          </a:bodyPr>
          <a:lstStyle/>
          <a:p>
            <a:pPr>
              <a:lnSpc>
                <a:spcPct val="90000"/>
              </a:lnSpc>
            </a:pPr>
            <a:r>
              <a:rPr lang="en-US" sz="2800" dirty="0"/>
              <a:t>Some languages requires complex morpheme segmentation</a:t>
            </a:r>
          </a:p>
          <a:p>
            <a:pPr lvl="1"/>
            <a:r>
              <a:rPr lang="en-US" sz="2400" dirty="0"/>
              <a:t>Turkish</a:t>
            </a:r>
          </a:p>
          <a:p>
            <a:pPr lvl="1"/>
            <a:r>
              <a:rPr lang="en-US" sz="2400" dirty="0" err="1">
                <a:solidFill>
                  <a:srgbClr val="FF0000"/>
                </a:solidFill>
              </a:rPr>
              <a:t>Uygarlastiramadiklarimizdanmissinizcasina</a:t>
            </a:r>
            <a:endParaRPr lang="en-US" sz="2400" dirty="0">
              <a:solidFill>
                <a:srgbClr val="FF0000"/>
              </a:solidFill>
            </a:endParaRPr>
          </a:p>
          <a:p>
            <a:pPr lvl="1"/>
            <a:r>
              <a:rPr lang="en-US" sz="2400" dirty="0"/>
              <a:t>`(behaving) as if you are among those whom we could not civilize’</a:t>
            </a:r>
          </a:p>
          <a:p>
            <a:pPr lvl="1"/>
            <a:r>
              <a:rPr lang="en-US" sz="2400" dirty="0" err="1">
                <a:solidFill>
                  <a:srgbClr val="FF0000"/>
                </a:solidFill>
              </a:rPr>
              <a:t>Uygar</a:t>
            </a:r>
            <a:r>
              <a:rPr lang="en-US" sz="2400" dirty="0">
                <a:solidFill>
                  <a:srgbClr val="FF0000"/>
                </a:solidFill>
              </a:rPr>
              <a:t> </a:t>
            </a:r>
            <a:r>
              <a:rPr lang="en-US" sz="2400" dirty="0"/>
              <a:t>`civilized’ + </a:t>
            </a:r>
            <a:r>
              <a:rPr lang="en-US" sz="2400" dirty="0" err="1">
                <a:solidFill>
                  <a:srgbClr val="FF0000"/>
                </a:solidFill>
              </a:rPr>
              <a:t>las</a:t>
            </a:r>
            <a:r>
              <a:rPr lang="en-US" sz="2400" dirty="0">
                <a:solidFill>
                  <a:srgbClr val="FF0000"/>
                </a:solidFill>
              </a:rPr>
              <a:t> </a:t>
            </a:r>
            <a:r>
              <a:rPr lang="en-US" sz="2400" dirty="0"/>
              <a:t>`become’ </a:t>
            </a:r>
          </a:p>
          <a:p>
            <a:pPr lvl="2">
              <a:buFont typeface="Wingdings" charset="2"/>
              <a:buNone/>
            </a:pPr>
            <a:r>
              <a:rPr lang="en-US" sz="2000" dirty="0"/>
              <a:t>+ </a:t>
            </a:r>
            <a:r>
              <a:rPr lang="en-US" sz="2000" dirty="0" err="1">
                <a:solidFill>
                  <a:srgbClr val="FF0000"/>
                </a:solidFill>
              </a:rPr>
              <a:t>tir</a:t>
            </a:r>
            <a:r>
              <a:rPr lang="en-US" sz="2000" dirty="0">
                <a:solidFill>
                  <a:srgbClr val="FF0000"/>
                </a:solidFill>
              </a:rPr>
              <a:t> </a:t>
            </a:r>
            <a:r>
              <a:rPr lang="en-US" sz="2000" dirty="0"/>
              <a:t>`cause’ + </a:t>
            </a:r>
            <a:r>
              <a:rPr lang="en-US" sz="2000" dirty="0" err="1">
                <a:solidFill>
                  <a:srgbClr val="FF0000"/>
                </a:solidFill>
              </a:rPr>
              <a:t>ama</a:t>
            </a:r>
            <a:r>
              <a:rPr lang="en-US" sz="2000" dirty="0">
                <a:solidFill>
                  <a:srgbClr val="FF0000"/>
                </a:solidFill>
              </a:rPr>
              <a:t> </a:t>
            </a:r>
            <a:r>
              <a:rPr lang="en-US" sz="2000" dirty="0"/>
              <a:t>`not able’ </a:t>
            </a:r>
          </a:p>
          <a:p>
            <a:pPr lvl="2">
              <a:buFont typeface="Wingdings" charset="2"/>
              <a:buNone/>
            </a:pPr>
            <a:r>
              <a:rPr lang="en-US" sz="2000" dirty="0"/>
              <a:t>+ </a:t>
            </a:r>
            <a:r>
              <a:rPr lang="en-US" sz="2000" dirty="0" err="1">
                <a:solidFill>
                  <a:srgbClr val="FF0000"/>
                </a:solidFill>
              </a:rPr>
              <a:t>dik</a:t>
            </a:r>
            <a:r>
              <a:rPr lang="en-US" sz="2000" dirty="0">
                <a:solidFill>
                  <a:srgbClr val="FF0000"/>
                </a:solidFill>
              </a:rPr>
              <a:t> </a:t>
            </a:r>
            <a:r>
              <a:rPr lang="en-US" sz="2000" dirty="0"/>
              <a:t>`past’ + </a:t>
            </a:r>
            <a:r>
              <a:rPr lang="en-US" sz="2000" dirty="0" err="1">
                <a:solidFill>
                  <a:srgbClr val="FF0000"/>
                </a:solidFill>
              </a:rPr>
              <a:t>lar</a:t>
            </a:r>
            <a:r>
              <a:rPr lang="en-US" sz="2000" dirty="0">
                <a:solidFill>
                  <a:srgbClr val="FF0000"/>
                </a:solidFill>
              </a:rPr>
              <a:t> </a:t>
            </a:r>
            <a:r>
              <a:rPr lang="en-US" sz="2000" dirty="0"/>
              <a:t>‘plural’</a:t>
            </a:r>
          </a:p>
          <a:p>
            <a:pPr lvl="2">
              <a:buFont typeface="Wingdings" charset="2"/>
              <a:buNone/>
            </a:pPr>
            <a:r>
              <a:rPr lang="en-US" sz="2000" dirty="0"/>
              <a:t>+ </a:t>
            </a:r>
            <a:r>
              <a:rPr lang="en-US" sz="2000" dirty="0" err="1">
                <a:solidFill>
                  <a:srgbClr val="FF0000"/>
                </a:solidFill>
              </a:rPr>
              <a:t>imiz</a:t>
            </a:r>
            <a:r>
              <a:rPr lang="en-US" sz="2000" dirty="0">
                <a:solidFill>
                  <a:srgbClr val="FF0000"/>
                </a:solidFill>
              </a:rPr>
              <a:t> </a:t>
            </a:r>
            <a:r>
              <a:rPr lang="en-US" sz="2000" dirty="0"/>
              <a:t>‘p1pl’ + </a:t>
            </a:r>
            <a:r>
              <a:rPr lang="en-US" sz="2000" dirty="0" err="1">
                <a:solidFill>
                  <a:srgbClr val="FF0000"/>
                </a:solidFill>
              </a:rPr>
              <a:t>dan</a:t>
            </a:r>
            <a:r>
              <a:rPr lang="en-US" sz="2000" dirty="0">
                <a:solidFill>
                  <a:srgbClr val="FF0000"/>
                </a:solidFill>
              </a:rPr>
              <a:t> </a:t>
            </a:r>
            <a:r>
              <a:rPr lang="en-US" sz="2000" dirty="0"/>
              <a:t>‘</a:t>
            </a:r>
            <a:r>
              <a:rPr lang="en-US" sz="2000" dirty="0" err="1"/>
              <a:t>abl</a:t>
            </a:r>
            <a:r>
              <a:rPr lang="en-US" sz="2000" dirty="0"/>
              <a:t>’ </a:t>
            </a:r>
          </a:p>
          <a:p>
            <a:pPr lvl="2">
              <a:buFont typeface="Wingdings" charset="2"/>
              <a:buNone/>
            </a:pPr>
            <a:r>
              <a:rPr lang="en-US" sz="2000" dirty="0"/>
              <a:t>+ </a:t>
            </a:r>
            <a:r>
              <a:rPr lang="en-US" sz="2000" dirty="0" err="1">
                <a:solidFill>
                  <a:srgbClr val="FF0000"/>
                </a:solidFill>
              </a:rPr>
              <a:t>mis</a:t>
            </a:r>
            <a:r>
              <a:rPr lang="en-US" sz="2000" dirty="0">
                <a:solidFill>
                  <a:srgbClr val="FF0000"/>
                </a:solidFill>
              </a:rPr>
              <a:t> </a:t>
            </a:r>
            <a:r>
              <a:rPr lang="en-US" sz="2000" dirty="0"/>
              <a:t>‘past’ + </a:t>
            </a:r>
            <a:r>
              <a:rPr lang="en-US" sz="2000" dirty="0" err="1">
                <a:solidFill>
                  <a:srgbClr val="FF0000"/>
                </a:solidFill>
              </a:rPr>
              <a:t>siniz</a:t>
            </a:r>
            <a:r>
              <a:rPr lang="en-US" sz="2000" dirty="0">
                <a:solidFill>
                  <a:srgbClr val="FF0000"/>
                </a:solidFill>
              </a:rPr>
              <a:t> </a:t>
            </a:r>
            <a:r>
              <a:rPr lang="en-US" sz="2000" dirty="0"/>
              <a:t>‘2pl’ + </a:t>
            </a:r>
            <a:r>
              <a:rPr lang="en-US" sz="2000" dirty="0" err="1">
                <a:solidFill>
                  <a:srgbClr val="FF0000"/>
                </a:solidFill>
              </a:rPr>
              <a:t>casina</a:t>
            </a:r>
            <a:r>
              <a:rPr lang="en-US" sz="2000" dirty="0">
                <a:solidFill>
                  <a:srgbClr val="FF0000"/>
                </a:solidFill>
              </a:rPr>
              <a:t> </a:t>
            </a:r>
            <a:r>
              <a:rPr lang="en-US" sz="2000" dirty="0"/>
              <a:t>‘as if’ </a:t>
            </a:r>
          </a:p>
          <a:p>
            <a:pPr marL="0" indent="0">
              <a:lnSpc>
                <a:spcPct val="90000"/>
              </a:lnSpc>
              <a:buNone/>
            </a:pPr>
            <a:endParaRPr lang="en-US" dirty="0"/>
          </a:p>
        </p:txBody>
      </p:sp>
    </p:spTree>
    <p:extLst>
      <p:ext uri="{BB962C8B-B14F-4D97-AF65-F5344CB8AC3E}">
        <p14:creationId xmlns:p14="http://schemas.microsoft.com/office/powerpoint/2010/main" val="3672402960"/>
      </p:ext>
    </p:extLst>
  </p:cSld>
  <p:clrMapOvr>
    <a:masterClrMapping/>
  </p:clrMapOvr>
</p:sld>
</file>

<file path=ppt/theme/theme1.xml><?xml version="1.0" encoding="utf-8"?>
<a:theme xmlns:a="http://schemas.openxmlformats.org/drawingml/2006/main" name="NLP-jurafsky">
  <a:themeElements>
    <a:clrScheme name="NLP Class">
      <a:dk1>
        <a:sysClr val="windowText" lastClr="000000"/>
      </a:dk1>
      <a:lt1>
        <a:sysClr val="window" lastClr="FFFFFF"/>
      </a:lt1>
      <a:dk2>
        <a:srgbClr val="605435"/>
      </a:dk2>
      <a:lt2>
        <a:srgbClr val="E7D19A"/>
      </a:lt2>
      <a:accent1>
        <a:srgbClr val="A4001D"/>
      </a:accent1>
      <a:accent2>
        <a:srgbClr val="2584BB"/>
      </a:accent2>
      <a:accent3>
        <a:srgbClr val="BB57BE"/>
      </a:accent3>
      <a:accent4>
        <a:srgbClr val="177245"/>
      </a:accent4>
      <a:accent5>
        <a:srgbClr val="35ACA2"/>
      </a:accent5>
      <a:accent6>
        <a:srgbClr val="FF8700"/>
      </a:accent6>
      <a:hlink>
        <a:srgbClr val="EF8E1C"/>
      </a:hlink>
      <a:folHlink>
        <a:srgbClr val="FEC60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lumMod val="40000"/>
            <a:lumOff val="60000"/>
          </a:schemeClr>
        </a:solidFill>
        <a:ln w="9525" cap="flat" cmpd="sng" algn="ctr">
          <a:noFill/>
          <a:prstDash val="solid"/>
          <a:miter lim="800000"/>
          <a:headEnd type="none" w="med" len="med"/>
          <a:tailEnd type="none" w="med" len="med"/>
        </a:ln>
        <a:effectLst/>
      </a:spPr>
      <a:bodyPr vert="horz" wrap="none" lIns="91440" tIns="45720" rIns="91440" bIns="45720" numCol="1" rtlCol="0"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sz="2400" b="0" i="0" u="none" strike="noStrike" cap="none" normalizeH="0" baseline="0">
            <a:ln>
              <a:noFill/>
            </a:ln>
            <a:solidFill>
              <a:schemeClr val="tx1"/>
            </a:solidFill>
            <a:effectLst/>
            <a:latin typeface="Lucida Sans" pitchFamily="-65" charset="0"/>
          </a:defRPr>
        </a:defPPr>
      </a:lstStyle>
    </a:spDef>
    <a:lnDef>
      <a:spPr bwMode="auto">
        <a:xfrm>
          <a:off x="0" y="0"/>
          <a:ext cx="1" cy="1"/>
        </a:xfrm>
        <a:custGeom>
          <a:avLst/>
          <a:gdLst/>
          <a:ahLst/>
          <a:cxnLst/>
          <a:rect l="0" t="0" r="0" b="0"/>
          <a:pathLst/>
        </a:custGeom>
        <a:gradFill rotWithShape="0">
          <a:gsLst>
            <a:gs pos="0">
              <a:srgbClr val="A50021"/>
            </a:gs>
            <a:gs pos="100000">
              <a:schemeClr val="tx1"/>
            </a:gs>
          </a:gsLst>
          <a:lin ang="0" scaled="1"/>
        </a:gradFill>
        <a:ln w="9525" cap="flat" cmpd="sng" algn="ctr">
          <a:solidFill>
            <a:schemeClr val="tx1"/>
          </a:solidFill>
          <a:prstDash val="solid"/>
          <a:miter lim="800000"/>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Lucida Sans" pitchFamily="-65" charset="0"/>
          </a:defRPr>
        </a:defPPr>
      </a:lstStyle>
    </a:lnDef>
    <a:txDef>
      <a:spPr>
        <a:noFill/>
      </a:spPr>
      <a:bodyPr wrap="square" rtlCol="0">
        <a:spAutoFit/>
      </a:bodyPr>
      <a:lstStyle>
        <a:defPPr>
          <a:defRPr sz="1800" dirty="0">
            <a:latin typeface="+mn-lt"/>
          </a:defRPr>
        </a:defPPr>
      </a:lstStyle>
    </a:txDef>
  </a:objectDefaults>
  <a:extraClrSchemeLst>
    <a:extraClrScheme>
      <a:clrScheme name="nlp-lucida-scheme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nlp-lucida-scheme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nlp-lucida-scheme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nlp-lucida-scheme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nlp-lucida-scheme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nlp-lucida-scheme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nlp-lucida-scheme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NLP-jurafsky.potx</Template>
  <TotalTime>33600</TotalTime>
  <Words>1761</Words>
  <Application>Microsoft Office PowerPoint</Application>
  <PresentationFormat>On-screen Show (16:9)</PresentationFormat>
  <Paragraphs>234</Paragraphs>
  <Slides>17</Slides>
  <Notes>11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17</vt:i4>
      </vt:variant>
    </vt:vector>
  </HeadingPairs>
  <TitlesOfParts>
    <vt:vector size="28" baseType="lpstr">
      <vt:lpstr>ＭＳ Ｐゴシック</vt:lpstr>
      <vt:lpstr>Arial</vt:lpstr>
      <vt:lpstr>Calibri</vt:lpstr>
      <vt:lpstr>Courier</vt:lpstr>
      <vt:lpstr>Lucida Sans</vt:lpstr>
      <vt:lpstr>Söhne</vt:lpstr>
      <vt:lpstr>Symbol</vt:lpstr>
      <vt:lpstr>Tahoma</vt:lpstr>
      <vt:lpstr>Times</vt:lpstr>
      <vt:lpstr>Wingdings</vt:lpstr>
      <vt:lpstr>NLP-jurafsky</vt:lpstr>
      <vt:lpstr>Text Preprocessing</vt:lpstr>
      <vt:lpstr>Morphology</vt:lpstr>
      <vt:lpstr>Morphology</vt:lpstr>
      <vt:lpstr>PowerPoint Presentation</vt:lpstr>
      <vt:lpstr>PowerPoint Presentation</vt:lpstr>
      <vt:lpstr>How many words? (Normalization)</vt:lpstr>
      <vt:lpstr>Stemming</vt:lpstr>
      <vt:lpstr>How many words?</vt:lpstr>
      <vt:lpstr>Normalization</vt:lpstr>
      <vt:lpstr>Case folding</vt:lpstr>
      <vt:lpstr>How many words? (Normalization)</vt:lpstr>
      <vt:lpstr>Lemmatization</vt:lpstr>
      <vt:lpstr>PowerPoint Presentation</vt:lpstr>
      <vt:lpstr>Porter’s algorithm The most common English stemmer</vt:lpstr>
      <vt:lpstr>Viewing morphology in a corpus </vt:lpstr>
      <vt:lpstr>Viewing morphology in a corpus Why only strip –ing if there is a vowel?</vt:lpstr>
      <vt:lpstr>Dealing with complex morphology is sometimes necessary</vt:lpstr>
    </vt:vector>
  </TitlesOfParts>
  <Company>Stanford University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Extraction</dc:title>
  <dc:creator>Christopher Manning</dc:creator>
  <cp:lastModifiedBy>Microsoft account</cp:lastModifiedBy>
  <cp:revision>189</cp:revision>
  <cp:lastPrinted>2011-11-15T22:45:48Z</cp:lastPrinted>
  <dcterms:created xsi:type="dcterms:W3CDTF">2010-04-19T15:31:24Z</dcterms:created>
  <dcterms:modified xsi:type="dcterms:W3CDTF">2024-02-12T11:49:26Z</dcterms:modified>
</cp:coreProperties>
</file>