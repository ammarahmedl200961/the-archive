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345" r:id="rId31"/>
    <p:sldId id="285" r:id="rId32"/>
    <p:sldId id="286" r:id="rId33"/>
    <p:sldId id="287" r:id="rId34"/>
    <p:sldId id="288" r:id="rId35"/>
    <p:sldId id="290" r:id="rId36"/>
    <p:sldId id="289" r:id="rId37"/>
    <p:sldId id="361" r:id="rId38"/>
    <p:sldId id="291" r:id="rId39"/>
    <p:sldId id="292" r:id="rId40"/>
    <p:sldId id="293" r:id="rId41"/>
    <p:sldId id="294" r:id="rId42"/>
    <p:sldId id="346" r:id="rId43"/>
    <p:sldId id="295" r:id="rId44"/>
    <p:sldId id="296" r:id="rId45"/>
    <p:sldId id="297" r:id="rId46"/>
    <p:sldId id="298" r:id="rId47"/>
    <p:sldId id="299" r:id="rId48"/>
    <p:sldId id="300" r:id="rId49"/>
    <p:sldId id="316" r:id="rId50"/>
    <p:sldId id="348" r:id="rId51"/>
    <p:sldId id="349" r:id="rId52"/>
    <p:sldId id="350" r:id="rId53"/>
    <p:sldId id="352" r:id="rId54"/>
    <p:sldId id="351" r:id="rId55"/>
    <p:sldId id="347" r:id="rId56"/>
    <p:sldId id="301" r:id="rId57"/>
    <p:sldId id="302" r:id="rId58"/>
    <p:sldId id="303" r:id="rId59"/>
    <p:sldId id="304" r:id="rId60"/>
    <p:sldId id="305" r:id="rId61"/>
    <p:sldId id="353" r:id="rId62"/>
    <p:sldId id="362" r:id="rId63"/>
    <p:sldId id="306" r:id="rId64"/>
    <p:sldId id="307" r:id="rId65"/>
    <p:sldId id="308" r:id="rId66"/>
    <p:sldId id="309" r:id="rId67"/>
    <p:sldId id="310" r:id="rId68"/>
    <p:sldId id="311" r:id="rId69"/>
    <p:sldId id="312" r:id="rId70"/>
    <p:sldId id="313" r:id="rId71"/>
    <p:sldId id="356" r:id="rId72"/>
    <p:sldId id="357" r:id="rId73"/>
    <p:sldId id="314" r:id="rId74"/>
    <p:sldId id="355" r:id="rId75"/>
    <p:sldId id="315" r:id="rId76"/>
    <p:sldId id="358" r:id="rId77"/>
    <p:sldId id="318" r:id="rId78"/>
    <p:sldId id="317" r:id="rId79"/>
    <p:sldId id="319" r:id="rId80"/>
    <p:sldId id="320" r:id="rId81"/>
    <p:sldId id="321" r:id="rId82"/>
    <p:sldId id="322" r:id="rId83"/>
    <p:sldId id="323" r:id="rId84"/>
    <p:sldId id="324" r:id="rId85"/>
    <p:sldId id="359" r:id="rId86"/>
    <p:sldId id="325" r:id="rId87"/>
    <p:sldId id="326" r:id="rId88"/>
    <p:sldId id="327" r:id="rId89"/>
    <p:sldId id="328" r:id="rId90"/>
    <p:sldId id="329" r:id="rId91"/>
    <p:sldId id="330" r:id="rId92"/>
    <p:sldId id="331" r:id="rId93"/>
    <p:sldId id="332" r:id="rId94"/>
    <p:sldId id="333" r:id="rId95"/>
    <p:sldId id="334" r:id="rId96"/>
    <p:sldId id="335" r:id="rId97"/>
    <p:sldId id="336" r:id="rId98"/>
    <p:sldId id="337" r:id="rId99"/>
    <p:sldId id="360" r:id="rId100"/>
    <p:sldId id="338" r:id="rId101"/>
    <p:sldId id="339" r:id="rId102"/>
    <p:sldId id="340" r:id="rId103"/>
    <p:sldId id="341" r:id="rId104"/>
    <p:sldId id="342" r:id="rId105"/>
    <p:sldId id="343" r:id="rId106"/>
  </p:sldIdLst>
  <p:sldSz cx="13817600" cy="7772400"/>
  <p:notesSz cx="10058400" cy="77724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9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510" autoAdjust="0"/>
  </p:normalViewPr>
  <p:slideViewPr>
    <p:cSldViewPr>
      <p:cViewPr varScale="1">
        <p:scale>
          <a:sx n="43" d="100"/>
          <a:sy n="43" d="100"/>
        </p:scale>
        <p:origin x="1452" y="54"/>
      </p:cViewPr>
      <p:guideLst>
        <p:guide orient="horz" pos="2880"/>
        <p:guide pos="296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EACB6F8-2717-40E7-BEF4-D7255BAECF1D}" type="datetimeFigureOut">
              <a:rPr lang="en-PK" smtClean="0"/>
              <a:t>31/01/2024</a:t>
            </a:fld>
            <a:endParaRPr lang="en-PK"/>
          </a:p>
        </p:txBody>
      </p:sp>
      <p:sp>
        <p:nvSpPr>
          <p:cNvPr id="4" name="Slide Image Placeholder 3"/>
          <p:cNvSpPr>
            <a:spLocks noGrp="1" noRot="1" noChangeAspect="1"/>
          </p:cNvSpPr>
          <p:nvPr>
            <p:ph type="sldImg" idx="2"/>
          </p:nvPr>
        </p:nvSpPr>
        <p:spPr>
          <a:xfrm>
            <a:off x="2698750" y="971550"/>
            <a:ext cx="4660900" cy="262255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0C25BA78-EDA0-48C2-9CC0-248B561D5BB8}" type="slidenum">
              <a:rPr lang="en-PK" smtClean="0"/>
              <a:t>‹#›</a:t>
            </a:fld>
            <a:endParaRPr lang="en-PK"/>
          </a:p>
        </p:txBody>
      </p:sp>
    </p:spTree>
    <p:extLst>
      <p:ext uri="{BB962C8B-B14F-4D97-AF65-F5344CB8AC3E}">
        <p14:creationId xmlns:p14="http://schemas.microsoft.com/office/powerpoint/2010/main" val="4271236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750" y="971550"/>
            <a:ext cx="4660900" cy="2622550"/>
          </a:xfrm>
        </p:spPr>
      </p:sp>
      <p:sp>
        <p:nvSpPr>
          <p:cNvPr id="3" name="Notes Placeholder 2"/>
          <p:cNvSpPr>
            <a:spLocks noGrp="1"/>
          </p:cNvSpPr>
          <p:nvPr>
            <p:ph type="body" idx="1"/>
          </p:nvPr>
        </p:nvSpPr>
        <p:spPr/>
        <p:txBody>
          <a:bodyPr/>
          <a:lstStyle/>
          <a:p>
            <a:r>
              <a:rPr lang="en-US" b="1" dirty="0"/>
              <a:t>The assumption that the probability of a word depends only on the previous word.</a:t>
            </a:r>
            <a:endParaRPr lang="en-PK" b="1" dirty="0"/>
          </a:p>
        </p:txBody>
      </p:sp>
      <p:sp>
        <p:nvSpPr>
          <p:cNvPr id="4" name="Slide Number Placeholder 3"/>
          <p:cNvSpPr>
            <a:spLocks noGrp="1"/>
          </p:cNvSpPr>
          <p:nvPr>
            <p:ph type="sldNum" sz="quarter" idx="5"/>
          </p:nvPr>
        </p:nvSpPr>
        <p:spPr/>
        <p:txBody>
          <a:bodyPr/>
          <a:lstStyle/>
          <a:p>
            <a:fld id="{0C25BA78-EDA0-48C2-9CC0-248B561D5BB8}" type="slidenum">
              <a:rPr lang="en-PK" smtClean="0"/>
              <a:t>8</a:t>
            </a:fld>
            <a:endParaRPr lang="en-PK"/>
          </a:p>
        </p:txBody>
      </p:sp>
    </p:spTree>
    <p:extLst>
      <p:ext uri="{BB962C8B-B14F-4D97-AF65-F5344CB8AC3E}">
        <p14:creationId xmlns:p14="http://schemas.microsoft.com/office/powerpoint/2010/main" val="453129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750" y="971550"/>
            <a:ext cx="4660900" cy="2622550"/>
          </a:xfrm>
        </p:spPr>
      </p:sp>
      <p:sp>
        <p:nvSpPr>
          <p:cNvPr id="3" name="Notes Placeholder 2"/>
          <p:cNvSpPr>
            <a:spLocks noGrp="1"/>
          </p:cNvSpPr>
          <p:nvPr>
            <p:ph type="body" idx="1"/>
          </p:nvPr>
        </p:nvSpPr>
        <p:spPr/>
        <p:txBody>
          <a:bodyPr/>
          <a:lstStyle/>
          <a:p>
            <a:r>
              <a:rPr lang="en-US" dirty="0"/>
              <a:t>No context</a:t>
            </a:r>
          </a:p>
          <a:p>
            <a:r>
              <a:rPr lang="en-US" dirty="0"/>
              <a:t>P(</a:t>
            </a:r>
            <a:r>
              <a:rPr lang="en-US" dirty="0" err="1"/>
              <a:t>l,live,lahore</a:t>
            </a:r>
            <a:r>
              <a:rPr lang="en-US" dirty="0"/>
              <a:t>)= P(I), P(live), P(</a:t>
            </a:r>
            <a:r>
              <a:rPr lang="en-US" dirty="0" err="1"/>
              <a:t>lahore</a:t>
            </a:r>
            <a:r>
              <a:rPr lang="en-US" dirty="0"/>
              <a:t>)</a:t>
            </a:r>
          </a:p>
          <a:p>
            <a:r>
              <a:rPr lang="en-US" dirty="0"/>
              <a:t>MLE: P’(w1)=count(w1)/N(num of tokens)</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10</a:t>
            </a:fld>
            <a:endParaRPr lang="en-PK"/>
          </a:p>
        </p:txBody>
      </p:sp>
    </p:spTree>
    <p:extLst>
      <p:ext uri="{BB962C8B-B14F-4D97-AF65-F5344CB8AC3E}">
        <p14:creationId xmlns:p14="http://schemas.microsoft.com/office/powerpoint/2010/main" val="441081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750" y="971550"/>
            <a:ext cx="4660900" cy="2622550"/>
          </a:xfrm>
        </p:spPr>
      </p:sp>
      <p:sp>
        <p:nvSpPr>
          <p:cNvPr id="3" name="Notes Placeholder 2"/>
          <p:cNvSpPr>
            <a:spLocks noGrp="1"/>
          </p:cNvSpPr>
          <p:nvPr>
            <p:ph type="body" idx="1"/>
          </p:nvPr>
        </p:nvSpPr>
        <p:spPr/>
        <p:txBody>
          <a:bodyPr/>
          <a:lstStyle/>
          <a:p>
            <a:r>
              <a:rPr lang="en-US" dirty="0"/>
              <a:t>Prob of a word depends on only the previous word</a:t>
            </a:r>
          </a:p>
          <a:p>
            <a:r>
              <a:rPr lang="en-US" dirty="0"/>
              <a:t>I live in </a:t>
            </a:r>
            <a:r>
              <a:rPr lang="en-US" dirty="0" err="1"/>
              <a:t>lahore</a:t>
            </a:r>
            <a:endParaRPr lang="en-US" dirty="0"/>
          </a:p>
          <a:p>
            <a:r>
              <a:rPr lang="en-US" dirty="0"/>
              <a:t>P(</a:t>
            </a:r>
            <a:r>
              <a:rPr lang="en-US" dirty="0" err="1"/>
              <a:t>lahore</a:t>
            </a:r>
            <a:r>
              <a:rPr lang="en-US" dirty="0"/>
              <a:t> | in )= count(Lahore in)/count(in)</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11</a:t>
            </a:fld>
            <a:endParaRPr lang="en-PK"/>
          </a:p>
        </p:txBody>
      </p:sp>
    </p:spTree>
    <p:extLst>
      <p:ext uri="{BB962C8B-B14F-4D97-AF65-F5344CB8AC3E}">
        <p14:creationId xmlns:p14="http://schemas.microsoft.com/office/powerpoint/2010/main" val="1719758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750" y="971550"/>
            <a:ext cx="4660900" cy="2622550"/>
          </a:xfrm>
        </p:spPr>
      </p:sp>
      <p:sp>
        <p:nvSpPr>
          <p:cNvPr id="3" name="Notes Placeholder 2"/>
          <p:cNvSpPr>
            <a:spLocks noGrp="1"/>
          </p:cNvSpPr>
          <p:nvPr>
            <p:ph type="body" idx="1"/>
          </p:nvPr>
        </p:nvSpPr>
        <p:spPr/>
        <p:txBody>
          <a:bodyPr/>
          <a:lstStyle/>
          <a:p>
            <a:r>
              <a:rPr lang="en-US" dirty="0"/>
              <a:t>Context is n-1</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12</a:t>
            </a:fld>
            <a:endParaRPr lang="en-PK"/>
          </a:p>
        </p:txBody>
      </p:sp>
    </p:spTree>
    <p:extLst>
      <p:ext uri="{BB962C8B-B14F-4D97-AF65-F5344CB8AC3E}">
        <p14:creationId xmlns:p14="http://schemas.microsoft.com/office/powerpoint/2010/main" val="17301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750" y="971550"/>
            <a:ext cx="4660900" cy="2622550"/>
          </a:xfrm>
        </p:spPr>
      </p:sp>
      <p:sp>
        <p:nvSpPr>
          <p:cNvPr id="3" name="Notes Placeholder 2"/>
          <p:cNvSpPr>
            <a:spLocks noGrp="1"/>
          </p:cNvSpPr>
          <p:nvPr>
            <p:ph type="body" idx="1"/>
          </p:nvPr>
        </p:nvSpPr>
        <p:spPr/>
        <p:txBody>
          <a:bodyPr/>
          <a:lstStyle/>
          <a:p>
            <a:r>
              <a:rPr lang="en-US" dirty="0"/>
              <a:t>MLE: ratio of counts in the probability: </a:t>
            </a:r>
            <a:r>
              <a:rPr lang="en-US" b="0" i="0" dirty="0">
                <a:solidFill>
                  <a:srgbClr val="4A4A4A"/>
                </a:solidFill>
                <a:effectLst/>
                <a:latin typeface="PT Serif" panose="020A0603040505020204" pitchFamily="18" charset="0"/>
              </a:rPr>
              <a:t> simply count the occurrence of word patterns to calculate the maximum likelihood estimation</a:t>
            </a:r>
            <a:endParaRPr lang="en-US" dirty="0"/>
          </a:p>
          <a:p>
            <a:r>
              <a:rPr lang="en-US" dirty="0"/>
              <a:t>N is the number of tokens</a:t>
            </a:r>
          </a:p>
        </p:txBody>
      </p:sp>
      <p:sp>
        <p:nvSpPr>
          <p:cNvPr id="4" name="Slide Number Placeholder 3"/>
          <p:cNvSpPr>
            <a:spLocks noGrp="1"/>
          </p:cNvSpPr>
          <p:nvPr>
            <p:ph type="sldNum" sz="quarter" idx="5"/>
          </p:nvPr>
        </p:nvSpPr>
        <p:spPr/>
        <p:txBody>
          <a:bodyPr/>
          <a:lstStyle/>
          <a:p>
            <a:fld id="{0C25BA78-EDA0-48C2-9CC0-248B561D5BB8}" type="slidenum">
              <a:rPr lang="en-PK" smtClean="0"/>
              <a:t>15</a:t>
            </a:fld>
            <a:endParaRPr lang="en-PK"/>
          </a:p>
        </p:txBody>
      </p:sp>
    </p:spTree>
    <p:extLst>
      <p:ext uri="{BB962C8B-B14F-4D97-AF65-F5344CB8AC3E}">
        <p14:creationId xmlns:p14="http://schemas.microsoft.com/office/powerpoint/2010/main" val="2006014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750" y="971550"/>
            <a:ext cx="4660900" cy="2622550"/>
          </a:xfrm>
        </p:spPr>
      </p:sp>
      <p:sp>
        <p:nvSpPr>
          <p:cNvPr id="3" name="Notes Placeholder 2"/>
          <p:cNvSpPr>
            <a:spLocks noGrp="1"/>
          </p:cNvSpPr>
          <p:nvPr>
            <p:ph type="body" idx="1"/>
          </p:nvPr>
        </p:nvSpPr>
        <p:spPr/>
        <p:txBody>
          <a:bodyPr/>
          <a:lstStyle/>
          <a:p>
            <a:r>
              <a:rPr lang="en-US" dirty="0"/>
              <a:t>Assume </a:t>
            </a:r>
            <a:r>
              <a:rPr lang="en-US" dirty="0" err="1"/>
              <a:t>uve</a:t>
            </a:r>
            <a:r>
              <a:rPr lang="en-US" dirty="0"/>
              <a:t>  </a:t>
            </a:r>
            <a:r>
              <a:rPr lang="en-US" dirty="0" err="1"/>
              <a:t>atraining</a:t>
            </a:r>
            <a:r>
              <a:rPr lang="en-US" dirty="0"/>
              <a:t> corpus and </a:t>
            </a:r>
            <a:r>
              <a:rPr lang="en-US" dirty="0" err="1"/>
              <a:t>uve</a:t>
            </a:r>
            <a:r>
              <a:rPr lang="en-US" dirty="0"/>
              <a:t> to compute bigram prob considering this corpus.</a:t>
            </a:r>
          </a:p>
          <a:p>
            <a:r>
              <a:rPr lang="en-US" dirty="0"/>
              <a:t>P(</a:t>
            </a:r>
            <a:r>
              <a:rPr lang="en-US" dirty="0" err="1"/>
              <a:t>i</a:t>
            </a:r>
            <a:r>
              <a:rPr lang="en-US" dirty="0"/>
              <a:t> | &lt;S&gt;)= count(&lt;s&gt;, I)/count &lt;s&gt;=2/3</a:t>
            </a:r>
          </a:p>
          <a:p>
            <a:r>
              <a:rPr lang="en-US" dirty="0"/>
              <a:t>How can we make sure that we have computed the prob of all words? Make a matrix</a:t>
            </a:r>
          </a:p>
        </p:txBody>
      </p:sp>
      <p:sp>
        <p:nvSpPr>
          <p:cNvPr id="4" name="Slide Number Placeholder 3"/>
          <p:cNvSpPr>
            <a:spLocks noGrp="1"/>
          </p:cNvSpPr>
          <p:nvPr>
            <p:ph type="sldNum" sz="quarter" idx="5"/>
          </p:nvPr>
        </p:nvSpPr>
        <p:spPr/>
        <p:txBody>
          <a:bodyPr/>
          <a:lstStyle/>
          <a:p>
            <a:fld id="{0C25BA78-EDA0-48C2-9CC0-248B561D5BB8}" type="slidenum">
              <a:rPr lang="en-PK" smtClean="0"/>
              <a:t>16</a:t>
            </a:fld>
            <a:endParaRPr lang="en-PK"/>
          </a:p>
        </p:txBody>
      </p:sp>
    </p:spTree>
    <p:extLst>
      <p:ext uri="{BB962C8B-B14F-4D97-AF65-F5344CB8AC3E}">
        <p14:creationId xmlns:p14="http://schemas.microsoft.com/office/powerpoint/2010/main" val="267474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dirty="0"/>
              <a:t>Make a matrix </a:t>
            </a:r>
            <a:r>
              <a:rPr lang="en-US" dirty="0"/>
              <a:t>of term to term, unique terms</a:t>
            </a:r>
          </a:p>
          <a:p>
            <a:pPr marL="0" indent="0">
              <a:buNone/>
            </a:pPr>
            <a:r>
              <a:rPr lang="en-US" b="1" dirty="0"/>
              <a:t>2. also calculate frequency of each term individually as well</a:t>
            </a:r>
          </a:p>
          <a:p>
            <a:r>
              <a:rPr lang="en-US" dirty="0"/>
              <a:t>Make a matrix of unique terms</a:t>
            </a:r>
          </a:p>
          <a:p>
            <a:r>
              <a:rPr lang="en-US" dirty="0" err="1"/>
              <a:t>i</a:t>
            </a:r>
            <a:r>
              <a:rPr lang="en-US" dirty="0"/>
              <a:t> k bd want </a:t>
            </a:r>
            <a:r>
              <a:rPr lang="en-US" dirty="0" err="1"/>
              <a:t>kitni</a:t>
            </a:r>
            <a:r>
              <a:rPr lang="en-US" dirty="0"/>
              <a:t> </a:t>
            </a:r>
            <a:r>
              <a:rPr lang="en-US" dirty="0" err="1"/>
              <a:t>baar</a:t>
            </a:r>
            <a:r>
              <a:rPr lang="en-US" dirty="0"/>
              <a:t> </a:t>
            </a:r>
            <a:r>
              <a:rPr lang="en-US" dirty="0" err="1"/>
              <a:t>aya</a:t>
            </a:r>
            <a:r>
              <a:rPr lang="en-US" dirty="0"/>
              <a:t>? This is what each term to term represents</a:t>
            </a:r>
          </a:p>
          <a:p>
            <a:r>
              <a:rPr lang="en-US" dirty="0"/>
              <a:t>It represents bigram, the count represents the </a:t>
            </a:r>
            <a:r>
              <a:rPr lang="en-US" dirty="0" err="1"/>
              <a:t>frerquency</a:t>
            </a:r>
            <a:r>
              <a:rPr lang="en-US" dirty="0"/>
              <a:t> of term to term</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18</a:t>
            </a:fld>
            <a:endParaRPr lang="en-PK"/>
          </a:p>
        </p:txBody>
      </p:sp>
    </p:spTree>
    <p:extLst>
      <p:ext uri="{BB962C8B-B14F-4D97-AF65-F5344CB8AC3E}">
        <p14:creationId xmlns:p14="http://schemas.microsoft.com/office/powerpoint/2010/main" val="2439095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750" y="971550"/>
            <a:ext cx="4660900" cy="2622550"/>
          </a:xfrm>
        </p:spPr>
      </p:sp>
      <p:sp>
        <p:nvSpPr>
          <p:cNvPr id="3" name="Notes Placeholder 2"/>
          <p:cNvSpPr>
            <a:spLocks noGrp="1"/>
          </p:cNvSpPr>
          <p:nvPr>
            <p:ph type="body" idx="1"/>
          </p:nvPr>
        </p:nvSpPr>
        <p:spPr/>
        <p:txBody>
          <a:bodyPr/>
          <a:lstStyle/>
          <a:p>
            <a:r>
              <a:rPr lang="en-US" dirty="0"/>
              <a:t>P(</a:t>
            </a:r>
            <a:r>
              <a:rPr lang="en-US" dirty="0" err="1"/>
              <a:t>i</a:t>
            </a:r>
            <a:r>
              <a:rPr lang="en-US" dirty="0"/>
              <a:t>)= count (I)/ total count of </a:t>
            </a:r>
            <a:r>
              <a:rPr lang="en-US" dirty="0" err="1"/>
              <a:t>i</a:t>
            </a:r>
            <a:r>
              <a:rPr lang="en-US" dirty="0"/>
              <a:t> = 5/2533=0.002</a:t>
            </a:r>
          </a:p>
          <a:p>
            <a:r>
              <a:rPr lang="en-US" dirty="0"/>
              <a:t>P(want| I )= count (I want)/Count ( I )= 827/2533</a:t>
            </a:r>
          </a:p>
          <a:p>
            <a:r>
              <a:rPr lang="en-US" dirty="0"/>
              <a:t>Now if u have to compute </a:t>
            </a:r>
            <a:r>
              <a:rPr lang="en-US" dirty="0" err="1"/>
              <a:t>probab</a:t>
            </a:r>
            <a:r>
              <a:rPr lang="en-US" dirty="0"/>
              <a:t> of a sentence “&lt;s&gt;</a:t>
            </a:r>
            <a:r>
              <a:rPr lang="en-US" dirty="0" err="1"/>
              <a:t>sam</a:t>
            </a:r>
            <a:r>
              <a:rPr lang="en-US" dirty="0"/>
              <a:t> I do &lt;/s&gt;”</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19</a:t>
            </a:fld>
            <a:endParaRPr lang="en-PK"/>
          </a:p>
        </p:txBody>
      </p:sp>
    </p:spTree>
    <p:extLst>
      <p:ext uri="{BB962C8B-B14F-4D97-AF65-F5344CB8AC3E}">
        <p14:creationId xmlns:p14="http://schemas.microsoft.com/office/powerpoint/2010/main" val="132873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750" y="971550"/>
            <a:ext cx="4660900" cy="26225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spc="-5" dirty="0">
                <a:latin typeface="Calibri"/>
                <a:cs typeface="Calibri"/>
              </a:rPr>
              <a:t>P(I|&lt;s&gt;) </a:t>
            </a:r>
            <a:endParaRPr lang="en-US" sz="1200" dirty="0">
              <a:latin typeface="Calibri"/>
              <a:cs typeface="Calibri"/>
            </a:endParaRPr>
          </a:p>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20</a:t>
            </a:fld>
            <a:endParaRPr lang="en-PK"/>
          </a:p>
        </p:txBody>
      </p:sp>
    </p:spTree>
    <p:extLst>
      <p:ext uri="{BB962C8B-B14F-4D97-AF65-F5344CB8AC3E}">
        <p14:creationId xmlns:p14="http://schemas.microsoft.com/office/powerpoint/2010/main" val="4024883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Extrinsic</a:t>
            </a:r>
            <a:r>
              <a:rPr lang="en-US" dirty="0"/>
              <a:t>: compare diff models</a:t>
            </a:r>
          </a:p>
          <a:p>
            <a:r>
              <a:rPr lang="en-US" dirty="0"/>
              <a:t>Change technique and evaluate the task to identify performance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Intrinsic</a:t>
            </a:r>
            <a:r>
              <a:rPr lang="en-US" dirty="0"/>
              <a:t>: training /testing corpus, evaluation metrics</a:t>
            </a:r>
          </a:p>
          <a:p>
            <a:endParaRPr lang="en-US" dirty="0"/>
          </a:p>
          <a:p>
            <a:pPr algn="l"/>
            <a:r>
              <a:rPr lang="en-US" b="1" i="0" dirty="0">
                <a:solidFill>
                  <a:srgbClr val="374151"/>
                </a:solidFill>
                <a:effectLst/>
                <a:latin typeface="Söhne"/>
              </a:rPr>
              <a:t>Extrinsic Evaluation:</a:t>
            </a:r>
            <a:endParaRPr lang="en-US" b="0" i="0" dirty="0">
              <a:solidFill>
                <a:srgbClr val="374151"/>
              </a:solidFill>
              <a:effectLst/>
              <a:latin typeface="Söhne"/>
            </a:endParaRPr>
          </a:p>
          <a:p>
            <a:pPr algn="l">
              <a:buFont typeface="Arial" panose="020B0604020202020204" pitchFamily="34" charset="0"/>
              <a:buChar char="•"/>
            </a:pPr>
            <a:r>
              <a:rPr lang="en-US" b="0" i="1" dirty="0">
                <a:solidFill>
                  <a:srgbClr val="374151"/>
                </a:solidFill>
                <a:effectLst/>
                <a:latin typeface="Söhne"/>
              </a:rPr>
              <a:t>Definition:</a:t>
            </a:r>
            <a:r>
              <a:rPr lang="en-US" b="0" i="0" dirty="0">
                <a:solidFill>
                  <a:srgbClr val="374151"/>
                </a:solidFill>
                <a:effectLst/>
                <a:latin typeface="Söhne"/>
              </a:rPr>
              <a:t> This refers to evaluating a model's performance in a real-world, practical application or task. In the context of N-gram language models, it could involve assessing how well the model performs in an actual language-related task, such as machine translation or speech recognition.</a:t>
            </a:r>
          </a:p>
          <a:p>
            <a:pPr algn="l">
              <a:buFont typeface="Arial" panose="020B0604020202020204" pitchFamily="34" charset="0"/>
              <a:buChar char="•"/>
            </a:pPr>
            <a:r>
              <a:rPr lang="en-US" b="0" i="1" dirty="0">
                <a:solidFill>
                  <a:srgbClr val="374151"/>
                </a:solidFill>
                <a:effectLst/>
                <a:latin typeface="Söhne"/>
              </a:rPr>
              <a:t>Challenges:</a:t>
            </a:r>
            <a:r>
              <a:rPr lang="en-US" b="0" i="0" dirty="0">
                <a:solidFill>
                  <a:srgbClr val="374151"/>
                </a:solidFill>
                <a:effectLst/>
                <a:latin typeface="Söhne"/>
              </a:rPr>
              <a:t> The passage suggests that extrinsic evaluation is difficult and time-consuming. It may take days or weeks to complete, making it impractical for quick assessments.</a:t>
            </a:r>
          </a:p>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29</a:t>
            </a:fld>
            <a:endParaRPr lang="en-PK"/>
          </a:p>
        </p:txBody>
      </p:sp>
    </p:spTree>
    <p:extLst>
      <p:ext uri="{BB962C8B-B14F-4D97-AF65-F5344CB8AC3E}">
        <p14:creationId xmlns:p14="http://schemas.microsoft.com/office/powerpoint/2010/main" val="42225252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intrinsic</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30</a:t>
            </a:fld>
            <a:endParaRPr lang="en-PK"/>
          </a:p>
        </p:txBody>
      </p:sp>
    </p:spTree>
    <p:extLst>
      <p:ext uri="{BB962C8B-B14F-4D97-AF65-F5344CB8AC3E}">
        <p14:creationId xmlns:p14="http://schemas.microsoft.com/office/powerpoint/2010/main" val="2396214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374151"/>
                </a:solidFill>
                <a:effectLst/>
                <a:latin typeface="Söhne"/>
              </a:rPr>
              <a:t>Extrinsic Evaluation:</a:t>
            </a:r>
            <a:endParaRPr lang="en-US" b="0" i="0" dirty="0">
              <a:solidFill>
                <a:srgbClr val="374151"/>
              </a:solidFill>
              <a:effectLst/>
              <a:latin typeface="Söhne"/>
            </a:endParaRPr>
          </a:p>
          <a:p>
            <a:pPr algn="l">
              <a:buFont typeface="Arial" panose="020B0604020202020204" pitchFamily="34" charset="0"/>
              <a:buChar char="•"/>
            </a:pPr>
            <a:r>
              <a:rPr lang="en-US" b="0" i="1" dirty="0">
                <a:solidFill>
                  <a:srgbClr val="374151"/>
                </a:solidFill>
                <a:effectLst/>
                <a:latin typeface="Söhne"/>
              </a:rPr>
              <a:t>Definition:</a:t>
            </a:r>
            <a:r>
              <a:rPr lang="en-US" b="0" i="0" dirty="0">
                <a:solidFill>
                  <a:srgbClr val="374151"/>
                </a:solidFill>
                <a:effectLst/>
                <a:latin typeface="Söhne"/>
              </a:rPr>
              <a:t> This refers to evaluating a model's performance in a real-world, practical application or task. In the context of N-gram language models, it could involve assessing how well the model performs in an actual language-related task, such as machine translation or speech recognition.</a:t>
            </a:r>
          </a:p>
          <a:p>
            <a:pPr algn="l">
              <a:buFont typeface="Arial" panose="020B0604020202020204" pitchFamily="34" charset="0"/>
              <a:buChar char="•"/>
            </a:pPr>
            <a:r>
              <a:rPr lang="en-US" b="0" i="1" dirty="0">
                <a:solidFill>
                  <a:srgbClr val="374151"/>
                </a:solidFill>
                <a:effectLst/>
                <a:latin typeface="Söhne"/>
              </a:rPr>
              <a:t>Challenges:</a:t>
            </a:r>
            <a:r>
              <a:rPr lang="en-US" b="0" i="0" dirty="0">
                <a:solidFill>
                  <a:srgbClr val="374151"/>
                </a:solidFill>
                <a:effectLst/>
                <a:latin typeface="Söhne"/>
              </a:rPr>
              <a:t> The passage suggests that extrinsic evaluation is difficult and time-consuming. It may take days or weeks to complete, making it impractical for quick assessments.</a:t>
            </a:r>
          </a:p>
          <a:p>
            <a:endParaRPr lang="en-US" dirty="0"/>
          </a:p>
          <a:p>
            <a:r>
              <a:rPr lang="en-US" dirty="0"/>
              <a:t>Extrinsic: compare diff models</a:t>
            </a:r>
          </a:p>
          <a:p>
            <a:r>
              <a:rPr lang="en-US" dirty="0"/>
              <a:t>Change technique and evaluate the task to identify performance</a:t>
            </a:r>
            <a:endParaRPr lang="en-PK" dirty="0"/>
          </a:p>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31</a:t>
            </a:fld>
            <a:endParaRPr lang="en-PK"/>
          </a:p>
        </p:txBody>
      </p:sp>
    </p:spTree>
    <p:extLst>
      <p:ext uri="{BB962C8B-B14F-4D97-AF65-F5344CB8AC3E}">
        <p14:creationId xmlns:p14="http://schemas.microsoft.com/office/powerpoint/2010/main" val="4000191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Intrinsic: train-test</a:t>
            </a:r>
          </a:p>
          <a:p>
            <a:pPr algn="l"/>
            <a:r>
              <a:rPr lang="en-US" b="1" i="0" dirty="0">
                <a:solidFill>
                  <a:srgbClr val="374151"/>
                </a:solidFill>
                <a:effectLst/>
                <a:latin typeface="Söhne"/>
              </a:rPr>
              <a:t>Intrinsic Evaluation - Perplexity:</a:t>
            </a:r>
            <a:endParaRPr lang="en-US" b="0" i="0" dirty="0">
              <a:solidFill>
                <a:srgbClr val="374151"/>
              </a:solidFill>
              <a:effectLst/>
              <a:latin typeface="Söhne"/>
            </a:endParaRPr>
          </a:p>
          <a:p>
            <a:pPr algn="l">
              <a:buFont typeface="Arial" panose="020B0604020202020204" pitchFamily="34" charset="0"/>
              <a:buChar char="•"/>
            </a:pPr>
            <a:r>
              <a:rPr lang="en-US" b="0" i="1" dirty="0">
                <a:solidFill>
                  <a:srgbClr val="374151"/>
                </a:solidFill>
                <a:effectLst/>
                <a:latin typeface="Söhne"/>
              </a:rPr>
              <a:t>Definition:</a:t>
            </a:r>
            <a:r>
              <a:rPr lang="en-US" b="0" i="0" dirty="0">
                <a:solidFill>
                  <a:srgbClr val="374151"/>
                </a:solidFill>
                <a:effectLst/>
                <a:latin typeface="Söhne"/>
              </a:rPr>
              <a:t> Intrinsic evaluation involves assessing the model's performance based on its internal characteristics, without considering its application in a specific task. Perplexity is a common intrinsic metric used for language models. It measures how well the model predicts a sample of data.</a:t>
            </a:r>
          </a:p>
          <a:p>
            <a:pPr algn="l">
              <a:buFont typeface="Arial" panose="020B0604020202020204" pitchFamily="34" charset="0"/>
              <a:buChar char="•"/>
            </a:pPr>
            <a:r>
              <a:rPr lang="en-US" b="0" i="1" dirty="0">
                <a:solidFill>
                  <a:srgbClr val="374151"/>
                </a:solidFill>
                <a:effectLst/>
                <a:latin typeface="Söhne"/>
              </a:rPr>
              <a:t>Limitations:</a:t>
            </a:r>
            <a:r>
              <a:rPr lang="en-US" b="0" i="0" dirty="0">
                <a:solidFill>
                  <a:srgbClr val="374151"/>
                </a:solidFill>
                <a:effectLst/>
                <a:latin typeface="Söhne"/>
              </a:rPr>
              <a:t> The passage notes that perplexity is a bad approximation of a model's real-world performance unless the test data closely resembles the training data. In other words, it may not accurately reflect how well the model generalizes to new, unseen data in practical scenarios.</a:t>
            </a:r>
          </a:p>
          <a:p>
            <a:pPr algn="l">
              <a:buFont typeface="Arial" panose="020B0604020202020204" pitchFamily="34" charset="0"/>
              <a:buChar char="•"/>
            </a:pPr>
            <a:r>
              <a:rPr lang="en-US" b="0" i="1" dirty="0">
                <a:solidFill>
                  <a:srgbClr val="374151"/>
                </a:solidFill>
                <a:effectLst/>
                <a:latin typeface="Söhne"/>
              </a:rPr>
              <a:t>Usefulness:</a:t>
            </a:r>
            <a:r>
              <a:rPr lang="en-US" b="0" i="0" dirty="0">
                <a:solidFill>
                  <a:srgbClr val="374151"/>
                </a:solidFill>
                <a:effectLst/>
                <a:latin typeface="Söhne"/>
              </a:rPr>
              <a:t> Intrinsic evaluation, particularly through perplexity, is mentioned as generally only useful in pilot experiments. Pilot experiments are preliminary tests conducted to assess the feasibility of a study or experiment.</a:t>
            </a:r>
          </a:p>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32</a:t>
            </a:fld>
            <a:endParaRPr lang="en-PK"/>
          </a:p>
        </p:txBody>
      </p:sp>
    </p:spTree>
    <p:extLst>
      <p:ext uri="{BB962C8B-B14F-4D97-AF65-F5344CB8AC3E}">
        <p14:creationId xmlns:p14="http://schemas.microsoft.com/office/powerpoint/2010/main" val="20347226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Perplexity: </a:t>
            </a:r>
            <a:r>
              <a:rPr lang="en-US" b="0" i="0" dirty="0">
                <a:solidFill>
                  <a:srgbClr val="202124"/>
                </a:solidFill>
                <a:effectLst/>
                <a:latin typeface="arial" panose="020B0604020202020204" pitchFamily="34" charset="0"/>
              </a:rPr>
              <a:t>The perplexity </a:t>
            </a:r>
            <a:r>
              <a:rPr lang="en-US" b="1" i="0" dirty="0">
                <a:solidFill>
                  <a:srgbClr val="202124"/>
                </a:solidFill>
                <a:effectLst/>
                <a:latin typeface="arial" panose="020B0604020202020204" pitchFamily="34" charset="0"/>
              </a:rPr>
              <a:t>measures the amount of “randomness” in our model</a:t>
            </a:r>
            <a:r>
              <a:rPr lang="en-US" b="0" i="0" dirty="0">
                <a:solidFill>
                  <a:srgbClr val="202124"/>
                </a:solidFill>
                <a:effectLst/>
                <a:latin typeface="arial" panose="020B0604020202020204" pitchFamily="34" charset="0"/>
              </a:rPr>
              <a:t>. If the perplexity is 3 (per word) then that means the model had a 1-in-3 chance of guessing (on average) the next word in the text. called the </a:t>
            </a:r>
            <a:r>
              <a:rPr lang="en-US" b="1" i="0" dirty="0">
                <a:solidFill>
                  <a:srgbClr val="202124"/>
                </a:solidFill>
                <a:effectLst/>
                <a:latin typeface="arial" panose="020B0604020202020204" pitchFamily="34" charset="0"/>
              </a:rPr>
              <a:t>average branching factor</a:t>
            </a:r>
          </a:p>
          <a:p>
            <a:endParaRPr lang="en-US" b="0" i="0" dirty="0">
              <a:solidFill>
                <a:srgbClr val="202124"/>
              </a:solidFill>
              <a:effectLst/>
              <a:latin typeface="arial" panose="020B0604020202020204" pitchFamily="34" charset="0"/>
            </a:endParaRPr>
          </a:p>
          <a:p>
            <a:r>
              <a:rPr lang="en-US" dirty="0"/>
              <a:t>Unigram only stores the frequency of words</a:t>
            </a:r>
          </a:p>
          <a:p>
            <a:r>
              <a:rPr lang="en-US" dirty="0"/>
              <a:t>Still issues with unigram models...</a:t>
            </a:r>
          </a:p>
          <a:p>
            <a:endParaRPr lang="en-US" dirty="0"/>
          </a:p>
        </p:txBody>
      </p:sp>
      <p:sp>
        <p:nvSpPr>
          <p:cNvPr id="4" name="Slide Number Placeholder 3"/>
          <p:cNvSpPr>
            <a:spLocks noGrp="1"/>
          </p:cNvSpPr>
          <p:nvPr>
            <p:ph type="sldNum" sz="quarter" idx="5"/>
          </p:nvPr>
        </p:nvSpPr>
        <p:spPr/>
        <p:txBody>
          <a:bodyPr/>
          <a:lstStyle/>
          <a:p>
            <a:fld id="{0C25BA78-EDA0-48C2-9CC0-248B561D5BB8}" type="slidenum">
              <a:rPr lang="en-PK" smtClean="0"/>
              <a:t>33</a:t>
            </a:fld>
            <a:endParaRPr lang="en-PK"/>
          </a:p>
        </p:txBody>
      </p:sp>
    </p:spTree>
    <p:extLst>
      <p:ext uri="{BB962C8B-B14F-4D97-AF65-F5344CB8AC3E}">
        <p14:creationId xmlns:p14="http://schemas.microsoft.com/office/powerpoint/2010/main" val="38685537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chain rule: P(sentence)=P(w4|w3 w2 w1) P(w3|w2 w1) P(w2|w1) P(w1)</a:t>
            </a:r>
          </a:p>
          <a:p>
            <a:r>
              <a:rPr lang="en-US" dirty="0"/>
              <a:t>Suppose a sentence with 10 words and each has a prob of occurring 10 times</a:t>
            </a:r>
          </a:p>
          <a:p>
            <a:r>
              <a:rPr lang="en-US" dirty="0"/>
              <a:t>PP=(((1/10)^10)^-1/10)</a:t>
            </a:r>
            <a:endParaRPr lang="en-PK" dirty="0"/>
          </a:p>
          <a:p>
            <a:r>
              <a:rPr lang="en-US" dirty="0" err="1"/>
              <a:t>Perpexity</a:t>
            </a:r>
            <a:r>
              <a:rPr lang="en-US" dirty="0"/>
              <a:t>: inverse under root of N</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34</a:t>
            </a:fld>
            <a:endParaRPr lang="en-PK"/>
          </a:p>
        </p:txBody>
      </p:sp>
    </p:spTree>
    <p:extLst>
      <p:ext uri="{BB962C8B-B14F-4D97-AF65-F5344CB8AC3E}">
        <p14:creationId xmlns:p14="http://schemas.microsoft.com/office/powerpoint/2010/main" val="42124824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a sentence with 10 words and each has a prob of occurring 1/10 times</a:t>
            </a:r>
          </a:p>
          <a:p>
            <a:r>
              <a:rPr lang="en-US" dirty="0"/>
              <a:t>PP=(((1/10)^10)^-1/10)</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35</a:t>
            </a:fld>
            <a:endParaRPr lang="en-PK"/>
          </a:p>
        </p:txBody>
      </p:sp>
    </p:spTree>
    <p:extLst>
      <p:ext uri="{BB962C8B-B14F-4D97-AF65-F5344CB8AC3E}">
        <p14:creationId xmlns:p14="http://schemas.microsoft.com/office/powerpoint/2010/main" val="18349602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 is : Average branching factor</a:t>
            </a:r>
          </a:p>
          <a:p>
            <a:r>
              <a:rPr lang="en-US" dirty="0"/>
              <a:t>On avg how many </a:t>
            </a:r>
            <a:r>
              <a:rPr lang="en-US" dirty="0" err="1"/>
              <a:t>dogits</a:t>
            </a:r>
            <a:r>
              <a:rPr lang="en-US" dirty="0"/>
              <a:t>/</a:t>
            </a:r>
            <a:r>
              <a:rPr lang="en-US" dirty="0" err="1"/>
              <a:t>charac</a:t>
            </a:r>
            <a:r>
              <a:rPr lang="en-US" dirty="0"/>
              <a:t> can come next</a:t>
            </a:r>
          </a:p>
          <a:p>
            <a:r>
              <a:rPr lang="en-US" dirty="0"/>
              <a:t>If </a:t>
            </a:r>
            <a:r>
              <a:rPr lang="en-US" dirty="0" err="1"/>
              <a:t>uve</a:t>
            </a:r>
            <a:r>
              <a:rPr lang="en-US" dirty="0"/>
              <a:t> 10 possible words that can occur next and they all have equal probability then its PP be 10</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36</a:t>
            </a:fld>
            <a:endParaRPr lang="en-PK"/>
          </a:p>
        </p:txBody>
      </p:sp>
    </p:spTree>
    <p:extLst>
      <p:ext uri="{BB962C8B-B14F-4D97-AF65-F5344CB8AC3E}">
        <p14:creationId xmlns:p14="http://schemas.microsoft.com/office/powerpoint/2010/main" val="23182323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Calculated probabilities of all words and then their PP</a:t>
            </a:r>
          </a:p>
          <a:p>
            <a:r>
              <a:rPr lang="en-US" dirty="0"/>
              <a:t>How is trigram better then bigram? Because it covers more context but computation wise </a:t>
            </a:r>
            <a:r>
              <a:rPr lang="en-US" dirty="0" err="1"/>
              <a:t>bcms</a:t>
            </a:r>
            <a:r>
              <a:rPr lang="en-US" dirty="0"/>
              <a:t> expensive</a:t>
            </a:r>
          </a:p>
          <a:p>
            <a:r>
              <a:rPr lang="en-US" dirty="0"/>
              <a:t>Wall street journal (WSJ)</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38</a:t>
            </a:fld>
            <a:endParaRPr lang="en-PK"/>
          </a:p>
        </p:txBody>
      </p:sp>
    </p:spTree>
    <p:extLst>
      <p:ext uri="{BB962C8B-B14F-4D97-AF65-F5344CB8AC3E}">
        <p14:creationId xmlns:p14="http://schemas.microsoft.com/office/powerpoint/2010/main" val="35315765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t>
            </a:r>
            <a:r>
              <a:rPr lang="en-US" dirty="0" err="1"/>
              <a:t>uve</a:t>
            </a:r>
            <a:r>
              <a:rPr lang="en-US" dirty="0"/>
              <a:t> trained bigram model on a </a:t>
            </a:r>
            <a:r>
              <a:rPr lang="en-US" dirty="0" err="1"/>
              <a:t>restruant</a:t>
            </a:r>
            <a:r>
              <a:rPr lang="en-US" dirty="0"/>
              <a:t> data. if u generate data from that model it will generate data according to that trained data, that is it cannot generate sentences related to medicine.</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42</a:t>
            </a:fld>
            <a:endParaRPr lang="en-PK"/>
          </a:p>
        </p:txBody>
      </p:sp>
    </p:spTree>
    <p:extLst>
      <p:ext uri="{BB962C8B-B14F-4D97-AF65-F5344CB8AC3E}">
        <p14:creationId xmlns:p14="http://schemas.microsoft.com/office/powerpoint/2010/main" val="26347006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t>
            </a:r>
            <a:r>
              <a:rPr lang="en-US" dirty="0" err="1"/>
              <a:t>ngrams</a:t>
            </a:r>
            <a:r>
              <a:rPr lang="en-US" dirty="0"/>
              <a:t> trained it on </a:t>
            </a:r>
            <a:r>
              <a:rPr lang="en-US" dirty="0" err="1"/>
              <a:t>shakepeare</a:t>
            </a:r>
            <a:r>
              <a:rPr lang="en-US" dirty="0"/>
              <a:t> data</a:t>
            </a:r>
          </a:p>
          <a:p>
            <a:r>
              <a:rPr lang="en-US" dirty="0"/>
              <a:t>And generated data</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43</a:t>
            </a:fld>
            <a:endParaRPr lang="en-PK"/>
          </a:p>
        </p:txBody>
      </p:sp>
    </p:spTree>
    <p:extLst>
      <p:ext uri="{BB962C8B-B14F-4D97-AF65-F5344CB8AC3E}">
        <p14:creationId xmlns:p14="http://schemas.microsoft.com/office/powerpoint/2010/main" val="6985429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built a word to word matrix… some are filled and a lot of those bigrams/combinations were 0’s</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44</a:t>
            </a:fld>
            <a:endParaRPr lang="en-PK"/>
          </a:p>
        </p:txBody>
      </p:sp>
    </p:spTree>
    <p:extLst>
      <p:ext uri="{BB962C8B-B14F-4D97-AF65-F5344CB8AC3E}">
        <p14:creationId xmlns:p14="http://schemas.microsoft.com/office/powerpoint/2010/main" val="32911061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a new word comes in testing?</a:t>
            </a:r>
          </a:p>
          <a:p>
            <a:r>
              <a:rPr lang="en-US" dirty="0"/>
              <a:t>What if a new bigram comes in test that didn’t occur in train?</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48</a:t>
            </a:fld>
            <a:endParaRPr lang="en-PK"/>
          </a:p>
        </p:txBody>
      </p:sp>
    </p:spTree>
    <p:extLst>
      <p:ext uri="{BB962C8B-B14F-4D97-AF65-F5344CB8AC3E}">
        <p14:creationId xmlns:p14="http://schemas.microsoft.com/office/powerpoint/2010/main" val="32819793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Unknown words that didn’t occur in the training set</a:t>
            </a:r>
          </a:p>
          <a:p>
            <a:r>
              <a:rPr lang="en-US" dirty="0"/>
              <a:t>Closed: define a list of words as your vocab</a:t>
            </a:r>
          </a:p>
          <a:p>
            <a:r>
              <a:rPr lang="en-US" b="1" dirty="0"/>
              <a:t>Open</a:t>
            </a:r>
            <a:r>
              <a:rPr lang="en-US" dirty="0"/>
              <a:t>: </a:t>
            </a:r>
            <a:r>
              <a:rPr lang="en-US" b="1" dirty="0"/>
              <a:t>1)Define a threshold </a:t>
            </a:r>
            <a:r>
              <a:rPr lang="en-US" dirty="0"/>
              <a:t>and those with </a:t>
            </a:r>
            <a:r>
              <a:rPr lang="en-US" b="1" dirty="0"/>
              <a:t>frequency less then 2 mark them UNK</a:t>
            </a:r>
          </a:p>
          <a:p>
            <a:r>
              <a:rPr lang="en-US" b="1" dirty="0"/>
              <a:t>2)Keep most frequent 50k words in Vocab and mark others as UNK</a:t>
            </a:r>
          </a:p>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49</a:t>
            </a:fld>
            <a:endParaRPr lang="en-PK"/>
          </a:p>
        </p:txBody>
      </p:sp>
    </p:spTree>
    <p:extLst>
      <p:ext uri="{BB962C8B-B14F-4D97-AF65-F5344CB8AC3E}">
        <p14:creationId xmlns:p14="http://schemas.microsoft.com/office/powerpoint/2010/main" val="9814329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vocab, fixed dictionary so no chances of unknown words in testing data</a:t>
            </a:r>
          </a:p>
          <a:p>
            <a:r>
              <a:rPr lang="en-US" dirty="0"/>
              <a:t>Lexicon: dictionary/ list of words</a:t>
            </a:r>
          </a:p>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50</a:t>
            </a:fld>
            <a:endParaRPr lang="en-PK"/>
          </a:p>
        </p:txBody>
      </p:sp>
    </p:spTree>
    <p:extLst>
      <p:ext uri="{BB962C8B-B14F-4D97-AF65-F5344CB8AC3E}">
        <p14:creationId xmlns:p14="http://schemas.microsoft.com/office/powerpoint/2010/main" val="18616315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 get unknown new words in test set</a:t>
            </a:r>
          </a:p>
          <a:p>
            <a:r>
              <a:rPr lang="en-US" dirty="0"/>
              <a:t>How many OOV words u have in the testing corpus: OOV rate</a:t>
            </a:r>
          </a:p>
        </p:txBody>
      </p:sp>
      <p:sp>
        <p:nvSpPr>
          <p:cNvPr id="4" name="Slide Number Placeholder 3"/>
          <p:cNvSpPr>
            <a:spLocks noGrp="1"/>
          </p:cNvSpPr>
          <p:nvPr>
            <p:ph type="sldNum" sz="quarter" idx="5"/>
          </p:nvPr>
        </p:nvSpPr>
        <p:spPr/>
        <p:txBody>
          <a:bodyPr/>
          <a:lstStyle/>
          <a:p>
            <a:fld id="{0C25BA78-EDA0-48C2-9CC0-248B561D5BB8}" type="slidenum">
              <a:rPr lang="en-PK" smtClean="0"/>
              <a:t>51</a:t>
            </a:fld>
            <a:endParaRPr lang="en-PK"/>
          </a:p>
        </p:txBody>
      </p:sp>
    </p:spTree>
    <p:extLst>
      <p:ext uri="{BB962C8B-B14F-4D97-AF65-F5344CB8AC3E}">
        <p14:creationId xmlns:p14="http://schemas.microsoft.com/office/powerpoint/2010/main" val="18322395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the vocab, and convert words not in the list as UNK</a:t>
            </a:r>
          </a:p>
          <a:p>
            <a:r>
              <a:rPr lang="en-US" dirty="0"/>
              <a:t>U can get unknown words in test, so when u make UNK in train it will calculate probabilities for UNK as usual word in a corpus</a:t>
            </a:r>
          </a:p>
          <a:p>
            <a:r>
              <a:rPr lang="en-US" dirty="0"/>
              <a:t>How many OOV words u have in the testing corpus: OOV rate</a:t>
            </a:r>
          </a:p>
        </p:txBody>
      </p:sp>
      <p:sp>
        <p:nvSpPr>
          <p:cNvPr id="4" name="Slide Number Placeholder 3"/>
          <p:cNvSpPr>
            <a:spLocks noGrp="1"/>
          </p:cNvSpPr>
          <p:nvPr>
            <p:ph type="sldNum" sz="quarter" idx="5"/>
          </p:nvPr>
        </p:nvSpPr>
        <p:spPr/>
        <p:txBody>
          <a:bodyPr/>
          <a:lstStyle/>
          <a:p>
            <a:fld id="{0C25BA78-EDA0-48C2-9CC0-248B561D5BB8}" type="slidenum">
              <a:rPr lang="en-PK" smtClean="0"/>
              <a:t>52</a:t>
            </a:fld>
            <a:endParaRPr lang="en-PK"/>
          </a:p>
        </p:txBody>
      </p:sp>
    </p:spTree>
    <p:extLst>
      <p:ext uri="{BB962C8B-B14F-4D97-AF65-F5344CB8AC3E}">
        <p14:creationId xmlns:p14="http://schemas.microsoft.com/office/powerpoint/2010/main" val="28292634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1)Define a threshold </a:t>
            </a:r>
            <a:r>
              <a:rPr lang="en-US" dirty="0"/>
              <a:t>and those with </a:t>
            </a:r>
            <a:r>
              <a:rPr lang="en-US" b="1" dirty="0"/>
              <a:t>frequency less then 2 mark them UNK</a:t>
            </a:r>
          </a:p>
          <a:p>
            <a:r>
              <a:rPr lang="en-US" b="1" dirty="0"/>
              <a:t>2)Keep most frequent 50k words in Vocab and mark others as UNK</a:t>
            </a:r>
          </a:p>
        </p:txBody>
      </p:sp>
      <p:sp>
        <p:nvSpPr>
          <p:cNvPr id="4" name="Slide Number Placeholder 3"/>
          <p:cNvSpPr>
            <a:spLocks noGrp="1"/>
          </p:cNvSpPr>
          <p:nvPr>
            <p:ph type="sldNum" sz="quarter" idx="5"/>
          </p:nvPr>
        </p:nvSpPr>
        <p:spPr/>
        <p:txBody>
          <a:bodyPr/>
          <a:lstStyle/>
          <a:p>
            <a:fld id="{0C25BA78-EDA0-48C2-9CC0-248B561D5BB8}" type="slidenum">
              <a:rPr lang="en-PK" smtClean="0"/>
              <a:t>53</a:t>
            </a:fld>
            <a:endParaRPr lang="en-PK"/>
          </a:p>
        </p:txBody>
      </p:sp>
    </p:spTree>
    <p:extLst>
      <p:ext uri="{BB962C8B-B14F-4D97-AF65-F5344CB8AC3E}">
        <p14:creationId xmlns:p14="http://schemas.microsoft.com/office/powerpoint/2010/main" val="2282604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OOV rate should be kept low </a:t>
            </a:r>
            <a:r>
              <a:rPr lang="en-US" dirty="0" err="1"/>
              <a:t>orherwise</a:t>
            </a:r>
            <a:r>
              <a:rPr lang="en-US" dirty="0"/>
              <a:t> there will be issue where UNK might have a high prob and u may assume that mode is really good,</a:t>
            </a:r>
          </a:p>
          <a:p>
            <a:r>
              <a:rPr lang="en-US" dirty="0"/>
              <a:t>Now UNK can have a </a:t>
            </a:r>
          </a:p>
        </p:txBody>
      </p:sp>
      <p:sp>
        <p:nvSpPr>
          <p:cNvPr id="4" name="Slide Number Placeholder 3"/>
          <p:cNvSpPr>
            <a:spLocks noGrp="1"/>
          </p:cNvSpPr>
          <p:nvPr>
            <p:ph type="sldNum" sz="quarter" idx="5"/>
          </p:nvPr>
        </p:nvSpPr>
        <p:spPr/>
        <p:txBody>
          <a:bodyPr/>
          <a:lstStyle/>
          <a:p>
            <a:fld id="{0C25BA78-EDA0-48C2-9CC0-248B561D5BB8}" type="slidenum">
              <a:rPr lang="en-PK" smtClean="0"/>
              <a:t>54</a:t>
            </a:fld>
            <a:endParaRPr lang="en-PK"/>
          </a:p>
        </p:txBody>
      </p:sp>
    </p:spTree>
    <p:extLst>
      <p:ext uri="{BB962C8B-B14F-4D97-AF65-F5344CB8AC3E}">
        <p14:creationId xmlns:p14="http://schemas.microsoft.com/office/powerpoint/2010/main" val="33337731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t>
            </a:r>
            <a:r>
              <a:rPr lang="en-US" dirty="0" err="1"/>
              <a:t>uve</a:t>
            </a:r>
            <a:r>
              <a:rPr lang="en-US" dirty="0"/>
              <a:t> such bigrams that </a:t>
            </a:r>
            <a:r>
              <a:rPr lang="en-US" dirty="0" err="1"/>
              <a:t>havnt</a:t>
            </a:r>
            <a:r>
              <a:rPr lang="en-US" dirty="0"/>
              <a:t> occurred in the training set, how to deal with such a scenario. Handling problem of zeros..</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57</a:t>
            </a:fld>
            <a:endParaRPr lang="en-PK"/>
          </a:p>
        </p:txBody>
      </p:sp>
    </p:spTree>
    <p:extLst>
      <p:ext uri="{BB962C8B-B14F-4D97-AF65-F5344CB8AC3E}">
        <p14:creationId xmlns:p14="http://schemas.microsoft.com/office/powerpoint/2010/main" val="22062393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a:t>
            </a:r>
            <a:r>
              <a:rPr lang="en-US" dirty="0" err="1"/>
              <a:t>uve</a:t>
            </a:r>
            <a:r>
              <a:rPr lang="en-US" dirty="0"/>
              <a:t> such bigrams that </a:t>
            </a:r>
            <a:r>
              <a:rPr lang="en-US" dirty="0" err="1"/>
              <a:t>havnt</a:t>
            </a:r>
            <a:r>
              <a:rPr lang="en-US" dirty="0"/>
              <a:t> occurred in the training set, how to deal with such a scenario. Handling problem of zeros..</a:t>
            </a:r>
            <a:endParaRPr lang="en-PK" dirty="0"/>
          </a:p>
          <a:p>
            <a:r>
              <a:rPr lang="en-US" dirty="0"/>
              <a:t>Smoothing the probabilities</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58</a:t>
            </a:fld>
            <a:endParaRPr lang="en-PK"/>
          </a:p>
        </p:txBody>
      </p:sp>
    </p:spTree>
    <p:extLst>
      <p:ext uri="{BB962C8B-B14F-4D97-AF65-F5344CB8AC3E}">
        <p14:creationId xmlns:p14="http://schemas.microsoft.com/office/powerpoint/2010/main" val="5438650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MLE: maximum likelihood estimation</a:t>
            </a:r>
          </a:p>
          <a:p>
            <a:r>
              <a:rPr lang="en-US" dirty="0"/>
              <a:t>&lt;s&gt; I do not like SAM &lt;/s&gt;</a:t>
            </a:r>
          </a:p>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59</a:t>
            </a:fld>
            <a:endParaRPr lang="en-PK"/>
          </a:p>
        </p:txBody>
      </p:sp>
    </p:spTree>
    <p:extLst>
      <p:ext uri="{BB962C8B-B14F-4D97-AF65-F5344CB8AC3E}">
        <p14:creationId xmlns:p14="http://schemas.microsoft.com/office/powerpoint/2010/main" val="20148043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dirty="0"/>
              <a:t>Make a matrix </a:t>
            </a:r>
            <a:r>
              <a:rPr lang="en-US" dirty="0"/>
              <a:t>of term to term, unique terms</a:t>
            </a:r>
          </a:p>
          <a:p>
            <a:pPr marL="0" indent="0">
              <a:buNone/>
            </a:pPr>
            <a:r>
              <a:rPr lang="en-US" b="1" dirty="0"/>
              <a:t>2. also calculate frequency of each term individually as well</a:t>
            </a:r>
          </a:p>
          <a:p>
            <a:r>
              <a:rPr lang="en-US" dirty="0"/>
              <a:t>Make a matrix of unique terms</a:t>
            </a:r>
          </a:p>
          <a:p>
            <a:r>
              <a:rPr lang="en-US" dirty="0" err="1"/>
              <a:t>i</a:t>
            </a:r>
            <a:r>
              <a:rPr lang="en-US" dirty="0"/>
              <a:t> k bd want </a:t>
            </a:r>
            <a:r>
              <a:rPr lang="en-US" dirty="0" err="1"/>
              <a:t>kitni</a:t>
            </a:r>
            <a:r>
              <a:rPr lang="en-US" dirty="0"/>
              <a:t> </a:t>
            </a:r>
            <a:r>
              <a:rPr lang="en-US" dirty="0" err="1"/>
              <a:t>baar</a:t>
            </a:r>
            <a:r>
              <a:rPr lang="en-US" dirty="0"/>
              <a:t> </a:t>
            </a:r>
            <a:r>
              <a:rPr lang="en-US" dirty="0" err="1"/>
              <a:t>aya</a:t>
            </a:r>
            <a:r>
              <a:rPr lang="en-US" dirty="0"/>
              <a:t>? This is what each term to term represents</a:t>
            </a:r>
          </a:p>
          <a:p>
            <a:r>
              <a:rPr lang="en-US" dirty="0"/>
              <a:t>It represents bigram, the count represents the </a:t>
            </a:r>
            <a:r>
              <a:rPr lang="en-US" dirty="0" err="1"/>
              <a:t>frerquency</a:t>
            </a:r>
            <a:r>
              <a:rPr lang="en-US" dirty="0"/>
              <a:t> of term to term</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61</a:t>
            </a:fld>
            <a:endParaRPr lang="en-PK"/>
          </a:p>
        </p:txBody>
      </p:sp>
    </p:spTree>
    <p:extLst>
      <p:ext uri="{BB962C8B-B14F-4D97-AF65-F5344CB8AC3E}">
        <p14:creationId xmlns:p14="http://schemas.microsoft.com/office/powerpoint/2010/main" val="25414075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750" y="971550"/>
            <a:ext cx="4660900" cy="2622550"/>
          </a:xfrm>
        </p:spPr>
      </p:sp>
      <p:sp>
        <p:nvSpPr>
          <p:cNvPr id="3" name="Notes Placeholder 2"/>
          <p:cNvSpPr>
            <a:spLocks noGrp="1"/>
          </p:cNvSpPr>
          <p:nvPr>
            <p:ph type="body" idx="1"/>
          </p:nvPr>
        </p:nvSpPr>
        <p:spPr/>
        <p:txBody>
          <a:bodyPr/>
          <a:lstStyle/>
          <a:p>
            <a:r>
              <a:rPr lang="en-US" dirty="0"/>
              <a:t>P(</a:t>
            </a:r>
            <a:r>
              <a:rPr lang="en-US" dirty="0" err="1"/>
              <a:t>i</a:t>
            </a:r>
            <a:r>
              <a:rPr lang="en-US" dirty="0"/>
              <a:t>)= count (I)/ total count of </a:t>
            </a:r>
            <a:r>
              <a:rPr lang="en-US" dirty="0" err="1"/>
              <a:t>i</a:t>
            </a:r>
            <a:r>
              <a:rPr lang="en-US" dirty="0"/>
              <a:t> = 5/2533=0.002</a:t>
            </a:r>
          </a:p>
          <a:p>
            <a:r>
              <a:rPr lang="en-US" dirty="0"/>
              <a:t>P(want| I )= count (I want)/Count ( I )= 827/2533</a:t>
            </a:r>
          </a:p>
          <a:p>
            <a:r>
              <a:rPr lang="en-US" dirty="0"/>
              <a:t>Now if u have to compute </a:t>
            </a:r>
            <a:r>
              <a:rPr lang="en-US" dirty="0" err="1"/>
              <a:t>probab</a:t>
            </a:r>
            <a:r>
              <a:rPr lang="en-US" dirty="0"/>
              <a:t> of a sentence “&lt;s&gt;</a:t>
            </a:r>
            <a:r>
              <a:rPr lang="en-US" dirty="0" err="1"/>
              <a:t>sam</a:t>
            </a:r>
            <a:r>
              <a:rPr lang="en-US" dirty="0"/>
              <a:t> I do &lt;/s&gt;”</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62</a:t>
            </a:fld>
            <a:endParaRPr lang="en-PK"/>
          </a:p>
        </p:txBody>
      </p:sp>
    </p:spTree>
    <p:extLst>
      <p:ext uri="{BB962C8B-B14F-4D97-AF65-F5344CB8AC3E}">
        <p14:creationId xmlns:p14="http://schemas.microsoft.com/office/powerpoint/2010/main" val="16327148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(I want)/count (</a:t>
            </a:r>
            <a:r>
              <a:rPr lang="en-US" dirty="0" err="1"/>
              <a:t>i</a:t>
            </a:r>
            <a:r>
              <a:rPr lang="en-US" dirty="0"/>
              <a:t>)</a:t>
            </a:r>
          </a:p>
          <a:p>
            <a:r>
              <a:rPr lang="en-US" dirty="0"/>
              <a:t>827/2533= 0.32</a:t>
            </a:r>
          </a:p>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63</a:t>
            </a:fld>
            <a:endParaRPr lang="en-PK"/>
          </a:p>
        </p:txBody>
      </p:sp>
    </p:spTree>
    <p:extLst>
      <p:ext uri="{BB962C8B-B14F-4D97-AF65-F5344CB8AC3E}">
        <p14:creationId xmlns:p14="http://schemas.microsoft.com/office/powerpoint/2010/main" val="10914985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Prob(want | </a:t>
            </a:r>
            <a:r>
              <a:rPr lang="en-US" b="1" dirty="0" err="1"/>
              <a:t>i</a:t>
            </a:r>
            <a:r>
              <a:rPr lang="en-US" b="1" dirty="0"/>
              <a:t> )</a:t>
            </a:r>
            <a:r>
              <a:rPr lang="en-US" dirty="0"/>
              <a:t>= count (</a:t>
            </a:r>
            <a:r>
              <a:rPr lang="en-US" dirty="0" err="1"/>
              <a:t>i</a:t>
            </a:r>
            <a:r>
              <a:rPr lang="en-US" dirty="0"/>
              <a:t> want)/count (</a:t>
            </a:r>
            <a:r>
              <a:rPr lang="en-US" dirty="0" err="1"/>
              <a:t>i</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Perplexity (Laplace)(want | </a:t>
            </a:r>
            <a:r>
              <a:rPr lang="en-US" b="1" dirty="0" err="1"/>
              <a:t>i</a:t>
            </a:r>
            <a:r>
              <a:rPr lang="en-US" b="1" dirty="0"/>
              <a:t> </a:t>
            </a:r>
            <a:r>
              <a:rPr lang="en-US" dirty="0"/>
              <a:t>)= count (</a:t>
            </a:r>
            <a:r>
              <a:rPr lang="en-US" dirty="0" err="1"/>
              <a:t>i</a:t>
            </a:r>
            <a:r>
              <a:rPr lang="en-US" dirty="0"/>
              <a:t> want) + 1/count (</a:t>
            </a:r>
            <a:r>
              <a:rPr lang="en-US" dirty="0" err="1"/>
              <a:t>i</a:t>
            </a:r>
            <a:r>
              <a:rPr lang="en-US" dirty="0"/>
              <a:t>) + V</a:t>
            </a:r>
          </a:p>
          <a:p>
            <a:r>
              <a:rPr lang="en-US" b="1" dirty="0"/>
              <a:t>PP=</a:t>
            </a:r>
            <a:r>
              <a:rPr lang="en-US" dirty="0"/>
              <a:t> 827+1/ 2533 + 1446=0.2081=0.21 (round of)</a:t>
            </a:r>
          </a:p>
          <a:p>
            <a:r>
              <a:rPr lang="en-US" b="1" dirty="0"/>
              <a:t>Prob of want changed from 0.33 to 0.21, so it means the count will also be </a:t>
            </a:r>
            <a:r>
              <a:rPr lang="en-US" b="1" dirty="0" err="1"/>
              <a:t>chnaged</a:t>
            </a:r>
            <a:endParaRPr lang="en-PK" b="1" dirty="0"/>
          </a:p>
        </p:txBody>
      </p:sp>
      <p:sp>
        <p:nvSpPr>
          <p:cNvPr id="4" name="Slide Number Placeholder 3"/>
          <p:cNvSpPr>
            <a:spLocks noGrp="1"/>
          </p:cNvSpPr>
          <p:nvPr>
            <p:ph type="sldNum" sz="quarter" idx="5"/>
          </p:nvPr>
        </p:nvSpPr>
        <p:spPr/>
        <p:txBody>
          <a:bodyPr/>
          <a:lstStyle/>
          <a:p>
            <a:fld id="{0C25BA78-EDA0-48C2-9CC0-248B561D5BB8}" type="slidenum">
              <a:rPr lang="en-PK" smtClean="0"/>
              <a:t>64</a:t>
            </a:fld>
            <a:endParaRPr lang="en-PK"/>
          </a:p>
        </p:txBody>
      </p:sp>
    </p:spTree>
    <p:extLst>
      <p:ext uri="{BB962C8B-B14F-4D97-AF65-F5344CB8AC3E}">
        <p14:creationId xmlns:p14="http://schemas.microsoft.com/office/powerpoint/2010/main" val="27654649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Prob(want | </a:t>
            </a:r>
            <a:r>
              <a:rPr lang="en-US" b="1" dirty="0" err="1"/>
              <a:t>i</a:t>
            </a:r>
            <a:r>
              <a:rPr lang="en-US" b="1" dirty="0"/>
              <a:t> ) * count (</a:t>
            </a:r>
            <a:r>
              <a:rPr lang="en-US" b="1" dirty="0" err="1"/>
              <a:t>i</a:t>
            </a:r>
            <a:r>
              <a:rPr lang="en-US" b="1" dirty="0"/>
              <a:t>) = count (</a:t>
            </a:r>
            <a:r>
              <a:rPr lang="en-US" b="1" dirty="0" err="1"/>
              <a:t>i</a:t>
            </a:r>
            <a:r>
              <a:rPr lang="en-US" b="1" dirty="0"/>
              <a:t> want)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0.2081 * 2533  = 527</a:t>
            </a:r>
            <a:endParaRPr lang="en-PK" b="1" dirty="0"/>
          </a:p>
        </p:txBody>
      </p:sp>
      <p:sp>
        <p:nvSpPr>
          <p:cNvPr id="4" name="Slide Number Placeholder 3"/>
          <p:cNvSpPr>
            <a:spLocks noGrp="1"/>
          </p:cNvSpPr>
          <p:nvPr>
            <p:ph type="sldNum" sz="quarter" idx="5"/>
          </p:nvPr>
        </p:nvSpPr>
        <p:spPr/>
        <p:txBody>
          <a:bodyPr/>
          <a:lstStyle/>
          <a:p>
            <a:fld id="{0C25BA78-EDA0-48C2-9CC0-248B561D5BB8}" type="slidenum">
              <a:rPr lang="en-PK" smtClean="0"/>
              <a:t>65</a:t>
            </a:fld>
            <a:endParaRPr lang="en-PK"/>
          </a:p>
        </p:txBody>
      </p:sp>
    </p:spTree>
    <p:extLst>
      <p:ext uri="{BB962C8B-B14F-4D97-AF65-F5344CB8AC3E}">
        <p14:creationId xmlns:p14="http://schemas.microsoft.com/office/powerpoint/2010/main" val="42578320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Changes the distribution drastically, to smooth the zeroes it has also distorted the other counts</a:t>
            </a:r>
          </a:p>
          <a:p>
            <a:r>
              <a:rPr lang="en-US" dirty="0"/>
              <a:t>Moving prob mass of those that occur to those that do not occur</a:t>
            </a:r>
          </a:p>
          <a:p>
            <a:r>
              <a:rPr lang="en-US" dirty="0"/>
              <a:t>U remove value/counts from the observed and assign to those that did not occur (assigning 1 to 0s)</a:t>
            </a:r>
          </a:p>
          <a:p>
            <a:r>
              <a:rPr lang="en-US" dirty="0"/>
              <a:t>It will work where u </a:t>
            </a:r>
            <a:r>
              <a:rPr lang="en-US" dirty="0" err="1"/>
              <a:t>ve</a:t>
            </a:r>
            <a:r>
              <a:rPr lang="en-US" dirty="0"/>
              <a:t> less num of zeroes, so that distribution isn’t changed drastically.</a:t>
            </a:r>
          </a:p>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66</a:t>
            </a:fld>
            <a:endParaRPr lang="en-PK"/>
          </a:p>
        </p:txBody>
      </p:sp>
    </p:spTree>
    <p:extLst>
      <p:ext uri="{BB962C8B-B14F-4D97-AF65-F5344CB8AC3E}">
        <p14:creationId xmlns:p14="http://schemas.microsoft.com/office/powerpoint/2010/main" val="42039035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off: when u go for n-grams and take a larger context u might have lesser count of w(i-2, i-3) </a:t>
            </a:r>
            <a:r>
              <a:rPr lang="en-US" dirty="0" err="1"/>
              <a:t>etc</a:t>
            </a:r>
            <a:endParaRPr lang="en-US" dirty="0"/>
          </a:p>
          <a:p>
            <a:r>
              <a:rPr lang="en-US" dirty="0"/>
              <a:t>So, you back off and drop one </a:t>
            </a:r>
            <a:r>
              <a:rPr lang="en-US" dirty="0" err="1"/>
              <a:t>cotext</a:t>
            </a:r>
            <a:r>
              <a:rPr lang="en-US" dirty="0"/>
              <a:t>, if u were aiming for trigram, </a:t>
            </a:r>
            <a:r>
              <a:rPr lang="en-US" dirty="0" err="1"/>
              <a:t>ull</a:t>
            </a:r>
            <a:r>
              <a:rPr lang="en-US" dirty="0"/>
              <a:t> now go for bigram.</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70</a:t>
            </a:fld>
            <a:endParaRPr lang="en-PK"/>
          </a:p>
        </p:txBody>
      </p:sp>
    </p:spTree>
    <p:extLst>
      <p:ext uri="{BB962C8B-B14F-4D97-AF65-F5344CB8AC3E}">
        <p14:creationId xmlns:p14="http://schemas.microsoft.com/office/powerpoint/2010/main" val="229860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lower order </a:t>
            </a:r>
            <a:r>
              <a:rPr lang="en-US" dirty="0" err="1"/>
              <a:t>ngrams</a:t>
            </a:r>
            <a:r>
              <a:rPr lang="en-US" dirty="0"/>
              <a:t> to the estimate of higher order </a:t>
            </a:r>
            <a:r>
              <a:rPr lang="en-US" dirty="0" err="1"/>
              <a:t>ngrams</a:t>
            </a:r>
            <a:r>
              <a:rPr lang="en-US" dirty="0"/>
              <a:t>– add a weighted estimate of lower order </a:t>
            </a:r>
            <a:r>
              <a:rPr lang="en-US" dirty="0" err="1"/>
              <a:t>ngram</a:t>
            </a:r>
            <a:endParaRPr lang="en-US" dirty="0"/>
          </a:p>
          <a:p>
            <a:r>
              <a:rPr lang="en-US" dirty="0"/>
              <a:t>Parameter lambda &gt;0, Learn with diff lambdas on training set</a:t>
            </a:r>
          </a:p>
          <a:p>
            <a:r>
              <a:rPr lang="en-US" dirty="0"/>
              <a:t>Evaluate on validation set (for which lambda perplexity is minimal: intrinsic evaluation)</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71</a:t>
            </a:fld>
            <a:endParaRPr lang="en-PK"/>
          </a:p>
        </p:txBody>
      </p:sp>
    </p:spTree>
    <p:extLst>
      <p:ext uri="{BB962C8B-B14F-4D97-AF65-F5344CB8AC3E}">
        <p14:creationId xmlns:p14="http://schemas.microsoft.com/office/powerpoint/2010/main" val="18327691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lower order </a:t>
            </a:r>
            <a:r>
              <a:rPr lang="en-US" dirty="0" err="1"/>
              <a:t>ngrams</a:t>
            </a:r>
            <a:r>
              <a:rPr lang="en-US" dirty="0"/>
              <a:t> to the estimate of higher order </a:t>
            </a:r>
            <a:r>
              <a:rPr lang="en-US" dirty="0" err="1"/>
              <a:t>ngrams</a:t>
            </a:r>
            <a:r>
              <a:rPr lang="en-US" dirty="0"/>
              <a:t>– add a weighted estimate of lower order </a:t>
            </a:r>
            <a:r>
              <a:rPr lang="en-US" dirty="0" err="1"/>
              <a:t>ngram</a:t>
            </a:r>
            <a:endParaRPr lang="en-US" dirty="0"/>
          </a:p>
          <a:p>
            <a:r>
              <a:rPr lang="en-US" dirty="0"/>
              <a:t>Parameter lambda &gt;0, Learn with diff lambdas on training set</a:t>
            </a:r>
          </a:p>
          <a:p>
            <a:r>
              <a:rPr lang="en-US" dirty="0"/>
              <a:t>Evaluate on validation set (for which lambda perplexity is minimal: intrinsic evaluation)</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72</a:t>
            </a:fld>
            <a:endParaRPr lang="en-PK"/>
          </a:p>
        </p:txBody>
      </p:sp>
    </p:spTree>
    <p:extLst>
      <p:ext uri="{BB962C8B-B14F-4D97-AF65-F5344CB8AC3E}">
        <p14:creationId xmlns:p14="http://schemas.microsoft.com/office/powerpoint/2010/main" val="33600402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lower order </a:t>
            </a:r>
            <a:r>
              <a:rPr lang="en-US" dirty="0" err="1"/>
              <a:t>ngrams</a:t>
            </a:r>
            <a:r>
              <a:rPr lang="en-US" dirty="0"/>
              <a:t> to the estimate of higher order </a:t>
            </a:r>
            <a:r>
              <a:rPr lang="en-US" dirty="0" err="1"/>
              <a:t>ngrams</a:t>
            </a:r>
            <a:r>
              <a:rPr lang="en-US" dirty="0"/>
              <a:t>– add a weighted estimate of lower order </a:t>
            </a:r>
            <a:r>
              <a:rPr lang="en-US" dirty="0" err="1"/>
              <a:t>ngram</a:t>
            </a:r>
            <a:endParaRPr lang="en-US" dirty="0"/>
          </a:p>
          <a:p>
            <a:r>
              <a:rPr lang="en-US" dirty="0"/>
              <a:t>Parameter lambda &gt;0, Learn with diff lambdas on training set</a:t>
            </a:r>
          </a:p>
          <a:p>
            <a:r>
              <a:rPr lang="en-US" dirty="0"/>
              <a:t>Evaluate on validation set (for which lambda perplexity is minimal: intrinsic evaluation)</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73</a:t>
            </a:fld>
            <a:endParaRPr lang="en-PK"/>
          </a:p>
        </p:txBody>
      </p:sp>
    </p:spTree>
    <p:extLst>
      <p:ext uri="{BB962C8B-B14F-4D97-AF65-F5344CB8AC3E}">
        <p14:creationId xmlns:p14="http://schemas.microsoft.com/office/powerpoint/2010/main" val="28528375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lower order </a:t>
            </a:r>
            <a:r>
              <a:rPr lang="en-US" dirty="0" err="1"/>
              <a:t>ngrams</a:t>
            </a:r>
            <a:r>
              <a:rPr lang="en-US" dirty="0"/>
              <a:t> to the estimate of higher order </a:t>
            </a:r>
            <a:r>
              <a:rPr lang="en-US" dirty="0" err="1"/>
              <a:t>ngrams</a:t>
            </a:r>
            <a:r>
              <a:rPr lang="en-US" dirty="0"/>
              <a:t>– add a weighted estimate of lower order </a:t>
            </a:r>
            <a:r>
              <a:rPr lang="en-US" dirty="0" err="1"/>
              <a:t>ngram</a:t>
            </a:r>
            <a:endParaRPr lang="en-US" dirty="0"/>
          </a:p>
          <a:p>
            <a:r>
              <a:rPr lang="en-US" dirty="0"/>
              <a:t>Parameter lambda &gt;0, Learn with diff lambdas on training set</a:t>
            </a:r>
          </a:p>
          <a:p>
            <a:r>
              <a:rPr lang="en-US" dirty="0"/>
              <a:t>Evaluate on validation set (for which lambda perplexity is minimal: intrinsic evaluation)</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74</a:t>
            </a:fld>
            <a:endParaRPr lang="en-PK"/>
          </a:p>
        </p:txBody>
      </p:sp>
    </p:spTree>
    <p:extLst>
      <p:ext uri="{BB962C8B-B14F-4D97-AF65-F5344CB8AC3E}">
        <p14:creationId xmlns:p14="http://schemas.microsoft.com/office/powerpoint/2010/main" val="21736581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off: when u go for n-grams and take a larger context u might have lesser count of w(i-2, i-3) </a:t>
            </a:r>
            <a:r>
              <a:rPr lang="en-US" dirty="0" err="1"/>
              <a:t>etc</a:t>
            </a:r>
            <a:endParaRPr lang="en-US" dirty="0"/>
          </a:p>
          <a:p>
            <a:r>
              <a:rPr lang="en-US" dirty="0"/>
              <a:t>So, you back off and drop one </a:t>
            </a:r>
            <a:r>
              <a:rPr lang="en-US" dirty="0" err="1"/>
              <a:t>cotext</a:t>
            </a:r>
            <a:r>
              <a:rPr lang="en-US" dirty="0"/>
              <a:t>, if u were aiming for trigram, </a:t>
            </a:r>
            <a:r>
              <a:rPr lang="en-US" dirty="0" err="1"/>
              <a:t>ull</a:t>
            </a:r>
            <a:r>
              <a:rPr lang="en-US" dirty="0"/>
              <a:t> now go for bigram.</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76</a:t>
            </a:fld>
            <a:endParaRPr lang="en-PK"/>
          </a:p>
        </p:txBody>
      </p:sp>
    </p:spTree>
    <p:extLst>
      <p:ext uri="{BB962C8B-B14F-4D97-AF65-F5344CB8AC3E}">
        <p14:creationId xmlns:p14="http://schemas.microsoft.com/office/powerpoint/2010/main" val="20717552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bigram has a value greater then a threshold, then we do not keep its unigram (lower order </a:t>
            </a:r>
            <a:r>
              <a:rPr lang="en-US" dirty="0" err="1"/>
              <a:t>ngrams</a:t>
            </a:r>
            <a:r>
              <a:rPr lang="en-US" dirty="0"/>
              <a:t>)</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78</a:t>
            </a:fld>
            <a:endParaRPr lang="en-PK"/>
          </a:p>
        </p:txBody>
      </p:sp>
    </p:spTree>
    <p:extLst>
      <p:ext uri="{BB962C8B-B14F-4D97-AF65-F5344CB8AC3E}">
        <p14:creationId xmlns:p14="http://schemas.microsoft.com/office/powerpoint/2010/main" val="33080007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adding 1 for each </a:t>
            </a:r>
            <a:r>
              <a:rPr lang="en-US" dirty="0" err="1"/>
              <a:t>ngram</a:t>
            </a:r>
            <a:r>
              <a:rPr lang="en-US" dirty="0"/>
              <a:t> </a:t>
            </a:r>
            <a:r>
              <a:rPr lang="en-US" dirty="0" err="1"/>
              <a:t>etc</a:t>
            </a:r>
            <a:r>
              <a:rPr lang="en-US" dirty="0"/>
              <a:t> add k</a:t>
            </a:r>
          </a:p>
          <a:p>
            <a:r>
              <a:rPr lang="en-US" dirty="0"/>
              <a:t>K= 1 then it becomes add-1 smoothing</a:t>
            </a:r>
          </a:p>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83</a:t>
            </a:fld>
            <a:endParaRPr lang="en-PK"/>
          </a:p>
        </p:txBody>
      </p:sp>
    </p:spTree>
    <p:extLst>
      <p:ext uri="{BB962C8B-B14F-4D97-AF65-F5344CB8AC3E}">
        <p14:creationId xmlns:p14="http://schemas.microsoft.com/office/powerpoint/2010/main" val="35912882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K&gt;1 be helpful in NLP? No now </a:t>
            </a:r>
            <a:r>
              <a:rPr lang="en-US" dirty="0" err="1"/>
              <a:t>ur</a:t>
            </a:r>
            <a:r>
              <a:rPr lang="en-US" dirty="0"/>
              <a:t> adding more than 1, so u usually go for lower values</a:t>
            </a:r>
          </a:p>
          <a:p>
            <a:r>
              <a:rPr lang="en-US" dirty="0"/>
              <a:t>If u add some low values it might not take too much from non zeroes to add up to zeroes</a:t>
            </a:r>
          </a:p>
          <a:p>
            <a:r>
              <a:rPr lang="en-US" b="1" dirty="0"/>
              <a:t>If all words have a uniform distribution 1/|V| is the </a:t>
            </a:r>
            <a:r>
              <a:rPr lang="en-US" b="1" dirty="0" err="1"/>
              <a:t>probab</a:t>
            </a:r>
            <a:r>
              <a:rPr lang="en-US" b="1" dirty="0"/>
              <a:t> estimate</a:t>
            </a:r>
          </a:p>
          <a:p>
            <a:r>
              <a:rPr lang="en-US" dirty="0"/>
              <a:t>M is used to modify it, so u add in the denominator to make sure normalization is correct</a:t>
            </a:r>
          </a:p>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84</a:t>
            </a:fld>
            <a:endParaRPr lang="en-PK"/>
          </a:p>
        </p:txBody>
      </p:sp>
    </p:spTree>
    <p:extLst>
      <p:ext uri="{BB962C8B-B14F-4D97-AF65-F5344CB8AC3E}">
        <p14:creationId xmlns:p14="http://schemas.microsoft.com/office/powerpoint/2010/main" val="33233114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all words have a uniform distribution 1/|V| is the </a:t>
            </a:r>
            <a:r>
              <a:rPr lang="en-US" dirty="0" err="1"/>
              <a:t>probab</a:t>
            </a:r>
            <a:r>
              <a:rPr lang="en-US" dirty="0"/>
              <a:t> estimate</a:t>
            </a:r>
          </a:p>
          <a:p>
            <a:r>
              <a:rPr lang="en-US" dirty="0"/>
              <a:t>M is used to modify it, so u add in the denominator to make sure normalization is correct</a:t>
            </a:r>
          </a:p>
          <a:p>
            <a:r>
              <a:rPr lang="en-US" dirty="0"/>
              <a:t>Instead of 1\V u can also use unigram of that word</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85</a:t>
            </a:fld>
            <a:endParaRPr lang="en-PK"/>
          </a:p>
        </p:txBody>
      </p:sp>
    </p:spTree>
    <p:extLst>
      <p:ext uri="{BB962C8B-B14F-4D97-AF65-F5344CB8AC3E}">
        <p14:creationId xmlns:p14="http://schemas.microsoft.com/office/powerpoint/2010/main" val="22971316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Instead of 1\V u can also use unigram of that word P(wi)</a:t>
            </a:r>
            <a:endParaRPr lang="en-PK" dirty="0"/>
          </a:p>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86</a:t>
            </a:fld>
            <a:endParaRPr lang="en-PK"/>
          </a:p>
        </p:txBody>
      </p:sp>
    </p:spTree>
    <p:extLst>
      <p:ext uri="{BB962C8B-B14F-4D97-AF65-F5344CB8AC3E}">
        <p14:creationId xmlns:p14="http://schemas.microsoft.com/office/powerpoint/2010/main" val="38848136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N1=3: 3 events with 1 length</a:t>
            </a:r>
          </a:p>
          <a:p>
            <a:r>
              <a:rPr lang="en-US" dirty="0"/>
              <a:t>N2=2: two events with 2 length</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88</a:t>
            </a:fld>
            <a:endParaRPr lang="en-PK"/>
          </a:p>
        </p:txBody>
      </p:sp>
    </p:spTree>
    <p:extLst>
      <p:ext uri="{BB962C8B-B14F-4D97-AF65-F5344CB8AC3E}">
        <p14:creationId xmlns:p14="http://schemas.microsoft.com/office/powerpoint/2010/main" val="2942342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Bass will be 0/18 since bass is OOV</a:t>
            </a:r>
          </a:p>
          <a:p>
            <a:r>
              <a:rPr lang="en-US" dirty="0"/>
              <a:t>So to handle 0s, we estimate things we saw once</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89</a:t>
            </a:fld>
            <a:endParaRPr lang="en-PK"/>
          </a:p>
        </p:txBody>
      </p:sp>
    </p:spTree>
    <p:extLst>
      <p:ext uri="{BB962C8B-B14F-4D97-AF65-F5344CB8AC3E}">
        <p14:creationId xmlns:p14="http://schemas.microsoft.com/office/powerpoint/2010/main" val="12329925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N</a:t>
            </a:r>
          </a:p>
          <a:p>
            <a:r>
              <a:rPr lang="en-US" dirty="0"/>
              <a:t>0     2</a:t>
            </a:r>
          </a:p>
          <a:p>
            <a:r>
              <a:rPr lang="en-US" dirty="0"/>
              <a:t>1     3</a:t>
            </a:r>
          </a:p>
          <a:p>
            <a:r>
              <a:rPr lang="en-US" dirty="0"/>
              <a:t>2     1</a:t>
            </a:r>
          </a:p>
          <a:p>
            <a:r>
              <a:rPr lang="en-US" dirty="0"/>
              <a:t>3     1</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90</a:t>
            </a:fld>
            <a:endParaRPr lang="en-PK"/>
          </a:p>
        </p:txBody>
      </p:sp>
    </p:spTree>
    <p:extLst>
      <p:ext uri="{BB962C8B-B14F-4D97-AF65-F5344CB8AC3E}">
        <p14:creationId xmlns:p14="http://schemas.microsoft.com/office/powerpoint/2010/main" val="33859744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large values of C, values will </a:t>
            </a:r>
            <a:r>
              <a:rPr lang="en-US" dirty="0" err="1"/>
              <a:t>bcm</a:t>
            </a:r>
            <a:r>
              <a:rPr lang="en-US" dirty="0"/>
              <a:t> shaky so smooth them out by using power law</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93</a:t>
            </a:fld>
            <a:endParaRPr lang="en-PK"/>
          </a:p>
        </p:txBody>
      </p:sp>
    </p:spTree>
    <p:extLst>
      <p:ext uri="{BB962C8B-B14F-4D97-AF65-F5344CB8AC3E}">
        <p14:creationId xmlns:p14="http://schemas.microsoft.com/office/powerpoint/2010/main" val="32916702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Reduction in counts is almost constant (absolute discounting)</a:t>
            </a:r>
          </a:p>
          <a:p>
            <a:pPr marL="228600" indent="-228600">
              <a:buAutoNum type="arabicPeriod"/>
            </a:pPr>
            <a:r>
              <a:rPr lang="en-US" dirty="0"/>
              <a:t>Lambda calculated directly</a:t>
            </a:r>
          </a:p>
          <a:p>
            <a:pPr marL="228600" indent="-228600">
              <a:buAutoNum type="arabicPeriod"/>
            </a:pPr>
            <a:r>
              <a:rPr lang="en-US" dirty="0"/>
              <a:t>Continuation </a:t>
            </a:r>
            <a:r>
              <a:rPr lang="en-US" dirty="0" err="1"/>
              <a:t>probablity</a:t>
            </a:r>
            <a:endParaRPr lang="en-US" dirty="0"/>
          </a:p>
          <a:p>
            <a:pPr marL="0" indent="0">
              <a:buNone/>
            </a:pP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98</a:t>
            </a:fld>
            <a:endParaRPr lang="en-PK"/>
          </a:p>
        </p:txBody>
      </p:sp>
    </p:spTree>
    <p:extLst>
      <p:ext uri="{BB962C8B-B14F-4D97-AF65-F5344CB8AC3E}">
        <p14:creationId xmlns:p14="http://schemas.microsoft.com/office/powerpoint/2010/main" val="36687243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Don’t use unigram use continuation probability </a:t>
            </a:r>
          </a:p>
          <a:p>
            <a:r>
              <a:rPr lang="en-US" dirty="0"/>
              <a:t>Lambda (</a:t>
            </a:r>
            <a:r>
              <a:rPr lang="en-US" dirty="0" err="1"/>
              <a:t>san</a:t>
            </a:r>
            <a:r>
              <a:rPr lang="en-US" dirty="0"/>
              <a:t>)= d* num of distinct words following </a:t>
            </a:r>
            <a:r>
              <a:rPr lang="en-US" dirty="0" err="1"/>
              <a:t>san</a:t>
            </a:r>
            <a:r>
              <a:rPr lang="en-US" dirty="0"/>
              <a:t>/c(</a:t>
            </a:r>
            <a:r>
              <a:rPr lang="en-US" dirty="0" err="1"/>
              <a:t>san</a:t>
            </a:r>
            <a:r>
              <a:rPr lang="en-US" dirty="0"/>
              <a:t>)</a:t>
            </a:r>
          </a:p>
        </p:txBody>
      </p:sp>
      <p:sp>
        <p:nvSpPr>
          <p:cNvPr id="4" name="Slide Number Placeholder 3"/>
          <p:cNvSpPr>
            <a:spLocks noGrp="1"/>
          </p:cNvSpPr>
          <p:nvPr>
            <p:ph type="sldNum" sz="quarter" idx="5"/>
          </p:nvPr>
        </p:nvSpPr>
        <p:spPr/>
        <p:txBody>
          <a:bodyPr/>
          <a:lstStyle/>
          <a:p>
            <a:fld id="{0C25BA78-EDA0-48C2-9CC0-248B561D5BB8}" type="slidenum">
              <a:rPr lang="en-PK" smtClean="0"/>
              <a:t>99</a:t>
            </a:fld>
            <a:endParaRPr lang="en-PK"/>
          </a:p>
        </p:txBody>
      </p:sp>
    </p:spTree>
    <p:extLst>
      <p:ext uri="{BB962C8B-B14F-4D97-AF65-F5344CB8AC3E}">
        <p14:creationId xmlns:p14="http://schemas.microsoft.com/office/powerpoint/2010/main" val="9773668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Continuation probability</a:t>
            </a:r>
            <a:r>
              <a:rPr lang="en-US" dirty="0"/>
              <a:t>: probability based on the context for which </a:t>
            </a:r>
            <a:r>
              <a:rPr lang="en-US" dirty="0" err="1"/>
              <a:t>san</a:t>
            </a:r>
            <a:r>
              <a:rPr lang="en-US" dirty="0"/>
              <a:t> Francisco is a continuation</a:t>
            </a:r>
          </a:p>
          <a:p>
            <a:r>
              <a:rPr lang="en-US" b="1" dirty="0"/>
              <a:t>Francisco is a continuation of how many words?</a:t>
            </a:r>
            <a:endParaRPr lang="en-PK" b="1" dirty="0"/>
          </a:p>
        </p:txBody>
      </p:sp>
      <p:sp>
        <p:nvSpPr>
          <p:cNvPr id="4" name="Slide Number Placeholder 3"/>
          <p:cNvSpPr>
            <a:spLocks noGrp="1"/>
          </p:cNvSpPr>
          <p:nvPr>
            <p:ph type="sldNum" sz="quarter" idx="5"/>
          </p:nvPr>
        </p:nvSpPr>
        <p:spPr/>
        <p:txBody>
          <a:bodyPr/>
          <a:lstStyle/>
          <a:p>
            <a:fld id="{0C25BA78-EDA0-48C2-9CC0-248B561D5BB8}" type="slidenum">
              <a:rPr lang="en-PK" smtClean="0"/>
              <a:t>100</a:t>
            </a:fld>
            <a:endParaRPr lang="en-PK"/>
          </a:p>
        </p:txBody>
      </p:sp>
    </p:spTree>
    <p:extLst>
      <p:ext uri="{BB962C8B-B14F-4D97-AF65-F5344CB8AC3E}">
        <p14:creationId xmlns:p14="http://schemas.microsoft.com/office/powerpoint/2010/main" val="29786836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Kitnay</a:t>
            </a:r>
            <a:r>
              <a:rPr lang="en-US" dirty="0"/>
              <a:t> aur words </a:t>
            </a:r>
            <a:r>
              <a:rPr lang="en-US" dirty="0" err="1"/>
              <a:t>hain</a:t>
            </a:r>
            <a:r>
              <a:rPr lang="en-US" dirty="0"/>
              <a:t> </a:t>
            </a:r>
            <a:r>
              <a:rPr lang="en-US" dirty="0" err="1"/>
              <a:t>jinke</a:t>
            </a:r>
            <a:r>
              <a:rPr lang="en-US" dirty="0"/>
              <a:t> bd Francisco </a:t>
            </a:r>
            <a:r>
              <a:rPr lang="en-US" dirty="0" err="1"/>
              <a:t>araha</a:t>
            </a:r>
            <a:r>
              <a:rPr lang="en-US" dirty="0"/>
              <a:t> h</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101</a:t>
            </a:fld>
            <a:endParaRPr lang="en-PK"/>
          </a:p>
        </p:txBody>
      </p:sp>
    </p:spTree>
    <p:extLst>
      <p:ext uri="{BB962C8B-B14F-4D97-AF65-F5344CB8AC3E}">
        <p14:creationId xmlns:p14="http://schemas.microsoft.com/office/powerpoint/2010/main" val="412072222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Absolute discounted bigram +lambda*continuation </a:t>
            </a:r>
            <a:r>
              <a:rPr lang="en-US" dirty="0" err="1"/>
              <a:t>probab</a:t>
            </a:r>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103</a:t>
            </a:fld>
            <a:endParaRPr lang="en-PK"/>
          </a:p>
        </p:txBody>
      </p:sp>
    </p:spTree>
    <p:extLst>
      <p:ext uri="{BB962C8B-B14F-4D97-AF65-F5344CB8AC3E}">
        <p14:creationId xmlns:p14="http://schemas.microsoft.com/office/powerpoint/2010/main" val="20925766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0C25BA78-EDA0-48C2-9CC0-248B561D5BB8}" type="slidenum">
              <a:rPr lang="en-PK" smtClean="0"/>
              <a:t>105</a:t>
            </a:fld>
            <a:endParaRPr lang="en-PK"/>
          </a:p>
        </p:txBody>
      </p:sp>
    </p:spTree>
    <p:extLst>
      <p:ext uri="{BB962C8B-B14F-4D97-AF65-F5344CB8AC3E}">
        <p14:creationId xmlns:p14="http://schemas.microsoft.com/office/powerpoint/2010/main" val="9256157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043890" y="1497400"/>
            <a:ext cx="2973812" cy="4716217"/>
          </a:xfrm>
          <a:prstGeom prst="rect">
            <a:avLst/>
          </a:prstGeom>
        </p:spPr>
      </p:pic>
      <p:sp>
        <p:nvSpPr>
          <p:cNvPr id="2" name="Holder 2"/>
          <p:cNvSpPr>
            <a:spLocks noGrp="1"/>
          </p:cNvSpPr>
          <p:nvPr>
            <p:ph type="ctrTitle"/>
          </p:nvPr>
        </p:nvSpPr>
        <p:spPr>
          <a:xfrm>
            <a:off x="2507930" y="1643611"/>
            <a:ext cx="8801740" cy="676467"/>
          </a:xfrm>
          <a:prstGeom prst="rect">
            <a:avLst/>
          </a:prstGeom>
        </p:spPr>
        <p:txBody>
          <a:bodyPr wrap="square" lIns="0" tIns="0" rIns="0" bIns="0">
            <a:spAutoFit/>
          </a:bodyPr>
          <a:lstStyle>
            <a:lvl1pPr>
              <a:defRPr sz="4396" b="1" i="0">
                <a:solidFill>
                  <a:schemeClr val="tx1"/>
                </a:solidFill>
                <a:latin typeface="Calibri"/>
                <a:cs typeface="Calibri"/>
              </a:defRPr>
            </a:lvl1pPr>
          </a:lstStyle>
          <a:p>
            <a:endParaRPr/>
          </a:p>
        </p:txBody>
      </p:sp>
      <p:sp>
        <p:nvSpPr>
          <p:cNvPr id="3" name="Holder 3"/>
          <p:cNvSpPr>
            <a:spLocks noGrp="1"/>
          </p:cNvSpPr>
          <p:nvPr>
            <p:ph type="subTitle" idx="4"/>
          </p:nvPr>
        </p:nvSpPr>
        <p:spPr>
          <a:xfrm>
            <a:off x="1096891" y="4113761"/>
            <a:ext cx="11623816" cy="676467"/>
          </a:xfrm>
          <a:prstGeom prst="rect">
            <a:avLst/>
          </a:prstGeom>
        </p:spPr>
        <p:txBody>
          <a:bodyPr wrap="square" lIns="0" tIns="0" rIns="0" bIns="0">
            <a:spAutoFit/>
          </a:bodyPr>
          <a:lstStyle>
            <a:lvl1pPr>
              <a:defRPr sz="4396" b="0" i="0">
                <a:solidFill>
                  <a:srgbClr val="800000"/>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156702" y="1403580"/>
            <a:ext cx="11504197" cy="676467"/>
          </a:xfrm>
        </p:spPr>
        <p:txBody>
          <a:bodyPr lIns="0" tIns="0" rIns="0" bIns="0"/>
          <a:lstStyle>
            <a:lvl1pPr>
              <a:defRPr sz="4396" b="1" i="0">
                <a:solidFill>
                  <a:schemeClr val="tx1"/>
                </a:solidFill>
                <a:latin typeface="Arial"/>
                <a:cs typeface="Arial"/>
              </a:defRPr>
            </a:lvl1pPr>
          </a:lstStyle>
          <a:p>
            <a:endParaRPr/>
          </a:p>
        </p:txBody>
      </p:sp>
      <p:sp>
        <p:nvSpPr>
          <p:cNvPr id="3" name="Holder 3"/>
          <p:cNvSpPr>
            <a:spLocks noGrp="1"/>
          </p:cNvSpPr>
          <p:nvPr>
            <p:ph type="body" idx="1"/>
          </p:nvPr>
        </p:nvSpPr>
        <p:spPr>
          <a:xfrm>
            <a:off x="1294527" y="2546580"/>
            <a:ext cx="10995634" cy="422744"/>
          </a:xfrm>
        </p:spPr>
        <p:txBody>
          <a:bodyPr lIns="0" tIns="0" rIns="0" bIns="0"/>
          <a:lstStyle>
            <a:lvl1pPr>
              <a:defRPr sz="2747"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156702" y="1403580"/>
            <a:ext cx="11504197" cy="676467"/>
          </a:xfrm>
        </p:spPr>
        <p:txBody>
          <a:bodyPr lIns="0" tIns="0" rIns="0" bIns="0"/>
          <a:lstStyle>
            <a:lvl1pPr>
              <a:defRPr sz="4396" b="1" i="0">
                <a:solidFill>
                  <a:schemeClr val="tx1"/>
                </a:solidFill>
                <a:latin typeface="Arial"/>
                <a:cs typeface="Arial"/>
              </a:defRPr>
            </a:lvl1pPr>
          </a:lstStyle>
          <a:p>
            <a:endParaRPr/>
          </a:p>
        </p:txBody>
      </p:sp>
      <p:sp>
        <p:nvSpPr>
          <p:cNvPr id="3" name="Holder 3"/>
          <p:cNvSpPr>
            <a:spLocks noGrp="1"/>
          </p:cNvSpPr>
          <p:nvPr>
            <p:ph sz="half" idx="2"/>
          </p:nvPr>
        </p:nvSpPr>
        <p:spPr>
          <a:xfrm>
            <a:off x="690880" y="1787652"/>
            <a:ext cx="6010656" cy="30777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116064" y="1787652"/>
            <a:ext cx="6010656" cy="30777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1/31/2024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156702" y="1403580"/>
            <a:ext cx="11504197" cy="676467"/>
          </a:xfrm>
        </p:spPr>
        <p:txBody>
          <a:bodyPr lIns="0" tIns="0" rIns="0" bIns="0"/>
          <a:lstStyle>
            <a:lvl1pPr>
              <a:defRPr sz="4396"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1/31/2024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1/31/2024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04553" y="1599162"/>
            <a:ext cx="1193699" cy="874801"/>
          </a:xfrm>
          <a:prstGeom prst="rect">
            <a:avLst/>
          </a:prstGeom>
        </p:spPr>
      </p:pic>
      <p:sp>
        <p:nvSpPr>
          <p:cNvPr id="2" name="Holder 2"/>
          <p:cNvSpPr>
            <a:spLocks noGrp="1"/>
          </p:cNvSpPr>
          <p:nvPr>
            <p:ph type="title"/>
          </p:nvPr>
        </p:nvSpPr>
        <p:spPr>
          <a:xfrm>
            <a:off x="1156702" y="1403580"/>
            <a:ext cx="11504197" cy="492443"/>
          </a:xfrm>
          <a:prstGeom prst="rect">
            <a:avLst/>
          </a:prstGeom>
        </p:spPr>
        <p:txBody>
          <a:bodyPr wrap="square" lIns="0" tIns="0" rIns="0" bIns="0">
            <a:spAutoFit/>
          </a:bodyPr>
          <a:lstStyle>
            <a:lvl1pPr>
              <a:defRPr sz="3200" b="1" i="0">
                <a:solidFill>
                  <a:schemeClr val="tx1"/>
                </a:solidFill>
                <a:latin typeface="Arial"/>
                <a:cs typeface="Arial"/>
              </a:defRPr>
            </a:lvl1pPr>
          </a:lstStyle>
          <a:p>
            <a:endParaRPr/>
          </a:p>
        </p:txBody>
      </p:sp>
      <p:sp>
        <p:nvSpPr>
          <p:cNvPr id="3" name="Holder 3"/>
          <p:cNvSpPr>
            <a:spLocks noGrp="1"/>
          </p:cNvSpPr>
          <p:nvPr>
            <p:ph type="body" idx="1"/>
          </p:nvPr>
        </p:nvSpPr>
        <p:spPr>
          <a:xfrm>
            <a:off x="1294527" y="2546580"/>
            <a:ext cx="10995634" cy="307777"/>
          </a:xfrm>
          <a:prstGeom prst="rect">
            <a:avLst/>
          </a:prstGeom>
        </p:spPr>
        <p:txBody>
          <a:bodyPr wrap="square" lIns="0" tIns="0" rIns="0" bIns="0">
            <a:spAutoFit/>
          </a:bodyPr>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697984" y="7228332"/>
            <a:ext cx="4421632"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90880" y="7228332"/>
            <a:ext cx="3178048"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1/31/2024</a:t>
            </a:fld>
            <a:endParaRPr lang="en-US"/>
          </a:p>
        </p:txBody>
      </p:sp>
      <p:sp>
        <p:nvSpPr>
          <p:cNvPr id="6" name="Holder 6"/>
          <p:cNvSpPr>
            <a:spLocks noGrp="1"/>
          </p:cNvSpPr>
          <p:nvPr>
            <p:ph type="sldNum" sz="quarter" idx="7"/>
          </p:nvPr>
        </p:nvSpPr>
        <p:spPr>
          <a:xfrm>
            <a:off x="9948672" y="7228332"/>
            <a:ext cx="3178048"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628056">
        <a:defRPr>
          <a:latin typeface="+mn-lt"/>
          <a:ea typeface="+mn-ea"/>
          <a:cs typeface="+mn-cs"/>
        </a:defRPr>
      </a:lvl2pPr>
      <a:lvl3pPr marL="1256111">
        <a:defRPr>
          <a:latin typeface="+mn-lt"/>
          <a:ea typeface="+mn-ea"/>
          <a:cs typeface="+mn-cs"/>
        </a:defRPr>
      </a:lvl3pPr>
      <a:lvl4pPr marL="1884167">
        <a:defRPr>
          <a:latin typeface="+mn-lt"/>
          <a:ea typeface="+mn-ea"/>
          <a:cs typeface="+mn-cs"/>
        </a:defRPr>
      </a:lvl4pPr>
      <a:lvl5pPr marL="2512223">
        <a:defRPr>
          <a:latin typeface="+mn-lt"/>
          <a:ea typeface="+mn-ea"/>
          <a:cs typeface="+mn-cs"/>
        </a:defRPr>
      </a:lvl5pPr>
      <a:lvl6pPr marL="3140278">
        <a:defRPr>
          <a:latin typeface="+mn-lt"/>
          <a:ea typeface="+mn-ea"/>
          <a:cs typeface="+mn-cs"/>
        </a:defRPr>
      </a:lvl6pPr>
      <a:lvl7pPr marL="3768334">
        <a:defRPr>
          <a:latin typeface="+mn-lt"/>
          <a:ea typeface="+mn-ea"/>
          <a:cs typeface="+mn-cs"/>
        </a:defRPr>
      </a:lvl7pPr>
      <a:lvl8pPr marL="4396389">
        <a:defRPr>
          <a:latin typeface="+mn-lt"/>
          <a:ea typeface="+mn-ea"/>
          <a:cs typeface="+mn-cs"/>
        </a:defRPr>
      </a:lvl8pPr>
      <a:lvl9pPr marL="5024445">
        <a:defRPr>
          <a:latin typeface="+mn-lt"/>
          <a:ea typeface="+mn-ea"/>
          <a:cs typeface="+mn-cs"/>
        </a:defRPr>
      </a:lvl9pPr>
    </p:bodyStyle>
    <p:otherStyle>
      <a:lvl1pPr marL="0">
        <a:defRPr>
          <a:latin typeface="+mn-lt"/>
          <a:ea typeface="+mn-ea"/>
          <a:cs typeface="+mn-cs"/>
        </a:defRPr>
      </a:lvl1pPr>
      <a:lvl2pPr marL="628056">
        <a:defRPr>
          <a:latin typeface="+mn-lt"/>
          <a:ea typeface="+mn-ea"/>
          <a:cs typeface="+mn-cs"/>
        </a:defRPr>
      </a:lvl2pPr>
      <a:lvl3pPr marL="1256111">
        <a:defRPr>
          <a:latin typeface="+mn-lt"/>
          <a:ea typeface="+mn-ea"/>
          <a:cs typeface="+mn-cs"/>
        </a:defRPr>
      </a:lvl3pPr>
      <a:lvl4pPr marL="1884167">
        <a:defRPr>
          <a:latin typeface="+mn-lt"/>
          <a:ea typeface="+mn-ea"/>
          <a:cs typeface="+mn-cs"/>
        </a:defRPr>
      </a:lvl4pPr>
      <a:lvl5pPr marL="2512223">
        <a:defRPr>
          <a:latin typeface="+mn-lt"/>
          <a:ea typeface="+mn-ea"/>
          <a:cs typeface="+mn-cs"/>
        </a:defRPr>
      </a:lvl5pPr>
      <a:lvl6pPr marL="3140278">
        <a:defRPr>
          <a:latin typeface="+mn-lt"/>
          <a:ea typeface="+mn-ea"/>
          <a:cs typeface="+mn-cs"/>
        </a:defRPr>
      </a:lvl6pPr>
      <a:lvl7pPr marL="3768334">
        <a:defRPr>
          <a:latin typeface="+mn-lt"/>
          <a:ea typeface="+mn-ea"/>
          <a:cs typeface="+mn-cs"/>
        </a:defRPr>
      </a:lvl7pPr>
      <a:lvl8pPr marL="4396389">
        <a:defRPr>
          <a:latin typeface="+mn-lt"/>
          <a:ea typeface="+mn-ea"/>
          <a:cs typeface="+mn-cs"/>
        </a:defRPr>
      </a:lvl8pPr>
      <a:lvl9pPr marL="5024445">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www.speech.sri.com/projects/srilm/"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hyperlink" Target="http://googleresearch.blogspot.com/2006/08/all-our-n-gram-are-belong-to-you.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ngrams.googlelabs.co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microsoft.com/office/2007/relationships/hdphoto" Target="../media/hdphoto4.wdp"/></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microsoft.com/office/2007/relationships/hdphoto" Target="../media/hdphoto5.wdp"/></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microsoft.com/office/2007/relationships/hdphoto" Target="../media/hdphoto6.wdp"/></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microsoft.com/office/2007/relationships/hdphoto" Target="../media/hdphoto7.wdp"/></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microsoft.com/office/2007/relationships/hdphoto" Target="../media/hdphoto8.wdp"/></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microsoft.com/office/2007/relationships/hdphoto" Target="../media/hdphoto9.wdp"/></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6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7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68902" y="4183106"/>
            <a:ext cx="5520934" cy="694084"/>
          </a:xfrm>
          <a:prstGeom prst="rect">
            <a:avLst/>
          </a:prstGeom>
        </p:spPr>
        <p:txBody>
          <a:bodyPr vert="horz" wrap="square" lIns="0" tIns="17446" rIns="0" bIns="0" rtlCol="0">
            <a:spAutoFit/>
          </a:bodyPr>
          <a:lstStyle/>
          <a:p>
            <a:pPr marL="17446">
              <a:spcBef>
                <a:spcPts val="137"/>
              </a:spcBef>
            </a:pPr>
            <a:r>
              <a:rPr sz="4396" spc="-7" dirty="0">
                <a:solidFill>
                  <a:srgbClr val="A50021"/>
                </a:solidFill>
                <a:latin typeface="Calibri"/>
                <a:cs typeface="Calibri"/>
              </a:rPr>
              <a:t>Introduction</a:t>
            </a:r>
            <a:r>
              <a:rPr sz="4396" spc="-48" dirty="0">
                <a:solidFill>
                  <a:srgbClr val="A50021"/>
                </a:solidFill>
                <a:latin typeface="Calibri"/>
                <a:cs typeface="Calibri"/>
              </a:rPr>
              <a:t> </a:t>
            </a:r>
            <a:r>
              <a:rPr sz="4396" dirty="0">
                <a:solidFill>
                  <a:srgbClr val="A50021"/>
                </a:solidFill>
                <a:latin typeface="Calibri"/>
                <a:cs typeface="Calibri"/>
              </a:rPr>
              <a:t>to</a:t>
            </a:r>
            <a:r>
              <a:rPr sz="4396" spc="-48" dirty="0">
                <a:solidFill>
                  <a:srgbClr val="A50021"/>
                </a:solidFill>
                <a:latin typeface="Calibri"/>
                <a:cs typeface="Calibri"/>
              </a:rPr>
              <a:t> </a:t>
            </a:r>
            <a:r>
              <a:rPr sz="4396" spc="-302" dirty="0">
                <a:solidFill>
                  <a:srgbClr val="A50021"/>
                </a:solidFill>
                <a:latin typeface="Calibri"/>
                <a:cs typeface="Calibri"/>
              </a:rPr>
              <a:t>N-­‐grams</a:t>
            </a:r>
            <a:endParaRPr sz="4396">
              <a:latin typeface="Calibri"/>
              <a:cs typeface="Calibri"/>
            </a:endParaRPr>
          </a:p>
        </p:txBody>
      </p:sp>
      <p:sp>
        <p:nvSpPr>
          <p:cNvPr id="3" name="object 3"/>
          <p:cNvSpPr txBox="1"/>
          <p:nvPr/>
        </p:nvSpPr>
        <p:spPr>
          <a:xfrm>
            <a:off x="7994328" y="1634179"/>
            <a:ext cx="3069705" cy="1873466"/>
          </a:xfrm>
          <a:prstGeom prst="rect">
            <a:avLst/>
          </a:prstGeom>
        </p:spPr>
        <p:txBody>
          <a:bodyPr vert="horz" wrap="square" lIns="0" tIns="13085" rIns="0" bIns="0" rtlCol="0">
            <a:spAutoFit/>
          </a:bodyPr>
          <a:lstStyle/>
          <a:p>
            <a:pPr marL="17446" marR="6978" indent="6978">
              <a:lnSpc>
                <a:spcPct val="100400"/>
              </a:lnSpc>
              <a:spcBef>
                <a:spcPts val="103"/>
              </a:spcBef>
            </a:pPr>
            <a:r>
              <a:rPr sz="6044" b="1" dirty="0">
                <a:latin typeface="Calibri"/>
                <a:cs typeface="Calibri"/>
              </a:rPr>
              <a:t>Language  </a:t>
            </a:r>
            <a:r>
              <a:rPr sz="6044" b="1" spc="-7" dirty="0">
                <a:latin typeface="Calibri"/>
                <a:cs typeface="Calibri"/>
              </a:rPr>
              <a:t>Mode</a:t>
            </a:r>
            <a:r>
              <a:rPr sz="6044" b="1" dirty="0">
                <a:latin typeface="Calibri"/>
                <a:cs typeface="Calibri"/>
              </a:rPr>
              <a:t>li</a:t>
            </a:r>
            <a:r>
              <a:rPr sz="6044" b="1" spc="-7" dirty="0">
                <a:latin typeface="Calibri"/>
                <a:cs typeface="Calibri"/>
              </a:rPr>
              <a:t>n</a:t>
            </a:r>
            <a:r>
              <a:rPr sz="6044" b="1" dirty="0">
                <a:latin typeface="Calibri"/>
                <a:cs typeface="Calibri"/>
              </a:rPr>
              <a:t>g</a:t>
            </a:r>
            <a:endParaRPr sz="6044">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7" y="1145678"/>
            <a:ext cx="7078031"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Probabilistic</a:t>
            </a:r>
            <a:r>
              <a:rPr spc="-34" dirty="0">
                <a:latin typeface="Calibri"/>
                <a:cs typeface="Calibri"/>
              </a:rPr>
              <a:t> </a:t>
            </a:r>
            <a:r>
              <a:rPr spc="-7" dirty="0">
                <a:latin typeface="Calibri"/>
                <a:cs typeface="Calibri"/>
              </a:rPr>
              <a:t>Language</a:t>
            </a:r>
            <a:r>
              <a:rPr spc="-34" dirty="0">
                <a:latin typeface="Calibri"/>
                <a:cs typeface="Calibri"/>
              </a:rPr>
              <a:t> </a:t>
            </a:r>
            <a:r>
              <a:rPr spc="-7" dirty="0">
                <a:latin typeface="Calibri"/>
                <a:cs typeface="Calibri"/>
              </a:rPr>
              <a:t>Models</a:t>
            </a:r>
          </a:p>
        </p:txBody>
      </p:sp>
      <p:sp>
        <p:nvSpPr>
          <p:cNvPr id="7" name="object 7"/>
          <p:cNvSpPr txBox="1"/>
          <p:nvPr/>
        </p:nvSpPr>
        <p:spPr>
          <a:xfrm>
            <a:off x="1576073" y="2150244"/>
            <a:ext cx="9824977" cy="2421960"/>
          </a:xfrm>
          <a:prstGeom prst="rect">
            <a:avLst/>
          </a:prstGeom>
        </p:spPr>
        <p:txBody>
          <a:bodyPr vert="horz" wrap="square" lIns="0" tIns="122125" rIns="0" bIns="0" rtlCol="0">
            <a:spAutoFit/>
          </a:bodyPr>
          <a:lstStyle/>
          <a:p>
            <a:pPr marL="488488" indent="-471042">
              <a:spcBef>
                <a:spcPts val="962"/>
              </a:spcBef>
              <a:buClr>
                <a:srgbClr val="CC0000"/>
              </a:buClr>
              <a:buFont typeface="Times New Roman"/>
              <a:buChar char="•"/>
              <a:tabLst>
                <a:tab pos="487615" algn="l"/>
                <a:tab pos="488488" algn="l"/>
              </a:tabLst>
            </a:pPr>
            <a:r>
              <a:rPr sz="3846" spc="-7" dirty="0">
                <a:latin typeface="Calibri"/>
                <a:cs typeface="Calibri"/>
              </a:rPr>
              <a:t>Today’s</a:t>
            </a:r>
            <a:r>
              <a:rPr sz="3846" dirty="0">
                <a:latin typeface="Calibri"/>
                <a:cs typeface="Calibri"/>
              </a:rPr>
              <a:t> </a:t>
            </a:r>
            <a:r>
              <a:rPr sz="3846" spc="-7" dirty="0">
                <a:latin typeface="Calibri"/>
                <a:cs typeface="Calibri"/>
              </a:rPr>
              <a:t>goal:</a:t>
            </a:r>
            <a:r>
              <a:rPr sz="3846" spc="7" dirty="0">
                <a:latin typeface="Calibri"/>
                <a:cs typeface="Calibri"/>
              </a:rPr>
              <a:t> </a:t>
            </a:r>
            <a:r>
              <a:rPr sz="3846" dirty="0">
                <a:latin typeface="Calibri"/>
                <a:cs typeface="Calibri"/>
              </a:rPr>
              <a:t>assign</a:t>
            </a:r>
            <a:r>
              <a:rPr sz="3846" spc="7" dirty="0">
                <a:latin typeface="Calibri"/>
                <a:cs typeface="Calibri"/>
              </a:rPr>
              <a:t> </a:t>
            </a:r>
            <a:r>
              <a:rPr sz="3846" dirty="0">
                <a:latin typeface="Calibri"/>
                <a:cs typeface="Calibri"/>
              </a:rPr>
              <a:t>a </a:t>
            </a:r>
            <a:r>
              <a:rPr sz="3846" spc="-7" dirty="0">
                <a:latin typeface="Calibri"/>
                <a:cs typeface="Calibri"/>
              </a:rPr>
              <a:t>probability</a:t>
            </a:r>
            <a:r>
              <a:rPr sz="3846" dirty="0">
                <a:latin typeface="Calibri"/>
                <a:cs typeface="Calibri"/>
              </a:rPr>
              <a:t> to</a:t>
            </a:r>
            <a:r>
              <a:rPr sz="3846" spc="7" dirty="0">
                <a:latin typeface="Calibri"/>
                <a:cs typeface="Calibri"/>
              </a:rPr>
              <a:t> </a:t>
            </a:r>
            <a:r>
              <a:rPr sz="3846" dirty="0">
                <a:latin typeface="Calibri"/>
                <a:cs typeface="Calibri"/>
              </a:rPr>
              <a:t>a </a:t>
            </a:r>
            <a:r>
              <a:rPr sz="3846" spc="-7" dirty="0">
                <a:latin typeface="Calibri"/>
                <a:cs typeface="Calibri"/>
              </a:rPr>
              <a:t>sentence</a:t>
            </a:r>
            <a:endParaRPr sz="3846">
              <a:latin typeface="Calibri"/>
              <a:cs typeface="Calibri"/>
            </a:endParaRPr>
          </a:p>
          <a:p>
            <a:pPr marL="1901613" lvl="1" indent="-314900">
              <a:spcBef>
                <a:spcPts val="707"/>
              </a:spcBef>
              <a:buFont typeface="Times New Roman"/>
              <a:buChar char="•"/>
              <a:tabLst>
                <a:tab pos="1901613" algn="l"/>
              </a:tabLst>
            </a:pPr>
            <a:r>
              <a:rPr sz="3297" spc="-7" dirty="0">
                <a:latin typeface="Calibri"/>
                <a:cs typeface="Calibri"/>
              </a:rPr>
              <a:t>Machine</a:t>
            </a:r>
            <a:r>
              <a:rPr sz="3297" spc="-27" dirty="0">
                <a:latin typeface="Calibri"/>
                <a:cs typeface="Calibri"/>
              </a:rPr>
              <a:t> </a:t>
            </a:r>
            <a:r>
              <a:rPr sz="3297" spc="-7" dirty="0">
                <a:latin typeface="Calibri"/>
                <a:cs typeface="Calibri"/>
              </a:rPr>
              <a:t>Translation:</a:t>
            </a:r>
            <a:endParaRPr sz="3297">
              <a:latin typeface="Calibri"/>
              <a:cs typeface="Calibri"/>
            </a:endParaRPr>
          </a:p>
          <a:p>
            <a:pPr marL="2372655" lvl="2" indent="-314900">
              <a:spcBef>
                <a:spcPts val="721"/>
              </a:spcBef>
              <a:buClr>
                <a:srgbClr val="CC0000"/>
              </a:buClr>
              <a:buFont typeface="Times New Roman"/>
              <a:buChar char="•"/>
              <a:tabLst>
                <a:tab pos="2371781" algn="l"/>
                <a:tab pos="2372655" algn="l"/>
              </a:tabLst>
            </a:pPr>
            <a:r>
              <a:rPr sz="2747" dirty="0">
                <a:latin typeface="Calibri"/>
                <a:cs typeface="Calibri"/>
              </a:rPr>
              <a:t>P(</a:t>
            </a:r>
            <a:r>
              <a:rPr sz="2747" b="1" dirty="0">
                <a:latin typeface="Calibri"/>
                <a:cs typeface="Calibri"/>
              </a:rPr>
              <a:t>high</a:t>
            </a:r>
            <a:r>
              <a:rPr sz="2747" b="1" spc="-14" dirty="0">
                <a:latin typeface="Calibri"/>
                <a:cs typeface="Calibri"/>
              </a:rPr>
              <a:t> </a:t>
            </a:r>
            <a:r>
              <a:rPr sz="2747" spc="-7" dirty="0">
                <a:latin typeface="Calibri"/>
                <a:cs typeface="Calibri"/>
              </a:rPr>
              <a:t>winds</a:t>
            </a:r>
            <a:r>
              <a:rPr sz="2747" spc="-14" dirty="0">
                <a:latin typeface="Calibri"/>
                <a:cs typeface="Calibri"/>
              </a:rPr>
              <a:t> </a:t>
            </a:r>
            <a:r>
              <a:rPr sz="2747" spc="-7" dirty="0">
                <a:latin typeface="Calibri"/>
                <a:cs typeface="Calibri"/>
              </a:rPr>
              <a:t>tonite)</a:t>
            </a:r>
            <a:r>
              <a:rPr sz="2747" dirty="0">
                <a:latin typeface="Calibri"/>
                <a:cs typeface="Calibri"/>
              </a:rPr>
              <a:t> &gt;</a:t>
            </a:r>
            <a:r>
              <a:rPr sz="2747" spc="-14" dirty="0">
                <a:latin typeface="Calibri"/>
                <a:cs typeface="Calibri"/>
              </a:rPr>
              <a:t> </a:t>
            </a:r>
            <a:r>
              <a:rPr sz="2747" dirty="0">
                <a:latin typeface="Calibri"/>
                <a:cs typeface="Calibri"/>
              </a:rPr>
              <a:t>P(</a:t>
            </a:r>
            <a:r>
              <a:rPr sz="2747" b="1" dirty="0">
                <a:latin typeface="Calibri"/>
                <a:cs typeface="Calibri"/>
              </a:rPr>
              <a:t>large</a:t>
            </a:r>
            <a:r>
              <a:rPr sz="2747" b="1" spc="-7" dirty="0">
                <a:latin typeface="Calibri"/>
                <a:cs typeface="Calibri"/>
              </a:rPr>
              <a:t> </a:t>
            </a:r>
            <a:r>
              <a:rPr sz="2747" dirty="0">
                <a:latin typeface="Calibri"/>
                <a:cs typeface="Calibri"/>
              </a:rPr>
              <a:t>winds</a:t>
            </a:r>
            <a:r>
              <a:rPr sz="2747" spc="-14" dirty="0">
                <a:latin typeface="Calibri"/>
                <a:cs typeface="Calibri"/>
              </a:rPr>
              <a:t> </a:t>
            </a:r>
            <a:r>
              <a:rPr sz="2747" spc="-7" dirty="0">
                <a:latin typeface="Calibri"/>
                <a:cs typeface="Calibri"/>
              </a:rPr>
              <a:t>tonite)</a:t>
            </a:r>
            <a:endParaRPr sz="2747">
              <a:latin typeface="Calibri"/>
              <a:cs typeface="Calibri"/>
            </a:endParaRPr>
          </a:p>
          <a:p>
            <a:pPr marL="1901613" lvl="1" indent="-314900">
              <a:spcBef>
                <a:spcPts val="680"/>
              </a:spcBef>
              <a:buFont typeface="Times New Roman"/>
              <a:buChar char="•"/>
              <a:tabLst>
                <a:tab pos="1901613" algn="l"/>
              </a:tabLst>
            </a:pPr>
            <a:r>
              <a:rPr sz="3297" spc="-7" dirty="0">
                <a:latin typeface="Calibri"/>
                <a:cs typeface="Calibri"/>
              </a:rPr>
              <a:t>Spell</a:t>
            </a:r>
            <a:r>
              <a:rPr sz="3297" spc="-48" dirty="0">
                <a:latin typeface="Calibri"/>
                <a:cs typeface="Calibri"/>
              </a:rPr>
              <a:t> </a:t>
            </a:r>
            <a:r>
              <a:rPr sz="3297" spc="-7" dirty="0">
                <a:latin typeface="Calibri"/>
                <a:cs typeface="Calibri"/>
              </a:rPr>
              <a:t>Correction</a:t>
            </a:r>
            <a:endParaRPr sz="3297">
              <a:latin typeface="Calibri"/>
              <a:cs typeface="Calibri"/>
            </a:endParaRPr>
          </a:p>
        </p:txBody>
      </p:sp>
      <p:sp>
        <p:nvSpPr>
          <p:cNvPr id="8" name="object 8"/>
          <p:cNvSpPr txBox="1"/>
          <p:nvPr/>
        </p:nvSpPr>
        <p:spPr>
          <a:xfrm>
            <a:off x="3146254" y="4536881"/>
            <a:ext cx="9421091" cy="2705580"/>
          </a:xfrm>
          <a:prstGeom prst="rect">
            <a:avLst/>
          </a:prstGeom>
        </p:spPr>
        <p:txBody>
          <a:bodyPr vert="horz" wrap="square" lIns="0" tIns="104679" rIns="0" bIns="0" rtlCol="0">
            <a:spAutoFit/>
          </a:bodyPr>
          <a:lstStyle/>
          <a:p>
            <a:pPr marL="802516" indent="-314028">
              <a:spcBef>
                <a:spcPts val="824"/>
              </a:spcBef>
              <a:buClr>
                <a:srgbClr val="CC0000"/>
              </a:buClr>
              <a:buFont typeface="Times New Roman"/>
              <a:buChar char="•"/>
              <a:tabLst>
                <a:tab pos="801643" algn="l"/>
                <a:tab pos="802516" algn="l"/>
              </a:tabLst>
            </a:pPr>
            <a:r>
              <a:rPr sz="2747" dirty="0">
                <a:latin typeface="Calibri"/>
                <a:cs typeface="Calibri"/>
              </a:rPr>
              <a:t>The</a:t>
            </a:r>
            <a:r>
              <a:rPr sz="2747" spc="-7" dirty="0">
                <a:latin typeface="Calibri"/>
                <a:cs typeface="Calibri"/>
              </a:rPr>
              <a:t> </a:t>
            </a:r>
            <a:r>
              <a:rPr sz="2747" spc="-21" dirty="0">
                <a:latin typeface="Calibri"/>
                <a:cs typeface="Calibri"/>
              </a:rPr>
              <a:t>office</a:t>
            </a:r>
            <a:r>
              <a:rPr sz="2747" spc="-7" dirty="0">
                <a:latin typeface="Calibri"/>
                <a:cs typeface="Calibri"/>
              </a:rPr>
              <a:t> </a:t>
            </a:r>
            <a:r>
              <a:rPr sz="2747" dirty="0">
                <a:latin typeface="Calibri"/>
                <a:cs typeface="Calibri"/>
              </a:rPr>
              <a:t>is </a:t>
            </a:r>
            <a:r>
              <a:rPr sz="2747" spc="-7" dirty="0">
                <a:latin typeface="Calibri"/>
                <a:cs typeface="Calibri"/>
              </a:rPr>
              <a:t>about </a:t>
            </a:r>
            <a:r>
              <a:rPr sz="2747" spc="-14" dirty="0">
                <a:latin typeface="Calibri"/>
                <a:cs typeface="Calibri"/>
              </a:rPr>
              <a:t>fifteen </a:t>
            </a:r>
            <a:r>
              <a:rPr sz="2747" b="1" spc="-7" dirty="0">
                <a:latin typeface="Calibri"/>
                <a:cs typeface="Calibri"/>
              </a:rPr>
              <a:t>minuets</a:t>
            </a:r>
            <a:r>
              <a:rPr sz="2747" b="1" dirty="0">
                <a:latin typeface="Calibri"/>
                <a:cs typeface="Calibri"/>
              </a:rPr>
              <a:t> </a:t>
            </a:r>
            <a:r>
              <a:rPr sz="2747" spc="-7" dirty="0">
                <a:latin typeface="Calibri"/>
                <a:cs typeface="Calibri"/>
              </a:rPr>
              <a:t>from</a:t>
            </a:r>
            <a:r>
              <a:rPr sz="2747" spc="-14" dirty="0">
                <a:latin typeface="Calibri"/>
                <a:cs typeface="Calibri"/>
              </a:rPr>
              <a:t> </a:t>
            </a:r>
            <a:r>
              <a:rPr sz="2747" dirty="0">
                <a:latin typeface="Calibri"/>
                <a:cs typeface="Calibri"/>
              </a:rPr>
              <a:t>my</a:t>
            </a:r>
            <a:r>
              <a:rPr sz="2747" spc="-7" dirty="0">
                <a:latin typeface="Calibri"/>
                <a:cs typeface="Calibri"/>
              </a:rPr>
              <a:t> house</a:t>
            </a:r>
            <a:endParaRPr sz="2747">
              <a:latin typeface="Calibri"/>
              <a:cs typeface="Calibri"/>
            </a:endParaRPr>
          </a:p>
          <a:p>
            <a:pPr marL="1430571" lvl="1" indent="-314028">
              <a:spcBef>
                <a:spcPts val="625"/>
              </a:spcBef>
              <a:buClr>
                <a:srgbClr val="CC0000"/>
              </a:buClr>
              <a:buFont typeface="Times New Roman"/>
              <a:buChar char="•"/>
              <a:tabLst>
                <a:tab pos="1429699" algn="l"/>
                <a:tab pos="1430571" algn="l"/>
              </a:tabLst>
            </a:pPr>
            <a:r>
              <a:rPr sz="2473" spc="-7" dirty="0">
                <a:latin typeface="Calibri"/>
                <a:cs typeface="Calibri"/>
              </a:rPr>
              <a:t>P(about</a:t>
            </a:r>
            <a:r>
              <a:rPr sz="2473" dirty="0">
                <a:latin typeface="Calibri"/>
                <a:cs typeface="Calibri"/>
              </a:rPr>
              <a:t> </a:t>
            </a:r>
            <a:r>
              <a:rPr sz="2473" spc="-14" dirty="0">
                <a:latin typeface="Calibri"/>
                <a:cs typeface="Calibri"/>
              </a:rPr>
              <a:t>fifteen</a:t>
            </a:r>
            <a:r>
              <a:rPr sz="2473" dirty="0">
                <a:latin typeface="Calibri"/>
                <a:cs typeface="Calibri"/>
              </a:rPr>
              <a:t> </a:t>
            </a:r>
            <a:r>
              <a:rPr sz="2473" b="1" spc="-7" dirty="0">
                <a:latin typeface="Calibri"/>
                <a:cs typeface="Calibri"/>
              </a:rPr>
              <a:t>minutes</a:t>
            </a:r>
            <a:r>
              <a:rPr sz="2473" b="1" spc="7" dirty="0">
                <a:latin typeface="Calibri"/>
                <a:cs typeface="Calibri"/>
              </a:rPr>
              <a:t> </a:t>
            </a:r>
            <a:r>
              <a:rPr sz="2473" spc="-7" dirty="0">
                <a:latin typeface="Calibri"/>
                <a:cs typeface="Calibri"/>
              </a:rPr>
              <a:t>from)</a:t>
            </a:r>
            <a:r>
              <a:rPr sz="2473" spc="7" dirty="0">
                <a:latin typeface="Calibri"/>
                <a:cs typeface="Calibri"/>
              </a:rPr>
              <a:t> </a:t>
            </a:r>
            <a:r>
              <a:rPr sz="2473" dirty="0">
                <a:latin typeface="Calibri"/>
                <a:cs typeface="Calibri"/>
              </a:rPr>
              <a:t>&gt;</a:t>
            </a:r>
            <a:r>
              <a:rPr sz="2473" spc="-7" dirty="0">
                <a:latin typeface="Calibri"/>
                <a:cs typeface="Calibri"/>
              </a:rPr>
              <a:t> P(about</a:t>
            </a:r>
            <a:r>
              <a:rPr sz="2473" spc="7" dirty="0">
                <a:latin typeface="Calibri"/>
                <a:cs typeface="Calibri"/>
              </a:rPr>
              <a:t> </a:t>
            </a:r>
            <a:r>
              <a:rPr sz="2473" spc="-14" dirty="0">
                <a:latin typeface="Calibri"/>
                <a:cs typeface="Calibri"/>
              </a:rPr>
              <a:t>fifteen</a:t>
            </a:r>
            <a:r>
              <a:rPr sz="2473" dirty="0">
                <a:latin typeface="Calibri"/>
                <a:cs typeface="Calibri"/>
              </a:rPr>
              <a:t> </a:t>
            </a:r>
            <a:r>
              <a:rPr sz="2473" b="1" spc="-7" dirty="0">
                <a:latin typeface="Calibri"/>
                <a:cs typeface="Calibri"/>
              </a:rPr>
              <a:t>minuets</a:t>
            </a:r>
            <a:r>
              <a:rPr sz="2473" b="1" spc="7" dirty="0">
                <a:latin typeface="Calibri"/>
                <a:cs typeface="Calibri"/>
              </a:rPr>
              <a:t> </a:t>
            </a:r>
            <a:r>
              <a:rPr sz="2473" spc="-7" dirty="0">
                <a:latin typeface="Calibri"/>
                <a:cs typeface="Calibri"/>
              </a:rPr>
              <a:t>from)</a:t>
            </a:r>
            <a:endParaRPr sz="2473">
              <a:latin typeface="Calibri"/>
              <a:cs typeface="Calibri"/>
            </a:endParaRPr>
          </a:p>
          <a:p>
            <a:pPr marL="331474" indent="-314028">
              <a:spcBef>
                <a:spcPts val="797"/>
              </a:spcBef>
              <a:buFont typeface="Times New Roman"/>
              <a:buChar char="•"/>
              <a:tabLst>
                <a:tab pos="331474" algn="l"/>
              </a:tabLst>
            </a:pPr>
            <a:r>
              <a:rPr sz="3297" dirty="0">
                <a:latin typeface="Calibri"/>
                <a:cs typeface="Calibri"/>
              </a:rPr>
              <a:t>Speech</a:t>
            </a:r>
            <a:r>
              <a:rPr sz="3297" spc="-48" dirty="0">
                <a:latin typeface="Calibri"/>
                <a:cs typeface="Calibri"/>
              </a:rPr>
              <a:t> </a:t>
            </a:r>
            <a:r>
              <a:rPr sz="3297" spc="-7" dirty="0">
                <a:latin typeface="Calibri"/>
                <a:cs typeface="Calibri"/>
              </a:rPr>
              <a:t>Recognition</a:t>
            </a:r>
            <a:endParaRPr sz="3297">
              <a:latin typeface="Calibri"/>
              <a:cs typeface="Calibri"/>
            </a:endParaRPr>
          </a:p>
          <a:p>
            <a:pPr marL="802516" lvl="1" indent="-314028">
              <a:spcBef>
                <a:spcPts val="584"/>
              </a:spcBef>
              <a:buClr>
                <a:srgbClr val="CC0000"/>
              </a:buClr>
              <a:buFont typeface="Times New Roman"/>
              <a:buChar char="•"/>
              <a:tabLst>
                <a:tab pos="801643" algn="l"/>
                <a:tab pos="802516" algn="l"/>
              </a:tabLst>
            </a:pPr>
            <a:r>
              <a:rPr sz="2747" dirty="0">
                <a:latin typeface="Calibri"/>
                <a:cs typeface="Calibri"/>
              </a:rPr>
              <a:t>P(I</a:t>
            </a:r>
            <a:r>
              <a:rPr sz="2747" spc="-14" dirty="0">
                <a:latin typeface="Calibri"/>
                <a:cs typeface="Calibri"/>
              </a:rPr>
              <a:t> </a:t>
            </a:r>
            <a:r>
              <a:rPr sz="2747" dirty="0">
                <a:latin typeface="Calibri"/>
                <a:cs typeface="Calibri"/>
              </a:rPr>
              <a:t>saw</a:t>
            </a:r>
            <a:r>
              <a:rPr sz="2747" spc="-14" dirty="0">
                <a:latin typeface="Calibri"/>
                <a:cs typeface="Calibri"/>
              </a:rPr>
              <a:t> </a:t>
            </a:r>
            <a:r>
              <a:rPr sz="2747" dirty="0">
                <a:latin typeface="Calibri"/>
                <a:cs typeface="Calibri"/>
              </a:rPr>
              <a:t>a</a:t>
            </a:r>
            <a:r>
              <a:rPr sz="2747" spc="-7" dirty="0">
                <a:latin typeface="Calibri"/>
                <a:cs typeface="Calibri"/>
              </a:rPr>
              <a:t> </a:t>
            </a:r>
            <a:r>
              <a:rPr sz="2747" dirty="0">
                <a:latin typeface="Calibri"/>
                <a:cs typeface="Calibri"/>
              </a:rPr>
              <a:t>van)</a:t>
            </a:r>
            <a:r>
              <a:rPr sz="2747" spc="-7" dirty="0">
                <a:latin typeface="Calibri"/>
                <a:cs typeface="Calibri"/>
              </a:rPr>
              <a:t> &gt;&gt;</a:t>
            </a:r>
            <a:r>
              <a:rPr sz="2747" spc="-14" dirty="0">
                <a:latin typeface="Calibri"/>
                <a:cs typeface="Calibri"/>
              </a:rPr>
              <a:t> </a:t>
            </a:r>
            <a:r>
              <a:rPr sz="2747" spc="-7" dirty="0">
                <a:latin typeface="Calibri"/>
                <a:cs typeface="Calibri"/>
              </a:rPr>
              <a:t>P(eyes awe</a:t>
            </a:r>
            <a:r>
              <a:rPr sz="2747" spc="-14" dirty="0">
                <a:latin typeface="Calibri"/>
                <a:cs typeface="Calibri"/>
              </a:rPr>
              <a:t> </a:t>
            </a:r>
            <a:r>
              <a:rPr sz="2747" spc="-7" dirty="0">
                <a:latin typeface="Calibri"/>
                <a:cs typeface="Calibri"/>
              </a:rPr>
              <a:t>of </a:t>
            </a:r>
            <a:r>
              <a:rPr sz="2747" dirty="0">
                <a:latin typeface="Calibri"/>
                <a:cs typeface="Calibri"/>
              </a:rPr>
              <a:t>an)</a:t>
            </a:r>
            <a:endParaRPr sz="2747">
              <a:latin typeface="Calibri"/>
              <a:cs typeface="Calibri"/>
            </a:endParaRPr>
          </a:p>
          <a:p>
            <a:pPr marL="17446">
              <a:spcBef>
                <a:spcPts val="817"/>
              </a:spcBef>
            </a:pPr>
            <a:r>
              <a:rPr sz="3297" dirty="0">
                <a:latin typeface="Times New Roman"/>
                <a:cs typeface="Times New Roman"/>
              </a:rPr>
              <a:t>•</a:t>
            </a:r>
            <a:r>
              <a:rPr sz="3297" spc="495" dirty="0">
                <a:latin typeface="Times New Roman"/>
                <a:cs typeface="Times New Roman"/>
              </a:rPr>
              <a:t> </a:t>
            </a:r>
            <a:r>
              <a:rPr sz="3297" dirty="0">
                <a:latin typeface="Calibri"/>
                <a:cs typeface="Calibri"/>
              </a:rPr>
              <a:t>+ </a:t>
            </a:r>
            <a:r>
              <a:rPr sz="3297" spc="-7" dirty="0">
                <a:latin typeface="Calibri"/>
                <a:cs typeface="Calibri"/>
              </a:rPr>
              <a:t>Summarization,</a:t>
            </a:r>
            <a:r>
              <a:rPr sz="3297" spc="7" dirty="0">
                <a:latin typeface="Calibri"/>
                <a:cs typeface="Calibri"/>
              </a:rPr>
              <a:t> </a:t>
            </a:r>
            <a:r>
              <a:rPr sz="3297" spc="-103" dirty="0">
                <a:latin typeface="Calibri"/>
                <a:cs typeface="Calibri"/>
              </a:rPr>
              <a:t>question-­‐answering,</a:t>
            </a:r>
            <a:r>
              <a:rPr sz="3297" spc="7" dirty="0">
                <a:latin typeface="Calibri"/>
                <a:cs typeface="Calibri"/>
              </a:rPr>
              <a:t> </a:t>
            </a:r>
            <a:r>
              <a:rPr sz="3297" spc="-7" dirty="0">
                <a:latin typeface="Calibri"/>
                <a:cs typeface="Calibri"/>
              </a:rPr>
              <a:t>etc.,</a:t>
            </a:r>
            <a:r>
              <a:rPr sz="3297" spc="7" dirty="0">
                <a:latin typeface="Calibri"/>
                <a:cs typeface="Calibri"/>
              </a:rPr>
              <a:t> </a:t>
            </a:r>
            <a:r>
              <a:rPr sz="3297" spc="-7" dirty="0">
                <a:latin typeface="Calibri"/>
                <a:cs typeface="Calibri"/>
              </a:rPr>
              <a:t>etc.!!</a:t>
            </a:r>
            <a:endParaRPr sz="3297">
              <a:latin typeface="Calibri"/>
              <a:cs typeface="Calibri"/>
            </a:endParaRPr>
          </a:p>
        </p:txBody>
      </p:sp>
      <p:sp>
        <p:nvSpPr>
          <p:cNvPr id="9" name="object 9"/>
          <p:cNvSpPr txBox="1"/>
          <p:nvPr/>
        </p:nvSpPr>
        <p:spPr>
          <a:xfrm>
            <a:off x="1154955" y="4244169"/>
            <a:ext cx="1174147" cy="609445"/>
          </a:xfrm>
          <a:prstGeom prst="rect">
            <a:avLst/>
          </a:prstGeom>
        </p:spPr>
        <p:txBody>
          <a:bodyPr vert="horz" wrap="square" lIns="0" tIns="17446" rIns="0" bIns="0" rtlCol="0">
            <a:spAutoFit/>
          </a:bodyPr>
          <a:lstStyle/>
          <a:p>
            <a:pPr marL="17446">
              <a:spcBef>
                <a:spcPts val="137"/>
              </a:spcBef>
            </a:pPr>
            <a:r>
              <a:rPr sz="3846" spc="-7" dirty="0">
                <a:latin typeface="Calibri"/>
                <a:cs typeface="Calibri"/>
              </a:rPr>
              <a:t>W</a:t>
            </a:r>
            <a:r>
              <a:rPr sz="3846" dirty="0">
                <a:latin typeface="Calibri"/>
                <a:cs typeface="Calibri"/>
              </a:rPr>
              <a:t>h</a:t>
            </a:r>
            <a:r>
              <a:rPr sz="3846" spc="-7" dirty="0">
                <a:latin typeface="Calibri"/>
                <a:cs typeface="Calibri"/>
              </a:rPr>
              <a:t>y?</a:t>
            </a:r>
            <a:endParaRPr sz="3846">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7556936"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Probabilistic</a:t>
            </a:r>
            <a:r>
              <a:rPr spc="-34" dirty="0">
                <a:latin typeface="Calibri"/>
                <a:cs typeface="Calibri"/>
              </a:rPr>
              <a:t> </a:t>
            </a:r>
            <a:r>
              <a:rPr spc="-7" dirty="0">
                <a:latin typeface="Calibri"/>
                <a:cs typeface="Calibri"/>
              </a:rPr>
              <a:t>Language</a:t>
            </a:r>
            <a:r>
              <a:rPr spc="-27" dirty="0">
                <a:latin typeface="Calibri"/>
                <a:cs typeface="Calibri"/>
              </a:rPr>
              <a:t> </a:t>
            </a:r>
            <a:r>
              <a:rPr spc="-7" dirty="0">
                <a:latin typeface="Calibri"/>
                <a:cs typeface="Calibri"/>
              </a:rPr>
              <a:t>Modeling</a:t>
            </a:r>
          </a:p>
        </p:txBody>
      </p:sp>
      <p:sp>
        <p:nvSpPr>
          <p:cNvPr id="7" name="object 7"/>
          <p:cNvSpPr txBox="1"/>
          <p:nvPr/>
        </p:nvSpPr>
        <p:spPr>
          <a:xfrm>
            <a:off x="1137509" y="2150593"/>
            <a:ext cx="9844168" cy="3806192"/>
          </a:xfrm>
          <a:prstGeom prst="rect">
            <a:avLst/>
          </a:prstGeom>
        </p:spPr>
        <p:txBody>
          <a:bodyPr vert="horz" wrap="square" lIns="0" tIns="45361" rIns="0" bIns="0" rtlCol="0">
            <a:spAutoFit/>
          </a:bodyPr>
          <a:lstStyle/>
          <a:p>
            <a:pPr marL="505934" marR="47976" indent="-471042">
              <a:lnSpc>
                <a:spcPts val="4533"/>
              </a:lnSpc>
              <a:spcBef>
                <a:spcPts val="357"/>
              </a:spcBef>
              <a:buClr>
                <a:srgbClr val="CC0000"/>
              </a:buClr>
              <a:buFont typeface="Times New Roman"/>
              <a:buChar char="•"/>
              <a:tabLst>
                <a:tab pos="505061" algn="l"/>
                <a:tab pos="505934" algn="l"/>
              </a:tabLst>
            </a:pPr>
            <a:r>
              <a:rPr sz="3846" spc="-7" dirty="0">
                <a:latin typeface="Calibri"/>
                <a:cs typeface="Calibri"/>
              </a:rPr>
              <a:t>Goal:</a:t>
            </a:r>
            <a:r>
              <a:rPr sz="3846" dirty="0">
                <a:latin typeface="Calibri"/>
                <a:cs typeface="Calibri"/>
              </a:rPr>
              <a:t> </a:t>
            </a:r>
            <a:r>
              <a:rPr sz="3846" spc="-7" dirty="0">
                <a:latin typeface="Calibri"/>
                <a:cs typeface="Calibri"/>
              </a:rPr>
              <a:t>compute</a:t>
            </a:r>
            <a:r>
              <a:rPr sz="3846" dirty="0">
                <a:latin typeface="Calibri"/>
                <a:cs typeface="Calibri"/>
              </a:rPr>
              <a:t> the</a:t>
            </a:r>
            <a:r>
              <a:rPr sz="3846" spc="7" dirty="0">
                <a:latin typeface="Calibri"/>
                <a:cs typeface="Calibri"/>
              </a:rPr>
              <a:t> </a:t>
            </a:r>
            <a:r>
              <a:rPr sz="3846" spc="-7" dirty="0">
                <a:latin typeface="Calibri"/>
                <a:cs typeface="Calibri"/>
              </a:rPr>
              <a:t>probability</a:t>
            </a:r>
            <a:r>
              <a:rPr sz="3846" dirty="0">
                <a:latin typeface="Calibri"/>
                <a:cs typeface="Calibri"/>
              </a:rPr>
              <a:t> </a:t>
            </a:r>
            <a:r>
              <a:rPr sz="3846" spc="-7" dirty="0">
                <a:latin typeface="Calibri"/>
                <a:cs typeface="Calibri"/>
              </a:rPr>
              <a:t>of</a:t>
            </a:r>
            <a:r>
              <a:rPr sz="3846" spc="7" dirty="0">
                <a:latin typeface="Calibri"/>
                <a:cs typeface="Calibri"/>
              </a:rPr>
              <a:t> </a:t>
            </a:r>
            <a:r>
              <a:rPr sz="3846" dirty="0">
                <a:latin typeface="Calibri"/>
                <a:cs typeface="Calibri"/>
              </a:rPr>
              <a:t>a</a:t>
            </a:r>
            <a:r>
              <a:rPr sz="3846" spc="7" dirty="0">
                <a:latin typeface="Calibri"/>
                <a:cs typeface="Calibri"/>
              </a:rPr>
              <a:t> </a:t>
            </a:r>
            <a:r>
              <a:rPr sz="3846" spc="-7" dirty="0">
                <a:latin typeface="Calibri"/>
                <a:cs typeface="Calibri"/>
              </a:rPr>
              <a:t>sentence</a:t>
            </a:r>
            <a:r>
              <a:rPr sz="3846" spc="7" dirty="0">
                <a:latin typeface="Calibri"/>
                <a:cs typeface="Calibri"/>
              </a:rPr>
              <a:t> </a:t>
            </a:r>
            <a:r>
              <a:rPr sz="3846" spc="-7" dirty="0">
                <a:latin typeface="Calibri"/>
                <a:cs typeface="Calibri"/>
              </a:rPr>
              <a:t>or </a:t>
            </a:r>
            <a:r>
              <a:rPr sz="3846" spc="-845" dirty="0">
                <a:latin typeface="Calibri"/>
                <a:cs typeface="Calibri"/>
              </a:rPr>
              <a:t> </a:t>
            </a:r>
            <a:r>
              <a:rPr sz="3846" spc="-7" dirty="0">
                <a:latin typeface="Calibri"/>
                <a:cs typeface="Calibri"/>
              </a:rPr>
              <a:t>sequence</a:t>
            </a:r>
            <a:r>
              <a:rPr sz="3846" spc="-14" dirty="0">
                <a:latin typeface="Calibri"/>
                <a:cs typeface="Calibri"/>
              </a:rPr>
              <a:t> </a:t>
            </a:r>
            <a:r>
              <a:rPr sz="3846" spc="-7" dirty="0">
                <a:latin typeface="Calibri"/>
                <a:cs typeface="Calibri"/>
              </a:rPr>
              <a:t>of words:</a:t>
            </a:r>
            <a:endParaRPr sz="3846">
              <a:latin typeface="Calibri"/>
              <a:cs typeface="Calibri"/>
            </a:endParaRPr>
          </a:p>
          <a:p>
            <a:pPr marL="1215113">
              <a:spcBef>
                <a:spcPts val="1937"/>
              </a:spcBef>
            </a:pPr>
            <a:r>
              <a:rPr sz="2747" spc="-7" dirty="0">
                <a:latin typeface="Calibri"/>
                <a:cs typeface="Calibri"/>
              </a:rPr>
              <a:t>P(W)</a:t>
            </a:r>
            <a:r>
              <a:rPr sz="2747" spc="-34" dirty="0">
                <a:latin typeface="Calibri"/>
                <a:cs typeface="Calibri"/>
              </a:rPr>
              <a:t> </a:t>
            </a:r>
            <a:r>
              <a:rPr sz="2747" dirty="0">
                <a:latin typeface="Calibri"/>
                <a:cs typeface="Calibri"/>
              </a:rPr>
              <a:t>=</a:t>
            </a:r>
            <a:r>
              <a:rPr sz="2747" spc="-41" dirty="0">
                <a:latin typeface="Calibri"/>
                <a:cs typeface="Calibri"/>
              </a:rPr>
              <a:t> </a:t>
            </a:r>
            <a:r>
              <a:rPr sz="2747" spc="7" dirty="0">
                <a:latin typeface="Calibri"/>
                <a:cs typeface="Calibri"/>
              </a:rPr>
              <a:t>P(w</a:t>
            </a:r>
            <a:r>
              <a:rPr sz="2679" spc="10" baseline="-21367" dirty="0">
                <a:latin typeface="Calibri"/>
                <a:cs typeface="Calibri"/>
              </a:rPr>
              <a:t>1</a:t>
            </a:r>
            <a:r>
              <a:rPr sz="2747" spc="7" dirty="0">
                <a:latin typeface="Calibri"/>
                <a:cs typeface="Calibri"/>
              </a:rPr>
              <a:t>,w</a:t>
            </a:r>
            <a:r>
              <a:rPr sz="2679" spc="10" baseline="-21367" dirty="0">
                <a:latin typeface="Calibri"/>
                <a:cs typeface="Calibri"/>
              </a:rPr>
              <a:t>2</a:t>
            </a:r>
            <a:r>
              <a:rPr sz="2747" spc="7" dirty="0">
                <a:latin typeface="Calibri"/>
                <a:cs typeface="Calibri"/>
              </a:rPr>
              <a:t>,w</a:t>
            </a:r>
            <a:r>
              <a:rPr sz="2679" spc="10" baseline="-21367" dirty="0">
                <a:latin typeface="Calibri"/>
                <a:cs typeface="Calibri"/>
              </a:rPr>
              <a:t>3</a:t>
            </a:r>
            <a:r>
              <a:rPr sz="2747" spc="7" dirty="0">
                <a:latin typeface="Calibri"/>
                <a:cs typeface="Calibri"/>
              </a:rPr>
              <a:t>,w</a:t>
            </a:r>
            <a:r>
              <a:rPr sz="2679" spc="10" baseline="-21367" dirty="0">
                <a:latin typeface="Calibri"/>
                <a:cs typeface="Calibri"/>
              </a:rPr>
              <a:t>4</a:t>
            </a:r>
            <a:r>
              <a:rPr sz="2747" spc="7" dirty="0">
                <a:latin typeface="Calibri"/>
                <a:cs typeface="Calibri"/>
              </a:rPr>
              <a:t>,w</a:t>
            </a:r>
            <a:r>
              <a:rPr sz="2679" spc="10" baseline="-21367" dirty="0">
                <a:latin typeface="Calibri"/>
                <a:cs typeface="Calibri"/>
              </a:rPr>
              <a:t>5</a:t>
            </a:r>
            <a:r>
              <a:rPr sz="2747" spc="7" dirty="0">
                <a:latin typeface="Calibri"/>
                <a:cs typeface="Calibri"/>
              </a:rPr>
              <a:t>…w</a:t>
            </a:r>
            <a:r>
              <a:rPr sz="2679" spc="10" baseline="-21367" dirty="0">
                <a:latin typeface="Calibri"/>
                <a:cs typeface="Calibri"/>
              </a:rPr>
              <a:t>n</a:t>
            </a:r>
            <a:r>
              <a:rPr sz="2747" spc="7" dirty="0">
                <a:latin typeface="Calibri"/>
                <a:cs typeface="Calibri"/>
              </a:rPr>
              <a:t>)</a:t>
            </a:r>
            <a:endParaRPr sz="2747">
              <a:latin typeface="Calibri"/>
              <a:cs typeface="Calibri"/>
            </a:endParaRPr>
          </a:p>
          <a:p>
            <a:pPr marL="505934" indent="-471042">
              <a:spcBef>
                <a:spcPts val="1099"/>
              </a:spcBef>
              <a:buClr>
                <a:srgbClr val="CC0000"/>
              </a:buClr>
              <a:buFont typeface="Times New Roman"/>
              <a:buChar char="•"/>
              <a:tabLst>
                <a:tab pos="505061" algn="l"/>
                <a:tab pos="505934" algn="l"/>
              </a:tabLst>
            </a:pPr>
            <a:r>
              <a:rPr sz="3846" spc="-7" dirty="0">
                <a:latin typeface="Calibri"/>
                <a:cs typeface="Calibri"/>
              </a:rPr>
              <a:t>Related</a:t>
            </a:r>
            <a:r>
              <a:rPr sz="3846" dirty="0">
                <a:latin typeface="Calibri"/>
                <a:cs typeface="Calibri"/>
              </a:rPr>
              <a:t> task: </a:t>
            </a:r>
            <a:r>
              <a:rPr sz="3846" spc="-7" dirty="0">
                <a:latin typeface="Calibri"/>
                <a:cs typeface="Calibri"/>
              </a:rPr>
              <a:t>probability</a:t>
            </a:r>
            <a:r>
              <a:rPr sz="3846" dirty="0">
                <a:latin typeface="Calibri"/>
                <a:cs typeface="Calibri"/>
              </a:rPr>
              <a:t> </a:t>
            </a:r>
            <a:r>
              <a:rPr sz="3846" spc="-7" dirty="0">
                <a:latin typeface="Calibri"/>
                <a:cs typeface="Calibri"/>
              </a:rPr>
              <a:t>of</a:t>
            </a:r>
            <a:r>
              <a:rPr sz="3846" dirty="0">
                <a:latin typeface="Calibri"/>
                <a:cs typeface="Calibri"/>
              </a:rPr>
              <a:t> an</a:t>
            </a:r>
            <a:r>
              <a:rPr sz="3846" spc="7" dirty="0">
                <a:latin typeface="Calibri"/>
                <a:cs typeface="Calibri"/>
              </a:rPr>
              <a:t> </a:t>
            </a:r>
            <a:r>
              <a:rPr sz="3846" spc="-7" dirty="0">
                <a:latin typeface="Calibri"/>
                <a:cs typeface="Calibri"/>
              </a:rPr>
              <a:t>upcoming</a:t>
            </a:r>
            <a:r>
              <a:rPr sz="3846" dirty="0">
                <a:latin typeface="Calibri"/>
                <a:cs typeface="Calibri"/>
              </a:rPr>
              <a:t> </a:t>
            </a:r>
            <a:r>
              <a:rPr sz="3846" spc="-7" dirty="0">
                <a:latin typeface="Calibri"/>
                <a:cs typeface="Calibri"/>
              </a:rPr>
              <a:t>word:</a:t>
            </a:r>
            <a:endParaRPr sz="3846">
              <a:latin typeface="Calibri"/>
              <a:cs typeface="Calibri"/>
            </a:endParaRPr>
          </a:p>
          <a:p>
            <a:pPr marL="1135733">
              <a:spcBef>
                <a:spcPts val="618"/>
              </a:spcBef>
            </a:pPr>
            <a:r>
              <a:rPr sz="2747" dirty="0">
                <a:latin typeface="Calibri"/>
                <a:cs typeface="Calibri"/>
              </a:rPr>
              <a:t>P(w</a:t>
            </a:r>
            <a:r>
              <a:rPr sz="2679" baseline="-21367" dirty="0">
                <a:latin typeface="Calibri"/>
                <a:cs typeface="Calibri"/>
              </a:rPr>
              <a:t>5</a:t>
            </a:r>
            <a:r>
              <a:rPr sz="2747" dirty="0">
                <a:latin typeface="Calibri"/>
                <a:cs typeface="Calibri"/>
              </a:rPr>
              <a:t>|w</a:t>
            </a:r>
            <a:r>
              <a:rPr sz="2679" baseline="-21367" dirty="0">
                <a:latin typeface="Calibri"/>
                <a:cs typeface="Calibri"/>
              </a:rPr>
              <a:t>1</a:t>
            </a:r>
            <a:r>
              <a:rPr sz="2747" dirty="0">
                <a:latin typeface="Calibri"/>
                <a:cs typeface="Calibri"/>
              </a:rPr>
              <a:t>,w</a:t>
            </a:r>
            <a:r>
              <a:rPr sz="2679" baseline="-21367" dirty="0">
                <a:latin typeface="Calibri"/>
                <a:cs typeface="Calibri"/>
              </a:rPr>
              <a:t>2</a:t>
            </a:r>
            <a:r>
              <a:rPr sz="2747" dirty="0">
                <a:latin typeface="Calibri"/>
                <a:cs typeface="Calibri"/>
              </a:rPr>
              <a:t>,w</a:t>
            </a:r>
            <a:r>
              <a:rPr sz="2679" baseline="-21367" dirty="0">
                <a:latin typeface="Calibri"/>
                <a:cs typeface="Calibri"/>
              </a:rPr>
              <a:t>3</a:t>
            </a:r>
            <a:r>
              <a:rPr sz="2747" dirty="0">
                <a:latin typeface="Calibri"/>
                <a:cs typeface="Calibri"/>
              </a:rPr>
              <a:t>,w</a:t>
            </a:r>
            <a:r>
              <a:rPr sz="2679" baseline="-21367" dirty="0">
                <a:latin typeface="Calibri"/>
                <a:cs typeface="Calibri"/>
              </a:rPr>
              <a:t>4</a:t>
            </a:r>
            <a:r>
              <a:rPr sz="2747" dirty="0">
                <a:latin typeface="Calibri"/>
                <a:cs typeface="Calibri"/>
              </a:rPr>
              <a:t>)</a:t>
            </a:r>
            <a:endParaRPr sz="2747">
              <a:latin typeface="Calibri"/>
              <a:cs typeface="Calibri"/>
            </a:endParaRPr>
          </a:p>
          <a:p>
            <a:pPr marL="505934" indent="-471042">
              <a:spcBef>
                <a:spcPts val="948"/>
              </a:spcBef>
              <a:buClr>
                <a:srgbClr val="CC0000"/>
              </a:buClr>
              <a:buFont typeface="Times New Roman"/>
              <a:buChar char="•"/>
              <a:tabLst>
                <a:tab pos="505061" algn="l"/>
                <a:tab pos="505934" algn="l"/>
              </a:tabLst>
            </a:pPr>
            <a:r>
              <a:rPr sz="3846" dirty="0">
                <a:latin typeface="Calibri"/>
                <a:cs typeface="Calibri"/>
              </a:rPr>
              <a:t>A</a:t>
            </a:r>
            <a:r>
              <a:rPr sz="3846" spc="-14" dirty="0">
                <a:latin typeface="Calibri"/>
                <a:cs typeface="Calibri"/>
              </a:rPr>
              <a:t> </a:t>
            </a:r>
            <a:r>
              <a:rPr sz="3846" spc="-7" dirty="0">
                <a:latin typeface="Calibri"/>
                <a:cs typeface="Calibri"/>
              </a:rPr>
              <a:t>model </a:t>
            </a:r>
            <a:r>
              <a:rPr sz="3846" dirty="0">
                <a:latin typeface="Calibri"/>
                <a:cs typeface="Calibri"/>
              </a:rPr>
              <a:t>that</a:t>
            </a:r>
            <a:r>
              <a:rPr sz="3846" spc="-14" dirty="0">
                <a:latin typeface="Calibri"/>
                <a:cs typeface="Calibri"/>
              </a:rPr>
              <a:t> </a:t>
            </a:r>
            <a:r>
              <a:rPr sz="3846" spc="-7" dirty="0">
                <a:latin typeface="Calibri"/>
                <a:cs typeface="Calibri"/>
              </a:rPr>
              <a:t>computes </a:t>
            </a:r>
            <a:r>
              <a:rPr sz="3846" dirty="0">
                <a:latin typeface="Calibri"/>
                <a:cs typeface="Calibri"/>
              </a:rPr>
              <a:t>either</a:t>
            </a:r>
            <a:r>
              <a:rPr sz="3846" spc="-14" dirty="0">
                <a:latin typeface="Calibri"/>
                <a:cs typeface="Calibri"/>
              </a:rPr>
              <a:t> </a:t>
            </a:r>
            <a:r>
              <a:rPr sz="3846" spc="-7" dirty="0">
                <a:latin typeface="Calibri"/>
                <a:cs typeface="Calibri"/>
              </a:rPr>
              <a:t>of </a:t>
            </a:r>
            <a:r>
              <a:rPr sz="3846" dirty="0">
                <a:latin typeface="Calibri"/>
                <a:cs typeface="Calibri"/>
              </a:rPr>
              <a:t>these:</a:t>
            </a:r>
            <a:endParaRPr sz="3846">
              <a:latin typeface="Calibri"/>
              <a:cs typeface="Calibri"/>
            </a:endParaRPr>
          </a:p>
        </p:txBody>
      </p:sp>
      <p:sp>
        <p:nvSpPr>
          <p:cNvPr id="8" name="object 8"/>
          <p:cNvSpPr txBox="1"/>
          <p:nvPr/>
        </p:nvSpPr>
        <p:spPr>
          <a:xfrm>
            <a:off x="2537064" y="6089308"/>
            <a:ext cx="4467167" cy="440361"/>
          </a:xfrm>
          <a:prstGeom prst="rect">
            <a:avLst/>
          </a:prstGeom>
        </p:spPr>
        <p:txBody>
          <a:bodyPr vert="horz" wrap="square" lIns="0" tIns="17446" rIns="0" bIns="0" rtlCol="0">
            <a:spAutoFit/>
          </a:bodyPr>
          <a:lstStyle/>
          <a:p>
            <a:pPr marL="52338">
              <a:spcBef>
                <a:spcPts val="137"/>
              </a:spcBef>
              <a:tabLst>
                <a:tab pos="1147946" algn="l"/>
                <a:tab pos="1847530" algn="l"/>
              </a:tabLst>
            </a:pPr>
            <a:r>
              <a:rPr sz="2747" spc="-7" dirty="0">
                <a:latin typeface="Calibri"/>
                <a:cs typeface="Calibri"/>
              </a:rPr>
              <a:t>P(W)	or	</a:t>
            </a:r>
            <a:r>
              <a:rPr sz="2747" spc="-55" dirty="0">
                <a:latin typeface="Calibri"/>
                <a:cs typeface="Calibri"/>
              </a:rPr>
              <a:t>P(w</a:t>
            </a:r>
            <a:r>
              <a:rPr sz="2679" spc="-82" baseline="-21367" dirty="0">
                <a:latin typeface="Calibri"/>
                <a:cs typeface="Calibri"/>
              </a:rPr>
              <a:t>n</a:t>
            </a:r>
            <a:r>
              <a:rPr sz="2747" spc="-55" dirty="0">
                <a:latin typeface="Calibri"/>
                <a:cs typeface="Calibri"/>
              </a:rPr>
              <a:t>|w</a:t>
            </a:r>
            <a:r>
              <a:rPr sz="2679" spc="-82" baseline="-21367" dirty="0">
                <a:latin typeface="Calibri"/>
                <a:cs typeface="Calibri"/>
              </a:rPr>
              <a:t>1</a:t>
            </a:r>
            <a:r>
              <a:rPr sz="2747" spc="-55" dirty="0">
                <a:latin typeface="Calibri"/>
                <a:cs typeface="Calibri"/>
              </a:rPr>
              <a:t>,w</a:t>
            </a:r>
            <a:r>
              <a:rPr sz="2679" spc="-82" baseline="-21367" dirty="0">
                <a:latin typeface="Calibri"/>
                <a:cs typeface="Calibri"/>
              </a:rPr>
              <a:t>2</a:t>
            </a:r>
            <a:r>
              <a:rPr sz="2747" spc="-55" dirty="0">
                <a:latin typeface="Calibri"/>
                <a:cs typeface="Calibri"/>
              </a:rPr>
              <a:t>…w</a:t>
            </a:r>
            <a:r>
              <a:rPr sz="2679" spc="-82" baseline="-21367" dirty="0">
                <a:latin typeface="Calibri"/>
                <a:cs typeface="Calibri"/>
              </a:rPr>
              <a:t>n-­‐1</a:t>
            </a:r>
            <a:r>
              <a:rPr sz="2747" spc="-55" dirty="0">
                <a:latin typeface="Calibri"/>
                <a:cs typeface="Calibri"/>
              </a:rPr>
              <a:t>)</a:t>
            </a:r>
            <a:endParaRPr sz="2747">
              <a:latin typeface="Calibri"/>
              <a:cs typeface="Calibri"/>
            </a:endParaRPr>
          </a:p>
        </p:txBody>
      </p:sp>
      <p:sp>
        <p:nvSpPr>
          <p:cNvPr id="9" name="object 9"/>
          <p:cNvSpPr txBox="1"/>
          <p:nvPr/>
        </p:nvSpPr>
        <p:spPr>
          <a:xfrm>
            <a:off x="7720844" y="6019523"/>
            <a:ext cx="4655589" cy="524999"/>
          </a:xfrm>
          <a:prstGeom prst="rect">
            <a:avLst/>
          </a:prstGeom>
        </p:spPr>
        <p:txBody>
          <a:bodyPr vert="horz" wrap="square" lIns="0" tIns="17446" rIns="0" bIns="0" rtlCol="0">
            <a:spAutoFit/>
          </a:bodyPr>
          <a:lstStyle/>
          <a:p>
            <a:pPr marL="17446">
              <a:spcBef>
                <a:spcPts val="137"/>
              </a:spcBef>
            </a:pPr>
            <a:r>
              <a:rPr sz="3297" dirty="0">
                <a:latin typeface="Calibri"/>
                <a:cs typeface="Calibri"/>
              </a:rPr>
              <a:t>is</a:t>
            </a:r>
            <a:r>
              <a:rPr sz="3297" spc="-21" dirty="0">
                <a:latin typeface="Calibri"/>
                <a:cs typeface="Calibri"/>
              </a:rPr>
              <a:t> </a:t>
            </a:r>
            <a:r>
              <a:rPr sz="3297" dirty="0">
                <a:latin typeface="Calibri"/>
                <a:cs typeface="Calibri"/>
              </a:rPr>
              <a:t>called</a:t>
            </a:r>
            <a:r>
              <a:rPr sz="3297" spc="-14" dirty="0">
                <a:latin typeface="Calibri"/>
                <a:cs typeface="Calibri"/>
              </a:rPr>
              <a:t> </a:t>
            </a:r>
            <a:r>
              <a:rPr sz="3297" dirty="0">
                <a:latin typeface="Calibri"/>
                <a:cs typeface="Calibri"/>
              </a:rPr>
              <a:t>a</a:t>
            </a:r>
            <a:r>
              <a:rPr sz="3297" spc="-27" dirty="0">
                <a:latin typeface="Calibri"/>
                <a:cs typeface="Calibri"/>
              </a:rPr>
              <a:t> </a:t>
            </a:r>
            <a:r>
              <a:rPr sz="3297" b="1" spc="-7" dirty="0">
                <a:solidFill>
                  <a:srgbClr val="A50021"/>
                </a:solidFill>
                <a:latin typeface="Calibri"/>
                <a:cs typeface="Calibri"/>
              </a:rPr>
              <a:t>language</a:t>
            </a:r>
            <a:r>
              <a:rPr sz="3297" b="1" spc="-14" dirty="0">
                <a:solidFill>
                  <a:srgbClr val="A50021"/>
                </a:solidFill>
                <a:latin typeface="Calibri"/>
                <a:cs typeface="Calibri"/>
              </a:rPr>
              <a:t> </a:t>
            </a:r>
            <a:r>
              <a:rPr sz="3297" b="1" spc="-7" dirty="0">
                <a:solidFill>
                  <a:srgbClr val="A50021"/>
                </a:solidFill>
                <a:latin typeface="Calibri"/>
                <a:cs typeface="Calibri"/>
              </a:rPr>
              <a:t>model</a:t>
            </a:r>
            <a:r>
              <a:rPr sz="3297" spc="-7" dirty="0">
                <a:latin typeface="Calibri"/>
                <a:cs typeface="Calibri"/>
              </a:rPr>
              <a:t>.</a:t>
            </a:r>
            <a:endParaRPr sz="3297">
              <a:latin typeface="Calibri"/>
              <a:cs typeface="Calibri"/>
            </a:endParaRPr>
          </a:p>
        </p:txBody>
      </p:sp>
      <p:sp>
        <p:nvSpPr>
          <p:cNvPr id="10" name="object 10"/>
          <p:cNvSpPr txBox="1"/>
          <p:nvPr/>
        </p:nvSpPr>
        <p:spPr>
          <a:xfrm>
            <a:off x="1154955" y="6630149"/>
            <a:ext cx="4036240" cy="524999"/>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297" spc="-21" dirty="0">
                <a:latin typeface="Calibri"/>
                <a:cs typeface="Calibri"/>
              </a:rPr>
              <a:t>Better:</a:t>
            </a:r>
            <a:r>
              <a:rPr sz="3297" spc="-41" dirty="0">
                <a:latin typeface="Calibri"/>
                <a:cs typeface="Calibri"/>
              </a:rPr>
              <a:t> </a:t>
            </a:r>
            <a:r>
              <a:rPr sz="3297" b="1" dirty="0">
                <a:solidFill>
                  <a:srgbClr val="CC0033"/>
                </a:solidFill>
                <a:latin typeface="Calibri"/>
                <a:cs typeface="Calibri"/>
              </a:rPr>
              <a:t>the</a:t>
            </a:r>
            <a:r>
              <a:rPr sz="3297" b="1" spc="-34" dirty="0">
                <a:solidFill>
                  <a:srgbClr val="CC0033"/>
                </a:solidFill>
                <a:latin typeface="Calibri"/>
                <a:cs typeface="Calibri"/>
              </a:rPr>
              <a:t> </a:t>
            </a:r>
            <a:r>
              <a:rPr sz="3297" b="1" spc="-7" dirty="0">
                <a:solidFill>
                  <a:srgbClr val="CC0033"/>
                </a:solidFill>
                <a:latin typeface="Calibri"/>
                <a:cs typeface="Calibri"/>
              </a:rPr>
              <a:t>grammar</a:t>
            </a:r>
            <a:endParaRPr sz="3297">
              <a:latin typeface="Calibri"/>
              <a:cs typeface="Calibri"/>
            </a:endParaRPr>
          </a:p>
        </p:txBody>
      </p:sp>
      <p:sp>
        <p:nvSpPr>
          <p:cNvPr id="11" name="object 11"/>
          <p:cNvSpPr txBox="1"/>
          <p:nvPr/>
        </p:nvSpPr>
        <p:spPr>
          <a:xfrm>
            <a:off x="5817455" y="6630149"/>
            <a:ext cx="6549403" cy="524999"/>
          </a:xfrm>
          <a:prstGeom prst="rect">
            <a:avLst/>
          </a:prstGeom>
        </p:spPr>
        <p:txBody>
          <a:bodyPr vert="horz" wrap="square" lIns="0" tIns="17446" rIns="0" bIns="0" rtlCol="0">
            <a:spAutoFit/>
          </a:bodyPr>
          <a:lstStyle/>
          <a:p>
            <a:pPr marL="17446">
              <a:spcBef>
                <a:spcPts val="137"/>
              </a:spcBef>
            </a:pPr>
            <a:r>
              <a:rPr sz="3297" spc="-7" dirty="0">
                <a:latin typeface="Calibri"/>
                <a:cs typeface="Calibri"/>
              </a:rPr>
              <a:t>But </a:t>
            </a:r>
            <a:r>
              <a:rPr sz="3297" b="1" spc="-7" dirty="0">
                <a:solidFill>
                  <a:srgbClr val="CC0033"/>
                </a:solidFill>
                <a:latin typeface="Calibri"/>
                <a:cs typeface="Calibri"/>
              </a:rPr>
              <a:t>language </a:t>
            </a:r>
            <a:r>
              <a:rPr sz="3297" b="1" dirty="0">
                <a:solidFill>
                  <a:srgbClr val="CC0033"/>
                </a:solidFill>
                <a:latin typeface="Calibri"/>
                <a:cs typeface="Calibri"/>
              </a:rPr>
              <a:t>model</a:t>
            </a:r>
            <a:r>
              <a:rPr sz="3297" b="1" spc="-14" dirty="0">
                <a:solidFill>
                  <a:srgbClr val="CC0033"/>
                </a:solidFill>
                <a:latin typeface="Calibri"/>
                <a:cs typeface="Calibri"/>
              </a:rPr>
              <a:t> </a:t>
            </a:r>
            <a:r>
              <a:rPr sz="3297" spc="-7" dirty="0">
                <a:latin typeface="Calibri"/>
                <a:cs typeface="Calibri"/>
              </a:rPr>
              <a:t>or </a:t>
            </a:r>
            <a:r>
              <a:rPr sz="3297" b="1" dirty="0">
                <a:solidFill>
                  <a:srgbClr val="CC0033"/>
                </a:solidFill>
                <a:latin typeface="Calibri"/>
                <a:cs typeface="Calibri"/>
              </a:rPr>
              <a:t>LM</a:t>
            </a:r>
            <a:r>
              <a:rPr sz="3297" b="1" spc="-14" dirty="0">
                <a:solidFill>
                  <a:srgbClr val="CC0033"/>
                </a:solidFill>
                <a:latin typeface="Calibri"/>
                <a:cs typeface="Calibri"/>
              </a:rPr>
              <a:t> </a:t>
            </a:r>
            <a:r>
              <a:rPr sz="3297" dirty="0">
                <a:latin typeface="Calibri"/>
                <a:cs typeface="Calibri"/>
              </a:rPr>
              <a:t>is </a:t>
            </a:r>
            <a:r>
              <a:rPr sz="3297" spc="-7" dirty="0">
                <a:latin typeface="Calibri"/>
                <a:cs typeface="Calibri"/>
              </a:rPr>
              <a:t>standard</a:t>
            </a:r>
            <a:endParaRPr sz="3297">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5190323" cy="704837"/>
          </a:xfrm>
          <a:prstGeom prst="rect">
            <a:avLst/>
          </a:prstGeom>
        </p:spPr>
        <p:txBody>
          <a:bodyPr vert="horz" wrap="square" lIns="0" tIns="17446" rIns="0" bIns="0" rtlCol="0">
            <a:spAutoFit/>
          </a:bodyPr>
          <a:lstStyle/>
          <a:p>
            <a:pPr marL="17446">
              <a:spcBef>
                <a:spcPts val="137"/>
              </a:spcBef>
            </a:pPr>
            <a:r>
              <a:rPr dirty="0">
                <a:latin typeface="Calibri"/>
                <a:cs typeface="Calibri"/>
              </a:rPr>
              <a:t>How</a:t>
            </a:r>
            <a:r>
              <a:rPr spc="-48" dirty="0">
                <a:latin typeface="Calibri"/>
                <a:cs typeface="Calibri"/>
              </a:rPr>
              <a:t> </a:t>
            </a:r>
            <a:r>
              <a:rPr dirty="0">
                <a:latin typeface="Calibri"/>
                <a:cs typeface="Calibri"/>
              </a:rPr>
              <a:t>to</a:t>
            </a:r>
            <a:r>
              <a:rPr spc="-41" dirty="0">
                <a:latin typeface="Calibri"/>
                <a:cs typeface="Calibri"/>
              </a:rPr>
              <a:t> </a:t>
            </a:r>
            <a:r>
              <a:rPr dirty="0">
                <a:latin typeface="Calibri"/>
                <a:cs typeface="Calibri"/>
              </a:rPr>
              <a:t>compute</a:t>
            </a:r>
            <a:r>
              <a:rPr spc="-41" dirty="0">
                <a:latin typeface="Calibri"/>
                <a:cs typeface="Calibri"/>
              </a:rPr>
              <a:t> </a:t>
            </a:r>
            <a:r>
              <a:rPr spc="-7" dirty="0">
                <a:latin typeface="Calibri"/>
                <a:cs typeface="Calibri"/>
              </a:rPr>
              <a:t>P(W)</a:t>
            </a:r>
          </a:p>
        </p:txBody>
      </p:sp>
      <p:sp>
        <p:nvSpPr>
          <p:cNvPr id="7" name="object 7"/>
          <p:cNvSpPr txBox="1"/>
          <p:nvPr/>
        </p:nvSpPr>
        <p:spPr>
          <a:xfrm>
            <a:off x="1154954" y="2255272"/>
            <a:ext cx="9096587" cy="2924246"/>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297" spc="-7" dirty="0">
                <a:latin typeface="Calibri"/>
                <a:cs typeface="Calibri"/>
              </a:rPr>
              <a:t>How</a:t>
            </a:r>
            <a:r>
              <a:rPr sz="3297" dirty="0">
                <a:latin typeface="Calibri"/>
                <a:cs typeface="Calibri"/>
              </a:rPr>
              <a:t> to </a:t>
            </a:r>
            <a:r>
              <a:rPr sz="3297" spc="-7" dirty="0">
                <a:latin typeface="Calibri"/>
                <a:cs typeface="Calibri"/>
              </a:rPr>
              <a:t>compute </a:t>
            </a:r>
            <a:r>
              <a:rPr sz="3297" dirty="0">
                <a:latin typeface="Calibri"/>
                <a:cs typeface="Calibri"/>
              </a:rPr>
              <a:t>this </a:t>
            </a:r>
            <a:r>
              <a:rPr sz="3297" spc="-7" dirty="0">
                <a:latin typeface="Calibri"/>
                <a:cs typeface="Calibri"/>
              </a:rPr>
              <a:t>joint</a:t>
            </a:r>
            <a:r>
              <a:rPr sz="3297" dirty="0">
                <a:latin typeface="Calibri"/>
                <a:cs typeface="Calibri"/>
              </a:rPr>
              <a:t> </a:t>
            </a:r>
            <a:r>
              <a:rPr sz="3297" spc="-7" dirty="0">
                <a:latin typeface="Calibri"/>
                <a:cs typeface="Calibri"/>
              </a:rPr>
              <a:t>probability:</a:t>
            </a:r>
            <a:endParaRPr sz="3297" dirty="0">
              <a:latin typeface="Calibri"/>
              <a:cs typeface="Calibri"/>
            </a:endParaRPr>
          </a:p>
          <a:p>
            <a:pPr>
              <a:lnSpc>
                <a:spcPct val="100000"/>
              </a:lnSpc>
              <a:buClr>
                <a:srgbClr val="CC0000"/>
              </a:buClr>
              <a:buFont typeface="Times New Roman"/>
              <a:buChar char="•"/>
            </a:pPr>
            <a:endParaRPr sz="4602" dirty="0">
              <a:latin typeface="Calibri"/>
              <a:cs typeface="Calibri"/>
            </a:endParaRPr>
          </a:p>
          <a:p>
            <a:pPr marL="959529" lvl="1" indent="-314028">
              <a:buFont typeface="Times New Roman"/>
              <a:buChar char="•"/>
              <a:tabLst>
                <a:tab pos="959529" algn="l"/>
              </a:tabLst>
            </a:pPr>
            <a:r>
              <a:rPr sz="3846" spc="-7" dirty="0">
                <a:latin typeface="Calibri"/>
                <a:cs typeface="Calibri"/>
              </a:rPr>
              <a:t>P(its,</a:t>
            </a:r>
            <a:r>
              <a:rPr sz="3846" dirty="0">
                <a:latin typeface="Calibri"/>
                <a:cs typeface="Calibri"/>
              </a:rPr>
              <a:t> </a:t>
            </a:r>
            <a:r>
              <a:rPr sz="3846" spc="-7" dirty="0">
                <a:latin typeface="Calibri"/>
                <a:cs typeface="Calibri"/>
              </a:rPr>
              <a:t>water,</a:t>
            </a:r>
            <a:r>
              <a:rPr sz="3846" dirty="0">
                <a:latin typeface="Calibri"/>
                <a:cs typeface="Calibri"/>
              </a:rPr>
              <a:t> is, </a:t>
            </a:r>
            <a:r>
              <a:rPr sz="3846" spc="-7" dirty="0">
                <a:latin typeface="Calibri"/>
                <a:cs typeface="Calibri"/>
              </a:rPr>
              <a:t>so,</a:t>
            </a:r>
            <a:r>
              <a:rPr sz="3846" dirty="0">
                <a:latin typeface="Calibri"/>
                <a:cs typeface="Calibri"/>
              </a:rPr>
              <a:t> </a:t>
            </a:r>
            <a:r>
              <a:rPr sz="3846" spc="-7" dirty="0">
                <a:latin typeface="Calibri"/>
                <a:cs typeface="Calibri"/>
              </a:rPr>
              <a:t>transparent, </a:t>
            </a:r>
            <a:r>
              <a:rPr sz="3846" dirty="0">
                <a:latin typeface="Calibri"/>
                <a:cs typeface="Calibri"/>
              </a:rPr>
              <a:t>that)</a:t>
            </a:r>
          </a:p>
          <a:p>
            <a:pPr lvl="1">
              <a:spcBef>
                <a:spcPts val="34"/>
              </a:spcBef>
              <a:buFont typeface="Times New Roman"/>
              <a:buChar char="•"/>
            </a:pPr>
            <a:endParaRPr sz="3846" dirty="0">
              <a:latin typeface="Calibri"/>
              <a:cs typeface="Calibri"/>
            </a:endParaRPr>
          </a:p>
          <a:p>
            <a:pPr marL="488488" indent="-471042">
              <a:buClr>
                <a:srgbClr val="CC0000"/>
              </a:buClr>
              <a:buFont typeface="Times New Roman"/>
              <a:buChar char="•"/>
              <a:tabLst>
                <a:tab pos="487615" algn="l"/>
                <a:tab pos="488488" algn="l"/>
              </a:tabLst>
            </a:pPr>
            <a:r>
              <a:rPr sz="3297" spc="-7" dirty="0">
                <a:latin typeface="Calibri"/>
                <a:cs typeface="Calibri"/>
              </a:rPr>
              <a:t>Intuition:</a:t>
            </a:r>
            <a:r>
              <a:rPr sz="3297" dirty="0">
                <a:latin typeface="Calibri"/>
                <a:cs typeface="Calibri"/>
              </a:rPr>
              <a:t> </a:t>
            </a:r>
            <a:r>
              <a:rPr sz="3297" spc="-7" dirty="0">
                <a:latin typeface="Calibri"/>
                <a:cs typeface="Calibri"/>
              </a:rPr>
              <a:t>let’s</a:t>
            </a:r>
            <a:r>
              <a:rPr sz="3297" dirty="0">
                <a:latin typeface="Calibri"/>
                <a:cs typeface="Calibri"/>
              </a:rPr>
              <a:t> </a:t>
            </a:r>
            <a:r>
              <a:rPr sz="3297" spc="-7" dirty="0">
                <a:latin typeface="Calibri"/>
                <a:cs typeface="Calibri"/>
              </a:rPr>
              <a:t>rely</a:t>
            </a:r>
            <a:r>
              <a:rPr sz="3297" dirty="0">
                <a:latin typeface="Calibri"/>
                <a:cs typeface="Calibri"/>
              </a:rPr>
              <a:t> </a:t>
            </a:r>
            <a:r>
              <a:rPr sz="3297" spc="-7" dirty="0">
                <a:latin typeface="Calibri"/>
                <a:cs typeface="Calibri"/>
              </a:rPr>
              <a:t>on</a:t>
            </a:r>
            <a:r>
              <a:rPr sz="3297" spc="7" dirty="0">
                <a:latin typeface="Calibri"/>
                <a:cs typeface="Calibri"/>
              </a:rPr>
              <a:t> </a:t>
            </a:r>
            <a:r>
              <a:rPr sz="3297" dirty="0">
                <a:latin typeface="Calibri"/>
                <a:cs typeface="Calibri"/>
              </a:rPr>
              <a:t>the Chain Rule</a:t>
            </a:r>
            <a:r>
              <a:rPr sz="3297" spc="7" dirty="0">
                <a:latin typeface="Calibri"/>
                <a:cs typeface="Calibri"/>
              </a:rPr>
              <a:t> </a:t>
            </a:r>
            <a:r>
              <a:rPr sz="3297" spc="-7" dirty="0">
                <a:latin typeface="Calibri"/>
                <a:cs typeface="Calibri"/>
              </a:rPr>
              <a:t>of</a:t>
            </a:r>
            <a:r>
              <a:rPr sz="3297" dirty="0">
                <a:latin typeface="Calibri"/>
                <a:cs typeface="Calibri"/>
              </a:rPr>
              <a:t> </a:t>
            </a:r>
            <a:r>
              <a:rPr sz="3297" spc="-7" dirty="0">
                <a:latin typeface="Calibri"/>
                <a:cs typeface="Calibri"/>
              </a:rPr>
              <a:t>Probability</a:t>
            </a:r>
            <a:endParaRPr sz="3297"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6029498"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Reminder:</a:t>
            </a:r>
            <a:r>
              <a:rPr spc="-14" dirty="0">
                <a:latin typeface="Calibri"/>
                <a:cs typeface="Calibri"/>
              </a:rPr>
              <a:t> </a:t>
            </a:r>
            <a:r>
              <a:rPr spc="-7" dirty="0">
                <a:latin typeface="Calibri"/>
                <a:cs typeface="Calibri"/>
              </a:rPr>
              <a:t>The</a:t>
            </a:r>
            <a:r>
              <a:rPr spc="-14" dirty="0">
                <a:latin typeface="Calibri"/>
                <a:cs typeface="Calibri"/>
              </a:rPr>
              <a:t> </a:t>
            </a:r>
            <a:r>
              <a:rPr spc="-7" dirty="0">
                <a:latin typeface="Calibri"/>
                <a:cs typeface="Calibri"/>
              </a:rPr>
              <a:t>Chain</a:t>
            </a:r>
            <a:r>
              <a:rPr spc="-14" dirty="0">
                <a:latin typeface="Calibri"/>
                <a:cs typeface="Calibri"/>
              </a:rPr>
              <a:t> </a:t>
            </a:r>
            <a:r>
              <a:rPr spc="-7" dirty="0">
                <a:latin typeface="Calibri"/>
                <a:cs typeface="Calibri"/>
              </a:rPr>
              <a:t>Rule</a:t>
            </a:r>
          </a:p>
        </p:txBody>
      </p:sp>
      <p:sp>
        <p:nvSpPr>
          <p:cNvPr id="7" name="object 7"/>
          <p:cNvSpPr txBox="1"/>
          <p:nvPr/>
        </p:nvSpPr>
        <p:spPr>
          <a:xfrm>
            <a:off x="1102616" y="2255272"/>
            <a:ext cx="11286990" cy="4748142"/>
          </a:xfrm>
          <a:prstGeom prst="rect">
            <a:avLst/>
          </a:prstGeom>
        </p:spPr>
        <p:txBody>
          <a:bodyPr vert="horz" wrap="square" lIns="0" tIns="17446" rIns="0" bIns="0" rtlCol="0">
            <a:spAutoFit/>
          </a:bodyPr>
          <a:lstStyle/>
          <a:p>
            <a:pPr marL="540826" indent="-471042">
              <a:spcBef>
                <a:spcPts val="137"/>
              </a:spcBef>
              <a:buClr>
                <a:srgbClr val="CC0000"/>
              </a:buClr>
              <a:buFont typeface="Times New Roman"/>
              <a:buChar char="•"/>
              <a:tabLst>
                <a:tab pos="539953" algn="l"/>
                <a:tab pos="540826" algn="l"/>
              </a:tabLst>
            </a:pPr>
            <a:r>
              <a:rPr sz="3846" spc="-7" dirty="0">
                <a:latin typeface="Calibri"/>
                <a:cs typeface="Calibri"/>
              </a:rPr>
              <a:t>Recall </a:t>
            </a:r>
            <a:r>
              <a:rPr sz="3846" dirty="0">
                <a:latin typeface="Calibri"/>
                <a:cs typeface="Calibri"/>
              </a:rPr>
              <a:t>the</a:t>
            </a:r>
            <a:r>
              <a:rPr sz="3846" spc="-7" dirty="0">
                <a:latin typeface="Calibri"/>
                <a:cs typeface="Calibri"/>
              </a:rPr>
              <a:t> definition</a:t>
            </a:r>
            <a:r>
              <a:rPr sz="3846" dirty="0">
                <a:latin typeface="Calibri"/>
                <a:cs typeface="Calibri"/>
              </a:rPr>
              <a:t> </a:t>
            </a:r>
            <a:r>
              <a:rPr sz="3846" spc="-7" dirty="0">
                <a:latin typeface="Calibri"/>
                <a:cs typeface="Calibri"/>
              </a:rPr>
              <a:t>of conditional</a:t>
            </a:r>
            <a:r>
              <a:rPr sz="3846" dirty="0">
                <a:latin typeface="Calibri"/>
                <a:cs typeface="Calibri"/>
              </a:rPr>
              <a:t> </a:t>
            </a:r>
            <a:r>
              <a:rPr sz="3846" spc="-7" dirty="0">
                <a:latin typeface="Calibri"/>
                <a:cs typeface="Calibri"/>
              </a:rPr>
              <a:t>probabilities</a:t>
            </a:r>
            <a:endParaRPr sz="3846">
              <a:latin typeface="Calibri"/>
              <a:cs typeface="Calibri"/>
            </a:endParaRPr>
          </a:p>
          <a:p>
            <a:pPr marR="730115" algn="ctr">
              <a:spcBef>
                <a:spcPts val="3304"/>
              </a:spcBef>
            </a:pPr>
            <a:r>
              <a:rPr sz="2747" spc="-7" dirty="0">
                <a:latin typeface="Calibri"/>
                <a:cs typeface="Calibri"/>
              </a:rPr>
              <a:t>Rewriting:</a:t>
            </a:r>
            <a:endParaRPr sz="2747">
              <a:latin typeface="Calibri"/>
              <a:cs typeface="Calibri"/>
            </a:endParaRPr>
          </a:p>
          <a:p>
            <a:pPr>
              <a:lnSpc>
                <a:spcPct val="100000"/>
              </a:lnSpc>
            </a:pPr>
            <a:endParaRPr sz="4396">
              <a:latin typeface="Calibri"/>
              <a:cs typeface="Calibri"/>
            </a:endParaRPr>
          </a:p>
          <a:p>
            <a:pPr marL="540826" indent="-471042">
              <a:buClr>
                <a:srgbClr val="CC0000"/>
              </a:buClr>
              <a:buFont typeface="Times New Roman"/>
              <a:buChar char="•"/>
              <a:tabLst>
                <a:tab pos="539953" algn="l"/>
                <a:tab pos="540826" algn="l"/>
              </a:tabLst>
            </a:pPr>
            <a:r>
              <a:rPr sz="3846" spc="-7" dirty="0">
                <a:latin typeface="Calibri"/>
                <a:cs typeface="Calibri"/>
              </a:rPr>
              <a:t>More</a:t>
            </a:r>
            <a:r>
              <a:rPr sz="3846" spc="-27" dirty="0">
                <a:latin typeface="Calibri"/>
                <a:cs typeface="Calibri"/>
              </a:rPr>
              <a:t> </a:t>
            </a:r>
            <a:r>
              <a:rPr sz="3846" spc="-7" dirty="0">
                <a:latin typeface="Calibri"/>
                <a:cs typeface="Calibri"/>
              </a:rPr>
              <a:t>variables:</a:t>
            </a:r>
            <a:endParaRPr sz="3846">
              <a:latin typeface="Calibri"/>
              <a:cs typeface="Calibri"/>
            </a:endParaRPr>
          </a:p>
          <a:p>
            <a:pPr marL="792048">
              <a:spcBef>
                <a:spcPts val="749"/>
              </a:spcBef>
            </a:pPr>
            <a:r>
              <a:rPr sz="3297" spc="-7" dirty="0">
                <a:latin typeface="Calibri"/>
                <a:cs typeface="Calibri"/>
              </a:rPr>
              <a:t>P(A,B,C,D)</a:t>
            </a:r>
            <a:r>
              <a:rPr sz="3297" dirty="0">
                <a:latin typeface="Calibri"/>
                <a:cs typeface="Calibri"/>
              </a:rPr>
              <a:t> =</a:t>
            </a:r>
            <a:r>
              <a:rPr sz="3297" spc="-7" dirty="0">
                <a:latin typeface="Calibri"/>
                <a:cs typeface="Calibri"/>
              </a:rPr>
              <a:t> P(A)P(B|A)P(C|A,B)P(D|A,B,C)</a:t>
            </a:r>
            <a:endParaRPr sz="3297">
              <a:latin typeface="Calibri"/>
              <a:cs typeface="Calibri"/>
            </a:endParaRPr>
          </a:p>
          <a:p>
            <a:pPr marL="540826" indent="-471042">
              <a:spcBef>
                <a:spcPts val="982"/>
              </a:spcBef>
              <a:buClr>
                <a:srgbClr val="CC0000"/>
              </a:buClr>
              <a:buFont typeface="Times New Roman"/>
              <a:buChar char="•"/>
              <a:tabLst>
                <a:tab pos="539953" algn="l"/>
                <a:tab pos="540826" algn="l"/>
              </a:tabLst>
            </a:pPr>
            <a:r>
              <a:rPr sz="3846" dirty="0">
                <a:latin typeface="Calibri"/>
                <a:cs typeface="Calibri"/>
              </a:rPr>
              <a:t>The</a:t>
            </a:r>
            <a:r>
              <a:rPr sz="3846" spc="-21" dirty="0">
                <a:latin typeface="Calibri"/>
                <a:cs typeface="Calibri"/>
              </a:rPr>
              <a:t> </a:t>
            </a:r>
            <a:r>
              <a:rPr sz="3846" dirty="0">
                <a:latin typeface="Calibri"/>
                <a:cs typeface="Calibri"/>
              </a:rPr>
              <a:t>Chain</a:t>
            </a:r>
            <a:r>
              <a:rPr sz="3846" spc="-21" dirty="0">
                <a:latin typeface="Calibri"/>
                <a:cs typeface="Calibri"/>
              </a:rPr>
              <a:t> </a:t>
            </a:r>
            <a:r>
              <a:rPr sz="3846" dirty="0">
                <a:latin typeface="Calibri"/>
                <a:cs typeface="Calibri"/>
              </a:rPr>
              <a:t>Rule</a:t>
            </a:r>
            <a:r>
              <a:rPr sz="3846" spc="-14" dirty="0">
                <a:latin typeface="Calibri"/>
                <a:cs typeface="Calibri"/>
              </a:rPr>
              <a:t> </a:t>
            </a:r>
            <a:r>
              <a:rPr sz="3846" dirty="0">
                <a:latin typeface="Calibri"/>
                <a:cs typeface="Calibri"/>
              </a:rPr>
              <a:t>in</a:t>
            </a:r>
            <a:r>
              <a:rPr sz="3846" spc="-21" dirty="0">
                <a:latin typeface="Calibri"/>
                <a:cs typeface="Calibri"/>
              </a:rPr>
              <a:t> </a:t>
            </a:r>
            <a:r>
              <a:rPr sz="3846" spc="-7" dirty="0">
                <a:latin typeface="Calibri"/>
                <a:cs typeface="Calibri"/>
              </a:rPr>
              <a:t>General</a:t>
            </a:r>
            <a:endParaRPr sz="3846">
              <a:latin typeface="Calibri"/>
              <a:cs typeface="Calibri"/>
            </a:endParaRPr>
          </a:p>
          <a:p>
            <a:pPr marL="290474">
              <a:spcBef>
                <a:spcPts val="879"/>
              </a:spcBef>
            </a:pPr>
            <a:r>
              <a:rPr sz="3846" dirty="0">
                <a:latin typeface="Calibri"/>
                <a:cs typeface="Calibri"/>
              </a:rPr>
              <a:t>P(x</a:t>
            </a:r>
            <a:r>
              <a:rPr sz="3812" baseline="-21021" dirty="0">
                <a:latin typeface="Calibri"/>
                <a:cs typeface="Calibri"/>
              </a:rPr>
              <a:t>1</a:t>
            </a:r>
            <a:r>
              <a:rPr sz="3846" dirty="0">
                <a:latin typeface="Calibri"/>
                <a:cs typeface="Calibri"/>
              </a:rPr>
              <a:t>,x</a:t>
            </a:r>
            <a:r>
              <a:rPr sz="3812" baseline="-21021" dirty="0">
                <a:latin typeface="Calibri"/>
                <a:cs typeface="Calibri"/>
              </a:rPr>
              <a:t>2</a:t>
            </a:r>
            <a:r>
              <a:rPr sz="3846" dirty="0">
                <a:latin typeface="Calibri"/>
                <a:cs typeface="Calibri"/>
              </a:rPr>
              <a:t>,x</a:t>
            </a:r>
            <a:r>
              <a:rPr sz="3812" baseline="-21021" dirty="0">
                <a:latin typeface="Calibri"/>
                <a:cs typeface="Calibri"/>
              </a:rPr>
              <a:t>3</a:t>
            </a:r>
            <a:r>
              <a:rPr sz="3846" dirty="0">
                <a:latin typeface="Calibri"/>
                <a:cs typeface="Calibri"/>
              </a:rPr>
              <a:t>,…,x</a:t>
            </a:r>
            <a:r>
              <a:rPr sz="3812" baseline="-21021" dirty="0">
                <a:latin typeface="Calibri"/>
                <a:cs typeface="Calibri"/>
              </a:rPr>
              <a:t>n</a:t>
            </a:r>
            <a:r>
              <a:rPr sz="3846" dirty="0">
                <a:latin typeface="Calibri"/>
                <a:cs typeface="Calibri"/>
              </a:rPr>
              <a:t>)</a:t>
            </a:r>
            <a:r>
              <a:rPr sz="3846" spc="27" dirty="0">
                <a:latin typeface="Calibri"/>
                <a:cs typeface="Calibri"/>
              </a:rPr>
              <a:t> </a:t>
            </a:r>
            <a:r>
              <a:rPr sz="3846" dirty="0">
                <a:latin typeface="Calibri"/>
                <a:cs typeface="Calibri"/>
              </a:rPr>
              <a:t>=</a:t>
            </a:r>
            <a:r>
              <a:rPr sz="3846" spc="21" dirty="0">
                <a:latin typeface="Calibri"/>
                <a:cs typeface="Calibri"/>
              </a:rPr>
              <a:t> </a:t>
            </a:r>
            <a:r>
              <a:rPr sz="3846" spc="-41" dirty="0">
                <a:latin typeface="Calibri"/>
                <a:cs typeface="Calibri"/>
              </a:rPr>
              <a:t>P(x</a:t>
            </a:r>
            <a:r>
              <a:rPr sz="3812" spc="-60" baseline="-21021" dirty="0">
                <a:latin typeface="Calibri"/>
                <a:cs typeface="Calibri"/>
              </a:rPr>
              <a:t>1</a:t>
            </a:r>
            <a:r>
              <a:rPr sz="3846" spc="-41" dirty="0">
                <a:latin typeface="Calibri"/>
                <a:cs typeface="Calibri"/>
              </a:rPr>
              <a:t>)P(x</a:t>
            </a:r>
            <a:r>
              <a:rPr sz="3812" spc="-60" baseline="-21021" dirty="0">
                <a:latin typeface="Calibri"/>
                <a:cs typeface="Calibri"/>
              </a:rPr>
              <a:t>2</a:t>
            </a:r>
            <a:r>
              <a:rPr sz="3846" spc="-41" dirty="0">
                <a:latin typeface="Calibri"/>
                <a:cs typeface="Calibri"/>
              </a:rPr>
              <a:t>|x</a:t>
            </a:r>
            <a:r>
              <a:rPr sz="3812" spc="-60" baseline="-21021" dirty="0">
                <a:latin typeface="Calibri"/>
                <a:cs typeface="Calibri"/>
              </a:rPr>
              <a:t>1</a:t>
            </a:r>
            <a:r>
              <a:rPr sz="3846" spc="-41" dirty="0">
                <a:latin typeface="Calibri"/>
                <a:cs typeface="Calibri"/>
              </a:rPr>
              <a:t>)P(x</a:t>
            </a:r>
            <a:r>
              <a:rPr sz="3812" spc="-60" baseline="-21021" dirty="0">
                <a:latin typeface="Calibri"/>
                <a:cs typeface="Calibri"/>
              </a:rPr>
              <a:t>3</a:t>
            </a:r>
            <a:r>
              <a:rPr sz="3846" spc="-41" dirty="0">
                <a:latin typeface="Calibri"/>
                <a:cs typeface="Calibri"/>
              </a:rPr>
              <a:t>|x</a:t>
            </a:r>
            <a:r>
              <a:rPr sz="3812" spc="-60" baseline="-21021" dirty="0">
                <a:latin typeface="Calibri"/>
                <a:cs typeface="Calibri"/>
              </a:rPr>
              <a:t>1</a:t>
            </a:r>
            <a:r>
              <a:rPr sz="3846" spc="-41" dirty="0">
                <a:latin typeface="Calibri"/>
                <a:cs typeface="Calibri"/>
              </a:rPr>
              <a:t>,x</a:t>
            </a:r>
            <a:r>
              <a:rPr sz="3812" spc="-60" baseline="-21021" dirty="0">
                <a:latin typeface="Calibri"/>
                <a:cs typeface="Calibri"/>
              </a:rPr>
              <a:t>2</a:t>
            </a:r>
            <a:r>
              <a:rPr sz="3846" spc="-41" dirty="0">
                <a:latin typeface="Calibri"/>
                <a:cs typeface="Calibri"/>
              </a:rPr>
              <a:t>)…P(x</a:t>
            </a:r>
            <a:r>
              <a:rPr sz="3812" spc="-60" baseline="-21021" dirty="0">
                <a:latin typeface="Calibri"/>
                <a:cs typeface="Calibri"/>
              </a:rPr>
              <a:t>n</a:t>
            </a:r>
            <a:r>
              <a:rPr sz="3846" spc="-41" dirty="0">
                <a:latin typeface="Calibri"/>
                <a:cs typeface="Calibri"/>
              </a:rPr>
              <a:t>|x</a:t>
            </a:r>
            <a:r>
              <a:rPr sz="3812" spc="-60" baseline="-21021" dirty="0">
                <a:latin typeface="Calibri"/>
                <a:cs typeface="Calibri"/>
              </a:rPr>
              <a:t>1</a:t>
            </a:r>
            <a:r>
              <a:rPr sz="3846" spc="-41" dirty="0">
                <a:latin typeface="Calibri"/>
                <a:cs typeface="Calibri"/>
              </a:rPr>
              <a:t>,…,x</a:t>
            </a:r>
            <a:r>
              <a:rPr sz="3812" spc="-60" baseline="-21021" dirty="0">
                <a:latin typeface="Calibri"/>
                <a:cs typeface="Calibri"/>
              </a:rPr>
              <a:t>n-­‐1</a:t>
            </a:r>
            <a:r>
              <a:rPr sz="3846" spc="-41" dirty="0">
                <a:latin typeface="Calibri"/>
                <a:cs typeface="Calibri"/>
              </a:rPr>
              <a:t>)</a:t>
            </a:r>
            <a:endParaRPr sz="3846">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308248"/>
            <a:ext cx="9804041" cy="1551991"/>
          </a:xfrm>
          <a:prstGeom prst="rect">
            <a:avLst/>
          </a:prstGeom>
        </p:spPr>
        <p:txBody>
          <a:bodyPr vert="horz" wrap="square" lIns="0" tIns="38381" rIns="0" bIns="0" rtlCol="0">
            <a:spAutoFit/>
          </a:bodyPr>
          <a:lstStyle/>
          <a:p>
            <a:pPr marL="17446" marR="6978">
              <a:lnSpc>
                <a:spcPts val="5907"/>
              </a:lnSpc>
              <a:spcBef>
                <a:spcPts val="301"/>
              </a:spcBef>
            </a:pPr>
            <a:r>
              <a:rPr sz="4945" spc="-7" dirty="0">
                <a:latin typeface="Calibri"/>
                <a:cs typeface="Calibri"/>
              </a:rPr>
              <a:t>The Chain</a:t>
            </a:r>
            <a:r>
              <a:rPr sz="4945" dirty="0">
                <a:latin typeface="Calibri"/>
                <a:cs typeface="Calibri"/>
              </a:rPr>
              <a:t> </a:t>
            </a:r>
            <a:r>
              <a:rPr sz="4945" spc="-7" dirty="0">
                <a:latin typeface="Calibri"/>
                <a:cs typeface="Calibri"/>
              </a:rPr>
              <a:t>Rule</a:t>
            </a:r>
            <a:r>
              <a:rPr sz="4945" dirty="0">
                <a:latin typeface="Calibri"/>
                <a:cs typeface="Calibri"/>
              </a:rPr>
              <a:t> </a:t>
            </a:r>
            <a:r>
              <a:rPr sz="4945" spc="-7" dirty="0">
                <a:latin typeface="Calibri"/>
                <a:cs typeface="Calibri"/>
              </a:rPr>
              <a:t>applied </a:t>
            </a:r>
            <a:r>
              <a:rPr sz="4945" dirty="0">
                <a:latin typeface="Calibri"/>
                <a:cs typeface="Calibri"/>
              </a:rPr>
              <a:t>to </a:t>
            </a:r>
            <a:r>
              <a:rPr sz="4945" spc="-7" dirty="0">
                <a:latin typeface="Calibri"/>
                <a:cs typeface="Calibri"/>
              </a:rPr>
              <a:t>compute </a:t>
            </a:r>
            <a:r>
              <a:rPr sz="4945" dirty="0">
                <a:latin typeface="Calibri"/>
                <a:cs typeface="Calibri"/>
              </a:rPr>
              <a:t> </a:t>
            </a:r>
            <a:r>
              <a:rPr sz="4945" spc="-7" dirty="0">
                <a:latin typeface="Calibri"/>
                <a:cs typeface="Calibri"/>
              </a:rPr>
              <a:t>joint</a:t>
            </a:r>
            <a:r>
              <a:rPr sz="4945" spc="-21" dirty="0">
                <a:latin typeface="Calibri"/>
                <a:cs typeface="Calibri"/>
              </a:rPr>
              <a:t> </a:t>
            </a:r>
            <a:r>
              <a:rPr sz="4945" spc="-7" dirty="0">
                <a:latin typeface="Calibri"/>
                <a:cs typeface="Calibri"/>
              </a:rPr>
              <a:t>probability</a:t>
            </a:r>
            <a:r>
              <a:rPr sz="4945" spc="-21" dirty="0">
                <a:latin typeface="Calibri"/>
                <a:cs typeface="Calibri"/>
              </a:rPr>
              <a:t> </a:t>
            </a:r>
            <a:r>
              <a:rPr sz="4945" spc="-7" dirty="0">
                <a:latin typeface="Calibri"/>
                <a:cs typeface="Calibri"/>
              </a:rPr>
              <a:t>of</a:t>
            </a:r>
            <a:r>
              <a:rPr sz="4945" spc="-21" dirty="0">
                <a:latin typeface="Calibri"/>
                <a:cs typeface="Calibri"/>
              </a:rPr>
              <a:t> </a:t>
            </a:r>
            <a:r>
              <a:rPr sz="4945" spc="-7" dirty="0">
                <a:latin typeface="Calibri"/>
                <a:cs typeface="Calibri"/>
              </a:rPr>
              <a:t>words</a:t>
            </a:r>
            <a:r>
              <a:rPr sz="4945" spc="-27" dirty="0">
                <a:latin typeface="Calibri"/>
                <a:cs typeface="Calibri"/>
              </a:rPr>
              <a:t> </a:t>
            </a:r>
            <a:r>
              <a:rPr sz="4945" spc="-7" dirty="0">
                <a:latin typeface="Calibri"/>
                <a:cs typeface="Calibri"/>
              </a:rPr>
              <a:t>in</a:t>
            </a:r>
            <a:r>
              <a:rPr sz="4945" spc="-14" dirty="0">
                <a:latin typeface="Calibri"/>
                <a:cs typeface="Calibri"/>
              </a:rPr>
              <a:t> </a:t>
            </a:r>
            <a:r>
              <a:rPr sz="4945" spc="-7" dirty="0">
                <a:latin typeface="Calibri"/>
                <a:cs typeface="Calibri"/>
              </a:rPr>
              <a:t>sentence</a:t>
            </a:r>
            <a:endParaRPr sz="4945">
              <a:latin typeface="Calibri"/>
              <a:cs typeface="Calibri"/>
            </a:endParaRPr>
          </a:p>
        </p:txBody>
      </p:sp>
      <p:sp>
        <p:nvSpPr>
          <p:cNvPr id="7" name="object 7"/>
          <p:cNvSpPr txBox="1"/>
          <p:nvPr/>
        </p:nvSpPr>
        <p:spPr>
          <a:xfrm>
            <a:off x="1137509" y="2424422"/>
            <a:ext cx="11299203" cy="4540411"/>
          </a:xfrm>
          <a:prstGeom prst="rect">
            <a:avLst/>
          </a:prstGeom>
        </p:spPr>
        <p:txBody>
          <a:bodyPr vert="horz" wrap="square" lIns="0" tIns="222442" rIns="0" bIns="0" rtlCol="0">
            <a:spAutoFit/>
          </a:bodyPr>
          <a:lstStyle/>
          <a:p>
            <a:pPr marL="296582" algn="ctr">
              <a:spcBef>
                <a:spcPts val="1751"/>
              </a:spcBef>
            </a:pPr>
            <a:r>
              <a:rPr sz="4533" i="1" spc="192" dirty="0">
                <a:latin typeface="Times New Roman"/>
                <a:cs typeface="Times New Roman"/>
              </a:rPr>
              <a:t>P</a:t>
            </a:r>
            <a:r>
              <a:rPr sz="4533" spc="179" dirty="0">
                <a:latin typeface="Times New Roman"/>
                <a:cs typeface="Times New Roman"/>
              </a:rPr>
              <a:t>(</a:t>
            </a:r>
            <a:r>
              <a:rPr sz="4533" i="1" spc="-199" dirty="0">
                <a:latin typeface="Times New Roman"/>
                <a:cs typeface="Times New Roman"/>
              </a:rPr>
              <a:t>w</a:t>
            </a:r>
            <a:r>
              <a:rPr sz="3915" spc="21" baseline="-24853" dirty="0">
                <a:latin typeface="Times New Roman"/>
                <a:cs typeface="Times New Roman"/>
              </a:rPr>
              <a:t>1</a:t>
            </a:r>
            <a:r>
              <a:rPr sz="4533" i="1" spc="179" dirty="0">
                <a:latin typeface="Times New Roman"/>
                <a:cs typeface="Times New Roman"/>
              </a:rPr>
              <a:t>w</a:t>
            </a:r>
            <a:r>
              <a:rPr sz="3915" spc="21" baseline="-24853" dirty="0">
                <a:latin typeface="Times New Roman"/>
                <a:cs typeface="Times New Roman"/>
              </a:rPr>
              <a:t>2</a:t>
            </a:r>
            <a:r>
              <a:rPr sz="3915" spc="-422" baseline="-24853" dirty="0">
                <a:latin typeface="Times New Roman"/>
                <a:cs typeface="Times New Roman"/>
              </a:rPr>
              <a:t> </a:t>
            </a:r>
            <a:r>
              <a:rPr sz="4533" spc="357" dirty="0">
                <a:latin typeface="Lucida Sans Unicode"/>
                <a:cs typeface="Lucida Sans Unicode"/>
              </a:rPr>
              <a:t>…</a:t>
            </a:r>
            <a:r>
              <a:rPr sz="4533" i="1" spc="179" dirty="0">
                <a:latin typeface="Times New Roman"/>
                <a:cs typeface="Times New Roman"/>
              </a:rPr>
              <a:t>w</a:t>
            </a:r>
            <a:r>
              <a:rPr sz="3915" i="1" spc="21" baseline="-24853" dirty="0">
                <a:latin typeface="Times New Roman"/>
                <a:cs typeface="Times New Roman"/>
              </a:rPr>
              <a:t>n</a:t>
            </a:r>
            <a:r>
              <a:rPr sz="3915" i="1" spc="-206" baseline="-24853" dirty="0">
                <a:latin typeface="Times New Roman"/>
                <a:cs typeface="Times New Roman"/>
              </a:rPr>
              <a:t> </a:t>
            </a:r>
            <a:r>
              <a:rPr sz="4533" spc="-7" dirty="0">
                <a:latin typeface="Times New Roman"/>
                <a:cs typeface="Times New Roman"/>
              </a:rPr>
              <a:t>) </a:t>
            </a:r>
            <a:r>
              <a:rPr sz="4533" spc="-7" dirty="0">
                <a:latin typeface="Symbol"/>
                <a:cs typeface="Symbol"/>
              </a:rPr>
              <a:t></a:t>
            </a:r>
            <a:r>
              <a:rPr sz="4533" spc="-227" dirty="0">
                <a:latin typeface="Times New Roman"/>
                <a:cs typeface="Times New Roman"/>
              </a:rPr>
              <a:t> </a:t>
            </a:r>
            <a:r>
              <a:rPr sz="10200" spc="639" baseline="-3928" dirty="0">
                <a:latin typeface="Symbol"/>
                <a:cs typeface="Symbol"/>
              </a:rPr>
              <a:t></a:t>
            </a:r>
            <a:r>
              <a:rPr sz="4533" i="1" spc="240" dirty="0">
                <a:latin typeface="Times New Roman"/>
                <a:cs typeface="Times New Roman"/>
              </a:rPr>
              <a:t>P</a:t>
            </a:r>
            <a:r>
              <a:rPr sz="4533" spc="131" dirty="0">
                <a:latin typeface="Times New Roman"/>
                <a:cs typeface="Times New Roman"/>
              </a:rPr>
              <a:t>(</a:t>
            </a:r>
            <a:r>
              <a:rPr sz="4533" i="1" spc="179" dirty="0">
                <a:latin typeface="Times New Roman"/>
                <a:cs typeface="Times New Roman"/>
              </a:rPr>
              <a:t>w</a:t>
            </a:r>
            <a:r>
              <a:rPr sz="3915" i="1" spc="10" baseline="-24853" dirty="0">
                <a:latin typeface="Times New Roman"/>
                <a:cs typeface="Times New Roman"/>
              </a:rPr>
              <a:t>i</a:t>
            </a:r>
            <a:r>
              <a:rPr sz="3915" i="1" baseline="-24853" dirty="0">
                <a:latin typeface="Times New Roman"/>
                <a:cs typeface="Times New Roman"/>
              </a:rPr>
              <a:t> </a:t>
            </a:r>
            <a:r>
              <a:rPr sz="3915" i="1" spc="51" baseline="-24853" dirty="0">
                <a:latin typeface="Times New Roman"/>
                <a:cs typeface="Times New Roman"/>
              </a:rPr>
              <a:t> </a:t>
            </a:r>
            <a:r>
              <a:rPr sz="4533" spc="-7" dirty="0">
                <a:latin typeface="Times New Roman"/>
                <a:cs typeface="Times New Roman"/>
              </a:rPr>
              <a:t>|</a:t>
            </a:r>
            <a:r>
              <a:rPr sz="4533" spc="-343" dirty="0">
                <a:latin typeface="Times New Roman"/>
                <a:cs typeface="Times New Roman"/>
              </a:rPr>
              <a:t> </a:t>
            </a:r>
            <a:r>
              <a:rPr sz="4533" i="1" spc="-199" dirty="0">
                <a:latin typeface="Times New Roman"/>
                <a:cs typeface="Times New Roman"/>
              </a:rPr>
              <a:t>w</a:t>
            </a:r>
            <a:r>
              <a:rPr sz="3915" spc="21" baseline="-24853" dirty="0">
                <a:latin typeface="Times New Roman"/>
                <a:cs typeface="Times New Roman"/>
              </a:rPr>
              <a:t>1</a:t>
            </a:r>
            <a:r>
              <a:rPr sz="4533" i="1" spc="179" dirty="0">
                <a:latin typeface="Times New Roman"/>
                <a:cs typeface="Times New Roman"/>
              </a:rPr>
              <a:t>w</a:t>
            </a:r>
            <a:r>
              <a:rPr sz="3915" spc="21" baseline="-24853" dirty="0">
                <a:latin typeface="Times New Roman"/>
                <a:cs typeface="Times New Roman"/>
              </a:rPr>
              <a:t>2</a:t>
            </a:r>
            <a:r>
              <a:rPr sz="3915" spc="-422" baseline="-24853" dirty="0">
                <a:latin typeface="Times New Roman"/>
                <a:cs typeface="Times New Roman"/>
              </a:rPr>
              <a:t> </a:t>
            </a:r>
            <a:r>
              <a:rPr sz="4533" spc="357" dirty="0">
                <a:latin typeface="Lucida Sans Unicode"/>
                <a:cs typeface="Lucida Sans Unicode"/>
              </a:rPr>
              <a:t>…</a:t>
            </a:r>
            <a:r>
              <a:rPr sz="4533" i="1" spc="179" dirty="0">
                <a:latin typeface="Times New Roman"/>
                <a:cs typeface="Times New Roman"/>
              </a:rPr>
              <a:t>w</a:t>
            </a:r>
            <a:r>
              <a:rPr sz="3915" i="1" spc="319" baseline="-24853" dirty="0">
                <a:latin typeface="Times New Roman"/>
                <a:cs typeface="Times New Roman"/>
              </a:rPr>
              <a:t>i</a:t>
            </a:r>
            <a:r>
              <a:rPr sz="3915" spc="-174" baseline="-24853" dirty="0">
                <a:latin typeface="Symbol"/>
                <a:cs typeface="Symbol"/>
              </a:rPr>
              <a:t></a:t>
            </a:r>
            <a:r>
              <a:rPr sz="3915" spc="298" baseline="-24853" dirty="0">
                <a:latin typeface="Times New Roman"/>
                <a:cs typeface="Times New Roman"/>
              </a:rPr>
              <a:t>1</a:t>
            </a:r>
            <a:r>
              <a:rPr sz="4533" spc="-7" dirty="0">
                <a:latin typeface="Times New Roman"/>
                <a:cs typeface="Times New Roman"/>
              </a:rPr>
              <a:t>)</a:t>
            </a:r>
            <a:endParaRPr sz="4533">
              <a:latin typeface="Times New Roman"/>
              <a:cs typeface="Times New Roman"/>
            </a:endParaRPr>
          </a:p>
          <a:p>
            <a:pPr marR="299197" algn="ctr">
              <a:spcBef>
                <a:spcPts val="665"/>
              </a:spcBef>
            </a:pPr>
            <a:r>
              <a:rPr sz="2610" i="1" spc="7" dirty="0">
                <a:latin typeface="Times New Roman"/>
                <a:cs typeface="Times New Roman"/>
              </a:rPr>
              <a:t>i</a:t>
            </a:r>
            <a:endParaRPr sz="2610">
              <a:latin typeface="Times New Roman"/>
              <a:cs typeface="Times New Roman"/>
            </a:endParaRPr>
          </a:p>
          <a:p>
            <a:pPr>
              <a:lnSpc>
                <a:spcPct val="100000"/>
              </a:lnSpc>
            </a:pPr>
            <a:endParaRPr sz="2610">
              <a:latin typeface="Times New Roman"/>
              <a:cs typeface="Times New Roman"/>
            </a:endParaRPr>
          </a:p>
          <a:p>
            <a:pPr>
              <a:spcBef>
                <a:spcPts val="34"/>
              </a:spcBef>
            </a:pPr>
            <a:endParaRPr sz="2404">
              <a:latin typeface="Times New Roman"/>
              <a:cs typeface="Times New Roman"/>
            </a:endParaRPr>
          </a:p>
          <a:p>
            <a:pPr marL="34892"/>
            <a:r>
              <a:rPr sz="3846" spc="-7" dirty="0">
                <a:latin typeface="Calibri"/>
                <a:cs typeface="Calibri"/>
              </a:rPr>
              <a:t>P(“its water</a:t>
            </a:r>
            <a:r>
              <a:rPr sz="3846" dirty="0">
                <a:latin typeface="Calibri"/>
                <a:cs typeface="Calibri"/>
              </a:rPr>
              <a:t> is so </a:t>
            </a:r>
            <a:r>
              <a:rPr sz="3846" spc="-7" dirty="0">
                <a:latin typeface="Calibri"/>
                <a:cs typeface="Calibri"/>
              </a:rPr>
              <a:t>transparent”)</a:t>
            </a:r>
            <a:r>
              <a:rPr sz="3846" dirty="0">
                <a:latin typeface="Calibri"/>
                <a:cs typeface="Calibri"/>
              </a:rPr>
              <a:t> =</a:t>
            </a:r>
            <a:endParaRPr sz="3846">
              <a:latin typeface="Calibri"/>
              <a:cs typeface="Calibri"/>
            </a:endParaRPr>
          </a:p>
          <a:p>
            <a:pPr marL="505934">
              <a:spcBef>
                <a:spcPts val="879"/>
              </a:spcBef>
              <a:tabLst>
                <a:tab pos="4959895" algn="l"/>
              </a:tabLst>
            </a:pPr>
            <a:r>
              <a:rPr sz="3846" spc="-7" dirty="0">
                <a:solidFill>
                  <a:srgbClr val="404040"/>
                </a:solidFill>
                <a:latin typeface="Calibri"/>
                <a:cs typeface="Calibri"/>
              </a:rPr>
              <a:t>P(its)</a:t>
            </a:r>
            <a:r>
              <a:rPr sz="3846" spc="14" dirty="0">
                <a:solidFill>
                  <a:srgbClr val="404040"/>
                </a:solidFill>
                <a:latin typeface="Calibri"/>
                <a:cs typeface="Calibri"/>
              </a:rPr>
              <a:t> </a:t>
            </a:r>
            <a:r>
              <a:rPr sz="3846" dirty="0">
                <a:solidFill>
                  <a:srgbClr val="404040"/>
                </a:solidFill>
                <a:latin typeface="Calibri"/>
                <a:cs typeface="Calibri"/>
              </a:rPr>
              <a:t>×</a:t>
            </a:r>
            <a:r>
              <a:rPr sz="3846" spc="7" dirty="0">
                <a:solidFill>
                  <a:srgbClr val="404040"/>
                </a:solidFill>
                <a:latin typeface="Calibri"/>
                <a:cs typeface="Calibri"/>
              </a:rPr>
              <a:t> </a:t>
            </a:r>
            <a:r>
              <a:rPr sz="3846" spc="-7" dirty="0">
                <a:solidFill>
                  <a:srgbClr val="404040"/>
                </a:solidFill>
                <a:latin typeface="Calibri"/>
                <a:cs typeface="Calibri"/>
              </a:rPr>
              <a:t>P(water|its)</a:t>
            </a:r>
            <a:r>
              <a:rPr sz="3846" spc="21" dirty="0">
                <a:solidFill>
                  <a:srgbClr val="404040"/>
                </a:solidFill>
                <a:latin typeface="Calibri"/>
                <a:cs typeface="Calibri"/>
              </a:rPr>
              <a:t> </a:t>
            </a:r>
            <a:r>
              <a:rPr sz="3846" dirty="0">
                <a:solidFill>
                  <a:srgbClr val="404040"/>
                </a:solidFill>
                <a:latin typeface="Calibri"/>
                <a:cs typeface="Calibri"/>
              </a:rPr>
              <a:t>×	</a:t>
            </a:r>
            <a:r>
              <a:rPr sz="3846" spc="-7" dirty="0">
                <a:solidFill>
                  <a:srgbClr val="404040"/>
                </a:solidFill>
                <a:latin typeface="Calibri"/>
                <a:cs typeface="Calibri"/>
              </a:rPr>
              <a:t>P(is|its</a:t>
            </a:r>
            <a:r>
              <a:rPr sz="3846" spc="-27" dirty="0">
                <a:solidFill>
                  <a:srgbClr val="404040"/>
                </a:solidFill>
                <a:latin typeface="Calibri"/>
                <a:cs typeface="Calibri"/>
              </a:rPr>
              <a:t> </a:t>
            </a:r>
            <a:r>
              <a:rPr sz="3846" spc="-7" dirty="0">
                <a:solidFill>
                  <a:srgbClr val="404040"/>
                </a:solidFill>
                <a:latin typeface="Calibri"/>
                <a:cs typeface="Calibri"/>
              </a:rPr>
              <a:t>water)</a:t>
            </a:r>
            <a:endParaRPr sz="3846">
              <a:latin typeface="Calibri"/>
              <a:cs typeface="Calibri"/>
            </a:endParaRPr>
          </a:p>
          <a:p>
            <a:pPr marL="1028441">
              <a:spcBef>
                <a:spcPts val="879"/>
              </a:spcBef>
              <a:tabLst>
                <a:tab pos="1492504" algn="l"/>
                <a:tab pos="5439660" algn="l"/>
              </a:tabLst>
            </a:pPr>
            <a:r>
              <a:rPr sz="3846" dirty="0">
                <a:solidFill>
                  <a:srgbClr val="404040"/>
                </a:solidFill>
                <a:latin typeface="Calibri"/>
                <a:cs typeface="Calibri"/>
              </a:rPr>
              <a:t>×	</a:t>
            </a:r>
            <a:r>
              <a:rPr sz="3846" spc="-7" dirty="0">
                <a:solidFill>
                  <a:srgbClr val="404040"/>
                </a:solidFill>
                <a:latin typeface="Calibri"/>
                <a:cs typeface="Calibri"/>
              </a:rPr>
              <a:t>P(so|its</a:t>
            </a:r>
            <a:r>
              <a:rPr sz="3846" spc="7" dirty="0">
                <a:solidFill>
                  <a:srgbClr val="404040"/>
                </a:solidFill>
                <a:latin typeface="Calibri"/>
                <a:cs typeface="Calibri"/>
              </a:rPr>
              <a:t> </a:t>
            </a:r>
            <a:r>
              <a:rPr sz="3846" spc="-7" dirty="0">
                <a:solidFill>
                  <a:srgbClr val="404040"/>
                </a:solidFill>
                <a:latin typeface="Calibri"/>
                <a:cs typeface="Calibri"/>
              </a:rPr>
              <a:t>water</a:t>
            </a:r>
            <a:r>
              <a:rPr sz="3846" spc="14" dirty="0">
                <a:solidFill>
                  <a:srgbClr val="404040"/>
                </a:solidFill>
                <a:latin typeface="Calibri"/>
                <a:cs typeface="Calibri"/>
              </a:rPr>
              <a:t> </a:t>
            </a:r>
            <a:r>
              <a:rPr sz="3846" dirty="0">
                <a:solidFill>
                  <a:srgbClr val="404040"/>
                </a:solidFill>
                <a:latin typeface="Calibri"/>
                <a:cs typeface="Calibri"/>
              </a:rPr>
              <a:t>is)</a:t>
            </a:r>
            <a:r>
              <a:rPr sz="3846" spc="7" dirty="0">
                <a:solidFill>
                  <a:srgbClr val="404040"/>
                </a:solidFill>
                <a:latin typeface="Calibri"/>
                <a:cs typeface="Calibri"/>
              </a:rPr>
              <a:t> </a:t>
            </a:r>
            <a:r>
              <a:rPr sz="3846" dirty="0">
                <a:solidFill>
                  <a:srgbClr val="404040"/>
                </a:solidFill>
                <a:latin typeface="Calibri"/>
                <a:cs typeface="Calibri"/>
              </a:rPr>
              <a:t>×	</a:t>
            </a:r>
            <a:r>
              <a:rPr sz="3846" spc="-7" dirty="0">
                <a:solidFill>
                  <a:srgbClr val="404040"/>
                </a:solidFill>
                <a:latin typeface="Calibri"/>
                <a:cs typeface="Calibri"/>
              </a:rPr>
              <a:t>P(transparent|its water</a:t>
            </a:r>
            <a:r>
              <a:rPr sz="3846" dirty="0">
                <a:solidFill>
                  <a:srgbClr val="404040"/>
                </a:solidFill>
                <a:latin typeface="Calibri"/>
                <a:cs typeface="Calibri"/>
              </a:rPr>
              <a:t> is </a:t>
            </a:r>
            <a:r>
              <a:rPr sz="3846" spc="-7" dirty="0">
                <a:solidFill>
                  <a:srgbClr val="404040"/>
                </a:solidFill>
                <a:latin typeface="Calibri"/>
                <a:cs typeface="Calibri"/>
              </a:rPr>
              <a:t>so)</a:t>
            </a:r>
            <a:endParaRPr sz="3846">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8336793" cy="704837"/>
          </a:xfrm>
          <a:prstGeom prst="rect">
            <a:avLst/>
          </a:prstGeom>
        </p:spPr>
        <p:txBody>
          <a:bodyPr vert="horz" wrap="square" lIns="0" tIns="17446" rIns="0" bIns="0" rtlCol="0">
            <a:spAutoFit/>
          </a:bodyPr>
          <a:lstStyle/>
          <a:p>
            <a:pPr marL="17446">
              <a:spcBef>
                <a:spcPts val="137"/>
              </a:spcBef>
            </a:pPr>
            <a:r>
              <a:rPr dirty="0">
                <a:latin typeface="Calibri"/>
                <a:cs typeface="Calibri"/>
              </a:rPr>
              <a:t>How</a:t>
            </a:r>
            <a:r>
              <a:rPr spc="-14" dirty="0">
                <a:latin typeface="Calibri"/>
                <a:cs typeface="Calibri"/>
              </a:rPr>
              <a:t> </a:t>
            </a:r>
            <a:r>
              <a:rPr dirty="0">
                <a:latin typeface="Calibri"/>
                <a:cs typeface="Calibri"/>
              </a:rPr>
              <a:t>to</a:t>
            </a:r>
            <a:r>
              <a:rPr spc="-7" dirty="0">
                <a:latin typeface="Calibri"/>
                <a:cs typeface="Calibri"/>
              </a:rPr>
              <a:t> estimate</a:t>
            </a:r>
            <a:r>
              <a:rPr spc="-14" dirty="0">
                <a:latin typeface="Calibri"/>
                <a:cs typeface="Calibri"/>
              </a:rPr>
              <a:t> </a:t>
            </a:r>
            <a:r>
              <a:rPr spc="-7" dirty="0">
                <a:latin typeface="Calibri"/>
                <a:cs typeface="Calibri"/>
              </a:rPr>
              <a:t>these probabilities</a:t>
            </a:r>
          </a:p>
        </p:txBody>
      </p:sp>
      <p:sp>
        <p:nvSpPr>
          <p:cNvPr id="7" name="object 7"/>
          <p:cNvSpPr txBox="1"/>
          <p:nvPr/>
        </p:nvSpPr>
        <p:spPr>
          <a:xfrm>
            <a:off x="1154955" y="2255272"/>
            <a:ext cx="8872400" cy="4807454"/>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297" spc="-7" dirty="0">
                <a:latin typeface="Calibri"/>
                <a:cs typeface="Calibri"/>
              </a:rPr>
              <a:t>Could</a:t>
            </a:r>
            <a:r>
              <a:rPr sz="3297" spc="-14" dirty="0">
                <a:latin typeface="Calibri"/>
                <a:cs typeface="Calibri"/>
              </a:rPr>
              <a:t> </a:t>
            </a:r>
            <a:r>
              <a:rPr sz="3297" spc="-7" dirty="0">
                <a:latin typeface="Calibri"/>
                <a:cs typeface="Calibri"/>
              </a:rPr>
              <a:t>we</a:t>
            </a:r>
            <a:r>
              <a:rPr sz="3297" spc="-14" dirty="0">
                <a:latin typeface="Calibri"/>
                <a:cs typeface="Calibri"/>
              </a:rPr>
              <a:t> </a:t>
            </a:r>
            <a:r>
              <a:rPr sz="3297" dirty="0">
                <a:latin typeface="Calibri"/>
                <a:cs typeface="Calibri"/>
              </a:rPr>
              <a:t>just</a:t>
            </a:r>
            <a:r>
              <a:rPr sz="3297" spc="-14" dirty="0">
                <a:latin typeface="Calibri"/>
                <a:cs typeface="Calibri"/>
              </a:rPr>
              <a:t> </a:t>
            </a:r>
            <a:r>
              <a:rPr sz="3297" spc="-7" dirty="0">
                <a:latin typeface="Calibri"/>
                <a:cs typeface="Calibri"/>
              </a:rPr>
              <a:t>count </a:t>
            </a:r>
            <a:r>
              <a:rPr sz="3297" dirty="0">
                <a:latin typeface="Calibri"/>
                <a:cs typeface="Calibri"/>
              </a:rPr>
              <a:t>and</a:t>
            </a:r>
            <a:r>
              <a:rPr sz="3297" spc="-14" dirty="0">
                <a:latin typeface="Calibri"/>
                <a:cs typeface="Calibri"/>
              </a:rPr>
              <a:t> </a:t>
            </a:r>
            <a:r>
              <a:rPr sz="3297" dirty="0">
                <a:latin typeface="Calibri"/>
                <a:cs typeface="Calibri"/>
              </a:rPr>
              <a:t>divide?</a:t>
            </a:r>
            <a:endParaRPr sz="3297">
              <a:latin typeface="Calibri"/>
              <a:cs typeface="Calibri"/>
            </a:endParaRPr>
          </a:p>
          <a:p>
            <a:pPr>
              <a:lnSpc>
                <a:spcPct val="100000"/>
              </a:lnSpc>
              <a:buClr>
                <a:srgbClr val="CC0000"/>
              </a:buClr>
              <a:buFont typeface="Times New Roman"/>
              <a:buChar char="•"/>
            </a:pPr>
            <a:endParaRPr sz="3434">
              <a:latin typeface="Calibri"/>
              <a:cs typeface="Calibri"/>
            </a:endParaRPr>
          </a:p>
          <a:p>
            <a:pPr marL="601014"/>
            <a:r>
              <a:rPr sz="3846" i="1" spc="27" dirty="0">
                <a:latin typeface="Times New Roman"/>
                <a:cs typeface="Times New Roman"/>
              </a:rPr>
              <a:t>P</a:t>
            </a:r>
            <a:r>
              <a:rPr sz="3846" spc="27" dirty="0">
                <a:latin typeface="Times New Roman"/>
                <a:cs typeface="Times New Roman"/>
              </a:rPr>
              <a:t>(the</a:t>
            </a:r>
            <a:r>
              <a:rPr sz="3846" spc="-131" dirty="0">
                <a:latin typeface="Times New Roman"/>
                <a:cs typeface="Times New Roman"/>
              </a:rPr>
              <a:t> </a:t>
            </a:r>
            <a:r>
              <a:rPr sz="3846" dirty="0">
                <a:latin typeface="Times New Roman"/>
                <a:cs typeface="Times New Roman"/>
              </a:rPr>
              <a:t>|</a:t>
            </a:r>
            <a:r>
              <a:rPr sz="3846" spc="-453" dirty="0">
                <a:latin typeface="Times New Roman"/>
                <a:cs typeface="Times New Roman"/>
              </a:rPr>
              <a:t> </a:t>
            </a:r>
            <a:r>
              <a:rPr sz="3846" spc="-7" dirty="0">
                <a:latin typeface="Times New Roman"/>
                <a:cs typeface="Times New Roman"/>
              </a:rPr>
              <a:t>its</a:t>
            </a:r>
            <a:r>
              <a:rPr sz="3846" dirty="0">
                <a:latin typeface="Times New Roman"/>
                <a:cs typeface="Times New Roman"/>
              </a:rPr>
              <a:t> </a:t>
            </a:r>
            <a:r>
              <a:rPr sz="3846" spc="-7" dirty="0">
                <a:latin typeface="Times New Roman"/>
                <a:cs typeface="Times New Roman"/>
              </a:rPr>
              <a:t>water</a:t>
            </a:r>
            <a:r>
              <a:rPr sz="3846" dirty="0">
                <a:latin typeface="Times New Roman"/>
                <a:cs typeface="Times New Roman"/>
              </a:rPr>
              <a:t> </a:t>
            </a:r>
            <a:r>
              <a:rPr sz="3846" spc="-7" dirty="0">
                <a:latin typeface="Times New Roman"/>
                <a:cs typeface="Times New Roman"/>
              </a:rPr>
              <a:t>is</a:t>
            </a:r>
            <a:r>
              <a:rPr sz="3846" dirty="0">
                <a:latin typeface="Times New Roman"/>
                <a:cs typeface="Times New Roman"/>
              </a:rPr>
              <a:t> so </a:t>
            </a:r>
            <a:r>
              <a:rPr sz="3846" spc="-7" dirty="0">
                <a:latin typeface="Times New Roman"/>
                <a:cs typeface="Times New Roman"/>
              </a:rPr>
              <a:t>transparent</a:t>
            </a:r>
            <a:r>
              <a:rPr sz="3846" spc="7" dirty="0">
                <a:latin typeface="Times New Roman"/>
                <a:cs typeface="Times New Roman"/>
              </a:rPr>
              <a:t> </a:t>
            </a:r>
            <a:r>
              <a:rPr sz="3846" spc="14" dirty="0">
                <a:latin typeface="Times New Roman"/>
                <a:cs typeface="Times New Roman"/>
              </a:rPr>
              <a:t>that)</a:t>
            </a:r>
            <a:r>
              <a:rPr sz="3846" dirty="0">
                <a:latin typeface="Times New Roman"/>
                <a:cs typeface="Times New Roman"/>
              </a:rPr>
              <a:t> </a:t>
            </a:r>
            <a:r>
              <a:rPr sz="3846" dirty="0">
                <a:latin typeface="Symbol"/>
                <a:cs typeface="Symbol"/>
              </a:rPr>
              <a:t></a:t>
            </a:r>
            <a:endParaRPr sz="3846">
              <a:latin typeface="Symbol"/>
              <a:cs typeface="Symbol"/>
            </a:endParaRPr>
          </a:p>
          <a:p>
            <a:pPr marL="621077">
              <a:spcBef>
                <a:spcPts val="1181"/>
              </a:spcBef>
            </a:pPr>
            <a:r>
              <a:rPr sz="3846" i="1" spc="14" dirty="0">
                <a:latin typeface="Times New Roman"/>
                <a:cs typeface="Times New Roman"/>
              </a:rPr>
              <a:t>Count</a:t>
            </a:r>
            <a:r>
              <a:rPr sz="3846" spc="14" dirty="0">
                <a:latin typeface="Times New Roman"/>
                <a:cs typeface="Times New Roman"/>
              </a:rPr>
              <a:t>(its</a:t>
            </a:r>
            <a:r>
              <a:rPr sz="3846" dirty="0">
                <a:latin typeface="Times New Roman"/>
                <a:cs typeface="Times New Roman"/>
              </a:rPr>
              <a:t> </a:t>
            </a:r>
            <a:r>
              <a:rPr sz="3846" spc="-7" dirty="0">
                <a:latin typeface="Times New Roman"/>
                <a:cs typeface="Times New Roman"/>
              </a:rPr>
              <a:t>water</a:t>
            </a:r>
            <a:r>
              <a:rPr sz="3846" spc="7" dirty="0">
                <a:latin typeface="Times New Roman"/>
                <a:cs typeface="Times New Roman"/>
              </a:rPr>
              <a:t> </a:t>
            </a:r>
            <a:r>
              <a:rPr sz="3846" spc="-7" dirty="0">
                <a:latin typeface="Times New Roman"/>
                <a:cs typeface="Times New Roman"/>
              </a:rPr>
              <a:t>is</a:t>
            </a:r>
            <a:r>
              <a:rPr sz="3846" spc="7" dirty="0">
                <a:latin typeface="Times New Roman"/>
                <a:cs typeface="Times New Roman"/>
              </a:rPr>
              <a:t> </a:t>
            </a:r>
            <a:r>
              <a:rPr sz="3846" dirty="0">
                <a:latin typeface="Times New Roman"/>
                <a:cs typeface="Times New Roman"/>
              </a:rPr>
              <a:t>so </a:t>
            </a:r>
            <a:r>
              <a:rPr sz="3846" spc="-7" dirty="0">
                <a:latin typeface="Times New Roman"/>
                <a:cs typeface="Times New Roman"/>
              </a:rPr>
              <a:t>transparent</a:t>
            </a:r>
            <a:r>
              <a:rPr sz="3846" spc="7" dirty="0">
                <a:latin typeface="Times New Roman"/>
                <a:cs typeface="Times New Roman"/>
              </a:rPr>
              <a:t> </a:t>
            </a:r>
            <a:r>
              <a:rPr sz="3846" spc="-7" dirty="0">
                <a:latin typeface="Times New Roman"/>
                <a:cs typeface="Times New Roman"/>
              </a:rPr>
              <a:t>that</a:t>
            </a:r>
            <a:r>
              <a:rPr sz="3846" spc="7" dirty="0">
                <a:latin typeface="Times New Roman"/>
                <a:cs typeface="Times New Roman"/>
              </a:rPr>
              <a:t> </a:t>
            </a:r>
            <a:r>
              <a:rPr sz="3846" spc="-34" dirty="0">
                <a:latin typeface="Times New Roman"/>
                <a:cs typeface="Times New Roman"/>
              </a:rPr>
              <a:t>the)</a:t>
            </a:r>
            <a:endParaRPr sz="3846">
              <a:latin typeface="Times New Roman"/>
              <a:cs typeface="Times New Roman"/>
            </a:endParaRPr>
          </a:p>
          <a:p>
            <a:pPr marL="983082">
              <a:spcBef>
                <a:spcPts val="776"/>
              </a:spcBef>
            </a:pPr>
            <a:r>
              <a:rPr sz="3846" i="1" spc="14" dirty="0">
                <a:latin typeface="Times New Roman"/>
                <a:cs typeface="Times New Roman"/>
              </a:rPr>
              <a:t>Count</a:t>
            </a:r>
            <a:r>
              <a:rPr sz="3846" spc="14" dirty="0">
                <a:latin typeface="Times New Roman"/>
                <a:cs typeface="Times New Roman"/>
              </a:rPr>
              <a:t>(its</a:t>
            </a:r>
            <a:r>
              <a:rPr sz="3846" dirty="0">
                <a:latin typeface="Times New Roman"/>
                <a:cs typeface="Times New Roman"/>
              </a:rPr>
              <a:t> </a:t>
            </a:r>
            <a:r>
              <a:rPr sz="3846" spc="-7" dirty="0">
                <a:latin typeface="Times New Roman"/>
                <a:cs typeface="Times New Roman"/>
              </a:rPr>
              <a:t>water</a:t>
            </a:r>
            <a:r>
              <a:rPr sz="3846" dirty="0">
                <a:latin typeface="Times New Roman"/>
                <a:cs typeface="Times New Roman"/>
              </a:rPr>
              <a:t> </a:t>
            </a:r>
            <a:r>
              <a:rPr sz="3846" spc="-7" dirty="0">
                <a:latin typeface="Times New Roman"/>
                <a:cs typeface="Times New Roman"/>
              </a:rPr>
              <a:t>is</a:t>
            </a:r>
            <a:r>
              <a:rPr sz="3846" spc="7" dirty="0">
                <a:latin typeface="Times New Roman"/>
                <a:cs typeface="Times New Roman"/>
              </a:rPr>
              <a:t> </a:t>
            </a:r>
            <a:r>
              <a:rPr sz="3846" dirty="0">
                <a:latin typeface="Times New Roman"/>
                <a:cs typeface="Times New Roman"/>
              </a:rPr>
              <a:t>so </a:t>
            </a:r>
            <a:r>
              <a:rPr sz="3846" spc="-7" dirty="0">
                <a:latin typeface="Times New Roman"/>
                <a:cs typeface="Times New Roman"/>
              </a:rPr>
              <a:t>transparent</a:t>
            </a:r>
            <a:r>
              <a:rPr sz="3846" dirty="0">
                <a:latin typeface="Times New Roman"/>
                <a:cs typeface="Times New Roman"/>
              </a:rPr>
              <a:t> </a:t>
            </a:r>
            <a:r>
              <a:rPr sz="3846" spc="-7" dirty="0">
                <a:latin typeface="Times New Roman"/>
                <a:cs typeface="Times New Roman"/>
              </a:rPr>
              <a:t>that)</a:t>
            </a:r>
            <a:endParaRPr sz="3846">
              <a:latin typeface="Times New Roman"/>
              <a:cs typeface="Times New Roman"/>
            </a:endParaRPr>
          </a:p>
          <a:p>
            <a:pPr>
              <a:spcBef>
                <a:spcPts val="21"/>
              </a:spcBef>
            </a:pPr>
            <a:endParaRPr sz="3846">
              <a:latin typeface="Times New Roman"/>
              <a:cs typeface="Times New Roman"/>
            </a:endParaRPr>
          </a:p>
          <a:p>
            <a:pPr marL="488488" indent="-471042">
              <a:spcBef>
                <a:spcPts val="7"/>
              </a:spcBef>
              <a:buClr>
                <a:srgbClr val="CC0000"/>
              </a:buClr>
              <a:buFont typeface="Times New Roman"/>
              <a:buChar char="•"/>
              <a:tabLst>
                <a:tab pos="487615" algn="l"/>
                <a:tab pos="488488" algn="l"/>
                <a:tab pos="1304960" algn="l"/>
              </a:tabLst>
            </a:pPr>
            <a:r>
              <a:rPr sz="3297" spc="-7" dirty="0">
                <a:latin typeface="Calibri"/>
                <a:cs typeface="Calibri"/>
              </a:rPr>
              <a:t>No!	Too</a:t>
            </a:r>
            <a:r>
              <a:rPr sz="3297" dirty="0">
                <a:latin typeface="Calibri"/>
                <a:cs typeface="Calibri"/>
              </a:rPr>
              <a:t> </a:t>
            </a:r>
            <a:r>
              <a:rPr sz="3297" spc="-7" dirty="0">
                <a:latin typeface="Calibri"/>
                <a:cs typeface="Calibri"/>
              </a:rPr>
              <a:t>many</a:t>
            </a:r>
            <a:r>
              <a:rPr sz="3297" dirty="0">
                <a:latin typeface="Calibri"/>
                <a:cs typeface="Calibri"/>
              </a:rPr>
              <a:t> </a:t>
            </a:r>
            <a:r>
              <a:rPr sz="3297" spc="-7" dirty="0">
                <a:latin typeface="Calibri"/>
                <a:cs typeface="Calibri"/>
              </a:rPr>
              <a:t>possible</a:t>
            </a:r>
            <a:r>
              <a:rPr sz="3297" dirty="0">
                <a:latin typeface="Calibri"/>
                <a:cs typeface="Calibri"/>
              </a:rPr>
              <a:t> </a:t>
            </a:r>
            <a:r>
              <a:rPr sz="3297" spc="-7" dirty="0">
                <a:latin typeface="Calibri"/>
                <a:cs typeface="Calibri"/>
              </a:rPr>
              <a:t>sentences!</a:t>
            </a:r>
            <a:endParaRPr sz="3297">
              <a:latin typeface="Calibri"/>
              <a:cs typeface="Calibri"/>
            </a:endParaRPr>
          </a:p>
          <a:p>
            <a:pPr marL="488488" indent="-471042">
              <a:spcBef>
                <a:spcPts val="852"/>
              </a:spcBef>
              <a:buClr>
                <a:srgbClr val="CC0000"/>
              </a:buClr>
              <a:buFont typeface="Times New Roman"/>
              <a:buChar char="•"/>
              <a:tabLst>
                <a:tab pos="487615" algn="l"/>
                <a:tab pos="488488" algn="l"/>
              </a:tabLst>
            </a:pPr>
            <a:r>
              <a:rPr sz="3297" spc="-7" dirty="0">
                <a:latin typeface="Calibri"/>
                <a:cs typeface="Calibri"/>
              </a:rPr>
              <a:t>We’ll</a:t>
            </a:r>
            <a:r>
              <a:rPr sz="3297" spc="-14" dirty="0">
                <a:latin typeface="Calibri"/>
                <a:cs typeface="Calibri"/>
              </a:rPr>
              <a:t> </a:t>
            </a:r>
            <a:r>
              <a:rPr sz="3297" dirty="0">
                <a:latin typeface="Calibri"/>
                <a:cs typeface="Calibri"/>
              </a:rPr>
              <a:t>never</a:t>
            </a:r>
            <a:r>
              <a:rPr sz="3297" spc="-7" dirty="0">
                <a:latin typeface="Calibri"/>
                <a:cs typeface="Calibri"/>
              </a:rPr>
              <a:t> </a:t>
            </a:r>
            <a:r>
              <a:rPr sz="3297" dirty="0">
                <a:latin typeface="Calibri"/>
                <a:cs typeface="Calibri"/>
              </a:rPr>
              <a:t>see</a:t>
            </a:r>
            <a:r>
              <a:rPr sz="3297" spc="-7" dirty="0">
                <a:latin typeface="Calibri"/>
                <a:cs typeface="Calibri"/>
              </a:rPr>
              <a:t> enough </a:t>
            </a:r>
            <a:r>
              <a:rPr sz="3297" dirty="0">
                <a:latin typeface="Calibri"/>
                <a:cs typeface="Calibri"/>
              </a:rPr>
              <a:t>data</a:t>
            </a:r>
            <a:r>
              <a:rPr sz="3297" spc="-7" dirty="0">
                <a:latin typeface="Calibri"/>
                <a:cs typeface="Calibri"/>
              </a:rPr>
              <a:t> for estimating </a:t>
            </a:r>
            <a:r>
              <a:rPr sz="3297" dirty="0">
                <a:latin typeface="Calibri"/>
                <a:cs typeface="Calibri"/>
              </a:rPr>
              <a:t>these</a:t>
            </a:r>
            <a:endParaRPr sz="3297">
              <a:latin typeface="Calibri"/>
              <a:cs typeface="Calibri"/>
            </a:endParaRPr>
          </a:p>
        </p:txBody>
      </p:sp>
      <p:sp>
        <p:nvSpPr>
          <p:cNvPr id="8" name="object 8"/>
          <p:cNvSpPr/>
          <p:nvPr/>
        </p:nvSpPr>
        <p:spPr>
          <a:xfrm>
            <a:off x="1756336" y="4716578"/>
            <a:ext cx="8112606" cy="0"/>
          </a:xfrm>
          <a:custGeom>
            <a:avLst/>
            <a:gdLst/>
            <a:ahLst/>
            <a:cxnLst/>
            <a:rect l="l" t="t" r="r" b="b"/>
            <a:pathLst>
              <a:path w="5905500">
                <a:moveTo>
                  <a:pt x="0" y="0"/>
                </a:moveTo>
                <a:lnTo>
                  <a:pt x="5904889" y="0"/>
                </a:lnTo>
              </a:path>
            </a:pathLst>
          </a:custGeom>
          <a:ln w="14883">
            <a:solidFill>
              <a:srgbClr val="000000"/>
            </a:solidFill>
          </a:ln>
        </p:spPr>
        <p:txBody>
          <a:bodyPr wrap="square" lIns="0" tIns="0" rIns="0" bIns="0" rtlCol="0"/>
          <a:lstStyle/>
          <a:p>
            <a:endParaRPr sz="2473"/>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7" y="1014829"/>
            <a:ext cx="4719269"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Markov</a:t>
            </a:r>
            <a:r>
              <a:rPr spc="-96" dirty="0">
                <a:latin typeface="Calibri"/>
                <a:cs typeface="Calibri"/>
              </a:rPr>
              <a:t> </a:t>
            </a:r>
            <a:r>
              <a:rPr spc="-7" dirty="0">
                <a:latin typeface="Calibri"/>
                <a:cs typeface="Calibri"/>
              </a:rPr>
              <a:t>Assumption</a:t>
            </a:r>
          </a:p>
        </p:txBody>
      </p:sp>
      <p:sp>
        <p:nvSpPr>
          <p:cNvPr id="7" name="object 7"/>
          <p:cNvSpPr txBox="1"/>
          <p:nvPr/>
        </p:nvSpPr>
        <p:spPr>
          <a:xfrm>
            <a:off x="1154955" y="2255272"/>
            <a:ext cx="6579934" cy="778594"/>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4945" spc="-7" dirty="0">
                <a:latin typeface="Calibri"/>
                <a:cs typeface="Calibri"/>
              </a:rPr>
              <a:t>Simplifying</a:t>
            </a:r>
            <a:r>
              <a:rPr sz="4945" spc="-55" dirty="0">
                <a:latin typeface="Calibri"/>
                <a:cs typeface="Calibri"/>
              </a:rPr>
              <a:t> </a:t>
            </a:r>
            <a:r>
              <a:rPr sz="4945" spc="-7" dirty="0">
                <a:latin typeface="Calibri"/>
                <a:cs typeface="Calibri"/>
              </a:rPr>
              <a:t>assumption:</a:t>
            </a:r>
            <a:endParaRPr sz="4945">
              <a:latin typeface="Calibri"/>
              <a:cs typeface="Calibri"/>
            </a:endParaRPr>
          </a:p>
        </p:txBody>
      </p:sp>
      <p:sp>
        <p:nvSpPr>
          <p:cNvPr id="8" name="object 8"/>
          <p:cNvSpPr txBox="1"/>
          <p:nvPr/>
        </p:nvSpPr>
        <p:spPr>
          <a:xfrm>
            <a:off x="1004450" y="3655332"/>
            <a:ext cx="12173271" cy="3587039"/>
          </a:xfrm>
          <a:prstGeom prst="rect">
            <a:avLst/>
          </a:prstGeom>
        </p:spPr>
        <p:txBody>
          <a:bodyPr vert="horz" wrap="square" lIns="0" tIns="18319" rIns="0" bIns="0" rtlCol="0">
            <a:spAutoFit/>
          </a:bodyPr>
          <a:lstStyle/>
          <a:p>
            <a:pPr marL="335835">
              <a:spcBef>
                <a:spcPts val="144"/>
              </a:spcBef>
            </a:pPr>
            <a:r>
              <a:rPr sz="3984" i="1" spc="27" dirty="0">
                <a:latin typeface="Times New Roman"/>
                <a:cs typeface="Times New Roman"/>
              </a:rPr>
              <a:t>P</a:t>
            </a:r>
            <a:r>
              <a:rPr sz="3984" spc="27" dirty="0">
                <a:latin typeface="Times New Roman"/>
                <a:cs typeface="Times New Roman"/>
              </a:rPr>
              <a:t>(</a:t>
            </a:r>
            <a:r>
              <a:rPr sz="3984" spc="27" dirty="0">
                <a:solidFill>
                  <a:srgbClr val="FF0000"/>
                </a:solidFill>
                <a:latin typeface="Times New Roman"/>
                <a:cs typeface="Times New Roman"/>
              </a:rPr>
              <a:t>the</a:t>
            </a:r>
            <a:r>
              <a:rPr sz="3984" spc="-137" dirty="0">
                <a:latin typeface="Times New Roman"/>
                <a:cs typeface="Times New Roman"/>
              </a:rPr>
              <a:t> </a:t>
            </a:r>
            <a:r>
              <a:rPr sz="3984" spc="-7" dirty="0">
                <a:latin typeface="Times New Roman"/>
                <a:cs typeface="Times New Roman"/>
              </a:rPr>
              <a:t>|</a:t>
            </a:r>
            <a:r>
              <a:rPr sz="3984" spc="-467" dirty="0">
                <a:latin typeface="Times New Roman"/>
                <a:cs typeface="Times New Roman"/>
              </a:rPr>
              <a:t> </a:t>
            </a:r>
            <a:r>
              <a:rPr sz="3984" spc="-7" dirty="0">
                <a:latin typeface="Times New Roman"/>
                <a:cs typeface="Times New Roman"/>
              </a:rPr>
              <a:t>its water is so transparent </a:t>
            </a:r>
            <a:r>
              <a:rPr sz="3984" spc="14" dirty="0">
                <a:solidFill>
                  <a:srgbClr val="FF0000"/>
                </a:solidFill>
                <a:latin typeface="Times New Roman"/>
                <a:cs typeface="Times New Roman"/>
              </a:rPr>
              <a:t>that</a:t>
            </a:r>
            <a:r>
              <a:rPr sz="3984" spc="14" dirty="0">
                <a:latin typeface="Times New Roman"/>
                <a:cs typeface="Times New Roman"/>
              </a:rPr>
              <a:t>)</a:t>
            </a:r>
            <a:r>
              <a:rPr sz="3984" spc="-172" dirty="0">
                <a:latin typeface="Times New Roman"/>
                <a:cs typeface="Times New Roman"/>
              </a:rPr>
              <a:t> </a:t>
            </a:r>
            <a:r>
              <a:rPr lang="en-US" sz="3984" spc="543" dirty="0">
                <a:latin typeface="Symbol"/>
                <a:cs typeface="Times New Roman"/>
              </a:rPr>
              <a:t>    </a:t>
            </a:r>
            <a:r>
              <a:rPr sz="3984" spc="-34" dirty="0">
                <a:latin typeface="Times New Roman"/>
                <a:cs typeface="Times New Roman"/>
              </a:rPr>
              <a:t> </a:t>
            </a:r>
            <a:r>
              <a:rPr sz="3984" i="1" spc="27" dirty="0">
                <a:latin typeface="Times New Roman"/>
                <a:cs typeface="Times New Roman"/>
              </a:rPr>
              <a:t>P</a:t>
            </a:r>
            <a:r>
              <a:rPr sz="3984" spc="27" dirty="0">
                <a:latin typeface="Times New Roman"/>
                <a:cs typeface="Times New Roman"/>
              </a:rPr>
              <a:t>(the</a:t>
            </a:r>
            <a:r>
              <a:rPr sz="3984" spc="-137" dirty="0">
                <a:latin typeface="Times New Roman"/>
                <a:cs typeface="Times New Roman"/>
              </a:rPr>
              <a:t> </a:t>
            </a:r>
            <a:r>
              <a:rPr sz="3984" spc="-7" dirty="0">
                <a:latin typeface="Times New Roman"/>
                <a:cs typeface="Times New Roman"/>
              </a:rPr>
              <a:t>|</a:t>
            </a:r>
            <a:r>
              <a:rPr sz="3984" spc="-467" dirty="0">
                <a:latin typeface="Times New Roman"/>
                <a:cs typeface="Times New Roman"/>
              </a:rPr>
              <a:t> </a:t>
            </a:r>
            <a:r>
              <a:rPr sz="3984" spc="34" dirty="0">
                <a:latin typeface="Times New Roman"/>
                <a:cs typeface="Times New Roman"/>
              </a:rPr>
              <a:t>that)</a:t>
            </a:r>
            <a:endParaRPr sz="3984" dirty="0">
              <a:latin typeface="Times New Roman"/>
              <a:cs typeface="Times New Roman"/>
            </a:endParaRPr>
          </a:p>
          <a:p>
            <a:pPr>
              <a:lnSpc>
                <a:spcPct val="100000"/>
              </a:lnSpc>
            </a:pPr>
            <a:endParaRPr sz="4121" dirty="0">
              <a:latin typeface="Times New Roman"/>
              <a:cs typeface="Times New Roman"/>
            </a:endParaRPr>
          </a:p>
          <a:p>
            <a:pPr marL="638523" indent="-471914">
              <a:spcBef>
                <a:spcPts val="7"/>
              </a:spcBef>
              <a:buClr>
                <a:srgbClr val="CC0000"/>
              </a:buClr>
              <a:buFont typeface="Times New Roman"/>
              <a:buChar char="•"/>
              <a:tabLst>
                <a:tab pos="638523" algn="l"/>
                <a:tab pos="639396" algn="l"/>
              </a:tabLst>
            </a:pPr>
            <a:r>
              <a:rPr sz="4945" dirty="0">
                <a:latin typeface="Calibri"/>
                <a:cs typeface="Calibri"/>
              </a:rPr>
              <a:t>Or</a:t>
            </a:r>
            <a:r>
              <a:rPr sz="4945" spc="-48" dirty="0">
                <a:latin typeface="Calibri"/>
                <a:cs typeface="Calibri"/>
              </a:rPr>
              <a:t> </a:t>
            </a:r>
            <a:r>
              <a:rPr sz="4945" spc="-7" dirty="0">
                <a:latin typeface="Calibri"/>
                <a:cs typeface="Calibri"/>
              </a:rPr>
              <a:t>maybe</a:t>
            </a:r>
            <a:endParaRPr sz="4945" dirty="0">
              <a:latin typeface="Calibri"/>
              <a:cs typeface="Calibri"/>
            </a:endParaRPr>
          </a:p>
          <a:p>
            <a:pPr marL="17446">
              <a:spcBef>
                <a:spcPts val="3070"/>
              </a:spcBef>
            </a:pPr>
            <a:r>
              <a:rPr sz="3778" i="1" spc="157" dirty="0">
                <a:latin typeface="Times New Roman"/>
                <a:cs typeface="Times New Roman"/>
              </a:rPr>
              <a:t>P</a:t>
            </a:r>
            <a:r>
              <a:rPr sz="3778" spc="-7" dirty="0">
                <a:latin typeface="Times New Roman"/>
                <a:cs typeface="Times New Roman"/>
              </a:rPr>
              <a:t>(</a:t>
            </a:r>
            <a:r>
              <a:rPr sz="3778" spc="-14" dirty="0">
                <a:latin typeface="Times New Roman"/>
                <a:cs typeface="Times New Roman"/>
              </a:rPr>
              <a:t>t</a:t>
            </a:r>
            <a:r>
              <a:rPr sz="3778" spc="-7" dirty="0">
                <a:latin typeface="Times New Roman"/>
                <a:cs typeface="Times New Roman"/>
              </a:rPr>
              <a:t>he</a:t>
            </a:r>
            <a:r>
              <a:rPr sz="3778" spc="-131" dirty="0">
                <a:latin typeface="Times New Roman"/>
                <a:cs typeface="Times New Roman"/>
              </a:rPr>
              <a:t> </a:t>
            </a:r>
            <a:r>
              <a:rPr sz="3778" spc="-7" dirty="0">
                <a:latin typeface="Times New Roman"/>
                <a:cs typeface="Times New Roman"/>
              </a:rPr>
              <a:t>|</a:t>
            </a:r>
            <a:r>
              <a:rPr sz="3778" spc="-446" dirty="0">
                <a:latin typeface="Times New Roman"/>
                <a:cs typeface="Times New Roman"/>
              </a:rPr>
              <a:t> </a:t>
            </a:r>
            <a:r>
              <a:rPr sz="3778" spc="-14" dirty="0">
                <a:latin typeface="Times New Roman"/>
                <a:cs typeface="Times New Roman"/>
              </a:rPr>
              <a:t>it</a:t>
            </a:r>
            <a:r>
              <a:rPr sz="3778" spc="-7" dirty="0">
                <a:latin typeface="Times New Roman"/>
                <a:cs typeface="Times New Roman"/>
              </a:rPr>
              <a:t>s w</a:t>
            </a:r>
            <a:r>
              <a:rPr sz="3778" spc="-14" dirty="0">
                <a:latin typeface="Times New Roman"/>
                <a:cs typeface="Times New Roman"/>
              </a:rPr>
              <a:t>ate</a:t>
            </a:r>
            <a:r>
              <a:rPr sz="3778" spc="-7" dirty="0">
                <a:latin typeface="Times New Roman"/>
                <a:cs typeface="Times New Roman"/>
              </a:rPr>
              <a:t>r </a:t>
            </a:r>
            <a:r>
              <a:rPr sz="3778" spc="-14" dirty="0">
                <a:latin typeface="Times New Roman"/>
                <a:cs typeface="Times New Roman"/>
              </a:rPr>
              <a:t>i</a:t>
            </a:r>
            <a:r>
              <a:rPr sz="3778" spc="-7" dirty="0">
                <a:latin typeface="Times New Roman"/>
                <a:cs typeface="Times New Roman"/>
              </a:rPr>
              <a:t>s so </a:t>
            </a:r>
            <a:r>
              <a:rPr sz="3778" spc="-14" dirty="0">
                <a:latin typeface="Times New Roman"/>
                <a:cs typeface="Times New Roman"/>
              </a:rPr>
              <a:t>t</a:t>
            </a:r>
            <a:r>
              <a:rPr sz="3778" spc="-7" dirty="0">
                <a:latin typeface="Times New Roman"/>
                <a:cs typeface="Times New Roman"/>
              </a:rPr>
              <a:t>r</a:t>
            </a:r>
            <a:r>
              <a:rPr sz="3778" spc="-14" dirty="0">
                <a:latin typeface="Times New Roman"/>
                <a:cs typeface="Times New Roman"/>
              </a:rPr>
              <a:t>a</a:t>
            </a:r>
            <a:r>
              <a:rPr sz="3778" spc="-7" dirty="0">
                <a:latin typeface="Times New Roman"/>
                <a:cs typeface="Times New Roman"/>
              </a:rPr>
              <a:t>nsp</a:t>
            </a:r>
            <a:r>
              <a:rPr sz="3778" spc="-14" dirty="0">
                <a:latin typeface="Times New Roman"/>
                <a:cs typeface="Times New Roman"/>
              </a:rPr>
              <a:t>a</a:t>
            </a:r>
            <a:r>
              <a:rPr sz="3778" spc="-7" dirty="0">
                <a:latin typeface="Times New Roman"/>
                <a:cs typeface="Times New Roman"/>
              </a:rPr>
              <a:t>r</a:t>
            </a:r>
            <a:r>
              <a:rPr sz="3778" spc="-14" dirty="0">
                <a:latin typeface="Times New Roman"/>
                <a:cs typeface="Times New Roman"/>
              </a:rPr>
              <a:t>e</a:t>
            </a:r>
            <a:r>
              <a:rPr sz="3778" spc="-7" dirty="0">
                <a:latin typeface="Times New Roman"/>
                <a:cs typeface="Times New Roman"/>
              </a:rPr>
              <a:t>nt </a:t>
            </a:r>
            <a:r>
              <a:rPr sz="3778" spc="-14" dirty="0">
                <a:latin typeface="Times New Roman"/>
                <a:cs typeface="Times New Roman"/>
              </a:rPr>
              <a:t>t</a:t>
            </a:r>
            <a:r>
              <a:rPr sz="3778" spc="-7" dirty="0">
                <a:latin typeface="Times New Roman"/>
                <a:cs typeface="Times New Roman"/>
              </a:rPr>
              <a:t>h</a:t>
            </a:r>
            <a:r>
              <a:rPr sz="3778" spc="-14" dirty="0">
                <a:latin typeface="Times New Roman"/>
                <a:cs typeface="Times New Roman"/>
              </a:rPr>
              <a:t>a</a:t>
            </a:r>
            <a:r>
              <a:rPr sz="3778" spc="82" dirty="0">
                <a:latin typeface="Times New Roman"/>
                <a:cs typeface="Times New Roman"/>
              </a:rPr>
              <a:t>t</a:t>
            </a:r>
            <a:r>
              <a:rPr sz="3778" spc="-7" dirty="0">
                <a:latin typeface="Times New Roman"/>
                <a:cs typeface="Times New Roman"/>
              </a:rPr>
              <a:t>)</a:t>
            </a:r>
            <a:r>
              <a:rPr sz="3778" spc="-157" dirty="0">
                <a:latin typeface="Times New Roman"/>
                <a:cs typeface="Times New Roman"/>
              </a:rPr>
              <a:t> </a:t>
            </a:r>
            <a:r>
              <a:rPr lang="en-US" sz="3778" spc="-157" dirty="0">
                <a:latin typeface="Times New Roman"/>
                <a:cs typeface="Times New Roman"/>
              </a:rPr>
              <a:t>     </a:t>
            </a:r>
            <a:r>
              <a:rPr sz="3778" spc="-34" dirty="0">
                <a:latin typeface="Times New Roman"/>
                <a:cs typeface="Times New Roman"/>
              </a:rPr>
              <a:t> </a:t>
            </a:r>
            <a:r>
              <a:rPr sz="3778" i="1" spc="157" dirty="0">
                <a:latin typeface="Times New Roman"/>
                <a:cs typeface="Times New Roman"/>
              </a:rPr>
              <a:t>P</a:t>
            </a:r>
            <a:r>
              <a:rPr sz="3778" spc="-7" dirty="0">
                <a:latin typeface="Times New Roman"/>
                <a:cs typeface="Times New Roman"/>
              </a:rPr>
              <a:t>(</a:t>
            </a:r>
            <a:r>
              <a:rPr sz="3778" spc="-14" dirty="0">
                <a:latin typeface="Times New Roman"/>
                <a:cs typeface="Times New Roman"/>
              </a:rPr>
              <a:t>t</a:t>
            </a:r>
            <a:r>
              <a:rPr sz="3778" spc="-7" dirty="0">
                <a:latin typeface="Times New Roman"/>
                <a:cs typeface="Times New Roman"/>
              </a:rPr>
              <a:t>he</a:t>
            </a:r>
            <a:r>
              <a:rPr sz="3778" spc="-131" dirty="0">
                <a:latin typeface="Times New Roman"/>
                <a:cs typeface="Times New Roman"/>
              </a:rPr>
              <a:t> </a:t>
            </a:r>
            <a:r>
              <a:rPr sz="3778" spc="-7" dirty="0">
                <a:latin typeface="Times New Roman"/>
                <a:cs typeface="Times New Roman"/>
              </a:rPr>
              <a:t>|</a:t>
            </a:r>
            <a:r>
              <a:rPr sz="3778" spc="-446" dirty="0">
                <a:latin typeface="Times New Roman"/>
                <a:cs typeface="Times New Roman"/>
              </a:rPr>
              <a:t> </a:t>
            </a:r>
            <a:r>
              <a:rPr sz="3778" spc="-14" dirty="0">
                <a:latin typeface="Times New Roman"/>
                <a:cs typeface="Times New Roman"/>
              </a:rPr>
              <a:t>t</a:t>
            </a:r>
            <a:r>
              <a:rPr sz="3778" spc="-7" dirty="0">
                <a:latin typeface="Times New Roman"/>
                <a:cs typeface="Times New Roman"/>
              </a:rPr>
              <a:t>r</a:t>
            </a:r>
            <a:r>
              <a:rPr sz="3778" spc="-14" dirty="0">
                <a:latin typeface="Times New Roman"/>
                <a:cs typeface="Times New Roman"/>
              </a:rPr>
              <a:t>a</a:t>
            </a:r>
            <a:r>
              <a:rPr sz="3778" spc="-7" dirty="0">
                <a:latin typeface="Times New Roman"/>
                <a:cs typeface="Times New Roman"/>
              </a:rPr>
              <a:t>nsp</a:t>
            </a:r>
            <a:r>
              <a:rPr sz="3778" spc="-14" dirty="0">
                <a:latin typeface="Times New Roman"/>
                <a:cs typeface="Times New Roman"/>
              </a:rPr>
              <a:t>a</a:t>
            </a:r>
            <a:r>
              <a:rPr sz="3778" spc="-7" dirty="0">
                <a:latin typeface="Times New Roman"/>
                <a:cs typeface="Times New Roman"/>
              </a:rPr>
              <a:t>r</a:t>
            </a:r>
            <a:r>
              <a:rPr sz="3778" spc="-14" dirty="0">
                <a:latin typeface="Times New Roman"/>
                <a:cs typeface="Times New Roman"/>
              </a:rPr>
              <a:t>e</a:t>
            </a:r>
            <a:r>
              <a:rPr sz="3778" spc="-7" dirty="0">
                <a:latin typeface="Times New Roman"/>
                <a:cs typeface="Times New Roman"/>
              </a:rPr>
              <a:t>nt </a:t>
            </a:r>
            <a:r>
              <a:rPr sz="3778" spc="-14" dirty="0">
                <a:latin typeface="Times New Roman"/>
                <a:cs typeface="Times New Roman"/>
              </a:rPr>
              <a:t>t</a:t>
            </a:r>
            <a:r>
              <a:rPr sz="3778" spc="-7" dirty="0">
                <a:latin typeface="Times New Roman"/>
                <a:cs typeface="Times New Roman"/>
              </a:rPr>
              <a:t>h</a:t>
            </a:r>
            <a:r>
              <a:rPr sz="3778" spc="-14" dirty="0">
                <a:latin typeface="Times New Roman"/>
                <a:cs typeface="Times New Roman"/>
              </a:rPr>
              <a:t>a</a:t>
            </a:r>
            <a:r>
              <a:rPr sz="3778" spc="131" dirty="0">
                <a:latin typeface="Times New Roman"/>
                <a:cs typeface="Times New Roman"/>
              </a:rPr>
              <a:t>t</a:t>
            </a:r>
            <a:r>
              <a:rPr sz="3778" spc="-7" dirty="0">
                <a:latin typeface="Times New Roman"/>
                <a:cs typeface="Times New Roman"/>
              </a:rPr>
              <a:t>)</a:t>
            </a:r>
            <a:endParaRPr sz="3778" dirty="0">
              <a:latin typeface="Times New Roman"/>
              <a:cs typeface="Times New Roman"/>
            </a:endParaRPr>
          </a:p>
        </p:txBody>
      </p:sp>
      <p:pic>
        <p:nvPicPr>
          <p:cNvPr id="9" name="object 9"/>
          <p:cNvPicPr/>
          <p:nvPr/>
        </p:nvPicPr>
        <p:blipFill>
          <a:blip r:embed="rId3" cstate="print"/>
          <a:stretch>
            <a:fillRect/>
          </a:stretch>
        </p:blipFill>
        <p:spPr>
          <a:xfrm>
            <a:off x="10363200" y="535054"/>
            <a:ext cx="2017358" cy="2638775"/>
          </a:xfrm>
          <a:prstGeom prst="rect">
            <a:avLst/>
          </a:prstGeom>
        </p:spPr>
      </p:pic>
      <p:sp>
        <p:nvSpPr>
          <p:cNvPr id="10" name="object 10"/>
          <p:cNvSpPr txBox="1"/>
          <p:nvPr/>
        </p:nvSpPr>
        <p:spPr>
          <a:xfrm>
            <a:off x="10584808" y="3046335"/>
            <a:ext cx="1723711" cy="355850"/>
          </a:xfrm>
          <a:prstGeom prst="rect">
            <a:avLst/>
          </a:prstGeom>
        </p:spPr>
        <p:txBody>
          <a:bodyPr vert="horz" wrap="square" lIns="0" tIns="17446" rIns="0" bIns="0" rtlCol="0">
            <a:spAutoFit/>
          </a:bodyPr>
          <a:lstStyle/>
          <a:p>
            <a:pPr marL="17446">
              <a:spcBef>
                <a:spcPts val="137"/>
              </a:spcBef>
            </a:pPr>
            <a:r>
              <a:rPr sz="2198" spc="-7" dirty="0">
                <a:latin typeface="Calibri"/>
                <a:cs typeface="Calibri"/>
              </a:rPr>
              <a:t>Andrei</a:t>
            </a:r>
            <a:r>
              <a:rPr sz="2198" spc="-62" dirty="0">
                <a:latin typeface="Calibri"/>
                <a:cs typeface="Calibri"/>
              </a:rPr>
              <a:t> </a:t>
            </a:r>
            <a:r>
              <a:rPr sz="2198" spc="-7" dirty="0">
                <a:latin typeface="Calibri"/>
                <a:cs typeface="Calibri"/>
              </a:rPr>
              <a:t>Markov</a:t>
            </a:r>
            <a:endParaRPr sz="2198">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p:nvPr/>
        </p:nvSpPr>
        <p:spPr>
          <a:xfrm>
            <a:off x="2620457" y="1014829"/>
            <a:ext cx="4719269" cy="694084"/>
          </a:xfrm>
          <a:prstGeom prst="rect">
            <a:avLst/>
          </a:prstGeom>
        </p:spPr>
        <p:txBody>
          <a:bodyPr vert="horz" wrap="square" lIns="0" tIns="17446" rIns="0" bIns="0" rtlCol="0">
            <a:spAutoFit/>
          </a:bodyPr>
          <a:lstStyle/>
          <a:p>
            <a:pPr marL="17446">
              <a:spcBef>
                <a:spcPts val="137"/>
              </a:spcBef>
            </a:pPr>
            <a:r>
              <a:rPr sz="4396" b="1" spc="-7" dirty="0">
                <a:latin typeface="Calibri"/>
                <a:cs typeface="Calibri"/>
              </a:rPr>
              <a:t>Markov</a:t>
            </a:r>
            <a:r>
              <a:rPr sz="4396" b="1" spc="-96" dirty="0">
                <a:latin typeface="Calibri"/>
                <a:cs typeface="Calibri"/>
              </a:rPr>
              <a:t> </a:t>
            </a:r>
            <a:r>
              <a:rPr sz="4396" b="1" spc="-7" dirty="0">
                <a:latin typeface="Calibri"/>
                <a:cs typeface="Calibri"/>
              </a:rPr>
              <a:t>Assumption</a:t>
            </a:r>
            <a:endParaRPr sz="4396">
              <a:latin typeface="Calibri"/>
              <a:cs typeface="Calibri"/>
            </a:endParaRPr>
          </a:p>
        </p:txBody>
      </p:sp>
      <p:sp>
        <p:nvSpPr>
          <p:cNvPr id="7" name="object 7"/>
          <p:cNvSpPr txBox="1">
            <a:spLocks noGrp="1"/>
          </p:cNvSpPr>
          <p:nvPr>
            <p:ph type="title"/>
          </p:nvPr>
        </p:nvSpPr>
        <p:spPr>
          <a:xfrm>
            <a:off x="1850724" y="2083738"/>
            <a:ext cx="9650512" cy="1181188"/>
          </a:xfrm>
          <a:prstGeom prst="rect">
            <a:avLst/>
          </a:prstGeom>
        </p:spPr>
        <p:txBody>
          <a:bodyPr vert="horz" wrap="square" lIns="0" tIns="18319" rIns="0" bIns="0" rtlCol="0">
            <a:spAutoFit/>
          </a:bodyPr>
          <a:lstStyle/>
          <a:p>
            <a:pPr marL="34892">
              <a:spcBef>
                <a:spcPts val="144"/>
              </a:spcBef>
              <a:tabLst>
                <a:tab pos="6432337" algn="l"/>
              </a:tabLst>
            </a:pPr>
            <a:r>
              <a:rPr sz="5014" b="0" i="1" spc="220" dirty="0">
                <a:latin typeface="Times New Roman"/>
                <a:cs typeface="Times New Roman"/>
              </a:rPr>
              <a:t>P</a:t>
            </a:r>
            <a:r>
              <a:rPr sz="5014" b="0" spc="199" dirty="0">
                <a:latin typeface="Times New Roman"/>
                <a:cs typeface="Times New Roman"/>
              </a:rPr>
              <a:t>(</a:t>
            </a:r>
            <a:r>
              <a:rPr sz="5014" b="0" i="1" spc="-220" dirty="0">
                <a:latin typeface="Times New Roman"/>
                <a:cs typeface="Times New Roman"/>
              </a:rPr>
              <a:t>w</a:t>
            </a:r>
            <a:r>
              <a:rPr sz="4430" b="0" spc="-30" baseline="-23255" dirty="0">
                <a:latin typeface="Times New Roman"/>
                <a:cs typeface="Times New Roman"/>
              </a:rPr>
              <a:t>1</a:t>
            </a:r>
            <a:r>
              <a:rPr sz="5014" b="0" i="1" spc="199" dirty="0">
                <a:latin typeface="Times New Roman"/>
                <a:cs typeface="Times New Roman"/>
              </a:rPr>
              <a:t>w</a:t>
            </a:r>
            <a:r>
              <a:rPr sz="4430" b="0" spc="-30" baseline="-23255" dirty="0">
                <a:latin typeface="Times New Roman"/>
                <a:cs typeface="Times New Roman"/>
              </a:rPr>
              <a:t>2</a:t>
            </a:r>
            <a:r>
              <a:rPr sz="4430" b="0" spc="-484" baseline="-23255" dirty="0">
                <a:latin typeface="Times New Roman"/>
                <a:cs typeface="Times New Roman"/>
              </a:rPr>
              <a:t> </a:t>
            </a:r>
            <a:r>
              <a:rPr sz="5014" b="0" spc="405" dirty="0">
                <a:latin typeface="Lucida Sans Unicode"/>
                <a:cs typeface="Lucida Sans Unicode"/>
              </a:rPr>
              <a:t>…</a:t>
            </a:r>
            <a:r>
              <a:rPr sz="5014" b="0" i="1" spc="199" dirty="0">
                <a:latin typeface="Times New Roman"/>
                <a:cs typeface="Times New Roman"/>
              </a:rPr>
              <a:t>w</a:t>
            </a:r>
            <a:r>
              <a:rPr sz="4430" b="0" i="1" spc="-30" baseline="-23255" dirty="0">
                <a:latin typeface="Times New Roman"/>
                <a:cs typeface="Times New Roman"/>
              </a:rPr>
              <a:t>n</a:t>
            </a:r>
            <a:r>
              <a:rPr sz="4430" b="0" i="1" spc="-246" baseline="-23255" dirty="0">
                <a:latin typeface="Times New Roman"/>
                <a:cs typeface="Times New Roman"/>
              </a:rPr>
              <a:t> </a:t>
            </a:r>
            <a:r>
              <a:rPr sz="5014" b="0" spc="-7" dirty="0">
                <a:latin typeface="Times New Roman"/>
                <a:cs typeface="Times New Roman"/>
              </a:rPr>
              <a:t>)</a:t>
            </a:r>
            <a:r>
              <a:rPr sz="5014" b="0" spc="-213" dirty="0">
                <a:latin typeface="Times New Roman"/>
                <a:cs typeface="Times New Roman"/>
              </a:rPr>
              <a:t> </a:t>
            </a:r>
            <a:r>
              <a:rPr lang="en-US" sz="5014" b="0" spc="687" dirty="0">
                <a:latin typeface="Symbol"/>
                <a:cs typeface="Times New Roman"/>
              </a:rPr>
              <a:t>  </a:t>
            </a:r>
            <a:r>
              <a:rPr sz="5014" b="0" spc="-247" dirty="0">
                <a:latin typeface="Times New Roman"/>
                <a:cs typeface="Times New Roman"/>
              </a:rPr>
              <a:t> </a:t>
            </a:r>
            <a:r>
              <a:rPr sz="11333" b="0" spc="-51" baseline="-4040" dirty="0">
                <a:latin typeface="Symbol"/>
                <a:cs typeface="Symbol"/>
              </a:rPr>
              <a:t></a:t>
            </a:r>
            <a:r>
              <a:rPr sz="11333" b="0" spc="-2102" baseline="-4040" dirty="0">
                <a:latin typeface="Times New Roman"/>
                <a:cs typeface="Times New Roman"/>
              </a:rPr>
              <a:t> </a:t>
            </a:r>
            <a:r>
              <a:rPr sz="5014" b="0" i="1" spc="268" dirty="0">
                <a:latin typeface="Times New Roman"/>
                <a:cs typeface="Times New Roman"/>
              </a:rPr>
              <a:t>P</a:t>
            </a:r>
            <a:r>
              <a:rPr sz="5014" b="0" spc="151" dirty="0">
                <a:latin typeface="Times New Roman"/>
                <a:cs typeface="Times New Roman"/>
              </a:rPr>
              <a:t>(</a:t>
            </a:r>
            <a:r>
              <a:rPr sz="5014" b="0" i="1" spc="199" dirty="0">
                <a:latin typeface="Times New Roman"/>
                <a:cs typeface="Times New Roman"/>
              </a:rPr>
              <a:t>w</a:t>
            </a:r>
            <a:r>
              <a:rPr sz="4430" b="0" i="1" spc="-21" baseline="-23255" dirty="0">
                <a:latin typeface="Times New Roman"/>
                <a:cs typeface="Times New Roman"/>
              </a:rPr>
              <a:t>i</a:t>
            </a:r>
            <a:r>
              <a:rPr sz="4430" b="0" i="1" baseline="-23255" dirty="0">
                <a:latin typeface="Times New Roman"/>
                <a:cs typeface="Times New Roman"/>
              </a:rPr>
              <a:t>	</a:t>
            </a:r>
            <a:r>
              <a:rPr sz="5014" b="0" spc="-7" dirty="0">
                <a:latin typeface="Times New Roman"/>
                <a:cs typeface="Times New Roman"/>
              </a:rPr>
              <a:t>|</a:t>
            </a:r>
            <a:r>
              <a:rPr sz="5014" b="0" spc="-378" dirty="0">
                <a:latin typeface="Times New Roman"/>
                <a:cs typeface="Times New Roman"/>
              </a:rPr>
              <a:t> </a:t>
            </a:r>
            <a:r>
              <a:rPr sz="5014" b="0" i="1" spc="199" dirty="0">
                <a:latin typeface="Times New Roman"/>
                <a:cs typeface="Times New Roman"/>
              </a:rPr>
              <a:t>w</a:t>
            </a:r>
            <a:r>
              <a:rPr sz="4430" b="0" i="1" spc="319" baseline="-23255" dirty="0">
                <a:latin typeface="Times New Roman"/>
                <a:cs typeface="Times New Roman"/>
              </a:rPr>
              <a:t>i</a:t>
            </a:r>
            <a:r>
              <a:rPr sz="4430" b="0" spc="-30" baseline="-23255" dirty="0">
                <a:latin typeface="Symbol"/>
                <a:cs typeface="Symbol"/>
              </a:rPr>
              <a:t></a:t>
            </a:r>
            <a:r>
              <a:rPr sz="4430" b="0" spc="-699" baseline="-23255" dirty="0">
                <a:latin typeface="Times New Roman"/>
                <a:cs typeface="Times New Roman"/>
              </a:rPr>
              <a:t> </a:t>
            </a:r>
            <a:r>
              <a:rPr sz="4430" b="0" i="1" spc="-21" baseline="-23255" dirty="0">
                <a:latin typeface="Times New Roman"/>
                <a:cs typeface="Times New Roman"/>
              </a:rPr>
              <a:t>k</a:t>
            </a:r>
            <a:r>
              <a:rPr sz="4430" b="0" i="1" spc="-236" baseline="-23255" dirty="0">
                <a:latin typeface="Times New Roman"/>
                <a:cs typeface="Times New Roman"/>
              </a:rPr>
              <a:t> </a:t>
            </a:r>
            <a:r>
              <a:rPr sz="5014" b="0" spc="405" dirty="0">
                <a:latin typeface="Lucida Sans Unicode"/>
                <a:cs typeface="Lucida Sans Unicode"/>
              </a:rPr>
              <a:t>…</a:t>
            </a:r>
            <a:r>
              <a:rPr sz="5014" b="0" i="1" spc="199" dirty="0">
                <a:latin typeface="Times New Roman"/>
                <a:cs typeface="Times New Roman"/>
              </a:rPr>
              <a:t>w</a:t>
            </a:r>
            <a:r>
              <a:rPr sz="4430" b="0" i="1" spc="319" baseline="-23255" dirty="0">
                <a:latin typeface="Times New Roman"/>
                <a:cs typeface="Times New Roman"/>
              </a:rPr>
              <a:t>i</a:t>
            </a:r>
            <a:r>
              <a:rPr sz="4430" b="0" spc="-246" baseline="-23255" dirty="0">
                <a:latin typeface="Symbol"/>
                <a:cs typeface="Symbol"/>
              </a:rPr>
              <a:t></a:t>
            </a:r>
            <a:r>
              <a:rPr sz="4430" b="0" spc="277" baseline="-23255" dirty="0">
                <a:latin typeface="Times New Roman"/>
                <a:cs typeface="Times New Roman"/>
              </a:rPr>
              <a:t>1</a:t>
            </a:r>
            <a:r>
              <a:rPr sz="5014" b="0" spc="-7" dirty="0">
                <a:latin typeface="Times New Roman"/>
                <a:cs typeface="Times New Roman"/>
              </a:rPr>
              <a:t>)</a:t>
            </a:r>
            <a:endParaRPr sz="5014" dirty="0">
              <a:latin typeface="Times New Roman"/>
              <a:cs typeface="Times New Roman"/>
            </a:endParaRPr>
          </a:p>
        </p:txBody>
      </p:sp>
      <p:sp>
        <p:nvSpPr>
          <p:cNvPr id="8" name="object 8"/>
          <p:cNvSpPr txBox="1"/>
          <p:nvPr/>
        </p:nvSpPr>
        <p:spPr>
          <a:xfrm>
            <a:off x="1137509" y="3210667"/>
            <a:ext cx="12002295" cy="4183334"/>
          </a:xfrm>
          <a:prstGeom prst="rect">
            <a:avLst/>
          </a:prstGeom>
        </p:spPr>
        <p:txBody>
          <a:bodyPr vert="horz" wrap="square" lIns="0" tIns="129104" rIns="0" bIns="0" rtlCol="0">
            <a:spAutoFit/>
          </a:bodyPr>
          <a:lstStyle/>
          <a:p>
            <a:pPr marR="1401784" algn="ctr">
              <a:spcBef>
                <a:spcPts val="1017"/>
              </a:spcBef>
            </a:pPr>
            <a:r>
              <a:rPr sz="2953" i="1" spc="-14" dirty="0">
                <a:latin typeface="Times New Roman"/>
                <a:cs typeface="Times New Roman"/>
              </a:rPr>
              <a:t>i</a:t>
            </a:r>
            <a:endParaRPr sz="2953" dirty="0">
              <a:latin typeface="Times New Roman"/>
              <a:cs typeface="Times New Roman"/>
            </a:endParaRPr>
          </a:p>
          <a:p>
            <a:pPr marL="505934" marR="2991115" indent="-471042">
              <a:spcBef>
                <a:spcPts val="1331"/>
              </a:spcBef>
              <a:buClr>
                <a:srgbClr val="CC0000"/>
              </a:buClr>
              <a:buFont typeface="Times New Roman"/>
              <a:buChar char="•"/>
              <a:tabLst>
                <a:tab pos="505061" algn="l"/>
                <a:tab pos="505934" algn="l"/>
              </a:tabLst>
            </a:pPr>
            <a:r>
              <a:rPr sz="4396" dirty="0">
                <a:latin typeface="Calibri"/>
                <a:cs typeface="Calibri"/>
              </a:rPr>
              <a:t>In</a:t>
            </a:r>
            <a:r>
              <a:rPr sz="4396" spc="-7" dirty="0">
                <a:latin typeface="Calibri"/>
                <a:cs typeface="Calibri"/>
              </a:rPr>
              <a:t> other</a:t>
            </a:r>
            <a:r>
              <a:rPr sz="4396" dirty="0">
                <a:latin typeface="Calibri"/>
                <a:cs typeface="Calibri"/>
              </a:rPr>
              <a:t> </a:t>
            </a:r>
            <a:r>
              <a:rPr sz="4396" spc="-7" dirty="0">
                <a:latin typeface="Calibri"/>
                <a:cs typeface="Calibri"/>
              </a:rPr>
              <a:t>words,</a:t>
            </a:r>
            <a:r>
              <a:rPr sz="4396" dirty="0">
                <a:latin typeface="Calibri"/>
                <a:cs typeface="Calibri"/>
              </a:rPr>
              <a:t> </a:t>
            </a:r>
            <a:r>
              <a:rPr sz="4396" spc="-7" dirty="0">
                <a:latin typeface="Calibri"/>
                <a:cs typeface="Calibri"/>
              </a:rPr>
              <a:t>we</a:t>
            </a:r>
            <a:r>
              <a:rPr sz="4396" dirty="0">
                <a:latin typeface="Calibri"/>
                <a:cs typeface="Calibri"/>
              </a:rPr>
              <a:t> </a:t>
            </a:r>
            <a:r>
              <a:rPr sz="4396" spc="-7" dirty="0">
                <a:latin typeface="Calibri"/>
                <a:cs typeface="Calibri"/>
              </a:rPr>
              <a:t>approximate each </a:t>
            </a:r>
            <a:r>
              <a:rPr sz="4396" spc="-975" dirty="0">
                <a:latin typeface="Calibri"/>
                <a:cs typeface="Calibri"/>
              </a:rPr>
              <a:t> </a:t>
            </a:r>
            <a:r>
              <a:rPr sz="4396" spc="-7" dirty="0">
                <a:latin typeface="Calibri"/>
                <a:cs typeface="Calibri"/>
              </a:rPr>
              <a:t>component </a:t>
            </a:r>
            <a:r>
              <a:rPr sz="4396" dirty="0">
                <a:latin typeface="Calibri"/>
                <a:cs typeface="Calibri"/>
              </a:rPr>
              <a:t>in the</a:t>
            </a:r>
            <a:r>
              <a:rPr sz="4396" spc="-7" dirty="0">
                <a:latin typeface="Calibri"/>
                <a:cs typeface="Calibri"/>
              </a:rPr>
              <a:t> product</a:t>
            </a:r>
            <a:endParaRPr sz="4396" dirty="0">
              <a:latin typeface="Calibri"/>
              <a:cs typeface="Calibri"/>
            </a:endParaRPr>
          </a:p>
          <a:p>
            <a:pPr marL="355026">
              <a:spcBef>
                <a:spcPts val="1078"/>
              </a:spcBef>
              <a:tabLst>
                <a:tab pos="1978375" algn="l"/>
                <a:tab pos="8272888" algn="l"/>
              </a:tabLst>
            </a:pPr>
            <a:r>
              <a:rPr sz="5838" i="1" spc="247" dirty="0">
                <a:latin typeface="Times New Roman"/>
                <a:cs typeface="Times New Roman"/>
              </a:rPr>
              <a:t>P</a:t>
            </a:r>
            <a:r>
              <a:rPr sz="5838" spc="227" dirty="0">
                <a:latin typeface="Times New Roman"/>
                <a:cs typeface="Times New Roman"/>
              </a:rPr>
              <a:t>(</a:t>
            </a:r>
            <a:r>
              <a:rPr sz="5838" i="1" spc="220" dirty="0">
                <a:latin typeface="Times New Roman"/>
                <a:cs typeface="Times New Roman"/>
              </a:rPr>
              <a:t>w</a:t>
            </a:r>
            <a:r>
              <a:rPr sz="5048" i="1" spc="10" baseline="-23809" dirty="0">
                <a:latin typeface="Times New Roman"/>
                <a:cs typeface="Times New Roman"/>
              </a:rPr>
              <a:t>i</a:t>
            </a:r>
            <a:r>
              <a:rPr sz="5048" i="1" baseline="-23809" dirty="0">
                <a:latin typeface="Times New Roman"/>
                <a:cs typeface="Times New Roman"/>
              </a:rPr>
              <a:t>	</a:t>
            </a:r>
            <a:r>
              <a:rPr sz="5838" spc="-7" dirty="0">
                <a:latin typeface="Times New Roman"/>
                <a:cs typeface="Times New Roman"/>
              </a:rPr>
              <a:t>|</a:t>
            </a:r>
            <a:r>
              <a:rPr sz="5838" spc="-446" dirty="0">
                <a:latin typeface="Times New Roman"/>
                <a:cs typeface="Times New Roman"/>
              </a:rPr>
              <a:t> </a:t>
            </a:r>
            <a:r>
              <a:rPr sz="5838" i="1" spc="-268" dirty="0">
                <a:latin typeface="Times New Roman"/>
                <a:cs typeface="Times New Roman"/>
              </a:rPr>
              <a:t>w</a:t>
            </a:r>
            <a:r>
              <a:rPr sz="5048" spc="21" baseline="-23809" dirty="0">
                <a:latin typeface="Times New Roman"/>
                <a:cs typeface="Times New Roman"/>
              </a:rPr>
              <a:t>1</a:t>
            </a:r>
            <a:r>
              <a:rPr sz="5838" i="1" spc="220" dirty="0">
                <a:latin typeface="Times New Roman"/>
                <a:cs typeface="Times New Roman"/>
              </a:rPr>
              <a:t>w</a:t>
            </a:r>
            <a:r>
              <a:rPr sz="5048" spc="21" baseline="-23809" dirty="0">
                <a:latin typeface="Times New Roman"/>
                <a:cs typeface="Times New Roman"/>
              </a:rPr>
              <a:t>2</a:t>
            </a:r>
            <a:r>
              <a:rPr sz="5048" spc="-536" baseline="-23809" dirty="0">
                <a:latin typeface="Times New Roman"/>
                <a:cs typeface="Times New Roman"/>
              </a:rPr>
              <a:t> </a:t>
            </a:r>
            <a:r>
              <a:rPr sz="5838" spc="453" dirty="0">
                <a:latin typeface="Lucida Sans Unicode"/>
                <a:cs typeface="Lucida Sans Unicode"/>
              </a:rPr>
              <a:t>…</a:t>
            </a:r>
            <a:r>
              <a:rPr sz="5838" i="1" spc="220" dirty="0">
                <a:latin typeface="Times New Roman"/>
                <a:cs typeface="Times New Roman"/>
              </a:rPr>
              <a:t>w</a:t>
            </a:r>
            <a:r>
              <a:rPr sz="5048" i="1" spc="412" baseline="-23809" dirty="0">
                <a:latin typeface="Times New Roman"/>
                <a:cs typeface="Times New Roman"/>
              </a:rPr>
              <a:t>i</a:t>
            </a:r>
            <a:r>
              <a:rPr sz="5048" spc="-236" baseline="-23809" dirty="0">
                <a:latin typeface="Symbol"/>
                <a:cs typeface="Symbol"/>
              </a:rPr>
              <a:t></a:t>
            </a:r>
            <a:r>
              <a:rPr sz="5048" spc="287" baseline="-23809" dirty="0">
                <a:latin typeface="Times New Roman"/>
                <a:cs typeface="Times New Roman"/>
              </a:rPr>
              <a:t>1</a:t>
            </a:r>
            <a:r>
              <a:rPr sz="5838" spc="-14" dirty="0">
                <a:latin typeface="Times New Roman"/>
                <a:cs typeface="Times New Roman"/>
              </a:rPr>
              <a:t>)</a:t>
            </a:r>
            <a:r>
              <a:rPr sz="5838" spc="-247" dirty="0">
                <a:latin typeface="Times New Roman"/>
                <a:cs typeface="Times New Roman"/>
              </a:rPr>
              <a:t> </a:t>
            </a:r>
            <a:endParaRPr lang="en-US" sz="5838" spc="268" dirty="0">
              <a:latin typeface="Symbol"/>
              <a:cs typeface="Times New Roman"/>
            </a:endParaRPr>
          </a:p>
          <a:p>
            <a:pPr marL="355026">
              <a:spcBef>
                <a:spcPts val="1078"/>
              </a:spcBef>
              <a:tabLst>
                <a:tab pos="1978375" algn="l"/>
                <a:tab pos="8272888" algn="l"/>
              </a:tabLst>
            </a:pPr>
            <a:r>
              <a:rPr sz="5838" spc="-48" dirty="0">
                <a:latin typeface="Times New Roman"/>
                <a:cs typeface="Times New Roman"/>
              </a:rPr>
              <a:t> </a:t>
            </a:r>
            <a:r>
              <a:rPr sz="5838" i="1" spc="309" dirty="0">
                <a:latin typeface="Times New Roman"/>
                <a:cs typeface="Times New Roman"/>
              </a:rPr>
              <a:t>P</a:t>
            </a:r>
            <a:r>
              <a:rPr sz="5838" spc="165" dirty="0">
                <a:latin typeface="Times New Roman"/>
                <a:cs typeface="Times New Roman"/>
              </a:rPr>
              <a:t>(</a:t>
            </a:r>
            <a:r>
              <a:rPr sz="5838" i="1" spc="220" dirty="0">
                <a:latin typeface="Times New Roman"/>
                <a:cs typeface="Times New Roman"/>
              </a:rPr>
              <a:t>w</a:t>
            </a:r>
            <a:r>
              <a:rPr sz="5048" i="1" spc="10" baseline="-23809" dirty="0">
                <a:latin typeface="Times New Roman"/>
                <a:cs typeface="Times New Roman"/>
              </a:rPr>
              <a:t>i</a:t>
            </a:r>
            <a:r>
              <a:rPr sz="5048" i="1" baseline="-23809" dirty="0">
                <a:latin typeface="Times New Roman"/>
                <a:cs typeface="Times New Roman"/>
              </a:rPr>
              <a:t>	</a:t>
            </a:r>
            <a:r>
              <a:rPr sz="5838" spc="-7" dirty="0">
                <a:latin typeface="Times New Roman"/>
                <a:cs typeface="Times New Roman"/>
              </a:rPr>
              <a:t>|</a:t>
            </a:r>
            <a:r>
              <a:rPr sz="5838" spc="-446" dirty="0">
                <a:latin typeface="Times New Roman"/>
                <a:cs typeface="Times New Roman"/>
              </a:rPr>
              <a:t> </a:t>
            </a:r>
            <a:r>
              <a:rPr sz="5838" i="1" spc="220" dirty="0">
                <a:latin typeface="Times New Roman"/>
                <a:cs typeface="Times New Roman"/>
              </a:rPr>
              <a:t>w</a:t>
            </a:r>
            <a:r>
              <a:rPr sz="5048" i="1" spc="412" baseline="-23809" dirty="0">
                <a:latin typeface="Times New Roman"/>
                <a:cs typeface="Times New Roman"/>
              </a:rPr>
              <a:t>i</a:t>
            </a:r>
            <a:r>
              <a:rPr sz="5048" spc="21" baseline="-23809" dirty="0">
                <a:latin typeface="Symbol"/>
                <a:cs typeface="Symbol"/>
              </a:rPr>
              <a:t></a:t>
            </a:r>
            <a:r>
              <a:rPr sz="5048" spc="-793" baseline="-23809" dirty="0">
                <a:latin typeface="Times New Roman"/>
                <a:cs typeface="Times New Roman"/>
              </a:rPr>
              <a:t> </a:t>
            </a:r>
            <a:r>
              <a:rPr sz="5048" i="1" spc="10" baseline="-23809" dirty="0">
                <a:latin typeface="Times New Roman"/>
                <a:cs typeface="Times New Roman"/>
              </a:rPr>
              <a:t>k</a:t>
            </a:r>
            <a:r>
              <a:rPr sz="5048" i="1" spc="-257" baseline="-23809" dirty="0">
                <a:latin typeface="Times New Roman"/>
                <a:cs typeface="Times New Roman"/>
              </a:rPr>
              <a:t> </a:t>
            </a:r>
            <a:r>
              <a:rPr sz="5838" spc="453" dirty="0">
                <a:latin typeface="Lucida Sans Unicode"/>
                <a:cs typeface="Lucida Sans Unicode"/>
              </a:rPr>
              <a:t>…</a:t>
            </a:r>
            <a:r>
              <a:rPr sz="5838" i="1" spc="220" dirty="0">
                <a:latin typeface="Times New Roman"/>
                <a:cs typeface="Times New Roman"/>
              </a:rPr>
              <a:t>w</a:t>
            </a:r>
            <a:r>
              <a:rPr sz="5048" i="1" spc="412" baseline="-23809" dirty="0">
                <a:latin typeface="Times New Roman"/>
                <a:cs typeface="Times New Roman"/>
              </a:rPr>
              <a:t>i</a:t>
            </a:r>
            <a:r>
              <a:rPr sz="5048" spc="-236" baseline="-23809" dirty="0">
                <a:latin typeface="Symbol"/>
                <a:cs typeface="Symbol"/>
              </a:rPr>
              <a:t></a:t>
            </a:r>
            <a:r>
              <a:rPr sz="5048" spc="381" baseline="-23809" dirty="0">
                <a:latin typeface="Times New Roman"/>
                <a:cs typeface="Times New Roman"/>
              </a:rPr>
              <a:t>1</a:t>
            </a:r>
            <a:r>
              <a:rPr sz="5838" spc="-14" dirty="0">
                <a:latin typeface="Times New Roman"/>
                <a:cs typeface="Times New Roman"/>
              </a:rPr>
              <a:t>)</a:t>
            </a:r>
            <a:endParaRPr sz="5838"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p:nvPr/>
        </p:nvSpPr>
        <p:spPr>
          <a:xfrm>
            <a:off x="1050276" y="2675969"/>
            <a:ext cx="11132589" cy="4575192"/>
          </a:xfrm>
          <a:prstGeom prst="rect">
            <a:avLst/>
          </a:prstGeom>
        </p:spPr>
        <p:txBody>
          <a:bodyPr vert="horz" wrap="square" lIns="0" tIns="211102" rIns="0" bIns="0" rtlCol="0">
            <a:spAutoFit/>
          </a:bodyPr>
          <a:lstStyle/>
          <a:p>
            <a:pPr marL="1800426" algn="ctr">
              <a:spcBef>
                <a:spcPts val="1662"/>
              </a:spcBef>
            </a:pPr>
            <a:r>
              <a:rPr sz="2816" i="1" spc="-7" dirty="0">
                <a:latin typeface="Times New Roman"/>
                <a:cs typeface="Times New Roman"/>
              </a:rPr>
              <a:t>i</a:t>
            </a:r>
            <a:endParaRPr sz="2816">
              <a:latin typeface="Times New Roman"/>
              <a:cs typeface="Times New Roman"/>
            </a:endParaRPr>
          </a:p>
          <a:p>
            <a:pPr marL="17446">
              <a:spcBef>
                <a:spcPts val="1463"/>
              </a:spcBef>
            </a:pPr>
            <a:r>
              <a:rPr sz="2747" spc="-7" dirty="0">
                <a:latin typeface="Calibri"/>
                <a:cs typeface="Calibri"/>
              </a:rPr>
              <a:t>Some</a:t>
            </a:r>
            <a:r>
              <a:rPr sz="2747" spc="14" dirty="0">
                <a:latin typeface="Calibri"/>
                <a:cs typeface="Calibri"/>
              </a:rPr>
              <a:t> </a:t>
            </a:r>
            <a:r>
              <a:rPr sz="2747" spc="-7" dirty="0">
                <a:latin typeface="Calibri"/>
                <a:cs typeface="Calibri"/>
              </a:rPr>
              <a:t>automatically</a:t>
            </a:r>
            <a:r>
              <a:rPr sz="2747" spc="14" dirty="0">
                <a:latin typeface="Calibri"/>
                <a:cs typeface="Calibri"/>
              </a:rPr>
              <a:t> </a:t>
            </a:r>
            <a:r>
              <a:rPr sz="2747" spc="-7" dirty="0">
                <a:latin typeface="Calibri"/>
                <a:cs typeface="Calibri"/>
              </a:rPr>
              <a:t>generated</a:t>
            </a:r>
            <a:r>
              <a:rPr sz="2747" spc="14" dirty="0">
                <a:latin typeface="Calibri"/>
                <a:cs typeface="Calibri"/>
              </a:rPr>
              <a:t> </a:t>
            </a:r>
            <a:r>
              <a:rPr sz="2747" spc="-7" dirty="0">
                <a:latin typeface="Calibri"/>
                <a:cs typeface="Calibri"/>
              </a:rPr>
              <a:t>sentences</a:t>
            </a:r>
            <a:r>
              <a:rPr sz="2747" spc="14" dirty="0">
                <a:latin typeface="Calibri"/>
                <a:cs typeface="Calibri"/>
              </a:rPr>
              <a:t> </a:t>
            </a:r>
            <a:r>
              <a:rPr sz="2747" spc="-7" dirty="0">
                <a:latin typeface="Calibri"/>
                <a:cs typeface="Calibri"/>
              </a:rPr>
              <a:t>from</a:t>
            </a:r>
            <a:r>
              <a:rPr sz="2747" spc="14" dirty="0">
                <a:latin typeface="Calibri"/>
                <a:cs typeface="Calibri"/>
              </a:rPr>
              <a:t> </a:t>
            </a:r>
            <a:r>
              <a:rPr sz="2747" dirty="0">
                <a:latin typeface="Calibri"/>
                <a:cs typeface="Calibri"/>
              </a:rPr>
              <a:t>a</a:t>
            </a:r>
            <a:r>
              <a:rPr sz="2747" spc="14" dirty="0">
                <a:latin typeface="Calibri"/>
                <a:cs typeface="Calibri"/>
              </a:rPr>
              <a:t> </a:t>
            </a:r>
            <a:r>
              <a:rPr sz="2747" spc="-7" dirty="0">
                <a:latin typeface="Calibri"/>
                <a:cs typeface="Calibri"/>
              </a:rPr>
              <a:t>unigram</a:t>
            </a:r>
            <a:r>
              <a:rPr sz="2747" spc="7" dirty="0">
                <a:latin typeface="Calibri"/>
                <a:cs typeface="Calibri"/>
              </a:rPr>
              <a:t> </a:t>
            </a:r>
            <a:r>
              <a:rPr sz="2747" spc="-7" dirty="0">
                <a:latin typeface="Calibri"/>
                <a:cs typeface="Calibri"/>
              </a:rPr>
              <a:t>model</a:t>
            </a:r>
            <a:endParaRPr sz="2747">
              <a:latin typeface="Calibri"/>
              <a:cs typeface="Calibri"/>
            </a:endParaRPr>
          </a:p>
          <a:p>
            <a:pPr marL="645502" marR="7851">
              <a:spcBef>
                <a:spcPts val="2595"/>
              </a:spcBef>
            </a:pPr>
            <a:r>
              <a:rPr sz="2747" spc="-7" dirty="0">
                <a:latin typeface="Courier New"/>
                <a:cs typeface="Courier New"/>
              </a:rPr>
              <a:t>fifth, an, of, futures, the, an, incorporated, a, </a:t>
            </a:r>
            <a:r>
              <a:rPr sz="2747" dirty="0">
                <a:latin typeface="Courier New"/>
                <a:cs typeface="Courier New"/>
              </a:rPr>
              <a:t> </a:t>
            </a:r>
            <a:r>
              <a:rPr sz="2747" spc="-7" dirty="0">
                <a:latin typeface="Courier New"/>
                <a:cs typeface="Courier New"/>
              </a:rPr>
              <a:t>a, the, inflation, most, dollars, quarter, in, is, </a:t>
            </a:r>
            <a:r>
              <a:rPr sz="2747" spc="-1635" dirty="0">
                <a:latin typeface="Courier New"/>
                <a:cs typeface="Courier New"/>
              </a:rPr>
              <a:t> </a:t>
            </a:r>
            <a:r>
              <a:rPr sz="2747" dirty="0">
                <a:latin typeface="Courier New"/>
                <a:cs typeface="Courier New"/>
              </a:rPr>
              <a:t>mass</a:t>
            </a:r>
            <a:endParaRPr sz="2747">
              <a:latin typeface="Courier New"/>
              <a:cs typeface="Courier New"/>
            </a:endParaRPr>
          </a:p>
          <a:p>
            <a:pPr marL="645502" marR="6978">
              <a:lnSpc>
                <a:spcPts val="7143"/>
              </a:lnSpc>
              <a:spcBef>
                <a:spcPts val="55"/>
              </a:spcBef>
            </a:pPr>
            <a:r>
              <a:rPr sz="2747" spc="-7" dirty="0">
                <a:latin typeface="Courier New"/>
                <a:cs typeface="Courier New"/>
              </a:rPr>
              <a:t>thrift, did, eighty, said, hard, 'm, </a:t>
            </a:r>
            <a:r>
              <a:rPr sz="2747" dirty="0">
                <a:latin typeface="Courier New"/>
                <a:cs typeface="Courier New"/>
              </a:rPr>
              <a:t>july, bullish </a:t>
            </a:r>
            <a:r>
              <a:rPr sz="2747" spc="-1635" dirty="0">
                <a:latin typeface="Courier New"/>
                <a:cs typeface="Courier New"/>
              </a:rPr>
              <a:t> </a:t>
            </a:r>
            <a:r>
              <a:rPr sz="2747" spc="-7" dirty="0">
                <a:latin typeface="Courier New"/>
                <a:cs typeface="Courier New"/>
              </a:rPr>
              <a:t>that,</a:t>
            </a:r>
            <a:r>
              <a:rPr sz="2747" spc="-14" dirty="0">
                <a:latin typeface="Courier New"/>
                <a:cs typeface="Courier New"/>
              </a:rPr>
              <a:t> </a:t>
            </a:r>
            <a:r>
              <a:rPr sz="2747" spc="-7" dirty="0">
                <a:latin typeface="Courier New"/>
                <a:cs typeface="Courier New"/>
              </a:rPr>
              <a:t>or,</a:t>
            </a:r>
            <a:r>
              <a:rPr sz="2747" spc="-14" dirty="0">
                <a:latin typeface="Courier New"/>
                <a:cs typeface="Courier New"/>
              </a:rPr>
              <a:t> </a:t>
            </a:r>
            <a:r>
              <a:rPr sz="2747" spc="-7" dirty="0">
                <a:latin typeface="Courier New"/>
                <a:cs typeface="Courier New"/>
              </a:rPr>
              <a:t>limited, </a:t>
            </a:r>
            <a:r>
              <a:rPr sz="2747" dirty="0">
                <a:latin typeface="Courier New"/>
                <a:cs typeface="Courier New"/>
              </a:rPr>
              <a:t>the</a:t>
            </a:r>
            <a:endParaRPr sz="2747">
              <a:latin typeface="Courier New"/>
              <a:cs typeface="Courier New"/>
            </a:endParaRPr>
          </a:p>
        </p:txBody>
      </p:sp>
      <p:sp>
        <p:nvSpPr>
          <p:cNvPr id="7" name="object 7"/>
          <p:cNvSpPr txBox="1">
            <a:spLocks noGrp="1"/>
          </p:cNvSpPr>
          <p:nvPr>
            <p:ph type="title"/>
          </p:nvPr>
        </p:nvSpPr>
        <p:spPr>
          <a:xfrm>
            <a:off x="2603012" y="686284"/>
            <a:ext cx="7073669" cy="2139434"/>
          </a:xfrm>
          <a:prstGeom prst="rect">
            <a:avLst/>
          </a:prstGeom>
        </p:spPr>
        <p:txBody>
          <a:bodyPr vert="horz" wrap="square" lIns="0" tIns="136082" rIns="0" bIns="0" rtlCol="0">
            <a:spAutoFit/>
          </a:bodyPr>
          <a:lstStyle/>
          <a:p>
            <a:pPr marL="34892">
              <a:spcBef>
                <a:spcPts val="1071"/>
              </a:spcBef>
            </a:pPr>
            <a:r>
              <a:rPr spc="-7" dirty="0">
                <a:latin typeface="Calibri"/>
                <a:cs typeface="Calibri"/>
              </a:rPr>
              <a:t>Simplest</a:t>
            </a:r>
            <a:r>
              <a:rPr spc="-27" dirty="0">
                <a:latin typeface="Calibri"/>
                <a:cs typeface="Calibri"/>
              </a:rPr>
              <a:t> </a:t>
            </a:r>
            <a:r>
              <a:rPr dirty="0">
                <a:latin typeface="Calibri"/>
                <a:cs typeface="Calibri"/>
              </a:rPr>
              <a:t>case:</a:t>
            </a:r>
            <a:r>
              <a:rPr spc="-27" dirty="0">
                <a:latin typeface="Calibri"/>
                <a:cs typeface="Calibri"/>
              </a:rPr>
              <a:t> </a:t>
            </a:r>
            <a:r>
              <a:rPr spc="-7" dirty="0">
                <a:latin typeface="Calibri"/>
                <a:cs typeface="Calibri"/>
              </a:rPr>
              <a:t>Unigram</a:t>
            </a:r>
            <a:r>
              <a:rPr spc="-21" dirty="0">
                <a:latin typeface="Calibri"/>
                <a:cs typeface="Calibri"/>
              </a:rPr>
              <a:t> </a:t>
            </a:r>
            <a:r>
              <a:rPr dirty="0">
                <a:latin typeface="Calibri"/>
                <a:cs typeface="Calibri"/>
              </a:rPr>
              <a:t>model</a:t>
            </a:r>
          </a:p>
          <a:p>
            <a:pPr marL="534720">
              <a:spcBef>
                <a:spcPts val="1559"/>
              </a:spcBef>
            </a:pPr>
            <a:r>
              <a:rPr sz="4808" b="0" i="1" spc="220" dirty="0">
                <a:latin typeface="Times New Roman"/>
                <a:cs typeface="Times New Roman"/>
              </a:rPr>
              <a:t>P</a:t>
            </a:r>
            <a:r>
              <a:rPr sz="4808" b="0" spc="199" dirty="0">
                <a:latin typeface="Times New Roman"/>
                <a:cs typeface="Times New Roman"/>
              </a:rPr>
              <a:t>(</a:t>
            </a:r>
            <a:r>
              <a:rPr sz="4808" b="0" i="1" spc="-199" dirty="0">
                <a:latin typeface="Times New Roman"/>
                <a:cs typeface="Times New Roman"/>
              </a:rPr>
              <a:t>w</a:t>
            </a:r>
            <a:r>
              <a:rPr sz="4224" b="0" spc="-10" baseline="-24390" dirty="0">
                <a:latin typeface="Times New Roman"/>
                <a:cs typeface="Times New Roman"/>
              </a:rPr>
              <a:t>1</a:t>
            </a:r>
            <a:r>
              <a:rPr sz="4808" b="0" i="1" spc="206" dirty="0">
                <a:latin typeface="Times New Roman"/>
                <a:cs typeface="Times New Roman"/>
              </a:rPr>
              <a:t>w</a:t>
            </a:r>
            <a:r>
              <a:rPr sz="4224" b="0" spc="-10" baseline="-24390" dirty="0">
                <a:latin typeface="Times New Roman"/>
                <a:cs typeface="Times New Roman"/>
              </a:rPr>
              <a:t>2</a:t>
            </a:r>
            <a:r>
              <a:rPr sz="4224" b="0" spc="-453" baseline="-24390" dirty="0">
                <a:latin typeface="Times New Roman"/>
                <a:cs typeface="Times New Roman"/>
              </a:rPr>
              <a:t> </a:t>
            </a:r>
            <a:r>
              <a:rPr sz="4808" b="0" spc="412" dirty="0">
                <a:latin typeface="Lucida Sans Unicode"/>
                <a:cs typeface="Lucida Sans Unicode"/>
              </a:rPr>
              <a:t>…</a:t>
            </a:r>
            <a:r>
              <a:rPr sz="4808" b="0" i="1" spc="206" dirty="0">
                <a:latin typeface="Times New Roman"/>
                <a:cs typeface="Times New Roman"/>
              </a:rPr>
              <a:t>w</a:t>
            </a:r>
            <a:r>
              <a:rPr sz="4224" b="0" i="1" spc="-10" baseline="-24390" dirty="0">
                <a:latin typeface="Times New Roman"/>
                <a:cs typeface="Times New Roman"/>
              </a:rPr>
              <a:t>n</a:t>
            </a:r>
            <a:r>
              <a:rPr sz="4224" b="0" i="1" spc="-227" baseline="-24390" dirty="0">
                <a:latin typeface="Times New Roman"/>
                <a:cs typeface="Times New Roman"/>
              </a:rPr>
              <a:t> </a:t>
            </a:r>
            <a:r>
              <a:rPr sz="4808" b="0" dirty="0">
                <a:latin typeface="Times New Roman"/>
                <a:cs typeface="Times New Roman"/>
              </a:rPr>
              <a:t>)</a:t>
            </a:r>
            <a:r>
              <a:rPr sz="4808" b="0" spc="-199" dirty="0">
                <a:latin typeface="Times New Roman"/>
                <a:cs typeface="Times New Roman"/>
              </a:rPr>
              <a:t> </a:t>
            </a:r>
            <a:r>
              <a:rPr sz="4808" b="0" spc="665" dirty="0">
                <a:latin typeface="Symbol"/>
                <a:cs typeface="Symbol"/>
              </a:rPr>
              <a:t></a:t>
            </a:r>
            <a:r>
              <a:rPr sz="4808" b="0" spc="-234" dirty="0">
                <a:latin typeface="Times New Roman"/>
                <a:cs typeface="Times New Roman"/>
              </a:rPr>
              <a:t> </a:t>
            </a:r>
            <a:r>
              <a:rPr sz="10921" b="0" spc="659" baseline="-3668" dirty="0">
                <a:latin typeface="Symbol"/>
                <a:cs typeface="Symbol"/>
              </a:rPr>
              <a:t></a:t>
            </a:r>
            <a:r>
              <a:rPr sz="4808" b="0" i="1" spc="275" dirty="0">
                <a:latin typeface="Times New Roman"/>
                <a:cs typeface="Times New Roman"/>
              </a:rPr>
              <a:t>P</a:t>
            </a:r>
            <a:r>
              <a:rPr sz="4808" b="0" spc="151" dirty="0">
                <a:latin typeface="Times New Roman"/>
                <a:cs typeface="Times New Roman"/>
              </a:rPr>
              <a:t>(</a:t>
            </a:r>
            <a:r>
              <a:rPr sz="4808" b="0" i="1" spc="206" dirty="0">
                <a:latin typeface="Times New Roman"/>
                <a:cs typeface="Times New Roman"/>
              </a:rPr>
              <a:t>w</a:t>
            </a:r>
            <a:r>
              <a:rPr sz="4224" b="0" i="1" spc="-10" baseline="-24390" dirty="0">
                <a:latin typeface="Times New Roman"/>
                <a:cs typeface="Times New Roman"/>
              </a:rPr>
              <a:t>i</a:t>
            </a:r>
            <a:r>
              <a:rPr sz="4224" b="0" i="1" spc="-422" baseline="-24390" dirty="0">
                <a:latin typeface="Times New Roman"/>
                <a:cs typeface="Times New Roman"/>
              </a:rPr>
              <a:t> </a:t>
            </a:r>
            <a:r>
              <a:rPr sz="4808" b="0" dirty="0">
                <a:latin typeface="Times New Roman"/>
                <a:cs typeface="Times New Roman"/>
              </a:rPr>
              <a:t>)</a:t>
            </a:r>
            <a:endParaRPr sz="4808">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pic>
        <p:nvPicPr>
          <p:cNvPr id="6" name="object 6"/>
          <p:cNvPicPr/>
          <p:nvPr/>
        </p:nvPicPr>
        <p:blipFill>
          <a:blip r:embed="rId3" cstate="print"/>
          <a:stretch>
            <a:fillRect/>
          </a:stretch>
        </p:blipFill>
        <p:spPr>
          <a:xfrm>
            <a:off x="1800474" y="2281443"/>
            <a:ext cx="279143" cy="279143"/>
          </a:xfrm>
          <a:prstGeom prst="rect">
            <a:avLst/>
          </a:prstGeom>
        </p:spPr>
      </p:pic>
      <p:sp>
        <p:nvSpPr>
          <p:cNvPr id="7" name="object 7"/>
          <p:cNvSpPr txBox="1"/>
          <p:nvPr/>
        </p:nvSpPr>
        <p:spPr>
          <a:xfrm>
            <a:off x="1118039" y="1697983"/>
            <a:ext cx="11669068" cy="6079497"/>
          </a:xfrm>
          <a:prstGeom prst="rect">
            <a:avLst/>
          </a:prstGeom>
        </p:spPr>
        <p:txBody>
          <a:bodyPr vert="horz" wrap="square" lIns="0" tIns="125615" rIns="0" bIns="0" rtlCol="0">
            <a:spAutoFit/>
          </a:bodyPr>
          <a:lstStyle/>
          <a:p>
            <a:pPr marL="1291003">
              <a:spcBef>
                <a:spcPts val="989"/>
              </a:spcBef>
            </a:pPr>
            <a:r>
              <a:rPr sz="3297" spc="-7" dirty="0">
                <a:latin typeface="Calibri"/>
                <a:cs typeface="Calibri"/>
              </a:rPr>
              <a:t>Condition</a:t>
            </a:r>
            <a:r>
              <a:rPr sz="3297" spc="-14" dirty="0">
                <a:latin typeface="Calibri"/>
                <a:cs typeface="Calibri"/>
              </a:rPr>
              <a:t> </a:t>
            </a:r>
            <a:r>
              <a:rPr sz="3297" spc="-7" dirty="0">
                <a:latin typeface="Calibri"/>
                <a:cs typeface="Calibri"/>
              </a:rPr>
              <a:t>on</a:t>
            </a:r>
            <a:r>
              <a:rPr sz="3297" spc="-14" dirty="0">
                <a:latin typeface="Calibri"/>
                <a:cs typeface="Calibri"/>
              </a:rPr>
              <a:t> </a:t>
            </a:r>
            <a:r>
              <a:rPr sz="3297" dirty="0">
                <a:latin typeface="Calibri"/>
                <a:cs typeface="Calibri"/>
              </a:rPr>
              <a:t>the</a:t>
            </a:r>
            <a:r>
              <a:rPr sz="3297" spc="-7" dirty="0">
                <a:latin typeface="Calibri"/>
                <a:cs typeface="Calibri"/>
              </a:rPr>
              <a:t> previous</a:t>
            </a:r>
            <a:r>
              <a:rPr sz="3297" spc="-14" dirty="0">
                <a:latin typeface="Calibri"/>
                <a:cs typeface="Calibri"/>
              </a:rPr>
              <a:t> </a:t>
            </a:r>
            <a:r>
              <a:rPr sz="3297" spc="-7" dirty="0">
                <a:latin typeface="Calibri"/>
                <a:cs typeface="Calibri"/>
              </a:rPr>
              <a:t>word:</a:t>
            </a:r>
            <a:endParaRPr sz="3297" dirty="0">
              <a:latin typeface="Calibri"/>
              <a:cs typeface="Calibri"/>
            </a:endParaRPr>
          </a:p>
          <a:p>
            <a:pPr marL="810366">
              <a:spcBef>
                <a:spcPts val="1463"/>
              </a:spcBef>
              <a:tabLst>
                <a:tab pos="2347358" algn="l"/>
                <a:tab pos="8306036" algn="l"/>
              </a:tabLst>
            </a:pPr>
            <a:r>
              <a:rPr sz="5495" i="1" spc="254" dirty="0">
                <a:latin typeface="Times New Roman"/>
                <a:cs typeface="Times New Roman"/>
              </a:rPr>
              <a:t>P</a:t>
            </a:r>
            <a:r>
              <a:rPr sz="5495" spc="227" dirty="0">
                <a:latin typeface="Times New Roman"/>
                <a:cs typeface="Times New Roman"/>
              </a:rPr>
              <a:t>(</a:t>
            </a:r>
            <a:r>
              <a:rPr sz="5495" i="1" spc="234" dirty="0">
                <a:latin typeface="Times New Roman"/>
                <a:cs typeface="Times New Roman"/>
              </a:rPr>
              <a:t>w</a:t>
            </a:r>
            <a:r>
              <a:rPr sz="4842" i="1" spc="-10" baseline="-23640" dirty="0">
                <a:latin typeface="Times New Roman"/>
                <a:cs typeface="Times New Roman"/>
              </a:rPr>
              <a:t>i</a:t>
            </a:r>
            <a:r>
              <a:rPr sz="4842" i="1" baseline="-23640" dirty="0">
                <a:latin typeface="Times New Roman"/>
                <a:cs typeface="Times New Roman"/>
              </a:rPr>
              <a:t>	</a:t>
            </a:r>
            <a:r>
              <a:rPr sz="5495" dirty="0">
                <a:latin typeface="Times New Roman"/>
                <a:cs typeface="Times New Roman"/>
              </a:rPr>
              <a:t>|</a:t>
            </a:r>
            <a:r>
              <a:rPr sz="5495" spc="-412" dirty="0">
                <a:latin typeface="Times New Roman"/>
                <a:cs typeface="Times New Roman"/>
              </a:rPr>
              <a:t> </a:t>
            </a:r>
            <a:r>
              <a:rPr sz="5495" i="1" spc="-227" dirty="0">
                <a:latin typeface="Times New Roman"/>
                <a:cs typeface="Times New Roman"/>
              </a:rPr>
              <a:t>w</a:t>
            </a:r>
            <a:r>
              <a:rPr sz="4842" spc="-21" baseline="-23640" dirty="0">
                <a:latin typeface="Times New Roman"/>
                <a:cs typeface="Times New Roman"/>
              </a:rPr>
              <a:t>1</a:t>
            </a:r>
            <a:r>
              <a:rPr sz="5495" i="1" spc="234" dirty="0">
                <a:latin typeface="Times New Roman"/>
                <a:cs typeface="Times New Roman"/>
              </a:rPr>
              <a:t>w</a:t>
            </a:r>
            <a:r>
              <a:rPr sz="4842" spc="-21" baseline="-23640" dirty="0">
                <a:latin typeface="Times New Roman"/>
                <a:cs typeface="Times New Roman"/>
              </a:rPr>
              <a:t>2</a:t>
            </a:r>
            <a:r>
              <a:rPr sz="4842" spc="-525" baseline="-23640" dirty="0">
                <a:latin typeface="Times New Roman"/>
                <a:cs typeface="Times New Roman"/>
              </a:rPr>
              <a:t> </a:t>
            </a:r>
            <a:r>
              <a:rPr sz="5495" spc="460" dirty="0">
                <a:latin typeface="Lucida Sans Unicode"/>
                <a:cs typeface="Lucida Sans Unicode"/>
              </a:rPr>
              <a:t>…</a:t>
            </a:r>
            <a:r>
              <a:rPr sz="5495" i="1" spc="234" dirty="0">
                <a:latin typeface="Times New Roman"/>
                <a:cs typeface="Times New Roman"/>
              </a:rPr>
              <a:t>w</a:t>
            </a:r>
            <a:r>
              <a:rPr sz="4842" i="1" spc="371" baseline="-23640" dirty="0">
                <a:latin typeface="Times New Roman"/>
                <a:cs typeface="Times New Roman"/>
              </a:rPr>
              <a:t>i</a:t>
            </a:r>
            <a:r>
              <a:rPr sz="4842" spc="-257" baseline="-23640" dirty="0">
                <a:latin typeface="Symbol"/>
                <a:cs typeface="Symbol"/>
              </a:rPr>
              <a:t></a:t>
            </a:r>
            <a:r>
              <a:rPr sz="4842" spc="236" baseline="-23640" dirty="0">
                <a:latin typeface="Times New Roman"/>
                <a:cs typeface="Times New Roman"/>
              </a:rPr>
              <a:t>1</a:t>
            </a:r>
            <a:r>
              <a:rPr sz="5495" dirty="0">
                <a:latin typeface="Times New Roman"/>
                <a:cs typeface="Times New Roman"/>
              </a:rPr>
              <a:t>)</a:t>
            </a:r>
            <a:r>
              <a:rPr sz="5495" spc="-227" dirty="0">
                <a:latin typeface="Times New Roman"/>
                <a:cs typeface="Times New Roman"/>
              </a:rPr>
              <a:t> </a:t>
            </a:r>
            <a:r>
              <a:rPr sz="5495" spc="275" dirty="0">
                <a:latin typeface="Symbol"/>
                <a:cs typeface="Symbol"/>
              </a:rPr>
              <a:t></a:t>
            </a:r>
            <a:r>
              <a:rPr sz="5495" spc="-41" dirty="0">
                <a:latin typeface="Times New Roman"/>
                <a:cs typeface="Times New Roman"/>
              </a:rPr>
              <a:t> </a:t>
            </a:r>
            <a:r>
              <a:rPr sz="5495" i="1" spc="309" dirty="0">
                <a:latin typeface="Times New Roman"/>
                <a:cs typeface="Times New Roman"/>
              </a:rPr>
              <a:t>P</a:t>
            </a:r>
            <a:r>
              <a:rPr sz="5495" spc="172" dirty="0">
                <a:latin typeface="Times New Roman"/>
                <a:cs typeface="Times New Roman"/>
              </a:rPr>
              <a:t>(</a:t>
            </a:r>
            <a:r>
              <a:rPr sz="5495" i="1" spc="234" dirty="0">
                <a:latin typeface="Times New Roman"/>
                <a:cs typeface="Times New Roman"/>
              </a:rPr>
              <a:t>w</a:t>
            </a:r>
            <a:r>
              <a:rPr sz="4842" i="1" spc="-10" baseline="-23640" dirty="0">
                <a:latin typeface="Times New Roman"/>
                <a:cs typeface="Times New Roman"/>
              </a:rPr>
              <a:t>i</a:t>
            </a:r>
            <a:r>
              <a:rPr sz="4842" i="1" baseline="-23640" dirty="0">
                <a:latin typeface="Times New Roman"/>
                <a:cs typeface="Times New Roman"/>
              </a:rPr>
              <a:t>	</a:t>
            </a:r>
            <a:r>
              <a:rPr sz="5495" dirty="0">
                <a:latin typeface="Times New Roman"/>
                <a:cs typeface="Times New Roman"/>
              </a:rPr>
              <a:t>|</a:t>
            </a:r>
            <a:r>
              <a:rPr sz="5495" spc="-412" dirty="0">
                <a:latin typeface="Times New Roman"/>
                <a:cs typeface="Times New Roman"/>
              </a:rPr>
              <a:t> </a:t>
            </a:r>
            <a:r>
              <a:rPr sz="5495" i="1" spc="234" dirty="0">
                <a:latin typeface="Times New Roman"/>
                <a:cs typeface="Times New Roman"/>
              </a:rPr>
              <a:t>w</a:t>
            </a:r>
            <a:r>
              <a:rPr sz="4842" i="1" spc="371" baseline="-23640" dirty="0">
                <a:latin typeface="Times New Roman"/>
                <a:cs typeface="Times New Roman"/>
              </a:rPr>
              <a:t>i</a:t>
            </a:r>
            <a:r>
              <a:rPr sz="4842" spc="-257" baseline="-23640" dirty="0">
                <a:latin typeface="Symbol"/>
                <a:cs typeface="Symbol"/>
              </a:rPr>
              <a:t></a:t>
            </a:r>
            <a:r>
              <a:rPr sz="4842" spc="319" baseline="-23640" dirty="0">
                <a:latin typeface="Times New Roman"/>
                <a:cs typeface="Times New Roman"/>
              </a:rPr>
              <a:t>1</a:t>
            </a:r>
            <a:r>
              <a:rPr sz="5495" dirty="0">
                <a:latin typeface="Times New Roman"/>
                <a:cs typeface="Times New Roman"/>
              </a:rPr>
              <a:t>)</a:t>
            </a:r>
          </a:p>
          <a:p>
            <a:pPr marL="87230" marR="76762">
              <a:lnSpc>
                <a:spcPct val="98800"/>
              </a:lnSpc>
              <a:spcBef>
                <a:spcPts val="4470"/>
              </a:spcBef>
              <a:tabLst>
                <a:tab pos="5551314" algn="l"/>
                <a:tab pos="7059520" algn="l"/>
              </a:tabLst>
            </a:pPr>
            <a:r>
              <a:rPr sz="2473" dirty="0">
                <a:latin typeface="Courier New"/>
                <a:cs typeface="Courier New"/>
              </a:rPr>
              <a:t>texaco, </a:t>
            </a:r>
            <a:r>
              <a:rPr sz="2473" spc="-7" dirty="0">
                <a:latin typeface="Courier New"/>
                <a:cs typeface="Courier New"/>
              </a:rPr>
              <a:t>rose, one, in, this, issue, is, pursuing, growth, in, </a:t>
            </a:r>
            <a:r>
              <a:rPr sz="2473" spc="-1470" dirty="0">
                <a:latin typeface="Courier New"/>
                <a:cs typeface="Courier New"/>
              </a:rPr>
              <a:t> </a:t>
            </a:r>
            <a:r>
              <a:rPr sz="2473" spc="-7" dirty="0">
                <a:latin typeface="Courier New"/>
                <a:cs typeface="Courier New"/>
              </a:rPr>
              <a:t>a, boiler,</a:t>
            </a:r>
            <a:r>
              <a:rPr sz="2473" dirty="0">
                <a:latin typeface="Courier New"/>
                <a:cs typeface="Courier New"/>
              </a:rPr>
              <a:t> </a:t>
            </a:r>
            <a:r>
              <a:rPr sz="2473" spc="-7" dirty="0">
                <a:latin typeface="Courier New"/>
                <a:cs typeface="Courier New"/>
              </a:rPr>
              <a:t>house,</a:t>
            </a:r>
            <a:r>
              <a:rPr sz="2473" dirty="0">
                <a:latin typeface="Courier New"/>
                <a:cs typeface="Courier New"/>
              </a:rPr>
              <a:t> </a:t>
            </a:r>
            <a:r>
              <a:rPr sz="2473" spc="-7" dirty="0">
                <a:latin typeface="Courier New"/>
                <a:cs typeface="Courier New"/>
              </a:rPr>
              <a:t>said,</a:t>
            </a:r>
            <a:r>
              <a:rPr sz="2473" spc="7" dirty="0">
                <a:latin typeface="Courier New"/>
                <a:cs typeface="Courier New"/>
              </a:rPr>
              <a:t> </a:t>
            </a:r>
            <a:r>
              <a:rPr sz="2473" dirty="0">
                <a:latin typeface="Courier New"/>
                <a:cs typeface="Courier New"/>
              </a:rPr>
              <a:t>mr.,	gurria,	mexico, </a:t>
            </a:r>
            <a:r>
              <a:rPr sz="2473" spc="-7" dirty="0">
                <a:latin typeface="Courier New"/>
                <a:cs typeface="Courier New"/>
              </a:rPr>
              <a:t>'s, motion, </a:t>
            </a:r>
            <a:r>
              <a:rPr sz="2473" dirty="0">
                <a:latin typeface="Courier New"/>
                <a:cs typeface="Courier New"/>
              </a:rPr>
              <a:t> </a:t>
            </a:r>
            <a:r>
              <a:rPr sz="2473" spc="-7" dirty="0">
                <a:latin typeface="Courier New"/>
                <a:cs typeface="Courier New"/>
              </a:rPr>
              <a:t>control, proposal, without, permission, from, five, hundred, </a:t>
            </a:r>
            <a:r>
              <a:rPr sz="2473" dirty="0">
                <a:latin typeface="Courier New"/>
                <a:cs typeface="Courier New"/>
              </a:rPr>
              <a:t> </a:t>
            </a:r>
            <a:r>
              <a:rPr sz="2473" spc="-7" dirty="0">
                <a:latin typeface="Courier New"/>
                <a:cs typeface="Courier New"/>
              </a:rPr>
              <a:t>fifty,</a:t>
            </a:r>
            <a:r>
              <a:rPr sz="2473" spc="-14" dirty="0">
                <a:latin typeface="Courier New"/>
                <a:cs typeface="Courier New"/>
              </a:rPr>
              <a:t> </a:t>
            </a:r>
            <a:r>
              <a:rPr sz="2473" spc="-7" dirty="0">
                <a:latin typeface="Courier New"/>
                <a:cs typeface="Courier New"/>
              </a:rPr>
              <a:t>five, </a:t>
            </a:r>
            <a:r>
              <a:rPr sz="2473" dirty="0">
                <a:latin typeface="Courier New"/>
                <a:cs typeface="Courier New"/>
              </a:rPr>
              <a:t>yen</a:t>
            </a:r>
          </a:p>
          <a:p>
            <a:pPr marL="87230" marR="266051">
              <a:lnSpc>
                <a:spcPts val="6044"/>
              </a:lnSpc>
              <a:spcBef>
                <a:spcPts val="301"/>
              </a:spcBef>
            </a:pPr>
            <a:r>
              <a:rPr sz="2473" spc="-7" dirty="0">
                <a:latin typeface="Courier New"/>
                <a:cs typeface="Courier New"/>
              </a:rPr>
              <a:t>outside, new, car, parking, lot, of, the, agreement, </a:t>
            </a:r>
            <a:r>
              <a:rPr sz="2473" dirty="0">
                <a:latin typeface="Courier New"/>
                <a:cs typeface="Courier New"/>
              </a:rPr>
              <a:t>reached </a:t>
            </a:r>
            <a:r>
              <a:rPr sz="2473" spc="-1470" dirty="0">
                <a:latin typeface="Courier New"/>
                <a:cs typeface="Courier New"/>
              </a:rPr>
              <a:t> </a:t>
            </a:r>
            <a:r>
              <a:rPr sz="2473" spc="-7" dirty="0">
                <a:latin typeface="Courier New"/>
                <a:cs typeface="Courier New"/>
              </a:rPr>
              <a:t>this,</a:t>
            </a:r>
            <a:r>
              <a:rPr sz="2473" spc="-14" dirty="0">
                <a:latin typeface="Courier New"/>
                <a:cs typeface="Courier New"/>
              </a:rPr>
              <a:t> </a:t>
            </a:r>
            <a:r>
              <a:rPr sz="2473" spc="-7" dirty="0">
                <a:latin typeface="Courier New"/>
                <a:cs typeface="Courier New"/>
              </a:rPr>
              <a:t>would,</a:t>
            </a:r>
            <a:r>
              <a:rPr sz="2473" spc="-14" dirty="0">
                <a:latin typeface="Courier New"/>
                <a:cs typeface="Courier New"/>
              </a:rPr>
              <a:t> </a:t>
            </a:r>
            <a:r>
              <a:rPr sz="2473" spc="-7" dirty="0">
                <a:latin typeface="Courier New"/>
                <a:cs typeface="Courier New"/>
              </a:rPr>
              <a:t>be, a,</a:t>
            </a:r>
            <a:r>
              <a:rPr sz="2473" spc="-14" dirty="0">
                <a:latin typeface="Courier New"/>
                <a:cs typeface="Courier New"/>
              </a:rPr>
              <a:t> </a:t>
            </a:r>
            <a:r>
              <a:rPr sz="2473" spc="-7" dirty="0">
                <a:latin typeface="Courier New"/>
                <a:cs typeface="Courier New"/>
              </a:rPr>
              <a:t>record,</a:t>
            </a:r>
            <a:r>
              <a:rPr sz="2473" dirty="0">
                <a:latin typeface="Courier New"/>
                <a:cs typeface="Courier New"/>
              </a:rPr>
              <a:t> </a:t>
            </a:r>
            <a:r>
              <a:rPr lang="en-US" sz="2473" dirty="0">
                <a:latin typeface="Courier New"/>
                <a:cs typeface="Courier New"/>
              </a:rPr>
              <a:t>N</a:t>
            </a:r>
            <a:r>
              <a:rPr sz="2473" dirty="0">
                <a:latin typeface="Courier New"/>
                <a:cs typeface="Courier New"/>
              </a:rPr>
              <a:t>ovember</a:t>
            </a:r>
            <a:endParaRPr lang="en-US" sz="2473" dirty="0">
              <a:latin typeface="Courier New"/>
              <a:cs typeface="Courier New"/>
            </a:endParaRPr>
          </a:p>
          <a:p>
            <a:pPr marL="87230" marR="266051">
              <a:lnSpc>
                <a:spcPts val="6044"/>
              </a:lnSpc>
              <a:spcBef>
                <a:spcPts val="301"/>
              </a:spcBef>
            </a:pPr>
            <a:r>
              <a:rPr lang="en-US" sz="3846" b="1" dirty="0">
                <a:latin typeface="+mj-lt"/>
                <a:cs typeface="Courier New"/>
              </a:rPr>
              <a:t>P(w4|w3)=count(w3,w4)/count w3</a:t>
            </a:r>
            <a:endParaRPr sz="3846" b="1" dirty="0">
              <a:latin typeface="+mj-lt"/>
              <a:cs typeface="Courier New"/>
            </a:endParaRPr>
          </a:p>
        </p:txBody>
      </p:sp>
      <p:sp>
        <p:nvSpPr>
          <p:cNvPr id="8" name="object 8"/>
          <p:cNvSpPr txBox="1">
            <a:spLocks noGrp="1"/>
          </p:cNvSpPr>
          <p:nvPr>
            <p:ph type="title"/>
          </p:nvPr>
        </p:nvSpPr>
        <p:spPr>
          <a:xfrm>
            <a:off x="2620457" y="1145678"/>
            <a:ext cx="3278191"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Bigram</a:t>
            </a:r>
            <a:r>
              <a:rPr spc="-82" dirty="0">
                <a:latin typeface="Calibri"/>
                <a:cs typeface="Calibri"/>
              </a:rPr>
              <a:t> </a:t>
            </a:r>
            <a:r>
              <a:rPr spc="-7" dirty="0">
                <a:latin typeface="Calibri"/>
                <a:cs typeface="Calibri"/>
              </a:rPr>
              <a:t>model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3590482" cy="704837"/>
          </a:xfrm>
          <a:prstGeom prst="rect">
            <a:avLst/>
          </a:prstGeom>
        </p:spPr>
        <p:txBody>
          <a:bodyPr vert="horz" wrap="square" lIns="0" tIns="17446" rIns="0" bIns="0" rtlCol="0">
            <a:spAutoFit/>
          </a:bodyPr>
          <a:lstStyle/>
          <a:p>
            <a:pPr marL="17446">
              <a:spcBef>
                <a:spcPts val="137"/>
              </a:spcBef>
            </a:pPr>
            <a:r>
              <a:rPr dirty="0">
                <a:latin typeface="Calibri"/>
                <a:cs typeface="Calibri"/>
              </a:rPr>
              <a:t>N</a:t>
            </a:r>
            <a:r>
              <a:rPr spc="-900" dirty="0">
                <a:latin typeface="Calibri"/>
                <a:cs typeface="Calibri"/>
              </a:rPr>
              <a:t>-­‐</a:t>
            </a:r>
            <a:r>
              <a:rPr spc="-7" dirty="0">
                <a:latin typeface="Calibri"/>
                <a:cs typeface="Calibri"/>
              </a:rPr>
              <a:t>g</a:t>
            </a:r>
            <a:r>
              <a:rPr dirty="0">
                <a:latin typeface="Calibri"/>
                <a:cs typeface="Calibri"/>
              </a:rPr>
              <a:t>ram models</a:t>
            </a:r>
          </a:p>
        </p:txBody>
      </p:sp>
      <p:sp>
        <p:nvSpPr>
          <p:cNvPr id="7" name="object 7"/>
          <p:cNvSpPr txBox="1"/>
          <p:nvPr/>
        </p:nvSpPr>
        <p:spPr>
          <a:xfrm>
            <a:off x="1154955" y="2148501"/>
            <a:ext cx="11207609" cy="4240758"/>
          </a:xfrm>
          <a:prstGeom prst="rect">
            <a:avLst/>
          </a:prstGeom>
        </p:spPr>
        <p:txBody>
          <a:bodyPr vert="horz" wrap="square" lIns="0" tIns="123870" rIns="0" bIns="0" rtlCol="0">
            <a:spAutoFit/>
          </a:bodyPr>
          <a:lstStyle/>
          <a:p>
            <a:pPr marL="488488" indent="-471042">
              <a:spcBef>
                <a:spcPts val="975"/>
              </a:spcBef>
              <a:buClr>
                <a:srgbClr val="CC0000"/>
              </a:buClr>
              <a:buFont typeface="Times New Roman"/>
              <a:buChar char="•"/>
              <a:tabLst>
                <a:tab pos="487615" algn="l"/>
                <a:tab pos="488488" algn="l"/>
              </a:tabLst>
            </a:pPr>
            <a:r>
              <a:rPr sz="3846" spc="-7" dirty="0">
                <a:latin typeface="Calibri"/>
                <a:cs typeface="Calibri"/>
              </a:rPr>
              <a:t>We</a:t>
            </a:r>
            <a:r>
              <a:rPr sz="3846" dirty="0">
                <a:latin typeface="Calibri"/>
                <a:cs typeface="Calibri"/>
              </a:rPr>
              <a:t> can </a:t>
            </a:r>
            <a:r>
              <a:rPr sz="3846" spc="-7" dirty="0">
                <a:latin typeface="Calibri"/>
                <a:cs typeface="Calibri"/>
              </a:rPr>
              <a:t>extend</a:t>
            </a:r>
            <a:r>
              <a:rPr sz="3846" dirty="0">
                <a:latin typeface="Calibri"/>
                <a:cs typeface="Calibri"/>
              </a:rPr>
              <a:t> to </a:t>
            </a:r>
            <a:r>
              <a:rPr sz="3846" spc="-7" dirty="0">
                <a:latin typeface="Calibri"/>
                <a:cs typeface="Calibri"/>
              </a:rPr>
              <a:t>trigrams,</a:t>
            </a:r>
            <a:r>
              <a:rPr sz="3846" dirty="0">
                <a:latin typeface="Calibri"/>
                <a:cs typeface="Calibri"/>
              </a:rPr>
              <a:t> </a:t>
            </a:r>
            <a:r>
              <a:rPr sz="3846" spc="-240" dirty="0">
                <a:latin typeface="Calibri"/>
                <a:cs typeface="Calibri"/>
              </a:rPr>
              <a:t>4-­‐grams,</a:t>
            </a:r>
            <a:r>
              <a:rPr sz="3846" dirty="0">
                <a:latin typeface="Calibri"/>
                <a:cs typeface="Calibri"/>
              </a:rPr>
              <a:t> </a:t>
            </a:r>
            <a:r>
              <a:rPr sz="3846" spc="-268" dirty="0">
                <a:latin typeface="Calibri"/>
                <a:cs typeface="Calibri"/>
              </a:rPr>
              <a:t>5-­‐grams</a:t>
            </a:r>
            <a:endParaRPr sz="3846">
              <a:latin typeface="Calibri"/>
              <a:cs typeface="Calibri"/>
            </a:endParaRPr>
          </a:p>
          <a:p>
            <a:pPr marL="488488" indent="-471042">
              <a:spcBef>
                <a:spcPts val="845"/>
              </a:spcBef>
              <a:buClr>
                <a:srgbClr val="CC0000"/>
              </a:buClr>
              <a:buFont typeface="Times New Roman"/>
              <a:buChar char="•"/>
              <a:tabLst>
                <a:tab pos="487615" algn="l"/>
                <a:tab pos="488488" algn="l"/>
              </a:tabLst>
            </a:pPr>
            <a:r>
              <a:rPr sz="3846" dirty="0">
                <a:latin typeface="Calibri"/>
                <a:cs typeface="Calibri"/>
              </a:rPr>
              <a:t>In </a:t>
            </a:r>
            <a:r>
              <a:rPr sz="3846" spc="-7" dirty="0">
                <a:latin typeface="Calibri"/>
                <a:cs typeface="Calibri"/>
              </a:rPr>
              <a:t>general</a:t>
            </a:r>
            <a:r>
              <a:rPr sz="3846" dirty="0">
                <a:latin typeface="Calibri"/>
                <a:cs typeface="Calibri"/>
              </a:rPr>
              <a:t> this is</a:t>
            </a:r>
            <a:r>
              <a:rPr sz="3846" spc="7" dirty="0">
                <a:latin typeface="Calibri"/>
                <a:cs typeface="Calibri"/>
              </a:rPr>
              <a:t> </a:t>
            </a:r>
            <a:r>
              <a:rPr sz="3846" dirty="0">
                <a:latin typeface="Calibri"/>
                <a:cs typeface="Calibri"/>
              </a:rPr>
              <a:t>an </a:t>
            </a:r>
            <a:r>
              <a:rPr sz="3846" spc="-14" dirty="0">
                <a:latin typeface="Calibri"/>
                <a:cs typeface="Calibri"/>
              </a:rPr>
              <a:t>insufficient</a:t>
            </a:r>
            <a:r>
              <a:rPr sz="3846" dirty="0">
                <a:latin typeface="Calibri"/>
                <a:cs typeface="Calibri"/>
              </a:rPr>
              <a:t> </a:t>
            </a:r>
            <a:r>
              <a:rPr sz="3846" spc="-7" dirty="0">
                <a:latin typeface="Calibri"/>
                <a:cs typeface="Calibri"/>
              </a:rPr>
              <a:t>model</a:t>
            </a:r>
            <a:r>
              <a:rPr sz="3846" spc="7" dirty="0">
                <a:latin typeface="Calibri"/>
                <a:cs typeface="Calibri"/>
              </a:rPr>
              <a:t> </a:t>
            </a:r>
            <a:r>
              <a:rPr sz="3846" spc="-7" dirty="0">
                <a:latin typeface="Calibri"/>
                <a:cs typeface="Calibri"/>
              </a:rPr>
              <a:t>of</a:t>
            </a:r>
            <a:r>
              <a:rPr sz="3846" dirty="0">
                <a:latin typeface="Calibri"/>
                <a:cs typeface="Calibri"/>
              </a:rPr>
              <a:t> </a:t>
            </a:r>
            <a:r>
              <a:rPr sz="3846" spc="-7" dirty="0">
                <a:latin typeface="Calibri"/>
                <a:cs typeface="Calibri"/>
              </a:rPr>
              <a:t>language</a:t>
            </a:r>
            <a:endParaRPr sz="3846">
              <a:latin typeface="Calibri"/>
              <a:cs typeface="Calibri"/>
            </a:endParaRPr>
          </a:p>
          <a:p>
            <a:pPr marL="959529" lvl="1" indent="-314028">
              <a:spcBef>
                <a:spcPts val="742"/>
              </a:spcBef>
              <a:buFont typeface="Times New Roman"/>
              <a:buChar char="•"/>
              <a:tabLst>
                <a:tab pos="959529" algn="l"/>
              </a:tabLst>
            </a:pPr>
            <a:r>
              <a:rPr sz="3297" dirty="0">
                <a:latin typeface="Calibri"/>
                <a:cs typeface="Calibri"/>
              </a:rPr>
              <a:t>because</a:t>
            </a:r>
            <a:r>
              <a:rPr sz="3297" spc="-14" dirty="0">
                <a:latin typeface="Calibri"/>
                <a:cs typeface="Calibri"/>
              </a:rPr>
              <a:t> </a:t>
            </a:r>
            <a:r>
              <a:rPr sz="3297" spc="-7" dirty="0">
                <a:latin typeface="Calibri"/>
                <a:cs typeface="Calibri"/>
              </a:rPr>
              <a:t>language</a:t>
            </a:r>
            <a:r>
              <a:rPr sz="3297" spc="-14" dirty="0">
                <a:latin typeface="Calibri"/>
                <a:cs typeface="Calibri"/>
              </a:rPr>
              <a:t> </a:t>
            </a:r>
            <a:r>
              <a:rPr sz="3297" dirty="0">
                <a:latin typeface="Calibri"/>
                <a:cs typeface="Calibri"/>
              </a:rPr>
              <a:t>has</a:t>
            </a:r>
            <a:r>
              <a:rPr sz="3297" spc="-14" dirty="0">
                <a:latin typeface="Calibri"/>
                <a:cs typeface="Calibri"/>
              </a:rPr>
              <a:t> </a:t>
            </a:r>
            <a:r>
              <a:rPr sz="3297" b="1" spc="-137" dirty="0">
                <a:solidFill>
                  <a:srgbClr val="008000"/>
                </a:solidFill>
                <a:latin typeface="Calibri"/>
                <a:cs typeface="Calibri"/>
              </a:rPr>
              <a:t>long-­‐distance</a:t>
            </a:r>
            <a:r>
              <a:rPr sz="3297" b="1" spc="-14" dirty="0">
                <a:solidFill>
                  <a:srgbClr val="008000"/>
                </a:solidFill>
                <a:latin typeface="Calibri"/>
                <a:cs typeface="Calibri"/>
              </a:rPr>
              <a:t> </a:t>
            </a:r>
            <a:r>
              <a:rPr sz="3297" b="1" spc="-7" dirty="0">
                <a:solidFill>
                  <a:srgbClr val="008000"/>
                </a:solidFill>
                <a:latin typeface="Calibri"/>
                <a:cs typeface="Calibri"/>
              </a:rPr>
              <a:t>dependencies</a:t>
            </a:r>
            <a:r>
              <a:rPr sz="3297" spc="-7" dirty="0">
                <a:latin typeface="Calibri"/>
                <a:cs typeface="Calibri"/>
              </a:rPr>
              <a:t>:</a:t>
            </a:r>
            <a:endParaRPr sz="3297">
              <a:latin typeface="Calibri"/>
              <a:cs typeface="Calibri"/>
            </a:endParaRPr>
          </a:p>
          <a:p>
            <a:pPr marL="645502" marR="6978">
              <a:lnSpc>
                <a:spcPct val="101499"/>
              </a:lnSpc>
              <a:spcBef>
                <a:spcPts val="2308"/>
              </a:spcBef>
            </a:pPr>
            <a:r>
              <a:rPr sz="3297" dirty="0">
                <a:latin typeface="Calibri"/>
                <a:cs typeface="Calibri"/>
              </a:rPr>
              <a:t>“The</a:t>
            </a:r>
            <a:r>
              <a:rPr sz="3297" spc="-7" dirty="0">
                <a:latin typeface="Calibri"/>
                <a:cs typeface="Calibri"/>
              </a:rPr>
              <a:t> computer</a:t>
            </a:r>
            <a:r>
              <a:rPr sz="3297" dirty="0">
                <a:latin typeface="Calibri"/>
                <a:cs typeface="Calibri"/>
              </a:rPr>
              <a:t> </a:t>
            </a:r>
            <a:r>
              <a:rPr sz="3297" spc="-7" dirty="0">
                <a:latin typeface="Calibri"/>
                <a:cs typeface="Calibri"/>
              </a:rPr>
              <a:t>which </a:t>
            </a:r>
            <a:r>
              <a:rPr sz="3297" dirty="0">
                <a:latin typeface="Calibri"/>
                <a:cs typeface="Calibri"/>
              </a:rPr>
              <a:t>I had just</a:t>
            </a:r>
            <a:r>
              <a:rPr sz="3297" spc="-7" dirty="0">
                <a:latin typeface="Calibri"/>
                <a:cs typeface="Calibri"/>
              </a:rPr>
              <a:t> </a:t>
            </a:r>
            <a:r>
              <a:rPr sz="3297" dirty="0">
                <a:latin typeface="Calibri"/>
                <a:cs typeface="Calibri"/>
              </a:rPr>
              <a:t>put into the</a:t>
            </a:r>
            <a:r>
              <a:rPr sz="3297" spc="-7" dirty="0">
                <a:latin typeface="Calibri"/>
                <a:cs typeface="Calibri"/>
              </a:rPr>
              <a:t> machine</a:t>
            </a:r>
            <a:r>
              <a:rPr sz="3297" dirty="0">
                <a:latin typeface="Calibri"/>
                <a:cs typeface="Calibri"/>
              </a:rPr>
              <a:t> </a:t>
            </a:r>
            <a:r>
              <a:rPr sz="3297" spc="-7" dirty="0">
                <a:latin typeface="Calibri"/>
                <a:cs typeface="Calibri"/>
              </a:rPr>
              <a:t>room</a:t>
            </a:r>
            <a:r>
              <a:rPr sz="3297" dirty="0">
                <a:latin typeface="Calibri"/>
                <a:cs typeface="Calibri"/>
              </a:rPr>
              <a:t> </a:t>
            </a:r>
            <a:r>
              <a:rPr sz="3297" spc="-7" dirty="0">
                <a:latin typeface="Calibri"/>
                <a:cs typeface="Calibri"/>
              </a:rPr>
              <a:t>on </a:t>
            </a:r>
            <a:r>
              <a:rPr sz="3297" spc="-728" dirty="0">
                <a:latin typeface="Calibri"/>
                <a:cs typeface="Calibri"/>
              </a:rPr>
              <a:t> </a:t>
            </a:r>
            <a:r>
              <a:rPr sz="3297" dirty="0">
                <a:latin typeface="Calibri"/>
                <a:cs typeface="Calibri"/>
              </a:rPr>
              <a:t>the</a:t>
            </a:r>
            <a:r>
              <a:rPr sz="3297" spc="-7" dirty="0">
                <a:latin typeface="Calibri"/>
                <a:cs typeface="Calibri"/>
              </a:rPr>
              <a:t> </a:t>
            </a:r>
            <a:r>
              <a:rPr sz="3297" spc="-27" dirty="0">
                <a:latin typeface="Calibri"/>
                <a:cs typeface="Calibri"/>
              </a:rPr>
              <a:t>fifth</a:t>
            </a:r>
            <a:r>
              <a:rPr sz="3297" dirty="0">
                <a:latin typeface="Calibri"/>
                <a:cs typeface="Calibri"/>
              </a:rPr>
              <a:t> </a:t>
            </a:r>
            <a:r>
              <a:rPr sz="3297" spc="-7" dirty="0">
                <a:latin typeface="Calibri"/>
                <a:cs typeface="Calibri"/>
              </a:rPr>
              <a:t>ﬂoor</a:t>
            </a:r>
            <a:r>
              <a:rPr sz="3297" dirty="0">
                <a:latin typeface="Calibri"/>
                <a:cs typeface="Calibri"/>
              </a:rPr>
              <a:t> </a:t>
            </a:r>
            <a:r>
              <a:rPr sz="3297" spc="-7" dirty="0">
                <a:latin typeface="Calibri"/>
                <a:cs typeface="Calibri"/>
              </a:rPr>
              <a:t>crashed.”</a:t>
            </a:r>
            <a:endParaRPr sz="3297">
              <a:latin typeface="Calibri"/>
              <a:cs typeface="Calibri"/>
            </a:endParaRPr>
          </a:p>
          <a:p>
            <a:pPr marL="488488" indent="-471042">
              <a:spcBef>
                <a:spcPts val="2458"/>
              </a:spcBef>
              <a:buClr>
                <a:srgbClr val="CC0000"/>
              </a:buClr>
              <a:buFont typeface="Times New Roman"/>
              <a:buChar char="•"/>
              <a:tabLst>
                <a:tab pos="487615" algn="l"/>
                <a:tab pos="488488" algn="l"/>
              </a:tabLst>
            </a:pPr>
            <a:r>
              <a:rPr sz="3846" spc="-7" dirty="0">
                <a:latin typeface="Calibri"/>
                <a:cs typeface="Calibri"/>
              </a:rPr>
              <a:t>B</a:t>
            </a:r>
            <a:r>
              <a:rPr sz="3846" dirty="0">
                <a:latin typeface="Calibri"/>
                <a:cs typeface="Calibri"/>
              </a:rPr>
              <a:t>ut </a:t>
            </a:r>
            <a:r>
              <a:rPr sz="3846" spc="-7" dirty="0">
                <a:latin typeface="Calibri"/>
                <a:cs typeface="Calibri"/>
              </a:rPr>
              <a:t>w</a:t>
            </a:r>
            <a:r>
              <a:rPr sz="3846" dirty="0">
                <a:latin typeface="Calibri"/>
                <a:cs typeface="Calibri"/>
              </a:rPr>
              <a:t>e can </a:t>
            </a:r>
            <a:r>
              <a:rPr sz="3846" spc="-7" dirty="0">
                <a:latin typeface="Calibri"/>
                <a:cs typeface="Calibri"/>
              </a:rPr>
              <a:t>o</a:t>
            </a:r>
            <a:r>
              <a:rPr sz="3846" spc="-48" dirty="0">
                <a:latin typeface="Calibri"/>
                <a:cs typeface="Calibri"/>
              </a:rPr>
              <a:t>f</a:t>
            </a:r>
            <a:r>
              <a:rPr sz="3846" spc="-62" dirty="0">
                <a:latin typeface="Calibri"/>
                <a:cs typeface="Calibri"/>
              </a:rPr>
              <a:t>t</a:t>
            </a:r>
            <a:r>
              <a:rPr sz="3846" dirty="0">
                <a:latin typeface="Calibri"/>
                <a:cs typeface="Calibri"/>
              </a:rPr>
              <a:t>en get a</a:t>
            </a:r>
            <a:r>
              <a:rPr sz="3846" spc="-7" dirty="0">
                <a:latin typeface="Calibri"/>
                <a:cs typeface="Calibri"/>
              </a:rPr>
              <a:t>w</a:t>
            </a:r>
            <a:r>
              <a:rPr sz="3846" dirty="0">
                <a:latin typeface="Calibri"/>
                <a:cs typeface="Calibri"/>
              </a:rPr>
              <a:t>ay</a:t>
            </a:r>
            <a:r>
              <a:rPr sz="3846" spc="-7" dirty="0">
                <a:latin typeface="Calibri"/>
                <a:cs typeface="Calibri"/>
              </a:rPr>
              <a:t> w</a:t>
            </a:r>
            <a:r>
              <a:rPr sz="3846" dirty="0">
                <a:latin typeface="Calibri"/>
                <a:cs typeface="Calibri"/>
              </a:rPr>
              <a:t>ith N</a:t>
            </a:r>
            <a:r>
              <a:rPr sz="3846" spc="-790" dirty="0">
                <a:latin typeface="Calibri"/>
                <a:cs typeface="Calibri"/>
              </a:rPr>
              <a:t>-­‐</a:t>
            </a:r>
            <a:r>
              <a:rPr sz="3846" dirty="0">
                <a:latin typeface="Calibri"/>
                <a:cs typeface="Calibri"/>
              </a:rPr>
              <a:t>g</a:t>
            </a:r>
            <a:r>
              <a:rPr sz="3846" spc="-7" dirty="0">
                <a:latin typeface="Calibri"/>
                <a:cs typeface="Calibri"/>
              </a:rPr>
              <a:t>r</a:t>
            </a:r>
            <a:r>
              <a:rPr sz="3846" dirty="0">
                <a:latin typeface="Calibri"/>
                <a:cs typeface="Calibri"/>
              </a:rPr>
              <a:t>am</a:t>
            </a:r>
            <a:r>
              <a:rPr sz="3846" spc="-7" dirty="0">
                <a:latin typeface="Calibri"/>
                <a:cs typeface="Calibri"/>
              </a:rPr>
              <a:t> mo</a:t>
            </a:r>
            <a:r>
              <a:rPr sz="3846" dirty="0">
                <a:latin typeface="Calibri"/>
                <a:cs typeface="Calibri"/>
              </a:rPr>
              <a:t>dels</a:t>
            </a:r>
            <a:endParaRPr sz="3846">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68902" y="4183106"/>
            <a:ext cx="5520934" cy="694084"/>
          </a:xfrm>
          <a:prstGeom prst="rect">
            <a:avLst/>
          </a:prstGeom>
        </p:spPr>
        <p:txBody>
          <a:bodyPr vert="horz" wrap="square" lIns="0" tIns="17446" rIns="0" bIns="0" rtlCol="0">
            <a:spAutoFit/>
          </a:bodyPr>
          <a:lstStyle/>
          <a:p>
            <a:pPr marL="17446">
              <a:spcBef>
                <a:spcPts val="137"/>
              </a:spcBef>
            </a:pPr>
            <a:r>
              <a:rPr sz="4396" spc="-7" dirty="0">
                <a:solidFill>
                  <a:srgbClr val="A50021"/>
                </a:solidFill>
                <a:latin typeface="Calibri"/>
                <a:cs typeface="Calibri"/>
              </a:rPr>
              <a:t>Introduction</a:t>
            </a:r>
            <a:r>
              <a:rPr sz="4396" spc="-48" dirty="0">
                <a:solidFill>
                  <a:srgbClr val="A50021"/>
                </a:solidFill>
                <a:latin typeface="Calibri"/>
                <a:cs typeface="Calibri"/>
              </a:rPr>
              <a:t> </a:t>
            </a:r>
            <a:r>
              <a:rPr sz="4396" dirty="0">
                <a:solidFill>
                  <a:srgbClr val="A50021"/>
                </a:solidFill>
                <a:latin typeface="Calibri"/>
                <a:cs typeface="Calibri"/>
              </a:rPr>
              <a:t>to</a:t>
            </a:r>
            <a:r>
              <a:rPr sz="4396" spc="-48" dirty="0">
                <a:solidFill>
                  <a:srgbClr val="A50021"/>
                </a:solidFill>
                <a:latin typeface="Calibri"/>
                <a:cs typeface="Calibri"/>
              </a:rPr>
              <a:t> </a:t>
            </a:r>
            <a:r>
              <a:rPr sz="4396" spc="-302" dirty="0">
                <a:solidFill>
                  <a:srgbClr val="A50021"/>
                </a:solidFill>
                <a:latin typeface="Calibri"/>
                <a:cs typeface="Calibri"/>
              </a:rPr>
              <a:t>N-­‐grams</a:t>
            </a:r>
            <a:endParaRPr sz="4396">
              <a:latin typeface="Calibri"/>
              <a:cs typeface="Calibri"/>
            </a:endParaRPr>
          </a:p>
        </p:txBody>
      </p:sp>
      <p:sp>
        <p:nvSpPr>
          <p:cNvPr id="3" name="object 3"/>
          <p:cNvSpPr txBox="1"/>
          <p:nvPr/>
        </p:nvSpPr>
        <p:spPr>
          <a:xfrm>
            <a:off x="7994328" y="1634179"/>
            <a:ext cx="3069705" cy="1873466"/>
          </a:xfrm>
          <a:prstGeom prst="rect">
            <a:avLst/>
          </a:prstGeom>
        </p:spPr>
        <p:txBody>
          <a:bodyPr vert="horz" wrap="square" lIns="0" tIns="13085" rIns="0" bIns="0" rtlCol="0">
            <a:spAutoFit/>
          </a:bodyPr>
          <a:lstStyle/>
          <a:p>
            <a:pPr marL="17446" marR="6978" indent="6978">
              <a:lnSpc>
                <a:spcPct val="100400"/>
              </a:lnSpc>
              <a:spcBef>
                <a:spcPts val="103"/>
              </a:spcBef>
            </a:pPr>
            <a:r>
              <a:rPr sz="6044" b="1" dirty="0">
                <a:latin typeface="Calibri"/>
                <a:cs typeface="Calibri"/>
              </a:rPr>
              <a:t>Language  </a:t>
            </a:r>
            <a:r>
              <a:rPr sz="6044" b="1" spc="-7" dirty="0">
                <a:latin typeface="Calibri"/>
                <a:cs typeface="Calibri"/>
              </a:rPr>
              <a:t>Mode</a:t>
            </a:r>
            <a:r>
              <a:rPr sz="6044" b="1" dirty="0">
                <a:latin typeface="Calibri"/>
                <a:cs typeface="Calibri"/>
              </a:rPr>
              <a:t>li</a:t>
            </a:r>
            <a:r>
              <a:rPr sz="6044" b="1" spc="-7" dirty="0">
                <a:latin typeface="Calibri"/>
                <a:cs typeface="Calibri"/>
              </a:rPr>
              <a:t>n</a:t>
            </a:r>
            <a:r>
              <a:rPr sz="6044" b="1" dirty="0">
                <a:latin typeface="Calibri"/>
                <a:cs typeface="Calibri"/>
              </a:rPr>
              <a:t>g</a:t>
            </a:r>
            <a:endParaRPr sz="6044">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subTitle" idx="4"/>
          </p:nvPr>
        </p:nvSpPr>
        <p:spPr>
          <a:xfrm>
            <a:off x="0" y="4244436"/>
            <a:ext cx="15968070" cy="672611"/>
          </a:xfrm>
          <a:prstGeom prst="rect">
            <a:avLst/>
          </a:prstGeom>
        </p:spPr>
        <p:txBody>
          <a:bodyPr vert="horz" wrap="square" lIns="0" tIns="6106" rIns="0" bIns="0" rtlCol="0">
            <a:spAutoFit/>
          </a:bodyPr>
          <a:lstStyle/>
          <a:p>
            <a:pPr marL="7019394" marR="6978" indent="-694349">
              <a:lnSpc>
                <a:spcPct val="101600"/>
              </a:lnSpc>
              <a:spcBef>
                <a:spcPts val="48"/>
              </a:spcBef>
            </a:pPr>
            <a:r>
              <a:rPr spc="-14" dirty="0">
                <a:solidFill>
                  <a:srgbClr val="A50021"/>
                </a:solidFill>
                <a:latin typeface="Calibri"/>
                <a:cs typeface="Calibri"/>
              </a:rPr>
              <a:t>Estimating </a:t>
            </a:r>
            <a:r>
              <a:rPr spc="-343" dirty="0">
                <a:solidFill>
                  <a:srgbClr val="A50021"/>
                </a:solidFill>
                <a:latin typeface="Calibri"/>
                <a:cs typeface="Calibri"/>
              </a:rPr>
              <a:t>N-­‐gram </a:t>
            </a:r>
            <a:r>
              <a:rPr spc="-975" dirty="0">
                <a:solidFill>
                  <a:srgbClr val="A50021"/>
                </a:solidFill>
                <a:latin typeface="Calibri"/>
                <a:cs typeface="Calibri"/>
              </a:rPr>
              <a:t> </a:t>
            </a:r>
            <a:r>
              <a:rPr spc="-7" dirty="0">
                <a:solidFill>
                  <a:srgbClr val="A50021"/>
                </a:solidFill>
                <a:latin typeface="Calibri"/>
                <a:cs typeface="Calibri"/>
              </a:rPr>
              <a:t>Probabilities</a:t>
            </a:r>
          </a:p>
        </p:txBody>
      </p:sp>
      <p:sp>
        <p:nvSpPr>
          <p:cNvPr id="3" name="object 3"/>
          <p:cNvSpPr txBox="1"/>
          <p:nvPr/>
        </p:nvSpPr>
        <p:spPr>
          <a:xfrm>
            <a:off x="7994328" y="1634179"/>
            <a:ext cx="3069705" cy="1873466"/>
          </a:xfrm>
          <a:prstGeom prst="rect">
            <a:avLst/>
          </a:prstGeom>
        </p:spPr>
        <p:txBody>
          <a:bodyPr vert="horz" wrap="square" lIns="0" tIns="13085" rIns="0" bIns="0" rtlCol="0">
            <a:spAutoFit/>
          </a:bodyPr>
          <a:lstStyle/>
          <a:p>
            <a:pPr marL="17446" marR="6978" indent="6978">
              <a:lnSpc>
                <a:spcPct val="100400"/>
              </a:lnSpc>
              <a:spcBef>
                <a:spcPts val="103"/>
              </a:spcBef>
            </a:pPr>
            <a:r>
              <a:rPr sz="6044" b="1" dirty="0">
                <a:latin typeface="Calibri"/>
                <a:cs typeface="Calibri"/>
              </a:rPr>
              <a:t>Language  </a:t>
            </a:r>
            <a:r>
              <a:rPr sz="6044" b="1" spc="-7" dirty="0">
                <a:latin typeface="Calibri"/>
                <a:cs typeface="Calibri"/>
              </a:rPr>
              <a:t>Mode</a:t>
            </a:r>
            <a:r>
              <a:rPr sz="6044" b="1" dirty="0">
                <a:latin typeface="Calibri"/>
                <a:cs typeface="Calibri"/>
              </a:rPr>
              <a:t>li</a:t>
            </a:r>
            <a:r>
              <a:rPr sz="6044" b="1" spc="-7" dirty="0">
                <a:latin typeface="Calibri"/>
                <a:cs typeface="Calibri"/>
              </a:rPr>
              <a:t>n</a:t>
            </a:r>
            <a:r>
              <a:rPr sz="6044" b="1" dirty="0">
                <a:latin typeface="Calibri"/>
                <a:cs typeface="Calibri"/>
              </a:rPr>
              <a:t>g</a:t>
            </a:r>
            <a:endParaRPr sz="6044">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7281282"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Estimating</a:t>
            </a:r>
            <a:r>
              <a:rPr spc="-34" dirty="0">
                <a:latin typeface="Calibri"/>
                <a:cs typeface="Calibri"/>
              </a:rPr>
              <a:t> </a:t>
            </a:r>
            <a:r>
              <a:rPr dirty="0">
                <a:latin typeface="Calibri"/>
                <a:cs typeface="Calibri"/>
              </a:rPr>
              <a:t>bigram</a:t>
            </a:r>
            <a:r>
              <a:rPr spc="-34" dirty="0">
                <a:latin typeface="Calibri"/>
                <a:cs typeface="Calibri"/>
              </a:rPr>
              <a:t> </a:t>
            </a:r>
            <a:r>
              <a:rPr spc="-7" dirty="0">
                <a:latin typeface="Calibri"/>
                <a:cs typeface="Calibri"/>
              </a:rPr>
              <a:t>probabilities</a:t>
            </a:r>
          </a:p>
        </p:txBody>
      </p:sp>
      <p:sp>
        <p:nvSpPr>
          <p:cNvPr id="7" name="object 7"/>
          <p:cNvSpPr txBox="1"/>
          <p:nvPr/>
        </p:nvSpPr>
        <p:spPr>
          <a:xfrm>
            <a:off x="1709211" y="2315247"/>
            <a:ext cx="6377555" cy="524999"/>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297" dirty="0">
                <a:latin typeface="Calibri"/>
                <a:cs typeface="Calibri"/>
              </a:rPr>
              <a:t>The</a:t>
            </a:r>
            <a:r>
              <a:rPr sz="3297" spc="-14" dirty="0">
                <a:latin typeface="Calibri"/>
                <a:cs typeface="Calibri"/>
              </a:rPr>
              <a:t> </a:t>
            </a:r>
            <a:r>
              <a:rPr sz="3297" spc="-7" dirty="0">
                <a:latin typeface="Calibri"/>
                <a:cs typeface="Calibri"/>
              </a:rPr>
              <a:t>Maximum Likelihood Estimate</a:t>
            </a:r>
            <a:endParaRPr sz="3297" dirty="0">
              <a:latin typeface="Calibri"/>
              <a:cs typeface="Calibri"/>
            </a:endParaRPr>
          </a:p>
        </p:txBody>
      </p:sp>
      <p:sp>
        <p:nvSpPr>
          <p:cNvPr id="8" name="object 8"/>
          <p:cNvSpPr txBox="1"/>
          <p:nvPr/>
        </p:nvSpPr>
        <p:spPr>
          <a:xfrm>
            <a:off x="4250205" y="3816637"/>
            <a:ext cx="140444" cy="473798"/>
          </a:xfrm>
          <a:prstGeom prst="rect">
            <a:avLst/>
          </a:prstGeom>
        </p:spPr>
        <p:txBody>
          <a:bodyPr vert="horz" wrap="square" lIns="0" tIns="19191" rIns="0" bIns="0" rtlCol="0">
            <a:spAutoFit/>
          </a:bodyPr>
          <a:lstStyle/>
          <a:p>
            <a:pPr marL="17446">
              <a:spcBef>
                <a:spcPts val="151"/>
              </a:spcBef>
            </a:pPr>
            <a:r>
              <a:rPr sz="2953" i="1" dirty="0">
                <a:latin typeface="Times New Roman"/>
                <a:cs typeface="Times New Roman"/>
              </a:rPr>
              <a:t>i</a:t>
            </a:r>
            <a:endParaRPr sz="2953">
              <a:latin typeface="Times New Roman"/>
              <a:cs typeface="Times New Roman"/>
            </a:endParaRPr>
          </a:p>
        </p:txBody>
      </p:sp>
      <p:sp>
        <p:nvSpPr>
          <p:cNvPr id="9" name="object 9"/>
          <p:cNvSpPr txBox="1"/>
          <p:nvPr/>
        </p:nvSpPr>
        <p:spPr>
          <a:xfrm>
            <a:off x="3125951" y="3386054"/>
            <a:ext cx="2129341" cy="799818"/>
          </a:xfrm>
          <a:prstGeom prst="rect">
            <a:avLst/>
          </a:prstGeom>
        </p:spPr>
        <p:txBody>
          <a:bodyPr vert="horz" wrap="square" lIns="0" tIns="17446" rIns="0" bIns="0" rtlCol="0">
            <a:spAutoFit/>
          </a:bodyPr>
          <a:lstStyle/>
          <a:p>
            <a:pPr marL="17446">
              <a:spcBef>
                <a:spcPts val="137"/>
              </a:spcBef>
              <a:tabLst>
                <a:tab pos="1437550" algn="l"/>
              </a:tabLst>
            </a:pPr>
            <a:r>
              <a:rPr sz="5083" i="1" spc="227" dirty="0">
                <a:latin typeface="Times New Roman"/>
                <a:cs typeface="Times New Roman"/>
              </a:rPr>
              <a:t>P</a:t>
            </a:r>
            <a:r>
              <a:rPr sz="5083" spc="213" dirty="0">
                <a:latin typeface="Times New Roman"/>
                <a:cs typeface="Times New Roman"/>
              </a:rPr>
              <a:t>(</a:t>
            </a:r>
            <a:r>
              <a:rPr sz="5083" i="1" dirty="0">
                <a:latin typeface="Times New Roman"/>
                <a:cs typeface="Times New Roman"/>
              </a:rPr>
              <a:t>w	</a:t>
            </a:r>
            <a:r>
              <a:rPr sz="5083" dirty="0">
                <a:latin typeface="Times New Roman"/>
                <a:cs typeface="Times New Roman"/>
              </a:rPr>
              <a:t>|</a:t>
            </a:r>
            <a:r>
              <a:rPr sz="5083" spc="-385" dirty="0">
                <a:latin typeface="Times New Roman"/>
                <a:cs typeface="Times New Roman"/>
              </a:rPr>
              <a:t> </a:t>
            </a:r>
            <a:r>
              <a:rPr sz="5083" i="1" dirty="0">
                <a:latin typeface="Times New Roman"/>
                <a:cs typeface="Times New Roman"/>
              </a:rPr>
              <a:t>w</a:t>
            </a:r>
            <a:endParaRPr sz="5083">
              <a:latin typeface="Times New Roman"/>
              <a:cs typeface="Times New Roman"/>
            </a:endParaRPr>
          </a:p>
        </p:txBody>
      </p:sp>
      <p:sp>
        <p:nvSpPr>
          <p:cNvPr id="10" name="object 10"/>
          <p:cNvSpPr txBox="1"/>
          <p:nvPr/>
        </p:nvSpPr>
        <p:spPr>
          <a:xfrm>
            <a:off x="5246549" y="3816637"/>
            <a:ext cx="519905" cy="473798"/>
          </a:xfrm>
          <a:prstGeom prst="rect">
            <a:avLst/>
          </a:prstGeom>
        </p:spPr>
        <p:txBody>
          <a:bodyPr vert="horz" wrap="square" lIns="0" tIns="19191" rIns="0" bIns="0" rtlCol="0">
            <a:spAutoFit/>
          </a:bodyPr>
          <a:lstStyle/>
          <a:p>
            <a:pPr marL="17446">
              <a:spcBef>
                <a:spcPts val="151"/>
              </a:spcBef>
            </a:pPr>
            <a:r>
              <a:rPr sz="2953" i="1" dirty="0">
                <a:latin typeface="Times New Roman"/>
                <a:cs typeface="Times New Roman"/>
              </a:rPr>
              <a:t>i</a:t>
            </a:r>
            <a:r>
              <a:rPr sz="2953" spc="-117" dirty="0">
                <a:latin typeface="Symbol"/>
                <a:cs typeface="Symbol"/>
              </a:rPr>
              <a:t></a:t>
            </a:r>
            <a:r>
              <a:rPr sz="2953" spc="7" dirty="0">
                <a:latin typeface="Times New Roman"/>
                <a:cs typeface="Times New Roman"/>
              </a:rPr>
              <a:t>1</a:t>
            </a:r>
            <a:endParaRPr sz="2953">
              <a:latin typeface="Times New Roman"/>
              <a:cs typeface="Times New Roman"/>
            </a:endParaRPr>
          </a:p>
        </p:txBody>
      </p:sp>
      <p:sp>
        <p:nvSpPr>
          <p:cNvPr id="11" name="object 11"/>
          <p:cNvSpPr txBox="1"/>
          <p:nvPr/>
        </p:nvSpPr>
        <p:spPr>
          <a:xfrm>
            <a:off x="5716561" y="2982382"/>
            <a:ext cx="4689610" cy="799818"/>
          </a:xfrm>
          <a:prstGeom prst="rect">
            <a:avLst/>
          </a:prstGeom>
        </p:spPr>
        <p:txBody>
          <a:bodyPr vert="horz" wrap="square" lIns="0" tIns="17446" rIns="0" bIns="0" rtlCol="0">
            <a:spAutoFit/>
          </a:bodyPr>
          <a:lstStyle/>
          <a:p>
            <a:pPr marL="52338">
              <a:spcBef>
                <a:spcPts val="137"/>
              </a:spcBef>
            </a:pPr>
            <a:r>
              <a:rPr sz="7624" baseline="-34534" dirty="0">
                <a:latin typeface="Times New Roman"/>
                <a:cs typeface="Times New Roman"/>
              </a:rPr>
              <a:t>)</a:t>
            </a:r>
            <a:r>
              <a:rPr sz="7624" spc="-319" baseline="-34534" dirty="0">
                <a:latin typeface="Times New Roman"/>
                <a:cs typeface="Times New Roman"/>
              </a:rPr>
              <a:t> </a:t>
            </a:r>
            <a:r>
              <a:rPr sz="7624" baseline="-34534" dirty="0">
                <a:latin typeface="Symbol"/>
                <a:cs typeface="Symbol"/>
              </a:rPr>
              <a:t></a:t>
            </a:r>
            <a:r>
              <a:rPr sz="7624" spc="257" baseline="-34534" dirty="0">
                <a:latin typeface="Times New Roman"/>
                <a:cs typeface="Times New Roman"/>
              </a:rPr>
              <a:t> </a:t>
            </a:r>
            <a:r>
              <a:rPr sz="5083" i="1" spc="-7" dirty="0">
                <a:latin typeface="Times New Roman"/>
                <a:cs typeface="Times New Roman"/>
              </a:rPr>
              <a:t>c</a:t>
            </a:r>
            <a:r>
              <a:rPr sz="5083" i="1" dirty="0">
                <a:latin typeface="Times New Roman"/>
                <a:cs typeface="Times New Roman"/>
              </a:rPr>
              <a:t>oun</a:t>
            </a:r>
            <a:r>
              <a:rPr sz="5083" i="1" spc="247" dirty="0">
                <a:latin typeface="Times New Roman"/>
                <a:cs typeface="Times New Roman"/>
              </a:rPr>
              <a:t>t</a:t>
            </a:r>
            <a:r>
              <a:rPr sz="5083" spc="213" dirty="0">
                <a:latin typeface="Times New Roman"/>
                <a:cs typeface="Times New Roman"/>
              </a:rPr>
              <a:t>(</a:t>
            </a:r>
            <a:r>
              <a:rPr sz="5083" i="1" spc="206" dirty="0">
                <a:latin typeface="Times New Roman"/>
                <a:cs typeface="Times New Roman"/>
              </a:rPr>
              <a:t>w</a:t>
            </a:r>
            <a:r>
              <a:rPr sz="4430" i="1" baseline="-24547" dirty="0">
                <a:latin typeface="Times New Roman"/>
                <a:cs typeface="Times New Roman"/>
              </a:rPr>
              <a:t>i</a:t>
            </a:r>
            <a:r>
              <a:rPr sz="4430" spc="-174" baseline="-24547" dirty="0">
                <a:latin typeface="Symbol"/>
                <a:cs typeface="Symbol"/>
              </a:rPr>
              <a:t></a:t>
            </a:r>
            <a:r>
              <a:rPr sz="4430" spc="-71" baseline="-24547" dirty="0">
                <a:latin typeface="Times New Roman"/>
                <a:cs typeface="Times New Roman"/>
              </a:rPr>
              <a:t>1</a:t>
            </a:r>
            <a:r>
              <a:rPr sz="5083" spc="419" dirty="0">
                <a:latin typeface="Times New Roman"/>
                <a:cs typeface="Times New Roman"/>
              </a:rPr>
              <a:t>,</a:t>
            </a:r>
            <a:r>
              <a:rPr sz="5083" i="1" spc="206" dirty="0">
                <a:latin typeface="Times New Roman"/>
                <a:cs typeface="Times New Roman"/>
              </a:rPr>
              <a:t>w</a:t>
            </a:r>
            <a:r>
              <a:rPr sz="4430" i="1" baseline="-24547" dirty="0">
                <a:latin typeface="Times New Roman"/>
                <a:cs typeface="Times New Roman"/>
              </a:rPr>
              <a:t>i</a:t>
            </a:r>
            <a:r>
              <a:rPr sz="4430" i="1" spc="-442" baseline="-24547" dirty="0">
                <a:latin typeface="Times New Roman"/>
                <a:cs typeface="Times New Roman"/>
              </a:rPr>
              <a:t> </a:t>
            </a:r>
            <a:r>
              <a:rPr sz="5083" dirty="0">
                <a:latin typeface="Times New Roman"/>
                <a:cs typeface="Times New Roman"/>
              </a:rPr>
              <a:t>)</a:t>
            </a:r>
          </a:p>
        </p:txBody>
      </p:sp>
      <p:sp>
        <p:nvSpPr>
          <p:cNvPr id="12" name="object 12"/>
          <p:cNvSpPr txBox="1"/>
          <p:nvPr/>
        </p:nvSpPr>
        <p:spPr>
          <a:xfrm>
            <a:off x="9204999" y="4314498"/>
            <a:ext cx="519905" cy="473798"/>
          </a:xfrm>
          <a:prstGeom prst="rect">
            <a:avLst/>
          </a:prstGeom>
        </p:spPr>
        <p:txBody>
          <a:bodyPr vert="horz" wrap="square" lIns="0" tIns="19191" rIns="0" bIns="0" rtlCol="0">
            <a:spAutoFit/>
          </a:bodyPr>
          <a:lstStyle/>
          <a:p>
            <a:pPr marL="17446">
              <a:spcBef>
                <a:spcPts val="151"/>
              </a:spcBef>
            </a:pPr>
            <a:r>
              <a:rPr sz="2953" i="1" dirty="0">
                <a:latin typeface="Times New Roman"/>
                <a:cs typeface="Times New Roman"/>
              </a:rPr>
              <a:t>i</a:t>
            </a:r>
            <a:r>
              <a:rPr sz="2953" spc="-117" dirty="0">
                <a:latin typeface="Symbol"/>
                <a:cs typeface="Symbol"/>
              </a:rPr>
              <a:t></a:t>
            </a:r>
            <a:r>
              <a:rPr sz="2953" spc="7" dirty="0">
                <a:latin typeface="Times New Roman"/>
                <a:cs typeface="Times New Roman"/>
              </a:rPr>
              <a:t>1</a:t>
            </a:r>
            <a:endParaRPr sz="2953">
              <a:latin typeface="Times New Roman"/>
              <a:cs typeface="Times New Roman"/>
            </a:endParaRPr>
          </a:p>
        </p:txBody>
      </p:sp>
      <p:sp>
        <p:nvSpPr>
          <p:cNvPr id="13" name="object 13"/>
          <p:cNvSpPr txBox="1"/>
          <p:nvPr/>
        </p:nvSpPr>
        <p:spPr>
          <a:xfrm>
            <a:off x="7044009" y="3883915"/>
            <a:ext cx="2923155" cy="799818"/>
          </a:xfrm>
          <a:prstGeom prst="rect">
            <a:avLst/>
          </a:prstGeom>
        </p:spPr>
        <p:txBody>
          <a:bodyPr vert="horz" wrap="square" lIns="0" tIns="17446" rIns="0" bIns="0" rtlCol="0">
            <a:spAutoFit/>
          </a:bodyPr>
          <a:lstStyle/>
          <a:p>
            <a:pPr marL="17446">
              <a:spcBef>
                <a:spcPts val="137"/>
              </a:spcBef>
              <a:tabLst>
                <a:tab pos="2689299" algn="l"/>
              </a:tabLst>
            </a:pPr>
            <a:r>
              <a:rPr sz="5083" i="1" spc="-7" dirty="0">
                <a:latin typeface="Times New Roman"/>
                <a:cs typeface="Times New Roman"/>
              </a:rPr>
              <a:t>c</a:t>
            </a:r>
            <a:r>
              <a:rPr sz="5083" i="1" dirty="0">
                <a:latin typeface="Times New Roman"/>
                <a:cs typeface="Times New Roman"/>
              </a:rPr>
              <a:t>oun</a:t>
            </a:r>
            <a:r>
              <a:rPr sz="5083" i="1" spc="247" dirty="0">
                <a:latin typeface="Times New Roman"/>
                <a:cs typeface="Times New Roman"/>
              </a:rPr>
              <a:t>t</a:t>
            </a:r>
            <a:r>
              <a:rPr sz="5083" spc="157" dirty="0">
                <a:latin typeface="Times New Roman"/>
                <a:cs typeface="Times New Roman"/>
              </a:rPr>
              <a:t>(</a:t>
            </a:r>
            <a:r>
              <a:rPr sz="5083" i="1" dirty="0">
                <a:latin typeface="Times New Roman"/>
                <a:cs typeface="Times New Roman"/>
              </a:rPr>
              <a:t>w	</a:t>
            </a:r>
            <a:r>
              <a:rPr sz="5083" dirty="0">
                <a:latin typeface="Times New Roman"/>
                <a:cs typeface="Times New Roman"/>
              </a:rPr>
              <a:t>)</a:t>
            </a:r>
            <a:endParaRPr sz="5083">
              <a:latin typeface="Times New Roman"/>
              <a:cs typeface="Times New Roman"/>
            </a:endParaRPr>
          </a:p>
        </p:txBody>
      </p:sp>
      <p:sp>
        <p:nvSpPr>
          <p:cNvPr id="14" name="object 14"/>
          <p:cNvSpPr/>
          <p:nvPr/>
        </p:nvSpPr>
        <p:spPr>
          <a:xfrm>
            <a:off x="6630604" y="3887905"/>
            <a:ext cx="3750118" cy="0"/>
          </a:xfrm>
          <a:custGeom>
            <a:avLst/>
            <a:gdLst/>
            <a:ahLst/>
            <a:cxnLst/>
            <a:rect l="l" t="t" r="r" b="b"/>
            <a:pathLst>
              <a:path w="2729865">
                <a:moveTo>
                  <a:pt x="0" y="0"/>
                </a:moveTo>
                <a:lnTo>
                  <a:pt x="2729602" y="0"/>
                </a:lnTo>
              </a:path>
            </a:pathLst>
          </a:custGeom>
          <a:ln w="19589">
            <a:solidFill>
              <a:srgbClr val="000000"/>
            </a:solidFill>
          </a:ln>
        </p:spPr>
        <p:txBody>
          <a:bodyPr wrap="square" lIns="0" tIns="0" rIns="0" bIns="0" rtlCol="0"/>
          <a:lstStyle/>
          <a:p>
            <a:endParaRPr sz="2473"/>
          </a:p>
        </p:txBody>
      </p:sp>
      <p:sp>
        <p:nvSpPr>
          <p:cNvPr id="16" name="object 16"/>
          <p:cNvSpPr txBox="1"/>
          <p:nvPr/>
        </p:nvSpPr>
        <p:spPr>
          <a:xfrm>
            <a:off x="4697961" y="5617299"/>
            <a:ext cx="2129341" cy="799818"/>
          </a:xfrm>
          <a:prstGeom prst="rect">
            <a:avLst/>
          </a:prstGeom>
        </p:spPr>
        <p:txBody>
          <a:bodyPr vert="horz" wrap="square" lIns="0" tIns="17446" rIns="0" bIns="0" rtlCol="0">
            <a:spAutoFit/>
          </a:bodyPr>
          <a:lstStyle/>
          <a:p>
            <a:pPr marL="17446">
              <a:spcBef>
                <a:spcPts val="137"/>
              </a:spcBef>
              <a:tabLst>
                <a:tab pos="1437550" algn="l"/>
              </a:tabLst>
            </a:pPr>
            <a:r>
              <a:rPr sz="5083" i="1" spc="227" dirty="0">
                <a:latin typeface="Times New Roman"/>
                <a:cs typeface="Times New Roman"/>
              </a:rPr>
              <a:t>P</a:t>
            </a:r>
            <a:r>
              <a:rPr lang="en-US" sz="5083" i="1" spc="227" dirty="0">
                <a:latin typeface="Times New Roman"/>
                <a:cs typeface="Times New Roman"/>
              </a:rPr>
              <a:t>'</a:t>
            </a:r>
            <a:r>
              <a:rPr lang="en-US" sz="5083" spc="213" dirty="0">
                <a:latin typeface="Times New Roman"/>
                <a:cs typeface="Times New Roman"/>
              </a:rPr>
              <a:t>(</a:t>
            </a:r>
            <a:r>
              <a:rPr lang="en-US" sz="5083" i="1" spc="213" dirty="0" err="1">
                <a:latin typeface="Times New Roman"/>
                <a:cs typeface="Times New Roman"/>
              </a:rPr>
              <a:t>i</a:t>
            </a:r>
            <a:r>
              <a:rPr lang="en-US" sz="5083" spc="213" dirty="0">
                <a:latin typeface="Times New Roman"/>
                <a:cs typeface="Times New Roman"/>
              </a:rPr>
              <a:t>) =</a:t>
            </a:r>
            <a:endParaRPr sz="5083" dirty="0">
              <a:latin typeface="Times New Roman"/>
              <a:cs typeface="Times New Roman"/>
            </a:endParaRPr>
          </a:p>
        </p:txBody>
      </p:sp>
      <p:sp>
        <p:nvSpPr>
          <p:cNvPr id="18" name="object 18"/>
          <p:cNvSpPr txBox="1"/>
          <p:nvPr/>
        </p:nvSpPr>
        <p:spPr>
          <a:xfrm>
            <a:off x="7071464" y="5589807"/>
            <a:ext cx="3120836" cy="799818"/>
          </a:xfrm>
          <a:prstGeom prst="rect">
            <a:avLst/>
          </a:prstGeom>
        </p:spPr>
        <p:txBody>
          <a:bodyPr vert="horz" wrap="square" lIns="0" tIns="17446" rIns="0" bIns="0" rtlCol="0">
            <a:spAutoFit/>
          </a:bodyPr>
          <a:lstStyle/>
          <a:p>
            <a:pPr marL="52338">
              <a:spcBef>
                <a:spcPts val="137"/>
              </a:spcBef>
            </a:pPr>
            <a:r>
              <a:rPr sz="7624" spc="257" baseline="-34534" dirty="0">
                <a:latin typeface="Times New Roman"/>
                <a:cs typeface="Times New Roman"/>
              </a:rPr>
              <a:t> </a:t>
            </a:r>
            <a:r>
              <a:rPr sz="5083" i="1" spc="280" dirty="0">
                <a:latin typeface="Times New Roman"/>
                <a:cs typeface="Times New Roman"/>
              </a:rPr>
              <a:t>c</a:t>
            </a:r>
            <a:r>
              <a:rPr lang="en-US" sz="5083" i="1" spc="280" dirty="0">
                <a:latin typeface="Times New Roman"/>
                <a:cs typeface="Times New Roman"/>
              </a:rPr>
              <a:t>ount </a:t>
            </a:r>
            <a:r>
              <a:rPr sz="5083" spc="157" dirty="0">
                <a:latin typeface="Times New Roman"/>
                <a:cs typeface="Times New Roman"/>
              </a:rPr>
              <a:t>(</a:t>
            </a:r>
            <a:r>
              <a:rPr lang="en-US" sz="5083" i="1" spc="157" dirty="0" err="1">
                <a:latin typeface="Times New Roman"/>
                <a:cs typeface="Times New Roman"/>
              </a:rPr>
              <a:t>i</a:t>
            </a:r>
            <a:r>
              <a:rPr sz="5083" dirty="0">
                <a:latin typeface="Times New Roman"/>
                <a:cs typeface="Times New Roman"/>
              </a:rPr>
              <a:t>)</a:t>
            </a:r>
          </a:p>
        </p:txBody>
      </p:sp>
      <p:sp>
        <p:nvSpPr>
          <p:cNvPr id="20" name="object 20"/>
          <p:cNvSpPr txBox="1"/>
          <p:nvPr/>
        </p:nvSpPr>
        <p:spPr>
          <a:xfrm>
            <a:off x="7559784" y="6330712"/>
            <a:ext cx="1772561" cy="799818"/>
          </a:xfrm>
          <a:prstGeom prst="rect">
            <a:avLst/>
          </a:prstGeom>
        </p:spPr>
        <p:txBody>
          <a:bodyPr vert="horz" wrap="square" lIns="0" tIns="17446" rIns="0" bIns="0" rtlCol="0">
            <a:spAutoFit/>
          </a:bodyPr>
          <a:lstStyle/>
          <a:p>
            <a:pPr marL="17446">
              <a:spcBef>
                <a:spcPts val="137"/>
              </a:spcBef>
              <a:tabLst>
                <a:tab pos="1538736" algn="l"/>
              </a:tabLst>
            </a:pPr>
            <a:r>
              <a:rPr lang="en-US" sz="5083" i="1" spc="227" dirty="0">
                <a:latin typeface="Times New Roman"/>
                <a:cs typeface="Times New Roman"/>
              </a:rPr>
              <a:t>N </a:t>
            </a:r>
            <a:endParaRPr sz="5083" dirty="0">
              <a:latin typeface="Times New Roman"/>
              <a:cs typeface="Times New Roman"/>
            </a:endParaRPr>
          </a:p>
        </p:txBody>
      </p:sp>
      <p:sp>
        <p:nvSpPr>
          <p:cNvPr id="21" name="object 21"/>
          <p:cNvSpPr/>
          <p:nvPr/>
        </p:nvSpPr>
        <p:spPr>
          <a:xfrm>
            <a:off x="7122239" y="6400194"/>
            <a:ext cx="2599523" cy="0"/>
          </a:xfrm>
          <a:custGeom>
            <a:avLst/>
            <a:gdLst/>
            <a:ahLst/>
            <a:cxnLst/>
            <a:rect l="l" t="t" r="r" b="b"/>
            <a:pathLst>
              <a:path w="1892300">
                <a:moveTo>
                  <a:pt x="0" y="0"/>
                </a:moveTo>
                <a:lnTo>
                  <a:pt x="1891983" y="0"/>
                </a:lnTo>
              </a:path>
            </a:pathLst>
          </a:custGeom>
          <a:ln w="19589">
            <a:solidFill>
              <a:srgbClr val="000000"/>
            </a:solidFill>
          </a:ln>
        </p:spPr>
        <p:txBody>
          <a:bodyPr wrap="square" lIns="0" tIns="0" rIns="0" bIns="0" rtlCol="0"/>
          <a:lstStyle/>
          <a:p>
            <a:endParaRPr sz="2473"/>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7" y="831641"/>
            <a:ext cx="2784456" cy="704837"/>
          </a:xfrm>
          <a:prstGeom prst="rect">
            <a:avLst/>
          </a:prstGeom>
        </p:spPr>
        <p:txBody>
          <a:bodyPr vert="horz" wrap="square" lIns="0" tIns="17446" rIns="0" bIns="0" rtlCol="0">
            <a:spAutoFit/>
          </a:bodyPr>
          <a:lstStyle/>
          <a:p>
            <a:pPr marL="17446">
              <a:spcBef>
                <a:spcPts val="137"/>
              </a:spcBef>
            </a:pPr>
            <a:r>
              <a:rPr dirty="0">
                <a:latin typeface="Calibri"/>
                <a:cs typeface="Calibri"/>
              </a:rPr>
              <a:t>An</a:t>
            </a:r>
            <a:r>
              <a:rPr spc="-96" dirty="0">
                <a:latin typeface="Calibri"/>
                <a:cs typeface="Calibri"/>
              </a:rPr>
              <a:t> </a:t>
            </a:r>
            <a:r>
              <a:rPr spc="-7" dirty="0">
                <a:latin typeface="Calibri"/>
                <a:cs typeface="Calibri"/>
              </a:rPr>
              <a:t>example</a:t>
            </a:r>
          </a:p>
        </p:txBody>
      </p:sp>
      <p:sp>
        <p:nvSpPr>
          <p:cNvPr id="7" name="object 7"/>
          <p:cNvSpPr txBox="1"/>
          <p:nvPr/>
        </p:nvSpPr>
        <p:spPr>
          <a:xfrm>
            <a:off x="6074859" y="2179205"/>
            <a:ext cx="7071052" cy="1663886"/>
          </a:xfrm>
          <a:prstGeom prst="rect">
            <a:avLst/>
          </a:prstGeom>
        </p:spPr>
        <p:txBody>
          <a:bodyPr vert="horz" wrap="square" lIns="0" tIns="51467" rIns="0" bIns="0" rtlCol="0">
            <a:spAutoFit/>
          </a:bodyPr>
          <a:lstStyle/>
          <a:p>
            <a:pPr marL="17446">
              <a:spcBef>
                <a:spcPts val="405"/>
              </a:spcBef>
            </a:pPr>
            <a:r>
              <a:rPr sz="3297" spc="-7" dirty="0">
                <a:latin typeface="Calibri"/>
                <a:cs typeface="Calibri"/>
              </a:rPr>
              <a:t>&lt;s&gt;</a:t>
            </a:r>
            <a:r>
              <a:rPr sz="3297" spc="-34" dirty="0">
                <a:latin typeface="Calibri"/>
                <a:cs typeface="Calibri"/>
              </a:rPr>
              <a:t> </a:t>
            </a:r>
            <a:r>
              <a:rPr sz="3297" dirty="0">
                <a:latin typeface="Calibri"/>
                <a:cs typeface="Calibri"/>
              </a:rPr>
              <a:t>I</a:t>
            </a:r>
            <a:r>
              <a:rPr sz="3297" spc="-27" dirty="0">
                <a:latin typeface="Calibri"/>
                <a:cs typeface="Calibri"/>
              </a:rPr>
              <a:t> </a:t>
            </a:r>
            <a:r>
              <a:rPr sz="3297" dirty="0">
                <a:latin typeface="Calibri"/>
                <a:cs typeface="Calibri"/>
              </a:rPr>
              <a:t>am</a:t>
            </a:r>
            <a:r>
              <a:rPr sz="3297" spc="-34" dirty="0">
                <a:latin typeface="Calibri"/>
                <a:cs typeface="Calibri"/>
              </a:rPr>
              <a:t> </a:t>
            </a:r>
            <a:r>
              <a:rPr sz="3297" dirty="0">
                <a:latin typeface="Calibri"/>
                <a:cs typeface="Calibri"/>
              </a:rPr>
              <a:t>Sam</a:t>
            </a:r>
            <a:r>
              <a:rPr sz="3297" spc="-27" dirty="0">
                <a:latin typeface="Calibri"/>
                <a:cs typeface="Calibri"/>
              </a:rPr>
              <a:t> </a:t>
            </a:r>
            <a:r>
              <a:rPr sz="3297" spc="-7" dirty="0">
                <a:latin typeface="Calibri"/>
                <a:cs typeface="Calibri"/>
              </a:rPr>
              <a:t>&lt;/s&gt;</a:t>
            </a:r>
            <a:endParaRPr sz="3297" dirty="0">
              <a:latin typeface="Calibri"/>
              <a:cs typeface="Calibri"/>
            </a:endParaRPr>
          </a:p>
          <a:p>
            <a:pPr marL="17446">
              <a:spcBef>
                <a:spcPts val="268"/>
              </a:spcBef>
            </a:pPr>
            <a:r>
              <a:rPr sz="3297" spc="-7" dirty="0">
                <a:latin typeface="Calibri"/>
                <a:cs typeface="Calibri"/>
              </a:rPr>
              <a:t>&lt;s&gt;</a:t>
            </a:r>
            <a:r>
              <a:rPr sz="3297" spc="-34" dirty="0">
                <a:latin typeface="Calibri"/>
                <a:cs typeface="Calibri"/>
              </a:rPr>
              <a:t> </a:t>
            </a:r>
            <a:r>
              <a:rPr sz="3297" dirty="0">
                <a:latin typeface="Calibri"/>
                <a:cs typeface="Calibri"/>
              </a:rPr>
              <a:t>Sam</a:t>
            </a:r>
            <a:r>
              <a:rPr sz="3297" spc="-34" dirty="0">
                <a:latin typeface="Calibri"/>
                <a:cs typeface="Calibri"/>
              </a:rPr>
              <a:t> </a:t>
            </a:r>
            <a:r>
              <a:rPr sz="3297" dirty="0">
                <a:latin typeface="Calibri"/>
                <a:cs typeface="Calibri"/>
              </a:rPr>
              <a:t>I</a:t>
            </a:r>
            <a:r>
              <a:rPr sz="3297" spc="-27" dirty="0">
                <a:latin typeface="Calibri"/>
                <a:cs typeface="Calibri"/>
              </a:rPr>
              <a:t> </a:t>
            </a:r>
            <a:r>
              <a:rPr sz="3297" dirty="0">
                <a:latin typeface="Calibri"/>
                <a:cs typeface="Calibri"/>
              </a:rPr>
              <a:t>am</a:t>
            </a:r>
            <a:r>
              <a:rPr sz="3297" spc="-27" dirty="0">
                <a:latin typeface="Calibri"/>
                <a:cs typeface="Calibri"/>
              </a:rPr>
              <a:t> </a:t>
            </a:r>
            <a:r>
              <a:rPr sz="3297" spc="-7" dirty="0">
                <a:latin typeface="Calibri"/>
                <a:cs typeface="Calibri"/>
              </a:rPr>
              <a:t>&lt;/s&gt;</a:t>
            </a:r>
            <a:endParaRPr sz="3297" dirty="0">
              <a:latin typeface="Calibri"/>
              <a:cs typeface="Calibri"/>
            </a:endParaRPr>
          </a:p>
          <a:p>
            <a:pPr marL="17446">
              <a:spcBef>
                <a:spcPts val="440"/>
              </a:spcBef>
            </a:pPr>
            <a:r>
              <a:rPr sz="3297" spc="-7" dirty="0">
                <a:latin typeface="Calibri"/>
                <a:cs typeface="Calibri"/>
              </a:rPr>
              <a:t>&lt;s&gt;</a:t>
            </a:r>
            <a:r>
              <a:rPr sz="3297" spc="-14" dirty="0">
                <a:latin typeface="Calibri"/>
                <a:cs typeface="Calibri"/>
              </a:rPr>
              <a:t> </a:t>
            </a:r>
            <a:r>
              <a:rPr sz="3297" dirty="0">
                <a:latin typeface="Calibri"/>
                <a:cs typeface="Calibri"/>
              </a:rPr>
              <a:t>I</a:t>
            </a:r>
            <a:r>
              <a:rPr sz="3297" spc="-7" dirty="0">
                <a:latin typeface="Calibri"/>
                <a:cs typeface="Calibri"/>
              </a:rPr>
              <a:t> </a:t>
            </a:r>
            <a:r>
              <a:rPr sz="3297" dirty="0">
                <a:latin typeface="Calibri"/>
                <a:cs typeface="Calibri"/>
              </a:rPr>
              <a:t>do</a:t>
            </a:r>
            <a:r>
              <a:rPr sz="3297" spc="-7" dirty="0">
                <a:latin typeface="Calibri"/>
                <a:cs typeface="Calibri"/>
              </a:rPr>
              <a:t> not </a:t>
            </a:r>
            <a:r>
              <a:rPr sz="3297" dirty="0">
                <a:latin typeface="Calibri"/>
                <a:cs typeface="Calibri"/>
              </a:rPr>
              <a:t>like</a:t>
            </a:r>
            <a:r>
              <a:rPr sz="3297" spc="-7" dirty="0">
                <a:latin typeface="Calibri"/>
                <a:cs typeface="Calibri"/>
              </a:rPr>
              <a:t> green </a:t>
            </a:r>
            <a:r>
              <a:rPr sz="3297" dirty="0">
                <a:latin typeface="Calibri"/>
                <a:cs typeface="Calibri"/>
              </a:rPr>
              <a:t>eggs</a:t>
            </a:r>
            <a:r>
              <a:rPr sz="3297" spc="-7" dirty="0">
                <a:latin typeface="Calibri"/>
                <a:cs typeface="Calibri"/>
              </a:rPr>
              <a:t> </a:t>
            </a:r>
            <a:r>
              <a:rPr sz="3297" dirty="0">
                <a:latin typeface="Calibri"/>
                <a:cs typeface="Calibri"/>
              </a:rPr>
              <a:t>and</a:t>
            </a:r>
            <a:r>
              <a:rPr sz="3297" spc="-7" dirty="0">
                <a:latin typeface="Calibri"/>
                <a:cs typeface="Calibri"/>
              </a:rPr>
              <a:t> </a:t>
            </a:r>
            <a:r>
              <a:rPr sz="3297" dirty="0">
                <a:latin typeface="Calibri"/>
                <a:cs typeface="Calibri"/>
              </a:rPr>
              <a:t>ham</a:t>
            </a:r>
            <a:r>
              <a:rPr sz="3297" spc="-14" dirty="0">
                <a:latin typeface="Calibri"/>
                <a:cs typeface="Calibri"/>
              </a:rPr>
              <a:t> </a:t>
            </a:r>
            <a:r>
              <a:rPr sz="3297" spc="-7" dirty="0">
                <a:latin typeface="Calibri"/>
                <a:cs typeface="Calibri"/>
              </a:rPr>
              <a:t>&lt;/s&gt;</a:t>
            </a:r>
            <a:endParaRPr sz="3297" dirty="0">
              <a:latin typeface="Calibri"/>
              <a:cs typeface="Calibri"/>
            </a:endParaRPr>
          </a:p>
        </p:txBody>
      </p:sp>
      <p:pic>
        <p:nvPicPr>
          <p:cNvPr id="8" name="object 8"/>
          <p:cNvPicPr/>
          <p:nvPr/>
        </p:nvPicPr>
        <p:blipFill>
          <a:blip r:embed="rId3" cstate="print"/>
          <a:stretch>
            <a:fillRect/>
          </a:stretch>
        </p:blipFill>
        <p:spPr>
          <a:xfrm>
            <a:off x="1119340" y="5042941"/>
            <a:ext cx="11683597" cy="1035739"/>
          </a:xfrm>
          <a:prstGeom prst="rect">
            <a:avLst/>
          </a:prstGeom>
        </p:spPr>
      </p:pic>
      <p:sp>
        <p:nvSpPr>
          <p:cNvPr id="9" name="object 9"/>
          <p:cNvSpPr txBox="1"/>
          <p:nvPr/>
        </p:nvSpPr>
        <p:spPr>
          <a:xfrm>
            <a:off x="1740955" y="3031974"/>
            <a:ext cx="113402" cy="358493"/>
          </a:xfrm>
          <a:prstGeom prst="rect">
            <a:avLst/>
          </a:prstGeom>
        </p:spPr>
        <p:txBody>
          <a:bodyPr vert="horz" wrap="square" lIns="0" tIns="20063" rIns="0" bIns="0" rtlCol="0">
            <a:spAutoFit/>
          </a:bodyPr>
          <a:lstStyle/>
          <a:p>
            <a:pPr marL="17446">
              <a:spcBef>
                <a:spcPts val="158"/>
              </a:spcBef>
            </a:pPr>
            <a:r>
              <a:rPr sz="2198" i="1" dirty="0">
                <a:latin typeface="Times New Roman"/>
                <a:cs typeface="Times New Roman"/>
              </a:rPr>
              <a:t>i</a:t>
            </a:r>
            <a:endParaRPr sz="2198">
              <a:latin typeface="Times New Roman"/>
              <a:cs typeface="Times New Roman"/>
            </a:endParaRPr>
          </a:p>
        </p:txBody>
      </p:sp>
      <p:sp>
        <p:nvSpPr>
          <p:cNvPr id="10" name="object 10"/>
          <p:cNvSpPr txBox="1"/>
          <p:nvPr/>
        </p:nvSpPr>
        <p:spPr>
          <a:xfrm>
            <a:off x="2485785" y="3031975"/>
            <a:ext cx="397779" cy="358493"/>
          </a:xfrm>
          <a:prstGeom prst="rect">
            <a:avLst/>
          </a:prstGeom>
        </p:spPr>
        <p:txBody>
          <a:bodyPr vert="horz" wrap="square" lIns="0" tIns="20063" rIns="0" bIns="0" rtlCol="0">
            <a:spAutoFit/>
          </a:bodyPr>
          <a:lstStyle/>
          <a:p>
            <a:pPr marL="17446">
              <a:spcBef>
                <a:spcPts val="158"/>
              </a:spcBef>
            </a:pPr>
            <a:r>
              <a:rPr sz="2198" i="1" dirty="0">
                <a:latin typeface="Times New Roman"/>
                <a:cs typeface="Times New Roman"/>
              </a:rPr>
              <a:t>i</a:t>
            </a:r>
            <a:r>
              <a:rPr sz="2198" spc="-89" dirty="0">
                <a:latin typeface="Symbol"/>
                <a:cs typeface="Symbol"/>
              </a:rPr>
              <a:t></a:t>
            </a:r>
            <a:r>
              <a:rPr sz="2198" spc="7" dirty="0">
                <a:latin typeface="Times New Roman"/>
                <a:cs typeface="Times New Roman"/>
              </a:rPr>
              <a:t>1</a:t>
            </a:r>
            <a:endParaRPr sz="2198">
              <a:latin typeface="Times New Roman"/>
              <a:cs typeface="Times New Roman"/>
            </a:endParaRPr>
          </a:p>
        </p:txBody>
      </p:sp>
      <p:sp>
        <p:nvSpPr>
          <p:cNvPr id="11" name="object 11"/>
          <p:cNvSpPr txBox="1"/>
          <p:nvPr/>
        </p:nvSpPr>
        <p:spPr>
          <a:xfrm>
            <a:off x="900506" y="2710151"/>
            <a:ext cx="2524502" cy="601636"/>
          </a:xfrm>
          <a:prstGeom prst="rect">
            <a:avLst/>
          </a:prstGeom>
        </p:spPr>
        <p:txBody>
          <a:bodyPr vert="horz" wrap="square" lIns="0" tIns="20062" rIns="0" bIns="0" rtlCol="0">
            <a:spAutoFit/>
          </a:bodyPr>
          <a:lstStyle/>
          <a:p>
            <a:pPr marL="17446">
              <a:spcBef>
                <a:spcPts val="157"/>
              </a:spcBef>
              <a:tabLst>
                <a:tab pos="1079034" algn="l"/>
                <a:tab pos="1979248" algn="l"/>
              </a:tabLst>
            </a:pPr>
            <a:r>
              <a:rPr sz="3778" i="1" spc="185" dirty="0">
                <a:latin typeface="Times New Roman"/>
                <a:cs typeface="Times New Roman"/>
              </a:rPr>
              <a:t>P</a:t>
            </a:r>
            <a:r>
              <a:rPr sz="3778" spc="165" dirty="0">
                <a:latin typeface="Times New Roman"/>
                <a:cs typeface="Times New Roman"/>
              </a:rPr>
              <a:t>(</a:t>
            </a:r>
            <a:r>
              <a:rPr sz="3778" i="1" spc="14" dirty="0">
                <a:latin typeface="Times New Roman"/>
                <a:cs typeface="Times New Roman"/>
              </a:rPr>
              <a:t>w</a:t>
            </a:r>
            <a:r>
              <a:rPr sz="3778" i="1" dirty="0">
                <a:latin typeface="Times New Roman"/>
                <a:cs typeface="Times New Roman"/>
              </a:rPr>
              <a:t>	</a:t>
            </a:r>
            <a:r>
              <a:rPr sz="3778" dirty="0">
                <a:latin typeface="Times New Roman"/>
                <a:cs typeface="Times New Roman"/>
              </a:rPr>
              <a:t>|</a:t>
            </a:r>
            <a:r>
              <a:rPr sz="3778" spc="-280" dirty="0">
                <a:latin typeface="Times New Roman"/>
                <a:cs typeface="Times New Roman"/>
              </a:rPr>
              <a:t> </a:t>
            </a:r>
            <a:r>
              <a:rPr sz="3778" i="1" spc="14" dirty="0">
                <a:latin typeface="Times New Roman"/>
                <a:cs typeface="Times New Roman"/>
              </a:rPr>
              <a:t>w</a:t>
            </a:r>
            <a:r>
              <a:rPr sz="3778" i="1" dirty="0">
                <a:latin typeface="Times New Roman"/>
                <a:cs typeface="Times New Roman"/>
              </a:rPr>
              <a:t>	</a:t>
            </a:r>
            <a:r>
              <a:rPr sz="3778" spc="7" dirty="0">
                <a:latin typeface="Times New Roman"/>
                <a:cs typeface="Times New Roman"/>
              </a:rPr>
              <a:t>)</a:t>
            </a:r>
            <a:r>
              <a:rPr sz="3778" spc="-151" dirty="0">
                <a:latin typeface="Times New Roman"/>
                <a:cs typeface="Times New Roman"/>
              </a:rPr>
              <a:t> </a:t>
            </a:r>
            <a:r>
              <a:rPr sz="3778" spc="14" dirty="0">
                <a:latin typeface="Symbol"/>
                <a:cs typeface="Symbol"/>
              </a:rPr>
              <a:t></a:t>
            </a:r>
            <a:endParaRPr sz="3778">
              <a:latin typeface="Symbol"/>
              <a:cs typeface="Symbol"/>
            </a:endParaRPr>
          </a:p>
        </p:txBody>
      </p:sp>
      <p:sp>
        <p:nvSpPr>
          <p:cNvPr id="12" name="object 12"/>
          <p:cNvSpPr txBox="1"/>
          <p:nvPr/>
        </p:nvSpPr>
        <p:spPr>
          <a:xfrm>
            <a:off x="3227728" y="2463839"/>
            <a:ext cx="2784456" cy="601636"/>
          </a:xfrm>
          <a:prstGeom prst="rect">
            <a:avLst/>
          </a:prstGeom>
        </p:spPr>
        <p:txBody>
          <a:bodyPr vert="horz" wrap="square" lIns="0" tIns="20062" rIns="0" bIns="0" rtlCol="0">
            <a:spAutoFit/>
          </a:bodyPr>
          <a:lstStyle/>
          <a:p>
            <a:pPr marL="52338">
              <a:spcBef>
                <a:spcPts val="157"/>
              </a:spcBef>
              <a:tabLst>
                <a:tab pos="1032803" algn="l"/>
                <a:tab pos="1174115" algn="l"/>
              </a:tabLst>
            </a:pPr>
            <a:r>
              <a:rPr lang="en-US" sz="3778" i="1" u="heavy" spc="220" dirty="0">
                <a:uFill>
                  <a:solidFill>
                    <a:srgbClr val="000000"/>
                  </a:solidFill>
                </a:uFill>
                <a:latin typeface="Times New Roman"/>
                <a:cs typeface="Times New Roman"/>
              </a:rPr>
              <a:t> </a:t>
            </a:r>
            <a:r>
              <a:rPr sz="3778" i="1" u="heavy" spc="220" dirty="0">
                <a:uFill>
                  <a:solidFill>
                    <a:srgbClr val="000000"/>
                  </a:solidFill>
                </a:uFill>
                <a:latin typeface="Times New Roman"/>
                <a:cs typeface="Times New Roman"/>
              </a:rPr>
              <a:t>c</a:t>
            </a:r>
            <a:r>
              <a:rPr sz="3778" u="heavy" spc="124" dirty="0">
                <a:uFill>
                  <a:solidFill>
                    <a:srgbClr val="000000"/>
                  </a:solidFill>
                </a:uFill>
                <a:latin typeface="Times New Roman"/>
                <a:cs typeface="Times New Roman"/>
              </a:rPr>
              <a:t>(</a:t>
            </a:r>
            <a:r>
              <a:rPr sz="3778" i="1" u="heavy" spc="14" dirty="0">
                <a:uFill>
                  <a:solidFill>
                    <a:srgbClr val="000000"/>
                  </a:solidFill>
                </a:uFill>
                <a:latin typeface="Times New Roman"/>
                <a:cs typeface="Times New Roman"/>
              </a:rPr>
              <a:t>w</a:t>
            </a:r>
            <a:r>
              <a:rPr lang="en-US" sz="3297" i="1" baseline="-24305" dirty="0">
                <a:latin typeface="Times New Roman"/>
                <a:cs typeface="Times New Roman"/>
              </a:rPr>
              <a:t>i-1</a:t>
            </a:r>
            <a:r>
              <a:rPr sz="3297" dirty="0">
                <a:latin typeface="Calibri"/>
                <a:cs typeface="Calibri"/>
              </a:rPr>
              <a:t>,</a:t>
            </a:r>
            <a:r>
              <a:rPr sz="3778" i="1" u="heavy" spc="165" dirty="0">
                <a:uFill>
                  <a:solidFill>
                    <a:srgbClr val="000000"/>
                  </a:solidFill>
                </a:uFill>
                <a:latin typeface="Times New Roman"/>
                <a:cs typeface="Times New Roman"/>
              </a:rPr>
              <a:t>w</a:t>
            </a:r>
            <a:r>
              <a:rPr sz="3297" i="1" baseline="-24305" dirty="0">
                <a:latin typeface="Times New Roman"/>
                <a:cs typeface="Times New Roman"/>
              </a:rPr>
              <a:t>i</a:t>
            </a:r>
            <a:r>
              <a:rPr sz="3297" i="1" spc="-390" baseline="-24305" dirty="0">
                <a:latin typeface="Times New Roman"/>
                <a:cs typeface="Times New Roman"/>
              </a:rPr>
              <a:t> </a:t>
            </a:r>
            <a:r>
              <a:rPr sz="3778" u="heavy" spc="7" dirty="0">
                <a:uFill>
                  <a:solidFill>
                    <a:srgbClr val="000000"/>
                  </a:solidFill>
                </a:uFill>
                <a:latin typeface="Times New Roman"/>
                <a:cs typeface="Times New Roman"/>
              </a:rPr>
              <a:t>)</a:t>
            </a:r>
            <a:endParaRPr sz="3778" dirty="0">
              <a:latin typeface="Times New Roman"/>
              <a:cs typeface="Times New Roman"/>
            </a:endParaRPr>
          </a:p>
        </p:txBody>
      </p:sp>
      <p:sp>
        <p:nvSpPr>
          <p:cNvPr id="13" name="object 13"/>
          <p:cNvSpPr txBox="1"/>
          <p:nvPr/>
        </p:nvSpPr>
        <p:spPr>
          <a:xfrm>
            <a:off x="4589426" y="3404083"/>
            <a:ext cx="397779" cy="358493"/>
          </a:xfrm>
          <a:prstGeom prst="rect">
            <a:avLst/>
          </a:prstGeom>
        </p:spPr>
        <p:txBody>
          <a:bodyPr vert="horz" wrap="square" lIns="0" tIns="20063" rIns="0" bIns="0" rtlCol="0">
            <a:spAutoFit/>
          </a:bodyPr>
          <a:lstStyle/>
          <a:p>
            <a:pPr marL="17446">
              <a:spcBef>
                <a:spcPts val="158"/>
              </a:spcBef>
            </a:pPr>
            <a:r>
              <a:rPr sz="2198" i="1" dirty="0">
                <a:latin typeface="Times New Roman"/>
                <a:cs typeface="Times New Roman"/>
              </a:rPr>
              <a:t>i</a:t>
            </a:r>
            <a:r>
              <a:rPr sz="2198" spc="-89" dirty="0">
                <a:latin typeface="Symbol"/>
                <a:cs typeface="Symbol"/>
              </a:rPr>
              <a:t></a:t>
            </a:r>
            <a:r>
              <a:rPr sz="2198" spc="7" dirty="0">
                <a:latin typeface="Times New Roman"/>
                <a:cs typeface="Times New Roman"/>
              </a:rPr>
              <a:t>1</a:t>
            </a:r>
            <a:endParaRPr sz="2198">
              <a:latin typeface="Times New Roman"/>
              <a:cs typeface="Times New Roman"/>
            </a:endParaRPr>
          </a:p>
        </p:txBody>
      </p:sp>
      <p:sp>
        <p:nvSpPr>
          <p:cNvPr id="14" name="object 14"/>
          <p:cNvSpPr txBox="1"/>
          <p:nvPr/>
        </p:nvSpPr>
        <p:spPr>
          <a:xfrm>
            <a:off x="3829498" y="3082260"/>
            <a:ext cx="1333782" cy="601636"/>
          </a:xfrm>
          <a:prstGeom prst="rect">
            <a:avLst/>
          </a:prstGeom>
        </p:spPr>
        <p:txBody>
          <a:bodyPr vert="horz" wrap="square" lIns="0" tIns="20062" rIns="0" bIns="0" rtlCol="0">
            <a:spAutoFit/>
          </a:bodyPr>
          <a:lstStyle/>
          <a:p>
            <a:pPr marL="17446">
              <a:spcBef>
                <a:spcPts val="157"/>
              </a:spcBef>
              <a:tabLst>
                <a:tab pos="1154052" algn="l"/>
              </a:tabLst>
            </a:pPr>
            <a:r>
              <a:rPr sz="3778" i="1" spc="179" dirty="0">
                <a:latin typeface="Times New Roman"/>
                <a:cs typeface="Times New Roman"/>
              </a:rPr>
              <a:t>c</a:t>
            </a:r>
            <a:r>
              <a:rPr sz="3778" spc="165" dirty="0">
                <a:latin typeface="Times New Roman"/>
                <a:cs typeface="Times New Roman"/>
              </a:rPr>
              <a:t>(</a:t>
            </a:r>
            <a:r>
              <a:rPr sz="3778" i="1" spc="14" dirty="0">
                <a:latin typeface="Times New Roman"/>
                <a:cs typeface="Times New Roman"/>
              </a:rPr>
              <a:t>w</a:t>
            </a:r>
            <a:r>
              <a:rPr sz="3778" i="1" dirty="0">
                <a:latin typeface="Times New Roman"/>
                <a:cs typeface="Times New Roman"/>
              </a:rPr>
              <a:t>	</a:t>
            </a:r>
            <a:r>
              <a:rPr sz="3778" spc="7" dirty="0">
                <a:latin typeface="Times New Roman"/>
                <a:cs typeface="Times New Roman"/>
              </a:rPr>
              <a:t>)</a:t>
            </a:r>
            <a:endParaRPr sz="3778" dirty="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449563"/>
            <a:ext cx="8954398" cy="1351315"/>
          </a:xfrm>
          <a:prstGeom prst="rect">
            <a:avLst/>
          </a:prstGeom>
        </p:spPr>
        <p:txBody>
          <a:bodyPr vert="horz" wrap="square" lIns="0" tIns="17446" rIns="0" bIns="0" rtlCol="0">
            <a:spAutoFit/>
          </a:bodyPr>
          <a:lstStyle/>
          <a:p>
            <a:pPr marL="17446">
              <a:lnSpc>
                <a:spcPts val="5248"/>
              </a:lnSpc>
              <a:spcBef>
                <a:spcPts val="137"/>
              </a:spcBef>
            </a:pPr>
            <a:r>
              <a:rPr spc="-7" dirty="0">
                <a:latin typeface="Calibri"/>
                <a:cs typeface="Calibri"/>
              </a:rPr>
              <a:t>More</a:t>
            </a:r>
            <a:r>
              <a:rPr spc="-41" dirty="0">
                <a:latin typeface="Calibri"/>
                <a:cs typeface="Calibri"/>
              </a:rPr>
              <a:t> </a:t>
            </a:r>
            <a:r>
              <a:rPr spc="-7" dirty="0">
                <a:latin typeface="Calibri"/>
                <a:cs typeface="Calibri"/>
              </a:rPr>
              <a:t>examples:</a:t>
            </a:r>
          </a:p>
          <a:p>
            <a:pPr marL="17446">
              <a:lnSpc>
                <a:spcPts val="5248"/>
              </a:lnSpc>
            </a:pPr>
            <a:r>
              <a:rPr spc="-7" dirty="0">
                <a:latin typeface="Calibri"/>
                <a:cs typeface="Calibri"/>
              </a:rPr>
              <a:t>Berkeley</a:t>
            </a:r>
            <a:r>
              <a:rPr dirty="0">
                <a:latin typeface="Calibri"/>
                <a:cs typeface="Calibri"/>
              </a:rPr>
              <a:t> </a:t>
            </a:r>
            <a:r>
              <a:rPr spc="-7" dirty="0">
                <a:latin typeface="Calibri"/>
                <a:cs typeface="Calibri"/>
              </a:rPr>
              <a:t>Restaurant</a:t>
            </a:r>
            <a:r>
              <a:rPr dirty="0">
                <a:latin typeface="Calibri"/>
                <a:cs typeface="Calibri"/>
              </a:rPr>
              <a:t> </a:t>
            </a:r>
            <a:r>
              <a:rPr spc="-7" dirty="0">
                <a:latin typeface="Calibri"/>
                <a:cs typeface="Calibri"/>
              </a:rPr>
              <a:t>Project</a:t>
            </a:r>
            <a:r>
              <a:rPr dirty="0">
                <a:latin typeface="Calibri"/>
                <a:cs typeface="Calibri"/>
              </a:rPr>
              <a:t> </a:t>
            </a:r>
            <a:r>
              <a:rPr spc="-7" dirty="0">
                <a:latin typeface="Calibri"/>
                <a:cs typeface="Calibri"/>
              </a:rPr>
              <a:t>sentences</a:t>
            </a:r>
          </a:p>
        </p:txBody>
      </p:sp>
      <p:sp>
        <p:nvSpPr>
          <p:cNvPr id="7" name="object 7"/>
          <p:cNvSpPr txBox="1"/>
          <p:nvPr/>
        </p:nvSpPr>
        <p:spPr>
          <a:xfrm>
            <a:off x="1154955" y="2595478"/>
            <a:ext cx="11665579" cy="3807147"/>
          </a:xfrm>
          <a:prstGeom prst="rect">
            <a:avLst/>
          </a:prstGeom>
        </p:spPr>
        <p:txBody>
          <a:bodyPr vert="horz" wrap="square" lIns="0" tIns="122125" rIns="0" bIns="0" rtlCol="0">
            <a:spAutoFit/>
          </a:bodyPr>
          <a:lstStyle/>
          <a:p>
            <a:pPr marL="488488" indent="-471042">
              <a:spcBef>
                <a:spcPts val="962"/>
              </a:spcBef>
              <a:buClr>
                <a:srgbClr val="CC0000"/>
              </a:buClr>
              <a:buFont typeface="Times New Roman"/>
              <a:buChar char="•"/>
              <a:tabLst>
                <a:tab pos="487615" algn="l"/>
                <a:tab pos="488488" algn="l"/>
              </a:tabLst>
            </a:pPr>
            <a:r>
              <a:rPr sz="3434" dirty="0">
                <a:solidFill>
                  <a:srgbClr val="330099"/>
                </a:solidFill>
                <a:latin typeface="Calibri"/>
                <a:cs typeface="Calibri"/>
              </a:rPr>
              <a:t>can </a:t>
            </a:r>
            <a:r>
              <a:rPr sz="3434" spc="-7" dirty="0">
                <a:solidFill>
                  <a:srgbClr val="330099"/>
                </a:solidFill>
                <a:latin typeface="Calibri"/>
                <a:cs typeface="Calibri"/>
              </a:rPr>
              <a:t>you</a:t>
            </a:r>
            <a:r>
              <a:rPr sz="3434" dirty="0">
                <a:solidFill>
                  <a:srgbClr val="330099"/>
                </a:solidFill>
                <a:latin typeface="Calibri"/>
                <a:cs typeface="Calibri"/>
              </a:rPr>
              <a:t> </a:t>
            </a:r>
            <a:r>
              <a:rPr sz="3434" spc="-7" dirty="0">
                <a:solidFill>
                  <a:srgbClr val="330099"/>
                </a:solidFill>
                <a:latin typeface="Calibri"/>
                <a:cs typeface="Calibri"/>
              </a:rPr>
              <a:t>tell</a:t>
            </a:r>
            <a:r>
              <a:rPr sz="3434" spc="7" dirty="0">
                <a:solidFill>
                  <a:srgbClr val="330099"/>
                </a:solidFill>
                <a:latin typeface="Calibri"/>
                <a:cs typeface="Calibri"/>
              </a:rPr>
              <a:t> </a:t>
            </a:r>
            <a:r>
              <a:rPr sz="3434" spc="-7" dirty="0">
                <a:solidFill>
                  <a:srgbClr val="330099"/>
                </a:solidFill>
                <a:latin typeface="Calibri"/>
                <a:cs typeface="Calibri"/>
              </a:rPr>
              <a:t>me</a:t>
            </a:r>
            <a:r>
              <a:rPr sz="3434" dirty="0">
                <a:solidFill>
                  <a:srgbClr val="330099"/>
                </a:solidFill>
                <a:latin typeface="Calibri"/>
                <a:cs typeface="Calibri"/>
              </a:rPr>
              <a:t> </a:t>
            </a:r>
            <a:r>
              <a:rPr sz="3434" spc="-7" dirty="0">
                <a:solidFill>
                  <a:srgbClr val="330099"/>
                </a:solidFill>
                <a:latin typeface="Calibri"/>
                <a:cs typeface="Calibri"/>
              </a:rPr>
              <a:t>about</a:t>
            </a:r>
            <a:r>
              <a:rPr sz="3434" dirty="0">
                <a:solidFill>
                  <a:srgbClr val="330099"/>
                </a:solidFill>
                <a:latin typeface="Calibri"/>
                <a:cs typeface="Calibri"/>
              </a:rPr>
              <a:t> any</a:t>
            </a:r>
            <a:r>
              <a:rPr sz="3434" spc="7" dirty="0">
                <a:solidFill>
                  <a:srgbClr val="330099"/>
                </a:solidFill>
                <a:latin typeface="Calibri"/>
                <a:cs typeface="Calibri"/>
              </a:rPr>
              <a:t> </a:t>
            </a:r>
            <a:r>
              <a:rPr sz="3434" spc="-7" dirty="0">
                <a:solidFill>
                  <a:srgbClr val="330099"/>
                </a:solidFill>
                <a:latin typeface="Calibri"/>
                <a:cs typeface="Calibri"/>
              </a:rPr>
              <a:t>good </a:t>
            </a:r>
            <a:r>
              <a:rPr sz="3434" dirty="0">
                <a:solidFill>
                  <a:srgbClr val="330099"/>
                </a:solidFill>
                <a:latin typeface="Calibri"/>
                <a:cs typeface="Calibri"/>
              </a:rPr>
              <a:t>cantonese </a:t>
            </a:r>
            <a:r>
              <a:rPr sz="3434" spc="-7" dirty="0">
                <a:solidFill>
                  <a:srgbClr val="330099"/>
                </a:solidFill>
                <a:latin typeface="Calibri"/>
                <a:cs typeface="Calibri"/>
              </a:rPr>
              <a:t>restaurants</a:t>
            </a:r>
            <a:r>
              <a:rPr sz="3434" dirty="0">
                <a:solidFill>
                  <a:srgbClr val="330099"/>
                </a:solidFill>
                <a:latin typeface="Calibri"/>
                <a:cs typeface="Calibri"/>
              </a:rPr>
              <a:t> </a:t>
            </a:r>
            <a:r>
              <a:rPr sz="3434" spc="-7" dirty="0">
                <a:solidFill>
                  <a:srgbClr val="330099"/>
                </a:solidFill>
                <a:latin typeface="Calibri"/>
                <a:cs typeface="Calibri"/>
              </a:rPr>
              <a:t>close</a:t>
            </a:r>
            <a:r>
              <a:rPr sz="3434" dirty="0">
                <a:solidFill>
                  <a:srgbClr val="330099"/>
                </a:solidFill>
                <a:latin typeface="Calibri"/>
                <a:cs typeface="Calibri"/>
              </a:rPr>
              <a:t> by</a:t>
            </a:r>
            <a:endParaRPr sz="3434">
              <a:latin typeface="Calibri"/>
              <a:cs typeface="Calibri"/>
            </a:endParaRPr>
          </a:p>
          <a:p>
            <a:pPr marL="488488" indent="-471042">
              <a:spcBef>
                <a:spcPts val="824"/>
              </a:spcBef>
              <a:buClr>
                <a:srgbClr val="CC0000"/>
              </a:buClr>
              <a:buFont typeface="Times New Roman"/>
              <a:buChar char="•"/>
              <a:tabLst>
                <a:tab pos="487615" algn="l"/>
                <a:tab pos="488488" algn="l"/>
              </a:tabLst>
            </a:pPr>
            <a:r>
              <a:rPr sz="3434" spc="-7" dirty="0">
                <a:solidFill>
                  <a:srgbClr val="330099"/>
                </a:solidFill>
                <a:latin typeface="Calibri"/>
                <a:cs typeface="Calibri"/>
              </a:rPr>
              <a:t>mid priced</a:t>
            </a:r>
            <a:r>
              <a:rPr sz="3434" spc="-21" dirty="0">
                <a:solidFill>
                  <a:srgbClr val="330099"/>
                </a:solidFill>
                <a:latin typeface="Calibri"/>
                <a:cs typeface="Calibri"/>
              </a:rPr>
              <a:t> </a:t>
            </a:r>
            <a:r>
              <a:rPr sz="3434" dirty="0">
                <a:solidFill>
                  <a:srgbClr val="330099"/>
                </a:solidFill>
                <a:latin typeface="Calibri"/>
                <a:cs typeface="Calibri"/>
              </a:rPr>
              <a:t>thai</a:t>
            </a:r>
            <a:r>
              <a:rPr sz="3434" spc="-7" dirty="0">
                <a:solidFill>
                  <a:srgbClr val="330099"/>
                </a:solidFill>
                <a:latin typeface="Calibri"/>
                <a:cs typeface="Calibri"/>
              </a:rPr>
              <a:t> food </a:t>
            </a:r>
            <a:r>
              <a:rPr sz="3434" dirty="0">
                <a:solidFill>
                  <a:srgbClr val="330099"/>
                </a:solidFill>
                <a:latin typeface="Calibri"/>
                <a:cs typeface="Calibri"/>
              </a:rPr>
              <a:t>is</a:t>
            </a:r>
            <a:r>
              <a:rPr sz="3434" spc="-7" dirty="0">
                <a:solidFill>
                  <a:srgbClr val="330099"/>
                </a:solidFill>
                <a:latin typeface="Calibri"/>
                <a:cs typeface="Calibri"/>
              </a:rPr>
              <a:t> what</a:t>
            </a:r>
            <a:r>
              <a:rPr sz="3434" dirty="0">
                <a:solidFill>
                  <a:srgbClr val="330099"/>
                </a:solidFill>
                <a:latin typeface="Calibri"/>
                <a:cs typeface="Calibri"/>
              </a:rPr>
              <a:t> </a:t>
            </a:r>
            <a:r>
              <a:rPr sz="3434" spc="-7" dirty="0">
                <a:solidFill>
                  <a:srgbClr val="330099"/>
                </a:solidFill>
                <a:latin typeface="Calibri"/>
                <a:cs typeface="Calibri"/>
              </a:rPr>
              <a:t>i’m looking</a:t>
            </a:r>
            <a:r>
              <a:rPr sz="3434" spc="-14" dirty="0">
                <a:solidFill>
                  <a:srgbClr val="330099"/>
                </a:solidFill>
                <a:latin typeface="Calibri"/>
                <a:cs typeface="Calibri"/>
              </a:rPr>
              <a:t> </a:t>
            </a:r>
            <a:r>
              <a:rPr sz="3434" spc="-7" dirty="0">
                <a:solidFill>
                  <a:srgbClr val="330099"/>
                </a:solidFill>
                <a:latin typeface="Calibri"/>
                <a:cs typeface="Calibri"/>
              </a:rPr>
              <a:t>for</a:t>
            </a:r>
            <a:endParaRPr sz="3434">
              <a:latin typeface="Calibri"/>
              <a:cs typeface="Calibri"/>
            </a:endParaRPr>
          </a:p>
          <a:p>
            <a:pPr marL="488488" indent="-471042">
              <a:spcBef>
                <a:spcPts val="824"/>
              </a:spcBef>
              <a:buClr>
                <a:srgbClr val="CC0000"/>
              </a:buClr>
              <a:buFont typeface="Times New Roman"/>
              <a:buChar char="•"/>
              <a:tabLst>
                <a:tab pos="487615" algn="l"/>
                <a:tab pos="488488" algn="l"/>
              </a:tabLst>
            </a:pPr>
            <a:r>
              <a:rPr sz="3434" spc="-7" dirty="0">
                <a:solidFill>
                  <a:srgbClr val="330099"/>
                </a:solidFill>
                <a:latin typeface="Calibri"/>
                <a:cs typeface="Calibri"/>
              </a:rPr>
              <a:t>tell</a:t>
            </a:r>
            <a:r>
              <a:rPr sz="3434" spc="-21" dirty="0">
                <a:solidFill>
                  <a:srgbClr val="330099"/>
                </a:solidFill>
                <a:latin typeface="Calibri"/>
                <a:cs typeface="Calibri"/>
              </a:rPr>
              <a:t> </a:t>
            </a:r>
            <a:r>
              <a:rPr sz="3434" spc="-7" dirty="0">
                <a:solidFill>
                  <a:srgbClr val="330099"/>
                </a:solidFill>
                <a:latin typeface="Calibri"/>
                <a:cs typeface="Calibri"/>
              </a:rPr>
              <a:t>me</a:t>
            </a:r>
            <a:r>
              <a:rPr sz="3434" spc="-14" dirty="0">
                <a:solidFill>
                  <a:srgbClr val="330099"/>
                </a:solidFill>
                <a:latin typeface="Calibri"/>
                <a:cs typeface="Calibri"/>
              </a:rPr>
              <a:t> </a:t>
            </a:r>
            <a:r>
              <a:rPr sz="3434" spc="-7" dirty="0">
                <a:solidFill>
                  <a:srgbClr val="330099"/>
                </a:solidFill>
                <a:latin typeface="Calibri"/>
                <a:cs typeface="Calibri"/>
              </a:rPr>
              <a:t>about</a:t>
            </a:r>
            <a:r>
              <a:rPr sz="3434" spc="-14" dirty="0">
                <a:solidFill>
                  <a:srgbClr val="330099"/>
                </a:solidFill>
                <a:latin typeface="Calibri"/>
                <a:cs typeface="Calibri"/>
              </a:rPr>
              <a:t> </a:t>
            </a:r>
            <a:r>
              <a:rPr sz="3434" dirty="0">
                <a:solidFill>
                  <a:srgbClr val="330099"/>
                </a:solidFill>
                <a:latin typeface="Calibri"/>
                <a:cs typeface="Calibri"/>
              </a:rPr>
              <a:t>chez</a:t>
            </a:r>
            <a:r>
              <a:rPr sz="3434" spc="-21" dirty="0">
                <a:solidFill>
                  <a:srgbClr val="330099"/>
                </a:solidFill>
                <a:latin typeface="Calibri"/>
                <a:cs typeface="Calibri"/>
              </a:rPr>
              <a:t> </a:t>
            </a:r>
            <a:r>
              <a:rPr sz="3434" dirty="0">
                <a:solidFill>
                  <a:srgbClr val="330099"/>
                </a:solidFill>
                <a:latin typeface="Calibri"/>
                <a:cs typeface="Calibri"/>
              </a:rPr>
              <a:t>panisse</a:t>
            </a:r>
            <a:endParaRPr sz="3434">
              <a:latin typeface="Calibri"/>
              <a:cs typeface="Calibri"/>
            </a:endParaRPr>
          </a:p>
          <a:p>
            <a:pPr marL="488488" indent="-471042">
              <a:spcBef>
                <a:spcPts val="824"/>
              </a:spcBef>
              <a:buClr>
                <a:srgbClr val="CC0000"/>
              </a:buClr>
              <a:buFont typeface="Times New Roman"/>
              <a:buChar char="•"/>
              <a:tabLst>
                <a:tab pos="487615" algn="l"/>
                <a:tab pos="488488" algn="l"/>
              </a:tabLst>
            </a:pPr>
            <a:r>
              <a:rPr sz="3434" dirty="0">
                <a:solidFill>
                  <a:srgbClr val="330099"/>
                </a:solidFill>
                <a:latin typeface="Calibri"/>
                <a:cs typeface="Calibri"/>
              </a:rPr>
              <a:t>can</a:t>
            </a:r>
            <a:r>
              <a:rPr sz="3434" spc="-7" dirty="0">
                <a:solidFill>
                  <a:srgbClr val="330099"/>
                </a:solidFill>
                <a:latin typeface="Calibri"/>
                <a:cs typeface="Calibri"/>
              </a:rPr>
              <a:t> you</a:t>
            </a:r>
            <a:r>
              <a:rPr sz="3434" dirty="0">
                <a:solidFill>
                  <a:srgbClr val="330099"/>
                </a:solidFill>
                <a:latin typeface="Calibri"/>
                <a:cs typeface="Calibri"/>
              </a:rPr>
              <a:t> give </a:t>
            </a:r>
            <a:r>
              <a:rPr sz="3434" spc="-7" dirty="0">
                <a:solidFill>
                  <a:srgbClr val="330099"/>
                </a:solidFill>
                <a:latin typeface="Calibri"/>
                <a:cs typeface="Calibri"/>
              </a:rPr>
              <a:t>me</a:t>
            </a:r>
            <a:r>
              <a:rPr sz="3434" dirty="0">
                <a:solidFill>
                  <a:srgbClr val="330099"/>
                </a:solidFill>
                <a:latin typeface="Calibri"/>
                <a:cs typeface="Calibri"/>
              </a:rPr>
              <a:t> a </a:t>
            </a:r>
            <a:r>
              <a:rPr sz="3434" spc="-7" dirty="0">
                <a:solidFill>
                  <a:srgbClr val="330099"/>
                </a:solidFill>
                <a:latin typeface="Calibri"/>
                <a:cs typeface="Calibri"/>
              </a:rPr>
              <a:t>listing</a:t>
            </a:r>
            <a:r>
              <a:rPr sz="3434" dirty="0">
                <a:solidFill>
                  <a:srgbClr val="330099"/>
                </a:solidFill>
                <a:latin typeface="Calibri"/>
                <a:cs typeface="Calibri"/>
              </a:rPr>
              <a:t> </a:t>
            </a:r>
            <a:r>
              <a:rPr sz="3434" spc="-7" dirty="0">
                <a:solidFill>
                  <a:srgbClr val="330099"/>
                </a:solidFill>
                <a:latin typeface="Calibri"/>
                <a:cs typeface="Calibri"/>
              </a:rPr>
              <a:t>of</a:t>
            </a:r>
            <a:r>
              <a:rPr sz="3434" dirty="0">
                <a:solidFill>
                  <a:srgbClr val="330099"/>
                </a:solidFill>
                <a:latin typeface="Calibri"/>
                <a:cs typeface="Calibri"/>
              </a:rPr>
              <a:t> the kinds</a:t>
            </a:r>
            <a:r>
              <a:rPr sz="3434" spc="-7" dirty="0">
                <a:solidFill>
                  <a:srgbClr val="330099"/>
                </a:solidFill>
                <a:latin typeface="Calibri"/>
                <a:cs typeface="Calibri"/>
              </a:rPr>
              <a:t> of</a:t>
            </a:r>
            <a:r>
              <a:rPr sz="3434" dirty="0">
                <a:solidFill>
                  <a:srgbClr val="330099"/>
                </a:solidFill>
                <a:latin typeface="Calibri"/>
                <a:cs typeface="Calibri"/>
              </a:rPr>
              <a:t> </a:t>
            </a:r>
            <a:r>
              <a:rPr sz="3434" spc="-7" dirty="0">
                <a:solidFill>
                  <a:srgbClr val="330099"/>
                </a:solidFill>
                <a:latin typeface="Calibri"/>
                <a:cs typeface="Calibri"/>
              </a:rPr>
              <a:t>food</a:t>
            </a:r>
            <a:r>
              <a:rPr sz="3434" dirty="0">
                <a:solidFill>
                  <a:srgbClr val="330099"/>
                </a:solidFill>
                <a:latin typeface="Calibri"/>
                <a:cs typeface="Calibri"/>
              </a:rPr>
              <a:t> that </a:t>
            </a:r>
            <a:r>
              <a:rPr sz="3434" spc="-7" dirty="0">
                <a:solidFill>
                  <a:srgbClr val="330099"/>
                </a:solidFill>
                <a:latin typeface="Calibri"/>
                <a:cs typeface="Calibri"/>
              </a:rPr>
              <a:t>are</a:t>
            </a:r>
            <a:r>
              <a:rPr sz="3434" dirty="0">
                <a:solidFill>
                  <a:srgbClr val="330099"/>
                </a:solidFill>
                <a:latin typeface="Calibri"/>
                <a:cs typeface="Calibri"/>
              </a:rPr>
              <a:t> </a:t>
            </a:r>
            <a:r>
              <a:rPr sz="3434" spc="-7" dirty="0">
                <a:solidFill>
                  <a:srgbClr val="330099"/>
                </a:solidFill>
                <a:latin typeface="Calibri"/>
                <a:cs typeface="Calibri"/>
              </a:rPr>
              <a:t>available</a:t>
            </a:r>
            <a:endParaRPr sz="3434">
              <a:latin typeface="Calibri"/>
              <a:cs typeface="Calibri"/>
            </a:endParaRPr>
          </a:p>
          <a:p>
            <a:pPr marL="488488" indent="-471042">
              <a:spcBef>
                <a:spcPts val="824"/>
              </a:spcBef>
              <a:buClr>
                <a:srgbClr val="CC0000"/>
              </a:buClr>
              <a:buFont typeface="Times New Roman"/>
              <a:buChar char="•"/>
              <a:tabLst>
                <a:tab pos="487615" algn="l"/>
                <a:tab pos="488488" algn="l"/>
              </a:tabLst>
            </a:pPr>
            <a:r>
              <a:rPr sz="3434" spc="-7" dirty="0">
                <a:solidFill>
                  <a:srgbClr val="330099"/>
                </a:solidFill>
                <a:latin typeface="Calibri"/>
                <a:cs typeface="Calibri"/>
              </a:rPr>
              <a:t>i’m</a:t>
            </a:r>
            <a:r>
              <a:rPr sz="3434" dirty="0">
                <a:solidFill>
                  <a:srgbClr val="330099"/>
                </a:solidFill>
                <a:latin typeface="Calibri"/>
                <a:cs typeface="Calibri"/>
              </a:rPr>
              <a:t> </a:t>
            </a:r>
            <a:r>
              <a:rPr sz="3434" spc="-7" dirty="0">
                <a:solidFill>
                  <a:srgbClr val="330099"/>
                </a:solidFill>
                <a:latin typeface="Calibri"/>
                <a:cs typeface="Calibri"/>
              </a:rPr>
              <a:t>looking</a:t>
            </a:r>
            <a:r>
              <a:rPr sz="3434" dirty="0">
                <a:solidFill>
                  <a:srgbClr val="330099"/>
                </a:solidFill>
                <a:latin typeface="Calibri"/>
                <a:cs typeface="Calibri"/>
              </a:rPr>
              <a:t> </a:t>
            </a:r>
            <a:r>
              <a:rPr sz="3434" spc="-7" dirty="0">
                <a:solidFill>
                  <a:srgbClr val="330099"/>
                </a:solidFill>
                <a:latin typeface="Calibri"/>
                <a:cs typeface="Calibri"/>
              </a:rPr>
              <a:t>for</a:t>
            </a:r>
            <a:r>
              <a:rPr sz="3434" dirty="0">
                <a:solidFill>
                  <a:srgbClr val="330099"/>
                </a:solidFill>
                <a:latin typeface="Calibri"/>
                <a:cs typeface="Calibri"/>
              </a:rPr>
              <a:t> a </a:t>
            </a:r>
            <a:r>
              <a:rPr sz="3434" spc="-7" dirty="0">
                <a:solidFill>
                  <a:srgbClr val="330099"/>
                </a:solidFill>
                <a:latin typeface="Calibri"/>
                <a:cs typeface="Calibri"/>
              </a:rPr>
              <a:t>good</a:t>
            </a:r>
            <a:r>
              <a:rPr sz="3434" spc="7" dirty="0">
                <a:solidFill>
                  <a:srgbClr val="330099"/>
                </a:solidFill>
                <a:latin typeface="Calibri"/>
                <a:cs typeface="Calibri"/>
              </a:rPr>
              <a:t> </a:t>
            </a:r>
            <a:r>
              <a:rPr sz="3434" spc="-7" dirty="0">
                <a:solidFill>
                  <a:srgbClr val="330099"/>
                </a:solidFill>
                <a:latin typeface="Calibri"/>
                <a:cs typeface="Calibri"/>
              </a:rPr>
              <a:t>place</a:t>
            </a:r>
            <a:r>
              <a:rPr sz="3434" dirty="0">
                <a:solidFill>
                  <a:srgbClr val="330099"/>
                </a:solidFill>
                <a:latin typeface="Calibri"/>
                <a:cs typeface="Calibri"/>
              </a:rPr>
              <a:t> to eat </a:t>
            </a:r>
            <a:r>
              <a:rPr sz="3434" spc="-7" dirty="0">
                <a:solidFill>
                  <a:srgbClr val="330099"/>
                </a:solidFill>
                <a:latin typeface="Calibri"/>
                <a:cs typeface="Calibri"/>
              </a:rPr>
              <a:t>breakfast</a:t>
            </a:r>
            <a:endParaRPr sz="3434">
              <a:latin typeface="Calibri"/>
              <a:cs typeface="Calibri"/>
            </a:endParaRPr>
          </a:p>
          <a:p>
            <a:pPr marL="488488" indent="-471042">
              <a:spcBef>
                <a:spcPts val="824"/>
              </a:spcBef>
              <a:buClr>
                <a:srgbClr val="CC0000"/>
              </a:buClr>
              <a:buFont typeface="Times New Roman"/>
              <a:buChar char="•"/>
              <a:tabLst>
                <a:tab pos="487615" algn="l"/>
                <a:tab pos="488488" algn="l"/>
              </a:tabLst>
            </a:pPr>
            <a:r>
              <a:rPr sz="3434" spc="-7" dirty="0">
                <a:solidFill>
                  <a:srgbClr val="330099"/>
                </a:solidFill>
                <a:latin typeface="Calibri"/>
                <a:cs typeface="Calibri"/>
              </a:rPr>
              <a:t>when</a:t>
            </a:r>
            <a:r>
              <a:rPr sz="3434" spc="-14" dirty="0">
                <a:solidFill>
                  <a:srgbClr val="330099"/>
                </a:solidFill>
                <a:latin typeface="Calibri"/>
                <a:cs typeface="Calibri"/>
              </a:rPr>
              <a:t> </a:t>
            </a:r>
            <a:r>
              <a:rPr sz="3434" dirty="0">
                <a:solidFill>
                  <a:srgbClr val="330099"/>
                </a:solidFill>
                <a:latin typeface="Calibri"/>
                <a:cs typeface="Calibri"/>
              </a:rPr>
              <a:t>is</a:t>
            </a:r>
            <a:r>
              <a:rPr sz="3434" spc="-21" dirty="0">
                <a:solidFill>
                  <a:srgbClr val="330099"/>
                </a:solidFill>
                <a:latin typeface="Calibri"/>
                <a:cs typeface="Calibri"/>
              </a:rPr>
              <a:t> </a:t>
            </a:r>
            <a:r>
              <a:rPr sz="3434" dirty="0">
                <a:solidFill>
                  <a:srgbClr val="330099"/>
                </a:solidFill>
                <a:latin typeface="Calibri"/>
                <a:cs typeface="Calibri"/>
              </a:rPr>
              <a:t>caﬀe</a:t>
            </a:r>
            <a:r>
              <a:rPr sz="3434" spc="-14" dirty="0">
                <a:solidFill>
                  <a:srgbClr val="330099"/>
                </a:solidFill>
                <a:latin typeface="Calibri"/>
                <a:cs typeface="Calibri"/>
              </a:rPr>
              <a:t> </a:t>
            </a:r>
            <a:r>
              <a:rPr sz="3434" dirty="0">
                <a:solidFill>
                  <a:srgbClr val="330099"/>
                </a:solidFill>
                <a:latin typeface="Calibri"/>
                <a:cs typeface="Calibri"/>
              </a:rPr>
              <a:t>venezia</a:t>
            </a:r>
            <a:r>
              <a:rPr sz="3434" spc="-14" dirty="0">
                <a:solidFill>
                  <a:srgbClr val="330099"/>
                </a:solidFill>
                <a:latin typeface="Calibri"/>
                <a:cs typeface="Calibri"/>
              </a:rPr>
              <a:t> </a:t>
            </a:r>
            <a:r>
              <a:rPr sz="3434" spc="-7" dirty="0">
                <a:solidFill>
                  <a:srgbClr val="330099"/>
                </a:solidFill>
                <a:latin typeface="Calibri"/>
                <a:cs typeface="Calibri"/>
              </a:rPr>
              <a:t>open during </a:t>
            </a:r>
            <a:r>
              <a:rPr sz="3434" dirty="0">
                <a:solidFill>
                  <a:srgbClr val="330099"/>
                </a:solidFill>
                <a:latin typeface="Calibri"/>
                <a:cs typeface="Calibri"/>
              </a:rPr>
              <a:t>the</a:t>
            </a:r>
            <a:r>
              <a:rPr sz="3434" spc="-7" dirty="0">
                <a:solidFill>
                  <a:srgbClr val="330099"/>
                </a:solidFill>
                <a:latin typeface="Calibri"/>
                <a:cs typeface="Calibri"/>
              </a:rPr>
              <a:t> </a:t>
            </a:r>
            <a:r>
              <a:rPr sz="3434" dirty="0">
                <a:solidFill>
                  <a:srgbClr val="330099"/>
                </a:solidFill>
                <a:latin typeface="Calibri"/>
                <a:cs typeface="Calibri"/>
              </a:rPr>
              <a:t>day</a:t>
            </a:r>
            <a:endParaRPr sz="3434">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936320"/>
            <a:ext cx="4472401"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Raw</a:t>
            </a:r>
            <a:r>
              <a:rPr spc="-34" dirty="0">
                <a:latin typeface="Calibri"/>
                <a:cs typeface="Calibri"/>
              </a:rPr>
              <a:t> </a:t>
            </a:r>
            <a:r>
              <a:rPr spc="-7" dirty="0">
                <a:latin typeface="Calibri"/>
                <a:cs typeface="Calibri"/>
              </a:rPr>
              <a:t>bigram</a:t>
            </a:r>
            <a:r>
              <a:rPr spc="-34" dirty="0">
                <a:latin typeface="Calibri"/>
                <a:cs typeface="Calibri"/>
              </a:rPr>
              <a:t> </a:t>
            </a:r>
            <a:r>
              <a:rPr spc="-7" dirty="0">
                <a:latin typeface="Calibri"/>
                <a:cs typeface="Calibri"/>
              </a:rPr>
              <a:t>counts</a:t>
            </a:r>
          </a:p>
        </p:txBody>
      </p:sp>
      <p:sp>
        <p:nvSpPr>
          <p:cNvPr id="7" name="object 7"/>
          <p:cNvSpPr txBox="1"/>
          <p:nvPr/>
        </p:nvSpPr>
        <p:spPr>
          <a:xfrm>
            <a:off x="1346200" y="2387102"/>
            <a:ext cx="4335446" cy="524999"/>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297" dirty="0">
                <a:latin typeface="Calibri"/>
                <a:cs typeface="Calibri"/>
              </a:rPr>
              <a:t>Out</a:t>
            </a:r>
            <a:r>
              <a:rPr sz="3297" spc="-27" dirty="0">
                <a:latin typeface="Calibri"/>
                <a:cs typeface="Calibri"/>
              </a:rPr>
              <a:t> </a:t>
            </a:r>
            <a:r>
              <a:rPr sz="3297" spc="-7" dirty="0">
                <a:latin typeface="Calibri"/>
                <a:cs typeface="Calibri"/>
              </a:rPr>
              <a:t>of</a:t>
            </a:r>
            <a:r>
              <a:rPr sz="3297" spc="-21" dirty="0">
                <a:latin typeface="Calibri"/>
                <a:cs typeface="Calibri"/>
              </a:rPr>
              <a:t> </a:t>
            </a:r>
            <a:r>
              <a:rPr sz="3297" spc="-7" dirty="0">
                <a:latin typeface="Calibri"/>
                <a:cs typeface="Calibri"/>
              </a:rPr>
              <a:t>9222</a:t>
            </a:r>
            <a:r>
              <a:rPr sz="3297" spc="-21" dirty="0">
                <a:latin typeface="Calibri"/>
                <a:cs typeface="Calibri"/>
              </a:rPr>
              <a:t> </a:t>
            </a:r>
            <a:r>
              <a:rPr sz="3297" spc="-7" dirty="0">
                <a:latin typeface="Calibri"/>
                <a:cs typeface="Calibri"/>
              </a:rPr>
              <a:t>sentences</a:t>
            </a:r>
            <a:endParaRPr sz="3297" dirty="0">
              <a:latin typeface="Calibri"/>
              <a:cs typeface="Calibri"/>
            </a:endParaRPr>
          </a:p>
        </p:txBody>
      </p:sp>
      <p:pic>
        <p:nvPicPr>
          <p:cNvPr id="8" name="object 8"/>
          <p:cNvPicPr/>
          <p:nvPr/>
        </p:nvPicPr>
        <p:blipFill>
          <a:blip r:embed="rId3" cstate="print"/>
          <a:stretch>
            <a:fillRect/>
          </a:stretch>
        </p:blipFill>
        <p:spPr>
          <a:xfrm>
            <a:off x="858232" y="2912101"/>
            <a:ext cx="12285664" cy="432239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9" y="1145678"/>
            <a:ext cx="5838459"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Raw</a:t>
            </a:r>
            <a:r>
              <a:rPr spc="-34" dirty="0">
                <a:latin typeface="Calibri"/>
                <a:cs typeface="Calibri"/>
              </a:rPr>
              <a:t> </a:t>
            </a:r>
            <a:r>
              <a:rPr spc="-7" dirty="0">
                <a:latin typeface="Calibri"/>
                <a:cs typeface="Calibri"/>
              </a:rPr>
              <a:t>bigram</a:t>
            </a:r>
            <a:r>
              <a:rPr spc="-34" dirty="0">
                <a:latin typeface="Calibri"/>
                <a:cs typeface="Calibri"/>
              </a:rPr>
              <a:t> </a:t>
            </a:r>
            <a:r>
              <a:rPr spc="-7" dirty="0">
                <a:latin typeface="Calibri"/>
                <a:cs typeface="Calibri"/>
              </a:rPr>
              <a:t>probabilities</a:t>
            </a:r>
          </a:p>
        </p:txBody>
      </p:sp>
      <p:sp>
        <p:nvSpPr>
          <p:cNvPr id="7" name="object 7"/>
          <p:cNvSpPr txBox="1"/>
          <p:nvPr/>
        </p:nvSpPr>
        <p:spPr>
          <a:xfrm>
            <a:off x="1154955" y="2255272"/>
            <a:ext cx="3861775" cy="1716736"/>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2747" spc="-7" dirty="0">
                <a:latin typeface="Calibri"/>
                <a:cs typeface="Calibri"/>
              </a:rPr>
              <a:t>Normalize</a:t>
            </a:r>
            <a:r>
              <a:rPr sz="2747" spc="-34" dirty="0">
                <a:latin typeface="Calibri"/>
                <a:cs typeface="Calibri"/>
              </a:rPr>
              <a:t> </a:t>
            </a:r>
            <a:r>
              <a:rPr sz="2747" dirty="0">
                <a:latin typeface="Calibri"/>
                <a:cs typeface="Calibri"/>
              </a:rPr>
              <a:t>by</a:t>
            </a:r>
            <a:r>
              <a:rPr sz="2747" spc="-21" dirty="0">
                <a:latin typeface="Calibri"/>
                <a:cs typeface="Calibri"/>
              </a:rPr>
              <a:t> </a:t>
            </a:r>
            <a:r>
              <a:rPr sz="2747" spc="-7" dirty="0">
                <a:latin typeface="Calibri"/>
                <a:cs typeface="Calibri"/>
              </a:rPr>
              <a:t>unigrams:</a:t>
            </a:r>
            <a:endParaRPr sz="2747">
              <a:latin typeface="Calibri"/>
              <a:cs typeface="Calibri"/>
            </a:endParaRPr>
          </a:p>
          <a:p>
            <a:pPr>
              <a:lnSpc>
                <a:spcPct val="100000"/>
              </a:lnSpc>
              <a:buClr>
                <a:srgbClr val="CC0000"/>
              </a:buClr>
              <a:buFont typeface="Times New Roman"/>
              <a:buChar char="•"/>
            </a:pPr>
            <a:endParaRPr sz="3297">
              <a:latin typeface="Calibri"/>
              <a:cs typeface="Calibri"/>
            </a:endParaRPr>
          </a:p>
          <a:p>
            <a:pPr marL="488488" indent="-471042">
              <a:spcBef>
                <a:spcPts val="2679"/>
              </a:spcBef>
              <a:buClr>
                <a:srgbClr val="CC0000"/>
              </a:buClr>
              <a:buFont typeface="Times New Roman"/>
              <a:buChar char="•"/>
              <a:tabLst>
                <a:tab pos="487615" algn="l"/>
                <a:tab pos="488488" algn="l"/>
              </a:tabLst>
            </a:pPr>
            <a:r>
              <a:rPr sz="2747" spc="-7" dirty="0">
                <a:latin typeface="Calibri"/>
                <a:cs typeface="Calibri"/>
              </a:rPr>
              <a:t>Result:</a:t>
            </a:r>
            <a:endParaRPr sz="2747">
              <a:latin typeface="Calibri"/>
              <a:cs typeface="Calibri"/>
            </a:endParaRPr>
          </a:p>
        </p:txBody>
      </p:sp>
      <p:pic>
        <p:nvPicPr>
          <p:cNvPr id="8" name="object 8"/>
          <p:cNvPicPr/>
          <p:nvPr/>
        </p:nvPicPr>
        <p:blipFill>
          <a:blip r:embed="rId3" cstate="print"/>
          <a:stretch>
            <a:fillRect/>
          </a:stretch>
        </p:blipFill>
        <p:spPr>
          <a:xfrm>
            <a:off x="2992740" y="4016255"/>
            <a:ext cx="9506978" cy="3368533"/>
          </a:xfrm>
          <a:prstGeom prst="rect">
            <a:avLst/>
          </a:prstGeom>
        </p:spPr>
      </p:pic>
      <p:pic>
        <p:nvPicPr>
          <p:cNvPr id="9" name="object 9"/>
          <p:cNvPicPr/>
          <p:nvPr/>
        </p:nvPicPr>
        <p:blipFill>
          <a:blip r:embed="rId4" cstate="print"/>
          <a:stretch>
            <a:fillRect/>
          </a:stretch>
        </p:blipFill>
        <p:spPr>
          <a:xfrm>
            <a:off x="3312224" y="2800535"/>
            <a:ext cx="9061221" cy="72271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9928783"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Bigram</a:t>
            </a:r>
            <a:r>
              <a:rPr dirty="0">
                <a:latin typeface="Calibri"/>
                <a:cs typeface="Calibri"/>
              </a:rPr>
              <a:t> </a:t>
            </a:r>
            <a:r>
              <a:rPr spc="-7" dirty="0">
                <a:latin typeface="Calibri"/>
                <a:cs typeface="Calibri"/>
              </a:rPr>
              <a:t>estimates</a:t>
            </a:r>
            <a:r>
              <a:rPr dirty="0">
                <a:latin typeface="Calibri"/>
                <a:cs typeface="Calibri"/>
              </a:rPr>
              <a:t> </a:t>
            </a:r>
            <a:r>
              <a:rPr spc="-7" dirty="0">
                <a:latin typeface="Calibri"/>
                <a:cs typeface="Calibri"/>
              </a:rPr>
              <a:t>of</a:t>
            </a:r>
            <a:r>
              <a:rPr dirty="0">
                <a:latin typeface="Calibri"/>
                <a:cs typeface="Calibri"/>
              </a:rPr>
              <a:t> </a:t>
            </a:r>
            <a:r>
              <a:rPr spc="-7" dirty="0">
                <a:latin typeface="Calibri"/>
                <a:cs typeface="Calibri"/>
              </a:rPr>
              <a:t>sentence</a:t>
            </a:r>
            <a:r>
              <a:rPr spc="7" dirty="0">
                <a:latin typeface="Calibri"/>
                <a:cs typeface="Calibri"/>
              </a:rPr>
              <a:t> </a:t>
            </a:r>
            <a:r>
              <a:rPr spc="-14" dirty="0">
                <a:latin typeface="Calibri"/>
                <a:cs typeface="Calibri"/>
              </a:rPr>
              <a:t>probabilities</a:t>
            </a:r>
          </a:p>
        </p:txBody>
      </p:sp>
      <p:sp>
        <p:nvSpPr>
          <p:cNvPr id="7" name="object 7"/>
          <p:cNvSpPr txBox="1"/>
          <p:nvPr/>
        </p:nvSpPr>
        <p:spPr>
          <a:xfrm>
            <a:off x="2146200" y="2416129"/>
            <a:ext cx="6483106" cy="4976153"/>
          </a:xfrm>
          <a:prstGeom prst="rect">
            <a:avLst/>
          </a:prstGeom>
        </p:spPr>
        <p:txBody>
          <a:bodyPr vert="horz" wrap="square" lIns="0" tIns="17446" rIns="0" bIns="0" rtlCol="0">
            <a:spAutoFit/>
          </a:bodyPr>
          <a:lstStyle/>
          <a:p>
            <a:pPr marL="488488" marR="6978" indent="-471042">
              <a:lnSpc>
                <a:spcPct val="118200"/>
              </a:lnSpc>
              <a:spcBef>
                <a:spcPts val="137"/>
              </a:spcBef>
            </a:pPr>
            <a:r>
              <a:rPr sz="3846" spc="-7" dirty="0">
                <a:latin typeface="Calibri"/>
                <a:cs typeface="Calibri"/>
              </a:rPr>
              <a:t>P(&lt;s&gt; </a:t>
            </a:r>
            <a:r>
              <a:rPr sz="3846" dirty="0">
                <a:latin typeface="Calibri"/>
                <a:cs typeface="Calibri"/>
              </a:rPr>
              <a:t>I </a:t>
            </a:r>
            <a:r>
              <a:rPr sz="3846" spc="-7" dirty="0">
                <a:latin typeface="Calibri"/>
                <a:cs typeface="Calibri"/>
              </a:rPr>
              <a:t>want english food &lt;/s&gt;) </a:t>
            </a:r>
            <a:r>
              <a:rPr sz="3846" dirty="0">
                <a:latin typeface="Calibri"/>
                <a:cs typeface="Calibri"/>
              </a:rPr>
              <a:t>= </a:t>
            </a:r>
            <a:r>
              <a:rPr sz="3846" spc="-852" dirty="0">
                <a:latin typeface="Calibri"/>
                <a:cs typeface="Calibri"/>
              </a:rPr>
              <a:t> </a:t>
            </a:r>
            <a:r>
              <a:rPr sz="3846" spc="-7" dirty="0">
                <a:latin typeface="Calibri"/>
                <a:cs typeface="Calibri"/>
              </a:rPr>
              <a:t>P(I|&lt;s&gt;)</a:t>
            </a:r>
            <a:endParaRPr sz="3846" dirty="0">
              <a:latin typeface="Calibri"/>
              <a:cs typeface="Calibri"/>
            </a:endParaRPr>
          </a:p>
          <a:p>
            <a:pPr marL="488488">
              <a:spcBef>
                <a:spcPts val="879"/>
              </a:spcBef>
              <a:tabLst>
                <a:tab pos="951679" algn="l"/>
              </a:tabLst>
            </a:pPr>
            <a:r>
              <a:rPr sz="3846" dirty="0">
                <a:latin typeface="Calibri"/>
                <a:cs typeface="Calibri"/>
              </a:rPr>
              <a:t>×	</a:t>
            </a:r>
            <a:r>
              <a:rPr sz="3846" spc="-7" dirty="0">
                <a:latin typeface="Calibri"/>
                <a:cs typeface="Calibri"/>
              </a:rPr>
              <a:t>P(want|I)</a:t>
            </a:r>
            <a:endParaRPr sz="3846" dirty="0">
              <a:latin typeface="Calibri"/>
              <a:cs typeface="Calibri"/>
            </a:endParaRPr>
          </a:p>
          <a:p>
            <a:pPr marL="488488">
              <a:spcBef>
                <a:spcPts val="1017"/>
              </a:spcBef>
              <a:tabLst>
                <a:tab pos="951679" algn="l"/>
              </a:tabLst>
            </a:pPr>
            <a:r>
              <a:rPr sz="3846" dirty="0">
                <a:latin typeface="Calibri"/>
                <a:cs typeface="Calibri"/>
              </a:rPr>
              <a:t>×	</a:t>
            </a:r>
            <a:r>
              <a:rPr sz="3846" spc="-7" dirty="0">
                <a:latin typeface="Calibri"/>
                <a:cs typeface="Calibri"/>
              </a:rPr>
              <a:t>P(english|want)</a:t>
            </a:r>
            <a:endParaRPr sz="3846" dirty="0">
              <a:latin typeface="Calibri"/>
              <a:cs typeface="Calibri"/>
            </a:endParaRPr>
          </a:p>
          <a:p>
            <a:pPr marL="488488">
              <a:spcBef>
                <a:spcPts val="879"/>
              </a:spcBef>
              <a:tabLst>
                <a:tab pos="951679" algn="l"/>
              </a:tabLst>
            </a:pPr>
            <a:r>
              <a:rPr sz="3846" dirty="0">
                <a:latin typeface="Calibri"/>
                <a:cs typeface="Calibri"/>
              </a:rPr>
              <a:t>×	</a:t>
            </a:r>
            <a:r>
              <a:rPr sz="3846" spc="-7" dirty="0">
                <a:latin typeface="Calibri"/>
                <a:cs typeface="Calibri"/>
              </a:rPr>
              <a:t>P(food|english)</a:t>
            </a:r>
            <a:endParaRPr sz="3846" dirty="0">
              <a:latin typeface="Calibri"/>
              <a:cs typeface="Calibri"/>
            </a:endParaRPr>
          </a:p>
          <a:p>
            <a:pPr marL="488488">
              <a:spcBef>
                <a:spcPts val="879"/>
              </a:spcBef>
              <a:tabLst>
                <a:tab pos="951679" algn="l"/>
              </a:tabLst>
            </a:pPr>
            <a:r>
              <a:rPr sz="3846" dirty="0">
                <a:latin typeface="Calibri"/>
                <a:cs typeface="Calibri"/>
              </a:rPr>
              <a:t>×	</a:t>
            </a:r>
            <a:r>
              <a:rPr sz="3846" spc="-7" dirty="0">
                <a:latin typeface="Calibri"/>
                <a:cs typeface="Calibri"/>
              </a:rPr>
              <a:t>P(&lt;/s&gt;|food)</a:t>
            </a:r>
            <a:endParaRPr sz="3846" dirty="0">
              <a:latin typeface="Calibri"/>
              <a:cs typeface="Calibri"/>
            </a:endParaRPr>
          </a:p>
          <a:p>
            <a:pPr marL="790303">
              <a:spcBef>
                <a:spcPts val="1017"/>
              </a:spcBef>
              <a:tabLst>
                <a:tab pos="1254367" algn="l"/>
              </a:tabLst>
            </a:pPr>
            <a:r>
              <a:rPr sz="3846" dirty="0">
                <a:latin typeface="Calibri"/>
                <a:cs typeface="Calibri"/>
              </a:rPr>
              <a:t>=	</a:t>
            </a:r>
            <a:r>
              <a:rPr sz="3846" spc="-7" dirty="0">
                <a:latin typeface="Calibri"/>
                <a:cs typeface="Calibri"/>
              </a:rPr>
              <a:t>.000031</a:t>
            </a:r>
            <a:endParaRPr sz="3846"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6197857"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What</a:t>
            </a:r>
            <a:r>
              <a:rPr spc="-27" dirty="0">
                <a:latin typeface="Calibri"/>
                <a:cs typeface="Calibri"/>
              </a:rPr>
              <a:t> </a:t>
            </a:r>
            <a:r>
              <a:rPr spc="-7" dirty="0">
                <a:latin typeface="Calibri"/>
                <a:cs typeface="Calibri"/>
              </a:rPr>
              <a:t>kinds</a:t>
            </a:r>
            <a:r>
              <a:rPr spc="-21" dirty="0">
                <a:latin typeface="Calibri"/>
                <a:cs typeface="Calibri"/>
              </a:rPr>
              <a:t> </a:t>
            </a:r>
            <a:r>
              <a:rPr dirty="0">
                <a:latin typeface="Calibri"/>
                <a:cs typeface="Calibri"/>
              </a:rPr>
              <a:t>of</a:t>
            </a:r>
            <a:r>
              <a:rPr spc="-27" dirty="0">
                <a:latin typeface="Calibri"/>
                <a:cs typeface="Calibri"/>
              </a:rPr>
              <a:t> </a:t>
            </a:r>
            <a:r>
              <a:rPr spc="-7" dirty="0">
                <a:latin typeface="Calibri"/>
                <a:cs typeface="Calibri"/>
              </a:rPr>
              <a:t>knowledge?</a:t>
            </a:r>
          </a:p>
        </p:txBody>
      </p:sp>
      <p:sp>
        <p:nvSpPr>
          <p:cNvPr id="7" name="object 7"/>
          <p:cNvSpPr txBox="1"/>
          <p:nvPr/>
        </p:nvSpPr>
        <p:spPr>
          <a:xfrm>
            <a:off x="1154955" y="2148501"/>
            <a:ext cx="5480805" cy="4973202"/>
          </a:xfrm>
          <a:prstGeom prst="rect">
            <a:avLst/>
          </a:prstGeom>
        </p:spPr>
        <p:txBody>
          <a:bodyPr vert="horz" wrap="square" lIns="0" tIns="123870" rIns="0" bIns="0" rtlCol="0">
            <a:spAutoFit/>
          </a:bodyPr>
          <a:lstStyle/>
          <a:p>
            <a:pPr marL="488488" indent="-471042">
              <a:spcBef>
                <a:spcPts val="975"/>
              </a:spcBef>
              <a:buClr>
                <a:srgbClr val="CC0000"/>
              </a:buClr>
              <a:buFont typeface="Times New Roman"/>
              <a:buChar char="•"/>
              <a:tabLst>
                <a:tab pos="487615" algn="l"/>
                <a:tab pos="488488" algn="l"/>
                <a:tab pos="3886967" algn="l"/>
              </a:tabLst>
            </a:pPr>
            <a:r>
              <a:rPr sz="3846" spc="-7" dirty="0">
                <a:latin typeface="Calibri"/>
                <a:cs typeface="Calibri"/>
              </a:rPr>
              <a:t>P(english|want)	</a:t>
            </a:r>
            <a:r>
              <a:rPr sz="3846" dirty="0">
                <a:latin typeface="Calibri"/>
                <a:cs typeface="Calibri"/>
              </a:rPr>
              <a:t>=</a:t>
            </a:r>
            <a:r>
              <a:rPr sz="3846" spc="-69" dirty="0">
                <a:latin typeface="Calibri"/>
                <a:cs typeface="Calibri"/>
              </a:rPr>
              <a:t> </a:t>
            </a:r>
            <a:r>
              <a:rPr sz="3846" spc="-7" dirty="0">
                <a:latin typeface="Calibri"/>
                <a:cs typeface="Calibri"/>
              </a:rPr>
              <a:t>.0011</a:t>
            </a:r>
            <a:endParaRPr sz="3846">
              <a:latin typeface="Calibri"/>
              <a:cs typeface="Calibri"/>
            </a:endParaRPr>
          </a:p>
          <a:p>
            <a:pPr marL="488488" indent="-471042">
              <a:spcBef>
                <a:spcPts val="845"/>
              </a:spcBef>
              <a:buClr>
                <a:srgbClr val="CC0000"/>
              </a:buClr>
              <a:buFont typeface="Times New Roman"/>
              <a:buChar char="•"/>
              <a:tabLst>
                <a:tab pos="487615" algn="l"/>
                <a:tab pos="488488" algn="l"/>
                <a:tab pos="4348413" algn="l"/>
              </a:tabLst>
            </a:pPr>
            <a:r>
              <a:rPr sz="3846" dirty="0">
                <a:latin typeface="Calibri"/>
                <a:cs typeface="Calibri"/>
              </a:rPr>
              <a:t>P(chinese</a:t>
            </a:r>
            <a:r>
              <a:rPr sz="3846" spc="-7" dirty="0">
                <a:latin typeface="Calibri"/>
                <a:cs typeface="Calibri"/>
              </a:rPr>
              <a:t>|w</a:t>
            </a:r>
            <a:r>
              <a:rPr sz="3846" dirty="0">
                <a:latin typeface="Calibri"/>
                <a:cs typeface="Calibri"/>
              </a:rPr>
              <a:t>an</a:t>
            </a:r>
            <a:r>
              <a:rPr sz="3846" spc="-7" dirty="0">
                <a:latin typeface="Calibri"/>
                <a:cs typeface="Calibri"/>
              </a:rPr>
              <a:t>t</a:t>
            </a:r>
            <a:r>
              <a:rPr sz="3846" dirty="0">
                <a:latin typeface="Calibri"/>
                <a:cs typeface="Calibri"/>
              </a:rPr>
              <a:t>) =	</a:t>
            </a:r>
            <a:r>
              <a:rPr sz="3846" spc="-7" dirty="0">
                <a:latin typeface="Calibri"/>
                <a:cs typeface="Calibri"/>
              </a:rPr>
              <a:t>.006</a:t>
            </a:r>
            <a:r>
              <a:rPr sz="3846" dirty="0">
                <a:latin typeface="Calibri"/>
                <a:cs typeface="Calibri"/>
              </a:rPr>
              <a:t>5</a:t>
            </a:r>
            <a:endParaRPr sz="3846">
              <a:latin typeface="Calibri"/>
              <a:cs typeface="Calibri"/>
            </a:endParaRPr>
          </a:p>
          <a:p>
            <a:pPr marL="488488" indent="-471042">
              <a:spcBef>
                <a:spcPts val="879"/>
              </a:spcBef>
              <a:buClr>
                <a:srgbClr val="CC0000"/>
              </a:buClr>
              <a:buFont typeface="Times New Roman"/>
              <a:buChar char="•"/>
              <a:tabLst>
                <a:tab pos="487615" algn="l"/>
                <a:tab pos="488488" algn="l"/>
              </a:tabLst>
            </a:pPr>
            <a:r>
              <a:rPr sz="3846" spc="-7" dirty="0">
                <a:latin typeface="Calibri"/>
                <a:cs typeface="Calibri"/>
              </a:rPr>
              <a:t>P(to|want)</a:t>
            </a:r>
            <a:r>
              <a:rPr sz="3846" spc="-27" dirty="0">
                <a:latin typeface="Calibri"/>
                <a:cs typeface="Calibri"/>
              </a:rPr>
              <a:t> </a:t>
            </a:r>
            <a:r>
              <a:rPr sz="3846" dirty="0">
                <a:latin typeface="Calibri"/>
                <a:cs typeface="Calibri"/>
              </a:rPr>
              <a:t>=</a:t>
            </a:r>
            <a:r>
              <a:rPr sz="3846" spc="-27" dirty="0">
                <a:latin typeface="Calibri"/>
                <a:cs typeface="Calibri"/>
              </a:rPr>
              <a:t> </a:t>
            </a:r>
            <a:r>
              <a:rPr sz="3846" spc="-7" dirty="0">
                <a:latin typeface="Calibri"/>
                <a:cs typeface="Calibri"/>
              </a:rPr>
              <a:t>.66</a:t>
            </a:r>
            <a:endParaRPr sz="3846">
              <a:latin typeface="Calibri"/>
              <a:cs typeface="Calibri"/>
            </a:endParaRPr>
          </a:p>
          <a:p>
            <a:pPr marL="488488" indent="-471042">
              <a:spcBef>
                <a:spcPts val="1017"/>
              </a:spcBef>
              <a:buClr>
                <a:srgbClr val="CC0000"/>
              </a:buClr>
              <a:buFont typeface="Times New Roman"/>
              <a:buChar char="•"/>
              <a:tabLst>
                <a:tab pos="487615" algn="l"/>
                <a:tab pos="488488" algn="l"/>
              </a:tabLst>
            </a:pPr>
            <a:r>
              <a:rPr sz="3846" spc="-7" dirty="0">
                <a:latin typeface="Calibri"/>
                <a:cs typeface="Calibri"/>
              </a:rPr>
              <a:t>P(eat</a:t>
            </a:r>
            <a:r>
              <a:rPr sz="3846" spc="-21" dirty="0">
                <a:latin typeface="Calibri"/>
                <a:cs typeface="Calibri"/>
              </a:rPr>
              <a:t> </a:t>
            </a:r>
            <a:r>
              <a:rPr sz="3846" dirty="0">
                <a:latin typeface="Calibri"/>
                <a:cs typeface="Calibri"/>
              </a:rPr>
              <a:t>|</a:t>
            </a:r>
            <a:r>
              <a:rPr sz="3846" spc="-27" dirty="0">
                <a:latin typeface="Calibri"/>
                <a:cs typeface="Calibri"/>
              </a:rPr>
              <a:t> </a:t>
            </a:r>
            <a:r>
              <a:rPr sz="3846" dirty="0">
                <a:latin typeface="Calibri"/>
                <a:cs typeface="Calibri"/>
              </a:rPr>
              <a:t>to)</a:t>
            </a:r>
            <a:r>
              <a:rPr sz="3846" spc="-21" dirty="0">
                <a:latin typeface="Calibri"/>
                <a:cs typeface="Calibri"/>
              </a:rPr>
              <a:t> </a:t>
            </a:r>
            <a:r>
              <a:rPr sz="3846" dirty="0">
                <a:latin typeface="Calibri"/>
                <a:cs typeface="Calibri"/>
              </a:rPr>
              <a:t>=</a:t>
            </a:r>
            <a:r>
              <a:rPr sz="3846" spc="-21" dirty="0">
                <a:latin typeface="Calibri"/>
                <a:cs typeface="Calibri"/>
              </a:rPr>
              <a:t> </a:t>
            </a:r>
            <a:r>
              <a:rPr sz="3846" spc="-7" dirty="0">
                <a:latin typeface="Calibri"/>
                <a:cs typeface="Calibri"/>
              </a:rPr>
              <a:t>.28</a:t>
            </a:r>
            <a:endParaRPr sz="3846">
              <a:latin typeface="Calibri"/>
              <a:cs typeface="Calibri"/>
            </a:endParaRPr>
          </a:p>
          <a:p>
            <a:pPr marL="488488" indent="-471042">
              <a:spcBef>
                <a:spcPts val="879"/>
              </a:spcBef>
              <a:buClr>
                <a:srgbClr val="CC0000"/>
              </a:buClr>
              <a:buFont typeface="Times New Roman"/>
              <a:buChar char="•"/>
              <a:tabLst>
                <a:tab pos="487615" algn="l"/>
                <a:tab pos="488488" algn="l"/>
              </a:tabLst>
            </a:pPr>
            <a:r>
              <a:rPr sz="3846" spc="-7" dirty="0">
                <a:latin typeface="Calibri"/>
                <a:cs typeface="Calibri"/>
              </a:rPr>
              <a:t>P(food</a:t>
            </a:r>
            <a:r>
              <a:rPr sz="3846" spc="-27" dirty="0">
                <a:latin typeface="Calibri"/>
                <a:cs typeface="Calibri"/>
              </a:rPr>
              <a:t> </a:t>
            </a:r>
            <a:r>
              <a:rPr sz="3846" dirty="0">
                <a:latin typeface="Calibri"/>
                <a:cs typeface="Calibri"/>
              </a:rPr>
              <a:t>|</a:t>
            </a:r>
            <a:r>
              <a:rPr sz="3846" spc="-27" dirty="0">
                <a:latin typeface="Calibri"/>
                <a:cs typeface="Calibri"/>
              </a:rPr>
              <a:t> </a:t>
            </a:r>
            <a:r>
              <a:rPr sz="3846" dirty="0">
                <a:latin typeface="Calibri"/>
                <a:cs typeface="Calibri"/>
              </a:rPr>
              <a:t>to)</a:t>
            </a:r>
            <a:r>
              <a:rPr sz="3846" spc="-21" dirty="0">
                <a:latin typeface="Calibri"/>
                <a:cs typeface="Calibri"/>
              </a:rPr>
              <a:t> </a:t>
            </a:r>
            <a:r>
              <a:rPr sz="3846" dirty="0">
                <a:latin typeface="Calibri"/>
                <a:cs typeface="Calibri"/>
              </a:rPr>
              <a:t>=</a:t>
            </a:r>
            <a:r>
              <a:rPr sz="3846" spc="-27" dirty="0">
                <a:latin typeface="Calibri"/>
                <a:cs typeface="Calibri"/>
              </a:rPr>
              <a:t> </a:t>
            </a:r>
            <a:r>
              <a:rPr sz="3846" dirty="0">
                <a:latin typeface="Calibri"/>
                <a:cs typeface="Calibri"/>
              </a:rPr>
              <a:t>0</a:t>
            </a:r>
            <a:endParaRPr sz="3846">
              <a:latin typeface="Calibri"/>
              <a:cs typeface="Calibri"/>
            </a:endParaRPr>
          </a:p>
          <a:p>
            <a:pPr marL="488488" indent="-471042">
              <a:spcBef>
                <a:spcPts val="879"/>
              </a:spcBef>
              <a:buClr>
                <a:srgbClr val="CC0000"/>
              </a:buClr>
              <a:buFont typeface="Times New Roman"/>
              <a:buChar char="•"/>
              <a:tabLst>
                <a:tab pos="487615" algn="l"/>
                <a:tab pos="488488" algn="l"/>
              </a:tabLst>
            </a:pPr>
            <a:r>
              <a:rPr sz="3846" spc="-7" dirty="0">
                <a:latin typeface="Calibri"/>
                <a:cs typeface="Calibri"/>
              </a:rPr>
              <a:t>P(want</a:t>
            </a:r>
            <a:r>
              <a:rPr sz="3846" spc="-21" dirty="0">
                <a:latin typeface="Calibri"/>
                <a:cs typeface="Calibri"/>
              </a:rPr>
              <a:t> </a:t>
            </a:r>
            <a:r>
              <a:rPr sz="3846" dirty="0">
                <a:latin typeface="Calibri"/>
                <a:cs typeface="Calibri"/>
              </a:rPr>
              <a:t>|</a:t>
            </a:r>
            <a:r>
              <a:rPr sz="3846" spc="-27" dirty="0">
                <a:latin typeface="Calibri"/>
                <a:cs typeface="Calibri"/>
              </a:rPr>
              <a:t> </a:t>
            </a:r>
            <a:r>
              <a:rPr sz="3846" dirty="0">
                <a:latin typeface="Calibri"/>
                <a:cs typeface="Calibri"/>
              </a:rPr>
              <a:t>spend)</a:t>
            </a:r>
            <a:r>
              <a:rPr sz="3846" spc="-21" dirty="0">
                <a:latin typeface="Calibri"/>
                <a:cs typeface="Calibri"/>
              </a:rPr>
              <a:t> </a:t>
            </a:r>
            <a:r>
              <a:rPr sz="3846" dirty="0">
                <a:latin typeface="Calibri"/>
                <a:cs typeface="Calibri"/>
              </a:rPr>
              <a:t>=</a:t>
            </a:r>
            <a:r>
              <a:rPr sz="3846" spc="-27" dirty="0">
                <a:latin typeface="Calibri"/>
                <a:cs typeface="Calibri"/>
              </a:rPr>
              <a:t> </a:t>
            </a:r>
            <a:r>
              <a:rPr sz="3846" dirty="0">
                <a:latin typeface="Calibri"/>
                <a:cs typeface="Calibri"/>
              </a:rPr>
              <a:t>0</a:t>
            </a:r>
            <a:endParaRPr sz="3846">
              <a:latin typeface="Calibri"/>
              <a:cs typeface="Calibri"/>
            </a:endParaRPr>
          </a:p>
          <a:p>
            <a:pPr marL="488488" indent="-471042">
              <a:spcBef>
                <a:spcPts val="1017"/>
              </a:spcBef>
              <a:buClr>
                <a:srgbClr val="CC0000"/>
              </a:buClr>
              <a:buFont typeface="Times New Roman"/>
              <a:buChar char="•"/>
              <a:tabLst>
                <a:tab pos="487615" algn="l"/>
                <a:tab pos="488488" algn="l"/>
              </a:tabLst>
            </a:pPr>
            <a:r>
              <a:rPr sz="3846" dirty="0">
                <a:latin typeface="Calibri"/>
                <a:cs typeface="Calibri"/>
              </a:rPr>
              <a:t>P</a:t>
            </a:r>
            <a:r>
              <a:rPr sz="3846" spc="-21" dirty="0">
                <a:latin typeface="Calibri"/>
                <a:cs typeface="Calibri"/>
              </a:rPr>
              <a:t> </a:t>
            </a:r>
            <a:r>
              <a:rPr sz="3846" spc="-7" dirty="0">
                <a:latin typeface="Calibri"/>
                <a:cs typeface="Calibri"/>
              </a:rPr>
              <a:t>(i</a:t>
            </a:r>
            <a:r>
              <a:rPr sz="3846" spc="-14" dirty="0">
                <a:latin typeface="Calibri"/>
                <a:cs typeface="Calibri"/>
              </a:rPr>
              <a:t> </a:t>
            </a:r>
            <a:r>
              <a:rPr sz="3846" dirty="0">
                <a:latin typeface="Calibri"/>
                <a:cs typeface="Calibri"/>
              </a:rPr>
              <a:t>|</a:t>
            </a:r>
            <a:r>
              <a:rPr sz="3846" spc="-27" dirty="0">
                <a:latin typeface="Calibri"/>
                <a:cs typeface="Calibri"/>
              </a:rPr>
              <a:t> </a:t>
            </a:r>
            <a:r>
              <a:rPr sz="3846" spc="-7" dirty="0">
                <a:latin typeface="Calibri"/>
                <a:cs typeface="Calibri"/>
              </a:rPr>
              <a:t>&lt;s&gt;)</a:t>
            </a:r>
            <a:r>
              <a:rPr sz="3846" spc="-14" dirty="0">
                <a:latin typeface="Calibri"/>
                <a:cs typeface="Calibri"/>
              </a:rPr>
              <a:t> </a:t>
            </a:r>
            <a:r>
              <a:rPr sz="3846" dirty="0">
                <a:latin typeface="Calibri"/>
                <a:cs typeface="Calibri"/>
              </a:rPr>
              <a:t>=</a:t>
            </a:r>
            <a:r>
              <a:rPr sz="3846" spc="-27" dirty="0">
                <a:latin typeface="Calibri"/>
                <a:cs typeface="Calibri"/>
              </a:rPr>
              <a:t> </a:t>
            </a:r>
            <a:r>
              <a:rPr sz="3846" spc="-7" dirty="0">
                <a:latin typeface="Calibri"/>
                <a:cs typeface="Calibri"/>
              </a:rPr>
              <a:t>.25</a:t>
            </a:r>
            <a:endParaRPr sz="3846">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7" y="1145678"/>
            <a:ext cx="3534654" cy="704837"/>
          </a:xfrm>
          <a:prstGeom prst="rect">
            <a:avLst/>
          </a:prstGeom>
        </p:spPr>
        <p:txBody>
          <a:bodyPr vert="horz" wrap="square" lIns="0" tIns="17446" rIns="0" bIns="0" rtlCol="0">
            <a:spAutoFit/>
          </a:bodyPr>
          <a:lstStyle/>
          <a:p>
            <a:pPr marL="17446">
              <a:spcBef>
                <a:spcPts val="137"/>
              </a:spcBef>
            </a:pPr>
            <a:r>
              <a:rPr spc="-14" dirty="0">
                <a:latin typeface="Calibri"/>
                <a:cs typeface="Calibri"/>
              </a:rPr>
              <a:t>Practical</a:t>
            </a:r>
            <a:r>
              <a:rPr spc="-82" dirty="0">
                <a:latin typeface="Calibri"/>
                <a:cs typeface="Calibri"/>
              </a:rPr>
              <a:t> </a:t>
            </a:r>
            <a:r>
              <a:rPr spc="-7" dirty="0">
                <a:latin typeface="Calibri"/>
                <a:cs typeface="Calibri"/>
              </a:rPr>
              <a:t>Issues</a:t>
            </a:r>
          </a:p>
        </p:txBody>
      </p:sp>
      <p:sp>
        <p:nvSpPr>
          <p:cNvPr id="7" name="object 7"/>
          <p:cNvSpPr txBox="1"/>
          <p:nvPr/>
        </p:nvSpPr>
        <p:spPr>
          <a:xfrm>
            <a:off x="1061536" y="2128262"/>
            <a:ext cx="11777236" cy="4058910"/>
          </a:xfrm>
          <a:prstGeom prst="rect">
            <a:avLst/>
          </a:prstGeom>
        </p:spPr>
        <p:txBody>
          <a:bodyPr vert="horz" wrap="square" lIns="0" tIns="143933" rIns="0" bIns="0" rtlCol="0">
            <a:spAutoFit/>
          </a:bodyPr>
          <a:lstStyle/>
          <a:p>
            <a:pPr marL="581824" indent="-471914">
              <a:spcBef>
                <a:spcPts val="1133"/>
              </a:spcBef>
              <a:buClr>
                <a:srgbClr val="CC0000"/>
              </a:buClr>
              <a:buFont typeface="Times New Roman"/>
              <a:buChar char="•"/>
              <a:tabLst>
                <a:tab pos="581824" algn="l"/>
                <a:tab pos="582696" algn="l"/>
              </a:tabLst>
            </a:pPr>
            <a:r>
              <a:rPr sz="4396" spc="-7" dirty="0">
                <a:latin typeface="Calibri"/>
                <a:cs typeface="Calibri"/>
              </a:rPr>
              <a:t>We </a:t>
            </a:r>
            <a:r>
              <a:rPr sz="4396" dirty="0">
                <a:latin typeface="Calibri"/>
                <a:cs typeface="Calibri"/>
              </a:rPr>
              <a:t>do</a:t>
            </a:r>
            <a:r>
              <a:rPr sz="4396" spc="-7" dirty="0">
                <a:latin typeface="Calibri"/>
                <a:cs typeface="Calibri"/>
              </a:rPr>
              <a:t> everything </a:t>
            </a:r>
            <a:r>
              <a:rPr sz="4396" dirty="0">
                <a:latin typeface="Calibri"/>
                <a:cs typeface="Calibri"/>
              </a:rPr>
              <a:t>in</a:t>
            </a:r>
            <a:r>
              <a:rPr sz="4396" spc="-7" dirty="0">
                <a:latin typeface="Calibri"/>
                <a:cs typeface="Calibri"/>
              </a:rPr>
              <a:t> log</a:t>
            </a:r>
            <a:r>
              <a:rPr sz="4396" dirty="0">
                <a:latin typeface="Calibri"/>
                <a:cs typeface="Calibri"/>
              </a:rPr>
              <a:t> </a:t>
            </a:r>
            <a:r>
              <a:rPr sz="4396" spc="-7" dirty="0">
                <a:latin typeface="Calibri"/>
                <a:cs typeface="Calibri"/>
              </a:rPr>
              <a:t>space</a:t>
            </a:r>
            <a:endParaRPr sz="4396">
              <a:latin typeface="Calibri"/>
              <a:cs typeface="Calibri"/>
            </a:endParaRPr>
          </a:p>
          <a:p>
            <a:pPr marL="1052865" lvl="1" indent="-314900">
              <a:spcBef>
                <a:spcPts val="1003"/>
              </a:spcBef>
              <a:buFont typeface="Times New Roman"/>
              <a:buChar char="•"/>
              <a:tabLst>
                <a:tab pos="1053738" algn="l"/>
              </a:tabLst>
            </a:pPr>
            <a:r>
              <a:rPr sz="4396" dirty="0">
                <a:latin typeface="Calibri"/>
                <a:cs typeface="Calibri"/>
              </a:rPr>
              <a:t>Avoid</a:t>
            </a:r>
            <a:r>
              <a:rPr sz="4396" spc="-62" dirty="0">
                <a:latin typeface="Calibri"/>
                <a:cs typeface="Calibri"/>
              </a:rPr>
              <a:t> </a:t>
            </a:r>
            <a:r>
              <a:rPr sz="4396" dirty="0">
                <a:latin typeface="Calibri"/>
                <a:cs typeface="Calibri"/>
              </a:rPr>
              <a:t>underﬂow</a:t>
            </a:r>
            <a:endParaRPr sz="4396">
              <a:latin typeface="Calibri"/>
              <a:cs typeface="Calibri"/>
            </a:endParaRPr>
          </a:p>
          <a:p>
            <a:pPr marL="1052865" lvl="1" indent="-314900">
              <a:spcBef>
                <a:spcPts val="1044"/>
              </a:spcBef>
              <a:buFont typeface="Times New Roman"/>
              <a:buChar char="•"/>
              <a:tabLst>
                <a:tab pos="1053738" algn="l"/>
              </a:tabLst>
            </a:pPr>
            <a:r>
              <a:rPr sz="4396" spc="-7" dirty="0">
                <a:latin typeface="Calibri"/>
                <a:cs typeface="Calibri"/>
              </a:rPr>
              <a:t>(also</a:t>
            </a:r>
            <a:r>
              <a:rPr sz="4396" spc="-14" dirty="0">
                <a:latin typeface="Calibri"/>
                <a:cs typeface="Calibri"/>
              </a:rPr>
              <a:t> </a:t>
            </a:r>
            <a:r>
              <a:rPr sz="4396" dirty="0">
                <a:latin typeface="Calibri"/>
                <a:cs typeface="Calibri"/>
              </a:rPr>
              <a:t>adding</a:t>
            </a:r>
            <a:r>
              <a:rPr sz="4396" spc="-7" dirty="0">
                <a:latin typeface="Calibri"/>
                <a:cs typeface="Calibri"/>
              </a:rPr>
              <a:t> </a:t>
            </a:r>
            <a:r>
              <a:rPr sz="4396" dirty="0">
                <a:latin typeface="Calibri"/>
                <a:cs typeface="Calibri"/>
              </a:rPr>
              <a:t>is</a:t>
            </a:r>
            <a:r>
              <a:rPr sz="4396" spc="-7" dirty="0">
                <a:latin typeface="Calibri"/>
                <a:cs typeface="Calibri"/>
              </a:rPr>
              <a:t> faster </a:t>
            </a:r>
            <a:r>
              <a:rPr sz="4396" dirty="0">
                <a:latin typeface="Calibri"/>
                <a:cs typeface="Calibri"/>
              </a:rPr>
              <a:t>than</a:t>
            </a:r>
            <a:r>
              <a:rPr sz="4396" spc="-7" dirty="0">
                <a:latin typeface="Calibri"/>
                <a:cs typeface="Calibri"/>
              </a:rPr>
              <a:t> multiplying)</a:t>
            </a:r>
            <a:endParaRPr sz="4396">
              <a:latin typeface="Calibri"/>
              <a:cs typeface="Calibri"/>
            </a:endParaRPr>
          </a:p>
          <a:p>
            <a:pPr>
              <a:spcBef>
                <a:spcPts val="34"/>
              </a:spcBef>
            </a:pPr>
            <a:endParaRPr sz="6250">
              <a:latin typeface="Calibri"/>
              <a:cs typeface="Calibri"/>
            </a:endParaRPr>
          </a:p>
          <a:p>
            <a:pPr marL="69784"/>
            <a:r>
              <a:rPr sz="4327" spc="-7" dirty="0">
                <a:latin typeface="Times New Roman"/>
                <a:cs typeface="Times New Roman"/>
              </a:rPr>
              <a:t>log(</a:t>
            </a:r>
            <a:r>
              <a:rPr sz="4327" spc="-631" dirty="0">
                <a:latin typeface="Times New Roman"/>
                <a:cs typeface="Times New Roman"/>
              </a:rPr>
              <a:t> </a:t>
            </a:r>
            <a:r>
              <a:rPr sz="4327" i="1" spc="-179" dirty="0">
                <a:latin typeface="Times New Roman"/>
                <a:cs typeface="Times New Roman"/>
              </a:rPr>
              <a:t>p</a:t>
            </a:r>
            <a:r>
              <a:rPr sz="4430" spc="-268" baseline="-20671" dirty="0">
                <a:latin typeface="Times New Roman"/>
                <a:cs typeface="Times New Roman"/>
              </a:rPr>
              <a:t>1</a:t>
            </a:r>
            <a:r>
              <a:rPr sz="4430" baseline="-20671" dirty="0">
                <a:latin typeface="Times New Roman"/>
                <a:cs typeface="Times New Roman"/>
              </a:rPr>
              <a:t> </a:t>
            </a:r>
            <a:r>
              <a:rPr sz="4327" dirty="0">
                <a:latin typeface="Symbol"/>
                <a:cs typeface="Symbol"/>
              </a:rPr>
              <a:t></a:t>
            </a:r>
            <a:r>
              <a:rPr sz="4327" spc="-55" dirty="0">
                <a:latin typeface="Times New Roman"/>
                <a:cs typeface="Times New Roman"/>
              </a:rPr>
              <a:t> </a:t>
            </a:r>
            <a:r>
              <a:rPr sz="4327" i="1" spc="-34" dirty="0">
                <a:latin typeface="Times New Roman"/>
                <a:cs typeface="Times New Roman"/>
              </a:rPr>
              <a:t>p</a:t>
            </a:r>
            <a:r>
              <a:rPr sz="4430" spc="-51" baseline="-20671" dirty="0">
                <a:latin typeface="Times New Roman"/>
                <a:cs typeface="Times New Roman"/>
              </a:rPr>
              <a:t>2</a:t>
            </a:r>
            <a:r>
              <a:rPr sz="4430" spc="371" baseline="-20671" dirty="0">
                <a:latin typeface="Times New Roman"/>
                <a:cs typeface="Times New Roman"/>
              </a:rPr>
              <a:t> </a:t>
            </a:r>
            <a:r>
              <a:rPr sz="4327" dirty="0">
                <a:latin typeface="Symbol"/>
                <a:cs typeface="Symbol"/>
              </a:rPr>
              <a:t></a:t>
            </a:r>
            <a:r>
              <a:rPr sz="4327" spc="-55" dirty="0">
                <a:latin typeface="Times New Roman"/>
                <a:cs typeface="Times New Roman"/>
              </a:rPr>
              <a:t> </a:t>
            </a:r>
            <a:r>
              <a:rPr sz="4327" i="1" spc="-62" dirty="0">
                <a:latin typeface="Times New Roman"/>
                <a:cs typeface="Times New Roman"/>
              </a:rPr>
              <a:t>p</a:t>
            </a:r>
            <a:r>
              <a:rPr sz="4430" spc="-92" baseline="-20671" dirty="0">
                <a:latin typeface="Times New Roman"/>
                <a:cs typeface="Times New Roman"/>
              </a:rPr>
              <a:t>3</a:t>
            </a:r>
            <a:r>
              <a:rPr sz="4430" spc="113" baseline="-20671" dirty="0">
                <a:latin typeface="Times New Roman"/>
                <a:cs typeface="Times New Roman"/>
              </a:rPr>
              <a:t> </a:t>
            </a:r>
            <a:r>
              <a:rPr sz="4327" dirty="0">
                <a:latin typeface="Symbol"/>
                <a:cs typeface="Symbol"/>
              </a:rPr>
              <a:t></a:t>
            </a:r>
            <a:r>
              <a:rPr sz="4327" spc="-48" dirty="0">
                <a:latin typeface="Times New Roman"/>
                <a:cs typeface="Times New Roman"/>
              </a:rPr>
              <a:t> </a:t>
            </a:r>
            <a:r>
              <a:rPr sz="4327" i="1" spc="-14" dirty="0">
                <a:latin typeface="Times New Roman"/>
                <a:cs typeface="Times New Roman"/>
              </a:rPr>
              <a:t>p</a:t>
            </a:r>
            <a:r>
              <a:rPr sz="4430" spc="-21" baseline="-20671" dirty="0">
                <a:latin typeface="Times New Roman"/>
                <a:cs typeface="Times New Roman"/>
              </a:rPr>
              <a:t>4</a:t>
            </a:r>
            <a:r>
              <a:rPr sz="4430" spc="-390" baseline="-20671" dirty="0">
                <a:latin typeface="Times New Roman"/>
                <a:cs typeface="Times New Roman"/>
              </a:rPr>
              <a:t> </a:t>
            </a:r>
            <a:r>
              <a:rPr sz="4327" dirty="0">
                <a:latin typeface="Times New Roman"/>
                <a:cs typeface="Times New Roman"/>
              </a:rPr>
              <a:t>)</a:t>
            </a:r>
            <a:r>
              <a:rPr sz="4327" spc="-349" dirty="0">
                <a:latin typeface="Times New Roman"/>
                <a:cs typeface="Times New Roman"/>
              </a:rPr>
              <a:t> </a:t>
            </a:r>
            <a:r>
              <a:rPr sz="4327" dirty="0">
                <a:latin typeface="Symbol"/>
                <a:cs typeface="Symbol"/>
              </a:rPr>
              <a:t></a:t>
            </a:r>
            <a:r>
              <a:rPr sz="4327" spc="-172" dirty="0">
                <a:latin typeface="Times New Roman"/>
                <a:cs typeface="Times New Roman"/>
              </a:rPr>
              <a:t> </a:t>
            </a:r>
            <a:r>
              <a:rPr sz="4327" spc="-7" dirty="0">
                <a:latin typeface="Times New Roman"/>
                <a:cs typeface="Times New Roman"/>
              </a:rPr>
              <a:t>log</a:t>
            </a:r>
            <a:r>
              <a:rPr sz="4327" spc="-227" dirty="0">
                <a:latin typeface="Times New Roman"/>
                <a:cs typeface="Times New Roman"/>
              </a:rPr>
              <a:t> </a:t>
            </a:r>
            <a:r>
              <a:rPr sz="4327" i="1" spc="-179" dirty="0">
                <a:latin typeface="Times New Roman"/>
                <a:cs typeface="Times New Roman"/>
              </a:rPr>
              <a:t>p</a:t>
            </a:r>
            <a:r>
              <a:rPr sz="4430" spc="-268" baseline="-20671" dirty="0">
                <a:latin typeface="Times New Roman"/>
                <a:cs typeface="Times New Roman"/>
              </a:rPr>
              <a:t>1</a:t>
            </a:r>
            <a:r>
              <a:rPr sz="4430" spc="51" baseline="-20671" dirty="0">
                <a:latin typeface="Times New Roman"/>
                <a:cs typeface="Times New Roman"/>
              </a:rPr>
              <a:t> </a:t>
            </a:r>
            <a:r>
              <a:rPr sz="4327" dirty="0">
                <a:latin typeface="Symbol"/>
                <a:cs typeface="Symbol"/>
              </a:rPr>
              <a:t></a:t>
            </a:r>
            <a:r>
              <a:rPr sz="4327" spc="-385" dirty="0">
                <a:latin typeface="Times New Roman"/>
                <a:cs typeface="Times New Roman"/>
              </a:rPr>
              <a:t> </a:t>
            </a:r>
            <a:r>
              <a:rPr sz="4327" spc="-7" dirty="0">
                <a:latin typeface="Times New Roman"/>
                <a:cs typeface="Times New Roman"/>
              </a:rPr>
              <a:t>log</a:t>
            </a:r>
            <a:r>
              <a:rPr sz="4327" spc="-220" dirty="0">
                <a:latin typeface="Times New Roman"/>
                <a:cs typeface="Times New Roman"/>
              </a:rPr>
              <a:t> </a:t>
            </a:r>
            <a:r>
              <a:rPr sz="4327" i="1" spc="-34" dirty="0">
                <a:latin typeface="Times New Roman"/>
                <a:cs typeface="Times New Roman"/>
              </a:rPr>
              <a:t>p</a:t>
            </a:r>
            <a:r>
              <a:rPr sz="4430" spc="-51" baseline="-20671" dirty="0">
                <a:latin typeface="Times New Roman"/>
                <a:cs typeface="Times New Roman"/>
              </a:rPr>
              <a:t>2</a:t>
            </a:r>
            <a:r>
              <a:rPr sz="4430" spc="422" baseline="-20671" dirty="0">
                <a:latin typeface="Times New Roman"/>
                <a:cs typeface="Times New Roman"/>
              </a:rPr>
              <a:t> </a:t>
            </a:r>
            <a:r>
              <a:rPr sz="4327" dirty="0">
                <a:latin typeface="Symbol"/>
                <a:cs typeface="Symbol"/>
              </a:rPr>
              <a:t></a:t>
            </a:r>
            <a:r>
              <a:rPr sz="4327" spc="-385" dirty="0">
                <a:latin typeface="Times New Roman"/>
                <a:cs typeface="Times New Roman"/>
              </a:rPr>
              <a:t> </a:t>
            </a:r>
            <a:r>
              <a:rPr sz="4327" spc="-7" dirty="0">
                <a:latin typeface="Times New Roman"/>
                <a:cs typeface="Times New Roman"/>
              </a:rPr>
              <a:t>log</a:t>
            </a:r>
            <a:r>
              <a:rPr sz="4327" spc="-227" dirty="0">
                <a:latin typeface="Times New Roman"/>
                <a:cs typeface="Times New Roman"/>
              </a:rPr>
              <a:t> </a:t>
            </a:r>
            <a:r>
              <a:rPr sz="4327" i="1" spc="-62" dirty="0">
                <a:latin typeface="Times New Roman"/>
                <a:cs typeface="Times New Roman"/>
              </a:rPr>
              <a:t>p</a:t>
            </a:r>
            <a:r>
              <a:rPr sz="4430" spc="-92" baseline="-20671" dirty="0">
                <a:latin typeface="Times New Roman"/>
                <a:cs typeface="Times New Roman"/>
              </a:rPr>
              <a:t>3</a:t>
            </a:r>
            <a:r>
              <a:rPr sz="4430" spc="165" baseline="-20671" dirty="0">
                <a:latin typeface="Times New Roman"/>
                <a:cs typeface="Times New Roman"/>
              </a:rPr>
              <a:t> </a:t>
            </a:r>
            <a:r>
              <a:rPr sz="4327" dirty="0">
                <a:latin typeface="Symbol"/>
                <a:cs typeface="Symbol"/>
              </a:rPr>
              <a:t></a:t>
            </a:r>
            <a:r>
              <a:rPr sz="4327" spc="-385" dirty="0">
                <a:latin typeface="Times New Roman"/>
                <a:cs typeface="Times New Roman"/>
              </a:rPr>
              <a:t> </a:t>
            </a:r>
            <a:r>
              <a:rPr sz="4327" spc="-7" dirty="0">
                <a:latin typeface="Times New Roman"/>
                <a:cs typeface="Times New Roman"/>
              </a:rPr>
              <a:t>log</a:t>
            </a:r>
            <a:r>
              <a:rPr sz="4327" spc="-220" dirty="0">
                <a:latin typeface="Times New Roman"/>
                <a:cs typeface="Times New Roman"/>
              </a:rPr>
              <a:t> </a:t>
            </a:r>
            <a:r>
              <a:rPr sz="4327" i="1" spc="-14" dirty="0">
                <a:latin typeface="Times New Roman"/>
                <a:cs typeface="Times New Roman"/>
              </a:rPr>
              <a:t>p</a:t>
            </a:r>
            <a:r>
              <a:rPr sz="4430" spc="-21" baseline="-20671" dirty="0">
                <a:latin typeface="Times New Roman"/>
                <a:cs typeface="Times New Roman"/>
              </a:rPr>
              <a:t>4</a:t>
            </a:r>
            <a:endParaRPr sz="4430" baseline="-20671">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6526722"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Language</a:t>
            </a:r>
            <a:r>
              <a:rPr spc="-27" dirty="0">
                <a:latin typeface="Calibri"/>
                <a:cs typeface="Calibri"/>
              </a:rPr>
              <a:t> </a:t>
            </a:r>
            <a:r>
              <a:rPr spc="-7" dirty="0">
                <a:latin typeface="Calibri"/>
                <a:cs typeface="Calibri"/>
              </a:rPr>
              <a:t>Modeling</a:t>
            </a:r>
            <a:r>
              <a:rPr spc="-21" dirty="0">
                <a:latin typeface="Calibri"/>
                <a:cs typeface="Calibri"/>
              </a:rPr>
              <a:t> </a:t>
            </a:r>
            <a:r>
              <a:rPr spc="-7" dirty="0">
                <a:latin typeface="Calibri"/>
                <a:cs typeface="Calibri"/>
              </a:rPr>
              <a:t>Toolkits</a:t>
            </a:r>
          </a:p>
        </p:txBody>
      </p:sp>
      <p:sp>
        <p:nvSpPr>
          <p:cNvPr id="7" name="object 7"/>
          <p:cNvSpPr txBox="1"/>
          <p:nvPr/>
        </p:nvSpPr>
        <p:spPr>
          <a:xfrm>
            <a:off x="1154955" y="2128263"/>
            <a:ext cx="10829893" cy="1626513"/>
          </a:xfrm>
          <a:prstGeom prst="rect">
            <a:avLst/>
          </a:prstGeom>
        </p:spPr>
        <p:txBody>
          <a:bodyPr vert="horz" wrap="square" lIns="0" tIns="143933" rIns="0" bIns="0" rtlCol="0">
            <a:spAutoFit/>
          </a:bodyPr>
          <a:lstStyle/>
          <a:p>
            <a:pPr marL="488488" indent="-471042">
              <a:spcBef>
                <a:spcPts val="1133"/>
              </a:spcBef>
              <a:buClr>
                <a:srgbClr val="CC0000"/>
              </a:buClr>
              <a:buFont typeface="Times New Roman"/>
              <a:buChar char="•"/>
              <a:tabLst>
                <a:tab pos="487615" algn="l"/>
                <a:tab pos="488488" algn="l"/>
              </a:tabLst>
            </a:pPr>
            <a:r>
              <a:rPr sz="4396" dirty="0">
                <a:latin typeface="Calibri"/>
                <a:cs typeface="Calibri"/>
              </a:rPr>
              <a:t>SRILM</a:t>
            </a:r>
            <a:endParaRPr sz="4396">
              <a:latin typeface="Calibri"/>
              <a:cs typeface="Calibri"/>
            </a:endParaRPr>
          </a:p>
          <a:p>
            <a:pPr marL="959529" lvl="1" indent="-314028">
              <a:spcBef>
                <a:spcPts val="1003"/>
              </a:spcBef>
              <a:buClr>
                <a:srgbClr val="000000"/>
              </a:buClr>
              <a:buFont typeface="Times New Roman"/>
              <a:buChar char="•"/>
              <a:tabLst>
                <a:tab pos="959529" algn="l"/>
              </a:tabLst>
            </a:pPr>
            <a:r>
              <a:rPr sz="4396" u="heavy" spc="-7" dirty="0">
                <a:solidFill>
                  <a:srgbClr val="EF8E1C"/>
                </a:solidFill>
                <a:uFill>
                  <a:solidFill>
                    <a:srgbClr val="F49F23"/>
                  </a:solidFill>
                </a:uFill>
                <a:latin typeface="Calibri"/>
                <a:cs typeface="Calibri"/>
                <a:hlinkClick r:id="rId2"/>
              </a:rPr>
              <a:t>http://www.speech.sri.com/projects/srilm/</a:t>
            </a:r>
            <a:endParaRPr sz="4396">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04553" y="744410"/>
            <a:ext cx="1193699" cy="1201747"/>
          </a:xfrm>
          <a:prstGeom prst="rect">
            <a:avLst/>
          </a:prstGeom>
        </p:spPr>
      </p:pic>
      <p:sp>
        <p:nvSpPr>
          <p:cNvPr id="3" name="object 3"/>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4" name="object 4"/>
          <p:cNvGrpSpPr/>
          <p:nvPr/>
        </p:nvGrpSpPr>
        <p:grpSpPr>
          <a:xfrm>
            <a:off x="621527" y="345321"/>
            <a:ext cx="12568433" cy="7078903"/>
            <a:chOff x="452435" y="1308648"/>
            <a:chExt cx="9149080" cy="5153025"/>
          </a:xfrm>
        </p:grpSpPr>
        <p:sp>
          <p:nvSpPr>
            <p:cNvPr id="5" name="object 5"/>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6" name="object 6"/>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pic>
          <p:nvPicPr>
            <p:cNvPr id="7" name="object 7"/>
            <p:cNvPicPr/>
            <p:nvPr/>
          </p:nvPicPr>
          <p:blipFill>
            <a:blip r:embed="rId3" cstate="print"/>
            <a:stretch>
              <a:fillRect/>
            </a:stretch>
          </p:blipFill>
          <p:spPr>
            <a:xfrm>
              <a:off x="457200" y="2665962"/>
              <a:ext cx="9143998" cy="1391878"/>
            </a:xfrm>
            <a:prstGeom prst="rect">
              <a:avLst/>
            </a:prstGeom>
          </p:spPr>
        </p:pic>
        <p:pic>
          <p:nvPicPr>
            <p:cNvPr id="8" name="object 8"/>
            <p:cNvPicPr/>
            <p:nvPr/>
          </p:nvPicPr>
          <p:blipFill>
            <a:blip r:embed="rId4" cstate="print"/>
            <a:stretch>
              <a:fillRect/>
            </a:stretch>
          </p:blipFill>
          <p:spPr>
            <a:xfrm>
              <a:off x="457200" y="4963841"/>
              <a:ext cx="9143998" cy="826319"/>
            </a:xfrm>
            <a:prstGeom prst="rect">
              <a:avLst/>
            </a:prstGeom>
          </p:spPr>
        </p:pic>
      </p:grpSp>
      <p:sp>
        <p:nvSpPr>
          <p:cNvPr id="9" name="object 9"/>
          <p:cNvSpPr txBox="1">
            <a:spLocks noGrp="1"/>
          </p:cNvSpPr>
          <p:nvPr>
            <p:ph type="ctrTitle"/>
          </p:nvPr>
        </p:nvSpPr>
        <p:spPr>
          <a:xfrm>
            <a:off x="3445237" y="805472"/>
            <a:ext cx="12091279" cy="694104"/>
          </a:xfrm>
          <a:prstGeom prst="rect">
            <a:avLst/>
          </a:prstGeom>
        </p:spPr>
        <p:txBody>
          <a:bodyPr vert="horz" wrap="square" lIns="0" tIns="17446" rIns="0" bIns="0" rtlCol="0">
            <a:spAutoFit/>
          </a:bodyPr>
          <a:lstStyle/>
          <a:p>
            <a:pPr marL="129100">
              <a:spcBef>
                <a:spcPts val="137"/>
              </a:spcBef>
            </a:pPr>
            <a:r>
              <a:rPr dirty="0"/>
              <a:t>Goo</a:t>
            </a:r>
            <a:r>
              <a:rPr spc="-7" dirty="0"/>
              <a:t>g</a:t>
            </a:r>
            <a:r>
              <a:rPr dirty="0"/>
              <a:t>le N</a:t>
            </a:r>
            <a:r>
              <a:rPr spc="-900" dirty="0"/>
              <a:t>-­‐</a:t>
            </a:r>
            <a:r>
              <a:rPr dirty="0"/>
              <a:t>Gram Rel</a:t>
            </a:r>
            <a:r>
              <a:rPr spc="-7" dirty="0"/>
              <a:t>e</a:t>
            </a:r>
            <a:r>
              <a:rPr dirty="0"/>
              <a:t>a</a:t>
            </a:r>
            <a:r>
              <a:rPr spc="-7" dirty="0"/>
              <a:t>se</a:t>
            </a:r>
            <a:r>
              <a:rPr dirty="0"/>
              <a:t>, A</a:t>
            </a:r>
            <a:r>
              <a:rPr spc="-7" dirty="0"/>
              <a:t>ugus</a:t>
            </a:r>
            <a:r>
              <a:rPr dirty="0"/>
              <a:t>t </a:t>
            </a:r>
            <a:r>
              <a:rPr spc="-7" dirty="0"/>
              <a:t>200</a:t>
            </a:r>
            <a:r>
              <a:rPr dirty="0"/>
              <a:t>6</a:t>
            </a:r>
          </a:p>
        </p:txBody>
      </p:sp>
      <p:sp>
        <p:nvSpPr>
          <p:cNvPr id="10" name="object 10"/>
          <p:cNvSpPr txBox="1"/>
          <p:nvPr/>
        </p:nvSpPr>
        <p:spPr>
          <a:xfrm>
            <a:off x="2175174" y="4497783"/>
            <a:ext cx="453608" cy="524999"/>
          </a:xfrm>
          <a:prstGeom prst="rect">
            <a:avLst/>
          </a:prstGeom>
        </p:spPr>
        <p:txBody>
          <a:bodyPr vert="horz" wrap="square" lIns="0" tIns="17446" rIns="0" bIns="0" rtlCol="0">
            <a:spAutoFit/>
          </a:bodyPr>
          <a:lstStyle/>
          <a:p>
            <a:pPr marL="17446">
              <a:spcBef>
                <a:spcPts val="137"/>
              </a:spcBef>
            </a:pPr>
            <a:r>
              <a:rPr sz="3297" dirty="0">
                <a:latin typeface="Lucida Sans Unicode"/>
                <a:cs typeface="Lucida Sans Unicode"/>
              </a:rPr>
              <a:t>…</a:t>
            </a:r>
            <a:endParaRPr sz="3297">
              <a:latin typeface="Lucida Sans Unicode"/>
              <a:cs typeface="Lucida Sans Unicode"/>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5542742" cy="704837"/>
          </a:xfrm>
          <a:prstGeom prst="rect">
            <a:avLst/>
          </a:prstGeom>
        </p:spPr>
        <p:txBody>
          <a:bodyPr vert="horz" wrap="square" lIns="0" tIns="17446" rIns="0" bIns="0" rtlCol="0">
            <a:spAutoFit/>
          </a:bodyPr>
          <a:lstStyle/>
          <a:p>
            <a:pPr marL="17446">
              <a:spcBef>
                <a:spcPts val="137"/>
              </a:spcBef>
            </a:pPr>
            <a:r>
              <a:rPr dirty="0">
                <a:latin typeface="Calibri"/>
                <a:cs typeface="Calibri"/>
              </a:rPr>
              <a:t>Goo</a:t>
            </a:r>
            <a:r>
              <a:rPr spc="-7" dirty="0">
                <a:latin typeface="Calibri"/>
                <a:cs typeface="Calibri"/>
              </a:rPr>
              <a:t>g</a:t>
            </a:r>
            <a:r>
              <a:rPr dirty="0">
                <a:latin typeface="Calibri"/>
                <a:cs typeface="Calibri"/>
              </a:rPr>
              <a:t>le N</a:t>
            </a:r>
            <a:r>
              <a:rPr spc="-900" dirty="0">
                <a:latin typeface="Calibri"/>
                <a:cs typeface="Calibri"/>
              </a:rPr>
              <a:t>-­‐</a:t>
            </a:r>
            <a:r>
              <a:rPr dirty="0">
                <a:latin typeface="Calibri"/>
                <a:cs typeface="Calibri"/>
              </a:rPr>
              <a:t>Gram Rel</a:t>
            </a:r>
            <a:r>
              <a:rPr spc="-7" dirty="0">
                <a:latin typeface="Calibri"/>
                <a:cs typeface="Calibri"/>
              </a:rPr>
              <a:t>e</a:t>
            </a:r>
            <a:r>
              <a:rPr dirty="0">
                <a:latin typeface="Calibri"/>
                <a:cs typeface="Calibri"/>
              </a:rPr>
              <a:t>a</a:t>
            </a:r>
            <a:r>
              <a:rPr spc="-7" dirty="0">
                <a:latin typeface="Calibri"/>
                <a:cs typeface="Calibri"/>
              </a:rPr>
              <a:t>s</a:t>
            </a:r>
            <a:r>
              <a:rPr dirty="0">
                <a:latin typeface="Calibri"/>
                <a:cs typeface="Calibri"/>
              </a:rPr>
              <a:t>e</a:t>
            </a:r>
          </a:p>
        </p:txBody>
      </p:sp>
      <p:sp>
        <p:nvSpPr>
          <p:cNvPr id="7" name="object 7"/>
          <p:cNvSpPr txBox="1"/>
          <p:nvPr/>
        </p:nvSpPr>
        <p:spPr>
          <a:xfrm>
            <a:off x="1154954" y="2193862"/>
            <a:ext cx="1448057" cy="4160871"/>
          </a:xfrm>
          <a:prstGeom prst="rect">
            <a:avLst/>
          </a:prstGeom>
        </p:spPr>
        <p:txBody>
          <a:bodyPr vert="horz" wrap="square" lIns="0" tIns="47105" rIns="0" bIns="0" rtlCol="0">
            <a:spAutoFit/>
          </a:bodyPr>
          <a:lstStyle/>
          <a:p>
            <a:pPr marL="488488" indent="-471042">
              <a:spcBef>
                <a:spcPts val="371"/>
              </a:spcBef>
              <a:buClr>
                <a:srgbClr val="CC0000"/>
              </a:buClr>
              <a:buFont typeface="Times New Roman"/>
              <a:buChar char="•"/>
              <a:tabLst>
                <a:tab pos="487615" algn="l"/>
                <a:tab pos="488488" algn="l"/>
              </a:tabLst>
            </a:pPr>
            <a:r>
              <a:rPr sz="2473" spc="-7" dirty="0">
                <a:solidFill>
                  <a:srgbClr val="333333"/>
                </a:solidFill>
                <a:latin typeface="Courier New"/>
                <a:cs typeface="Courier New"/>
              </a:rPr>
              <a:t>serve</a:t>
            </a:r>
            <a:endParaRPr sz="2473">
              <a:latin typeface="Courier New"/>
              <a:cs typeface="Courier New"/>
            </a:endParaRPr>
          </a:p>
          <a:p>
            <a:pPr marL="488488" indent="-471042">
              <a:spcBef>
                <a:spcPts val="234"/>
              </a:spcBef>
              <a:buClr>
                <a:srgbClr val="CC0000"/>
              </a:buClr>
              <a:buFont typeface="Times New Roman"/>
              <a:buChar char="•"/>
              <a:tabLst>
                <a:tab pos="487615" algn="l"/>
                <a:tab pos="488488" algn="l"/>
              </a:tabLst>
            </a:pPr>
            <a:r>
              <a:rPr sz="2473" spc="-7" dirty="0">
                <a:solidFill>
                  <a:srgbClr val="333333"/>
                </a:solidFill>
                <a:latin typeface="Courier New"/>
                <a:cs typeface="Courier New"/>
              </a:rPr>
              <a:t>serve</a:t>
            </a:r>
            <a:endParaRPr sz="2473">
              <a:latin typeface="Courier New"/>
              <a:cs typeface="Courier New"/>
            </a:endParaRPr>
          </a:p>
          <a:p>
            <a:pPr marL="488488" indent="-471042">
              <a:spcBef>
                <a:spcPts val="330"/>
              </a:spcBef>
              <a:buClr>
                <a:srgbClr val="CC0000"/>
              </a:buClr>
              <a:buFont typeface="Times New Roman"/>
              <a:buChar char="•"/>
              <a:tabLst>
                <a:tab pos="487615" algn="l"/>
                <a:tab pos="488488" algn="l"/>
              </a:tabLst>
            </a:pPr>
            <a:r>
              <a:rPr sz="2473" spc="-7" dirty="0">
                <a:solidFill>
                  <a:srgbClr val="333333"/>
                </a:solidFill>
                <a:latin typeface="Courier New"/>
                <a:cs typeface="Courier New"/>
              </a:rPr>
              <a:t>serve</a:t>
            </a:r>
            <a:endParaRPr sz="2473">
              <a:latin typeface="Courier New"/>
              <a:cs typeface="Courier New"/>
            </a:endParaRPr>
          </a:p>
          <a:p>
            <a:pPr marL="488488" indent="-471042">
              <a:spcBef>
                <a:spcPts val="192"/>
              </a:spcBef>
              <a:buClr>
                <a:srgbClr val="CC0000"/>
              </a:buClr>
              <a:buFont typeface="Times New Roman"/>
              <a:buChar char="•"/>
              <a:tabLst>
                <a:tab pos="487615" algn="l"/>
                <a:tab pos="488488" algn="l"/>
              </a:tabLst>
            </a:pPr>
            <a:r>
              <a:rPr sz="2473" spc="-7" dirty="0">
                <a:solidFill>
                  <a:srgbClr val="333333"/>
                </a:solidFill>
                <a:latin typeface="Courier New"/>
                <a:cs typeface="Courier New"/>
              </a:rPr>
              <a:t>serve</a:t>
            </a:r>
            <a:endParaRPr sz="2473">
              <a:latin typeface="Courier New"/>
              <a:cs typeface="Courier New"/>
            </a:endParaRPr>
          </a:p>
          <a:p>
            <a:pPr marL="488488" indent="-471042">
              <a:spcBef>
                <a:spcPts val="330"/>
              </a:spcBef>
              <a:buClr>
                <a:srgbClr val="CC0000"/>
              </a:buClr>
              <a:buFont typeface="Times New Roman"/>
              <a:buChar char="•"/>
              <a:tabLst>
                <a:tab pos="487615" algn="l"/>
                <a:tab pos="488488" algn="l"/>
              </a:tabLst>
            </a:pPr>
            <a:r>
              <a:rPr sz="2473" spc="-7" dirty="0">
                <a:solidFill>
                  <a:srgbClr val="333333"/>
                </a:solidFill>
                <a:latin typeface="Courier New"/>
                <a:cs typeface="Courier New"/>
              </a:rPr>
              <a:t>serve</a:t>
            </a:r>
            <a:endParaRPr sz="2473">
              <a:latin typeface="Courier New"/>
              <a:cs typeface="Courier New"/>
            </a:endParaRPr>
          </a:p>
          <a:p>
            <a:pPr marL="488488" indent="-471042">
              <a:spcBef>
                <a:spcPts val="330"/>
              </a:spcBef>
              <a:buClr>
                <a:srgbClr val="CC0000"/>
              </a:buClr>
              <a:buFont typeface="Times New Roman"/>
              <a:buChar char="•"/>
              <a:tabLst>
                <a:tab pos="487615" algn="l"/>
                <a:tab pos="488488" algn="l"/>
              </a:tabLst>
            </a:pPr>
            <a:r>
              <a:rPr sz="2473" spc="-7" dirty="0">
                <a:solidFill>
                  <a:srgbClr val="333333"/>
                </a:solidFill>
                <a:latin typeface="Courier New"/>
                <a:cs typeface="Courier New"/>
              </a:rPr>
              <a:t>serve</a:t>
            </a:r>
            <a:endParaRPr sz="2473">
              <a:latin typeface="Courier New"/>
              <a:cs typeface="Courier New"/>
            </a:endParaRPr>
          </a:p>
          <a:p>
            <a:pPr marL="488488" indent="-471042">
              <a:spcBef>
                <a:spcPts val="330"/>
              </a:spcBef>
              <a:buClr>
                <a:srgbClr val="CC0000"/>
              </a:buClr>
              <a:buFont typeface="Times New Roman"/>
              <a:buChar char="•"/>
              <a:tabLst>
                <a:tab pos="487615" algn="l"/>
                <a:tab pos="488488" algn="l"/>
              </a:tabLst>
            </a:pPr>
            <a:r>
              <a:rPr sz="2473" spc="-7" dirty="0">
                <a:solidFill>
                  <a:srgbClr val="333333"/>
                </a:solidFill>
                <a:latin typeface="Courier New"/>
                <a:cs typeface="Courier New"/>
              </a:rPr>
              <a:t>serve</a:t>
            </a:r>
            <a:endParaRPr sz="2473">
              <a:latin typeface="Courier New"/>
              <a:cs typeface="Courier New"/>
            </a:endParaRPr>
          </a:p>
          <a:p>
            <a:pPr marL="488488" indent="-471042">
              <a:spcBef>
                <a:spcPts val="330"/>
              </a:spcBef>
              <a:buClr>
                <a:srgbClr val="CC0000"/>
              </a:buClr>
              <a:buFont typeface="Times New Roman"/>
              <a:buChar char="•"/>
              <a:tabLst>
                <a:tab pos="487615" algn="l"/>
                <a:tab pos="488488" algn="l"/>
              </a:tabLst>
            </a:pPr>
            <a:r>
              <a:rPr sz="2473" spc="-7" dirty="0">
                <a:solidFill>
                  <a:srgbClr val="333333"/>
                </a:solidFill>
                <a:latin typeface="Courier New"/>
                <a:cs typeface="Courier New"/>
              </a:rPr>
              <a:t>serve</a:t>
            </a:r>
            <a:endParaRPr sz="2473">
              <a:latin typeface="Courier New"/>
              <a:cs typeface="Courier New"/>
            </a:endParaRPr>
          </a:p>
          <a:p>
            <a:pPr marL="488488" indent="-471042">
              <a:spcBef>
                <a:spcPts val="192"/>
              </a:spcBef>
              <a:buClr>
                <a:srgbClr val="CC0000"/>
              </a:buClr>
              <a:buFont typeface="Times New Roman"/>
              <a:buChar char="•"/>
              <a:tabLst>
                <a:tab pos="487615" algn="l"/>
                <a:tab pos="488488" algn="l"/>
              </a:tabLst>
            </a:pPr>
            <a:r>
              <a:rPr sz="2473" spc="-7" dirty="0">
                <a:solidFill>
                  <a:srgbClr val="333333"/>
                </a:solidFill>
                <a:latin typeface="Courier New"/>
                <a:cs typeface="Courier New"/>
              </a:rPr>
              <a:t>serve</a:t>
            </a:r>
            <a:endParaRPr sz="2473">
              <a:latin typeface="Courier New"/>
              <a:cs typeface="Courier New"/>
            </a:endParaRPr>
          </a:p>
          <a:p>
            <a:pPr marL="488488" indent="-471042">
              <a:spcBef>
                <a:spcPts val="330"/>
              </a:spcBef>
              <a:buClr>
                <a:srgbClr val="CC0000"/>
              </a:buClr>
              <a:buFont typeface="Times New Roman"/>
              <a:buChar char="•"/>
              <a:tabLst>
                <a:tab pos="487615" algn="l"/>
                <a:tab pos="488488" algn="l"/>
              </a:tabLst>
            </a:pPr>
            <a:r>
              <a:rPr sz="2473" spc="-7" dirty="0">
                <a:solidFill>
                  <a:srgbClr val="333333"/>
                </a:solidFill>
                <a:latin typeface="Courier New"/>
                <a:cs typeface="Courier New"/>
              </a:rPr>
              <a:t>serve</a:t>
            </a:r>
            <a:endParaRPr sz="2473">
              <a:latin typeface="Courier New"/>
              <a:cs typeface="Courier New"/>
            </a:endParaRPr>
          </a:p>
        </p:txBody>
      </p:sp>
      <p:sp>
        <p:nvSpPr>
          <p:cNvPr id="8" name="object 8"/>
          <p:cNvSpPr txBox="1"/>
          <p:nvPr/>
        </p:nvSpPr>
        <p:spPr>
          <a:xfrm>
            <a:off x="2756576" y="2193861"/>
            <a:ext cx="4557889" cy="4182731"/>
          </a:xfrm>
          <a:prstGeom prst="rect">
            <a:avLst/>
          </a:prstGeom>
        </p:spPr>
        <p:txBody>
          <a:bodyPr vert="horz" wrap="square" lIns="0" tIns="17446" rIns="0" bIns="0" rtlCol="0">
            <a:spAutoFit/>
          </a:bodyPr>
          <a:lstStyle/>
          <a:p>
            <a:pPr marL="17446" marR="949062">
              <a:lnSpc>
                <a:spcPct val="108000"/>
              </a:lnSpc>
              <a:spcBef>
                <a:spcPts val="137"/>
              </a:spcBef>
            </a:pPr>
            <a:r>
              <a:rPr sz="2473" spc="-7" dirty="0">
                <a:solidFill>
                  <a:srgbClr val="333333"/>
                </a:solidFill>
                <a:latin typeface="Courier New"/>
                <a:cs typeface="Courier New"/>
              </a:rPr>
              <a:t>as the incoming </a:t>
            </a:r>
            <a:r>
              <a:rPr sz="2473" dirty="0">
                <a:solidFill>
                  <a:srgbClr val="333333"/>
                </a:solidFill>
                <a:latin typeface="Courier New"/>
                <a:cs typeface="Courier New"/>
              </a:rPr>
              <a:t>92 </a:t>
            </a:r>
            <a:r>
              <a:rPr sz="2473" spc="-1470" dirty="0">
                <a:solidFill>
                  <a:srgbClr val="333333"/>
                </a:solidFill>
                <a:latin typeface="Courier New"/>
                <a:cs typeface="Courier New"/>
              </a:rPr>
              <a:t> </a:t>
            </a:r>
            <a:r>
              <a:rPr sz="2473" spc="-7" dirty="0">
                <a:solidFill>
                  <a:srgbClr val="333333"/>
                </a:solidFill>
                <a:latin typeface="Courier New"/>
                <a:cs typeface="Courier New"/>
              </a:rPr>
              <a:t>as</a:t>
            </a:r>
            <a:r>
              <a:rPr sz="2473" spc="-48" dirty="0">
                <a:solidFill>
                  <a:srgbClr val="333333"/>
                </a:solidFill>
                <a:latin typeface="Courier New"/>
                <a:cs typeface="Courier New"/>
              </a:rPr>
              <a:t> </a:t>
            </a:r>
            <a:r>
              <a:rPr sz="2473" spc="-7" dirty="0">
                <a:solidFill>
                  <a:srgbClr val="333333"/>
                </a:solidFill>
                <a:latin typeface="Courier New"/>
                <a:cs typeface="Courier New"/>
              </a:rPr>
              <a:t>the</a:t>
            </a:r>
            <a:r>
              <a:rPr sz="2473" spc="-48" dirty="0">
                <a:solidFill>
                  <a:srgbClr val="333333"/>
                </a:solidFill>
                <a:latin typeface="Courier New"/>
                <a:cs typeface="Courier New"/>
              </a:rPr>
              <a:t> </a:t>
            </a:r>
            <a:r>
              <a:rPr sz="2473" spc="-7" dirty="0">
                <a:solidFill>
                  <a:srgbClr val="333333"/>
                </a:solidFill>
                <a:latin typeface="Courier New"/>
                <a:cs typeface="Courier New"/>
              </a:rPr>
              <a:t>incubator</a:t>
            </a:r>
            <a:r>
              <a:rPr sz="2473" spc="-41" dirty="0">
                <a:solidFill>
                  <a:srgbClr val="333333"/>
                </a:solidFill>
                <a:latin typeface="Courier New"/>
                <a:cs typeface="Courier New"/>
              </a:rPr>
              <a:t> </a:t>
            </a:r>
            <a:r>
              <a:rPr sz="2473" dirty="0">
                <a:solidFill>
                  <a:srgbClr val="333333"/>
                </a:solidFill>
                <a:latin typeface="Courier New"/>
                <a:cs typeface="Courier New"/>
              </a:rPr>
              <a:t>99</a:t>
            </a:r>
            <a:endParaRPr sz="2473">
              <a:latin typeface="Courier New"/>
              <a:cs typeface="Courier New"/>
            </a:endParaRPr>
          </a:p>
          <a:p>
            <a:pPr marL="17446" marR="383812">
              <a:lnSpc>
                <a:spcPct val="106500"/>
              </a:lnSpc>
              <a:spcBef>
                <a:spcPts val="131"/>
              </a:spcBef>
            </a:pPr>
            <a:r>
              <a:rPr sz="2473" spc="-7" dirty="0">
                <a:solidFill>
                  <a:srgbClr val="333333"/>
                </a:solidFill>
                <a:latin typeface="Courier New"/>
                <a:cs typeface="Courier New"/>
              </a:rPr>
              <a:t>as</a:t>
            </a:r>
            <a:r>
              <a:rPr sz="2473" spc="-48" dirty="0">
                <a:solidFill>
                  <a:srgbClr val="333333"/>
                </a:solidFill>
                <a:latin typeface="Courier New"/>
                <a:cs typeface="Courier New"/>
              </a:rPr>
              <a:t> </a:t>
            </a:r>
            <a:r>
              <a:rPr sz="2473" spc="-7" dirty="0">
                <a:solidFill>
                  <a:srgbClr val="333333"/>
                </a:solidFill>
                <a:latin typeface="Courier New"/>
                <a:cs typeface="Courier New"/>
              </a:rPr>
              <a:t>the</a:t>
            </a:r>
            <a:r>
              <a:rPr sz="2473" spc="-48" dirty="0">
                <a:solidFill>
                  <a:srgbClr val="333333"/>
                </a:solidFill>
                <a:latin typeface="Courier New"/>
                <a:cs typeface="Courier New"/>
              </a:rPr>
              <a:t> </a:t>
            </a:r>
            <a:r>
              <a:rPr sz="2473" spc="-7" dirty="0">
                <a:solidFill>
                  <a:srgbClr val="333333"/>
                </a:solidFill>
                <a:latin typeface="Courier New"/>
                <a:cs typeface="Courier New"/>
              </a:rPr>
              <a:t>independent</a:t>
            </a:r>
            <a:r>
              <a:rPr sz="2473" spc="-41" dirty="0">
                <a:solidFill>
                  <a:srgbClr val="333333"/>
                </a:solidFill>
                <a:latin typeface="Courier New"/>
                <a:cs typeface="Courier New"/>
              </a:rPr>
              <a:t> </a:t>
            </a:r>
            <a:r>
              <a:rPr sz="2473" dirty="0">
                <a:solidFill>
                  <a:srgbClr val="333333"/>
                </a:solidFill>
                <a:latin typeface="Courier New"/>
                <a:cs typeface="Courier New"/>
              </a:rPr>
              <a:t>794 </a:t>
            </a:r>
            <a:r>
              <a:rPr sz="2473" spc="-1463" dirty="0">
                <a:solidFill>
                  <a:srgbClr val="333333"/>
                </a:solidFill>
                <a:latin typeface="Courier New"/>
                <a:cs typeface="Courier New"/>
              </a:rPr>
              <a:t> </a:t>
            </a:r>
            <a:r>
              <a:rPr sz="2473" spc="-7" dirty="0">
                <a:solidFill>
                  <a:srgbClr val="333333"/>
                </a:solidFill>
                <a:latin typeface="Courier New"/>
                <a:cs typeface="Courier New"/>
              </a:rPr>
              <a:t>as</a:t>
            </a:r>
            <a:r>
              <a:rPr sz="2473" spc="-21" dirty="0">
                <a:solidFill>
                  <a:srgbClr val="333333"/>
                </a:solidFill>
                <a:latin typeface="Courier New"/>
                <a:cs typeface="Courier New"/>
              </a:rPr>
              <a:t> </a:t>
            </a:r>
            <a:r>
              <a:rPr sz="2473" spc="-7" dirty="0">
                <a:solidFill>
                  <a:srgbClr val="333333"/>
                </a:solidFill>
                <a:latin typeface="Courier New"/>
                <a:cs typeface="Courier New"/>
              </a:rPr>
              <a:t>the</a:t>
            </a:r>
            <a:r>
              <a:rPr sz="2473" spc="-21" dirty="0">
                <a:solidFill>
                  <a:srgbClr val="333333"/>
                </a:solidFill>
                <a:latin typeface="Courier New"/>
                <a:cs typeface="Courier New"/>
              </a:rPr>
              <a:t> </a:t>
            </a:r>
            <a:r>
              <a:rPr sz="2473" spc="-7" dirty="0">
                <a:solidFill>
                  <a:srgbClr val="333333"/>
                </a:solidFill>
                <a:latin typeface="Courier New"/>
                <a:cs typeface="Courier New"/>
              </a:rPr>
              <a:t>index</a:t>
            </a:r>
            <a:r>
              <a:rPr sz="2473" spc="-21" dirty="0">
                <a:solidFill>
                  <a:srgbClr val="333333"/>
                </a:solidFill>
                <a:latin typeface="Courier New"/>
                <a:cs typeface="Courier New"/>
              </a:rPr>
              <a:t> </a:t>
            </a:r>
            <a:r>
              <a:rPr sz="2473" dirty="0">
                <a:solidFill>
                  <a:srgbClr val="333333"/>
                </a:solidFill>
                <a:latin typeface="Courier New"/>
                <a:cs typeface="Courier New"/>
              </a:rPr>
              <a:t>223</a:t>
            </a:r>
            <a:endParaRPr sz="2473">
              <a:latin typeface="Courier New"/>
              <a:cs typeface="Courier New"/>
            </a:endParaRPr>
          </a:p>
          <a:p>
            <a:pPr marL="17446" marR="760645" algn="just">
              <a:lnSpc>
                <a:spcPct val="111100"/>
              </a:lnSpc>
              <a:spcBef>
                <a:spcPts val="7"/>
              </a:spcBef>
            </a:pPr>
            <a:r>
              <a:rPr sz="2473" spc="-7" dirty="0">
                <a:solidFill>
                  <a:srgbClr val="333333"/>
                </a:solidFill>
                <a:latin typeface="Courier New"/>
                <a:cs typeface="Courier New"/>
              </a:rPr>
              <a:t>as the indication </a:t>
            </a:r>
            <a:r>
              <a:rPr sz="2473" dirty="0">
                <a:solidFill>
                  <a:srgbClr val="333333"/>
                </a:solidFill>
                <a:latin typeface="Courier New"/>
                <a:cs typeface="Courier New"/>
              </a:rPr>
              <a:t>72 </a:t>
            </a:r>
            <a:r>
              <a:rPr sz="2473" spc="-1477" dirty="0">
                <a:solidFill>
                  <a:srgbClr val="333333"/>
                </a:solidFill>
                <a:latin typeface="Courier New"/>
                <a:cs typeface="Courier New"/>
              </a:rPr>
              <a:t> </a:t>
            </a:r>
            <a:r>
              <a:rPr sz="2473" spc="-7" dirty="0">
                <a:solidFill>
                  <a:srgbClr val="333333"/>
                </a:solidFill>
                <a:latin typeface="Courier New"/>
                <a:cs typeface="Courier New"/>
              </a:rPr>
              <a:t>as</a:t>
            </a:r>
            <a:r>
              <a:rPr sz="2473" spc="-48" dirty="0">
                <a:solidFill>
                  <a:srgbClr val="333333"/>
                </a:solidFill>
                <a:latin typeface="Courier New"/>
                <a:cs typeface="Courier New"/>
              </a:rPr>
              <a:t> </a:t>
            </a:r>
            <a:r>
              <a:rPr sz="2473" spc="-7" dirty="0">
                <a:solidFill>
                  <a:srgbClr val="333333"/>
                </a:solidFill>
                <a:latin typeface="Courier New"/>
                <a:cs typeface="Courier New"/>
              </a:rPr>
              <a:t>the</a:t>
            </a:r>
            <a:r>
              <a:rPr sz="2473" spc="-48" dirty="0">
                <a:solidFill>
                  <a:srgbClr val="333333"/>
                </a:solidFill>
                <a:latin typeface="Courier New"/>
                <a:cs typeface="Courier New"/>
              </a:rPr>
              <a:t> </a:t>
            </a:r>
            <a:r>
              <a:rPr sz="2473" spc="-7" dirty="0">
                <a:solidFill>
                  <a:srgbClr val="333333"/>
                </a:solidFill>
                <a:latin typeface="Courier New"/>
                <a:cs typeface="Courier New"/>
              </a:rPr>
              <a:t>indicator</a:t>
            </a:r>
            <a:r>
              <a:rPr sz="2473" spc="-41" dirty="0">
                <a:solidFill>
                  <a:srgbClr val="333333"/>
                </a:solidFill>
                <a:latin typeface="Courier New"/>
                <a:cs typeface="Courier New"/>
              </a:rPr>
              <a:t> </a:t>
            </a:r>
            <a:r>
              <a:rPr sz="2473" dirty="0">
                <a:solidFill>
                  <a:srgbClr val="333333"/>
                </a:solidFill>
                <a:latin typeface="Courier New"/>
                <a:cs typeface="Courier New"/>
              </a:rPr>
              <a:t>120 </a:t>
            </a:r>
            <a:r>
              <a:rPr sz="2473" spc="-1470" dirty="0">
                <a:solidFill>
                  <a:srgbClr val="333333"/>
                </a:solidFill>
                <a:latin typeface="Courier New"/>
                <a:cs typeface="Courier New"/>
              </a:rPr>
              <a:t> </a:t>
            </a:r>
            <a:r>
              <a:rPr sz="2473" spc="-7" dirty="0">
                <a:solidFill>
                  <a:srgbClr val="333333"/>
                </a:solidFill>
                <a:latin typeface="Courier New"/>
                <a:cs typeface="Courier New"/>
              </a:rPr>
              <a:t>as</a:t>
            </a:r>
            <a:r>
              <a:rPr sz="2473" spc="-48" dirty="0">
                <a:solidFill>
                  <a:srgbClr val="333333"/>
                </a:solidFill>
                <a:latin typeface="Courier New"/>
                <a:cs typeface="Courier New"/>
              </a:rPr>
              <a:t> </a:t>
            </a:r>
            <a:r>
              <a:rPr sz="2473" spc="-7" dirty="0">
                <a:solidFill>
                  <a:srgbClr val="333333"/>
                </a:solidFill>
                <a:latin typeface="Courier New"/>
                <a:cs typeface="Courier New"/>
              </a:rPr>
              <a:t>the</a:t>
            </a:r>
            <a:r>
              <a:rPr sz="2473" spc="-48" dirty="0">
                <a:solidFill>
                  <a:srgbClr val="333333"/>
                </a:solidFill>
                <a:latin typeface="Courier New"/>
                <a:cs typeface="Courier New"/>
              </a:rPr>
              <a:t> </a:t>
            </a:r>
            <a:r>
              <a:rPr sz="2473" spc="-7" dirty="0">
                <a:solidFill>
                  <a:srgbClr val="333333"/>
                </a:solidFill>
                <a:latin typeface="Courier New"/>
                <a:cs typeface="Courier New"/>
              </a:rPr>
              <a:t>indicators</a:t>
            </a:r>
            <a:r>
              <a:rPr sz="2473" spc="-41" dirty="0">
                <a:solidFill>
                  <a:srgbClr val="333333"/>
                </a:solidFill>
                <a:latin typeface="Courier New"/>
                <a:cs typeface="Courier New"/>
              </a:rPr>
              <a:t> </a:t>
            </a:r>
            <a:r>
              <a:rPr sz="2473" dirty="0">
                <a:solidFill>
                  <a:srgbClr val="333333"/>
                </a:solidFill>
                <a:latin typeface="Courier New"/>
                <a:cs typeface="Courier New"/>
              </a:rPr>
              <a:t>45</a:t>
            </a:r>
            <a:endParaRPr sz="2473">
              <a:latin typeface="Courier New"/>
              <a:cs typeface="Courier New"/>
            </a:endParaRPr>
          </a:p>
          <a:p>
            <a:pPr marL="17446" marR="6978">
              <a:lnSpc>
                <a:spcPct val="108800"/>
              </a:lnSpc>
              <a:spcBef>
                <a:spcPts val="62"/>
              </a:spcBef>
            </a:pPr>
            <a:r>
              <a:rPr sz="2473" spc="-7" dirty="0">
                <a:solidFill>
                  <a:srgbClr val="333333"/>
                </a:solidFill>
                <a:latin typeface="Courier New"/>
                <a:cs typeface="Courier New"/>
              </a:rPr>
              <a:t>as the indispensable </a:t>
            </a:r>
            <a:r>
              <a:rPr sz="2473" dirty="0">
                <a:solidFill>
                  <a:srgbClr val="333333"/>
                </a:solidFill>
                <a:latin typeface="Courier New"/>
                <a:cs typeface="Courier New"/>
              </a:rPr>
              <a:t>111 </a:t>
            </a:r>
            <a:r>
              <a:rPr sz="2473" spc="-1470" dirty="0">
                <a:solidFill>
                  <a:srgbClr val="333333"/>
                </a:solidFill>
                <a:latin typeface="Courier New"/>
                <a:cs typeface="Courier New"/>
              </a:rPr>
              <a:t> </a:t>
            </a:r>
            <a:r>
              <a:rPr sz="2473" spc="-7" dirty="0">
                <a:solidFill>
                  <a:srgbClr val="333333"/>
                </a:solidFill>
                <a:latin typeface="Courier New"/>
                <a:cs typeface="Courier New"/>
              </a:rPr>
              <a:t>as the indispensible </a:t>
            </a:r>
            <a:r>
              <a:rPr sz="2473" dirty="0">
                <a:solidFill>
                  <a:srgbClr val="333333"/>
                </a:solidFill>
                <a:latin typeface="Courier New"/>
                <a:cs typeface="Courier New"/>
              </a:rPr>
              <a:t>40 </a:t>
            </a:r>
            <a:r>
              <a:rPr sz="2473" spc="7" dirty="0">
                <a:solidFill>
                  <a:srgbClr val="333333"/>
                </a:solidFill>
                <a:latin typeface="Courier New"/>
                <a:cs typeface="Courier New"/>
              </a:rPr>
              <a:t> </a:t>
            </a:r>
            <a:r>
              <a:rPr sz="2473" spc="-7" dirty="0">
                <a:solidFill>
                  <a:srgbClr val="333333"/>
                </a:solidFill>
                <a:latin typeface="Courier New"/>
                <a:cs typeface="Courier New"/>
              </a:rPr>
              <a:t>as</a:t>
            </a:r>
            <a:r>
              <a:rPr sz="2473" spc="-27" dirty="0">
                <a:solidFill>
                  <a:srgbClr val="333333"/>
                </a:solidFill>
                <a:latin typeface="Courier New"/>
                <a:cs typeface="Courier New"/>
              </a:rPr>
              <a:t> </a:t>
            </a:r>
            <a:r>
              <a:rPr sz="2473" spc="-7" dirty="0">
                <a:solidFill>
                  <a:srgbClr val="333333"/>
                </a:solidFill>
                <a:latin typeface="Courier New"/>
                <a:cs typeface="Courier New"/>
              </a:rPr>
              <a:t>the</a:t>
            </a:r>
            <a:r>
              <a:rPr sz="2473" spc="-27" dirty="0">
                <a:solidFill>
                  <a:srgbClr val="333333"/>
                </a:solidFill>
                <a:latin typeface="Courier New"/>
                <a:cs typeface="Courier New"/>
              </a:rPr>
              <a:t> </a:t>
            </a:r>
            <a:r>
              <a:rPr sz="2473" spc="-7" dirty="0">
                <a:solidFill>
                  <a:srgbClr val="333333"/>
                </a:solidFill>
                <a:latin typeface="Courier New"/>
                <a:cs typeface="Courier New"/>
              </a:rPr>
              <a:t>individual</a:t>
            </a:r>
            <a:r>
              <a:rPr sz="2473" spc="-27" dirty="0">
                <a:solidFill>
                  <a:srgbClr val="333333"/>
                </a:solidFill>
                <a:latin typeface="Courier New"/>
                <a:cs typeface="Courier New"/>
              </a:rPr>
              <a:t> </a:t>
            </a:r>
            <a:r>
              <a:rPr sz="2473" dirty="0">
                <a:solidFill>
                  <a:srgbClr val="333333"/>
                </a:solidFill>
                <a:latin typeface="Courier New"/>
                <a:cs typeface="Courier New"/>
              </a:rPr>
              <a:t>234</a:t>
            </a:r>
            <a:endParaRPr sz="2473">
              <a:latin typeface="Courier New"/>
              <a:cs typeface="Courier New"/>
            </a:endParaRPr>
          </a:p>
        </p:txBody>
      </p:sp>
      <p:sp>
        <p:nvSpPr>
          <p:cNvPr id="9" name="object 9"/>
          <p:cNvSpPr txBox="1"/>
          <p:nvPr/>
        </p:nvSpPr>
        <p:spPr>
          <a:xfrm>
            <a:off x="945598" y="6756460"/>
            <a:ext cx="11571368" cy="355850"/>
          </a:xfrm>
          <a:prstGeom prst="rect">
            <a:avLst/>
          </a:prstGeom>
        </p:spPr>
        <p:txBody>
          <a:bodyPr vert="horz" wrap="square" lIns="0" tIns="17446" rIns="0" bIns="0" rtlCol="0">
            <a:spAutoFit/>
          </a:bodyPr>
          <a:lstStyle/>
          <a:p>
            <a:pPr marL="17446">
              <a:spcBef>
                <a:spcPts val="137"/>
              </a:spcBef>
            </a:pPr>
            <a:r>
              <a:rPr sz="2198" u="sng" spc="-55" dirty="0">
                <a:solidFill>
                  <a:srgbClr val="EF8E1C"/>
                </a:solidFill>
                <a:uFill>
                  <a:solidFill>
                    <a:srgbClr val="F49F23"/>
                  </a:solidFill>
                </a:uFill>
                <a:latin typeface="Lucida Sans Unicode"/>
                <a:cs typeface="Lucida Sans Unicode"/>
                <a:hlinkClick r:id="rId2"/>
              </a:rPr>
              <a:t>http://googleresearch.blogspot.com/2006/08/all-our-n-gram-are-belong-to-you.html</a:t>
            </a:r>
            <a:endParaRPr sz="2198">
              <a:latin typeface="Lucida Sans Unicode"/>
              <a:cs typeface="Lucida Sans Unicode"/>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5062090"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Google</a:t>
            </a:r>
            <a:r>
              <a:rPr spc="-34" dirty="0">
                <a:latin typeface="Calibri"/>
                <a:cs typeface="Calibri"/>
              </a:rPr>
              <a:t> </a:t>
            </a:r>
            <a:r>
              <a:rPr spc="-7" dirty="0">
                <a:latin typeface="Calibri"/>
                <a:cs typeface="Calibri"/>
              </a:rPr>
              <a:t>Book</a:t>
            </a:r>
            <a:r>
              <a:rPr spc="-27" dirty="0">
                <a:latin typeface="Calibri"/>
                <a:cs typeface="Calibri"/>
              </a:rPr>
              <a:t> </a:t>
            </a:r>
            <a:r>
              <a:rPr spc="-302" dirty="0">
                <a:latin typeface="Calibri"/>
                <a:cs typeface="Calibri"/>
              </a:rPr>
              <a:t>N-­‐grams</a:t>
            </a:r>
          </a:p>
        </p:txBody>
      </p:sp>
      <p:sp>
        <p:nvSpPr>
          <p:cNvPr id="7" name="object 7"/>
          <p:cNvSpPr txBox="1"/>
          <p:nvPr/>
        </p:nvSpPr>
        <p:spPr>
          <a:xfrm>
            <a:off x="1118039" y="2895600"/>
            <a:ext cx="5834970" cy="524999"/>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297" u="heavy" spc="-7" dirty="0">
                <a:solidFill>
                  <a:srgbClr val="EF8E1C"/>
                </a:solidFill>
                <a:uFill>
                  <a:solidFill>
                    <a:srgbClr val="F49F23"/>
                  </a:solidFill>
                </a:uFill>
                <a:latin typeface="Calibri"/>
                <a:cs typeface="Calibri"/>
                <a:hlinkClick r:id="rId2"/>
              </a:rPr>
              <a:t>http://ngrams.googlelabs.com/</a:t>
            </a:r>
            <a:endParaRPr sz="3297" dirty="0">
              <a:latin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subTitle" idx="4"/>
          </p:nvPr>
        </p:nvSpPr>
        <p:spPr>
          <a:xfrm>
            <a:off x="-254000" y="4243974"/>
            <a:ext cx="15968070" cy="672611"/>
          </a:xfrm>
          <a:prstGeom prst="rect">
            <a:avLst/>
          </a:prstGeom>
        </p:spPr>
        <p:txBody>
          <a:bodyPr vert="horz" wrap="square" lIns="0" tIns="6106" rIns="0" bIns="0" rtlCol="0">
            <a:spAutoFit/>
          </a:bodyPr>
          <a:lstStyle/>
          <a:p>
            <a:pPr marL="7019394" marR="6978" indent="-694349">
              <a:lnSpc>
                <a:spcPct val="101600"/>
              </a:lnSpc>
              <a:spcBef>
                <a:spcPts val="48"/>
              </a:spcBef>
            </a:pPr>
            <a:r>
              <a:rPr spc="-14" dirty="0">
                <a:solidFill>
                  <a:srgbClr val="A50021"/>
                </a:solidFill>
                <a:latin typeface="Calibri"/>
                <a:cs typeface="Calibri"/>
              </a:rPr>
              <a:t>Estimating </a:t>
            </a:r>
            <a:r>
              <a:rPr spc="-343" dirty="0">
                <a:solidFill>
                  <a:srgbClr val="A50021"/>
                </a:solidFill>
                <a:latin typeface="Calibri"/>
                <a:cs typeface="Calibri"/>
              </a:rPr>
              <a:t>N-­‐gram </a:t>
            </a:r>
            <a:r>
              <a:rPr spc="-975" dirty="0">
                <a:solidFill>
                  <a:srgbClr val="A50021"/>
                </a:solidFill>
                <a:latin typeface="Calibri"/>
                <a:cs typeface="Calibri"/>
              </a:rPr>
              <a:t> </a:t>
            </a:r>
            <a:r>
              <a:rPr spc="-7" dirty="0">
                <a:solidFill>
                  <a:srgbClr val="A50021"/>
                </a:solidFill>
                <a:latin typeface="Calibri"/>
                <a:cs typeface="Calibri"/>
              </a:rPr>
              <a:t>Probabilities</a:t>
            </a:r>
          </a:p>
        </p:txBody>
      </p:sp>
      <p:sp>
        <p:nvSpPr>
          <p:cNvPr id="3" name="object 3"/>
          <p:cNvSpPr txBox="1"/>
          <p:nvPr/>
        </p:nvSpPr>
        <p:spPr>
          <a:xfrm>
            <a:off x="7994328" y="1634179"/>
            <a:ext cx="3069705" cy="1873466"/>
          </a:xfrm>
          <a:prstGeom prst="rect">
            <a:avLst/>
          </a:prstGeom>
        </p:spPr>
        <p:txBody>
          <a:bodyPr vert="horz" wrap="square" lIns="0" tIns="13085" rIns="0" bIns="0" rtlCol="0">
            <a:spAutoFit/>
          </a:bodyPr>
          <a:lstStyle/>
          <a:p>
            <a:pPr marL="17446" marR="6978" indent="6978">
              <a:lnSpc>
                <a:spcPct val="100400"/>
              </a:lnSpc>
              <a:spcBef>
                <a:spcPts val="103"/>
              </a:spcBef>
            </a:pPr>
            <a:r>
              <a:rPr sz="6044" b="1" dirty="0">
                <a:latin typeface="Calibri"/>
                <a:cs typeface="Calibri"/>
              </a:rPr>
              <a:t>Language  </a:t>
            </a:r>
            <a:r>
              <a:rPr sz="6044" b="1" spc="-7" dirty="0">
                <a:latin typeface="Calibri"/>
                <a:cs typeface="Calibri"/>
              </a:rPr>
              <a:t>Mode</a:t>
            </a:r>
            <a:r>
              <a:rPr sz="6044" b="1" dirty="0">
                <a:latin typeface="Calibri"/>
                <a:cs typeface="Calibri"/>
              </a:rPr>
              <a:t>li</a:t>
            </a:r>
            <a:r>
              <a:rPr sz="6044" b="1" spc="-7" dirty="0">
                <a:latin typeface="Calibri"/>
                <a:cs typeface="Calibri"/>
              </a:rPr>
              <a:t>n</a:t>
            </a:r>
            <a:r>
              <a:rPr sz="6044" b="1" dirty="0">
                <a:latin typeface="Calibri"/>
                <a:cs typeface="Calibri"/>
              </a:rPr>
              <a:t>g</a:t>
            </a:r>
            <a:endParaRPr sz="6044">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31772" y="4183107"/>
            <a:ext cx="3395954" cy="1362499"/>
          </a:xfrm>
          <a:prstGeom prst="rect">
            <a:avLst/>
          </a:prstGeom>
        </p:spPr>
        <p:txBody>
          <a:bodyPr vert="horz" wrap="square" lIns="0" tIns="6106" rIns="0" bIns="0" rtlCol="0">
            <a:spAutoFit/>
          </a:bodyPr>
          <a:lstStyle/>
          <a:p>
            <a:pPr marL="562633" marR="6978" indent="-545187">
              <a:lnSpc>
                <a:spcPct val="101600"/>
              </a:lnSpc>
              <a:spcBef>
                <a:spcPts val="48"/>
              </a:spcBef>
            </a:pPr>
            <a:r>
              <a:rPr sz="4396" spc="-7" dirty="0">
                <a:solidFill>
                  <a:srgbClr val="A50021"/>
                </a:solidFill>
                <a:latin typeface="Calibri"/>
                <a:cs typeface="Calibri"/>
              </a:rPr>
              <a:t>Evaluation</a:t>
            </a:r>
            <a:r>
              <a:rPr sz="4396" spc="-110" dirty="0">
                <a:solidFill>
                  <a:srgbClr val="A50021"/>
                </a:solidFill>
                <a:latin typeface="Calibri"/>
                <a:cs typeface="Calibri"/>
              </a:rPr>
              <a:t> </a:t>
            </a:r>
            <a:r>
              <a:rPr sz="4396" dirty="0">
                <a:solidFill>
                  <a:srgbClr val="A50021"/>
                </a:solidFill>
                <a:latin typeface="Calibri"/>
                <a:cs typeface="Calibri"/>
              </a:rPr>
              <a:t>and </a:t>
            </a:r>
            <a:r>
              <a:rPr sz="4396" spc="-968" dirty="0">
                <a:solidFill>
                  <a:srgbClr val="A50021"/>
                </a:solidFill>
                <a:latin typeface="Calibri"/>
                <a:cs typeface="Calibri"/>
              </a:rPr>
              <a:t> </a:t>
            </a:r>
            <a:r>
              <a:rPr sz="4396" spc="-7" dirty="0">
                <a:solidFill>
                  <a:srgbClr val="A50021"/>
                </a:solidFill>
                <a:latin typeface="Calibri"/>
                <a:cs typeface="Calibri"/>
              </a:rPr>
              <a:t>Perplexity</a:t>
            </a:r>
            <a:endParaRPr sz="4396">
              <a:latin typeface="Calibri"/>
              <a:cs typeface="Calibri"/>
            </a:endParaRPr>
          </a:p>
        </p:txBody>
      </p:sp>
      <p:sp>
        <p:nvSpPr>
          <p:cNvPr id="3" name="object 3"/>
          <p:cNvSpPr txBox="1"/>
          <p:nvPr/>
        </p:nvSpPr>
        <p:spPr>
          <a:xfrm>
            <a:off x="7994328" y="1634179"/>
            <a:ext cx="3069705" cy="1873466"/>
          </a:xfrm>
          <a:prstGeom prst="rect">
            <a:avLst/>
          </a:prstGeom>
        </p:spPr>
        <p:txBody>
          <a:bodyPr vert="horz" wrap="square" lIns="0" tIns="13085" rIns="0" bIns="0" rtlCol="0">
            <a:spAutoFit/>
          </a:bodyPr>
          <a:lstStyle/>
          <a:p>
            <a:pPr marL="17446" marR="6978" indent="6978">
              <a:lnSpc>
                <a:spcPct val="100400"/>
              </a:lnSpc>
              <a:spcBef>
                <a:spcPts val="103"/>
              </a:spcBef>
            </a:pPr>
            <a:r>
              <a:rPr sz="6044" b="1" dirty="0">
                <a:latin typeface="Calibri"/>
                <a:cs typeface="Calibri"/>
              </a:rPr>
              <a:t>Language  </a:t>
            </a:r>
            <a:r>
              <a:rPr sz="6044" b="1" spc="-7" dirty="0">
                <a:latin typeface="Calibri"/>
                <a:cs typeface="Calibri"/>
              </a:rPr>
              <a:t>Mode</a:t>
            </a:r>
            <a:r>
              <a:rPr sz="6044" b="1" dirty="0">
                <a:latin typeface="Calibri"/>
                <a:cs typeface="Calibri"/>
              </a:rPr>
              <a:t>li</a:t>
            </a:r>
            <a:r>
              <a:rPr sz="6044" b="1" spc="-7" dirty="0">
                <a:latin typeface="Calibri"/>
                <a:cs typeface="Calibri"/>
              </a:rPr>
              <a:t>n</a:t>
            </a:r>
            <a:r>
              <a:rPr sz="6044" b="1" dirty="0">
                <a:latin typeface="Calibri"/>
                <a:cs typeface="Calibri"/>
              </a:rPr>
              <a:t>g</a:t>
            </a:r>
            <a:endParaRPr sz="6044">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8396111" cy="704837"/>
          </a:xfrm>
          <a:prstGeom prst="rect">
            <a:avLst/>
          </a:prstGeom>
        </p:spPr>
        <p:txBody>
          <a:bodyPr vert="horz" wrap="square" lIns="0" tIns="17446" rIns="0" bIns="0" rtlCol="0">
            <a:spAutoFit/>
          </a:bodyPr>
          <a:lstStyle/>
          <a:p>
            <a:pPr marL="17446">
              <a:spcBef>
                <a:spcPts val="137"/>
              </a:spcBef>
            </a:pPr>
            <a:r>
              <a:rPr lang="en-US" spc="-7" dirty="0">
                <a:latin typeface="Calibri"/>
                <a:cs typeface="Calibri"/>
              </a:rPr>
              <a:t>Types of Evaluation</a:t>
            </a:r>
            <a:endParaRPr dirty="0">
              <a:latin typeface="Calibri"/>
              <a:cs typeface="Calibri"/>
            </a:endParaRPr>
          </a:p>
        </p:txBody>
      </p:sp>
      <p:pic>
        <p:nvPicPr>
          <p:cNvPr id="9" name="Picture 8">
            <a:extLst>
              <a:ext uri="{FF2B5EF4-FFF2-40B4-BE49-F238E27FC236}">
                <a16:creationId xmlns:a16="http://schemas.microsoft.com/office/drawing/2014/main" id="{5693E6D7-EF95-20E7-9428-F25F45920DE5}"/>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Lst>
          </a:blip>
          <a:srcRect t="25862"/>
          <a:stretch/>
        </p:blipFill>
        <p:spPr>
          <a:xfrm>
            <a:off x="1580396" y="2743200"/>
            <a:ext cx="10194630" cy="35052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8396111"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Evaluation:</a:t>
            </a:r>
            <a:r>
              <a:rPr spc="-21" dirty="0">
                <a:latin typeface="Calibri"/>
                <a:cs typeface="Calibri"/>
              </a:rPr>
              <a:t> </a:t>
            </a:r>
            <a:r>
              <a:rPr dirty="0">
                <a:latin typeface="Calibri"/>
                <a:cs typeface="Calibri"/>
              </a:rPr>
              <a:t>How</a:t>
            </a:r>
            <a:r>
              <a:rPr spc="-21" dirty="0">
                <a:latin typeface="Calibri"/>
                <a:cs typeface="Calibri"/>
              </a:rPr>
              <a:t> </a:t>
            </a:r>
            <a:r>
              <a:rPr spc="-7" dirty="0">
                <a:latin typeface="Calibri"/>
                <a:cs typeface="Calibri"/>
              </a:rPr>
              <a:t>good</a:t>
            </a:r>
            <a:r>
              <a:rPr spc="-27" dirty="0">
                <a:latin typeface="Calibri"/>
                <a:cs typeface="Calibri"/>
              </a:rPr>
              <a:t> </a:t>
            </a:r>
            <a:r>
              <a:rPr dirty="0">
                <a:latin typeface="Calibri"/>
                <a:cs typeface="Calibri"/>
              </a:rPr>
              <a:t>is</a:t>
            </a:r>
            <a:r>
              <a:rPr spc="-14" dirty="0">
                <a:latin typeface="Calibri"/>
                <a:cs typeface="Calibri"/>
              </a:rPr>
              <a:t> </a:t>
            </a:r>
            <a:r>
              <a:rPr dirty="0">
                <a:latin typeface="Calibri"/>
                <a:cs typeface="Calibri"/>
              </a:rPr>
              <a:t>our</a:t>
            </a:r>
            <a:r>
              <a:rPr spc="-14" dirty="0">
                <a:latin typeface="Calibri"/>
                <a:cs typeface="Calibri"/>
              </a:rPr>
              <a:t> </a:t>
            </a:r>
            <a:r>
              <a:rPr dirty="0">
                <a:latin typeface="Calibri"/>
                <a:cs typeface="Calibri"/>
              </a:rPr>
              <a:t>model?</a:t>
            </a:r>
          </a:p>
        </p:txBody>
      </p:sp>
      <p:sp>
        <p:nvSpPr>
          <p:cNvPr id="7" name="object 7"/>
          <p:cNvSpPr txBox="1"/>
          <p:nvPr/>
        </p:nvSpPr>
        <p:spPr>
          <a:xfrm>
            <a:off x="1118039" y="2590800"/>
            <a:ext cx="11048845" cy="4272293"/>
          </a:xfrm>
          <a:prstGeom prst="rect">
            <a:avLst/>
          </a:prstGeom>
        </p:spPr>
        <p:txBody>
          <a:bodyPr vert="horz" wrap="square" lIns="0" tIns="101189" rIns="0" bIns="0" rtlCol="0">
            <a:spAutoFit/>
          </a:bodyPr>
          <a:lstStyle/>
          <a:p>
            <a:pPr marL="488488" indent="-471042">
              <a:spcBef>
                <a:spcPts val="797"/>
              </a:spcBef>
              <a:buClr>
                <a:srgbClr val="CC0000"/>
              </a:buClr>
              <a:buFont typeface="Times New Roman"/>
              <a:buChar char="•"/>
              <a:tabLst>
                <a:tab pos="487615" algn="l"/>
                <a:tab pos="488488" algn="l"/>
              </a:tabLst>
            </a:pPr>
            <a:r>
              <a:rPr sz="3297" spc="-7" dirty="0">
                <a:latin typeface="Calibri"/>
                <a:cs typeface="Calibri"/>
              </a:rPr>
              <a:t>Does</a:t>
            </a:r>
            <a:r>
              <a:rPr sz="3297" spc="7" dirty="0">
                <a:latin typeface="Calibri"/>
                <a:cs typeface="Calibri"/>
              </a:rPr>
              <a:t> </a:t>
            </a:r>
            <a:r>
              <a:rPr sz="3297" spc="-7" dirty="0">
                <a:latin typeface="Calibri"/>
                <a:cs typeface="Calibri"/>
              </a:rPr>
              <a:t>our</a:t>
            </a:r>
            <a:r>
              <a:rPr sz="3297" spc="7" dirty="0">
                <a:latin typeface="Calibri"/>
                <a:cs typeface="Calibri"/>
              </a:rPr>
              <a:t> </a:t>
            </a:r>
            <a:r>
              <a:rPr sz="3297" spc="-7" dirty="0">
                <a:latin typeface="Calibri"/>
                <a:cs typeface="Calibri"/>
              </a:rPr>
              <a:t>language</a:t>
            </a:r>
            <a:r>
              <a:rPr sz="3297" spc="14" dirty="0">
                <a:latin typeface="Calibri"/>
                <a:cs typeface="Calibri"/>
              </a:rPr>
              <a:t> </a:t>
            </a:r>
            <a:r>
              <a:rPr sz="3297" spc="-7" dirty="0">
                <a:latin typeface="Calibri"/>
                <a:cs typeface="Calibri"/>
              </a:rPr>
              <a:t>model</a:t>
            </a:r>
            <a:r>
              <a:rPr sz="3297" spc="7" dirty="0">
                <a:latin typeface="Calibri"/>
                <a:cs typeface="Calibri"/>
              </a:rPr>
              <a:t> </a:t>
            </a:r>
            <a:r>
              <a:rPr sz="3297" spc="-7" dirty="0">
                <a:latin typeface="Calibri"/>
                <a:cs typeface="Calibri"/>
              </a:rPr>
              <a:t>prefer</a:t>
            </a:r>
            <a:r>
              <a:rPr sz="3297" spc="14" dirty="0">
                <a:latin typeface="Calibri"/>
                <a:cs typeface="Calibri"/>
              </a:rPr>
              <a:t> </a:t>
            </a:r>
            <a:r>
              <a:rPr sz="3297" spc="-7" dirty="0">
                <a:latin typeface="Calibri"/>
                <a:cs typeface="Calibri"/>
              </a:rPr>
              <a:t>good</a:t>
            </a:r>
            <a:r>
              <a:rPr sz="3297" spc="7" dirty="0">
                <a:latin typeface="Calibri"/>
                <a:cs typeface="Calibri"/>
              </a:rPr>
              <a:t> </a:t>
            </a:r>
            <a:r>
              <a:rPr sz="3297" spc="-7" dirty="0">
                <a:latin typeface="Calibri"/>
                <a:cs typeface="Calibri"/>
              </a:rPr>
              <a:t>sentences</a:t>
            </a:r>
            <a:r>
              <a:rPr sz="3297" spc="7" dirty="0">
                <a:latin typeface="Calibri"/>
                <a:cs typeface="Calibri"/>
              </a:rPr>
              <a:t> </a:t>
            </a:r>
            <a:r>
              <a:rPr sz="3297" dirty="0">
                <a:latin typeface="Calibri"/>
                <a:cs typeface="Calibri"/>
              </a:rPr>
              <a:t>to</a:t>
            </a:r>
            <a:r>
              <a:rPr sz="3297" spc="14" dirty="0">
                <a:latin typeface="Calibri"/>
                <a:cs typeface="Calibri"/>
              </a:rPr>
              <a:t> </a:t>
            </a:r>
            <a:r>
              <a:rPr sz="3297" dirty="0">
                <a:latin typeface="Calibri"/>
                <a:cs typeface="Calibri"/>
              </a:rPr>
              <a:t>bad</a:t>
            </a:r>
            <a:r>
              <a:rPr sz="3297" spc="7" dirty="0">
                <a:latin typeface="Calibri"/>
                <a:cs typeface="Calibri"/>
              </a:rPr>
              <a:t> </a:t>
            </a:r>
            <a:r>
              <a:rPr sz="3297" spc="-7" dirty="0">
                <a:latin typeface="Calibri"/>
                <a:cs typeface="Calibri"/>
              </a:rPr>
              <a:t>ones?</a:t>
            </a:r>
            <a:endParaRPr sz="3297" dirty="0">
              <a:latin typeface="Calibri"/>
              <a:cs typeface="Calibri"/>
            </a:endParaRPr>
          </a:p>
          <a:p>
            <a:pPr marL="959529" lvl="1" indent="-314028">
              <a:spcBef>
                <a:spcPts val="549"/>
              </a:spcBef>
              <a:buFont typeface="Times New Roman"/>
              <a:buChar char="•"/>
              <a:tabLst>
                <a:tab pos="958657" algn="l"/>
                <a:tab pos="959529" algn="l"/>
              </a:tabLst>
            </a:pPr>
            <a:r>
              <a:rPr sz="2747" dirty="0">
                <a:latin typeface="Calibri"/>
                <a:cs typeface="Calibri"/>
              </a:rPr>
              <a:t>Assign</a:t>
            </a:r>
            <a:r>
              <a:rPr sz="2747" spc="14" dirty="0">
                <a:latin typeface="Calibri"/>
                <a:cs typeface="Calibri"/>
              </a:rPr>
              <a:t> </a:t>
            </a:r>
            <a:r>
              <a:rPr sz="2747" dirty="0">
                <a:latin typeface="Calibri"/>
                <a:cs typeface="Calibri"/>
              </a:rPr>
              <a:t>higher</a:t>
            </a:r>
            <a:r>
              <a:rPr sz="2747" spc="14" dirty="0">
                <a:latin typeface="Calibri"/>
                <a:cs typeface="Calibri"/>
              </a:rPr>
              <a:t> </a:t>
            </a:r>
            <a:r>
              <a:rPr sz="2747" spc="-7" dirty="0">
                <a:latin typeface="Calibri"/>
                <a:cs typeface="Calibri"/>
              </a:rPr>
              <a:t>probability</a:t>
            </a:r>
            <a:r>
              <a:rPr sz="2747" spc="7" dirty="0">
                <a:latin typeface="Calibri"/>
                <a:cs typeface="Calibri"/>
              </a:rPr>
              <a:t> </a:t>
            </a:r>
            <a:r>
              <a:rPr sz="2747" dirty="0">
                <a:latin typeface="Calibri"/>
                <a:cs typeface="Calibri"/>
              </a:rPr>
              <a:t>to</a:t>
            </a:r>
            <a:r>
              <a:rPr sz="2747" spc="14" dirty="0">
                <a:latin typeface="Calibri"/>
                <a:cs typeface="Calibri"/>
              </a:rPr>
              <a:t> </a:t>
            </a:r>
            <a:r>
              <a:rPr sz="2747" spc="-7" dirty="0">
                <a:latin typeface="Calibri"/>
                <a:cs typeface="Calibri"/>
              </a:rPr>
              <a:t>“real”</a:t>
            </a:r>
            <a:r>
              <a:rPr sz="2747" spc="14" dirty="0">
                <a:latin typeface="Calibri"/>
                <a:cs typeface="Calibri"/>
              </a:rPr>
              <a:t> </a:t>
            </a:r>
            <a:r>
              <a:rPr sz="2747" spc="-7" dirty="0">
                <a:latin typeface="Calibri"/>
                <a:cs typeface="Calibri"/>
              </a:rPr>
              <a:t>or</a:t>
            </a:r>
            <a:r>
              <a:rPr sz="2747" spc="14" dirty="0">
                <a:latin typeface="Calibri"/>
                <a:cs typeface="Calibri"/>
              </a:rPr>
              <a:t> </a:t>
            </a:r>
            <a:r>
              <a:rPr sz="2747" spc="-7" dirty="0">
                <a:latin typeface="Calibri"/>
                <a:cs typeface="Calibri"/>
              </a:rPr>
              <a:t>“frequently</a:t>
            </a:r>
            <a:r>
              <a:rPr sz="2747" spc="14" dirty="0">
                <a:latin typeface="Calibri"/>
                <a:cs typeface="Calibri"/>
              </a:rPr>
              <a:t> </a:t>
            </a:r>
            <a:r>
              <a:rPr sz="2747" spc="-7" dirty="0">
                <a:latin typeface="Calibri"/>
                <a:cs typeface="Calibri"/>
              </a:rPr>
              <a:t>observed”</a:t>
            </a:r>
            <a:r>
              <a:rPr sz="2747" spc="14" dirty="0">
                <a:latin typeface="Calibri"/>
                <a:cs typeface="Calibri"/>
              </a:rPr>
              <a:t> </a:t>
            </a:r>
            <a:r>
              <a:rPr sz="2747" spc="-7" dirty="0">
                <a:latin typeface="Calibri"/>
                <a:cs typeface="Calibri"/>
              </a:rPr>
              <a:t>sentences</a:t>
            </a:r>
            <a:endParaRPr sz="2747" dirty="0">
              <a:latin typeface="Calibri"/>
              <a:cs typeface="Calibri"/>
            </a:endParaRPr>
          </a:p>
          <a:p>
            <a:pPr marL="313156" marR="1762917" lvl="2" indent="-313156" algn="r">
              <a:spcBef>
                <a:spcPts val="687"/>
              </a:spcBef>
              <a:buClr>
                <a:srgbClr val="CC0000"/>
              </a:buClr>
              <a:buFont typeface="Times New Roman"/>
              <a:buChar char="•"/>
              <a:tabLst>
                <a:tab pos="313156" algn="l"/>
                <a:tab pos="314028" algn="l"/>
              </a:tabLst>
            </a:pPr>
            <a:r>
              <a:rPr sz="2747" dirty="0">
                <a:latin typeface="Calibri"/>
                <a:cs typeface="Calibri"/>
              </a:rPr>
              <a:t>Than</a:t>
            </a:r>
            <a:r>
              <a:rPr sz="2747" spc="21" dirty="0">
                <a:latin typeface="Calibri"/>
                <a:cs typeface="Calibri"/>
              </a:rPr>
              <a:t> </a:t>
            </a:r>
            <a:r>
              <a:rPr sz="2747" spc="-7" dirty="0">
                <a:latin typeface="Calibri"/>
                <a:cs typeface="Calibri"/>
              </a:rPr>
              <a:t>“ungrammatical”</a:t>
            </a:r>
            <a:r>
              <a:rPr sz="2747" spc="27" dirty="0">
                <a:latin typeface="Calibri"/>
                <a:cs typeface="Calibri"/>
              </a:rPr>
              <a:t> </a:t>
            </a:r>
            <a:r>
              <a:rPr sz="2747" spc="-7" dirty="0">
                <a:latin typeface="Calibri"/>
                <a:cs typeface="Calibri"/>
              </a:rPr>
              <a:t>or</a:t>
            </a:r>
            <a:r>
              <a:rPr sz="2747" spc="27" dirty="0">
                <a:latin typeface="Calibri"/>
                <a:cs typeface="Calibri"/>
              </a:rPr>
              <a:t> </a:t>
            </a:r>
            <a:r>
              <a:rPr sz="2747" spc="-7" dirty="0">
                <a:latin typeface="Calibri"/>
                <a:cs typeface="Calibri"/>
              </a:rPr>
              <a:t>“rarely</a:t>
            </a:r>
            <a:r>
              <a:rPr sz="2747" spc="21" dirty="0">
                <a:latin typeface="Calibri"/>
                <a:cs typeface="Calibri"/>
              </a:rPr>
              <a:t> </a:t>
            </a:r>
            <a:r>
              <a:rPr sz="2747" spc="-7" dirty="0">
                <a:latin typeface="Calibri"/>
                <a:cs typeface="Calibri"/>
              </a:rPr>
              <a:t>observed”</a:t>
            </a:r>
            <a:r>
              <a:rPr sz="2747" spc="27" dirty="0">
                <a:latin typeface="Calibri"/>
                <a:cs typeface="Calibri"/>
              </a:rPr>
              <a:t> </a:t>
            </a:r>
            <a:r>
              <a:rPr sz="2747" spc="-7" dirty="0">
                <a:latin typeface="Calibri"/>
                <a:cs typeface="Calibri"/>
              </a:rPr>
              <a:t>sentences?</a:t>
            </a:r>
            <a:endParaRPr sz="2747" dirty="0">
              <a:latin typeface="Calibri"/>
              <a:cs typeface="Calibri"/>
            </a:endParaRPr>
          </a:p>
          <a:p>
            <a:pPr marL="470169" marR="1705346" indent="-470169" algn="r">
              <a:spcBef>
                <a:spcPts val="817"/>
              </a:spcBef>
              <a:buClr>
                <a:srgbClr val="CC0000"/>
              </a:buClr>
              <a:buFont typeface="Times New Roman"/>
              <a:buChar char="•"/>
              <a:tabLst>
                <a:tab pos="470169" algn="l"/>
                <a:tab pos="488488" algn="l"/>
              </a:tabLst>
            </a:pPr>
            <a:r>
              <a:rPr sz="3297" spc="-7" dirty="0">
                <a:latin typeface="Calibri"/>
                <a:cs typeface="Calibri"/>
              </a:rPr>
              <a:t>We</a:t>
            </a:r>
            <a:r>
              <a:rPr sz="3297" dirty="0">
                <a:latin typeface="Calibri"/>
                <a:cs typeface="Calibri"/>
              </a:rPr>
              <a:t> </a:t>
            </a:r>
            <a:r>
              <a:rPr sz="3297" spc="-7" dirty="0">
                <a:latin typeface="Calibri"/>
                <a:cs typeface="Calibri"/>
              </a:rPr>
              <a:t>train</a:t>
            </a:r>
            <a:r>
              <a:rPr sz="3297" dirty="0">
                <a:latin typeface="Calibri"/>
                <a:cs typeface="Calibri"/>
              </a:rPr>
              <a:t> </a:t>
            </a:r>
            <a:r>
              <a:rPr sz="3297" spc="-7" dirty="0">
                <a:latin typeface="Calibri"/>
                <a:cs typeface="Calibri"/>
              </a:rPr>
              <a:t>parameters</a:t>
            </a:r>
            <a:r>
              <a:rPr sz="3297" dirty="0">
                <a:latin typeface="Calibri"/>
                <a:cs typeface="Calibri"/>
              </a:rPr>
              <a:t> </a:t>
            </a:r>
            <a:r>
              <a:rPr sz="3297" spc="-7" dirty="0">
                <a:latin typeface="Calibri"/>
                <a:cs typeface="Calibri"/>
              </a:rPr>
              <a:t>of</a:t>
            </a:r>
            <a:r>
              <a:rPr sz="3297" dirty="0">
                <a:latin typeface="Calibri"/>
                <a:cs typeface="Calibri"/>
              </a:rPr>
              <a:t> </a:t>
            </a:r>
            <a:r>
              <a:rPr sz="3297" spc="-7" dirty="0">
                <a:latin typeface="Calibri"/>
                <a:cs typeface="Calibri"/>
              </a:rPr>
              <a:t>our</a:t>
            </a:r>
            <a:r>
              <a:rPr sz="3297" dirty="0">
                <a:latin typeface="Calibri"/>
                <a:cs typeface="Calibri"/>
              </a:rPr>
              <a:t> </a:t>
            </a:r>
            <a:r>
              <a:rPr sz="3297" spc="-7" dirty="0">
                <a:latin typeface="Calibri"/>
                <a:cs typeface="Calibri"/>
              </a:rPr>
              <a:t>model</a:t>
            </a:r>
            <a:r>
              <a:rPr sz="3297" spc="7" dirty="0">
                <a:latin typeface="Calibri"/>
                <a:cs typeface="Calibri"/>
              </a:rPr>
              <a:t> </a:t>
            </a:r>
            <a:r>
              <a:rPr sz="3297" spc="-7" dirty="0">
                <a:latin typeface="Calibri"/>
                <a:cs typeface="Calibri"/>
              </a:rPr>
              <a:t>on</a:t>
            </a:r>
            <a:r>
              <a:rPr sz="3297" dirty="0">
                <a:latin typeface="Calibri"/>
                <a:cs typeface="Calibri"/>
              </a:rPr>
              <a:t> a </a:t>
            </a:r>
            <a:r>
              <a:rPr sz="3297" b="1" dirty="0">
                <a:solidFill>
                  <a:srgbClr val="008000"/>
                </a:solidFill>
                <a:latin typeface="Calibri"/>
                <a:cs typeface="Calibri"/>
              </a:rPr>
              <a:t>training </a:t>
            </a:r>
            <a:r>
              <a:rPr sz="3297" b="1" spc="-7" dirty="0">
                <a:solidFill>
                  <a:srgbClr val="008000"/>
                </a:solidFill>
                <a:latin typeface="Calibri"/>
                <a:cs typeface="Calibri"/>
              </a:rPr>
              <a:t>set</a:t>
            </a:r>
            <a:r>
              <a:rPr sz="3297" spc="-7" dirty="0">
                <a:latin typeface="Calibri"/>
                <a:cs typeface="Calibri"/>
              </a:rPr>
              <a:t>.</a:t>
            </a:r>
            <a:endParaRPr sz="3297" dirty="0">
              <a:latin typeface="Calibri"/>
              <a:cs typeface="Calibri"/>
            </a:endParaRPr>
          </a:p>
          <a:p>
            <a:pPr marL="488488" indent="-471042">
              <a:spcBef>
                <a:spcPts val="714"/>
              </a:spcBef>
              <a:buClr>
                <a:srgbClr val="CC0000"/>
              </a:buClr>
              <a:buFont typeface="Times New Roman"/>
              <a:buChar char="•"/>
              <a:tabLst>
                <a:tab pos="487615" algn="l"/>
                <a:tab pos="488488" algn="l"/>
              </a:tabLst>
            </a:pPr>
            <a:r>
              <a:rPr sz="3297" spc="-7" dirty="0">
                <a:latin typeface="Calibri"/>
                <a:cs typeface="Calibri"/>
              </a:rPr>
              <a:t>We</a:t>
            </a:r>
            <a:r>
              <a:rPr sz="3297" dirty="0">
                <a:latin typeface="Calibri"/>
                <a:cs typeface="Calibri"/>
              </a:rPr>
              <a:t> </a:t>
            </a:r>
            <a:r>
              <a:rPr sz="3297" spc="-7" dirty="0">
                <a:latin typeface="Calibri"/>
                <a:cs typeface="Calibri"/>
              </a:rPr>
              <a:t>test</a:t>
            </a:r>
            <a:r>
              <a:rPr sz="3297" dirty="0">
                <a:latin typeface="Calibri"/>
                <a:cs typeface="Calibri"/>
              </a:rPr>
              <a:t> the</a:t>
            </a:r>
            <a:r>
              <a:rPr sz="3297" spc="7" dirty="0">
                <a:latin typeface="Calibri"/>
                <a:cs typeface="Calibri"/>
              </a:rPr>
              <a:t> </a:t>
            </a:r>
            <a:r>
              <a:rPr sz="3297" spc="-7" dirty="0">
                <a:latin typeface="Calibri"/>
                <a:cs typeface="Calibri"/>
              </a:rPr>
              <a:t>model’s</a:t>
            </a:r>
            <a:r>
              <a:rPr sz="3297" dirty="0">
                <a:latin typeface="Calibri"/>
                <a:cs typeface="Calibri"/>
              </a:rPr>
              <a:t> </a:t>
            </a:r>
            <a:r>
              <a:rPr sz="3297" spc="-7" dirty="0">
                <a:latin typeface="Calibri"/>
                <a:cs typeface="Calibri"/>
              </a:rPr>
              <a:t>performance</a:t>
            </a:r>
            <a:r>
              <a:rPr sz="3297" dirty="0">
                <a:latin typeface="Calibri"/>
                <a:cs typeface="Calibri"/>
              </a:rPr>
              <a:t> </a:t>
            </a:r>
            <a:r>
              <a:rPr sz="3297" spc="-7" dirty="0">
                <a:latin typeface="Calibri"/>
                <a:cs typeface="Calibri"/>
              </a:rPr>
              <a:t>on</a:t>
            </a:r>
            <a:r>
              <a:rPr sz="3297" spc="7" dirty="0">
                <a:latin typeface="Calibri"/>
                <a:cs typeface="Calibri"/>
              </a:rPr>
              <a:t> </a:t>
            </a:r>
            <a:r>
              <a:rPr sz="3297" dirty="0">
                <a:latin typeface="Calibri"/>
                <a:cs typeface="Calibri"/>
              </a:rPr>
              <a:t>data </a:t>
            </a:r>
            <a:r>
              <a:rPr sz="3297" spc="-7" dirty="0">
                <a:latin typeface="Calibri"/>
                <a:cs typeface="Calibri"/>
              </a:rPr>
              <a:t>we</a:t>
            </a:r>
            <a:r>
              <a:rPr sz="3297" spc="7" dirty="0">
                <a:latin typeface="Calibri"/>
                <a:cs typeface="Calibri"/>
              </a:rPr>
              <a:t> </a:t>
            </a:r>
            <a:r>
              <a:rPr sz="3297" spc="-7" dirty="0">
                <a:latin typeface="Calibri"/>
                <a:cs typeface="Calibri"/>
              </a:rPr>
              <a:t>haven’t</a:t>
            </a:r>
            <a:r>
              <a:rPr sz="3297" dirty="0">
                <a:latin typeface="Calibri"/>
                <a:cs typeface="Calibri"/>
              </a:rPr>
              <a:t> seen.</a:t>
            </a:r>
          </a:p>
          <a:p>
            <a:pPr marL="959529" marR="368110" lvl="1" indent="-314028">
              <a:lnSpc>
                <a:spcPct val="100800"/>
              </a:lnSpc>
              <a:spcBef>
                <a:spcPts val="694"/>
              </a:spcBef>
              <a:buFont typeface="Times New Roman"/>
              <a:buChar char="•"/>
              <a:tabLst>
                <a:tab pos="958657" algn="l"/>
                <a:tab pos="959529" algn="l"/>
              </a:tabLst>
            </a:pPr>
            <a:r>
              <a:rPr sz="2747" dirty="0">
                <a:latin typeface="Calibri"/>
                <a:cs typeface="Calibri"/>
              </a:rPr>
              <a:t>A </a:t>
            </a:r>
            <a:r>
              <a:rPr sz="2747" b="1" spc="-7" dirty="0">
                <a:solidFill>
                  <a:srgbClr val="008000"/>
                </a:solidFill>
                <a:latin typeface="Calibri"/>
                <a:cs typeface="Calibri"/>
              </a:rPr>
              <a:t>test set </a:t>
            </a:r>
            <a:r>
              <a:rPr sz="2747" dirty="0">
                <a:latin typeface="Calibri"/>
                <a:cs typeface="Calibri"/>
              </a:rPr>
              <a:t>is an</a:t>
            </a:r>
            <a:r>
              <a:rPr sz="2747" spc="7" dirty="0">
                <a:latin typeface="Calibri"/>
                <a:cs typeface="Calibri"/>
              </a:rPr>
              <a:t> </a:t>
            </a:r>
            <a:r>
              <a:rPr sz="2747" dirty="0">
                <a:latin typeface="Calibri"/>
                <a:cs typeface="Calibri"/>
              </a:rPr>
              <a:t>unseen dataset that is</a:t>
            </a:r>
            <a:r>
              <a:rPr sz="2747" spc="7" dirty="0">
                <a:latin typeface="Calibri"/>
                <a:cs typeface="Calibri"/>
              </a:rPr>
              <a:t> </a:t>
            </a:r>
            <a:r>
              <a:rPr sz="2747" spc="-7" dirty="0">
                <a:latin typeface="Calibri"/>
                <a:cs typeface="Calibri"/>
              </a:rPr>
              <a:t>diﬀerent</a:t>
            </a:r>
            <a:r>
              <a:rPr sz="2747" dirty="0">
                <a:latin typeface="Calibri"/>
                <a:cs typeface="Calibri"/>
              </a:rPr>
              <a:t> </a:t>
            </a:r>
            <a:r>
              <a:rPr sz="2747" spc="-7" dirty="0">
                <a:latin typeface="Calibri"/>
                <a:cs typeface="Calibri"/>
              </a:rPr>
              <a:t>from</a:t>
            </a:r>
            <a:r>
              <a:rPr sz="2747" dirty="0">
                <a:latin typeface="Calibri"/>
                <a:cs typeface="Calibri"/>
              </a:rPr>
              <a:t> </a:t>
            </a:r>
            <a:r>
              <a:rPr sz="2747" spc="-7" dirty="0">
                <a:latin typeface="Calibri"/>
                <a:cs typeface="Calibri"/>
              </a:rPr>
              <a:t>our</a:t>
            </a:r>
            <a:r>
              <a:rPr sz="2747" dirty="0">
                <a:latin typeface="Calibri"/>
                <a:cs typeface="Calibri"/>
              </a:rPr>
              <a:t> </a:t>
            </a:r>
            <a:r>
              <a:rPr sz="2747" spc="-7" dirty="0">
                <a:latin typeface="Calibri"/>
                <a:cs typeface="Calibri"/>
              </a:rPr>
              <a:t>training</a:t>
            </a:r>
            <a:r>
              <a:rPr sz="2747" dirty="0">
                <a:latin typeface="Calibri"/>
                <a:cs typeface="Calibri"/>
              </a:rPr>
              <a:t> set, </a:t>
            </a:r>
            <a:r>
              <a:rPr sz="2747" spc="-596" dirty="0">
                <a:latin typeface="Calibri"/>
                <a:cs typeface="Calibri"/>
              </a:rPr>
              <a:t> </a:t>
            </a:r>
            <a:r>
              <a:rPr sz="2747" dirty="0">
                <a:latin typeface="Calibri"/>
                <a:cs typeface="Calibri"/>
              </a:rPr>
              <a:t>totally</a:t>
            </a:r>
            <a:r>
              <a:rPr sz="2747" spc="-7" dirty="0">
                <a:latin typeface="Calibri"/>
                <a:cs typeface="Calibri"/>
              </a:rPr>
              <a:t> </a:t>
            </a:r>
            <a:r>
              <a:rPr sz="2747" dirty="0">
                <a:latin typeface="Calibri"/>
                <a:cs typeface="Calibri"/>
              </a:rPr>
              <a:t>unused.</a:t>
            </a:r>
          </a:p>
          <a:p>
            <a:pPr marL="959529" lvl="1" indent="-314028">
              <a:spcBef>
                <a:spcPts val="659"/>
              </a:spcBef>
              <a:buFont typeface="Times New Roman"/>
              <a:buChar char="•"/>
              <a:tabLst>
                <a:tab pos="958657" algn="l"/>
                <a:tab pos="959529" algn="l"/>
              </a:tabLst>
            </a:pPr>
            <a:r>
              <a:rPr sz="2747" dirty="0">
                <a:latin typeface="Calibri"/>
                <a:cs typeface="Calibri"/>
              </a:rPr>
              <a:t>An </a:t>
            </a:r>
            <a:r>
              <a:rPr sz="2747" b="1" spc="-7" dirty="0">
                <a:solidFill>
                  <a:srgbClr val="008000"/>
                </a:solidFill>
                <a:latin typeface="Calibri"/>
                <a:cs typeface="Calibri"/>
              </a:rPr>
              <a:t>evaluation</a:t>
            </a:r>
            <a:r>
              <a:rPr sz="2747" b="1" dirty="0">
                <a:solidFill>
                  <a:srgbClr val="008000"/>
                </a:solidFill>
                <a:latin typeface="Calibri"/>
                <a:cs typeface="Calibri"/>
              </a:rPr>
              <a:t> </a:t>
            </a:r>
            <a:r>
              <a:rPr sz="2747" b="1" spc="-7" dirty="0">
                <a:solidFill>
                  <a:srgbClr val="008000"/>
                </a:solidFill>
                <a:latin typeface="Calibri"/>
                <a:cs typeface="Calibri"/>
              </a:rPr>
              <a:t>metric</a:t>
            </a:r>
            <a:r>
              <a:rPr sz="2747" b="1" spc="14" dirty="0">
                <a:solidFill>
                  <a:srgbClr val="008000"/>
                </a:solidFill>
                <a:latin typeface="Calibri"/>
                <a:cs typeface="Calibri"/>
              </a:rPr>
              <a:t> </a:t>
            </a:r>
            <a:r>
              <a:rPr sz="2747" spc="-7" dirty="0">
                <a:latin typeface="Calibri"/>
                <a:cs typeface="Calibri"/>
              </a:rPr>
              <a:t>tells</a:t>
            </a:r>
            <a:r>
              <a:rPr sz="2747" dirty="0">
                <a:latin typeface="Calibri"/>
                <a:cs typeface="Calibri"/>
              </a:rPr>
              <a:t> us </a:t>
            </a:r>
            <a:r>
              <a:rPr sz="2747" spc="-7" dirty="0">
                <a:latin typeface="Calibri"/>
                <a:cs typeface="Calibri"/>
              </a:rPr>
              <a:t>how</a:t>
            </a:r>
            <a:r>
              <a:rPr sz="2747" dirty="0">
                <a:latin typeface="Calibri"/>
                <a:cs typeface="Calibri"/>
              </a:rPr>
              <a:t> </a:t>
            </a:r>
            <a:r>
              <a:rPr sz="2747" spc="-7" dirty="0">
                <a:latin typeface="Calibri"/>
                <a:cs typeface="Calibri"/>
              </a:rPr>
              <a:t>well</a:t>
            </a:r>
            <a:r>
              <a:rPr sz="2747" spc="7" dirty="0">
                <a:latin typeface="Calibri"/>
                <a:cs typeface="Calibri"/>
              </a:rPr>
              <a:t> </a:t>
            </a:r>
            <a:r>
              <a:rPr sz="2747" spc="-7" dirty="0">
                <a:latin typeface="Calibri"/>
                <a:cs typeface="Calibri"/>
              </a:rPr>
              <a:t>our</a:t>
            </a:r>
            <a:r>
              <a:rPr sz="2747" dirty="0">
                <a:latin typeface="Calibri"/>
                <a:cs typeface="Calibri"/>
              </a:rPr>
              <a:t> </a:t>
            </a:r>
            <a:r>
              <a:rPr sz="2747" spc="-7" dirty="0">
                <a:latin typeface="Calibri"/>
                <a:cs typeface="Calibri"/>
              </a:rPr>
              <a:t>model</a:t>
            </a:r>
            <a:r>
              <a:rPr sz="2747" dirty="0">
                <a:latin typeface="Calibri"/>
                <a:cs typeface="Calibri"/>
              </a:rPr>
              <a:t> </a:t>
            </a:r>
            <a:r>
              <a:rPr sz="2747" spc="-7" dirty="0">
                <a:latin typeface="Calibri"/>
                <a:cs typeface="Calibri"/>
              </a:rPr>
              <a:t>does</a:t>
            </a:r>
            <a:r>
              <a:rPr sz="2747" dirty="0">
                <a:latin typeface="Calibri"/>
                <a:cs typeface="Calibri"/>
              </a:rPr>
              <a:t> </a:t>
            </a:r>
            <a:r>
              <a:rPr sz="2747" spc="-7" dirty="0">
                <a:latin typeface="Calibri"/>
                <a:cs typeface="Calibri"/>
              </a:rPr>
              <a:t>on</a:t>
            </a:r>
            <a:r>
              <a:rPr sz="2747" dirty="0">
                <a:latin typeface="Calibri"/>
                <a:cs typeface="Calibri"/>
              </a:rPr>
              <a:t> the </a:t>
            </a:r>
            <a:r>
              <a:rPr sz="2747" spc="-7" dirty="0">
                <a:latin typeface="Calibri"/>
                <a:cs typeface="Calibri"/>
              </a:rPr>
              <a:t>test</a:t>
            </a:r>
            <a:r>
              <a:rPr sz="2747" spc="7" dirty="0">
                <a:latin typeface="Calibri"/>
                <a:cs typeface="Calibri"/>
              </a:rPr>
              <a:t> </a:t>
            </a:r>
            <a:r>
              <a:rPr sz="2747" dirty="0">
                <a:latin typeface="Calibri"/>
                <a:cs typeface="Calibri"/>
              </a:rPr>
              <a:t>set.</a:t>
            </a:r>
          </a:p>
        </p:txBody>
      </p:sp>
    </p:spTree>
    <p:extLst>
      <p:ext uri="{BB962C8B-B14F-4D97-AF65-F5344CB8AC3E}">
        <p14:creationId xmlns:p14="http://schemas.microsoft.com/office/powerpoint/2010/main" val="1008953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8860187" cy="704837"/>
          </a:xfrm>
          <a:prstGeom prst="rect">
            <a:avLst/>
          </a:prstGeom>
        </p:spPr>
        <p:txBody>
          <a:bodyPr vert="horz" wrap="square" lIns="0" tIns="17446" rIns="0" bIns="0" rtlCol="0">
            <a:spAutoFit/>
          </a:bodyPr>
          <a:lstStyle/>
          <a:p>
            <a:pPr marL="17446">
              <a:spcBef>
                <a:spcPts val="137"/>
              </a:spcBef>
            </a:pPr>
            <a:r>
              <a:rPr dirty="0">
                <a:latin typeface="Calibri"/>
                <a:cs typeface="Calibri"/>
              </a:rPr>
              <a:t>Extrinsic e</a:t>
            </a:r>
            <a:r>
              <a:rPr spc="-14" dirty="0">
                <a:latin typeface="Calibri"/>
                <a:cs typeface="Calibri"/>
              </a:rPr>
              <a:t>valuat</a:t>
            </a:r>
            <a:r>
              <a:rPr spc="-7" dirty="0">
                <a:latin typeface="Calibri"/>
                <a:cs typeface="Calibri"/>
              </a:rPr>
              <a:t>i</a:t>
            </a:r>
            <a:r>
              <a:rPr dirty="0">
                <a:latin typeface="Calibri"/>
                <a:cs typeface="Calibri"/>
              </a:rPr>
              <a:t>on of </a:t>
            </a:r>
            <a:r>
              <a:rPr spc="-453" dirty="0">
                <a:latin typeface="Calibri"/>
                <a:cs typeface="Calibri"/>
              </a:rPr>
              <a:t>N-­‐gr</a:t>
            </a:r>
            <a:r>
              <a:rPr dirty="0">
                <a:latin typeface="Calibri"/>
                <a:cs typeface="Calibri"/>
              </a:rPr>
              <a:t>am models</a:t>
            </a:r>
          </a:p>
        </p:txBody>
      </p:sp>
      <p:sp>
        <p:nvSpPr>
          <p:cNvPr id="7" name="object 7"/>
          <p:cNvSpPr txBox="1"/>
          <p:nvPr/>
        </p:nvSpPr>
        <p:spPr>
          <a:xfrm>
            <a:off x="1118039" y="2514600"/>
            <a:ext cx="9850274" cy="4374994"/>
          </a:xfrm>
          <a:prstGeom prst="rect">
            <a:avLst/>
          </a:prstGeom>
        </p:spPr>
        <p:txBody>
          <a:bodyPr vert="horz" wrap="square" lIns="0" tIns="122125" rIns="0" bIns="0" rtlCol="0">
            <a:spAutoFit/>
          </a:bodyPr>
          <a:lstStyle/>
          <a:p>
            <a:pPr marL="488488" indent="-471042">
              <a:spcBef>
                <a:spcPts val="962"/>
              </a:spcBef>
              <a:buClr>
                <a:srgbClr val="CC0000"/>
              </a:buClr>
              <a:buFont typeface="Times New Roman"/>
              <a:buChar char="•"/>
              <a:tabLst>
                <a:tab pos="487615" algn="l"/>
                <a:tab pos="488488" algn="l"/>
              </a:tabLst>
            </a:pPr>
            <a:r>
              <a:rPr sz="3846" spc="-7" dirty="0">
                <a:latin typeface="Calibri"/>
                <a:cs typeface="Calibri"/>
              </a:rPr>
              <a:t>Best evaluation</a:t>
            </a:r>
            <a:r>
              <a:rPr sz="3846" dirty="0">
                <a:latin typeface="Calibri"/>
                <a:cs typeface="Calibri"/>
              </a:rPr>
              <a:t> </a:t>
            </a:r>
            <a:r>
              <a:rPr sz="3846" spc="-7" dirty="0">
                <a:latin typeface="Calibri"/>
                <a:cs typeface="Calibri"/>
              </a:rPr>
              <a:t>for</a:t>
            </a:r>
            <a:r>
              <a:rPr sz="3846" dirty="0">
                <a:latin typeface="Calibri"/>
                <a:cs typeface="Calibri"/>
              </a:rPr>
              <a:t> </a:t>
            </a:r>
            <a:r>
              <a:rPr sz="3846" spc="-7" dirty="0">
                <a:latin typeface="Calibri"/>
                <a:cs typeface="Calibri"/>
              </a:rPr>
              <a:t>comparing</a:t>
            </a:r>
            <a:r>
              <a:rPr sz="3846" dirty="0">
                <a:latin typeface="Calibri"/>
                <a:cs typeface="Calibri"/>
              </a:rPr>
              <a:t> </a:t>
            </a:r>
            <a:r>
              <a:rPr sz="3846" spc="-7" dirty="0">
                <a:latin typeface="Calibri"/>
                <a:cs typeface="Calibri"/>
              </a:rPr>
              <a:t>models</a:t>
            </a:r>
            <a:r>
              <a:rPr sz="3846" dirty="0">
                <a:latin typeface="Calibri"/>
                <a:cs typeface="Calibri"/>
              </a:rPr>
              <a:t> A and B</a:t>
            </a:r>
          </a:p>
          <a:p>
            <a:pPr marL="959529" lvl="1" indent="-314028">
              <a:spcBef>
                <a:spcPts val="707"/>
              </a:spcBef>
              <a:buFont typeface="Times New Roman"/>
              <a:buChar char="•"/>
              <a:tabLst>
                <a:tab pos="959529" algn="l"/>
              </a:tabLst>
            </a:pPr>
            <a:r>
              <a:rPr sz="3297" dirty="0">
                <a:latin typeface="Calibri"/>
                <a:cs typeface="Calibri"/>
              </a:rPr>
              <a:t>Put</a:t>
            </a:r>
            <a:r>
              <a:rPr sz="3297" spc="-21" dirty="0">
                <a:latin typeface="Calibri"/>
                <a:cs typeface="Calibri"/>
              </a:rPr>
              <a:t> </a:t>
            </a:r>
            <a:r>
              <a:rPr sz="3297" spc="-7" dirty="0">
                <a:latin typeface="Calibri"/>
                <a:cs typeface="Calibri"/>
              </a:rPr>
              <a:t>each</a:t>
            </a:r>
            <a:r>
              <a:rPr sz="3297" spc="-14" dirty="0">
                <a:latin typeface="Calibri"/>
                <a:cs typeface="Calibri"/>
              </a:rPr>
              <a:t> </a:t>
            </a:r>
            <a:r>
              <a:rPr sz="3297" spc="-7" dirty="0">
                <a:latin typeface="Calibri"/>
                <a:cs typeface="Calibri"/>
              </a:rPr>
              <a:t>model</a:t>
            </a:r>
            <a:r>
              <a:rPr sz="3297" spc="-14" dirty="0">
                <a:latin typeface="Calibri"/>
                <a:cs typeface="Calibri"/>
              </a:rPr>
              <a:t> </a:t>
            </a:r>
            <a:r>
              <a:rPr sz="3297" dirty="0">
                <a:latin typeface="Calibri"/>
                <a:cs typeface="Calibri"/>
              </a:rPr>
              <a:t>in</a:t>
            </a:r>
            <a:r>
              <a:rPr sz="3297" spc="-14" dirty="0">
                <a:latin typeface="Calibri"/>
                <a:cs typeface="Calibri"/>
              </a:rPr>
              <a:t> </a:t>
            </a:r>
            <a:r>
              <a:rPr sz="3297" dirty="0">
                <a:latin typeface="Calibri"/>
                <a:cs typeface="Calibri"/>
              </a:rPr>
              <a:t>a</a:t>
            </a:r>
            <a:r>
              <a:rPr sz="3297" spc="-14" dirty="0">
                <a:latin typeface="Calibri"/>
                <a:cs typeface="Calibri"/>
              </a:rPr>
              <a:t> </a:t>
            </a:r>
            <a:r>
              <a:rPr sz="3297" dirty="0">
                <a:latin typeface="Calibri"/>
                <a:cs typeface="Calibri"/>
              </a:rPr>
              <a:t>task</a:t>
            </a:r>
          </a:p>
          <a:p>
            <a:pPr marL="1524780" lvl="2" indent="-409108">
              <a:spcBef>
                <a:spcPts val="852"/>
              </a:spcBef>
              <a:buClr>
                <a:srgbClr val="CC0000"/>
              </a:buClr>
              <a:buFont typeface="Times New Roman"/>
              <a:buChar char="•"/>
              <a:tabLst>
                <a:tab pos="1524780" algn="l"/>
                <a:tab pos="1525652" algn="l"/>
              </a:tabLst>
            </a:pPr>
            <a:r>
              <a:rPr sz="3297" dirty="0">
                <a:latin typeface="Calibri"/>
                <a:cs typeface="Calibri"/>
              </a:rPr>
              <a:t>spelling</a:t>
            </a:r>
            <a:r>
              <a:rPr sz="3297" spc="-7" dirty="0">
                <a:latin typeface="Calibri"/>
                <a:cs typeface="Calibri"/>
              </a:rPr>
              <a:t> corrector, </a:t>
            </a:r>
            <a:r>
              <a:rPr sz="3297" dirty="0">
                <a:latin typeface="Calibri"/>
                <a:cs typeface="Calibri"/>
              </a:rPr>
              <a:t>speech </a:t>
            </a:r>
            <a:r>
              <a:rPr sz="3297" spc="-7" dirty="0">
                <a:latin typeface="Calibri"/>
                <a:cs typeface="Calibri"/>
              </a:rPr>
              <a:t>recognizer, </a:t>
            </a:r>
            <a:r>
              <a:rPr sz="3297" dirty="0">
                <a:latin typeface="Calibri"/>
                <a:cs typeface="Calibri"/>
              </a:rPr>
              <a:t>MT </a:t>
            </a:r>
            <a:r>
              <a:rPr sz="3297" spc="-7" dirty="0">
                <a:latin typeface="Calibri"/>
                <a:cs typeface="Calibri"/>
              </a:rPr>
              <a:t>system</a:t>
            </a:r>
            <a:endParaRPr sz="3297" dirty="0">
              <a:latin typeface="Calibri"/>
              <a:cs typeface="Calibri"/>
            </a:endParaRPr>
          </a:p>
          <a:p>
            <a:pPr marL="959529" lvl="1" indent="-314028">
              <a:spcBef>
                <a:spcPts val="714"/>
              </a:spcBef>
              <a:buFont typeface="Times New Roman"/>
              <a:buChar char="•"/>
              <a:tabLst>
                <a:tab pos="959529" algn="l"/>
              </a:tabLst>
            </a:pPr>
            <a:r>
              <a:rPr sz="3297" dirty="0">
                <a:latin typeface="Calibri"/>
                <a:cs typeface="Calibri"/>
              </a:rPr>
              <a:t>Run</a:t>
            </a:r>
            <a:r>
              <a:rPr sz="3297" spc="-7" dirty="0">
                <a:latin typeface="Calibri"/>
                <a:cs typeface="Calibri"/>
              </a:rPr>
              <a:t> </a:t>
            </a:r>
            <a:r>
              <a:rPr sz="3297" dirty="0">
                <a:latin typeface="Calibri"/>
                <a:cs typeface="Calibri"/>
              </a:rPr>
              <a:t>the</a:t>
            </a:r>
            <a:r>
              <a:rPr sz="3297" spc="-7" dirty="0">
                <a:latin typeface="Calibri"/>
                <a:cs typeface="Calibri"/>
              </a:rPr>
              <a:t> </a:t>
            </a:r>
            <a:r>
              <a:rPr sz="3297" dirty="0">
                <a:latin typeface="Calibri"/>
                <a:cs typeface="Calibri"/>
              </a:rPr>
              <a:t>task,</a:t>
            </a:r>
            <a:r>
              <a:rPr sz="3297" spc="-7" dirty="0">
                <a:latin typeface="Calibri"/>
                <a:cs typeface="Calibri"/>
              </a:rPr>
              <a:t> </a:t>
            </a:r>
            <a:r>
              <a:rPr sz="3297" dirty="0">
                <a:latin typeface="Calibri"/>
                <a:cs typeface="Calibri"/>
              </a:rPr>
              <a:t>get</a:t>
            </a:r>
            <a:r>
              <a:rPr sz="3297" spc="-7" dirty="0">
                <a:latin typeface="Calibri"/>
                <a:cs typeface="Calibri"/>
              </a:rPr>
              <a:t> </a:t>
            </a:r>
            <a:r>
              <a:rPr sz="3297" dirty="0">
                <a:latin typeface="Calibri"/>
                <a:cs typeface="Calibri"/>
              </a:rPr>
              <a:t>an</a:t>
            </a:r>
            <a:r>
              <a:rPr sz="3297" spc="-7" dirty="0">
                <a:latin typeface="Calibri"/>
                <a:cs typeface="Calibri"/>
              </a:rPr>
              <a:t> accuracy for </a:t>
            </a:r>
            <a:r>
              <a:rPr sz="3297" dirty="0">
                <a:latin typeface="Calibri"/>
                <a:cs typeface="Calibri"/>
              </a:rPr>
              <a:t>A</a:t>
            </a:r>
            <a:r>
              <a:rPr sz="3297" spc="-7" dirty="0">
                <a:latin typeface="Calibri"/>
                <a:cs typeface="Calibri"/>
              </a:rPr>
              <a:t> </a:t>
            </a:r>
            <a:r>
              <a:rPr sz="3297" dirty="0">
                <a:latin typeface="Calibri"/>
                <a:cs typeface="Calibri"/>
              </a:rPr>
              <a:t>and</a:t>
            </a:r>
            <a:r>
              <a:rPr sz="3297" spc="-7" dirty="0">
                <a:latin typeface="Calibri"/>
                <a:cs typeface="Calibri"/>
              </a:rPr>
              <a:t> for </a:t>
            </a:r>
            <a:r>
              <a:rPr sz="3297" dirty="0">
                <a:latin typeface="Calibri"/>
                <a:cs typeface="Calibri"/>
              </a:rPr>
              <a:t>B</a:t>
            </a:r>
          </a:p>
          <a:p>
            <a:pPr marL="1430571" lvl="2" indent="-314028">
              <a:spcBef>
                <a:spcPts val="852"/>
              </a:spcBef>
              <a:buClr>
                <a:srgbClr val="CC0000"/>
              </a:buClr>
              <a:buFont typeface="Times New Roman"/>
              <a:buChar char="•"/>
              <a:tabLst>
                <a:tab pos="1430571" algn="l"/>
              </a:tabLst>
            </a:pPr>
            <a:r>
              <a:rPr sz="3297" spc="-7" dirty="0">
                <a:latin typeface="Calibri"/>
                <a:cs typeface="Calibri"/>
              </a:rPr>
              <a:t>How</a:t>
            </a:r>
            <a:r>
              <a:rPr sz="3297" dirty="0">
                <a:latin typeface="Calibri"/>
                <a:cs typeface="Calibri"/>
              </a:rPr>
              <a:t> </a:t>
            </a:r>
            <a:r>
              <a:rPr sz="3297" spc="-7" dirty="0">
                <a:latin typeface="Calibri"/>
                <a:cs typeface="Calibri"/>
              </a:rPr>
              <a:t>many</a:t>
            </a:r>
            <a:r>
              <a:rPr sz="3297" spc="7" dirty="0">
                <a:latin typeface="Calibri"/>
                <a:cs typeface="Calibri"/>
              </a:rPr>
              <a:t> </a:t>
            </a:r>
            <a:r>
              <a:rPr sz="3297" spc="-7" dirty="0">
                <a:latin typeface="Calibri"/>
                <a:cs typeface="Calibri"/>
              </a:rPr>
              <a:t>misspelled</a:t>
            </a:r>
            <a:r>
              <a:rPr sz="3297" spc="7" dirty="0">
                <a:latin typeface="Calibri"/>
                <a:cs typeface="Calibri"/>
              </a:rPr>
              <a:t> </a:t>
            </a:r>
            <a:r>
              <a:rPr sz="3297" spc="-7" dirty="0">
                <a:latin typeface="Calibri"/>
                <a:cs typeface="Calibri"/>
              </a:rPr>
              <a:t>words</a:t>
            </a:r>
            <a:r>
              <a:rPr sz="3297" spc="7" dirty="0">
                <a:latin typeface="Calibri"/>
                <a:cs typeface="Calibri"/>
              </a:rPr>
              <a:t> </a:t>
            </a:r>
            <a:r>
              <a:rPr sz="3297" spc="-7" dirty="0">
                <a:latin typeface="Calibri"/>
                <a:cs typeface="Calibri"/>
              </a:rPr>
              <a:t>corrected</a:t>
            </a:r>
            <a:r>
              <a:rPr sz="3297" spc="7" dirty="0">
                <a:latin typeface="Calibri"/>
                <a:cs typeface="Calibri"/>
              </a:rPr>
              <a:t> </a:t>
            </a:r>
            <a:r>
              <a:rPr sz="3297" spc="-7" dirty="0">
                <a:latin typeface="Calibri"/>
                <a:cs typeface="Calibri"/>
              </a:rPr>
              <a:t>properly</a:t>
            </a:r>
            <a:endParaRPr sz="3297" dirty="0">
              <a:latin typeface="Calibri"/>
              <a:cs typeface="Calibri"/>
            </a:endParaRPr>
          </a:p>
          <a:p>
            <a:pPr marL="1430571" lvl="2" indent="-314028">
              <a:spcBef>
                <a:spcPts val="714"/>
              </a:spcBef>
              <a:buClr>
                <a:srgbClr val="CC0000"/>
              </a:buClr>
              <a:buFont typeface="Times New Roman"/>
              <a:buChar char="•"/>
              <a:tabLst>
                <a:tab pos="1430571" algn="l"/>
              </a:tabLst>
            </a:pPr>
            <a:r>
              <a:rPr sz="3297" spc="-7" dirty="0">
                <a:latin typeface="Calibri"/>
                <a:cs typeface="Calibri"/>
              </a:rPr>
              <a:t>How</a:t>
            </a:r>
            <a:r>
              <a:rPr sz="3297" dirty="0">
                <a:latin typeface="Calibri"/>
                <a:cs typeface="Calibri"/>
              </a:rPr>
              <a:t> </a:t>
            </a:r>
            <a:r>
              <a:rPr sz="3297" spc="-7" dirty="0">
                <a:latin typeface="Calibri"/>
                <a:cs typeface="Calibri"/>
              </a:rPr>
              <a:t>many</a:t>
            </a:r>
            <a:r>
              <a:rPr sz="3297" dirty="0">
                <a:latin typeface="Calibri"/>
                <a:cs typeface="Calibri"/>
              </a:rPr>
              <a:t> </a:t>
            </a:r>
            <a:r>
              <a:rPr sz="3297" spc="-7" dirty="0">
                <a:latin typeface="Calibri"/>
                <a:cs typeface="Calibri"/>
              </a:rPr>
              <a:t>words</a:t>
            </a:r>
            <a:r>
              <a:rPr sz="3297" dirty="0">
                <a:latin typeface="Calibri"/>
                <a:cs typeface="Calibri"/>
              </a:rPr>
              <a:t> </a:t>
            </a:r>
            <a:r>
              <a:rPr sz="3297" spc="-7" dirty="0">
                <a:latin typeface="Calibri"/>
                <a:cs typeface="Calibri"/>
              </a:rPr>
              <a:t>translated</a:t>
            </a:r>
            <a:r>
              <a:rPr sz="3297" dirty="0">
                <a:latin typeface="Calibri"/>
                <a:cs typeface="Calibri"/>
              </a:rPr>
              <a:t> </a:t>
            </a:r>
            <a:r>
              <a:rPr sz="3297" spc="-7" dirty="0">
                <a:latin typeface="Calibri"/>
                <a:cs typeface="Calibri"/>
              </a:rPr>
              <a:t>correctly</a:t>
            </a:r>
            <a:endParaRPr sz="3297" dirty="0">
              <a:latin typeface="Calibri"/>
              <a:cs typeface="Calibri"/>
            </a:endParaRPr>
          </a:p>
          <a:p>
            <a:pPr marL="959529" lvl="1" indent="-314028">
              <a:spcBef>
                <a:spcPts val="852"/>
              </a:spcBef>
              <a:buFont typeface="Times New Roman"/>
              <a:buChar char="•"/>
              <a:tabLst>
                <a:tab pos="959529" algn="l"/>
              </a:tabLst>
            </a:pPr>
            <a:r>
              <a:rPr sz="3297" spc="-7" dirty="0">
                <a:latin typeface="Calibri"/>
                <a:cs typeface="Calibri"/>
              </a:rPr>
              <a:t>Compare</a:t>
            </a:r>
            <a:r>
              <a:rPr sz="3297" spc="-14" dirty="0">
                <a:latin typeface="Calibri"/>
                <a:cs typeface="Calibri"/>
              </a:rPr>
              <a:t> </a:t>
            </a:r>
            <a:r>
              <a:rPr sz="3297" spc="-7" dirty="0">
                <a:latin typeface="Calibri"/>
                <a:cs typeface="Calibri"/>
              </a:rPr>
              <a:t>accuracy for</a:t>
            </a:r>
            <a:r>
              <a:rPr sz="3297" spc="-14" dirty="0">
                <a:latin typeface="Calibri"/>
                <a:cs typeface="Calibri"/>
              </a:rPr>
              <a:t> </a:t>
            </a:r>
            <a:r>
              <a:rPr sz="3297" dirty="0">
                <a:latin typeface="Calibri"/>
                <a:cs typeface="Calibri"/>
              </a:rPr>
              <a:t>A</a:t>
            </a:r>
            <a:r>
              <a:rPr sz="3297" spc="-7" dirty="0">
                <a:latin typeface="Calibri"/>
                <a:cs typeface="Calibri"/>
              </a:rPr>
              <a:t> </a:t>
            </a:r>
            <a:r>
              <a:rPr sz="3297" dirty="0">
                <a:latin typeface="Calibri"/>
                <a:cs typeface="Calibri"/>
              </a:rPr>
              <a:t>and</a:t>
            </a:r>
            <a:r>
              <a:rPr sz="3297" spc="-7" dirty="0">
                <a:latin typeface="Calibri"/>
                <a:cs typeface="Calibri"/>
              </a:rPr>
              <a:t> </a:t>
            </a:r>
            <a:r>
              <a:rPr sz="3297" dirty="0">
                <a:latin typeface="Calibri"/>
                <a:cs typeface="Calibri"/>
              </a:rPr>
              <a:t>B</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690876" y="423024"/>
            <a:ext cx="15803745" cy="1375979"/>
          </a:xfrm>
          <a:prstGeom prst="rect">
            <a:avLst/>
          </a:prstGeom>
        </p:spPr>
        <p:txBody>
          <a:bodyPr vert="horz" wrap="square" lIns="0" tIns="41872" rIns="0" bIns="0" rtlCol="0">
            <a:spAutoFit/>
          </a:bodyPr>
          <a:lstStyle/>
          <a:p>
            <a:pPr marL="1480292" marR="6978">
              <a:lnSpc>
                <a:spcPts val="5220"/>
              </a:lnSpc>
              <a:spcBef>
                <a:spcPts val="330"/>
              </a:spcBef>
            </a:pPr>
            <a:r>
              <a:rPr spc="-27" dirty="0">
                <a:latin typeface="Calibri"/>
                <a:cs typeface="Calibri"/>
              </a:rPr>
              <a:t>Difficulty</a:t>
            </a:r>
            <a:r>
              <a:rPr spc="7" dirty="0">
                <a:latin typeface="Calibri"/>
                <a:cs typeface="Calibri"/>
              </a:rPr>
              <a:t> </a:t>
            </a:r>
            <a:r>
              <a:rPr spc="-7" dirty="0">
                <a:latin typeface="Calibri"/>
                <a:cs typeface="Calibri"/>
              </a:rPr>
              <a:t>of</a:t>
            </a:r>
            <a:r>
              <a:rPr spc="7" dirty="0">
                <a:latin typeface="Calibri"/>
                <a:cs typeface="Calibri"/>
              </a:rPr>
              <a:t> </a:t>
            </a:r>
            <a:r>
              <a:rPr spc="-7" dirty="0">
                <a:latin typeface="Calibri"/>
                <a:cs typeface="Calibri"/>
              </a:rPr>
              <a:t>extrinsic</a:t>
            </a:r>
            <a:r>
              <a:rPr dirty="0">
                <a:latin typeface="Calibri"/>
                <a:cs typeface="Calibri"/>
              </a:rPr>
              <a:t> </a:t>
            </a:r>
            <a:r>
              <a:rPr spc="-254" dirty="0">
                <a:latin typeface="Calibri"/>
                <a:cs typeface="Calibri"/>
              </a:rPr>
              <a:t>(in-­‐vivo)</a:t>
            </a:r>
            <a:r>
              <a:rPr spc="14" dirty="0">
                <a:latin typeface="Calibri"/>
                <a:cs typeface="Calibri"/>
              </a:rPr>
              <a:t> </a:t>
            </a:r>
            <a:r>
              <a:rPr spc="-14" dirty="0">
                <a:latin typeface="Calibri"/>
                <a:cs typeface="Calibri"/>
              </a:rPr>
              <a:t>evaluation</a:t>
            </a:r>
            <a:r>
              <a:rPr spc="14" dirty="0">
                <a:latin typeface="Calibri"/>
                <a:cs typeface="Calibri"/>
              </a:rPr>
              <a:t> </a:t>
            </a:r>
            <a:r>
              <a:rPr spc="-7" dirty="0">
                <a:latin typeface="Calibri"/>
                <a:cs typeface="Calibri"/>
              </a:rPr>
              <a:t>of </a:t>
            </a:r>
            <a:br>
              <a:rPr lang="en-US" spc="-7" dirty="0">
                <a:latin typeface="Calibri"/>
                <a:cs typeface="Calibri"/>
              </a:rPr>
            </a:br>
            <a:r>
              <a:rPr spc="-975" dirty="0">
                <a:latin typeface="Calibri"/>
                <a:cs typeface="Calibri"/>
              </a:rPr>
              <a:t> </a:t>
            </a:r>
            <a:r>
              <a:rPr spc="-673" dirty="0">
                <a:latin typeface="Calibri"/>
                <a:cs typeface="Calibri"/>
              </a:rPr>
              <a:t>N-­‐</a:t>
            </a:r>
            <a:r>
              <a:rPr spc="-7" dirty="0">
                <a:latin typeface="Calibri"/>
                <a:cs typeface="Calibri"/>
              </a:rPr>
              <a:t>g</a:t>
            </a:r>
            <a:r>
              <a:rPr dirty="0">
                <a:latin typeface="Calibri"/>
                <a:cs typeface="Calibri"/>
              </a:rPr>
              <a:t>ram models</a:t>
            </a:r>
          </a:p>
        </p:txBody>
      </p:sp>
      <p:sp>
        <p:nvSpPr>
          <p:cNvPr id="7" name="object 7"/>
          <p:cNvSpPr txBox="1"/>
          <p:nvPr/>
        </p:nvSpPr>
        <p:spPr>
          <a:xfrm>
            <a:off x="1118039" y="2519012"/>
            <a:ext cx="10127673" cy="4643788"/>
          </a:xfrm>
          <a:prstGeom prst="rect">
            <a:avLst/>
          </a:prstGeom>
        </p:spPr>
        <p:txBody>
          <a:bodyPr vert="horz" wrap="square" lIns="0" tIns="68914" rIns="0" bIns="0" rtlCol="0">
            <a:spAutoFit/>
          </a:bodyPr>
          <a:lstStyle/>
          <a:p>
            <a:pPr marL="488488" indent="-471042">
              <a:spcBef>
                <a:spcPts val="543"/>
              </a:spcBef>
              <a:buClr>
                <a:srgbClr val="CC0000"/>
              </a:buClr>
              <a:buFont typeface="Times New Roman"/>
              <a:buChar char="•"/>
              <a:tabLst>
                <a:tab pos="487615" algn="l"/>
                <a:tab pos="488488" algn="l"/>
              </a:tabLst>
            </a:pPr>
            <a:r>
              <a:rPr sz="3846" spc="-7" dirty="0">
                <a:latin typeface="Calibri"/>
                <a:cs typeface="Calibri"/>
              </a:rPr>
              <a:t>Extrinsic</a:t>
            </a:r>
            <a:r>
              <a:rPr sz="3846" spc="-21" dirty="0">
                <a:latin typeface="Calibri"/>
                <a:cs typeface="Calibri"/>
              </a:rPr>
              <a:t> </a:t>
            </a:r>
            <a:r>
              <a:rPr sz="3846" spc="-7" dirty="0">
                <a:latin typeface="Calibri"/>
                <a:cs typeface="Calibri"/>
              </a:rPr>
              <a:t>evaluation</a:t>
            </a:r>
            <a:endParaRPr sz="3846" dirty="0">
              <a:latin typeface="Calibri"/>
              <a:cs typeface="Calibri"/>
            </a:endParaRPr>
          </a:p>
          <a:p>
            <a:pPr marL="959529" lvl="1" indent="-314028">
              <a:spcBef>
                <a:spcPts val="356"/>
              </a:spcBef>
              <a:buFont typeface="Times New Roman"/>
              <a:buChar char="•"/>
              <a:tabLst>
                <a:tab pos="959529" algn="l"/>
              </a:tabLst>
            </a:pPr>
            <a:r>
              <a:rPr sz="3297" spc="-124" dirty="0">
                <a:latin typeface="Calibri"/>
                <a:cs typeface="Calibri"/>
              </a:rPr>
              <a:t>Time-­‐consuming;</a:t>
            </a:r>
            <a:r>
              <a:rPr sz="3297" dirty="0">
                <a:latin typeface="Calibri"/>
                <a:cs typeface="Calibri"/>
              </a:rPr>
              <a:t> can </a:t>
            </a:r>
            <a:r>
              <a:rPr sz="3297" spc="-7" dirty="0">
                <a:latin typeface="Calibri"/>
                <a:cs typeface="Calibri"/>
              </a:rPr>
              <a:t>take</a:t>
            </a:r>
            <a:r>
              <a:rPr sz="3297" dirty="0">
                <a:latin typeface="Calibri"/>
                <a:cs typeface="Calibri"/>
              </a:rPr>
              <a:t> </a:t>
            </a:r>
            <a:r>
              <a:rPr sz="3297" spc="-7" dirty="0">
                <a:latin typeface="Calibri"/>
                <a:cs typeface="Calibri"/>
              </a:rPr>
              <a:t>days</a:t>
            </a:r>
            <a:r>
              <a:rPr sz="3297" dirty="0">
                <a:latin typeface="Calibri"/>
                <a:cs typeface="Calibri"/>
              </a:rPr>
              <a:t> </a:t>
            </a:r>
            <a:r>
              <a:rPr sz="3297" spc="-7" dirty="0">
                <a:latin typeface="Calibri"/>
                <a:cs typeface="Calibri"/>
              </a:rPr>
              <a:t>or</a:t>
            </a:r>
            <a:r>
              <a:rPr sz="3297" dirty="0">
                <a:latin typeface="Calibri"/>
                <a:cs typeface="Calibri"/>
              </a:rPr>
              <a:t> </a:t>
            </a:r>
            <a:r>
              <a:rPr sz="3297" spc="-7" dirty="0">
                <a:latin typeface="Calibri"/>
                <a:cs typeface="Calibri"/>
              </a:rPr>
              <a:t>weeks</a:t>
            </a:r>
            <a:endParaRPr sz="3297" dirty="0">
              <a:latin typeface="Calibri"/>
              <a:cs typeface="Calibri"/>
            </a:endParaRPr>
          </a:p>
          <a:p>
            <a:pPr marL="488488" indent="-471042">
              <a:spcBef>
                <a:spcPts val="378"/>
              </a:spcBef>
              <a:buClr>
                <a:srgbClr val="CC0000"/>
              </a:buClr>
              <a:buFont typeface="Times New Roman"/>
              <a:buChar char="•"/>
              <a:tabLst>
                <a:tab pos="487615" algn="l"/>
                <a:tab pos="488488" algn="l"/>
              </a:tabLst>
            </a:pPr>
            <a:r>
              <a:rPr sz="3846" spc="-7" dirty="0">
                <a:latin typeface="Calibri"/>
                <a:cs typeface="Calibri"/>
              </a:rPr>
              <a:t>So</a:t>
            </a:r>
            <a:endParaRPr sz="3846" dirty="0">
              <a:latin typeface="Calibri"/>
              <a:cs typeface="Calibri"/>
            </a:endParaRPr>
          </a:p>
          <a:p>
            <a:pPr marL="959529" lvl="1" indent="-314028">
              <a:spcBef>
                <a:spcPts val="390"/>
              </a:spcBef>
              <a:buFont typeface="Times New Roman"/>
              <a:buChar char="•"/>
              <a:tabLst>
                <a:tab pos="959529" algn="l"/>
              </a:tabLst>
            </a:pPr>
            <a:r>
              <a:rPr sz="3297" spc="-7" dirty="0">
                <a:latin typeface="Calibri"/>
                <a:cs typeface="Calibri"/>
              </a:rPr>
              <a:t>Sometimes </a:t>
            </a:r>
            <a:r>
              <a:rPr sz="3297" dirty="0">
                <a:latin typeface="Calibri"/>
                <a:cs typeface="Calibri"/>
              </a:rPr>
              <a:t>use</a:t>
            </a:r>
            <a:r>
              <a:rPr sz="3297" spc="-7" dirty="0">
                <a:latin typeface="Calibri"/>
                <a:cs typeface="Calibri"/>
              </a:rPr>
              <a:t> </a:t>
            </a:r>
            <a:r>
              <a:rPr sz="3297" b="1" dirty="0">
                <a:solidFill>
                  <a:srgbClr val="A50021"/>
                </a:solidFill>
                <a:latin typeface="Calibri"/>
                <a:cs typeface="Calibri"/>
              </a:rPr>
              <a:t>intrinsic</a:t>
            </a:r>
            <a:r>
              <a:rPr sz="3297" b="1" spc="-14" dirty="0">
                <a:solidFill>
                  <a:srgbClr val="A50021"/>
                </a:solidFill>
                <a:latin typeface="Calibri"/>
                <a:cs typeface="Calibri"/>
              </a:rPr>
              <a:t> </a:t>
            </a:r>
            <a:r>
              <a:rPr sz="3297" spc="-7" dirty="0">
                <a:latin typeface="Calibri"/>
                <a:cs typeface="Calibri"/>
              </a:rPr>
              <a:t>evaluation:</a:t>
            </a:r>
            <a:r>
              <a:rPr sz="3297" spc="-14" dirty="0">
                <a:latin typeface="Calibri"/>
                <a:cs typeface="Calibri"/>
              </a:rPr>
              <a:t> </a:t>
            </a:r>
            <a:r>
              <a:rPr sz="3297" b="1" spc="-7" dirty="0">
                <a:latin typeface="Calibri"/>
                <a:cs typeface="Calibri"/>
              </a:rPr>
              <a:t>perplexity</a:t>
            </a:r>
            <a:endParaRPr sz="3297" dirty="0">
              <a:latin typeface="Calibri"/>
              <a:cs typeface="Calibri"/>
            </a:endParaRPr>
          </a:p>
          <a:p>
            <a:pPr marL="959529" lvl="1" indent="-314028">
              <a:spcBef>
                <a:spcPts val="440"/>
              </a:spcBef>
              <a:buFont typeface="Times New Roman"/>
              <a:buChar char="•"/>
              <a:tabLst>
                <a:tab pos="959529" algn="l"/>
              </a:tabLst>
            </a:pPr>
            <a:r>
              <a:rPr sz="3297" spc="-7" dirty="0">
                <a:latin typeface="Calibri"/>
                <a:cs typeface="Calibri"/>
              </a:rPr>
              <a:t>Bad</a:t>
            </a:r>
            <a:r>
              <a:rPr sz="3297" spc="-41" dirty="0">
                <a:latin typeface="Calibri"/>
                <a:cs typeface="Calibri"/>
              </a:rPr>
              <a:t> </a:t>
            </a:r>
            <a:r>
              <a:rPr sz="3297" spc="-7" dirty="0">
                <a:latin typeface="Calibri"/>
                <a:cs typeface="Calibri"/>
              </a:rPr>
              <a:t>approximation</a:t>
            </a:r>
            <a:endParaRPr sz="3297" dirty="0">
              <a:latin typeface="Calibri"/>
              <a:cs typeface="Calibri"/>
            </a:endParaRPr>
          </a:p>
          <a:p>
            <a:pPr marL="1430571" lvl="2" indent="-314028">
              <a:spcBef>
                <a:spcPts val="440"/>
              </a:spcBef>
              <a:buClr>
                <a:srgbClr val="CC0000"/>
              </a:buClr>
              <a:buFont typeface="Times New Roman"/>
              <a:buChar char="•"/>
              <a:tabLst>
                <a:tab pos="1430571" algn="l"/>
              </a:tabLst>
            </a:pPr>
            <a:r>
              <a:rPr sz="3297" dirty="0">
                <a:latin typeface="Calibri"/>
                <a:cs typeface="Calibri"/>
              </a:rPr>
              <a:t>unless</a:t>
            </a:r>
            <a:r>
              <a:rPr sz="3297" spc="-7" dirty="0">
                <a:latin typeface="Calibri"/>
                <a:cs typeface="Calibri"/>
              </a:rPr>
              <a:t> </a:t>
            </a:r>
            <a:r>
              <a:rPr sz="3297" dirty="0">
                <a:latin typeface="Calibri"/>
                <a:cs typeface="Calibri"/>
              </a:rPr>
              <a:t>the</a:t>
            </a:r>
            <a:r>
              <a:rPr sz="3297" spc="-7" dirty="0">
                <a:latin typeface="Calibri"/>
                <a:cs typeface="Calibri"/>
              </a:rPr>
              <a:t> test</a:t>
            </a:r>
            <a:r>
              <a:rPr sz="3297" dirty="0">
                <a:latin typeface="Calibri"/>
                <a:cs typeface="Calibri"/>
              </a:rPr>
              <a:t> data</a:t>
            </a:r>
            <a:r>
              <a:rPr sz="3297" spc="-7" dirty="0">
                <a:latin typeface="Calibri"/>
                <a:cs typeface="Calibri"/>
              </a:rPr>
              <a:t> looks </a:t>
            </a:r>
            <a:r>
              <a:rPr sz="3297" b="1" spc="-7" dirty="0">
                <a:latin typeface="Calibri"/>
                <a:cs typeface="Calibri"/>
              </a:rPr>
              <a:t>just </a:t>
            </a:r>
            <a:r>
              <a:rPr sz="3297" dirty="0">
                <a:latin typeface="Calibri"/>
                <a:cs typeface="Calibri"/>
              </a:rPr>
              <a:t>like the</a:t>
            </a:r>
            <a:r>
              <a:rPr sz="3297" spc="-7" dirty="0">
                <a:latin typeface="Calibri"/>
                <a:cs typeface="Calibri"/>
              </a:rPr>
              <a:t> training</a:t>
            </a:r>
            <a:r>
              <a:rPr sz="3297" dirty="0">
                <a:latin typeface="Calibri"/>
                <a:cs typeface="Calibri"/>
              </a:rPr>
              <a:t> data</a:t>
            </a:r>
          </a:p>
          <a:p>
            <a:pPr marL="1430571" lvl="2" indent="-314028">
              <a:spcBef>
                <a:spcPts val="301"/>
              </a:spcBef>
              <a:buClr>
                <a:srgbClr val="CC0000"/>
              </a:buClr>
              <a:buFont typeface="Times New Roman"/>
              <a:buChar char="•"/>
              <a:tabLst>
                <a:tab pos="1430571" algn="l"/>
              </a:tabLst>
            </a:pPr>
            <a:r>
              <a:rPr sz="3297" spc="-7" dirty="0">
                <a:latin typeface="Calibri"/>
                <a:cs typeface="Calibri"/>
              </a:rPr>
              <a:t>So</a:t>
            </a:r>
            <a:r>
              <a:rPr sz="3297" spc="-14" dirty="0">
                <a:latin typeface="Calibri"/>
                <a:cs typeface="Calibri"/>
              </a:rPr>
              <a:t> </a:t>
            </a:r>
            <a:r>
              <a:rPr sz="3297" b="1" spc="-7" dirty="0">
                <a:latin typeface="Calibri"/>
                <a:cs typeface="Calibri"/>
              </a:rPr>
              <a:t>generally</a:t>
            </a:r>
            <a:r>
              <a:rPr sz="3297" b="1" spc="-14" dirty="0">
                <a:latin typeface="Calibri"/>
                <a:cs typeface="Calibri"/>
              </a:rPr>
              <a:t> </a:t>
            </a:r>
            <a:r>
              <a:rPr sz="3297" b="1" spc="-7" dirty="0">
                <a:latin typeface="Calibri"/>
                <a:cs typeface="Calibri"/>
              </a:rPr>
              <a:t>only</a:t>
            </a:r>
            <a:r>
              <a:rPr sz="3297" b="1" spc="-21" dirty="0">
                <a:latin typeface="Calibri"/>
                <a:cs typeface="Calibri"/>
              </a:rPr>
              <a:t> </a:t>
            </a:r>
            <a:r>
              <a:rPr sz="3297" b="1" spc="-7" dirty="0">
                <a:latin typeface="Calibri"/>
                <a:cs typeface="Calibri"/>
              </a:rPr>
              <a:t>useful</a:t>
            </a:r>
            <a:r>
              <a:rPr sz="3297" b="1" spc="-14" dirty="0">
                <a:latin typeface="Calibri"/>
                <a:cs typeface="Calibri"/>
              </a:rPr>
              <a:t> </a:t>
            </a:r>
            <a:r>
              <a:rPr sz="3297" b="1" spc="-7" dirty="0">
                <a:latin typeface="Calibri"/>
                <a:cs typeface="Calibri"/>
              </a:rPr>
              <a:t>in</a:t>
            </a:r>
            <a:r>
              <a:rPr sz="3297" b="1" spc="-21" dirty="0">
                <a:latin typeface="Calibri"/>
                <a:cs typeface="Calibri"/>
              </a:rPr>
              <a:t> </a:t>
            </a:r>
            <a:r>
              <a:rPr sz="3297" b="1" spc="-7" dirty="0">
                <a:latin typeface="Calibri"/>
                <a:cs typeface="Calibri"/>
              </a:rPr>
              <a:t>pilot experiments</a:t>
            </a:r>
            <a:endParaRPr sz="3297" dirty="0">
              <a:latin typeface="Calibri"/>
              <a:cs typeface="Calibri"/>
            </a:endParaRPr>
          </a:p>
          <a:p>
            <a:pPr marL="959529" lvl="1" indent="-314028">
              <a:spcBef>
                <a:spcPts val="440"/>
              </a:spcBef>
              <a:buFont typeface="Times New Roman"/>
              <a:buChar char="•"/>
              <a:tabLst>
                <a:tab pos="959529" algn="l"/>
              </a:tabLst>
            </a:pPr>
            <a:r>
              <a:rPr sz="3297" spc="-7" dirty="0">
                <a:latin typeface="Calibri"/>
                <a:cs typeface="Calibri"/>
              </a:rPr>
              <a:t>But</a:t>
            </a:r>
            <a:r>
              <a:rPr sz="3297" spc="-14" dirty="0">
                <a:latin typeface="Calibri"/>
                <a:cs typeface="Calibri"/>
              </a:rPr>
              <a:t> </a:t>
            </a:r>
            <a:r>
              <a:rPr sz="3297" dirty="0">
                <a:latin typeface="Calibri"/>
                <a:cs typeface="Calibri"/>
              </a:rPr>
              <a:t>is</a:t>
            </a:r>
            <a:r>
              <a:rPr sz="3297" spc="-21" dirty="0">
                <a:latin typeface="Calibri"/>
                <a:cs typeface="Calibri"/>
              </a:rPr>
              <a:t> </a:t>
            </a:r>
            <a:r>
              <a:rPr sz="3297" dirty="0">
                <a:latin typeface="Calibri"/>
                <a:cs typeface="Calibri"/>
              </a:rPr>
              <a:t>helpful</a:t>
            </a:r>
            <a:r>
              <a:rPr sz="3297" spc="-14" dirty="0">
                <a:latin typeface="Calibri"/>
                <a:cs typeface="Calibri"/>
              </a:rPr>
              <a:t> </a:t>
            </a:r>
            <a:r>
              <a:rPr sz="3297" dirty="0">
                <a:latin typeface="Calibri"/>
                <a:cs typeface="Calibri"/>
              </a:rPr>
              <a:t>to</a:t>
            </a:r>
            <a:r>
              <a:rPr sz="3297" spc="-14" dirty="0">
                <a:latin typeface="Calibri"/>
                <a:cs typeface="Calibri"/>
              </a:rPr>
              <a:t> </a:t>
            </a:r>
            <a:r>
              <a:rPr sz="3297" dirty="0">
                <a:latin typeface="Calibri"/>
                <a:cs typeface="Calibri"/>
              </a:rPr>
              <a:t>think</a:t>
            </a:r>
            <a:r>
              <a:rPr sz="3297" spc="-14" dirty="0">
                <a:latin typeface="Calibri"/>
                <a:cs typeface="Calibri"/>
              </a:rPr>
              <a:t> </a:t>
            </a:r>
            <a:r>
              <a:rPr sz="3297" spc="-7" dirty="0">
                <a:latin typeface="Calibri"/>
                <a:cs typeface="Calibri"/>
              </a:rPr>
              <a:t>about.</a:t>
            </a:r>
            <a:endParaRPr sz="3297" dirty="0">
              <a:latin typeface="Calibri"/>
              <a:cs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014829"/>
            <a:ext cx="5119665"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Intuition</a:t>
            </a:r>
            <a:r>
              <a:rPr spc="-27" dirty="0">
                <a:latin typeface="Calibri"/>
                <a:cs typeface="Calibri"/>
              </a:rPr>
              <a:t> </a:t>
            </a:r>
            <a:r>
              <a:rPr dirty="0">
                <a:latin typeface="Calibri"/>
                <a:cs typeface="Calibri"/>
              </a:rPr>
              <a:t>of</a:t>
            </a:r>
            <a:r>
              <a:rPr spc="-21" dirty="0">
                <a:latin typeface="Calibri"/>
                <a:cs typeface="Calibri"/>
              </a:rPr>
              <a:t> </a:t>
            </a:r>
            <a:r>
              <a:rPr spc="-7" dirty="0">
                <a:latin typeface="Calibri"/>
                <a:cs typeface="Calibri"/>
              </a:rPr>
              <a:t>Perplexity</a:t>
            </a:r>
          </a:p>
        </p:txBody>
      </p:sp>
      <p:sp>
        <p:nvSpPr>
          <p:cNvPr id="7" name="object 7"/>
          <p:cNvSpPr txBox="1"/>
          <p:nvPr/>
        </p:nvSpPr>
        <p:spPr>
          <a:xfrm>
            <a:off x="2308118" y="6332450"/>
            <a:ext cx="10710385" cy="440361"/>
          </a:xfrm>
          <a:prstGeom prst="rect">
            <a:avLst/>
          </a:prstGeom>
        </p:spPr>
        <p:txBody>
          <a:bodyPr vert="horz" wrap="square" lIns="0" tIns="17446" rIns="0" bIns="0" rtlCol="0">
            <a:spAutoFit/>
          </a:bodyPr>
          <a:lstStyle/>
          <a:p>
            <a:pPr marL="409981" indent="-393407">
              <a:spcBef>
                <a:spcPts val="137"/>
              </a:spcBef>
              <a:buFont typeface="Times New Roman"/>
              <a:buChar char="•"/>
              <a:tabLst>
                <a:tab pos="409981" algn="l"/>
                <a:tab pos="410853" algn="l"/>
              </a:tabLst>
            </a:pPr>
            <a:r>
              <a:rPr sz="2747" dirty="0">
                <a:latin typeface="Calibri"/>
                <a:cs typeface="Calibri"/>
              </a:rPr>
              <a:t>is </a:t>
            </a:r>
            <a:r>
              <a:rPr sz="2747" spc="-7" dirty="0">
                <a:latin typeface="Calibri"/>
                <a:cs typeface="Calibri"/>
              </a:rPr>
              <a:t>one</a:t>
            </a:r>
            <a:r>
              <a:rPr sz="2747" spc="7" dirty="0">
                <a:latin typeface="Calibri"/>
                <a:cs typeface="Calibri"/>
              </a:rPr>
              <a:t> </a:t>
            </a:r>
            <a:r>
              <a:rPr sz="2747" spc="-7" dirty="0">
                <a:latin typeface="Calibri"/>
                <a:cs typeface="Calibri"/>
              </a:rPr>
              <a:t>which</a:t>
            </a:r>
            <a:r>
              <a:rPr sz="2747" dirty="0">
                <a:latin typeface="Calibri"/>
                <a:cs typeface="Calibri"/>
              </a:rPr>
              <a:t> assigns</a:t>
            </a:r>
            <a:r>
              <a:rPr sz="2747" spc="7" dirty="0">
                <a:latin typeface="Calibri"/>
                <a:cs typeface="Calibri"/>
              </a:rPr>
              <a:t> </a:t>
            </a:r>
            <a:r>
              <a:rPr sz="2747" dirty="0">
                <a:latin typeface="Calibri"/>
                <a:cs typeface="Calibri"/>
              </a:rPr>
              <a:t>a higher</a:t>
            </a:r>
            <a:r>
              <a:rPr sz="2747" spc="7" dirty="0">
                <a:latin typeface="Calibri"/>
                <a:cs typeface="Calibri"/>
              </a:rPr>
              <a:t> </a:t>
            </a:r>
            <a:r>
              <a:rPr sz="2747" spc="-7" dirty="0">
                <a:latin typeface="Calibri"/>
                <a:cs typeface="Calibri"/>
              </a:rPr>
              <a:t>probability </a:t>
            </a:r>
            <a:r>
              <a:rPr sz="2747" dirty="0">
                <a:latin typeface="Calibri"/>
                <a:cs typeface="Calibri"/>
              </a:rPr>
              <a:t>to</a:t>
            </a:r>
            <a:r>
              <a:rPr sz="2747" spc="7" dirty="0">
                <a:latin typeface="Calibri"/>
                <a:cs typeface="Calibri"/>
              </a:rPr>
              <a:t> </a:t>
            </a:r>
            <a:r>
              <a:rPr sz="2747" dirty="0">
                <a:latin typeface="Calibri"/>
                <a:cs typeface="Calibri"/>
              </a:rPr>
              <a:t>the</a:t>
            </a:r>
            <a:r>
              <a:rPr sz="2747" spc="7" dirty="0">
                <a:latin typeface="Calibri"/>
                <a:cs typeface="Calibri"/>
              </a:rPr>
              <a:t> </a:t>
            </a:r>
            <a:r>
              <a:rPr sz="2747" spc="-7" dirty="0">
                <a:latin typeface="Calibri"/>
                <a:cs typeface="Calibri"/>
              </a:rPr>
              <a:t>word</a:t>
            </a:r>
            <a:r>
              <a:rPr sz="2747" dirty="0">
                <a:latin typeface="Calibri"/>
                <a:cs typeface="Calibri"/>
              </a:rPr>
              <a:t> that</a:t>
            </a:r>
            <a:r>
              <a:rPr sz="2747" spc="7" dirty="0">
                <a:latin typeface="Calibri"/>
                <a:cs typeface="Calibri"/>
              </a:rPr>
              <a:t> </a:t>
            </a:r>
            <a:r>
              <a:rPr sz="2747" spc="-7" dirty="0">
                <a:latin typeface="Calibri"/>
                <a:cs typeface="Calibri"/>
              </a:rPr>
              <a:t>actually</a:t>
            </a:r>
            <a:r>
              <a:rPr sz="2747" dirty="0">
                <a:latin typeface="Calibri"/>
                <a:cs typeface="Calibri"/>
              </a:rPr>
              <a:t> </a:t>
            </a:r>
            <a:r>
              <a:rPr sz="2747" spc="-7" dirty="0">
                <a:latin typeface="Calibri"/>
                <a:cs typeface="Calibri"/>
              </a:rPr>
              <a:t>occurs</a:t>
            </a:r>
            <a:endParaRPr sz="2747">
              <a:latin typeface="Calibri"/>
              <a:cs typeface="Calibri"/>
            </a:endParaRPr>
          </a:p>
        </p:txBody>
      </p:sp>
      <p:sp>
        <p:nvSpPr>
          <p:cNvPr id="8" name="object 8"/>
          <p:cNvSpPr txBox="1"/>
          <p:nvPr/>
        </p:nvSpPr>
        <p:spPr>
          <a:xfrm>
            <a:off x="1662599" y="2498415"/>
            <a:ext cx="7130370" cy="3854425"/>
          </a:xfrm>
          <a:prstGeom prst="rect">
            <a:avLst/>
          </a:prstGeom>
        </p:spPr>
        <p:txBody>
          <a:bodyPr vert="horz" wrap="square" lIns="0" tIns="47978" rIns="0" bIns="0" rtlCol="0">
            <a:spAutoFit/>
          </a:bodyPr>
          <a:lstStyle/>
          <a:p>
            <a:pPr marL="505934" indent="-471042">
              <a:spcBef>
                <a:spcPts val="378"/>
              </a:spcBef>
              <a:buClr>
                <a:srgbClr val="CC0000"/>
              </a:buClr>
              <a:buFont typeface="Times New Roman"/>
              <a:buChar char="•"/>
              <a:tabLst>
                <a:tab pos="505061" algn="l"/>
                <a:tab pos="505934" algn="l"/>
              </a:tabLst>
            </a:pPr>
            <a:r>
              <a:rPr sz="3022" dirty="0">
                <a:latin typeface="Calibri"/>
                <a:cs typeface="Calibri"/>
              </a:rPr>
              <a:t>The</a:t>
            </a:r>
            <a:r>
              <a:rPr sz="3022" spc="-21" dirty="0">
                <a:latin typeface="Calibri"/>
                <a:cs typeface="Calibri"/>
              </a:rPr>
              <a:t> </a:t>
            </a:r>
            <a:r>
              <a:rPr sz="3022" spc="-7" dirty="0">
                <a:latin typeface="Calibri"/>
                <a:cs typeface="Calibri"/>
              </a:rPr>
              <a:t>Shannon</a:t>
            </a:r>
            <a:r>
              <a:rPr sz="3022" spc="-21" dirty="0">
                <a:latin typeface="Calibri"/>
                <a:cs typeface="Calibri"/>
              </a:rPr>
              <a:t> </a:t>
            </a:r>
            <a:r>
              <a:rPr sz="3022" spc="-7" dirty="0">
                <a:latin typeface="Calibri"/>
                <a:cs typeface="Calibri"/>
              </a:rPr>
              <a:t>Game:</a:t>
            </a:r>
            <a:endParaRPr sz="3022" dirty="0">
              <a:latin typeface="Calibri"/>
              <a:cs typeface="Calibri"/>
            </a:endParaRPr>
          </a:p>
          <a:p>
            <a:pPr marL="976975" lvl="1" indent="-314028">
              <a:spcBef>
                <a:spcPts val="220"/>
              </a:spcBef>
              <a:buFont typeface="Times New Roman"/>
              <a:buChar char="•"/>
              <a:tabLst>
                <a:tab pos="976103" algn="l"/>
                <a:tab pos="976975" algn="l"/>
              </a:tabLst>
            </a:pPr>
            <a:r>
              <a:rPr sz="2747" spc="-7" dirty="0">
                <a:latin typeface="Calibri"/>
                <a:cs typeface="Calibri"/>
              </a:rPr>
              <a:t>How well </a:t>
            </a:r>
            <a:r>
              <a:rPr sz="2747" dirty="0">
                <a:latin typeface="Calibri"/>
                <a:cs typeface="Calibri"/>
              </a:rPr>
              <a:t>can</a:t>
            </a:r>
            <a:r>
              <a:rPr sz="2747" spc="-7" dirty="0">
                <a:latin typeface="Calibri"/>
                <a:cs typeface="Calibri"/>
              </a:rPr>
              <a:t> we</a:t>
            </a:r>
            <a:r>
              <a:rPr sz="2747" dirty="0">
                <a:latin typeface="Calibri"/>
                <a:cs typeface="Calibri"/>
              </a:rPr>
              <a:t> </a:t>
            </a:r>
            <a:r>
              <a:rPr sz="2747" spc="-7" dirty="0">
                <a:latin typeface="Calibri"/>
                <a:cs typeface="Calibri"/>
              </a:rPr>
              <a:t>predict </a:t>
            </a:r>
            <a:r>
              <a:rPr sz="2747" dirty="0">
                <a:latin typeface="Calibri"/>
                <a:cs typeface="Calibri"/>
              </a:rPr>
              <a:t>the</a:t>
            </a:r>
            <a:r>
              <a:rPr sz="2747" spc="-7" dirty="0">
                <a:latin typeface="Calibri"/>
                <a:cs typeface="Calibri"/>
              </a:rPr>
              <a:t> </a:t>
            </a:r>
            <a:r>
              <a:rPr sz="2747" dirty="0">
                <a:latin typeface="Calibri"/>
                <a:cs typeface="Calibri"/>
              </a:rPr>
              <a:t>next </a:t>
            </a:r>
            <a:r>
              <a:rPr sz="2747" spc="-7" dirty="0">
                <a:latin typeface="Calibri"/>
                <a:cs typeface="Calibri"/>
              </a:rPr>
              <a:t>word?</a:t>
            </a:r>
            <a:endParaRPr sz="2747" dirty="0">
              <a:latin typeface="Calibri"/>
              <a:cs typeface="Calibri"/>
            </a:endParaRPr>
          </a:p>
          <a:p>
            <a:pPr marL="1465463">
              <a:spcBef>
                <a:spcPts val="2225"/>
              </a:spcBef>
              <a:tabLst>
                <a:tab pos="6807425" algn="l"/>
              </a:tabLst>
            </a:pPr>
            <a:r>
              <a:rPr sz="2473" dirty="0">
                <a:solidFill>
                  <a:srgbClr val="FF0000"/>
                </a:solidFill>
                <a:latin typeface="Calibri"/>
                <a:cs typeface="Calibri"/>
              </a:rPr>
              <a:t>I</a:t>
            </a:r>
            <a:r>
              <a:rPr sz="2473" spc="-7" dirty="0">
                <a:solidFill>
                  <a:srgbClr val="FF0000"/>
                </a:solidFill>
                <a:latin typeface="Calibri"/>
                <a:cs typeface="Calibri"/>
              </a:rPr>
              <a:t> always order pizza with </a:t>
            </a:r>
            <a:r>
              <a:rPr sz="2473" dirty="0">
                <a:solidFill>
                  <a:srgbClr val="FF0000"/>
                </a:solidFill>
                <a:latin typeface="Calibri"/>
                <a:cs typeface="Calibri"/>
              </a:rPr>
              <a:t>cheese</a:t>
            </a:r>
            <a:r>
              <a:rPr sz="2473" spc="-7" dirty="0">
                <a:solidFill>
                  <a:srgbClr val="FF0000"/>
                </a:solidFill>
                <a:latin typeface="Calibri"/>
                <a:cs typeface="Calibri"/>
              </a:rPr>
              <a:t> </a:t>
            </a:r>
            <a:r>
              <a:rPr sz="2473" dirty="0">
                <a:solidFill>
                  <a:srgbClr val="FF0000"/>
                </a:solidFill>
                <a:latin typeface="Calibri"/>
                <a:cs typeface="Calibri"/>
              </a:rPr>
              <a:t>and </a:t>
            </a:r>
            <a:r>
              <a:rPr sz="2473" u="heavy" dirty="0">
                <a:solidFill>
                  <a:srgbClr val="FF0000"/>
                </a:solidFill>
                <a:uFill>
                  <a:solidFill>
                    <a:srgbClr val="FE0000"/>
                  </a:solidFill>
                </a:uFill>
                <a:latin typeface="Times New Roman"/>
                <a:cs typeface="Times New Roman"/>
              </a:rPr>
              <a:t> 	</a:t>
            </a:r>
            <a:endParaRPr sz="2473" dirty="0">
              <a:latin typeface="Times New Roman"/>
              <a:cs typeface="Times New Roman"/>
            </a:endParaRPr>
          </a:p>
          <a:p>
            <a:pPr marL="1465463">
              <a:spcBef>
                <a:spcPts val="1400"/>
              </a:spcBef>
              <a:tabLst>
                <a:tab pos="6308470" algn="l"/>
              </a:tabLst>
            </a:pPr>
            <a:r>
              <a:rPr sz="2473" dirty="0">
                <a:solidFill>
                  <a:srgbClr val="FF0000"/>
                </a:solidFill>
                <a:latin typeface="Calibri"/>
                <a:cs typeface="Calibri"/>
              </a:rPr>
              <a:t>The</a:t>
            </a:r>
            <a:r>
              <a:rPr sz="2473" spc="-14" dirty="0">
                <a:solidFill>
                  <a:srgbClr val="FF0000"/>
                </a:solidFill>
                <a:latin typeface="Calibri"/>
                <a:cs typeface="Calibri"/>
              </a:rPr>
              <a:t> </a:t>
            </a:r>
            <a:r>
              <a:rPr sz="2473" spc="-7" dirty="0">
                <a:solidFill>
                  <a:srgbClr val="FF0000"/>
                </a:solidFill>
                <a:latin typeface="Calibri"/>
                <a:cs typeface="Calibri"/>
              </a:rPr>
              <a:t>33</a:t>
            </a:r>
            <a:r>
              <a:rPr sz="2473" spc="-10" baseline="25462" dirty="0">
                <a:solidFill>
                  <a:srgbClr val="FF0000"/>
                </a:solidFill>
                <a:latin typeface="Calibri"/>
                <a:cs typeface="Calibri"/>
              </a:rPr>
              <a:t>rd</a:t>
            </a:r>
            <a:r>
              <a:rPr sz="2473" spc="257" baseline="25462" dirty="0">
                <a:solidFill>
                  <a:srgbClr val="FF0000"/>
                </a:solidFill>
                <a:latin typeface="Calibri"/>
                <a:cs typeface="Calibri"/>
              </a:rPr>
              <a:t> </a:t>
            </a:r>
            <a:r>
              <a:rPr sz="2473" spc="-7" dirty="0">
                <a:solidFill>
                  <a:srgbClr val="FF0000"/>
                </a:solidFill>
                <a:latin typeface="Calibri"/>
                <a:cs typeface="Calibri"/>
              </a:rPr>
              <a:t>President of</a:t>
            </a:r>
            <a:r>
              <a:rPr sz="2473" dirty="0">
                <a:solidFill>
                  <a:srgbClr val="FF0000"/>
                </a:solidFill>
                <a:latin typeface="Calibri"/>
                <a:cs typeface="Calibri"/>
              </a:rPr>
              <a:t> the</a:t>
            </a:r>
            <a:r>
              <a:rPr sz="2473" spc="-7" dirty="0">
                <a:solidFill>
                  <a:srgbClr val="FF0000"/>
                </a:solidFill>
                <a:latin typeface="Calibri"/>
                <a:cs typeface="Calibri"/>
              </a:rPr>
              <a:t> </a:t>
            </a:r>
            <a:r>
              <a:rPr sz="2473" dirty="0">
                <a:solidFill>
                  <a:srgbClr val="FF0000"/>
                </a:solidFill>
                <a:latin typeface="Calibri"/>
                <a:cs typeface="Calibri"/>
              </a:rPr>
              <a:t>US</a:t>
            </a:r>
            <a:r>
              <a:rPr sz="2473" spc="-7" dirty="0">
                <a:solidFill>
                  <a:srgbClr val="FF0000"/>
                </a:solidFill>
                <a:latin typeface="Calibri"/>
                <a:cs typeface="Calibri"/>
              </a:rPr>
              <a:t> was </a:t>
            </a:r>
            <a:r>
              <a:rPr sz="2473" u="heavy" spc="-7" dirty="0">
                <a:solidFill>
                  <a:srgbClr val="FF0000"/>
                </a:solidFill>
                <a:uFill>
                  <a:solidFill>
                    <a:srgbClr val="FE0000"/>
                  </a:solidFill>
                </a:uFill>
                <a:latin typeface="Times New Roman"/>
                <a:cs typeface="Times New Roman"/>
              </a:rPr>
              <a:t> 	</a:t>
            </a:r>
            <a:endParaRPr sz="2473" dirty="0">
              <a:latin typeface="Times New Roman"/>
              <a:cs typeface="Times New Roman"/>
            </a:endParaRPr>
          </a:p>
          <a:p>
            <a:pPr marL="1465463">
              <a:spcBef>
                <a:spcPts val="1566"/>
              </a:spcBef>
              <a:tabLst>
                <a:tab pos="3030368" algn="l"/>
              </a:tabLst>
            </a:pPr>
            <a:r>
              <a:rPr sz="2473" dirty="0">
                <a:solidFill>
                  <a:srgbClr val="FF0000"/>
                </a:solidFill>
                <a:latin typeface="Calibri"/>
                <a:cs typeface="Calibri"/>
              </a:rPr>
              <a:t>I</a:t>
            </a:r>
            <a:r>
              <a:rPr sz="2473" spc="-41" dirty="0">
                <a:solidFill>
                  <a:srgbClr val="FF0000"/>
                </a:solidFill>
                <a:latin typeface="Calibri"/>
                <a:cs typeface="Calibri"/>
              </a:rPr>
              <a:t> </a:t>
            </a:r>
            <a:r>
              <a:rPr sz="2473" dirty="0">
                <a:solidFill>
                  <a:srgbClr val="FF0000"/>
                </a:solidFill>
                <a:latin typeface="Calibri"/>
                <a:cs typeface="Calibri"/>
              </a:rPr>
              <a:t>saw</a:t>
            </a:r>
            <a:r>
              <a:rPr sz="2473" spc="-48" dirty="0">
                <a:solidFill>
                  <a:srgbClr val="FF0000"/>
                </a:solidFill>
                <a:latin typeface="Calibri"/>
                <a:cs typeface="Calibri"/>
              </a:rPr>
              <a:t> </a:t>
            </a:r>
            <a:r>
              <a:rPr sz="2473" dirty="0">
                <a:solidFill>
                  <a:srgbClr val="FF0000"/>
                </a:solidFill>
                <a:latin typeface="Calibri"/>
                <a:cs typeface="Calibri"/>
              </a:rPr>
              <a:t>a </a:t>
            </a:r>
            <a:r>
              <a:rPr sz="2473" u="heavy" dirty="0">
                <a:solidFill>
                  <a:srgbClr val="FF0000"/>
                </a:solidFill>
                <a:uFill>
                  <a:solidFill>
                    <a:srgbClr val="FE0000"/>
                  </a:solidFill>
                </a:uFill>
                <a:latin typeface="Times New Roman"/>
                <a:cs typeface="Times New Roman"/>
              </a:rPr>
              <a:t> 	</a:t>
            </a:r>
            <a:endParaRPr sz="2473" dirty="0">
              <a:latin typeface="Times New Roman"/>
              <a:cs typeface="Times New Roman"/>
            </a:endParaRPr>
          </a:p>
          <a:p>
            <a:pPr marL="976975" lvl="1" indent="-314028">
              <a:spcBef>
                <a:spcPts val="742"/>
              </a:spcBef>
              <a:buFont typeface="Times New Roman"/>
              <a:buChar char="•"/>
              <a:tabLst>
                <a:tab pos="976103" algn="l"/>
                <a:tab pos="976975" algn="l"/>
              </a:tabLst>
            </a:pPr>
            <a:r>
              <a:rPr sz="2747" spc="-7" dirty="0">
                <a:latin typeface="Calibri"/>
                <a:cs typeface="Calibri"/>
              </a:rPr>
              <a:t>Unigrams</a:t>
            </a:r>
            <a:r>
              <a:rPr sz="2747" dirty="0">
                <a:latin typeface="Calibri"/>
                <a:cs typeface="Calibri"/>
              </a:rPr>
              <a:t> </a:t>
            </a:r>
            <a:r>
              <a:rPr sz="2747" spc="-7" dirty="0">
                <a:latin typeface="Calibri"/>
                <a:cs typeface="Calibri"/>
              </a:rPr>
              <a:t>are</a:t>
            </a:r>
            <a:r>
              <a:rPr sz="2747" dirty="0">
                <a:latin typeface="Calibri"/>
                <a:cs typeface="Calibri"/>
              </a:rPr>
              <a:t> </a:t>
            </a:r>
            <a:r>
              <a:rPr sz="2747" spc="-7" dirty="0">
                <a:latin typeface="Calibri"/>
                <a:cs typeface="Calibri"/>
              </a:rPr>
              <a:t>terrible</a:t>
            </a:r>
            <a:r>
              <a:rPr sz="2747" dirty="0">
                <a:latin typeface="Calibri"/>
                <a:cs typeface="Calibri"/>
              </a:rPr>
              <a:t> at this </a:t>
            </a:r>
            <a:r>
              <a:rPr sz="2747" spc="-7" dirty="0">
                <a:latin typeface="Calibri"/>
                <a:cs typeface="Calibri"/>
              </a:rPr>
              <a:t>game.</a:t>
            </a:r>
            <a:r>
              <a:rPr sz="2747" spc="625" dirty="0">
                <a:latin typeface="Calibri"/>
                <a:cs typeface="Calibri"/>
              </a:rPr>
              <a:t> </a:t>
            </a:r>
            <a:r>
              <a:rPr sz="2747" spc="-7" dirty="0">
                <a:latin typeface="Calibri"/>
                <a:cs typeface="Calibri"/>
              </a:rPr>
              <a:t>(Why?)</a:t>
            </a:r>
            <a:endParaRPr sz="2747" dirty="0">
              <a:latin typeface="Calibri"/>
              <a:cs typeface="Calibri"/>
            </a:endParaRPr>
          </a:p>
          <a:p>
            <a:pPr marL="505934" indent="-471042">
              <a:spcBef>
                <a:spcPts val="488"/>
              </a:spcBef>
              <a:buClr>
                <a:srgbClr val="CC0000"/>
              </a:buClr>
              <a:buFont typeface="Times New Roman"/>
              <a:buChar char="•"/>
              <a:tabLst>
                <a:tab pos="505061" algn="l"/>
                <a:tab pos="505934" algn="l"/>
              </a:tabLst>
            </a:pPr>
            <a:r>
              <a:rPr sz="3297" dirty="0">
                <a:latin typeface="Calibri"/>
                <a:cs typeface="Calibri"/>
              </a:rPr>
              <a:t>A</a:t>
            </a:r>
            <a:r>
              <a:rPr sz="3297" spc="-14" dirty="0">
                <a:latin typeface="Calibri"/>
                <a:cs typeface="Calibri"/>
              </a:rPr>
              <a:t> </a:t>
            </a:r>
            <a:r>
              <a:rPr sz="3297" spc="-21" dirty="0">
                <a:latin typeface="Calibri"/>
                <a:cs typeface="Calibri"/>
              </a:rPr>
              <a:t>better</a:t>
            </a:r>
            <a:r>
              <a:rPr sz="3297" spc="-14" dirty="0">
                <a:latin typeface="Calibri"/>
                <a:cs typeface="Calibri"/>
              </a:rPr>
              <a:t> </a:t>
            </a:r>
            <a:r>
              <a:rPr sz="3297" spc="-7" dirty="0">
                <a:latin typeface="Calibri"/>
                <a:cs typeface="Calibri"/>
              </a:rPr>
              <a:t>model</a:t>
            </a:r>
            <a:r>
              <a:rPr sz="3297" spc="-14" dirty="0">
                <a:latin typeface="Calibri"/>
                <a:cs typeface="Calibri"/>
              </a:rPr>
              <a:t> </a:t>
            </a:r>
            <a:r>
              <a:rPr sz="3297" spc="-7" dirty="0">
                <a:latin typeface="Calibri"/>
                <a:cs typeface="Calibri"/>
              </a:rPr>
              <a:t>of</a:t>
            </a:r>
            <a:r>
              <a:rPr sz="3297" spc="-14" dirty="0">
                <a:latin typeface="Calibri"/>
                <a:cs typeface="Calibri"/>
              </a:rPr>
              <a:t> </a:t>
            </a:r>
            <a:r>
              <a:rPr sz="3297" dirty="0">
                <a:latin typeface="Calibri"/>
                <a:cs typeface="Calibri"/>
              </a:rPr>
              <a:t>a</a:t>
            </a:r>
            <a:r>
              <a:rPr sz="3297" spc="-14" dirty="0">
                <a:latin typeface="Calibri"/>
                <a:cs typeface="Calibri"/>
              </a:rPr>
              <a:t> </a:t>
            </a:r>
            <a:r>
              <a:rPr sz="3297" spc="-7" dirty="0">
                <a:latin typeface="Calibri"/>
                <a:cs typeface="Calibri"/>
              </a:rPr>
              <a:t>text</a:t>
            </a:r>
            <a:endParaRPr sz="3297" dirty="0">
              <a:latin typeface="Calibri"/>
              <a:cs typeface="Calibri"/>
            </a:endParaRPr>
          </a:p>
        </p:txBody>
      </p:sp>
      <p:sp>
        <p:nvSpPr>
          <p:cNvPr id="9" name="object 9"/>
          <p:cNvSpPr txBox="1"/>
          <p:nvPr/>
        </p:nvSpPr>
        <p:spPr>
          <a:xfrm>
            <a:off x="9635633" y="2298827"/>
            <a:ext cx="2036875" cy="3538301"/>
          </a:xfrm>
          <a:prstGeom prst="rect">
            <a:avLst/>
          </a:prstGeom>
        </p:spPr>
        <p:txBody>
          <a:bodyPr vert="horz" wrap="square" lIns="0" tIns="181443" rIns="0" bIns="0" rtlCol="0">
            <a:spAutoFit/>
          </a:bodyPr>
          <a:lstStyle/>
          <a:p>
            <a:pPr marL="17446">
              <a:spcBef>
                <a:spcPts val="1429"/>
              </a:spcBef>
            </a:pPr>
            <a:r>
              <a:rPr sz="2198" dirty="0">
                <a:latin typeface="Arial MT"/>
                <a:cs typeface="Arial MT"/>
              </a:rPr>
              <a:t>mushrooms</a:t>
            </a:r>
            <a:r>
              <a:rPr sz="2198" spc="-69" dirty="0">
                <a:latin typeface="Arial MT"/>
                <a:cs typeface="Arial MT"/>
              </a:rPr>
              <a:t> </a:t>
            </a:r>
            <a:r>
              <a:rPr sz="2198" spc="-7" dirty="0">
                <a:latin typeface="Arial MT"/>
                <a:cs typeface="Arial MT"/>
              </a:rPr>
              <a:t>0.1</a:t>
            </a:r>
            <a:endParaRPr sz="2198">
              <a:latin typeface="Arial MT"/>
              <a:cs typeface="Arial MT"/>
            </a:endParaRPr>
          </a:p>
          <a:p>
            <a:pPr marL="17446">
              <a:spcBef>
                <a:spcPts val="1291"/>
              </a:spcBef>
            </a:pPr>
            <a:r>
              <a:rPr sz="2198" dirty="0">
                <a:latin typeface="Arial MT"/>
                <a:cs typeface="Arial MT"/>
              </a:rPr>
              <a:t>pepperoni</a:t>
            </a:r>
            <a:r>
              <a:rPr sz="2198" spc="-62" dirty="0">
                <a:latin typeface="Arial MT"/>
                <a:cs typeface="Arial MT"/>
              </a:rPr>
              <a:t> </a:t>
            </a:r>
            <a:r>
              <a:rPr sz="2198" spc="-7" dirty="0">
                <a:latin typeface="Arial MT"/>
                <a:cs typeface="Arial MT"/>
              </a:rPr>
              <a:t>0.1</a:t>
            </a:r>
            <a:endParaRPr sz="2198">
              <a:latin typeface="Arial MT"/>
              <a:cs typeface="Arial MT"/>
            </a:endParaRPr>
          </a:p>
          <a:p>
            <a:pPr marL="17446">
              <a:spcBef>
                <a:spcPts val="1346"/>
              </a:spcBef>
            </a:pPr>
            <a:r>
              <a:rPr sz="2198" dirty="0">
                <a:latin typeface="Arial MT"/>
                <a:cs typeface="Arial MT"/>
              </a:rPr>
              <a:t>anchovies</a:t>
            </a:r>
            <a:r>
              <a:rPr sz="2198" spc="-62" dirty="0">
                <a:latin typeface="Arial MT"/>
                <a:cs typeface="Arial MT"/>
              </a:rPr>
              <a:t> </a:t>
            </a:r>
            <a:r>
              <a:rPr sz="2198" spc="-7" dirty="0">
                <a:latin typeface="Arial MT"/>
                <a:cs typeface="Arial MT"/>
              </a:rPr>
              <a:t>0.01</a:t>
            </a:r>
            <a:endParaRPr sz="2198">
              <a:latin typeface="Arial MT"/>
              <a:cs typeface="Arial MT"/>
            </a:endParaRPr>
          </a:p>
          <a:p>
            <a:pPr marL="17446">
              <a:spcBef>
                <a:spcPts val="1209"/>
              </a:spcBef>
            </a:pPr>
            <a:r>
              <a:rPr sz="2198" dirty="0">
                <a:latin typeface="Arial MT"/>
                <a:cs typeface="Arial MT"/>
              </a:rPr>
              <a:t>….</a:t>
            </a:r>
            <a:endParaRPr sz="2198">
              <a:latin typeface="Arial MT"/>
              <a:cs typeface="Arial MT"/>
            </a:endParaRPr>
          </a:p>
          <a:p>
            <a:pPr marL="17446">
              <a:spcBef>
                <a:spcPts val="1346"/>
              </a:spcBef>
            </a:pPr>
            <a:r>
              <a:rPr sz="2198" spc="-7" dirty="0">
                <a:latin typeface="Arial MT"/>
                <a:cs typeface="Arial MT"/>
              </a:rPr>
              <a:t>fried</a:t>
            </a:r>
            <a:r>
              <a:rPr sz="2198" spc="-34" dirty="0">
                <a:latin typeface="Arial MT"/>
                <a:cs typeface="Arial MT"/>
              </a:rPr>
              <a:t> </a:t>
            </a:r>
            <a:r>
              <a:rPr sz="2198" dirty="0">
                <a:latin typeface="Arial MT"/>
                <a:cs typeface="Arial MT"/>
              </a:rPr>
              <a:t>rice</a:t>
            </a:r>
            <a:r>
              <a:rPr sz="2198" spc="-34" dirty="0">
                <a:latin typeface="Arial MT"/>
                <a:cs typeface="Arial MT"/>
              </a:rPr>
              <a:t> </a:t>
            </a:r>
            <a:r>
              <a:rPr sz="2198" spc="-7" dirty="0">
                <a:latin typeface="Arial MT"/>
                <a:cs typeface="Arial MT"/>
              </a:rPr>
              <a:t>0.0001</a:t>
            </a:r>
            <a:endParaRPr sz="2198">
              <a:latin typeface="Arial MT"/>
              <a:cs typeface="Arial MT"/>
            </a:endParaRPr>
          </a:p>
          <a:p>
            <a:pPr marL="17446">
              <a:spcBef>
                <a:spcPts val="1346"/>
              </a:spcBef>
            </a:pPr>
            <a:r>
              <a:rPr sz="2198" dirty="0">
                <a:latin typeface="Arial MT"/>
                <a:cs typeface="Arial MT"/>
              </a:rPr>
              <a:t>….</a:t>
            </a:r>
            <a:endParaRPr sz="2198">
              <a:latin typeface="Arial MT"/>
              <a:cs typeface="Arial MT"/>
            </a:endParaRPr>
          </a:p>
          <a:p>
            <a:pPr marL="17446">
              <a:spcBef>
                <a:spcPts val="1346"/>
              </a:spcBef>
            </a:pPr>
            <a:r>
              <a:rPr sz="2198" dirty="0">
                <a:latin typeface="Arial MT"/>
                <a:cs typeface="Arial MT"/>
              </a:rPr>
              <a:t>and</a:t>
            </a:r>
            <a:r>
              <a:rPr sz="2198" spc="-69" dirty="0">
                <a:latin typeface="Arial MT"/>
                <a:cs typeface="Arial MT"/>
              </a:rPr>
              <a:t> </a:t>
            </a:r>
            <a:r>
              <a:rPr sz="2198" dirty="0">
                <a:latin typeface="Arial MT"/>
                <a:cs typeface="Arial MT"/>
              </a:rPr>
              <a:t>1e-100</a:t>
            </a:r>
            <a:endParaRPr sz="2198">
              <a:latin typeface="Arial MT"/>
              <a:cs typeface="Arial MT"/>
            </a:endParaRPr>
          </a:p>
        </p:txBody>
      </p:sp>
      <p:sp>
        <p:nvSpPr>
          <p:cNvPr id="10" name="object 10"/>
          <p:cNvSpPr/>
          <p:nvPr/>
        </p:nvSpPr>
        <p:spPr>
          <a:xfrm>
            <a:off x="9108749" y="2522143"/>
            <a:ext cx="418715" cy="3245042"/>
          </a:xfrm>
          <a:custGeom>
            <a:avLst/>
            <a:gdLst/>
            <a:ahLst/>
            <a:cxnLst/>
            <a:rect l="l" t="t" r="r" b="b"/>
            <a:pathLst>
              <a:path w="304800" h="2362200">
                <a:moveTo>
                  <a:pt x="304799" y="2362199"/>
                </a:moveTo>
                <a:lnTo>
                  <a:pt x="237778" y="2338964"/>
                </a:lnTo>
                <a:lnTo>
                  <a:pt x="209481" y="2311978"/>
                </a:lnTo>
                <a:lnTo>
                  <a:pt x="185880" y="2276576"/>
                </a:lnTo>
                <a:lnTo>
                  <a:pt x="167890" y="2234131"/>
                </a:lnTo>
                <a:lnTo>
                  <a:pt x="156424" y="2186015"/>
                </a:lnTo>
                <a:lnTo>
                  <a:pt x="152399" y="2133599"/>
                </a:lnTo>
                <a:lnTo>
                  <a:pt x="152399" y="1158172"/>
                </a:lnTo>
                <a:lnTo>
                  <a:pt x="148374" y="1105756"/>
                </a:lnTo>
                <a:lnTo>
                  <a:pt x="136909" y="1057639"/>
                </a:lnTo>
                <a:lnTo>
                  <a:pt x="118919" y="1015194"/>
                </a:lnTo>
                <a:lnTo>
                  <a:pt x="95318" y="979793"/>
                </a:lnTo>
                <a:lnTo>
                  <a:pt x="67021" y="952807"/>
                </a:lnTo>
                <a:lnTo>
                  <a:pt x="0" y="929572"/>
                </a:lnTo>
                <a:lnTo>
                  <a:pt x="34943" y="923535"/>
                </a:lnTo>
                <a:lnTo>
                  <a:pt x="95318" y="879351"/>
                </a:lnTo>
                <a:lnTo>
                  <a:pt x="118919" y="843950"/>
                </a:lnTo>
                <a:lnTo>
                  <a:pt x="136909" y="801505"/>
                </a:lnTo>
                <a:lnTo>
                  <a:pt x="148374" y="753388"/>
                </a:lnTo>
                <a:lnTo>
                  <a:pt x="152399" y="700972"/>
                </a:lnTo>
                <a:lnTo>
                  <a:pt x="152399" y="228599"/>
                </a:lnTo>
                <a:lnTo>
                  <a:pt x="156424" y="176184"/>
                </a:lnTo>
                <a:lnTo>
                  <a:pt x="167890" y="128067"/>
                </a:lnTo>
                <a:lnTo>
                  <a:pt x="185880" y="85622"/>
                </a:lnTo>
                <a:lnTo>
                  <a:pt x="209481" y="50220"/>
                </a:lnTo>
                <a:lnTo>
                  <a:pt x="237778" y="23235"/>
                </a:lnTo>
                <a:lnTo>
                  <a:pt x="269856" y="6037"/>
                </a:lnTo>
                <a:lnTo>
                  <a:pt x="304799" y="0"/>
                </a:lnTo>
              </a:path>
            </a:pathLst>
          </a:custGeom>
          <a:ln w="9524">
            <a:solidFill>
              <a:srgbClr val="000000"/>
            </a:solidFill>
          </a:ln>
        </p:spPr>
        <p:txBody>
          <a:bodyPr wrap="square" lIns="0" tIns="0" rIns="0" bIns="0" rtlCol="0"/>
          <a:lstStyle/>
          <a:p>
            <a:endParaRPr sz="2473"/>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725136" y="805472"/>
            <a:ext cx="2379698" cy="694084"/>
          </a:xfrm>
          <a:prstGeom prst="rect">
            <a:avLst/>
          </a:prstGeom>
        </p:spPr>
        <p:txBody>
          <a:bodyPr vert="horz" wrap="square" lIns="0" tIns="17446" rIns="0" bIns="0" rtlCol="0">
            <a:spAutoFit/>
          </a:bodyPr>
          <a:lstStyle/>
          <a:p>
            <a:pPr marL="17446">
              <a:spcBef>
                <a:spcPts val="137"/>
              </a:spcBef>
            </a:pPr>
            <a:r>
              <a:rPr spc="-7" dirty="0">
                <a:latin typeface="Calibri"/>
                <a:cs typeface="Calibri"/>
              </a:rPr>
              <a:t>Perplexit</a:t>
            </a:r>
            <a:r>
              <a:rPr dirty="0">
                <a:latin typeface="Calibri"/>
                <a:cs typeface="Calibri"/>
              </a:rPr>
              <a:t>y</a:t>
            </a:r>
          </a:p>
        </p:txBody>
      </p:sp>
      <p:pic>
        <p:nvPicPr>
          <p:cNvPr id="7" name="object 7"/>
          <p:cNvPicPr/>
          <p:nvPr/>
        </p:nvPicPr>
        <p:blipFill>
          <a:blip r:embed="rId3" cstate="print"/>
          <a:stretch>
            <a:fillRect/>
          </a:stretch>
        </p:blipFill>
        <p:spPr>
          <a:xfrm>
            <a:off x="8473469" y="4912791"/>
            <a:ext cx="3391593" cy="855748"/>
          </a:xfrm>
          <a:prstGeom prst="rect">
            <a:avLst/>
          </a:prstGeom>
        </p:spPr>
      </p:pic>
      <p:pic>
        <p:nvPicPr>
          <p:cNvPr id="8" name="object 8"/>
          <p:cNvPicPr/>
          <p:nvPr/>
        </p:nvPicPr>
        <p:blipFill>
          <a:blip r:embed="rId4" cstate="print"/>
          <a:stretch>
            <a:fillRect/>
          </a:stretch>
        </p:blipFill>
        <p:spPr>
          <a:xfrm>
            <a:off x="8467708" y="6150618"/>
            <a:ext cx="3023122" cy="904423"/>
          </a:xfrm>
          <a:prstGeom prst="rect">
            <a:avLst/>
          </a:prstGeom>
        </p:spPr>
      </p:pic>
      <p:sp>
        <p:nvSpPr>
          <p:cNvPr id="9" name="object 9"/>
          <p:cNvSpPr txBox="1"/>
          <p:nvPr/>
        </p:nvSpPr>
        <p:spPr>
          <a:xfrm>
            <a:off x="1118039" y="5061967"/>
            <a:ext cx="7828229" cy="2376917"/>
          </a:xfrm>
          <a:prstGeom prst="rect">
            <a:avLst/>
          </a:prstGeom>
        </p:spPr>
        <p:txBody>
          <a:bodyPr vert="horz" wrap="square" lIns="0" tIns="17446" rIns="0" bIns="0" rtlCol="0">
            <a:spAutoFit/>
          </a:bodyPr>
          <a:lstStyle/>
          <a:p>
            <a:pPr marL="3724719">
              <a:spcBef>
                <a:spcPts val="137"/>
              </a:spcBef>
            </a:pPr>
            <a:r>
              <a:rPr sz="2747" dirty="0">
                <a:latin typeface="Calibri"/>
                <a:cs typeface="Calibri"/>
              </a:rPr>
              <a:t>Chain</a:t>
            </a:r>
            <a:r>
              <a:rPr sz="2747" spc="-48" dirty="0">
                <a:latin typeface="Calibri"/>
                <a:cs typeface="Calibri"/>
              </a:rPr>
              <a:t> </a:t>
            </a:r>
            <a:r>
              <a:rPr sz="2747" spc="-7" dirty="0">
                <a:latin typeface="Calibri"/>
                <a:cs typeface="Calibri"/>
              </a:rPr>
              <a:t>rule:</a:t>
            </a:r>
            <a:endParaRPr sz="2747" dirty="0">
              <a:latin typeface="Calibri"/>
              <a:cs typeface="Calibri"/>
            </a:endParaRPr>
          </a:p>
          <a:p>
            <a:pPr>
              <a:spcBef>
                <a:spcPts val="55"/>
              </a:spcBef>
            </a:pPr>
            <a:endParaRPr sz="3778" dirty="0">
              <a:latin typeface="Calibri"/>
              <a:cs typeface="Calibri"/>
            </a:endParaRPr>
          </a:p>
          <a:p>
            <a:pPr marL="3646212"/>
            <a:r>
              <a:rPr sz="2747" spc="-7" dirty="0">
                <a:latin typeface="Calibri"/>
                <a:cs typeface="Calibri"/>
              </a:rPr>
              <a:t>For</a:t>
            </a:r>
            <a:r>
              <a:rPr sz="2747" spc="-34" dirty="0">
                <a:latin typeface="Calibri"/>
                <a:cs typeface="Calibri"/>
              </a:rPr>
              <a:t> </a:t>
            </a:r>
            <a:r>
              <a:rPr sz="2747" spc="-7" dirty="0">
                <a:latin typeface="Calibri"/>
                <a:cs typeface="Calibri"/>
              </a:rPr>
              <a:t>bigrams:</a:t>
            </a:r>
            <a:endParaRPr sz="2747" dirty="0">
              <a:latin typeface="Calibri"/>
              <a:cs typeface="Calibri"/>
            </a:endParaRPr>
          </a:p>
          <a:p>
            <a:pPr>
              <a:spcBef>
                <a:spcPts val="14"/>
              </a:spcBef>
            </a:pPr>
            <a:endParaRPr sz="3503" dirty="0">
              <a:latin typeface="Calibri"/>
              <a:cs typeface="Calibri"/>
            </a:endParaRPr>
          </a:p>
          <a:p>
            <a:pPr marL="17446"/>
            <a:r>
              <a:rPr sz="2473" b="1" spc="-7" dirty="0">
                <a:latin typeface="Calibri"/>
                <a:cs typeface="Calibri"/>
              </a:rPr>
              <a:t>Minimizing</a:t>
            </a:r>
            <a:r>
              <a:rPr sz="2473" b="1" spc="-14" dirty="0">
                <a:latin typeface="Calibri"/>
                <a:cs typeface="Calibri"/>
              </a:rPr>
              <a:t> </a:t>
            </a:r>
            <a:r>
              <a:rPr sz="2473" b="1" dirty="0">
                <a:latin typeface="Calibri"/>
                <a:cs typeface="Calibri"/>
              </a:rPr>
              <a:t>perplexity</a:t>
            </a:r>
            <a:r>
              <a:rPr sz="2473" b="1" spc="-14" dirty="0">
                <a:latin typeface="Calibri"/>
                <a:cs typeface="Calibri"/>
              </a:rPr>
              <a:t> </a:t>
            </a:r>
            <a:r>
              <a:rPr sz="2473" b="1" dirty="0">
                <a:latin typeface="Calibri"/>
                <a:cs typeface="Calibri"/>
              </a:rPr>
              <a:t>is</a:t>
            </a:r>
            <a:r>
              <a:rPr sz="2473" b="1" spc="-7" dirty="0">
                <a:latin typeface="Calibri"/>
                <a:cs typeface="Calibri"/>
              </a:rPr>
              <a:t> </a:t>
            </a:r>
            <a:r>
              <a:rPr sz="2473" b="1" dirty="0">
                <a:latin typeface="Calibri"/>
                <a:cs typeface="Calibri"/>
              </a:rPr>
              <a:t>the</a:t>
            </a:r>
            <a:r>
              <a:rPr sz="2473" b="1" spc="-14" dirty="0">
                <a:latin typeface="Calibri"/>
                <a:cs typeface="Calibri"/>
              </a:rPr>
              <a:t> </a:t>
            </a:r>
            <a:r>
              <a:rPr sz="2473" b="1" dirty="0">
                <a:latin typeface="Calibri"/>
                <a:cs typeface="Calibri"/>
              </a:rPr>
              <a:t>same</a:t>
            </a:r>
            <a:r>
              <a:rPr sz="2473" b="1" spc="-7" dirty="0">
                <a:latin typeface="Calibri"/>
                <a:cs typeface="Calibri"/>
              </a:rPr>
              <a:t> </a:t>
            </a:r>
            <a:r>
              <a:rPr sz="2473" b="1" dirty="0">
                <a:latin typeface="Calibri"/>
                <a:cs typeface="Calibri"/>
              </a:rPr>
              <a:t>as</a:t>
            </a:r>
            <a:r>
              <a:rPr sz="2473" b="1" spc="-14" dirty="0">
                <a:latin typeface="Calibri"/>
                <a:cs typeface="Calibri"/>
              </a:rPr>
              <a:t> </a:t>
            </a:r>
            <a:r>
              <a:rPr sz="2473" b="1" dirty="0">
                <a:latin typeface="Calibri"/>
                <a:cs typeface="Calibri"/>
              </a:rPr>
              <a:t>maximizing</a:t>
            </a:r>
            <a:r>
              <a:rPr sz="2473" b="1" spc="-7" dirty="0">
                <a:latin typeface="Calibri"/>
                <a:cs typeface="Calibri"/>
              </a:rPr>
              <a:t> </a:t>
            </a:r>
            <a:r>
              <a:rPr sz="2473" b="1" dirty="0">
                <a:latin typeface="Calibri"/>
                <a:cs typeface="Calibri"/>
              </a:rPr>
              <a:t>probability</a:t>
            </a:r>
            <a:endParaRPr sz="2473" dirty="0">
              <a:latin typeface="Calibri"/>
              <a:cs typeface="Calibri"/>
            </a:endParaRPr>
          </a:p>
        </p:txBody>
      </p:sp>
      <p:sp>
        <p:nvSpPr>
          <p:cNvPr id="10" name="object 10"/>
          <p:cNvSpPr txBox="1"/>
          <p:nvPr/>
        </p:nvSpPr>
        <p:spPr>
          <a:xfrm>
            <a:off x="1329143" y="2440097"/>
            <a:ext cx="10715616" cy="440361"/>
          </a:xfrm>
          <a:prstGeom prst="rect">
            <a:avLst/>
          </a:prstGeom>
        </p:spPr>
        <p:txBody>
          <a:bodyPr vert="horz" wrap="square" lIns="0" tIns="17446" rIns="0" bIns="0" rtlCol="0">
            <a:spAutoFit/>
          </a:bodyPr>
          <a:lstStyle/>
          <a:p>
            <a:pPr marL="17446">
              <a:spcBef>
                <a:spcPts val="137"/>
              </a:spcBef>
            </a:pPr>
            <a:r>
              <a:rPr sz="2747" b="1" dirty="0">
                <a:latin typeface="Calibri"/>
                <a:cs typeface="Calibri"/>
              </a:rPr>
              <a:t>The best </a:t>
            </a:r>
            <a:r>
              <a:rPr sz="2747" b="1" spc="-7" dirty="0">
                <a:latin typeface="Calibri"/>
                <a:cs typeface="Calibri"/>
              </a:rPr>
              <a:t>language</a:t>
            </a:r>
            <a:r>
              <a:rPr sz="2747" b="1" dirty="0">
                <a:latin typeface="Calibri"/>
                <a:cs typeface="Calibri"/>
              </a:rPr>
              <a:t> </a:t>
            </a:r>
            <a:r>
              <a:rPr sz="2747" b="1" spc="-7" dirty="0">
                <a:latin typeface="Calibri"/>
                <a:cs typeface="Calibri"/>
              </a:rPr>
              <a:t>model</a:t>
            </a:r>
            <a:r>
              <a:rPr sz="2747" b="1" dirty="0">
                <a:latin typeface="Calibri"/>
                <a:cs typeface="Calibri"/>
              </a:rPr>
              <a:t> is </a:t>
            </a:r>
            <a:r>
              <a:rPr sz="2747" b="1" spc="-7" dirty="0">
                <a:latin typeface="Calibri"/>
                <a:cs typeface="Calibri"/>
              </a:rPr>
              <a:t>one</a:t>
            </a:r>
            <a:r>
              <a:rPr sz="2747" b="1" dirty="0">
                <a:latin typeface="Calibri"/>
                <a:cs typeface="Calibri"/>
              </a:rPr>
              <a:t> that</a:t>
            </a:r>
            <a:r>
              <a:rPr sz="2747" b="1" spc="7" dirty="0">
                <a:latin typeface="Calibri"/>
                <a:cs typeface="Calibri"/>
              </a:rPr>
              <a:t> </a:t>
            </a:r>
            <a:r>
              <a:rPr sz="2747" b="1" dirty="0">
                <a:latin typeface="Calibri"/>
                <a:cs typeface="Calibri"/>
              </a:rPr>
              <a:t>best </a:t>
            </a:r>
            <a:r>
              <a:rPr sz="2747" b="1" spc="-7" dirty="0">
                <a:latin typeface="Calibri"/>
                <a:cs typeface="Calibri"/>
              </a:rPr>
              <a:t>predicts</a:t>
            </a:r>
            <a:r>
              <a:rPr sz="2747" b="1" dirty="0">
                <a:latin typeface="Calibri"/>
                <a:cs typeface="Calibri"/>
              </a:rPr>
              <a:t> an unseen </a:t>
            </a:r>
            <a:r>
              <a:rPr sz="2747" b="1" spc="-7" dirty="0">
                <a:latin typeface="Calibri"/>
                <a:cs typeface="Calibri"/>
              </a:rPr>
              <a:t>test</a:t>
            </a:r>
            <a:r>
              <a:rPr sz="2747" b="1" dirty="0">
                <a:latin typeface="Calibri"/>
                <a:cs typeface="Calibri"/>
              </a:rPr>
              <a:t> set</a:t>
            </a:r>
          </a:p>
        </p:txBody>
      </p:sp>
      <p:sp>
        <p:nvSpPr>
          <p:cNvPr id="11" name="object 11"/>
          <p:cNvSpPr txBox="1"/>
          <p:nvPr/>
        </p:nvSpPr>
        <p:spPr>
          <a:xfrm>
            <a:off x="1118039" y="2919559"/>
            <a:ext cx="5568912" cy="2067820"/>
          </a:xfrm>
          <a:prstGeom prst="rect">
            <a:avLst/>
          </a:prstGeom>
        </p:spPr>
        <p:txBody>
          <a:bodyPr vert="horz" wrap="square" lIns="0" tIns="195400" rIns="0" bIns="0" rtlCol="0">
            <a:spAutoFit/>
          </a:bodyPr>
          <a:lstStyle/>
          <a:p>
            <a:pPr marL="1064205" indent="-314028">
              <a:spcBef>
                <a:spcPts val="1539"/>
              </a:spcBef>
              <a:buFont typeface="Times New Roman"/>
              <a:buChar char="•"/>
              <a:tabLst>
                <a:tab pos="1063333" algn="l"/>
                <a:tab pos="1064205" algn="l"/>
              </a:tabLst>
            </a:pPr>
            <a:r>
              <a:rPr sz="2747" dirty="0">
                <a:latin typeface="Calibri"/>
                <a:cs typeface="Calibri"/>
              </a:rPr>
              <a:t>Gives</a:t>
            </a:r>
            <a:r>
              <a:rPr sz="2747" spc="-21" dirty="0">
                <a:latin typeface="Calibri"/>
                <a:cs typeface="Calibri"/>
              </a:rPr>
              <a:t> </a:t>
            </a:r>
            <a:r>
              <a:rPr sz="2747" dirty="0">
                <a:latin typeface="Calibri"/>
                <a:cs typeface="Calibri"/>
              </a:rPr>
              <a:t>the</a:t>
            </a:r>
            <a:r>
              <a:rPr sz="2747" spc="-14" dirty="0">
                <a:latin typeface="Calibri"/>
                <a:cs typeface="Calibri"/>
              </a:rPr>
              <a:t> </a:t>
            </a:r>
            <a:r>
              <a:rPr sz="2747" dirty="0">
                <a:latin typeface="Calibri"/>
                <a:cs typeface="Calibri"/>
              </a:rPr>
              <a:t>highest</a:t>
            </a:r>
            <a:r>
              <a:rPr sz="2747" spc="-14" dirty="0">
                <a:latin typeface="Calibri"/>
                <a:cs typeface="Calibri"/>
              </a:rPr>
              <a:t> </a:t>
            </a:r>
            <a:r>
              <a:rPr sz="2747" spc="-7" dirty="0">
                <a:latin typeface="Calibri"/>
                <a:cs typeface="Calibri"/>
              </a:rPr>
              <a:t>P(sentence)</a:t>
            </a:r>
            <a:endParaRPr sz="2747" dirty="0">
              <a:latin typeface="Calibri"/>
              <a:cs typeface="Calibri"/>
            </a:endParaRPr>
          </a:p>
          <a:p>
            <a:pPr marL="17446" marR="6978">
              <a:spcBef>
                <a:spcPts val="1400"/>
              </a:spcBef>
            </a:pPr>
            <a:r>
              <a:rPr sz="2747" spc="-7" dirty="0">
                <a:latin typeface="Calibri"/>
                <a:cs typeface="Calibri"/>
              </a:rPr>
              <a:t>Perplexity </a:t>
            </a:r>
            <a:r>
              <a:rPr sz="2747" dirty="0">
                <a:latin typeface="Calibri"/>
                <a:cs typeface="Calibri"/>
              </a:rPr>
              <a:t>is</a:t>
            </a:r>
            <a:r>
              <a:rPr sz="2747" spc="7" dirty="0">
                <a:latin typeface="Calibri"/>
                <a:cs typeface="Calibri"/>
              </a:rPr>
              <a:t> </a:t>
            </a:r>
            <a:r>
              <a:rPr sz="2747" dirty="0">
                <a:latin typeface="Calibri"/>
                <a:cs typeface="Calibri"/>
              </a:rPr>
              <a:t>the</a:t>
            </a:r>
            <a:r>
              <a:rPr sz="2747" spc="7" dirty="0">
                <a:latin typeface="Calibri"/>
                <a:cs typeface="Calibri"/>
              </a:rPr>
              <a:t> </a:t>
            </a:r>
            <a:r>
              <a:rPr sz="2747" spc="-7" dirty="0">
                <a:latin typeface="Calibri"/>
                <a:cs typeface="Calibri"/>
              </a:rPr>
              <a:t>inverse</a:t>
            </a:r>
            <a:r>
              <a:rPr sz="2747" dirty="0">
                <a:latin typeface="Calibri"/>
                <a:cs typeface="Calibri"/>
              </a:rPr>
              <a:t> </a:t>
            </a:r>
            <a:r>
              <a:rPr sz="2747" spc="-7" dirty="0">
                <a:latin typeface="Calibri"/>
                <a:cs typeface="Calibri"/>
              </a:rPr>
              <a:t>probability</a:t>
            </a:r>
            <a:r>
              <a:rPr sz="2747" dirty="0">
                <a:latin typeface="Calibri"/>
                <a:cs typeface="Calibri"/>
              </a:rPr>
              <a:t> </a:t>
            </a:r>
            <a:r>
              <a:rPr sz="2747" spc="-7" dirty="0">
                <a:latin typeface="Calibri"/>
                <a:cs typeface="Calibri"/>
              </a:rPr>
              <a:t>of </a:t>
            </a:r>
            <a:r>
              <a:rPr sz="2747" dirty="0">
                <a:latin typeface="Calibri"/>
                <a:cs typeface="Calibri"/>
              </a:rPr>
              <a:t> the </a:t>
            </a:r>
            <a:r>
              <a:rPr sz="2747" spc="-7" dirty="0">
                <a:latin typeface="Calibri"/>
                <a:cs typeface="Calibri"/>
              </a:rPr>
              <a:t>test </a:t>
            </a:r>
            <a:r>
              <a:rPr sz="2747" dirty="0">
                <a:latin typeface="Calibri"/>
                <a:cs typeface="Calibri"/>
              </a:rPr>
              <a:t>set, </a:t>
            </a:r>
            <a:r>
              <a:rPr sz="2747" spc="-7" dirty="0">
                <a:latin typeface="Calibri"/>
                <a:cs typeface="Calibri"/>
              </a:rPr>
              <a:t>normalized </a:t>
            </a:r>
            <a:r>
              <a:rPr sz="2747" dirty="0">
                <a:latin typeface="Calibri"/>
                <a:cs typeface="Calibri"/>
              </a:rPr>
              <a:t>by the </a:t>
            </a:r>
            <a:r>
              <a:rPr sz="2747" spc="-7" dirty="0">
                <a:latin typeface="Calibri"/>
                <a:cs typeface="Calibri"/>
              </a:rPr>
              <a:t>number </a:t>
            </a:r>
            <a:r>
              <a:rPr sz="2747" spc="-604" dirty="0">
                <a:latin typeface="Calibri"/>
                <a:cs typeface="Calibri"/>
              </a:rPr>
              <a:t> </a:t>
            </a:r>
            <a:r>
              <a:rPr sz="2747" spc="-7" dirty="0">
                <a:latin typeface="Calibri"/>
                <a:cs typeface="Calibri"/>
              </a:rPr>
              <a:t>of</a:t>
            </a:r>
            <a:r>
              <a:rPr sz="2747" spc="-14" dirty="0">
                <a:latin typeface="Calibri"/>
                <a:cs typeface="Calibri"/>
              </a:rPr>
              <a:t> </a:t>
            </a:r>
            <a:r>
              <a:rPr sz="2747" spc="-7" dirty="0">
                <a:latin typeface="Calibri"/>
                <a:cs typeface="Calibri"/>
              </a:rPr>
              <a:t>words:</a:t>
            </a:r>
            <a:endParaRPr sz="2747" dirty="0">
              <a:latin typeface="Calibri"/>
              <a:cs typeface="Calibri"/>
            </a:endParaRPr>
          </a:p>
        </p:txBody>
      </p:sp>
      <p:sp>
        <p:nvSpPr>
          <p:cNvPr id="12" name="object 12"/>
          <p:cNvSpPr txBox="1"/>
          <p:nvPr/>
        </p:nvSpPr>
        <p:spPr>
          <a:xfrm>
            <a:off x="8227002" y="3090491"/>
            <a:ext cx="2952814" cy="338279"/>
          </a:xfrm>
          <a:prstGeom prst="rect">
            <a:avLst/>
          </a:prstGeom>
        </p:spPr>
        <p:txBody>
          <a:bodyPr vert="horz" wrap="square" lIns="0" tIns="20936" rIns="0" bIns="0" rtlCol="0">
            <a:spAutoFit/>
          </a:bodyPr>
          <a:lstStyle/>
          <a:p>
            <a:pPr marL="52338">
              <a:spcBef>
                <a:spcPts val="165"/>
              </a:spcBef>
              <a:tabLst>
                <a:tab pos="1049376" algn="l"/>
                <a:tab pos="1448017" algn="l"/>
              </a:tabLst>
            </a:pPr>
            <a:r>
              <a:rPr sz="2061" i="1" spc="7" dirty="0">
                <a:latin typeface="Times New Roman"/>
                <a:cs typeface="Times New Roman"/>
              </a:rPr>
              <a:t>PP</a:t>
            </a:r>
            <a:r>
              <a:rPr sz="2061" spc="7" dirty="0">
                <a:latin typeface="Times New Roman"/>
                <a:cs typeface="Times New Roman"/>
              </a:rPr>
              <a:t>(</a:t>
            </a:r>
            <a:r>
              <a:rPr sz="2061" i="1" spc="7" dirty="0">
                <a:latin typeface="Times New Roman"/>
                <a:cs typeface="Times New Roman"/>
              </a:rPr>
              <a:t>W</a:t>
            </a:r>
            <a:r>
              <a:rPr sz="2061" i="1" spc="-227" dirty="0">
                <a:latin typeface="Times New Roman"/>
                <a:cs typeface="Times New Roman"/>
              </a:rPr>
              <a:t> </a:t>
            </a:r>
            <a:r>
              <a:rPr sz="2061" spc="7" dirty="0">
                <a:latin typeface="Times New Roman"/>
                <a:cs typeface="Times New Roman"/>
              </a:rPr>
              <a:t>)	</a:t>
            </a:r>
            <a:r>
              <a:rPr sz="2061" spc="14" dirty="0">
                <a:latin typeface="Symbol"/>
                <a:cs typeface="Symbol"/>
              </a:rPr>
              <a:t></a:t>
            </a:r>
            <a:r>
              <a:rPr sz="2061" spc="14" dirty="0">
                <a:latin typeface="Times New Roman"/>
                <a:cs typeface="Times New Roman"/>
              </a:rPr>
              <a:t>	</a:t>
            </a:r>
            <a:r>
              <a:rPr sz="2061" i="1" spc="27" dirty="0">
                <a:latin typeface="Times New Roman"/>
                <a:cs typeface="Times New Roman"/>
              </a:rPr>
              <a:t>P</a:t>
            </a:r>
            <a:r>
              <a:rPr sz="2061" spc="27" dirty="0">
                <a:latin typeface="Times New Roman"/>
                <a:cs typeface="Times New Roman"/>
              </a:rPr>
              <a:t>(</a:t>
            </a:r>
            <a:r>
              <a:rPr sz="2061" i="1" spc="27" dirty="0">
                <a:latin typeface="Times New Roman"/>
                <a:cs typeface="Times New Roman"/>
              </a:rPr>
              <a:t>w</a:t>
            </a:r>
            <a:r>
              <a:rPr sz="2061" spc="41" baseline="-22222" dirty="0">
                <a:latin typeface="Times New Roman"/>
                <a:cs typeface="Times New Roman"/>
              </a:rPr>
              <a:t>1</a:t>
            </a:r>
            <a:r>
              <a:rPr sz="2061" i="1" spc="27" dirty="0">
                <a:latin typeface="Times New Roman"/>
                <a:cs typeface="Times New Roman"/>
              </a:rPr>
              <a:t>w</a:t>
            </a:r>
            <a:r>
              <a:rPr sz="2061" spc="41" baseline="-22222" dirty="0">
                <a:latin typeface="Times New Roman"/>
                <a:cs typeface="Times New Roman"/>
              </a:rPr>
              <a:t>2</a:t>
            </a:r>
            <a:r>
              <a:rPr sz="2061" spc="27" dirty="0">
                <a:latin typeface="Times New Roman"/>
                <a:cs typeface="Times New Roman"/>
              </a:rPr>
              <a:t>...</a:t>
            </a:r>
            <a:r>
              <a:rPr sz="2061" i="1" spc="27" dirty="0">
                <a:latin typeface="Times New Roman"/>
                <a:cs typeface="Times New Roman"/>
              </a:rPr>
              <a:t>w</a:t>
            </a:r>
            <a:r>
              <a:rPr sz="2061" i="1" spc="41" baseline="-22222" dirty="0">
                <a:latin typeface="Times New Roman"/>
                <a:cs typeface="Times New Roman"/>
              </a:rPr>
              <a:t>N</a:t>
            </a:r>
            <a:r>
              <a:rPr sz="2061" i="1" spc="-51" baseline="-22222" dirty="0">
                <a:latin typeface="Times New Roman"/>
                <a:cs typeface="Times New Roman"/>
              </a:rPr>
              <a:t> </a:t>
            </a:r>
            <a:r>
              <a:rPr sz="2061" spc="7" dirty="0">
                <a:latin typeface="Times New Roman"/>
                <a:cs typeface="Times New Roman"/>
              </a:rPr>
              <a:t>)</a:t>
            </a:r>
            <a:endParaRPr sz="2061">
              <a:latin typeface="Times New Roman"/>
              <a:cs typeface="Times New Roman"/>
            </a:endParaRPr>
          </a:p>
        </p:txBody>
      </p:sp>
      <p:sp>
        <p:nvSpPr>
          <p:cNvPr id="13" name="object 13"/>
          <p:cNvSpPr txBox="1"/>
          <p:nvPr/>
        </p:nvSpPr>
        <p:spPr>
          <a:xfrm>
            <a:off x="11108185" y="2953477"/>
            <a:ext cx="99445" cy="235251"/>
          </a:xfrm>
          <a:prstGeom prst="rect">
            <a:avLst/>
          </a:prstGeom>
        </p:spPr>
        <p:txBody>
          <a:bodyPr vert="horz" wrap="square" lIns="0" tIns="23553" rIns="0" bIns="0" rtlCol="0">
            <a:spAutoFit/>
          </a:bodyPr>
          <a:lstStyle/>
          <a:p>
            <a:pPr>
              <a:spcBef>
                <a:spcPts val="185"/>
              </a:spcBef>
            </a:pPr>
            <a:r>
              <a:rPr sz="1374" spc="21" dirty="0">
                <a:latin typeface="Symbol"/>
                <a:cs typeface="Symbol"/>
              </a:rPr>
              <a:t></a:t>
            </a:r>
            <a:endParaRPr sz="1374">
              <a:latin typeface="Symbol"/>
              <a:cs typeface="Symbol"/>
            </a:endParaRPr>
          </a:p>
        </p:txBody>
      </p:sp>
      <p:sp>
        <p:nvSpPr>
          <p:cNvPr id="14" name="object 14"/>
          <p:cNvSpPr txBox="1"/>
          <p:nvPr/>
        </p:nvSpPr>
        <p:spPr>
          <a:xfrm>
            <a:off x="11195921" y="2813835"/>
            <a:ext cx="174465" cy="518663"/>
          </a:xfrm>
          <a:prstGeom prst="rect">
            <a:avLst/>
          </a:prstGeom>
        </p:spPr>
        <p:txBody>
          <a:bodyPr vert="horz" wrap="square" lIns="0" tIns="56701" rIns="0" bIns="0" rtlCol="0">
            <a:spAutoFit/>
          </a:bodyPr>
          <a:lstStyle/>
          <a:p>
            <a:pPr marL="17446">
              <a:spcBef>
                <a:spcPts val="446"/>
              </a:spcBef>
            </a:pPr>
            <a:r>
              <a:rPr sz="1374" u="sng" spc="-69" dirty="0">
                <a:uFill>
                  <a:solidFill>
                    <a:srgbClr val="000000"/>
                  </a:solidFill>
                </a:uFill>
                <a:latin typeface="Times New Roman"/>
                <a:cs typeface="Times New Roman"/>
              </a:rPr>
              <a:t> </a:t>
            </a:r>
            <a:r>
              <a:rPr sz="1374" u="sng" spc="21" dirty="0">
                <a:uFill>
                  <a:solidFill>
                    <a:srgbClr val="000000"/>
                  </a:solidFill>
                </a:uFill>
                <a:latin typeface="Times New Roman"/>
                <a:cs typeface="Times New Roman"/>
              </a:rPr>
              <a:t>1</a:t>
            </a:r>
            <a:endParaRPr sz="1374">
              <a:latin typeface="Times New Roman"/>
              <a:cs typeface="Times New Roman"/>
            </a:endParaRPr>
          </a:p>
          <a:p>
            <a:pPr marL="35763">
              <a:spcBef>
                <a:spcPts val="315"/>
              </a:spcBef>
            </a:pPr>
            <a:r>
              <a:rPr sz="1374" i="1" spc="27" dirty="0">
                <a:latin typeface="Times New Roman"/>
                <a:cs typeface="Times New Roman"/>
              </a:rPr>
              <a:t>N</a:t>
            </a:r>
            <a:endParaRPr sz="1374">
              <a:latin typeface="Times New Roman"/>
              <a:cs typeface="Times New Roman"/>
            </a:endParaRPr>
          </a:p>
        </p:txBody>
      </p:sp>
      <p:sp>
        <p:nvSpPr>
          <p:cNvPr id="15" name="object 15"/>
          <p:cNvSpPr txBox="1"/>
          <p:nvPr/>
        </p:nvSpPr>
        <p:spPr>
          <a:xfrm>
            <a:off x="10538534" y="3882124"/>
            <a:ext cx="168358" cy="338279"/>
          </a:xfrm>
          <a:prstGeom prst="rect">
            <a:avLst/>
          </a:prstGeom>
        </p:spPr>
        <p:txBody>
          <a:bodyPr vert="horz" wrap="square" lIns="0" tIns="20936" rIns="0" bIns="0" rtlCol="0">
            <a:spAutoFit/>
          </a:bodyPr>
          <a:lstStyle/>
          <a:p>
            <a:pPr marL="17446">
              <a:spcBef>
                <a:spcPts val="165"/>
              </a:spcBef>
            </a:pPr>
            <a:r>
              <a:rPr sz="2061" spc="14" dirty="0">
                <a:latin typeface="Times New Roman"/>
                <a:cs typeface="Times New Roman"/>
              </a:rPr>
              <a:t>1</a:t>
            </a:r>
            <a:endParaRPr sz="2061">
              <a:latin typeface="Times New Roman"/>
              <a:cs typeface="Times New Roman"/>
            </a:endParaRPr>
          </a:p>
        </p:txBody>
      </p:sp>
      <p:sp>
        <p:nvSpPr>
          <p:cNvPr id="16" name="object 16"/>
          <p:cNvSpPr txBox="1"/>
          <p:nvPr/>
        </p:nvSpPr>
        <p:spPr>
          <a:xfrm>
            <a:off x="10320557" y="4405267"/>
            <a:ext cx="911578" cy="235251"/>
          </a:xfrm>
          <a:prstGeom prst="rect">
            <a:avLst/>
          </a:prstGeom>
        </p:spPr>
        <p:txBody>
          <a:bodyPr vert="horz" wrap="square" lIns="0" tIns="23553" rIns="0" bIns="0" rtlCol="0">
            <a:spAutoFit/>
          </a:bodyPr>
          <a:lstStyle/>
          <a:p>
            <a:pPr marL="17446">
              <a:spcBef>
                <a:spcPts val="185"/>
              </a:spcBef>
              <a:tabLst>
                <a:tab pos="772857" algn="l"/>
              </a:tabLst>
            </a:pPr>
            <a:r>
              <a:rPr sz="1374" spc="21" dirty="0">
                <a:latin typeface="Times New Roman"/>
                <a:cs typeface="Times New Roman"/>
              </a:rPr>
              <a:t>1   </a:t>
            </a:r>
            <a:r>
              <a:rPr sz="1374" spc="-7" dirty="0">
                <a:latin typeface="Times New Roman"/>
                <a:cs typeface="Times New Roman"/>
              </a:rPr>
              <a:t> </a:t>
            </a:r>
            <a:r>
              <a:rPr sz="1374" spc="21" dirty="0">
                <a:latin typeface="Times New Roman"/>
                <a:cs typeface="Times New Roman"/>
              </a:rPr>
              <a:t>2</a:t>
            </a:r>
            <a:r>
              <a:rPr sz="1374" dirty="0">
                <a:latin typeface="Times New Roman"/>
                <a:cs typeface="Times New Roman"/>
              </a:rPr>
              <a:t>	</a:t>
            </a:r>
            <a:r>
              <a:rPr sz="1374" i="1" spc="27" dirty="0">
                <a:latin typeface="Times New Roman"/>
                <a:cs typeface="Times New Roman"/>
              </a:rPr>
              <a:t>N</a:t>
            </a:r>
            <a:endParaRPr sz="1374">
              <a:latin typeface="Times New Roman"/>
              <a:cs typeface="Times New Roman"/>
            </a:endParaRPr>
          </a:p>
        </p:txBody>
      </p:sp>
      <p:sp>
        <p:nvSpPr>
          <p:cNvPr id="17" name="object 17"/>
          <p:cNvSpPr/>
          <p:nvPr/>
        </p:nvSpPr>
        <p:spPr>
          <a:xfrm>
            <a:off x="9893747" y="4268055"/>
            <a:ext cx="1460269" cy="0"/>
          </a:xfrm>
          <a:custGeom>
            <a:avLst/>
            <a:gdLst/>
            <a:ahLst/>
            <a:cxnLst/>
            <a:rect l="l" t="t" r="r" b="b"/>
            <a:pathLst>
              <a:path w="1062990">
                <a:moveTo>
                  <a:pt x="0" y="0"/>
                </a:moveTo>
                <a:lnTo>
                  <a:pt x="1062861" y="0"/>
                </a:lnTo>
              </a:path>
            </a:pathLst>
          </a:custGeom>
          <a:ln w="9570">
            <a:solidFill>
              <a:srgbClr val="000000"/>
            </a:solidFill>
          </a:ln>
        </p:spPr>
        <p:txBody>
          <a:bodyPr wrap="square" lIns="0" tIns="0" rIns="0" bIns="0" rtlCol="0"/>
          <a:lstStyle/>
          <a:p>
            <a:endParaRPr sz="2473"/>
          </a:p>
        </p:txBody>
      </p:sp>
      <p:sp>
        <p:nvSpPr>
          <p:cNvPr id="18" name="object 18"/>
          <p:cNvSpPr txBox="1"/>
          <p:nvPr/>
        </p:nvSpPr>
        <p:spPr>
          <a:xfrm>
            <a:off x="9270813" y="4043356"/>
            <a:ext cx="2095320" cy="559749"/>
          </a:xfrm>
          <a:prstGeom prst="rect">
            <a:avLst/>
          </a:prstGeom>
        </p:spPr>
        <p:txBody>
          <a:bodyPr vert="horz" wrap="square" lIns="0" tIns="20936" rIns="0" bIns="0" rtlCol="0">
            <a:spAutoFit/>
          </a:bodyPr>
          <a:lstStyle/>
          <a:p>
            <a:pPr marL="17446">
              <a:lnSpc>
                <a:spcPts val="2067"/>
              </a:lnSpc>
              <a:spcBef>
                <a:spcPts val="165"/>
              </a:spcBef>
              <a:tabLst>
                <a:tab pos="421321" algn="l"/>
              </a:tabLst>
            </a:pPr>
            <a:r>
              <a:rPr sz="2061" spc="14" dirty="0">
                <a:latin typeface="Symbol"/>
                <a:cs typeface="Symbol"/>
              </a:rPr>
              <a:t></a:t>
            </a:r>
            <a:r>
              <a:rPr sz="2061" spc="14" dirty="0">
                <a:latin typeface="Times New Roman"/>
                <a:cs typeface="Times New Roman"/>
              </a:rPr>
              <a:t>	</a:t>
            </a:r>
            <a:r>
              <a:rPr sz="1374" i="1" spc="27" dirty="0">
                <a:latin typeface="Times New Roman"/>
                <a:cs typeface="Times New Roman"/>
              </a:rPr>
              <a:t>N</a:t>
            </a:r>
            <a:endParaRPr sz="1374">
              <a:latin typeface="Times New Roman"/>
              <a:cs typeface="Times New Roman"/>
            </a:endParaRPr>
          </a:p>
          <a:p>
            <a:pPr marL="642885">
              <a:lnSpc>
                <a:spcPts val="2067"/>
              </a:lnSpc>
            </a:pPr>
            <a:r>
              <a:rPr sz="2061" i="1" spc="48" dirty="0">
                <a:latin typeface="Times New Roman"/>
                <a:cs typeface="Times New Roman"/>
              </a:rPr>
              <a:t>P</a:t>
            </a:r>
            <a:r>
              <a:rPr sz="2061" spc="48" dirty="0">
                <a:latin typeface="Times New Roman"/>
                <a:cs typeface="Times New Roman"/>
              </a:rPr>
              <a:t>(</a:t>
            </a:r>
            <a:r>
              <a:rPr sz="2061" i="1" spc="48" dirty="0">
                <a:latin typeface="Times New Roman"/>
                <a:cs typeface="Times New Roman"/>
              </a:rPr>
              <a:t>w</a:t>
            </a:r>
            <a:r>
              <a:rPr sz="2061" i="1" spc="14" dirty="0">
                <a:latin typeface="Times New Roman"/>
                <a:cs typeface="Times New Roman"/>
              </a:rPr>
              <a:t> </a:t>
            </a:r>
            <a:r>
              <a:rPr sz="2061" i="1" spc="21" dirty="0">
                <a:latin typeface="Times New Roman"/>
                <a:cs typeface="Times New Roman"/>
              </a:rPr>
              <a:t>w</a:t>
            </a:r>
            <a:r>
              <a:rPr sz="2061" i="1" spc="234" dirty="0">
                <a:latin typeface="Times New Roman"/>
                <a:cs typeface="Times New Roman"/>
              </a:rPr>
              <a:t> </a:t>
            </a:r>
            <a:r>
              <a:rPr sz="2061" spc="21" dirty="0">
                <a:latin typeface="Times New Roman"/>
                <a:cs typeface="Times New Roman"/>
              </a:rPr>
              <a:t>...</a:t>
            </a:r>
            <a:r>
              <a:rPr sz="2061" i="1" spc="21" dirty="0">
                <a:latin typeface="Times New Roman"/>
                <a:cs typeface="Times New Roman"/>
              </a:rPr>
              <a:t>w </a:t>
            </a:r>
            <a:r>
              <a:rPr sz="2061" i="1" spc="261" dirty="0">
                <a:latin typeface="Times New Roman"/>
                <a:cs typeface="Times New Roman"/>
              </a:rPr>
              <a:t> </a:t>
            </a:r>
            <a:r>
              <a:rPr sz="2061" spc="7" dirty="0">
                <a:latin typeface="Times New Roman"/>
                <a:cs typeface="Times New Roman"/>
              </a:rPr>
              <a:t>)</a:t>
            </a:r>
            <a:endParaRPr sz="2061">
              <a:latin typeface="Times New Roman"/>
              <a:cs typeface="Times New Roman"/>
            </a:endParaRPr>
          </a:p>
        </p:txBody>
      </p:sp>
      <p:sp>
        <p:nvSpPr>
          <p:cNvPr id="19" name="object 19"/>
          <p:cNvSpPr/>
          <p:nvPr/>
        </p:nvSpPr>
        <p:spPr>
          <a:xfrm>
            <a:off x="9713832" y="3907875"/>
            <a:ext cx="1660903" cy="721411"/>
          </a:xfrm>
          <a:custGeom>
            <a:avLst/>
            <a:gdLst/>
            <a:ahLst/>
            <a:cxnLst/>
            <a:rect l="l" t="t" r="r" b="b"/>
            <a:pathLst>
              <a:path w="1209040" h="525145">
                <a:moveTo>
                  <a:pt x="1208942" y="0"/>
                </a:moveTo>
                <a:lnTo>
                  <a:pt x="115857" y="0"/>
                </a:lnTo>
                <a:lnTo>
                  <a:pt x="68002" y="479042"/>
                </a:lnTo>
                <a:lnTo>
                  <a:pt x="26696" y="315332"/>
                </a:lnTo>
                <a:lnTo>
                  <a:pt x="0" y="352103"/>
                </a:lnTo>
                <a:lnTo>
                  <a:pt x="5036" y="355630"/>
                </a:lnTo>
                <a:lnTo>
                  <a:pt x="15614" y="339007"/>
                </a:lnTo>
                <a:lnTo>
                  <a:pt x="63469" y="524882"/>
                </a:lnTo>
                <a:lnTo>
                  <a:pt x="73040" y="524882"/>
                </a:lnTo>
                <a:lnTo>
                  <a:pt x="124419" y="9570"/>
                </a:lnTo>
                <a:lnTo>
                  <a:pt x="1208942" y="9570"/>
                </a:lnTo>
                <a:lnTo>
                  <a:pt x="1208942" y="0"/>
                </a:lnTo>
                <a:close/>
              </a:path>
            </a:pathLst>
          </a:custGeom>
          <a:solidFill>
            <a:srgbClr val="000000"/>
          </a:solidFill>
        </p:spPr>
        <p:txBody>
          <a:bodyPr wrap="square" lIns="0" tIns="0" rIns="0" bIns="0" rtlCol="0"/>
          <a:lstStyle/>
          <a:p>
            <a:endParaRPr sz="2473"/>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6937587" cy="694084"/>
          </a:xfrm>
          <a:prstGeom prst="rect">
            <a:avLst/>
          </a:prstGeom>
        </p:spPr>
        <p:txBody>
          <a:bodyPr vert="horz" wrap="square" lIns="0" tIns="17446" rIns="0" bIns="0" rtlCol="0">
            <a:spAutoFit/>
          </a:bodyPr>
          <a:lstStyle/>
          <a:p>
            <a:pPr marL="17446">
              <a:spcBef>
                <a:spcPts val="137"/>
              </a:spcBef>
            </a:pPr>
            <a:r>
              <a:rPr spc="-7" dirty="0">
                <a:latin typeface="Calibri"/>
                <a:cs typeface="Calibri"/>
              </a:rPr>
              <a:t>Perplexity</a:t>
            </a:r>
            <a:r>
              <a:rPr spc="-41" dirty="0">
                <a:latin typeface="Calibri"/>
                <a:cs typeface="Calibri"/>
              </a:rPr>
              <a:t> </a:t>
            </a:r>
            <a:r>
              <a:rPr spc="-7" dirty="0">
                <a:latin typeface="Calibri"/>
                <a:cs typeface="Calibri"/>
              </a:rPr>
              <a:t>as</a:t>
            </a:r>
            <a:r>
              <a:rPr spc="-34" dirty="0">
                <a:latin typeface="Calibri"/>
                <a:cs typeface="Calibri"/>
              </a:rPr>
              <a:t> </a:t>
            </a:r>
            <a:r>
              <a:rPr spc="-7" dirty="0">
                <a:latin typeface="Calibri"/>
                <a:cs typeface="Calibri"/>
              </a:rPr>
              <a:t>branching</a:t>
            </a:r>
            <a:r>
              <a:rPr spc="-34" dirty="0">
                <a:latin typeface="Calibri"/>
                <a:cs typeface="Calibri"/>
              </a:rPr>
              <a:t> </a:t>
            </a:r>
            <a:r>
              <a:rPr spc="-7" dirty="0">
                <a:latin typeface="Calibri"/>
                <a:cs typeface="Calibri"/>
              </a:rPr>
              <a:t>factor</a:t>
            </a:r>
          </a:p>
        </p:txBody>
      </p:sp>
      <p:sp>
        <p:nvSpPr>
          <p:cNvPr id="7" name="object 7"/>
          <p:cNvSpPr txBox="1"/>
          <p:nvPr/>
        </p:nvSpPr>
        <p:spPr>
          <a:xfrm>
            <a:off x="1118039" y="2451424"/>
            <a:ext cx="10732193" cy="1697563"/>
          </a:xfrm>
          <a:prstGeom prst="rect">
            <a:avLst/>
          </a:prstGeom>
        </p:spPr>
        <p:txBody>
          <a:bodyPr vert="horz" wrap="square" lIns="0" tIns="103806" rIns="0" bIns="0" rtlCol="0">
            <a:spAutoFit/>
          </a:bodyPr>
          <a:lstStyle/>
          <a:p>
            <a:pPr marL="488488" indent="-471042">
              <a:spcBef>
                <a:spcPts val="817"/>
              </a:spcBef>
              <a:buClr>
                <a:srgbClr val="CC0000"/>
              </a:buClr>
              <a:buFont typeface="Times New Roman"/>
              <a:buChar char="•"/>
              <a:tabLst>
                <a:tab pos="487615" algn="l"/>
                <a:tab pos="488488" algn="l"/>
              </a:tabLst>
            </a:pPr>
            <a:r>
              <a:rPr sz="3297" spc="-7" dirty="0">
                <a:latin typeface="Calibri"/>
                <a:cs typeface="Calibri"/>
              </a:rPr>
              <a:t>Let’s</a:t>
            </a:r>
            <a:r>
              <a:rPr sz="3297" dirty="0">
                <a:latin typeface="Calibri"/>
                <a:cs typeface="Calibri"/>
              </a:rPr>
              <a:t> </a:t>
            </a:r>
            <a:r>
              <a:rPr sz="3297" spc="-7" dirty="0">
                <a:latin typeface="Calibri"/>
                <a:cs typeface="Calibri"/>
              </a:rPr>
              <a:t>suppose</a:t>
            </a:r>
            <a:r>
              <a:rPr sz="3297" spc="7" dirty="0">
                <a:latin typeface="Calibri"/>
                <a:cs typeface="Calibri"/>
              </a:rPr>
              <a:t> </a:t>
            </a:r>
            <a:r>
              <a:rPr sz="3297" dirty="0">
                <a:latin typeface="Calibri"/>
                <a:cs typeface="Calibri"/>
              </a:rPr>
              <a:t>a</a:t>
            </a:r>
            <a:r>
              <a:rPr sz="3297" spc="7" dirty="0">
                <a:latin typeface="Calibri"/>
                <a:cs typeface="Calibri"/>
              </a:rPr>
              <a:t> </a:t>
            </a:r>
            <a:r>
              <a:rPr sz="3297" spc="-7" dirty="0">
                <a:latin typeface="Calibri"/>
                <a:cs typeface="Calibri"/>
              </a:rPr>
              <a:t>sentence</a:t>
            </a:r>
            <a:r>
              <a:rPr sz="3297" spc="7" dirty="0">
                <a:latin typeface="Calibri"/>
                <a:cs typeface="Calibri"/>
              </a:rPr>
              <a:t> </a:t>
            </a:r>
            <a:r>
              <a:rPr sz="3297" spc="-7" dirty="0">
                <a:latin typeface="Calibri"/>
                <a:cs typeface="Calibri"/>
              </a:rPr>
              <a:t>consisting</a:t>
            </a:r>
            <a:r>
              <a:rPr sz="3297" dirty="0">
                <a:latin typeface="Calibri"/>
                <a:cs typeface="Calibri"/>
              </a:rPr>
              <a:t> </a:t>
            </a:r>
            <a:r>
              <a:rPr sz="3297" spc="-7" dirty="0">
                <a:latin typeface="Calibri"/>
                <a:cs typeface="Calibri"/>
              </a:rPr>
              <a:t>of</a:t>
            </a:r>
            <a:r>
              <a:rPr sz="3297" spc="7" dirty="0">
                <a:latin typeface="Calibri"/>
                <a:cs typeface="Calibri"/>
              </a:rPr>
              <a:t> </a:t>
            </a:r>
            <a:r>
              <a:rPr sz="3297" spc="-7" dirty="0">
                <a:latin typeface="Calibri"/>
                <a:cs typeface="Calibri"/>
              </a:rPr>
              <a:t>random</a:t>
            </a:r>
            <a:r>
              <a:rPr sz="3297" spc="7" dirty="0">
                <a:latin typeface="Calibri"/>
                <a:cs typeface="Calibri"/>
              </a:rPr>
              <a:t> </a:t>
            </a:r>
            <a:r>
              <a:rPr sz="3297" dirty="0">
                <a:latin typeface="Calibri"/>
                <a:cs typeface="Calibri"/>
              </a:rPr>
              <a:t>digits</a:t>
            </a:r>
          </a:p>
          <a:p>
            <a:pPr marL="488488" marR="6978" indent="-471042">
              <a:lnSpc>
                <a:spcPct val="101499"/>
              </a:lnSpc>
              <a:spcBef>
                <a:spcPts val="618"/>
              </a:spcBef>
              <a:buClr>
                <a:srgbClr val="CC0000"/>
              </a:buClr>
              <a:buFont typeface="Times New Roman"/>
              <a:buChar char="•"/>
              <a:tabLst>
                <a:tab pos="487615" algn="l"/>
                <a:tab pos="488488" algn="l"/>
              </a:tabLst>
            </a:pPr>
            <a:r>
              <a:rPr sz="3297" spc="-7" dirty="0">
                <a:latin typeface="Calibri"/>
                <a:cs typeface="Calibri"/>
              </a:rPr>
              <a:t>What</a:t>
            </a:r>
            <a:r>
              <a:rPr sz="3297" dirty="0">
                <a:latin typeface="Calibri"/>
                <a:cs typeface="Calibri"/>
              </a:rPr>
              <a:t> is</a:t>
            </a:r>
            <a:r>
              <a:rPr sz="3297" spc="7" dirty="0">
                <a:latin typeface="Calibri"/>
                <a:cs typeface="Calibri"/>
              </a:rPr>
              <a:t> </a:t>
            </a:r>
            <a:r>
              <a:rPr sz="3297" dirty="0">
                <a:latin typeface="Calibri"/>
                <a:cs typeface="Calibri"/>
              </a:rPr>
              <a:t>the</a:t>
            </a:r>
            <a:r>
              <a:rPr sz="3297" spc="7" dirty="0">
                <a:latin typeface="Calibri"/>
                <a:cs typeface="Calibri"/>
              </a:rPr>
              <a:t> </a:t>
            </a:r>
            <a:r>
              <a:rPr sz="3297" spc="-7" dirty="0">
                <a:latin typeface="Calibri"/>
                <a:cs typeface="Calibri"/>
              </a:rPr>
              <a:t>perplexity</a:t>
            </a:r>
            <a:r>
              <a:rPr sz="3297" dirty="0">
                <a:latin typeface="Calibri"/>
                <a:cs typeface="Calibri"/>
              </a:rPr>
              <a:t> </a:t>
            </a:r>
            <a:r>
              <a:rPr sz="3297" spc="-7" dirty="0">
                <a:latin typeface="Calibri"/>
                <a:cs typeface="Calibri"/>
              </a:rPr>
              <a:t>of</a:t>
            </a:r>
            <a:r>
              <a:rPr sz="3297" spc="7" dirty="0">
                <a:latin typeface="Calibri"/>
                <a:cs typeface="Calibri"/>
              </a:rPr>
              <a:t> </a:t>
            </a:r>
            <a:r>
              <a:rPr sz="3297" dirty="0">
                <a:latin typeface="Calibri"/>
                <a:cs typeface="Calibri"/>
              </a:rPr>
              <a:t>this</a:t>
            </a:r>
            <a:r>
              <a:rPr sz="3297" spc="7" dirty="0">
                <a:latin typeface="Calibri"/>
                <a:cs typeface="Calibri"/>
              </a:rPr>
              <a:t> </a:t>
            </a:r>
            <a:r>
              <a:rPr sz="3297" spc="-7" dirty="0">
                <a:latin typeface="Calibri"/>
                <a:cs typeface="Calibri"/>
              </a:rPr>
              <a:t>sentence</a:t>
            </a:r>
            <a:r>
              <a:rPr sz="3297" spc="7" dirty="0">
                <a:latin typeface="Calibri"/>
                <a:cs typeface="Calibri"/>
              </a:rPr>
              <a:t> </a:t>
            </a:r>
            <a:r>
              <a:rPr sz="3297" spc="-7" dirty="0">
                <a:latin typeface="Calibri"/>
                <a:cs typeface="Calibri"/>
              </a:rPr>
              <a:t>according</a:t>
            </a:r>
            <a:r>
              <a:rPr sz="3297" spc="7" dirty="0">
                <a:latin typeface="Calibri"/>
                <a:cs typeface="Calibri"/>
              </a:rPr>
              <a:t> </a:t>
            </a:r>
            <a:r>
              <a:rPr sz="3297" dirty="0">
                <a:latin typeface="Calibri"/>
                <a:cs typeface="Calibri"/>
              </a:rPr>
              <a:t>to</a:t>
            </a:r>
            <a:r>
              <a:rPr sz="3297" spc="7" dirty="0">
                <a:latin typeface="Calibri"/>
                <a:cs typeface="Calibri"/>
              </a:rPr>
              <a:t> </a:t>
            </a:r>
            <a:r>
              <a:rPr sz="3297" dirty="0">
                <a:latin typeface="Calibri"/>
                <a:cs typeface="Calibri"/>
              </a:rPr>
              <a:t>a </a:t>
            </a:r>
            <a:r>
              <a:rPr sz="3297" spc="-7" dirty="0">
                <a:latin typeface="Calibri"/>
                <a:cs typeface="Calibri"/>
              </a:rPr>
              <a:t>model </a:t>
            </a:r>
            <a:r>
              <a:rPr sz="3297" spc="-721" dirty="0">
                <a:latin typeface="Calibri"/>
                <a:cs typeface="Calibri"/>
              </a:rPr>
              <a:t> </a:t>
            </a:r>
            <a:r>
              <a:rPr sz="3297" dirty="0">
                <a:latin typeface="Calibri"/>
                <a:cs typeface="Calibri"/>
              </a:rPr>
              <a:t>that</a:t>
            </a:r>
            <a:r>
              <a:rPr sz="3297" spc="-7" dirty="0">
                <a:latin typeface="Calibri"/>
                <a:cs typeface="Calibri"/>
              </a:rPr>
              <a:t> </a:t>
            </a:r>
            <a:r>
              <a:rPr sz="3297" dirty="0">
                <a:latin typeface="Calibri"/>
                <a:cs typeface="Calibri"/>
              </a:rPr>
              <a:t>assign </a:t>
            </a:r>
            <a:r>
              <a:rPr sz="3297" spc="-7" dirty="0">
                <a:latin typeface="Calibri"/>
                <a:cs typeface="Calibri"/>
              </a:rPr>
              <a:t>P=1/10</a:t>
            </a:r>
            <a:r>
              <a:rPr sz="3297" dirty="0">
                <a:latin typeface="Calibri"/>
                <a:cs typeface="Calibri"/>
              </a:rPr>
              <a:t> to</a:t>
            </a:r>
            <a:r>
              <a:rPr sz="3297" spc="-7" dirty="0">
                <a:latin typeface="Calibri"/>
                <a:cs typeface="Calibri"/>
              </a:rPr>
              <a:t> each</a:t>
            </a:r>
            <a:r>
              <a:rPr sz="3297" dirty="0">
                <a:latin typeface="Calibri"/>
                <a:cs typeface="Calibri"/>
              </a:rPr>
              <a:t> digit?</a:t>
            </a:r>
          </a:p>
        </p:txBody>
      </p:sp>
      <p:pic>
        <p:nvPicPr>
          <p:cNvPr id="8" name="object 8"/>
          <p:cNvPicPr/>
          <p:nvPr/>
        </p:nvPicPr>
        <p:blipFill>
          <a:blip r:embed="rId3" cstate="print"/>
          <a:stretch>
            <a:fillRect/>
          </a:stretch>
        </p:blipFill>
        <p:spPr>
          <a:xfrm>
            <a:off x="4330088" y="4709850"/>
            <a:ext cx="3359671" cy="216664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7" y="1145678"/>
            <a:ext cx="9936633" cy="694084"/>
          </a:xfrm>
          <a:prstGeom prst="rect">
            <a:avLst/>
          </a:prstGeom>
        </p:spPr>
        <p:txBody>
          <a:bodyPr vert="horz" wrap="square" lIns="0" tIns="17446" rIns="0" bIns="0" rtlCol="0">
            <a:spAutoFit/>
          </a:bodyPr>
          <a:lstStyle/>
          <a:p>
            <a:pPr marL="17446">
              <a:spcBef>
                <a:spcPts val="137"/>
              </a:spcBef>
            </a:pPr>
            <a:r>
              <a:rPr spc="-7" dirty="0">
                <a:latin typeface="Calibri"/>
                <a:cs typeface="Calibri"/>
              </a:rPr>
              <a:t>The</a:t>
            </a:r>
            <a:r>
              <a:rPr spc="-21" dirty="0">
                <a:latin typeface="Calibri"/>
                <a:cs typeface="Calibri"/>
              </a:rPr>
              <a:t> </a:t>
            </a:r>
            <a:r>
              <a:rPr spc="-7" dirty="0">
                <a:latin typeface="Calibri"/>
                <a:cs typeface="Calibri"/>
              </a:rPr>
              <a:t>Shannon</a:t>
            </a:r>
            <a:r>
              <a:rPr spc="-14" dirty="0">
                <a:latin typeface="Calibri"/>
                <a:cs typeface="Calibri"/>
              </a:rPr>
              <a:t> </a:t>
            </a:r>
            <a:r>
              <a:rPr spc="-7" dirty="0">
                <a:latin typeface="Calibri"/>
                <a:cs typeface="Calibri"/>
              </a:rPr>
              <a:t>Game</a:t>
            </a:r>
            <a:r>
              <a:rPr spc="-14" dirty="0">
                <a:latin typeface="Calibri"/>
                <a:cs typeface="Calibri"/>
              </a:rPr>
              <a:t> intuition </a:t>
            </a:r>
            <a:r>
              <a:rPr spc="-7" dirty="0">
                <a:latin typeface="Calibri"/>
                <a:cs typeface="Calibri"/>
              </a:rPr>
              <a:t>for</a:t>
            </a:r>
            <a:r>
              <a:rPr spc="-14" dirty="0">
                <a:latin typeface="Calibri"/>
                <a:cs typeface="Calibri"/>
              </a:rPr>
              <a:t> </a:t>
            </a:r>
            <a:r>
              <a:rPr spc="-7" dirty="0">
                <a:latin typeface="Calibri"/>
                <a:cs typeface="Calibri"/>
              </a:rPr>
              <a:t>perplexity</a:t>
            </a:r>
          </a:p>
        </p:txBody>
      </p:sp>
      <p:sp>
        <p:nvSpPr>
          <p:cNvPr id="7" name="object 7"/>
          <p:cNvSpPr txBox="1"/>
          <p:nvPr/>
        </p:nvSpPr>
        <p:spPr>
          <a:xfrm>
            <a:off x="1662599" y="2405329"/>
            <a:ext cx="8250433" cy="5012353"/>
          </a:xfrm>
          <a:prstGeom prst="rect">
            <a:avLst/>
          </a:prstGeom>
        </p:spPr>
        <p:txBody>
          <a:bodyPr vert="horz" wrap="square" lIns="0" tIns="81998" rIns="0" bIns="0" rtlCol="0">
            <a:spAutoFit/>
          </a:bodyPr>
          <a:lstStyle/>
          <a:p>
            <a:pPr marL="488488" indent="-471042">
              <a:spcBef>
                <a:spcPts val="646"/>
              </a:spcBef>
              <a:buClr>
                <a:srgbClr val="CC0000"/>
              </a:buClr>
              <a:buFont typeface="Times New Roman"/>
              <a:buChar char="•"/>
              <a:tabLst>
                <a:tab pos="487615" algn="l"/>
                <a:tab pos="488488" algn="l"/>
              </a:tabLst>
            </a:pPr>
            <a:r>
              <a:rPr sz="2473" spc="-7" dirty="0">
                <a:latin typeface="Calibri"/>
                <a:cs typeface="Calibri"/>
              </a:rPr>
              <a:t>From</a:t>
            </a:r>
            <a:r>
              <a:rPr sz="2473" spc="-27" dirty="0">
                <a:latin typeface="Calibri"/>
                <a:cs typeface="Calibri"/>
              </a:rPr>
              <a:t> </a:t>
            </a:r>
            <a:r>
              <a:rPr sz="2473" spc="-7" dirty="0">
                <a:latin typeface="Calibri"/>
                <a:cs typeface="Calibri"/>
              </a:rPr>
              <a:t>Josh</a:t>
            </a:r>
            <a:r>
              <a:rPr sz="2473" spc="-21" dirty="0">
                <a:latin typeface="Calibri"/>
                <a:cs typeface="Calibri"/>
              </a:rPr>
              <a:t> </a:t>
            </a:r>
            <a:r>
              <a:rPr sz="2473" spc="-7" dirty="0">
                <a:latin typeface="Calibri"/>
                <a:cs typeface="Calibri"/>
              </a:rPr>
              <a:t>Goodman</a:t>
            </a:r>
            <a:endParaRPr sz="2473" dirty="0">
              <a:latin typeface="Calibri"/>
              <a:cs typeface="Calibri"/>
            </a:endParaRPr>
          </a:p>
          <a:p>
            <a:pPr marL="488488" indent="-471042">
              <a:spcBef>
                <a:spcPts val="515"/>
              </a:spcBef>
              <a:buClr>
                <a:srgbClr val="CC0000"/>
              </a:buClr>
              <a:buFont typeface="Times New Roman"/>
              <a:buChar char="•"/>
              <a:tabLst>
                <a:tab pos="487615" algn="l"/>
                <a:tab pos="488488" algn="l"/>
              </a:tabLst>
            </a:pPr>
            <a:r>
              <a:rPr sz="2473" spc="-7" dirty="0">
                <a:latin typeface="Calibri"/>
                <a:cs typeface="Calibri"/>
              </a:rPr>
              <a:t>How</a:t>
            </a:r>
            <a:r>
              <a:rPr sz="2473" dirty="0">
                <a:latin typeface="Calibri"/>
                <a:cs typeface="Calibri"/>
              </a:rPr>
              <a:t> </a:t>
            </a:r>
            <a:r>
              <a:rPr sz="2473" spc="-7" dirty="0">
                <a:latin typeface="Calibri"/>
                <a:cs typeface="Calibri"/>
              </a:rPr>
              <a:t>hard</a:t>
            </a:r>
            <a:r>
              <a:rPr sz="2473" spc="7" dirty="0">
                <a:latin typeface="Calibri"/>
                <a:cs typeface="Calibri"/>
              </a:rPr>
              <a:t> </a:t>
            </a:r>
            <a:r>
              <a:rPr sz="2473" dirty="0">
                <a:latin typeface="Calibri"/>
                <a:cs typeface="Calibri"/>
              </a:rPr>
              <a:t>is</a:t>
            </a:r>
            <a:r>
              <a:rPr sz="2473" spc="7" dirty="0">
                <a:latin typeface="Calibri"/>
                <a:cs typeface="Calibri"/>
              </a:rPr>
              <a:t> </a:t>
            </a:r>
            <a:r>
              <a:rPr sz="2473" dirty="0">
                <a:latin typeface="Calibri"/>
                <a:cs typeface="Calibri"/>
              </a:rPr>
              <a:t>the task</a:t>
            </a:r>
            <a:r>
              <a:rPr sz="2473" spc="7" dirty="0">
                <a:latin typeface="Calibri"/>
                <a:cs typeface="Calibri"/>
              </a:rPr>
              <a:t> </a:t>
            </a:r>
            <a:r>
              <a:rPr sz="2473" spc="-7" dirty="0">
                <a:latin typeface="Calibri"/>
                <a:cs typeface="Calibri"/>
              </a:rPr>
              <a:t>of</a:t>
            </a:r>
            <a:r>
              <a:rPr sz="2473" spc="7" dirty="0">
                <a:latin typeface="Calibri"/>
                <a:cs typeface="Calibri"/>
              </a:rPr>
              <a:t> </a:t>
            </a:r>
            <a:r>
              <a:rPr sz="2473" spc="-7" dirty="0">
                <a:latin typeface="Calibri"/>
                <a:cs typeface="Calibri"/>
              </a:rPr>
              <a:t>recognizing</a:t>
            </a:r>
            <a:r>
              <a:rPr sz="2473" dirty="0">
                <a:latin typeface="Calibri"/>
                <a:cs typeface="Calibri"/>
              </a:rPr>
              <a:t> digits</a:t>
            </a:r>
            <a:r>
              <a:rPr sz="2473" spc="7" dirty="0">
                <a:latin typeface="Calibri"/>
                <a:cs typeface="Calibri"/>
              </a:rPr>
              <a:t> </a:t>
            </a:r>
            <a:r>
              <a:rPr sz="2473" spc="-7" dirty="0">
                <a:latin typeface="Calibri"/>
                <a:cs typeface="Calibri"/>
              </a:rPr>
              <a:t>‘0,1,2,3,4,5,6,7,8,9’</a:t>
            </a:r>
            <a:endParaRPr sz="2473" dirty="0">
              <a:latin typeface="Calibri"/>
              <a:cs typeface="Calibri"/>
            </a:endParaRPr>
          </a:p>
          <a:p>
            <a:pPr marL="959529" lvl="1" indent="-314028">
              <a:spcBef>
                <a:spcPts val="467"/>
              </a:spcBef>
              <a:buFont typeface="Times New Roman"/>
              <a:buChar char="•"/>
              <a:tabLst>
                <a:tab pos="958657" algn="l"/>
                <a:tab pos="959529" algn="l"/>
              </a:tabLst>
            </a:pPr>
            <a:r>
              <a:rPr sz="1923" dirty="0">
                <a:latin typeface="Calibri"/>
                <a:cs typeface="Calibri"/>
              </a:rPr>
              <a:t>Perplexity</a:t>
            </a:r>
            <a:r>
              <a:rPr sz="1923" spc="-62" dirty="0">
                <a:latin typeface="Calibri"/>
                <a:cs typeface="Calibri"/>
              </a:rPr>
              <a:t> </a:t>
            </a:r>
            <a:r>
              <a:rPr sz="1923" spc="-7" dirty="0">
                <a:latin typeface="Calibri"/>
                <a:cs typeface="Calibri"/>
              </a:rPr>
              <a:t>10</a:t>
            </a:r>
            <a:endParaRPr sz="1923" dirty="0">
              <a:latin typeface="Calibri"/>
              <a:cs typeface="Calibri"/>
            </a:endParaRPr>
          </a:p>
          <a:p>
            <a:pPr marL="488488" indent="-471042">
              <a:spcBef>
                <a:spcPts val="577"/>
              </a:spcBef>
              <a:buClr>
                <a:srgbClr val="CC0000"/>
              </a:buClr>
              <a:buFont typeface="Times New Roman"/>
              <a:buChar char="•"/>
              <a:tabLst>
                <a:tab pos="487615" algn="l"/>
                <a:tab pos="488488" algn="l"/>
              </a:tabLst>
            </a:pPr>
            <a:r>
              <a:rPr sz="2473" spc="-7" dirty="0">
                <a:latin typeface="Calibri"/>
                <a:cs typeface="Calibri"/>
              </a:rPr>
              <a:t>How</a:t>
            </a:r>
            <a:r>
              <a:rPr sz="2473" spc="7" dirty="0">
                <a:latin typeface="Calibri"/>
                <a:cs typeface="Calibri"/>
              </a:rPr>
              <a:t> </a:t>
            </a:r>
            <a:r>
              <a:rPr sz="2473" spc="-7" dirty="0">
                <a:latin typeface="Calibri"/>
                <a:cs typeface="Calibri"/>
              </a:rPr>
              <a:t>hard</a:t>
            </a:r>
            <a:r>
              <a:rPr sz="2473" spc="7" dirty="0">
                <a:latin typeface="Calibri"/>
                <a:cs typeface="Calibri"/>
              </a:rPr>
              <a:t> </a:t>
            </a:r>
            <a:r>
              <a:rPr sz="2473" dirty="0">
                <a:latin typeface="Calibri"/>
                <a:cs typeface="Calibri"/>
              </a:rPr>
              <a:t>is</a:t>
            </a:r>
            <a:r>
              <a:rPr sz="2473" spc="7" dirty="0">
                <a:latin typeface="Calibri"/>
                <a:cs typeface="Calibri"/>
              </a:rPr>
              <a:t> </a:t>
            </a:r>
            <a:r>
              <a:rPr sz="2473" spc="-7" dirty="0">
                <a:latin typeface="Calibri"/>
                <a:cs typeface="Calibri"/>
              </a:rPr>
              <a:t>recognizing</a:t>
            </a:r>
            <a:r>
              <a:rPr sz="2473" spc="7" dirty="0">
                <a:latin typeface="Calibri"/>
                <a:cs typeface="Calibri"/>
              </a:rPr>
              <a:t> </a:t>
            </a:r>
            <a:r>
              <a:rPr sz="2473" spc="-7" dirty="0">
                <a:latin typeface="Calibri"/>
                <a:cs typeface="Calibri"/>
              </a:rPr>
              <a:t>(30,000)</a:t>
            </a:r>
            <a:r>
              <a:rPr sz="2473" spc="7" dirty="0">
                <a:latin typeface="Calibri"/>
                <a:cs typeface="Calibri"/>
              </a:rPr>
              <a:t> </a:t>
            </a:r>
            <a:r>
              <a:rPr sz="2473" spc="-7" dirty="0">
                <a:latin typeface="Calibri"/>
                <a:cs typeface="Calibri"/>
              </a:rPr>
              <a:t>names</a:t>
            </a:r>
            <a:r>
              <a:rPr sz="2473" spc="7" dirty="0">
                <a:latin typeface="Calibri"/>
                <a:cs typeface="Calibri"/>
              </a:rPr>
              <a:t> </a:t>
            </a:r>
            <a:r>
              <a:rPr sz="2473" dirty="0">
                <a:latin typeface="Calibri"/>
                <a:cs typeface="Calibri"/>
              </a:rPr>
              <a:t>at</a:t>
            </a:r>
            <a:r>
              <a:rPr sz="2473" spc="7" dirty="0">
                <a:latin typeface="Calibri"/>
                <a:cs typeface="Calibri"/>
              </a:rPr>
              <a:t> </a:t>
            </a:r>
            <a:r>
              <a:rPr sz="2473" spc="-14" dirty="0">
                <a:latin typeface="Calibri"/>
                <a:cs typeface="Calibri"/>
              </a:rPr>
              <a:t>Microsoft.</a:t>
            </a:r>
            <a:endParaRPr sz="2473" dirty="0">
              <a:latin typeface="Calibri"/>
              <a:cs typeface="Calibri"/>
            </a:endParaRPr>
          </a:p>
          <a:p>
            <a:pPr marL="959529" lvl="1" indent="-314028">
              <a:spcBef>
                <a:spcPts val="467"/>
              </a:spcBef>
              <a:buFont typeface="Times New Roman"/>
              <a:buChar char="•"/>
              <a:tabLst>
                <a:tab pos="958657" algn="l"/>
                <a:tab pos="959529" algn="l"/>
              </a:tabLst>
            </a:pPr>
            <a:r>
              <a:rPr sz="1923" dirty="0">
                <a:latin typeface="Calibri"/>
                <a:cs typeface="Calibri"/>
              </a:rPr>
              <a:t>Perplexity</a:t>
            </a:r>
            <a:r>
              <a:rPr sz="1923" spc="-48" dirty="0">
                <a:latin typeface="Calibri"/>
                <a:cs typeface="Calibri"/>
              </a:rPr>
              <a:t> </a:t>
            </a:r>
            <a:r>
              <a:rPr sz="1923" dirty="0">
                <a:latin typeface="Calibri"/>
                <a:cs typeface="Calibri"/>
              </a:rPr>
              <a:t>=</a:t>
            </a:r>
            <a:r>
              <a:rPr sz="1923" spc="-41" dirty="0">
                <a:latin typeface="Calibri"/>
                <a:cs typeface="Calibri"/>
              </a:rPr>
              <a:t> </a:t>
            </a:r>
            <a:r>
              <a:rPr sz="1923" spc="-7" dirty="0">
                <a:latin typeface="Calibri"/>
                <a:cs typeface="Calibri"/>
              </a:rPr>
              <a:t>30,000</a:t>
            </a:r>
            <a:endParaRPr sz="1923" dirty="0">
              <a:latin typeface="Calibri"/>
              <a:cs typeface="Calibri"/>
            </a:endParaRPr>
          </a:p>
          <a:p>
            <a:pPr marL="488488" indent="-471042">
              <a:spcBef>
                <a:spcPts val="577"/>
              </a:spcBef>
              <a:buClr>
                <a:srgbClr val="CC0000"/>
              </a:buClr>
              <a:buFont typeface="Times New Roman"/>
              <a:buChar char="•"/>
              <a:tabLst>
                <a:tab pos="487615" algn="l"/>
                <a:tab pos="488488" algn="l"/>
              </a:tabLst>
            </a:pPr>
            <a:r>
              <a:rPr sz="2473" dirty="0">
                <a:latin typeface="Calibri"/>
                <a:cs typeface="Calibri"/>
              </a:rPr>
              <a:t>If</a:t>
            </a:r>
            <a:r>
              <a:rPr sz="2473" spc="-14" dirty="0">
                <a:latin typeface="Calibri"/>
                <a:cs typeface="Calibri"/>
              </a:rPr>
              <a:t> </a:t>
            </a:r>
            <a:r>
              <a:rPr sz="2473" dirty="0">
                <a:latin typeface="Calibri"/>
                <a:cs typeface="Calibri"/>
              </a:rPr>
              <a:t>a</a:t>
            </a:r>
            <a:r>
              <a:rPr sz="2473" spc="-7" dirty="0">
                <a:latin typeface="Calibri"/>
                <a:cs typeface="Calibri"/>
              </a:rPr>
              <a:t> system</a:t>
            </a:r>
            <a:r>
              <a:rPr sz="2473" spc="-14" dirty="0">
                <a:latin typeface="Calibri"/>
                <a:cs typeface="Calibri"/>
              </a:rPr>
              <a:t> </a:t>
            </a:r>
            <a:r>
              <a:rPr sz="2473" dirty="0">
                <a:latin typeface="Calibri"/>
                <a:cs typeface="Calibri"/>
              </a:rPr>
              <a:t>has</a:t>
            </a:r>
            <a:r>
              <a:rPr sz="2473" spc="-7" dirty="0">
                <a:latin typeface="Calibri"/>
                <a:cs typeface="Calibri"/>
              </a:rPr>
              <a:t> </a:t>
            </a:r>
            <a:r>
              <a:rPr sz="2473" dirty="0">
                <a:latin typeface="Calibri"/>
                <a:cs typeface="Calibri"/>
              </a:rPr>
              <a:t>to</a:t>
            </a:r>
            <a:r>
              <a:rPr sz="2473" spc="-7" dirty="0">
                <a:latin typeface="Calibri"/>
                <a:cs typeface="Calibri"/>
              </a:rPr>
              <a:t> recognize</a:t>
            </a:r>
            <a:endParaRPr sz="2473" dirty="0">
              <a:latin typeface="Calibri"/>
              <a:cs typeface="Calibri"/>
            </a:endParaRPr>
          </a:p>
          <a:p>
            <a:pPr marL="959529" lvl="1" indent="-314028">
              <a:spcBef>
                <a:spcPts val="536"/>
              </a:spcBef>
              <a:buFont typeface="Times New Roman"/>
              <a:buChar char="•"/>
              <a:tabLst>
                <a:tab pos="958657" algn="l"/>
                <a:tab pos="959529" algn="l"/>
              </a:tabLst>
            </a:pPr>
            <a:r>
              <a:rPr sz="2198" spc="-7" dirty="0">
                <a:latin typeface="Calibri"/>
                <a:cs typeface="Calibri"/>
              </a:rPr>
              <a:t>Operator</a:t>
            </a:r>
            <a:r>
              <a:rPr sz="2198" spc="-21" dirty="0">
                <a:latin typeface="Calibri"/>
                <a:cs typeface="Calibri"/>
              </a:rPr>
              <a:t> </a:t>
            </a:r>
            <a:r>
              <a:rPr sz="2198" dirty="0">
                <a:latin typeface="Calibri"/>
                <a:cs typeface="Calibri"/>
              </a:rPr>
              <a:t>(1</a:t>
            </a:r>
            <a:r>
              <a:rPr sz="2198" spc="-21" dirty="0">
                <a:latin typeface="Calibri"/>
                <a:cs typeface="Calibri"/>
              </a:rPr>
              <a:t> </a:t>
            </a:r>
            <a:r>
              <a:rPr sz="2198" dirty="0">
                <a:latin typeface="Calibri"/>
                <a:cs typeface="Calibri"/>
              </a:rPr>
              <a:t>in</a:t>
            </a:r>
            <a:r>
              <a:rPr sz="2198" spc="-21" dirty="0">
                <a:latin typeface="Calibri"/>
                <a:cs typeface="Calibri"/>
              </a:rPr>
              <a:t> </a:t>
            </a:r>
            <a:r>
              <a:rPr sz="2198" spc="-7" dirty="0">
                <a:latin typeface="Calibri"/>
                <a:cs typeface="Calibri"/>
              </a:rPr>
              <a:t>4)</a:t>
            </a:r>
            <a:endParaRPr sz="2198" dirty="0">
              <a:latin typeface="Calibri"/>
              <a:cs typeface="Calibri"/>
            </a:endParaRPr>
          </a:p>
          <a:p>
            <a:pPr marL="959529" lvl="1" indent="-314028">
              <a:spcBef>
                <a:spcPts val="522"/>
              </a:spcBef>
              <a:buFont typeface="Times New Roman"/>
              <a:buChar char="•"/>
              <a:tabLst>
                <a:tab pos="958657" algn="l"/>
                <a:tab pos="959529" algn="l"/>
              </a:tabLst>
            </a:pPr>
            <a:r>
              <a:rPr sz="2198" dirty="0">
                <a:latin typeface="Calibri"/>
                <a:cs typeface="Calibri"/>
              </a:rPr>
              <a:t>Sales</a:t>
            </a:r>
            <a:r>
              <a:rPr sz="2198" spc="-34" dirty="0">
                <a:latin typeface="Calibri"/>
                <a:cs typeface="Calibri"/>
              </a:rPr>
              <a:t> </a:t>
            </a:r>
            <a:r>
              <a:rPr sz="2198" dirty="0">
                <a:latin typeface="Calibri"/>
                <a:cs typeface="Calibri"/>
              </a:rPr>
              <a:t>(1</a:t>
            </a:r>
            <a:r>
              <a:rPr sz="2198" spc="-27" dirty="0">
                <a:latin typeface="Calibri"/>
                <a:cs typeface="Calibri"/>
              </a:rPr>
              <a:t> </a:t>
            </a:r>
            <a:r>
              <a:rPr sz="2198" dirty="0">
                <a:latin typeface="Calibri"/>
                <a:cs typeface="Calibri"/>
              </a:rPr>
              <a:t>in</a:t>
            </a:r>
            <a:r>
              <a:rPr sz="2198" spc="-27" dirty="0">
                <a:latin typeface="Calibri"/>
                <a:cs typeface="Calibri"/>
              </a:rPr>
              <a:t> </a:t>
            </a:r>
            <a:r>
              <a:rPr sz="2198" spc="-7" dirty="0">
                <a:latin typeface="Calibri"/>
                <a:cs typeface="Calibri"/>
              </a:rPr>
              <a:t>4)</a:t>
            </a:r>
            <a:endParaRPr sz="2198" dirty="0">
              <a:latin typeface="Calibri"/>
              <a:cs typeface="Calibri"/>
            </a:endParaRPr>
          </a:p>
          <a:p>
            <a:pPr marL="959529" lvl="1" indent="-314028">
              <a:spcBef>
                <a:spcPts val="522"/>
              </a:spcBef>
              <a:buFont typeface="Times New Roman"/>
              <a:buChar char="•"/>
              <a:tabLst>
                <a:tab pos="958657" algn="l"/>
                <a:tab pos="959529" algn="l"/>
              </a:tabLst>
            </a:pPr>
            <a:r>
              <a:rPr sz="2198" dirty="0">
                <a:latin typeface="Calibri"/>
                <a:cs typeface="Calibri"/>
              </a:rPr>
              <a:t>Technical</a:t>
            </a:r>
            <a:r>
              <a:rPr sz="2198" spc="-21" dirty="0">
                <a:latin typeface="Calibri"/>
                <a:cs typeface="Calibri"/>
              </a:rPr>
              <a:t> </a:t>
            </a:r>
            <a:r>
              <a:rPr sz="2198" spc="-7" dirty="0">
                <a:latin typeface="Calibri"/>
                <a:cs typeface="Calibri"/>
              </a:rPr>
              <a:t>Support</a:t>
            </a:r>
            <a:r>
              <a:rPr sz="2198" spc="-21" dirty="0">
                <a:latin typeface="Calibri"/>
                <a:cs typeface="Calibri"/>
              </a:rPr>
              <a:t> </a:t>
            </a:r>
            <a:r>
              <a:rPr sz="2198" dirty="0">
                <a:latin typeface="Calibri"/>
                <a:cs typeface="Calibri"/>
              </a:rPr>
              <a:t>(1</a:t>
            </a:r>
            <a:r>
              <a:rPr sz="2198" spc="-14" dirty="0">
                <a:latin typeface="Calibri"/>
                <a:cs typeface="Calibri"/>
              </a:rPr>
              <a:t> </a:t>
            </a:r>
            <a:r>
              <a:rPr sz="2198" dirty="0">
                <a:latin typeface="Calibri"/>
                <a:cs typeface="Calibri"/>
              </a:rPr>
              <a:t>in</a:t>
            </a:r>
            <a:r>
              <a:rPr sz="2198" spc="-21" dirty="0">
                <a:latin typeface="Calibri"/>
                <a:cs typeface="Calibri"/>
              </a:rPr>
              <a:t> </a:t>
            </a:r>
            <a:r>
              <a:rPr sz="2198" spc="-7" dirty="0">
                <a:latin typeface="Calibri"/>
                <a:cs typeface="Calibri"/>
              </a:rPr>
              <a:t>4)</a:t>
            </a:r>
            <a:endParaRPr sz="2198" dirty="0">
              <a:latin typeface="Calibri"/>
              <a:cs typeface="Calibri"/>
            </a:endParaRPr>
          </a:p>
          <a:p>
            <a:pPr marL="959529" lvl="1" indent="-314028">
              <a:spcBef>
                <a:spcPts val="522"/>
              </a:spcBef>
              <a:buFont typeface="Times New Roman"/>
              <a:buChar char="•"/>
              <a:tabLst>
                <a:tab pos="958657" algn="l"/>
                <a:tab pos="959529" algn="l"/>
              </a:tabLst>
            </a:pPr>
            <a:r>
              <a:rPr sz="2198" spc="-7" dirty="0">
                <a:latin typeface="Calibri"/>
                <a:cs typeface="Calibri"/>
              </a:rPr>
              <a:t>30,000</a:t>
            </a:r>
            <a:r>
              <a:rPr sz="2198" spc="-14" dirty="0">
                <a:latin typeface="Calibri"/>
                <a:cs typeface="Calibri"/>
              </a:rPr>
              <a:t> </a:t>
            </a:r>
            <a:r>
              <a:rPr sz="2198" spc="-7" dirty="0">
                <a:latin typeface="Calibri"/>
                <a:cs typeface="Calibri"/>
              </a:rPr>
              <a:t>names </a:t>
            </a:r>
            <a:r>
              <a:rPr sz="2198" dirty="0">
                <a:latin typeface="Calibri"/>
                <a:cs typeface="Calibri"/>
              </a:rPr>
              <a:t>(1</a:t>
            </a:r>
            <a:r>
              <a:rPr sz="2198" spc="-7" dirty="0">
                <a:latin typeface="Calibri"/>
                <a:cs typeface="Calibri"/>
              </a:rPr>
              <a:t> </a:t>
            </a:r>
            <a:r>
              <a:rPr sz="2198" dirty="0">
                <a:latin typeface="Calibri"/>
                <a:cs typeface="Calibri"/>
              </a:rPr>
              <a:t>in</a:t>
            </a:r>
            <a:r>
              <a:rPr sz="2198" spc="-7" dirty="0">
                <a:latin typeface="Calibri"/>
                <a:cs typeface="Calibri"/>
              </a:rPr>
              <a:t> 120,000</a:t>
            </a:r>
            <a:r>
              <a:rPr sz="2198" spc="-14" dirty="0">
                <a:latin typeface="Calibri"/>
                <a:cs typeface="Calibri"/>
              </a:rPr>
              <a:t> </a:t>
            </a:r>
            <a:r>
              <a:rPr sz="2198" spc="-7" dirty="0">
                <a:latin typeface="Calibri"/>
                <a:cs typeface="Calibri"/>
              </a:rPr>
              <a:t>each)</a:t>
            </a:r>
            <a:endParaRPr sz="2198" dirty="0">
              <a:latin typeface="Calibri"/>
              <a:cs typeface="Calibri"/>
            </a:endParaRPr>
          </a:p>
          <a:p>
            <a:pPr marL="959529" lvl="1" indent="-314028">
              <a:spcBef>
                <a:spcPts val="522"/>
              </a:spcBef>
              <a:buFont typeface="Times New Roman"/>
              <a:buChar char="•"/>
              <a:tabLst>
                <a:tab pos="958657" algn="l"/>
                <a:tab pos="959529" algn="l"/>
              </a:tabLst>
            </a:pPr>
            <a:r>
              <a:rPr sz="2198" spc="-7" dirty="0">
                <a:latin typeface="Calibri"/>
                <a:cs typeface="Calibri"/>
              </a:rPr>
              <a:t>Perplexity</a:t>
            </a:r>
            <a:r>
              <a:rPr sz="2198" spc="-27" dirty="0">
                <a:latin typeface="Calibri"/>
                <a:cs typeface="Calibri"/>
              </a:rPr>
              <a:t> </a:t>
            </a:r>
            <a:r>
              <a:rPr sz="2198" dirty="0">
                <a:latin typeface="Calibri"/>
                <a:cs typeface="Calibri"/>
              </a:rPr>
              <a:t>is</a:t>
            </a:r>
            <a:r>
              <a:rPr sz="2198" spc="-21" dirty="0">
                <a:latin typeface="Calibri"/>
                <a:cs typeface="Calibri"/>
              </a:rPr>
              <a:t> </a:t>
            </a:r>
            <a:r>
              <a:rPr sz="2198" spc="-7" dirty="0">
                <a:latin typeface="Calibri"/>
                <a:cs typeface="Calibri"/>
              </a:rPr>
              <a:t>53</a:t>
            </a:r>
            <a:endParaRPr sz="2198" dirty="0">
              <a:latin typeface="Calibri"/>
              <a:cs typeface="Calibri"/>
            </a:endParaRPr>
          </a:p>
          <a:p>
            <a:pPr marL="488488" indent="-471042">
              <a:spcBef>
                <a:spcPts val="591"/>
              </a:spcBef>
              <a:buClr>
                <a:srgbClr val="CC0000"/>
              </a:buClr>
              <a:buFont typeface="Times New Roman"/>
              <a:buChar char="•"/>
              <a:tabLst>
                <a:tab pos="487615" algn="l"/>
                <a:tab pos="488488" algn="l"/>
              </a:tabLst>
            </a:pPr>
            <a:r>
              <a:rPr sz="2473" spc="-7" dirty="0">
                <a:latin typeface="Calibri"/>
                <a:cs typeface="Calibri"/>
              </a:rPr>
              <a:t>Perplexity</a:t>
            </a:r>
            <a:r>
              <a:rPr sz="2473" dirty="0">
                <a:latin typeface="Calibri"/>
                <a:cs typeface="Calibri"/>
              </a:rPr>
              <a:t> is</a:t>
            </a:r>
            <a:r>
              <a:rPr sz="2473" spc="7" dirty="0">
                <a:latin typeface="Calibri"/>
                <a:cs typeface="Calibri"/>
              </a:rPr>
              <a:t> </a:t>
            </a:r>
            <a:r>
              <a:rPr sz="2473" spc="-7" dirty="0">
                <a:latin typeface="Calibri"/>
                <a:cs typeface="Calibri"/>
              </a:rPr>
              <a:t>weighted</a:t>
            </a:r>
            <a:r>
              <a:rPr sz="2473" spc="7" dirty="0">
                <a:latin typeface="Calibri"/>
                <a:cs typeface="Calibri"/>
              </a:rPr>
              <a:t> </a:t>
            </a:r>
            <a:r>
              <a:rPr sz="2473" dirty="0">
                <a:latin typeface="Calibri"/>
                <a:cs typeface="Calibri"/>
              </a:rPr>
              <a:t>equivalent</a:t>
            </a:r>
            <a:r>
              <a:rPr sz="2473" spc="7" dirty="0">
                <a:latin typeface="Calibri"/>
                <a:cs typeface="Calibri"/>
              </a:rPr>
              <a:t> </a:t>
            </a:r>
            <a:r>
              <a:rPr sz="2473" spc="-7" dirty="0">
                <a:latin typeface="Calibri"/>
                <a:cs typeface="Calibri"/>
              </a:rPr>
              <a:t>branching</a:t>
            </a:r>
            <a:r>
              <a:rPr sz="2473" spc="14" dirty="0">
                <a:latin typeface="Calibri"/>
                <a:cs typeface="Calibri"/>
              </a:rPr>
              <a:t> </a:t>
            </a:r>
            <a:r>
              <a:rPr sz="2473" spc="-7" dirty="0">
                <a:latin typeface="Calibri"/>
                <a:cs typeface="Calibri"/>
              </a:rPr>
              <a:t>factor</a:t>
            </a:r>
            <a:endParaRPr sz="2473" dirty="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271E2-F043-513E-F38F-7491E2585D14}"/>
              </a:ext>
            </a:extLst>
          </p:cNvPr>
          <p:cNvSpPr>
            <a:spLocks noGrp="1"/>
          </p:cNvSpPr>
          <p:nvPr>
            <p:ph type="title"/>
          </p:nvPr>
        </p:nvSpPr>
        <p:spPr/>
        <p:txBody>
          <a:bodyPr/>
          <a:lstStyle/>
          <a:p>
            <a:endParaRPr lang="en-PK"/>
          </a:p>
        </p:txBody>
      </p:sp>
      <p:sp>
        <p:nvSpPr>
          <p:cNvPr id="3" name="Text Placeholder 2">
            <a:extLst>
              <a:ext uri="{FF2B5EF4-FFF2-40B4-BE49-F238E27FC236}">
                <a16:creationId xmlns:a16="http://schemas.microsoft.com/office/drawing/2014/main" id="{7178AF36-FB55-D6C6-FD09-316E12607663}"/>
              </a:ext>
            </a:extLst>
          </p:cNvPr>
          <p:cNvSpPr>
            <a:spLocks noGrp="1"/>
          </p:cNvSpPr>
          <p:nvPr>
            <p:ph type="body" idx="1"/>
          </p:nvPr>
        </p:nvSpPr>
        <p:spPr/>
        <p:txBody>
          <a:bodyPr/>
          <a:lstStyle/>
          <a:p>
            <a:endParaRPr lang="en-PK"/>
          </a:p>
        </p:txBody>
      </p:sp>
      <p:pic>
        <p:nvPicPr>
          <p:cNvPr id="5" name="Picture 4">
            <a:extLst>
              <a:ext uri="{FF2B5EF4-FFF2-40B4-BE49-F238E27FC236}">
                <a16:creationId xmlns:a16="http://schemas.microsoft.com/office/drawing/2014/main" id="{9AA788F5-ACE6-F65E-2B19-CF2B4738358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704038" y="357628"/>
            <a:ext cx="12409524" cy="7057143"/>
          </a:xfrm>
          <a:prstGeom prst="rect">
            <a:avLst/>
          </a:prstGeom>
        </p:spPr>
      </p:pic>
    </p:spTree>
    <p:extLst>
      <p:ext uri="{BB962C8B-B14F-4D97-AF65-F5344CB8AC3E}">
        <p14:creationId xmlns:p14="http://schemas.microsoft.com/office/powerpoint/2010/main" val="34939826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7496746" cy="694084"/>
          </a:xfrm>
          <a:prstGeom prst="rect">
            <a:avLst/>
          </a:prstGeom>
        </p:spPr>
        <p:txBody>
          <a:bodyPr vert="horz" wrap="square" lIns="0" tIns="17446" rIns="0" bIns="0" rtlCol="0">
            <a:spAutoFit/>
          </a:bodyPr>
          <a:lstStyle/>
          <a:p>
            <a:pPr marL="17446">
              <a:spcBef>
                <a:spcPts val="137"/>
              </a:spcBef>
            </a:pPr>
            <a:r>
              <a:rPr spc="-7" dirty="0">
                <a:latin typeface="Calibri"/>
                <a:cs typeface="Calibri"/>
              </a:rPr>
              <a:t>Lower</a:t>
            </a:r>
            <a:r>
              <a:rPr spc="-14" dirty="0">
                <a:latin typeface="Calibri"/>
                <a:cs typeface="Calibri"/>
              </a:rPr>
              <a:t> </a:t>
            </a:r>
            <a:r>
              <a:rPr spc="-7" dirty="0">
                <a:latin typeface="Calibri"/>
                <a:cs typeface="Calibri"/>
              </a:rPr>
              <a:t>perplexity </a:t>
            </a:r>
            <a:r>
              <a:rPr dirty="0">
                <a:latin typeface="Calibri"/>
                <a:cs typeface="Calibri"/>
              </a:rPr>
              <a:t>=</a:t>
            </a:r>
            <a:r>
              <a:rPr spc="-14" dirty="0">
                <a:latin typeface="Calibri"/>
                <a:cs typeface="Calibri"/>
              </a:rPr>
              <a:t> </a:t>
            </a:r>
            <a:r>
              <a:rPr spc="-34" dirty="0">
                <a:latin typeface="Calibri"/>
                <a:cs typeface="Calibri"/>
              </a:rPr>
              <a:t>better</a:t>
            </a:r>
            <a:r>
              <a:rPr spc="-7" dirty="0">
                <a:latin typeface="Calibri"/>
                <a:cs typeface="Calibri"/>
              </a:rPr>
              <a:t> model</a:t>
            </a:r>
          </a:p>
        </p:txBody>
      </p:sp>
      <p:sp>
        <p:nvSpPr>
          <p:cNvPr id="7" name="object 7"/>
          <p:cNvSpPr txBox="1"/>
          <p:nvPr/>
        </p:nvSpPr>
        <p:spPr>
          <a:xfrm>
            <a:off x="1154955" y="2738889"/>
            <a:ext cx="11088973" cy="609445"/>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846" spc="-7" dirty="0">
                <a:latin typeface="Calibri"/>
                <a:cs typeface="Calibri"/>
              </a:rPr>
              <a:t>Training</a:t>
            </a:r>
            <a:r>
              <a:rPr sz="3846" spc="7" dirty="0">
                <a:latin typeface="Calibri"/>
                <a:cs typeface="Calibri"/>
              </a:rPr>
              <a:t> </a:t>
            </a:r>
            <a:r>
              <a:rPr sz="3846" spc="-7" dirty="0">
                <a:latin typeface="Calibri"/>
                <a:cs typeface="Calibri"/>
              </a:rPr>
              <a:t>38</a:t>
            </a:r>
            <a:r>
              <a:rPr sz="3846" spc="7" dirty="0">
                <a:latin typeface="Calibri"/>
                <a:cs typeface="Calibri"/>
              </a:rPr>
              <a:t> </a:t>
            </a:r>
            <a:r>
              <a:rPr sz="3846" spc="-7" dirty="0">
                <a:latin typeface="Calibri"/>
                <a:cs typeface="Calibri"/>
              </a:rPr>
              <a:t>million</a:t>
            </a:r>
            <a:r>
              <a:rPr sz="3846" spc="7" dirty="0">
                <a:latin typeface="Calibri"/>
                <a:cs typeface="Calibri"/>
              </a:rPr>
              <a:t> </a:t>
            </a:r>
            <a:r>
              <a:rPr sz="3846" spc="-7" dirty="0">
                <a:latin typeface="Calibri"/>
                <a:cs typeface="Calibri"/>
              </a:rPr>
              <a:t>words,</a:t>
            </a:r>
            <a:r>
              <a:rPr sz="3846" spc="7" dirty="0">
                <a:latin typeface="Calibri"/>
                <a:cs typeface="Calibri"/>
              </a:rPr>
              <a:t> </a:t>
            </a:r>
            <a:r>
              <a:rPr sz="3846" spc="-7" dirty="0">
                <a:latin typeface="Calibri"/>
                <a:cs typeface="Calibri"/>
              </a:rPr>
              <a:t>test</a:t>
            </a:r>
            <a:r>
              <a:rPr sz="3846" spc="14" dirty="0">
                <a:latin typeface="Calibri"/>
                <a:cs typeface="Calibri"/>
              </a:rPr>
              <a:t> </a:t>
            </a:r>
            <a:r>
              <a:rPr sz="3846" spc="-7" dirty="0">
                <a:latin typeface="Calibri"/>
                <a:cs typeface="Calibri"/>
              </a:rPr>
              <a:t>1.5</a:t>
            </a:r>
            <a:r>
              <a:rPr sz="3846" spc="7" dirty="0">
                <a:latin typeface="Calibri"/>
                <a:cs typeface="Calibri"/>
              </a:rPr>
              <a:t> </a:t>
            </a:r>
            <a:r>
              <a:rPr sz="3846" spc="-7" dirty="0">
                <a:latin typeface="Calibri"/>
                <a:cs typeface="Calibri"/>
              </a:rPr>
              <a:t>million</a:t>
            </a:r>
            <a:r>
              <a:rPr sz="3846" spc="7" dirty="0">
                <a:latin typeface="Calibri"/>
                <a:cs typeface="Calibri"/>
              </a:rPr>
              <a:t> </a:t>
            </a:r>
            <a:r>
              <a:rPr sz="3846" spc="-7" dirty="0">
                <a:latin typeface="Calibri"/>
                <a:cs typeface="Calibri"/>
              </a:rPr>
              <a:t>words,</a:t>
            </a:r>
            <a:r>
              <a:rPr sz="3846" spc="7" dirty="0">
                <a:latin typeface="Calibri"/>
                <a:cs typeface="Calibri"/>
              </a:rPr>
              <a:t> </a:t>
            </a:r>
            <a:r>
              <a:rPr sz="3846" spc="-7" dirty="0">
                <a:latin typeface="Calibri"/>
                <a:cs typeface="Calibri"/>
              </a:rPr>
              <a:t>WSJ</a:t>
            </a:r>
            <a:endParaRPr sz="3846">
              <a:latin typeface="Calibri"/>
              <a:cs typeface="Calibri"/>
            </a:endParaRPr>
          </a:p>
        </p:txBody>
      </p:sp>
      <p:graphicFrame>
        <p:nvGraphicFramePr>
          <p:cNvPr id="8" name="object 8"/>
          <p:cNvGraphicFramePr>
            <a:graphicFrameLocks noGrp="1"/>
          </p:cNvGraphicFramePr>
          <p:nvPr/>
        </p:nvGraphicFramePr>
        <p:xfrm>
          <a:off x="1561457" y="3980728"/>
          <a:ext cx="10153844" cy="3440442"/>
        </p:xfrm>
        <a:graphic>
          <a:graphicData uri="http://schemas.openxmlformats.org/drawingml/2006/table">
            <a:tbl>
              <a:tblPr firstRow="1" bandRow="1">
                <a:tableStyleId>{2D5ABB26-0587-4C30-8999-92F81FD0307C}</a:tableStyleId>
              </a:tblPr>
              <a:tblGrid>
                <a:gridCol w="2538461">
                  <a:extLst>
                    <a:ext uri="{9D8B030D-6E8A-4147-A177-3AD203B41FA5}">
                      <a16:colId xmlns:a16="http://schemas.microsoft.com/office/drawing/2014/main" val="20000"/>
                    </a:ext>
                  </a:extLst>
                </a:gridCol>
                <a:gridCol w="2538461">
                  <a:extLst>
                    <a:ext uri="{9D8B030D-6E8A-4147-A177-3AD203B41FA5}">
                      <a16:colId xmlns:a16="http://schemas.microsoft.com/office/drawing/2014/main" val="20001"/>
                    </a:ext>
                  </a:extLst>
                </a:gridCol>
                <a:gridCol w="2538461">
                  <a:extLst>
                    <a:ext uri="{9D8B030D-6E8A-4147-A177-3AD203B41FA5}">
                      <a16:colId xmlns:a16="http://schemas.microsoft.com/office/drawing/2014/main" val="20002"/>
                    </a:ext>
                  </a:extLst>
                </a:gridCol>
                <a:gridCol w="2538461">
                  <a:extLst>
                    <a:ext uri="{9D8B030D-6E8A-4147-A177-3AD203B41FA5}">
                      <a16:colId xmlns:a16="http://schemas.microsoft.com/office/drawing/2014/main" val="20003"/>
                    </a:ext>
                  </a:extLst>
                </a:gridCol>
              </a:tblGrid>
              <a:tr h="2079619">
                <a:tc>
                  <a:txBody>
                    <a:bodyPr/>
                    <a:lstStyle/>
                    <a:p>
                      <a:pPr marL="91440" marR="487680">
                        <a:lnSpc>
                          <a:spcPts val="3800"/>
                        </a:lnSpc>
                        <a:spcBef>
                          <a:spcPts val="520"/>
                        </a:spcBef>
                      </a:pPr>
                      <a:r>
                        <a:rPr sz="4400" b="1" dirty="0">
                          <a:solidFill>
                            <a:srgbClr val="FFFFFF"/>
                          </a:solidFill>
                          <a:latin typeface="Calibri"/>
                          <a:cs typeface="Calibri"/>
                        </a:rPr>
                        <a:t>N-­‐</a:t>
                      </a:r>
                      <a:r>
                        <a:rPr sz="4400" b="1" spc="-5" dirty="0">
                          <a:solidFill>
                            <a:srgbClr val="FFFFFF"/>
                          </a:solidFill>
                          <a:latin typeface="Calibri"/>
                          <a:cs typeface="Calibri"/>
                        </a:rPr>
                        <a:t>g</a:t>
                      </a:r>
                      <a:r>
                        <a:rPr sz="4400" b="1" dirty="0">
                          <a:solidFill>
                            <a:srgbClr val="FFFFFF"/>
                          </a:solidFill>
                          <a:latin typeface="Calibri"/>
                          <a:cs typeface="Calibri"/>
                        </a:rPr>
                        <a:t>ram  </a:t>
                      </a:r>
                      <a:r>
                        <a:rPr sz="4400" b="1" spc="-5" dirty="0">
                          <a:solidFill>
                            <a:srgbClr val="FFFFFF"/>
                          </a:solidFill>
                          <a:latin typeface="Calibri"/>
                          <a:cs typeface="Calibri"/>
                        </a:rPr>
                        <a:t>Order</a:t>
                      </a:r>
                      <a:endParaRPr sz="4400">
                        <a:latin typeface="Calibri"/>
                        <a:cs typeface="Calibri"/>
                      </a:endParaRPr>
                    </a:p>
                  </a:txBody>
                  <a:tcPr marL="0" marR="0" marT="90722"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51826"/>
                    </a:solidFill>
                  </a:tcPr>
                </a:tc>
                <a:tc>
                  <a:txBody>
                    <a:bodyPr/>
                    <a:lstStyle/>
                    <a:p>
                      <a:pPr marL="91440">
                        <a:lnSpc>
                          <a:spcPct val="100000"/>
                        </a:lnSpc>
                        <a:spcBef>
                          <a:spcPts val="359"/>
                        </a:spcBef>
                      </a:pPr>
                      <a:r>
                        <a:rPr sz="4400" b="1" spc="-5" dirty="0">
                          <a:solidFill>
                            <a:srgbClr val="FFFFFF"/>
                          </a:solidFill>
                          <a:latin typeface="Calibri"/>
                          <a:cs typeface="Calibri"/>
                        </a:rPr>
                        <a:t>Unigram</a:t>
                      </a:r>
                      <a:endParaRPr sz="4400">
                        <a:latin typeface="Calibri"/>
                        <a:cs typeface="Calibri"/>
                      </a:endParaRPr>
                    </a:p>
                  </a:txBody>
                  <a:tcPr marL="0" marR="0" marT="6280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51826"/>
                    </a:solidFill>
                  </a:tcPr>
                </a:tc>
                <a:tc>
                  <a:txBody>
                    <a:bodyPr/>
                    <a:lstStyle/>
                    <a:p>
                      <a:pPr marL="90805">
                        <a:lnSpc>
                          <a:spcPct val="100000"/>
                        </a:lnSpc>
                        <a:spcBef>
                          <a:spcPts val="359"/>
                        </a:spcBef>
                      </a:pPr>
                      <a:r>
                        <a:rPr sz="4400" b="1" spc="-5" dirty="0">
                          <a:solidFill>
                            <a:srgbClr val="FFFFFF"/>
                          </a:solidFill>
                          <a:latin typeface="Calibri"/>
                          <a:cs typeface="Calibri"/>
                        </a:rPr>
                        <a:t>Bigram</a:t>
                      </a:r>
                      <a:endParaRPr sz="4400">
                        <a:latin typeface="Calibri"/>
                        <a:cs typeface="Calibri"/>
                      </a:endParaRPr>
                    </a:p>
                  </a:txBody>
                  <a:tcPr marL="0" marR="0" marT="6280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51826"/>
                    </a:solidFill>
                  </a:tcPr>
                </a:tc>
                <a:tc>
                  <a:txBody>
                    <a:bodyPr/>
                    <a:lstStyle/>
                    <a:p>
                      <a:pPr marL="91440">
                        <a:lnSpc>
                          <a:spcPct val="100000"/>
                        </a:lnSpc>
                        <a:spcBef>
                          <a:spcPts val="359"/>
                        </a:spcBef>
                      </a:pPr>
                      <a:r>
                        <a:rPr sz="4400" b="1" spc="-5" dirty="0">
                          <a:solidFill>
                            <a:srgbClr val="FFFFFF"/>
                          </a:solidFill>
                          <a:latin typeface="Calibri"/>
                          <a:cs typeface="Calibri"/>
                        </a:rPr>
                        <a:t>Trigram</a:t>
                      </a:r>
                      <a:endParaRPr sz="4400">
                        <a:latin typeface="Calibri"/>
                        <a:cs typeface="Calibri"/>
                      </a:endParaRPr>
                    </a:p>
                  </a:txBody>
                  <a:tcPr marL="0" marR="0" marT="6280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51826"/>
                    </a:solidFill>
                  </a:tcPr>
                </a:tc>
                <a:extLst>
                  <a:ext uri="{0D108BD9-81ED-4DB2-BD59-A6C34878D82A}">
                    <a16:rowId xmlns:a16="http://schemas.microsoft.com/office/drawing/2014/main" val="10000"/>
                  </a:ext>
                </a:extLst>
              </a:tr>
              <a:tr h="1360823">
                <a:tc>
                  <a:txBody>
                    <a:bodyPr/>
                    <a:lstStyle/>
                    <a:p>
                      <a:pPr marL="91440">
                        <a:lnSpc>
                          <a:spcPct val="100000"/>
                        </a:lnSpc>
                        <a:spcBef>
                          <a:spcPts val="360"/>
                        </a:spcBef>
                      </a:pPr>
                      <a:r>
                        <a:rPr sz="4400" spc="-5" dirty="0">
                          <a:latin typeface="Calibri"/>
                          <a:cs typeface="Calibri"/>
                        </a:rPr>
                        <a:t>Perplexity</a:t>
                      </a:r>
                      <a:endParaRPr sz="4400">
                        <a:latin typeface="Calibri"/>
                        <a:cs typeface="Calibri"/>
                      </a:endParaRPr>
                    </a:p>
                  </a:txBody>
                  <a:tcPr marL="0" marR="0" marT="62807"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6D5D5"/>
                    </a:solidFill>
                  </a:tcPr>
                </a:tc>
                <a:tc>
                  <a:txBody>
                    <a:bodyPr/>
                    <a:lstStyle/>
                    <a:p>
                      <a:pPr marL="91440">
                        <a:lnSpc>
                          <a:spcPct val="100000"/>
                        </a:lnSpc>
                        <a:spcBef>
                          <a:spcPts val="360"/>
                        </a:spcBef>
                      </a:pPr>
                      <a:r>
                        <a:rPr sz="4400" dirty="0">
                          <a:latin typeface="Calibri"/>
                          <a:cs typeface="Calibri"/>
                        </a:rPr>
                        <a:t>962</a:t>
                      </a:r>
                      <a:endParaRPr sz="4400">
                        <a:latin typeface="Calibri"/>
                        <a:cs typeface="Calibri"/>
                      </a:endParaRPr>
                    </a:p>
                  </a:txBody>
                  <a:tcPr marL="0" marR="0" marT="62807"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6D5D5"/>
                    </a:solidFill>
                  </a:tcPr>
                </a:tc>
                <a:tc>
                  <a:txBody>
                    <a:bodyPr/>
                    <a:lstStyle/>
                    <a:p>
                      <a:pPr marL="90805">
                        <a:lnSpc>
                          <a:spcPct val="100000"/>
                        </a:lnSpc>
                        <a:spcBef>
                          <a:spcPts val="360"/>
                        </a:spcBef>
                      </a:pPr>
                      <a:r>
                        <a:rPr sz="4400" dirty="0">
                          <a:latin typeface="Calibri"/>
                          <a:cs typeface="Calibri"/>
                        </a:rPr>
                        <a:t>170</a:t>
                      </a:r>
                      <a:endParaRPr sz="4400">
                        <a:latin typeface="Calibri"/>
                        <a:cs typeface="Calibri"/>
                      </a:endParaRPr>
                    </a:p>
                  </a:txBody>
                  <a:tcPr marL="0" marR="0" marT="62807"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6D5D5"/>
                    </a:solidFill>
                  </a:tcPr>
                </a:tc>
                <a:tc>
                  <a:txBody>
                    <a:bodyPr/>
                    <a:lstStyle/>
                    <a:p>
                      <a:pPr marL="91440">
                        <a:lnSpc>
                          <a:spcPct val="100000"/>
                        </a:lnSpc>
                        <a:spcBef>
                          <a:spcPts val="360"/>
                        </a:spcBef>
                      </a:pPr>
                      <a:r>
                        <a:rPr sz="4400" dirty="0">
                          <a:latin typeface="Calibri"/>
                          <a:cs typeface="Calibri"/>
                        </a:rPr>
                        <a:t>109</a:t>
                      </a:r>
                      <a:endParaRPr sz="4400">
                        <a:latin typeface="Calibri"/>
                        <a:cs typeface="Calibri"/>
                      </a:endParaRPr>
                    </a:p>
                  </a:txBody>
                  <a:tcPr marL="0" marR="0" marT="62807"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6D5D5"/>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31772" y="4183107"/>
            <a:ext cx="3395954" cy="1362499"/>
          </a:xfrm>
          <a:prstGeom prst="rect">
            <a:avLst/>
          </a:prstGeom>
        </p:spPr>
        <p:txBody>
          <a:bodyPr vert="horz" wrap="square" lIns="0" tIns="6106" rIns="0" bIns="0" rtlCol="0">
            <a:spAutoFit/>
          </a:bodyPr>
          <a:lstStyle/>
          <a:p>
            <a:pPr marL="562633" marR="6978" indent="-545187">
              <a:lnSpc>
                <a:spcPct val="101600"/>
              </a:lnSpc>
              <a:spcBef>
                <a:spcPts val="48"/>
              </a:spcBef>
            </a:pPr>
            <a:r>
              <a:rPr sz="4396" spc="-7" dirty="0">
                <a:solidFill>
                  <a:srgbClr val="A50021"/>
                </a:solidFill>
                <a:latin typeface="Calibri"/>
                <a:cs typeface="Calibri"/>
              </a:rPr>
              <a:t>Evaluation</a:t>
            </a:r>
            <a:r>
              <a:rPr sz="4396" spc="-110" dirty="0">
                <a:solidFill>
                  <a:srgbClr val="A50021"/>
                </a:solidFill>
                <a:latin typeface="Calibri"/>
                <a:cs typeface="Calibri"/>
              </a:rPr>
              <a:t> </a:t>
            </a:r>
            <a:r>
              <a:rPr sz="4396" dirty="0">
                <a:solidFill>
                  <a:srgbClr val="A50021"/>
                </a:solidFill>
                <a:latin typeface="Calibri"/>
                <a:cs typeface="Calibri"/>
              </a:rPr>
              <a:t>and </a:t>
            </a:r>
            <a:r>
              <a:rPr sz="4396" spc="-968" dirty="0">
                <a:solidFill>
                  <a:srgbClr val="A50021"/>
                </a:solidFill>
                <a:latin typeface="Calibri"/>
                <a:cs typeface="Calibri"/>
              </a:rPr>
              <a:t> </a:t>
            </a:r>
            <a:r>
              <a:rPr sz="4396" spc="-7" dirty="0">
                <a:solidFill>
                  <a:srgbClr val="A50021"/>
                </a:solidFill>
                <a:latin typeface="Calibri"/>
                <a:cs typeface="Calibri"/>
              </a:rPr>
              <a:t>Perplexity</a:t>
            </a:r>
            <a:endParaRPr sz="4396">
              <a:latin typeface="Calibri"/>
              <a:cs typeface="Calibri"/>
            </a:endParaRPr>
          </a:p>
        </p:txBody>
      </p:sp>
      <p:sp>
        <p:nvSpPr>
          <p:cNvPr id="3" name="object 3"/>
          <p:cNvSpPr txBox="1"/>
          <p:nvPr/>
        </p:nvSpPr>
        <p:spPr>
          <a:xfrm>
            <a:off x="7994328" y="1634179"/>
            <a:ext cx="3069705" cy="1873466"/>
          </a:xfrm>
          <a:prstGeom prst="rect">
            <a:avLst/>
          </a:prstGeom>
        </p:spPr>
        <p:txBody>
          <a:bodyPr vert="horz" wrap="square" lIns="0" tIns="13085" rIns="0" bIns="0" rtlCol="0">
            <a:spAutoFit/>
          </a:bodyPr>
          <a:lstStyle/>
          <a:p>
            <a:pPr marL="17446" marR="6978" indent="6978">
              <a:lnSpc>
                <a:spcPct val="100400"/>
              </a:lnSpc>
              <a:spcBef>
                <a:spcPts val="103"/>
              </a:spcBef>
            </a:pPr>
            <a:r>
              <a:rPr sz="6044" b="1" dirty="0">
                <a:latin typeface="Calibri"/>
                <a:cs typeface="Calibri"/>
              </a:rPr>
              <a:t>Language  </a:t>
            </a:r>
            <a:r>
              <a:rPr sz="6044" b="1" spc="-7" dirty="0">
                <a:latin typeface="Calibri"/>
                <a:cs typeface="Calibri"/>
              </a:rPr>
              <a:t>Mode</a:t>
            </a:r>
            <a:r>
              <a:rPr sz="6044" b="1" dirty="0">
                <a:latin typeface="Calibri"/>
                <a:cs typeface="Calibri"/>
              </a:rPr>
              <a:t>li</a:t>
            </a:r>
            <a:r>
              <a:rPr sz="6044" b="1" spc="-7" dirty="0">
                <a:latin typeface="Calibri"/>
                <a:cs typeface="Calibri"/>
              </a:rPr>
              <a:t>n</a:t>
            </a:r>
            <a:r>
              <a:rPr sz="6044" b="1" dirty="0">
                <a:latin typeface="Calibri"/>
                <a:cs typeface="Calibri"/>
              </a:rPr>
              <a:t>g</a:t>
            </a:r>
            <a:endParaRPr sz="6044">
              <a:latin typeface="Calibri"/>
              <a:cs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subTitle" idx="4"/>
          </p:nvPr>
        </p:nvSpPr>
        <p:spPr>
          <a:xfrm>
            <a:off x="1506840" y="4198809"/>
            <a:ext cx="15968070" cy="672502"/>
          </a:xfrm>
          <a:prstGeom prst="rect">
            <a:avLst/>
          </a:prstGeom>
        </p:spPr>
        <p:txBody>
          <a:bodyPr vert="horz" wrap="square" lIns="0" tIns="6106" rIns="0" bIns="0" rtlCol="0">
            <a:spAutoFit/>
          </a:bodyPr>
          <a:lstStyle/>
          <a:p>
            <a:pPr marL="7828016" marR="6978" indent="-1540481">
              <a:lnSpc>
                <a:spcPct val="101600"/>
              </a:lnSpc>
              <a:spcBef>
                <a:spcPts val="48"/>
              </a:spcBef>
            </a:pPr>
            <a:r>
              <a:rPr spc="-7" dirty="0">
                <a:solidFill>
                  <a:srgbClr val="A50021"/>
                </a:solidFill>
                <a:latin typeface="Calibri"/>
                <a:cs typeface="Calibri"/>
              </a:rPr>
              <a:t>Generalization</a:t>
            </a:r>
            <a:r>
              <a:rPr spc="-103" dirty="0">
                <a:solidFill>
                  <a:srgbClr val="A50021"/>
                </a:solidFill>
                <a:latin typeface="Calibri"/>
                <a:cs typeface="Calibri"/>
              </a:rPr>
              <a:t> </a:t>
            </a:r>
            <a:r>
              <a:rPr dirty="0">
                <a:solidFill>
                  <a:srgbClr val="A50021"/>
                </a:solidFill>
                <a:latin typeface="Calibri"/>
                <a:cs typeface="Calibri"/>
              </a:rPr>
              <a:t>and </a:t>
            </a:r>
            <a:r>
              <a:rPr spc="-975" dirty="0">
                <a:solidFill>
                  <a:srgbClr val="A50021"/>
                </a:solidFill>
                <a:latin typeface="Calibri"/>
                <a:cs typeface="Calibri"/>
              </a:rPr>
              <a:t> </a:t>
            </a:r>
            <a:r>
              <a:rPr spc="-7" dirty="0">
                <a:solidFill>
                  <a:srgbClr val="A50021"/>
                </a:solidFill>
                <a:latin typeface="Calibri"/>
                <a:cs typeface="Calibri"/>
              </a:rPr>
              <a:t>zeros</a:t>
            </a:r>
          </a:p>
        </p:txBody>
      </p:sp>
      <p:sp>
        <p:nvSpPr>
          <p:cNvPr id="3" name="object 3"/>
          <p:cNvSpPr txBox="1"/>
          <p:nvPr/>
        </p:nvSpPr>
        <p:spPr>
          <a:xfrm>
            <a:off x="7994328" y="1634179"/>
            <a:ext cx="3069705" cy="1873466"/>
          </a:xfrm>
          <a:prstGeom prst="rect">
            <a:avLst/>
          </a:prstGeom>
        </p:spPr>
        <p:txBody>
          <a:bodyPr vert="horz" wrap="square" lIns="0" tIns="13085" rIns="0" bIns="0" rtlCol="0">
            <a:spAutoFit/>
          </a:bodyPr>
          <a:lstStyle/>
          <a:p>
            <a:pPr marL="17446" marR="6978" indent="6978">
              <a:lnSpc>
                <a:spcPct val="100400"/>
              </a:lnSpc>
              <a:spcBef>
                <a:spcPts val="103"/>
              </a:spcBef>
            </a:pPr>
            <a:r>
              <a:rPr sz="6044" b="1" dirty="0">
                <a:latin typeface="Calibri"/>
                <a:cs typeface="Calibri"/>
              </a:rPr>
              <a:t>Language  </a:t>
            </a:r>
            <a:r>
              <a:rPr sz="6044" b="1" spc="-7" dirty="0">
                <a:latin typeface="Calibri"/>
                <a:cs typeface="Calibri"/>
              </a:rPr>
              <a:t>Mode</a:t>
            </a:r>
            <a:r>
              <a:rPr sz="6044" b="1" dirty="0">
                <a:latin typeface="Calibri"/>
                <a:cs typeface="Calibri"/>
              </a:rPr>
              <a:t>li</a:t>
            </a:r>
            <a:r>
              <a:rPr sz="6044" b="1" spc="-7" dirty="0">
                <a:latin typeface="Calibri"/>
                <a:cs typeface="Calibri"/>
              </a:rPr>
              <a:t>n</a:t>
            </a:r>
            <a:r>
              <a:rPr sz="6044" b="1" dirty="0">
                <a:latin typeface="Calibri"/>
                <a:cs typeface="Calibri"/>
              </a:rPr>
              <a:t>g</a:t>
            </a:r>
            <a:endParaRPr sz="6044">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8134414" cy="694084"/>
          </a:xfrm>
          <a:prstGeom prst="rect">
            <a:avLst/>
          </a:prstGeom>
        </p:spPr>
        <p:txBody>
          <a:bodyPr vert="horz" wrap="square" lIns="0" tIns="17446" rIns="0" bIns="0" rtlCol="0">
            <a:spAutoFit/>
          </a:bodyPr>
          <a:lstStyle/>
          <a:p>
            <a:pPr marL="17446">
              <a:spcBef>
                <a:spcPts val="137"/>
              </a:spcBef>
            </a:pPr>
            <a:r>
              <a:rPr spc="-7" dirty="0">
                <a:latin typeface="Calibri"/>
                <a:cs typeface="Calibri"/>
              </a:rPr>
              <a:t>The</a:t>
            </a:r>
            <a:r>
              <a:rPr spc="-14" dirty="0">
                <a:latin typeface="Calibri"/>
                <a:cs typeface="Calibri"/>
              </a:rPr>
              <a:t> </a:t>
            </a:r>
            <a:r>
              <a:rPr spc="-7" dirty="0">
                <a:latin typeface="Calibri"/>
                <a:cs typeface="Calibri"/>
              </a:rPr>
              <a:t>Shannon</a:t>
            </a:r>
            <a:r>
              <a:rPr spc="-14" dirty="0">
                <a:latin typeface="Calibri"/>
                <a:cs typeface="Calibri"/>
              </a:rPr>
              <a:t> </a:t>
            </a:r>
            <a:r>
              <a:rPr spc="-7" dirty="0">
                <a:latin typeface="Calibri"/>
                <a:cs typeface="Calibri"/>
              </a:rPr>
              <a:t>Visualization</a:t>
            </a:r>
            <a:r>
              <a:rPr spc="-14" dirty="0">
                <a:latin typeface="Calibri"/>
                <a:cs typeface="Calibri"/>
              </a:rPr>
              <a:t> </a:t>
            </a:r>
            <a:r>
              <a:rPr spc="-7" dirty="0">
                <a:latin typeface="Calibri"/>
                <a:cs typeface="Calibri"/>
              </a:rPr>
              <a:t>Method</a:t>
            </a:r>
          </a:p>
        </p:txBody>
      </p:sp>
      <p:pic>
        <p:nvPicPr>
          <p:cNvPr id="14" name="Picture 13">
            <a:extLst>
              <a:ext uri="{FF2B5EF4-FFF2-40B4-BE49-F238E27FC236}">
                <a16:creationId xmlns:a16="http://schemas.microsoft.com/office/drawing/2014/main" id="{168309CE-A525-8A43-A860-2E3A96C13CE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124495" y="2392859"/>
            <a:ext cx="10193979" cy="423386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8134414" cy="694084"/>
          </a:xfrm>
          <a:prstGeom prst="rect">
            <a:avLst/>
          </a:prstGeom>
        </p:spPr>
        <p:txBody>
          <a:bodyPr vert="horz" wrap="square" lIns="0" tIns="17446" rIns="0" bIns="0" rtlCol="0">
            <a:spAutoFit/>
          </a:bodyPr>
          <a:lstStyle/>
          <a:p>
            <a:pPr marL="17446">
              <a:spcBef>
                <a:spcPts val="137"/>
              </a:spcBef>
            </a:pPr>
            <a:r>
              <a:rPr spc="-7" dirty="0">
                <a:latin typeface="Calibri"/>
                <a:cs typeface="Calibri"/>
              </a:rPr>
              <a:t>The</a:t>
            </a:r>
            <a:r>
              <a:rPr spc="-14" dirty="0">
                <a:latin typeface="Calibri"/>
                <a:cs typeface="Calibri"/>
              </a:rPr>
              <a:t> </a:t>
            </a:r>
            <a:r>
              <a:rPr spc="-7" dirty="0">
                <a:latin typeface="Calibri"/>
                <a:cs typeface="Calibri"/>
              </a:rPr>
              <a:t>Shannon</a:t>
            </a:r>
            <a:r>
              <a:rPr spc="-14" dirty="0">
                <a:latin typeface="Calibri"/>
                <a:cs typeface="Calibri"/>
              </a:rPr>
              <a:t> </a:t>
            </a:r>
            <a:r>
              <a:rPr spc="-7" dirty="0">
                <a:latin typeface="Calibri"/>
                <a:cs typeface="Calibri"/>
              </a:rPr>
              <a:t>Visualization</a:t>
            </a:r>
            <a:r>
              <a:rPr spc="-14" dirty="0">
                <a:latin typeface="Calibri"/>
                <a:cs typeface="Calibri"/>
              </a:rPr>
              <a:t> </a:t>
            </a:r>
            <a:r>
              <a:rPr spc="-7" dirty="0">
                <a:latin typeface="Calibri"/>
                <a:cs typeface="Calibri"/>
              </a:rPr>
              <a:t>Method</a:t>
            </a:r>
          </a:p>
        </p:txBody>
      </p:sp>
      <p:sp>
        <p:nvSpPr>
          <p:cNvPr id="7" name="object 7"/>
          <p:cNvSpPr txBox="1"/>
          <p:nvPr/>
        </p:nvSpPr>
        <p:spPr>
          <a:xfrm>
            <a:off x="1118039" y="2704926"/>
            <a:ext cx="5166177" cy="3786377"/>
          </a:xfrm>
          <a:prstGeom prst="rect">
            <a:avLst/>
          </a:prstGeom>
        </p:spPr>
        <p:txBody>
          <a:bodyPr vert="horz" wrap="square" lIns="0" tIns="81998" rIns="0" bIns="0" rtlCol="0">
            <a:spAutoFit/>
          </a:bodyPr>
          <a:lstStyle/>
          <a:p>
            <a:pPr marL="488488" indent="-471042">
              <a:spcBef>
                <a:spcPts val="646"/>
              </a:spcBef>
              <a:buClr>
                <a:srgbClr val="CC0000"/>
              </a:buClr>
              <a:buFont typeface="Times New Roman"/>
              <a:buChar char="•"/>
              <a:tabLst>
                <a:tab pos="487615" algn="l"/>
                <a:tab pos="488488" algn="l"/>
              </a:tabLst>
            </a:pPr>
            <a:r>
              <a:rPr sz="2800" spc="-7" dirty="0">
                <a:latin typeface="Calibri"/>
                <a:cs typeface="Calibri"/>
              </a:rPr>
              <a:t>Choose</a:t>
            </a:r>
            <a:r>
              <a:rPr sz="2800" spc="-14" dirty="0">
                <a:latin typeface="Calibri"/>
                <a:cs typeface="Calibri"/>
              </a:rPr>
              <a:t> </a:t>
            </a:r>
            <a:r>
              <a:rPr sz="2800" dirty="0">
                <a:latin typeface="Calibri"/>
                <a:cs typeface="Calibri"/>
              </a:rPr>
              <a:t>a</a:t>
            </a:r>
            <a:r>
              <a:rPr sz="2800" spc="-14" dirty="0">
                <a:latin typeface="Calibri"/>
                <a:cs typeface="Calibri"/>
              </a:rPr>
              <a:t> </a:t>
            </a:r>
            <a:r>
              <a:rPr sz="2800" spc="-7" dirty="0">
                <a:latin typeface="Calibri"/>
                <a:cs typeface="Calibri"/>
              </a:rPr>
              <a:t>random bigram</a:t>
            </a:r>
            <a:endParaRPr sz="2800" dirty="0">
              <a:latin typeface="Calibri"/>
              <a:cs typeface="Calibri"/>
            </a:endParaRPr>
          </a:p>
          <a:p>
            <a:pPr marL="371600">
              <a:spcBef>
                <a:spcPts val="515"/>
              </a:spcBef>
            </a:pPr>
            <a:r>
              <a:rPr sz="2800" spc="-7" dirty="0">
                <a:latin typeface="Calibri"/>
                <a:cs typeface="Calibri"/>
              </a:rPr>
              <a:t>(&lt;s&gt;,</a:t>
            </a:r>
            <a:r>
              <a:rPr sz="2800" spc="-14" dirty="0">
                <a:latin typeface="Calibri"/>
                <a:cs typeface="Calibri"/>
              </a:rPr>
              <a:t> </a:t>
            </a:r>
            <a:r>
              <a:rPr sz="2800" spc="-7" dirty="0">
                <a:latin typeface="Calibri"/>
                <a:cs typeface="Calibri"/>
              </a:rPr>
              <a:t>w)</a:t>
            </a:r>
            <a:r>
              <a:rPr sz="2800" dirty="0">
                <a:latin typeface="Calibri"/>
                <a:cs typeface="Calibri"/>
              </a:rPr>
              <a:t> </a:t>
            </a:r>
            <a:r>
              <a:rPr sz="2800" spc="-7" dirty="0">
                <a:latin typeface="Calibri"/>
                <a:cs typeface="Calibri"/>
              </a:rPr>
              <a:t>according</a:t>
            </a:r>
            <a:r>
              <a:rPr sz="2800" dirty="0">
                <a:latin typeface="Calibri"/>
                <a:cs typeface="Calibri"/>
              </a:rPr>
              <a:t> to its </a:t>
            </a:r>
            <a:r>
              <a:rPr sz="2800" spc="-7" dirty="0">
                <a:latin typeface="Calibri"/>
                <a:cs typeface="Calibri"/>
              </a:rPr>
              <a:t>probability</a:t>
            </a:r>
            <a:endParaRPr sz="2800" dirty="0">
              <a:latin typeface="Calibri"/>
              <a:cs typeface="Calibri"/>
            </a:endParaRPr>
          </a:p>
          <a:p>
            <a:pPr marL="488488" marR="190161" indent="-471042">
              <a:spcBef>
                <a:spcPts val="603"/>
              </a:spcBef>
              <a:buClr>
                <a:srgbClr val="CC0000"/>
              </a:buClr>
              <a:buFont typeface="Times New Roman"/>
              <a:buChar char="•"/>
              <a:tabLst>
                <a:tab pos="487615" algn="l"/>
                <a:tab pos="488488" algn="l"/>
              </a:tabLst>
            </a:pPr>
            <a:r>
              <a:rPr sz="2800" spc="-7" dirty="0">
                <a:latin typeface="Calibri"/>
                <a:cs typeface="Calibri"/>
              </a:rPr>
              <a:t>Now choose </a:t>
            </a:r>
            <a:r>
              <a:rPr sz="2800" dirty="0">
                <a:latin typeface="Calibri"/>
                <a:cs typeface="Calibri"/>
              </a:rPr>
              <a:t>a </a:t>
            </a:r>
            <a:r>
              <a:rPr sz="2800" spc="-7" dirty="0">
                <a:latin typeface="Calibri"/>
                <a:cs typeface="Calibri"/>
              </a:rPr>
              <a:t>random bigram </a:t>
            </a:r>
            <a:r>
              <a:rPr sz="2800" dirty="0">
                <a:latin typeface="Calibri"/>
                <a:cs typeface="Calibri"/>
              </a:rPr>
              <a:t> </a:t>
            </a:r>
            <a:r>
              <a:rPr sz="2800" spc="-7" dirty="0">
                <a:latin typeface="Calibri"/>
                <a:cs typeface="Calibri"/>
              </a:rPr>
              <a:t>(w, </a:t>
            </a:r>
            <a:r>
              <a:rPr sz="2800" dirty="0">
                <a:latin typeface="Calibri"/>
                <a:cs typeface="Calibri"/>
              </a:rPr>
              <a:t>x)</a:t>
            </a:r>
            <a:r>
              <a:rPr sz="2800" spc="-7" dirty="0">
                <a:latin typeface="Calibri"/>
                <a:cs typeface="Calibri"/>
              </a:rPr>
              <a:t> according</a:t>
            </a:r>
            <a:r>
              <a:rPr sz="2800" dirty="0">
                <a:latin typeface="Calibri"/>
                <a:cs typeface="Calibri"/>
              </a:rPr>
              <a:t> to</a:t>
            </a:r>
            <a:r>
              <a:rPr sz="2800" spc="-7" dirty="0">
                <a:latin typeface="Calibri"/>
                <a:cs typeface="Calibri"/>
              </a:rPr>
              <a:t> </a:t>
            </a:r>
            <a:r>
              <a:rPr sz="2800" dirty="0">
                <a:latin typeface="Calibri"/>
                <a:cs typeface="Calibri"/>
              </a:rPr>
              <a:t>its </a:t>
            </a:r>
            <a:r>
              <a:rPr sz="2800" spc="-7" dirty="0">
                <a:latin typeface="Calibri"/>
                <a:cs typeface="Calibri"/>
              </a:rPr>
              <a:t>probability</a:t>
            </a:r>
            <a:endParaRPr sz="2800" dirty="0">
              <a:latin typeface="Calibri"/>
              <a:cs typeface="Calibri"/>
            </a:endParaRPr>
          </a:p>
          <a:p>
            <a:pPr marL="488488" indent="-471042">
              <a:spcBef>
                <a:spcPts val="659"/>
              </a:spcBef>
              <a:buClr>
                <a:srgbClr val="CC0000"/>
              </a:buClr>
              <a:buFont typeface="Times New Roman"/>
              <a:buChar char="•"/>
              <a:tabLst>
                <a:tab pos="487615" algn="l"/>
                <a:tab pos="488488" algn="l"/>
              </a:tabLst>
            </a:pPr>
            <a:r>
              <a:rPr sz="2800" dirty="0">
                <a:latin typeface="Calibri"/>
                <a:cs typeface="Calibri"/>
              </a:rPr>
              <a:t>And</a:t>
            </a:r>
            <a:r>
              <a:rPr sz="2800" spc="-14" dirty="0">
                <a:latin typeface="Calibri"/>
                <a:cs typeface="Calibri"/>
              </a:rPr>
              <a:t> </a:t>
            </a:r>
            <a:r>
              <a:rPr sz="2800" dirty="0">
                <a:latin typeface="Calibri"/>
                <a:cs typeface="Calibri"/>
              </a:rPr>
              <a:t>so</a:t>
            </a:r>
            <a:r>
              <a:rPr sz="2800" spc="-7" dirty="0">
                <a:latin typeface="Calibri"/>
                <a:cs typeface="Calibri"/>
              </a:rPr>
              <a:t> on until</a:t>
            </a:r>
            <a:r>
              <a:rPr sz="2800" spc="-14" dirty="0">
                <a:latin typeface="Calibri"/>
                <a:cs typeface="Calibri"/>
              </a:rPr>
              <a:t> </a:t>
            </a:r>
            <a:r>
              <a:rPr sz="2800" spc="-7" dirty="0">
                <a:latin typeface="Calibri"/>
                <a:cs typeface="Calibri"/>
              </a:rPr>
              <a:t>we choose &lt;/s&gt;</a:t>
            </a:r>
            <a:endParaRPr sz="2800" dirty="0">
              <a:latin typeface="Calibri"/>
              <a:cs typeface="Calibri"/>
            </a:endParaRPr>
          </a:p>
          <a:p>
            <a:pPr marL="488488" indent="-471042">
              <a:spcBef>
                <a:spcPts val="213"/>
              </a:spcBef>
              <a:buClr>
                <a:srgbClr val="CC0000"/>
              </a:buClr>
              <a:buFont typeface="Times New Roman"/>
              <a:buChar char="•"/>
              <a:tabLst>
                <a:tab pos="487615" algn="l"/>
                <a:tab pos="488488" algn="l"/>
              </a:tabLst>
            </a:pPr>
            <a:r>
              <a:rPr sz="2800" dirty="0">
                <a:latin typeface="Calibri"/>
                <a:cs typeface="Calibri"/>
              </a:rPr>
              <a:t>Then</a:t>
            </a:r>
            <a:r>
              <a:rPr sz="2800" spc="-21" dirty="0">
                <a:latin typeface="Calibri"/>
                <a:cs typeface="Calibri"/>
              </a:rPr>
              <a:t> </a:t>
            </a:r>
            <a:r>
              <a:rPr sz="2800" spc="-7" dirty="0">
                <a:latin typeface="Calibri"/>
                <a:cs typeface="Calibri"/>
              </a:rPr>
              <a:t>string</a:t>
            </a:r>
            <a:r>
              <a:rPr sz="2800" spc="-14" dirty="0">
                <a:latin typeface="Calibri"/>
                <a:cs typeface="Calibri"/>
              </a:rPr>
              <a:t> </a:t>
            </a:r>
            <a:r>
              <a:rPr sz="2800" dirty="0">
                <a:latin typeface="Calibri"/>
                <a:cs typeface="Calibri"/>
              </a:rPr>
              <a:t>the</a:t>
            </a:r>
            <a:r>
              <a:rPr sz="2800" spc="-21" dirty="0">
                <a:latin typeface="Calibri"/>
                <a:cs typeface="Calibri"/>
              </a:rPr>
              <a:t> </a:t>
            </a:r>
            <a:r>
              <a:rPr sz="2800" spc="-7" dirty="0">
                <a:latin typeface="Calibri"/>
                <a:cs typeface="Calibri"/>
              </a:rPr>
              <a:t>words</a:t>
            </a:r>
            <a:r>
              <a:rPr sz="2800" spc="-14" dirty="0">
                <a:latin typeface="Calibri"/>
                <a:cs typeface="Calibri"/>
              </a:rPr>
              <a:t> </a:t>
            </a:r>
            <a:r>
              <a:rPr sz="2800" dirty="0">
                <a:latin typeface="Calibri"/>
                <a:cs typeface="Calibri"/>
              </a:rPr>
              <a:t>together</a:t>
            </a:r>
          </a:p>
        </p:txBody>
      </p:sp>
      <p:sp>
        <p:nvSpPr>
          <p:cNvPr id="8" name="object 8"/>
          <p:cNvSpPr txBox="1"/>
          <p:nvPr/>
        </p:nvSpPr>
        <p:spPr>
          <a:xfrm>
            <a:off x="6284216" y="2403219"/>
            <a:ext cx="2485248" cy="1659545"/>
          </a:xfrm>
          <a:prstGeom prst="rect">
            <a:avLst/>
          </a:prstGeom>
        </p:spPr>
        <p:txBody>
          <a:bodyPr vert="horz" wrap="square" lIns="0" tIns="47105" rIns="0" bIns="0" rtlCol="0">
            <a:spAutoFit/>
          </a:bodyPr>
          <a:lstStyle/>
          <a:p>
            <a:pPr marL="17446">
              <a:spcBef>
                <a:spcPts val="371"/>
              </a:spcBef>
            </a:pPr>
            <a:r>
              <a:rPr sz="2473" spc="-7" dirty="0">
                <a:solidFill>
                  <a:srgbClr val="A50021"/>
                </a:solidFill>
                <a:latin typeface="Courier New"/>
                <a:cs typeface="Courier New"/>
              </a:rPr>
              <a:t>&lt;s&gt;</a:t>
            </a:r>
            <a:r>
              <a:rPr sz="2473" spc="-96" dirty="0">
                <a:solidFill>
                  <a:srgbClr val="A50021"/>
                </a:solidFill>
                <a:latin typeface="Courier New"/>
                <a:cs typeface="Courier New"/>
              </a:rPr>
              <a:t> </a:t>
            </a:r>
            <a:r>
              <a:rPr sz="2473" dirty="0">
                <a:solidFill>
                  <a:srgbClr val="A50021"/>
                </a:solidFill>
                <a:latin typeface="Courier New"/>
                <a:cs typeface="Courier New"/>
              </a:rPr>
              <a:t>I</a:t>
            </a:r>
            <a:endParaRPr sz="2473">
              <a:latin typeface="Courier New"/>
              <a:cs typeface="Courier New"/>
            </a:endParaRPr>
          </a:p>
          <a:p>
            <a:pPr marL="771113">
              <a:spcBef>
                <a:spcPts val="234"/>
              </a:spcBef>
              <a:tabLst>
                <a:tab pos="1147946" algn="l"/>
              </a:tabLst>
            </a:pPr>
            <a:r>
              <a:rPr sz="2473" dirty="0">
                <a:solidFill>
                  <a:srgbClr val="A50021"/>
                </a:solidFill>
                <a:latin typeface="Courier New"/>
                <a:cs typeface="Courier New"/>
              </a:rPr>
              <a:t>I	</a:t>
            </a:r>
            <a:r>
              <a:rPr sz="2473" dirty="0">
                <a:latin typeface="Courier New"/>
                <a:cs typeface="Courier New"/>
              </a:rPr>
              <a:t>want</a:t>
            </a:r>
            <a:endParaRPr sz="2473">
              <a:latin typeface="Courier New"/>
              <a:cs typeface="Courier New"/>
            </a:endParaRPr>
          </a:p>
          <a:p>
            <a:pPr marR="6978" algn="r">
              <a:spcBef>
                <a:spcPts val="330"/>
              </a:spcBef>
              <a:tabLst>
                <a:tab pos="942083" algn="l"/>
              </a:tabLst>
            </a:pPr>
            <a:r>
              <a:rPr sz="2473" dirty="0">
                <a:solidFill>
                  <a:srgbClr val="A50021"/>
                </a:solidFill>
                <a:latin typeface="Courier New"/>
                <a:cs typeface="Courier New"/>
              </a:rPr>
              <a:t>want	</a:t>
            </a:r>
            <a:r>
              <a:rPr sz="2473" dirty="0">
                <a:latin typeface="Courier New"/>
                <a:cs typeface="Courier New"/>
              </a:rPr>
              <a:t>to</a:t>
            </a:r>
            <a:endParaRPr sz="2473">
              <a:latin typeface="Courier New"/>
              <a:cs typeface="Courier New"/>
            </a:endParaRPr>
          </a:p>
          <a:p>
            <a:pPr marR="6978" algn="r">
              <a:spcBef>
                <a:spcPts val="192"/>
              </a:spcBef>
            </a:pPr>
            <a:r>
              <a:rPr sz="2473" dirty="0">
                <a:solidFill>
                  <a:srgbClr val="A50021"/>
                </a:solidFill>
                <a:latin typeface="Courier New"/>
                <a:cs typeface="Courier New"/>
              </a:rPr>
              <a:t>to</a:t>
            </a:r>
            <a:endParaRPr sz="2473">
              <a:latin typeface="Courier New"/>
              <a:cs typeface="Courier New"/>
            </a:endParaRPr>
          </a:p>
        </p:txBody>
      </p:sp>
      <p:sp>
        <p:nvSpPr>
          <p:cNvPr id="9" name="object 9"/>
          <p:cNvSpPr txBox="1"/>
          <p:nvPr/>
        </p:nvSpPr>
        <p:spPr>
          <a:xfrm>
            <a:off x="8922553" y="3618190"/>
            <a:ext cx="2108405" cy="1278501"/>
          </a:xfrm>
          <a:prstGeom prst="rect">
            <a:avLst/>
          </a:prstGeom>
        </p:spPr>
        <p:txBody>
          <a:bodyPr vert="horz" wrap="square" lIns="0" tIns="59318" rIns="0" bIns="0" rtlCol="0">
            <a:spAutoFit/>
          </a:bodyPr>
          <a:lstStyle/>
          <a:p>
            <a:pPr marL="17446">
              <a:spcBef>
                <a:spcPts val="467"/>
              </a:spcBef>
            </a:pPr>
            <a:r>
              <a:rPr sz="2473" dirty="0">
                <a:latin typeface="Courier New"/>
                <a:cs typeface="Courier New"/>
              </a:rPr>
              <a:t>eat</a:t>
            </a:r>
            <a:endParaRPr sz="2473">
              <a:latin typeface="Courier New"/>
              <a:cs typeface="Courier New"/>
            </a:endParaRPr>
          </a:p>
          <a:p>
            <a:pPr marL="17446">
              <a:spcBef>
                <a:spcPts val="330"/>
              </a:spcBef>
              <a:tabLst>
                <a:tab pos="771113" algn="l"/>
              </a:tabLst>
            </a:pPr>
            <a:r>
              <a:rPr sz="2473" dirty="0">
                <a:solidFill>
                  <a:srgbClr val="A50021"/>
                </a:solidFill>
                <a:latin typeface="Courier New"/>
                <a:cs typeface="Courier New"/>
              </a:rPr>
              <a:t>eat	</a:t>
            </a:r>
            <a:r>
              <a:rPr sz="2473" dirty="0">
                <a:latin typeface="Courier New"/>
                <a:cs typeface="Courier New"/>
              </a:rPr>
              <a:t>Chinese</a:t>
            </a:r>
            <a:endParaRPr sz="2473">
              <a:latin typeface="Courier New"/>
              <a:cs typeface="Courier New"/>
            </a:endParaRPr>
          </a:p>
          <a:p>
            <a:pPr marL="771113">
              <a:spcBef>
                <a:spcPts val="330"/>
              </a:spcBef>
            </a:pPr>
            <a:r>
              <a:rPr sz="2473" dirty="0">
                <a:solidFill>
                  <a:srgbClr val="A50021"/>
                </a:solidFill>
                <a:latin typeface="Courier New"/>
                <a:cs typeface="Courier New"/>
              </a:rPr>
              <a:t>Chinese</a:t>
            </a:r>
            <a:endParaRPr sz="2473">
              <a:latin typeface="Courier New"/>
              <a:cs typeface="Courier New"/>
            </a:endParaRPr>
          </a:p>
        </p:txBody>
      </p:sp>
      <p:sp>
        <p:nvSpPr>
          <p:cNvPr id="10" name="object 10"/>
          <p:cNvSpPr txBox="1"/>
          <p:nvPr/>
        </p:nvSpPr>
        <p:spPr>
          <a:xfrm>
            <a:off x="11183981" y="4455620"/>
            <a:ext cx="789453" cy="852012"/>
          </a:xfrm>
          <a:prstGeom prst="rect">
            <a:avLst/>
          </a:prstGeom>
        </p:spPr>
        <p:txBody>
          <a:bodyPr vert="horz" wrap="square" lIns="0" tIns="17446" rIns="0" bIns="0" rtlCol="0">
            <a:spAutoFit/>
          </a:bodyPr>
          <a:lstStyle/>
          <a:p>
            <a:pPr marL="17446" marR="6978" indent="-872">
              <a:lnSpc>
                <a:spcPct val="111100"/>
              </a:lnSpc>
              <a:spcBef>
                <a:spcPts val="137"/>
              </a:spcBef>
            </a:pPr>
            <a:r>
              <a:rPr sz="2473" dirty="0">
                <a:latin typeface="Courier New"/>
                <a:cs typeface="Courier New"/>
              </a:rPr>
              <a:t>food  </a:t>
            </a:r>
            <a:r>
              <a:rPr sz="2473" spc="-7" dirty="0">
                <a:solidFill>
                  <a:srgbClr val="A50021"/>
                </a:solidFill>
                <a:latin typeface="Courier New"/>
                <a:cs typeface="Courier New"/>
              </a:rPr>
              <a:t>food</a:t>
            </a:r>
            <a:endParaRPr sz="2473">
              <a:latin typeface="Courier New"/>
              <a:cs typeface="Courier New"/>
            </a:endParaRPr>
          </a:p>
        </p:txBody>
      </p:sp>
      <p:sp>
        <p:nvSpPr>
          <p:cNvPr id="11" name="object 11"/>
          <p:cNvSpPr txBox="1"/>
          <p:nvPr/>
        </p:nvSpPr>
        <p:spPr>
          <a:xfrm>
            <a:off x="12314697" y="4916207"/>
            <a:ext cx="789453" cy="398170"/>
          </a:xfrm>
          <a:prstGeom prst="rect">
            <a:avLst/>
          </a:prstGeom>
        </p:spPr>
        <p:txBody>
          <a:bodyPr vert="horz" wrap="square" lIns="0" tIns="17446" rIns="0" bIns="0" rtlCol="0">
            <a:spAutoFit/>
          </a:bodyPr>
          <a:lstStyle/>
          <a:p>
            <a:pPr marL="17446">
              <a:spcBef>
                <a:spcPts val="137"/>
              </a:spcBef>
            </a:pPr>
            <a:r>
              <a:rPr sz="2473" dirty="0">
                <a:latin typeface="Courier New"/>
                <a:cs typeface="Courier New"/>
              </a:rPr>
              <a:t>&lt;/s&gt;</a:t>
            </a:r>
            <a:endParaRPr sz="2473">
              <a:latin typeface="Courier New"/>
              <a:cs typeface="Courier New"/>
            </a:endParaRPr>
          </a:p>
        </p:txBody>
      </p:sp>
      <p:sp>
        <p:nvSpPr>
          <p:cNvPr id="12" name="object 12"/>
          <p:cNvSpPr txBox="1"/>
          <p:nvPr/>
        </p:nvSpPr>
        <p:spPr>
          <a:xfrm>
            <a:off x="6284217" y="5334923"/>
            <a:ext cx="4934733" cy="398170"/>
          </a:xfrm>
          <a:prstGeom prst="rect">
            <a:avLst/>
          </a:prstGeom>
        </p:spPr>
        <p:txBody>
          <a:bodyPr vert="horz" wrap="square" lIns="0" tIns="17446" rIns="0" bIns="0" rtlCol="0">
            <a:spAutoFit/>
          </a:bodyPr>
          <a:lstStyle/>
          <a:p>
            <a:pPr marL="17446">
              <a:spcBef>
                <a:spcPts val="137"/>
              </a:spcBef>
            </a:pPr>
            <a:r>
              <a:rPr sz="2473" dirty="0">
                <a:solidFill>
                  <a:srgbClr val="CC0000"/>
                </a:solidFill>
                <a:latin typeface="Courier New"/>
                <a:cs typeface="Courier New"/>
              </a:rPr>
              <a:t>I</a:t>
            </a:r>
            <a:r>
              <a:rPr sz="2473" spc="-34" dirty="0">
                <a:solidFill>
                  <a:srgbClr val="CC0000"/>
                </a:solidFill>
                <a:latin typeface="Courier New"/>
                <a:cs typeface="Courier New"/>
              </a:rPr>
              <a:t> </a:t>
            </a:r>
            <a:r>
              <a:rPr sz="2473" spc="-7" dirty="0">
                <a:solidFill>
                  <a:srgbClr val="CC0000"/>
                </a:solidFill>
                <a:latin typeface="Courier New"/>
                <a:cs typeface="Courier New"/>
              </a:rPr>
              <a:t>want</a:t>
            </a:r>
            <a:r>
              <a:rPr sz="2473" spc="-27" dirty="0">
                <a:solidFill>
                  <a:srgbClr val="CC0000"/>
                </a:solidFill>
                <a:latin typeface="Courier New"/>
                <a:cs typeface="Courier New"/>
              </a:rPr>
              <a:t> </a:t>
            </a:r>
            <a:r>
              <a:rPr sz="2473" spc="-7" dirty="0">
                <a:solidFill>
                  <a:srgbClr val="CC0000"/>
                </a:solidFill>
                <a:latin typeface="Courier New"/>
                <a:cs typeface="Courier New"/>
              </a:rPr>
              <a:t>to</a:t>
            </a:r>
            <a:r>
              <a:rPr sz="2473" spc="-27" dirty="0">
                <a:solidFill>
                  <a:srgbClr val="CC0000"/>
                </a:solidFill>
                <a:latin typeface="Courier New"/>
                <a:cs typeface="Courier New"/>
              </a:rPr>
              <a:t> </a:t>
            </a:r>
            <a:r>
              <a:rPr sz="2473" spc="-7" dirty="0">
                <a:solidFill>
                  <a:srgbClr val="CC0000"/>
                </a:solidFill>
                <a:latin typeface="Courier New"/>
                <a:cs typeface="Courier New"/>
              </a:rPr>
              <a:t>eat</a:t>
            </a:r>
            <a:r>
              <a:rPr sz="2473" spc="-27" dirty="0">
                <a:solidFill>
                  <a:srgbClr val="CC0000"/>
                </a:solidFill>
                <a:latin typeface="Courier New"/>
                <a:cs typeface="Courier New"/>
              </a:rPr>
              <a:t> </a:t>
            </a:r>
            <a:r>
              <a:rPr sz="2473" spc="-7" dirty="0">
                <a:solidFill>
                  <a:srgbClr val="CC0000"/>
                </a:solidFill>
                <a:latin typeface="Courier New"/>
                <a:cs typeface="Courier New"/>
              </a:rPr>
              <a:t>Chinese</a:t>
            </a:r>
            <a:r>
              <a:rPr sz="2473" spc="-27" dirty="0">
                <a:solidFill>
                  <a:srgbClr val="CC0000"/>
                </a:solidFill>
                <a:latin typeface="Courier New"/>
                <a:cs typeface="Courier New"/>
              </a:rPr>
              <a:t> </a:t>
            </a:r>
            <a:r>
              <a:rPr sz="2473" dirty="0">
                <a:solidFill>
                  <a:srgbClr val="CC0000"/>
                </a:solidFill>
                <a:latin typeface="Courier New"/>
                <a:cs typeface="Courier New"/>
              </a:rPr>
              <a:t>food</a:t>
            </a:r>
            <a:endParaRPr sz="2473">
              <a:latin typeface="Courier New"/>
              <a:cs typeface="Courier New"/>
            </a:endParaRPr>
          </a:p>
        </p:txBody>
      </p:sp>
    </p:spTree>
    <p:extLst>
      <p:ext uri="{BB962C8B-B14F-4D97-AF65-F5344CB8AC3E}">
        <p14:creationId xmlns:p14="http://schemas.microsoft.com/office/powerpoint/2010/main" val="8820550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093576" y="2000556"/>
            <a:ext cx="10252642" cy="5199296"/>
          </a:xfrm>
          <a:prstGeom prst="rect">
            <a:avLst/>
          </a:prstGeom>
        </p:spPr>
      </p:pic>
      <p:sp>
        <p:nvSpPr>
          <p:cNvPr id="3" name="object 3"/>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4" name="object 4"/>
          <p:cNvGrpSpPr/>
          <p:nvPr/>
        </p:nvGrpSpPr>
        <p:grpSpPr>
          <a:xfrm>
            <a:off x="621527" y="345321"/>
            <a:ext cx="75891" cy="7078903"/>
            <a:chOff x="452435" y="1308648"/>
            <a:chExt cx="55244" cy="5153025"/>
          </a:xfrm>
        </p:grpSpPr>
        <p:sp>
          <p:nvSpPr>
            <p:cNvPr id="5" name="object 5"/>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6" name="object 6"/>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7" name="object 7"/>
          <p:cNvSpPr txBox="1">
            <a:spLocks noGrp="1"/>
          </p:cNvSpPr>
          <p:nvPr>
            <p:ph type="title"/>
          </p:nvPr>
        </p:nvSpPr>
        <p:spPr>
          <a:xfrm>
            <a:off x="2620458" y="805472"/>
            <a:ext cx="6558998" cy="694084"/>
          </a:xfrm>
          <a:prstGeom prst="rect">
            <a:avLst/>
          </a:prstGeom>
        </p:spPr>
        <p:txBody>
          <a:bodyPr vert="horz" wrap="square" lIns="0" tIns="17446" rIns="0" bIns="0" rtlCol="0">
            <a:spAutoFit/>
          </a:bodyPr>
          <a:lstStyle/>
          <a:p>
            <a:pPr marL="17446">
              <a:spcBef>
                <a:spcPts val="137"/>
              </a:spcBef>
            </a:pPr>
            <a:r>
              <a:rPr spc="-7" dirty="0">
                <a:latin typeface="Calibri"/>
                <a:cs typeface="Calibri"/>
              </a:rPr>
              <a:t>Approximating</a:t>
            </a:r>
            <a:r>
              <a:rPr spc="-48" dirty="0">
                <a:latin typeface="Calibri"/>
                <a:cs typeface="Calibri"/>
              </a:rPr>
              <a:t> </a:t>
            </a:r>
            <a:r>
              <a:rPr spc="-7" dirty="0">
                <a:latin typeface="Calibri"/>
                <a:cs typeface="Calibri"/>
              </a:rPr>
              <a:t>Shakespeare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5287151" cy="694084"/>
          </a:xfrm>
          <a:prstGeom prst="rect">
            <a:avLst/>
          </a:prstGeom>
        </p:spPr>
        <p:txBody>
          <a:bodyPr vert="horz" wrap="square" lIns="0" tIns="17446" rIns="0" bIns="0" rtlCol="0">
            <a:spAutoFit/>
          </a:bodyPr>
          <a:lstStyle/>
          <a:p>
            <a:pPr marL="17446">
              <a:spcBef>
                <a:spcPts val="137"/>
              </a:spcBef>
            </a:pPr>
            <a:r>
              <a:rPr spc="-7" dirty="0">
                <a:latin typeface="Calibri"/>
                <a:cs typeface="Calibri"/>
              </a:rPr>
              <a:t>Shakespeare</a:t>
            </a:r>
            <a:r>
              <a:rPr spc="-34" dirty="0">
                <a:latin typeface="Calibri"/>
                <a:cs typeface="Calibri"/>
              </a:rPr>
              <a:t> </a:t>
            </a:r>
            <a:r>
              <a:rPr dirty="0">
                <a:latin typeface="Calibri"/>
                <a:cs typeface="Calibri"/>
              </a:rPr>
              <a:t>as</a:t>
            </a:r>
            <a:r>
              <a:rPr spc="-27" dirty="0">
                <a:latin typeface="Calibri"/>
                <a:cs typeface="Calibri"/>
              </a:rPr>
              <a:t> </a:t>
            </a:r>
            <a:r>
              <a:rPr spc="-7" dirty="0">
                <a:latin typeface="Calibri"/>
                <a:cs typeface="Calibri"/>
              </a:rPr>
              <a:t>corpus</a:t>
            </a:r>
          </a:p>
        </p:txBody>
      </p:sp>
      <p:sp>
        <p:nvSpPr>
          <p:cNvPr id="7" name="object 7"/>
          <p:cNvSpPr txBox="1"/>
          <p:nvPr/>
        </p:nvSpPr>
        <p:spPr>
          <a:xfrm>
            <a:off x="1153599" y="2300688"/>
            <a:ext cx="11188416" cy="5094129"/>
          </a:xfrm>
          <a:prstGeom prst="rect">
            <a:avLst/>
          </a:prstGeom>
        </p:spPr>
        <p:txBody>
          <a:bodyPr vert="horz" wrap="square" lIns="0" tIns="143933" rIns="0" bIns="0" rtlCol="0">
            <a:spAutoFit/>
          </a:bodyPr>
          <a:lstStyle/>
          <a:p>
            <a:pPr marL="505934" indent="-471042">
              <a:spcBef>
                <a:spcPts val="1133"/>
              </a:spcBef>
              <a:buClr>
                <a:srgbClr val="CC0000"/>
              </a:buClr>
              <a:buFont typeface="Times New Roman"/>
              <a:buChar char="•"/>
              <a:tabLst>
                <a:tab pos="505061" algn="l"/>
                <a:tab pos="505934" algn="l"/>
              </a:tabLst>
            </a:pPr>
            <a:r>
              <a:rPr sz="4396" spc="-7" dirty="0">
                <a:latin typeface="Calibri"/>
                <a:cs typeface="Calibri"/>
              </a:rPr>
              <a:t>N=884,647</a:t>
            </a:r>
            <a:r>
              <a:rPr sz="4396" spc="-34" dirty="0">
                <a:latin typeface="Calibri"/>
                <a:cs typeface="Calibri"/>
              </a:rPr>
              <a:t> </a:t>
            </a:r>
            <a:r>
              <a:rPr sz="4396" dirty="0">
                <a:latin typeface="Calibri"/>
                <a:cs typeface="Calibri"/>
              </a:rPr>
              <a:t>tokens,</a:t>
            </a:r>
            <a:r>
              <a:rPr sz="4396" spc="-27" dirty="0">
                <a:latin typeface="Calibri"/>
                <a:cs typeface="Calibri"/>
              </a:rPr>
              <a:t> </a:t>
            </a:r>
            <a:r>
              <a:rPr sz="4396" spc="-7" dirty="0">
                <a:latin typeface="Calibri"/>
                <a:cs typeface="Calibri"/>
              </a:rPr>
              <a:t>V=29,066</a:t>
            </a:r>
            <a:endParaRPr sz="4396" dirty="0">
              <a:latin typeface="Calibri"/>
              <a:cs typeface="Calibri"/>
            </a:endParaRPr>
          </a:p>
          <a:p>
            <a:pPr marL="505934" marR="454468" indent="-471042">
              <a:spcBef>
                <a:spcPts val="1003"/>
              </a:spcBef>
              <a:buClr>
                <a:srgbClr val="CC0000"/>
              </a:buClr>
              <a:buFont typeface="Times New Roman"/>
              <a:buChar char="•"/>
              <a:tabLst>
                <a:tab pos="505061" algn="l"/>
                <a:tab pos="505934" algn="l"/>
              </a:tabLst>
            </a:pPr>
            <a:r>
              <a:rPr sz="4396" spc="-7" dirty="0">
                <a:latin typeface="Calibri"/>
                <a:cs typeface="Calibri"/>
              </a:rPr>
              <a:t>Shakespeare</a:t>
            </a:r>
            <a:r>
              <a:rPr sz="4396" spc="7" dirty="0">
                <a:latin typeface="Calibri"/>
                <a:cs typeface="Calibri"/>
              </a:rPr>
              <a:t> </a:t>
            </a:r>
            <a:r>
              <a:rPr sz="4396" spc="-7" dirty="0">
                <a:latin typeface="Calibri"/>
                <a:cs typeface="Calibri"/>
              </a:rPr>
              <a:t>produced</a:t>
            </a:r>
            <a:r>
              <a:rPr sz="4396" spc="7" dirty="0">
                <a:latin typeface="Calibri"/>
                <a:cs typeface="Calibri"/>
              </a:rPr>
              <a:t> </a:t>
            </a:r>
            <a:r>
              <a:rPr sz="4396" spc="-7" dirty="0">
                <a:latin typeface="Calibri"/>
                <a:cs typeface="Calibri"/>
              </a:rPr>
              <a:t>300,000</a:t>
            </a:r>
            <a:r>
              <a:rPr sz="4396" spc="14" dirty="0">
                <a:latin typeface="Calibri"/>
                <a:cs typeface="Calibri"/>
              </a:rPr>
              <a:t> </a:t>
            </a:r>
            <a:r>
              <a:rPr sz="4396" spc="-7" dirty="0">
                <a:latin typeface="Calibri"/>
                <a:cs typeface="Calibri"/>
              </a:rPr>
              <a:t>bigram</a:t>
            </a:r>
            <a:r>
              <a:rPr sz="4396" dirty="0">
                <a:latin typeface="Calibri"/>
                <a:cs typeface="Calibri"/>
              </a:rPr>
              <a:t> </a:t>
            </a:r>
            <a:r>
              <a:rPr sz="4396" spc="-7" dirty="0">
                <a:latin typeface="Calibri"/>
                <a:cs typeface="Calibri"/>
              </a:rPr>
              <a:t>types </a:t>
            </a:r>
            <a:r>
              <a:rPr sz="4396" spc="-968" dirty="0">
                <a:latin typeface="Calibri"/>
                <a:cs typeface="Calibri"/>
              </a:rPr>
              <a:t> </a:t>
            </a:r>
            <a:r>
              <a:rPr sz="4396" spc="-7" dirty="0">
                <a:latin typeface="Calibri"/>
                <a:cs typeface="Calibri"/>
              </a:rPr>
              <a:t>out</a:t>
            </a:r>
            <a:r>
              <a:rPr sz="4396" dirty="0">
                <a:latin typeface="Calibri"/>
                <a:cs typeface="Calibri"/>
              </a:rPr>
              <a:t> </a:t>
            </a:r>
            <a:r>
              <a:rPr sz="4396" spc="-7" dirty="0">
                <a:latin typeface="Calibri"/>
                <a:cs typeface="Calibri"/>
              </a:rPr>
              <a:t>of</a:t>
            </a:r>
            <a:r>
              <a:rPr sz="4396" dirty="0">
                <a:latin typeface="Calibri"/>
                <a:cs typeface="Calibri"/>
              </a:rPr>
              <a:t> V</a:t>
            </a:r>
            <a:r>
              <a:rPr sz="4327" baseline="25132" dirty="0">
                <a:latin typeface="Calibri"/>
                <a:cs typeface="Calibri"/>
              </a:rPr>
              <a:t>2</a:t>
            </a:r>
            <a:r>
              <a:rPr sz="4396" dirty="0">
                <a:latin typeface="Calibri"/>
                <a:cs typeface="Calibri"/>
              </a:rPr>
              <a:t>=</a:t>
            </a:r>
            <a:r>
              <a:rPr sz="4396" spc="-7" dirty="0">
                <a:latin typeface="Calibri"/>
                <a:cs typeface="Calibri"/>
              </a:rPr>
              <a:t> 844</a:t>
            </a:r>
            <a:r>
              <a:rPr sz="4396" spc="7" dirty="0">
                <a:latin typeface="Calibri"/>
                <a:cs typeface="Calibri"/>
              </a:rPr>
              <a:t> </a:t>
            </a:r>
            <a:r>
              <a:rPr sz="4396" spc="-7" dirty="0">
                <a:latin typeface="Calibri"/>
                <a:cs typeface="Calibri"/>
              </a:rPr>
              <a:t>million</a:t>
            </a:r>
            <a:r>
              <a:rPr sz="4396" dirty="0">
                <a:latin typeface="Calibri"/>
                <a:cs typeface="Calibri"/>
              </a:rPr>
              <a:t> </a:t>
            </a:r>
            <a:r>
              <a:rPr sz="4396" spc="-7" dirty="0">
                <a:latin typeface="Calibri"/>
                <a:cs typeface="Calibri"/>
              </a:rPr>
              <a:t>possible</a:t>
            </a:r>
            <a:r>
              <a:rPr sz="4396" dirty="0">
                <a:latin typeface="Calibri"/>
                <a:cs typeface="Calibri"/>
              </a:rPr>
              <a:t> </a:t>
            </a:r>
            <a:r>
              <a:rPr sz="4396" spc="-7" dirty="0">
                <a:latin typeface="Calibri"/>
                <a:cs typeface="Calibri"/>
              </a:rPr>
              <a:t>bigrams.</a:t>
            </a:r>
            <a:endParaRPr sz="4396" dirty="0">
              <a:latin typeface="Calibri"/>
              <a:cs typeface="Calibri"/>
            </a:endParaRPr>
          </a:p>
          <a:p>
            <a:pPr marL="976975" marR="24424" lvl="1" indent="-314028">
              <a:lnSpc>
                <a:spcPct val="102000"/>
              </a:lnSpc>
              <a:spcBef>
                <a:spcPts val="762"/>
              </a:spcBef>
              <a:buFont typeface="Times New Roman"/>
              <a:buChar char="•"/>
              <a:tabLst>
                <a:tab pos="976975" algn="l"/>
              </a:tabLst>
            </a:pPr>
            <a:r>
              <a:rPr sz="3846" dirty="0">
                <a:latin typeface="Calibri"/>
                <a:cs typeface="Calibri"/>
              </a:rPr>
              <a:t>So</a:t>
            </a:r>
            <a:r>
              <a:rPr sz="3846" spc="-7" dirty="0">
                <a:latin typeface="Calibri"/>
                <a:cs typeface="Calibri"/>
              </a:rPr>
              <a:t> 99.96%</a:t>
            </a:r>
            <a:r>
              <a:rPr sz="3846" dirty="0">
                <a:latin typeface="Calibri"/>
                <a:cs typeface="Calibri"/>
              </a:rPr>
              <a:t> </a:t>
            </a:r>
            <a:r>
              <a:rPr sz="3846" spc="-7" dirty="0">
                <a:latin typeface="Calibri"/>
                <a:cs typeface="Calibri"/>
              </a:rPr>
              <a:t>of </a:t>
            </a:r>
            <a:r>
              <a:rPr sz="3846" dirty="0">
                <a:latin typeface="Calibri"/>
                <a:cs typeface="Calibri"/>
              </a:rPr>
              <a:t>the </a:t>
            </a:r>
            <a:r>
              <a:rPr sz="3846" spc="-7" dirty="0">
                <a:latin typeface="Calibri"/>
                <a:cs typeface="Calibri"/>
              </a:rPr>
              <a:t>possible bigrams</a:t>
            </a:r>
            <a:r>
              <a:rPr sz="3846" dirty="0">
                <a:latin typeface="Calibri"/>
                <a:cs typeface="Calibri"/>
              </a:rPr>
              <a:t> </a:t>
            </a:r>
            <a:r>
              <a:rPr sz="3846" spc="-7" dirty="0">
                <a:latin typeface="Calibri"/>
                <a:cs typeface="Calibri"/>
              </a:rPr>
              <a:t>were </a:t>
            </a:r>
            <a:r>
              <a:rPr sz="3846" dirty="0">
                <a:latin typeface="Calibri"/>
                <a:cs typeface="Calibri"/>
              </a:rPr>
              <a:t>never seen </a:t>
            </a:r>
            <a:r>
              <a:rPr sz="3846" spc="-852" dirty="0">
                <a:latin typeface="Calibri"/>
                <a:cs typeface="Calibri"/>
              </a:rPr>
              <a:t> </a:t>
            </a:r>
            <a:r>
              <a:rPr sz="3846" spc="-7" dirty="0">
                <a:latin typeface="Calibri"/>
                <a:cs typeface="Calibri"/>
              </a:rPr>
              <a:t>(have zero</a:t>
            </a:r>
            <a:r>
              <a:rPr sz="3846" dirty="0">
                <a:latin typeface="Calibri"/>
                <a:cs typeface="Calibri"/>
              </a:rPr>
              <a:t> </a:t>
            </a:r>
            <a:r>
              <a:rPr sz="3846" spc="-7" dirty="0">
                <a:latin typeface="Calibri"/>
                <a:cs typeface="Calibri"/>
              </a:rPr>
              <a:t>entries</a:t>
            </a:r>
            <a:r>
              <a:rPr sz="3846" dirty="0">
                <a:latin typeface="Calibri"/>
                <a:cs typeface="Calibri"/>
              </a:rPr>
              <a:t> in the</a:t>
            </a:r>
            <a:r>
              <a:rPr sz="3846" spc="-7" dirty="0">
                <a:latin typeface="Calibri"/>
                <a:cs typeface="Calibri"/>
              </a:rPr>
              <a:t> </a:t>
            </a:r>
            <a:r>
              <a:rPr sz="3846" dirty="0">
                <a:latin typeface="Calibri"/>
                <a:cs typeface="Calibri"/>
              </a:rPr>
              <a:t>table)</a:t>
            </a:r>
          </a:p>
          <a:p>
            <a:pPr marL="505934" marR="102059" indent="-471042">
              <a:spcBef>
                <a:spcPts val="975"/>
              </a:spcBef>
              <a:buClr>
                <a:srgbClr val="CC0000"/>
              </a:buClr>
              <a:buFont typeface="Times New Roman"/>
              <a:buChar char="•"/>
              <a:tabLst>
                <a:tab pos="505061" algn="l"/>
                <a:tab pos="505934" algn="l"/>
                <a:tab pos="5485018" algn="l"/>
              </a:tabLst>
            </a:pPr>
            <a:r>
              <a:rPr sz="4396" spc="-7" dirty="0">
                <a:latin typeface="Calibri"/>
                <a:cs typeface="Calibri"/>
              </a:rPr>
              <a:t>Quadrigrams</a:t>
            </a:r>
            <a:r>
              <a:rPr sz="4396" spc="7" dirty="0">
                <a:latin typeface="Calibri"/>
                <a:cs typeface="Calibri"/>
              </a:rPr>
              <a:t> </a:t>
            </a:r>
            <a:r>
              <a:rPr sz="4396" spc="-7" dirty="0">
                <a:latin typeface="Calibri"/>
                <a:cs typeface="Calibri"/>
              </a:rPr>
              <a:t>worse:	What's coming out looks </a:t>
            </a:r>
            <a:r>
              <a:rPr sz="4396" spc="-968" dirty="0">
                <a:latin typeface="Calibri"/>
                <a:cs typeface="Calibri"/>
              </a:rPr>
              <a:t> </a:t>
            </a:r>
            <a:r>
              <a:rPr sz="4396" dirty="0">
                <a:latin typeface="Calibri"/>
                <a:cs typeface="Calibri"/>
              </a:rPr>
              <a:t>like</a:t>
            </a:r>
            <a:r>
              <a:rPr sz="4396" spc="-7" dirty="0">
                <a:latin typeface="Calibri"/>
                <a:cs typeface="Calibri"/>
              </a:rPr>
              <a:t> Shakespeare</a:t>
            </a:r>
            <a:r>
              <a:rPr sz="4396" dirty="0">
                <a:latin typeface="Calibri"/>
                <a:cs typeface="Calibri"/>
              </a:rPr>
              <a:t> because it </a:t>
            </a:r>
            <a:r>
              <a:rPr sz="4396" b="1" i="1" dirty="0">
                <a:latin typeface="Calibri"/>
                <a:cs typeface="Calibri"/>
              </a:rPr>
              <a:t>is </a:t>
            </a:r>
            <a:r>
              <a:rPr sz="4396" spc="-7" dirty="0">
                <a:latin typeface="Calibri"/>
                <a:cs typeface="Calibri"/>
              </a:rPr>
              <a:t>Shakespeare</a:t>
            </a:r>
            <a:endParaRPr sz="4396" dirty="0">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330200" y="653099"/>
            <a:ext cx="15803745" cy="709130"/>
          </a:xfrm>
          <a:prstGeom prst="rect">
            <a:avLst/>
          </a:prstGeom>
        </p:spPr>
        <p:txBody>
          <a:bodyPr vert="horz" wrap="square" lIns="0" tIns="41872" rIns="0" bIns="0" rtlCol="0">
            <a:spAutoFit/>
          </a:bodyPr>
          <a:lstStyle/>
          <a:p>
            <a:pPr marL="1480292" marR="6978">
              <a:lnSpc>
                <a:spcPts val="5220"/>
              </a:lnSpc>
              <a:spcBef>
                <a:spcPts val="330"/>
              </a:spcBef>
            </a:pPr>
            <a:r>
              <a:rPr spc="-7" dirty="0">
                <a:latin typeface="Calibri"/>
                <a:cs typeface="Calibri"/>
              </a:rPr>
              <a:t>The</a:t>
            </a:r>
            <a:r>
              <a:rPr dirty="0">
                <a:latin typeface="Calibri"/>
                <a:cs typeface="Calibri"/>
              </a:rPr>
              <a:t> </a:t>
            </a:r>
            <a:r>
              <a:rPr spc="-7" dirty="0">
                <a:latin typeface="Calibri"/>
                <a:cs typeface="Calibri"/>
              </a:rPr>
              <a:t>wall</a:t>
            </a:r>
            <a:r>
              <a:rPr dirty="0">
                <a:latin typeface="Calibri"/>
                <a:cs typeface="Calibri"/>
              </a:rPr>
              <a:t> </a:t>
            </a:r>
            <a:r>
              <a:rPr spc="-7" dirty="0">
                <a:latin typeface="Calibri"/>
                <a:cs typeface="Calibri"/>
              </a:rPr>
              <a:t>street</a:t>
            </a:r>
            <a:r>
              <a:rPr dirty="0">
                <a:latin typeface="Calibri"/>
                <a:cs typeface="Calibri"/>
              </a:rPr>
              <a:t> </a:t>
            </a:r>
            <a:r>
              <a:rPr spc="-7" dirty="0">
                <a:latin typeface="Calibri"/>
                <a:cs typeface="Calibri"/>
              </a:rPr>
              <a:t>journal</a:t>
            </a:r>
            <a:r>
              <a:rPr dirty="0">
                <a:latin typeface="Calibri"/>
                <a:cs typeface="Calibri"/>
              </a:rPr>
              <a:t> is </a:t>
            </a:r>
            <a:r>
              <a:rPr spc="-7" dirty="0">
                <a:latin typeface="Calibri"/>
                <a:cs typeface="Calibri"/>
              </a:rPr>
              <a:t>not</a:t>
            </a:r>
            <a:r>
              <a:rPr dirty="0">
                <a:latin typeface="Calibri"/>
                <a:cs typeface="Calibri"/>
              </a:rPr>
              <a:t> </a:t>
            </a:r>
            <a:r>
              <a:rPr spc="-7" dirty="0">
                <a:latin typeface="Calibri"/>
                <a:cs typeface="Calibri"/>
              </a:rPr>
              <a:t>shakespeare </a:t>
            </a:r>
            <a:r>
              <a:rPr spc="-975" dirty="0">
                <a:latin typeface="Calibri"/>
                <a:cs typeface="Calibri"/>
              </a:rPr>
              <a:t> </a:t>
            </a:r>
            <a:r>
              <a:rPr dirty="0">
                <a:latin typeface="Calibri"/>
                <a:cs typeface="Calibri"/>
              </a:rPr>
              <a:t>(no</a:t>
            </a:r>
            <a:r>
              <a:rPr spc="-7" dirty="0">
                <a:latin typeface="Calibri"/>
                <a:cs typeface="Calibri"/>
              </a:rPr>
              <a:t> oﬀense)</a:t>
            </a:r>
          </a:p>
        </p:txBody>
      </p:sp>
      <p:pic>
        <p:nvPicPr>
          <p:cNvPr id="7" name="object 7"/>
          <p:cNvPicPr/>
          <p:nvPr/>
        </p:nvPicPr>
        <p:blipFill>
          <a:blip r:embed="rId2" cstate="print"/>
          <a:stretch>
            <a:fillRect/>
          </a:stretch>
        </p:blipFill>
        <p:spPr>
          <a:xfrm>
            <a:off x="1046785" y="2419270"/>
            <a:ext cx="11866756" cy="4110931"/>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5441551" cy="694084"/>
          </a:xfrm>
          <a:prstGeom prst="rect">
            <a:avLst/>
          </a:prstGeom>
        </p:spPr>
        <p:txBody>
          <a:bodyPr vert="horz" wrap="square" lIns="0" tIns="17446" rIns="0" bIns="0" rtlCol="0">
            <a:spAutoFit/>
          </a:bodyPr>
          <a:lstStyle/>
          <a:p>
            <a:pPr marL="17446">
              <a:spcBef>
                <a:spcPts val="137"/>
              </a:spcBef>
            </a:pPr>
            <a:r>
              <a:rPr spc="-7" dirty="0">
                <a:latin typeface="Calibri"/>
                <a:cs typeface="Calibri"/>
              </a:rPr>
              <a:t>The</a:t>
            </a:r>
            <a:r>
              <a:rPr spc="-41" dirty="0">
                <a:latin typeface="Calibri"/>
                <a:cs typeface="Calibri"/>
              </a:rPr>
              <a:t> </a:t>
            </a:r>
            <a:r>
              <a:rPr spc="-7" dirty="0">
                <a:latin typeface="Calibri"/>
                <a:cs typeface="Calibri"/>
              </a:rPr>
              <a:t>perils</a:t>
            </a:r>
            <a:r>
              <a:rPr spc="-34" dirty="0">
                <a:latin typeface="Calibri"/>
                <a:cs typeface="Calibri"/>
              </a:rPr>
              <a:t> </a:t>
            </a:r>
            <a:r>
              <a:rPr spc="-7" dirty="0">
                <a:latin typeface="Calibri"/>
                <a:cs typeface="Calibri"/>
              </a:rPr>
              <a:t>of</a:t>
            </a:r>
            <a:r>
              <a:rPr spc="-14" dirty="0">
                <a:latin typeface="Calibri"/>
                <a:cs typeface="Calibri"/>
              </a:rPr>
              <a:t> </a:t>
            </a:r>
            <a:r>
              <a:rPr spc="-21" dirty="0">
                <a:latin typeface="Calibri"/>
                <a:cs typeface="Calibri"/>
              </a:rPr>
              <a:t>overﬁtting</a:t>
            </a:r>
          </a:p>
        </p:txBody>
      </p:sp>
      <p:sp>
        <p:nvSpPr>
          <p:cNvPr id="7" name="object 7"/>
          <p:cNvSpPr txBox="1"/>
          <p:nvPr/>
        </p:nvSpPr>
        <p:spPr>
          <a:xfrm>
            <a:off x="1118039" y="2438400"/>
            <a:ext cx="11171844" cy="4736191"/>
          </a:xfrm>
          <a:prstGeom prst="rect">
            <a:avLst/>
          </a:prstGeom>
        </p:spPr>
        <p:txBody>
          <a:bodyPr vert="horz" wrap="square" lIns="0" tIns="45361" rIns="0" bIns="0" rtlCol="0">
            <a:spAutoFit/>
          </a:bodyPr>
          <a:lstStyle/>
          <a:p>
            <a:pPr marL="488488" marR="6978" indent="-471042">
              <a:lnSpc>
                <a:spcPts val="4533"/>
              </a:lnSpc>
              <a:spcBef>
                <a:spcPts val="357"/>
              </a:spcBef>
              <a:buClr>
                <a:srgbClr val="CC0000"/>
              </a:buClr>
              <a:buFont typeface="Times New Roman"/>
              <a:buChar char="•"/>
              <a:tabLst>
                <a:tab pos="487615" algn="l"/>
                <a:tab pos="488488" algn="l"/>
              </a:tabLst>
            </a:pPr>
            <a:r>
              <a:rPr sz="3846" spc="-268" dirty="0">
                <a:latin typeface="Calibri"/>
                <a:cs typeface="Calibri"/>
              </a:rPr>
              <a:t>N-­‐grams</a:t>
            </a:r>
            <a:r>
              <a:rPr sz="3846" dirty="0">
                <a:latin typeface="Calibri"/>
                <a:cs typeface="Calibri"/>
              </a:rPr>
              <a:t> </a:t>
            </a:r>
            <a:r>
              <a:rPr sz="3846" spc="-7" dirty="0">
                <a:latin typeface="Calibri"/>
                <a:cs typeface="Calibri"/>
              </a:rPr>
              <a:t>only</a:t>
            </a:r>
            <a:r>
              <a:rPr sz="3846" dirty="0">
                <a:latin typeface="Calibri"/>
                <a:cs typeface="Calibri"/>
              </a:rPr>
              <a:t> </a:t>
            </a:r>
            <a:r>
              <a:rPr sz="3846" spc="-7" dirty="0">
                <a:latin typeface="Calibri"/>
                <a:cs typeface="Calibri"/>
              </a:rPr>
              <a:t>work</a:t>
            </a:r>
            <a:r>
              <a:rPr sz="3846" dirty="0">
                <a:latin typeface="Calibri"/>
                <a:cs typeface="Calibri"/>
              </a:rPr>
              <a:t> </a:t>
            </a:r>
            <a:r>
              <a:rPr sz="3846" spc="-7" dirty="0">
                <a:latin typeface="Calibri"/>
                <a:cs typeface="Calibri"/>
              </a:rPr>
              <a:t>well</a:t>
            </a:r>
            <a:r>
              <a:rPr sz="3846" dirty="0">
                <a:latin typeface="Calibri"/>
                <a:cs typeface="Calibri"/>
              </a:rPr>
              <a:t> </a:t>
            </a:r>
            <a:r>
              <a:rPr sz="3846" spc="-7" dirty="0">
                <a:latin typeface="Calibri"/>
                <a:cs typeface="Calibri"/>
              </a:rPr>
              <a:t>for</a:t>
            </a:r>
            <a:r>
              <a:rPr sz="3846" spc="7" dirty="0">
                <a:latin typeface="Calibri"/>
                <a:cs typeface="Calibri"/>
              </a:rPr>
              <a:t> </a:t>
            </a:r>
            <a:r>
              <a:rPr sz="3846" spc="-7" dirty="0">
                <a:latin typeface="Calibri"/>
                <a:cs typeface="Calibri"/>
              </a:rPr>
              <a:t>word</a:t>
            </a:r>
            <a:r>
              <a:rPr sz="3846" dirty="0">
                <a:latin typeface="Calibri"/>
                <a:cs typeface="Calibri"/>
              </a:rPr>
              <a:t> </a:t>
            </a:r>
            <a:r>
              <a:rPr sz="3846" spc="-7" dirty="0">
                <a:latin typeface="Calibri"/>
                <a:cs typeface="Calibri"/>
              </a:rPr>
              <a:t>prediction</a:t>
            </a:r>
            <a:r>
              <a:rPr sz="3846" dirty="0">
                <a:latin typeface="Calibri"/>
                <a:cs typeface="Calibri"/>
              </a:rPr>
              <a:t> if the </a:t>
            </a:r>
            <a:r>
              <a:rPr sz="3846" spc="-7" dirty="0">
                <a:latin typeface="Calibri"/>
                <a:cs typeface="Calibri"/>
              </a:rPr>
              <a:t>test </a:t>
            </a:r>
            <a:r>
              <a:rPr sz="3846" spc="-845" dirty="0">
                <a:latin typeface="Calibri"/>
                <a:cs typeface="Calibri"/>
              </a:rPr>
              <a:t> </a:t>
            </a:r>
            <a:r>
              <a:rPr sz="3846" spc="-7" dirty="0">
                <a:latin typeface="Calibri"/>
                <a:cs typeface="Calibri"/>
              </a:rPr>
              <a:t>corpus looks</a:t>
            </a:r>
            <a:r>
              <a:rPr sz="3846" dirty="0">
                <a:latin typeface="Calibri"/>
                <a:cs typeface="Calibri"/>
              </a:rPr>
              <a:t> like the </a:t>
            </a:r>
            <a:r>
              <a:rPr sz="3846" spc="-7" dirty="0">
                <a:latin typeface="Calibri"/>
                <a:cs typeface="Calibri"/>
              </a:rPr>
              <a:t>training</a:t>
            </a:r>
            <a:r>
              <a:rPr sz="3846" dirty="0">
                <a:latin typeface="Calibri"/>
                <a:cs typeface="Calibri"/>
              </a:rPr>
              <a:t> </a:t>
            </a:r>
            <a:r>
              <a:rPr sz="3846" spc="-7" dirty="0">
                <a:latin typeface="Calibri"/>
                <a:cs typeface="Calibri"/>
              </a:rPr>
              <a:t>corpus</a:t>
            </a:r>
            <a:endParaRPr sz="3846" dirty="0">
              <a:latin typeface="Calibri"/>
              <a:cs typeface="Calibri"/>
            </a:endParaRPr>
          </a:p>
          <a:p>
            <a:pPr marL="959529" lvl="1" indent="-314028">
              <a:spcBef>
                <a:spcPts val="838"/>
              </a:spcBef>
              <a:buFont typeface="Times New Roman"/>
              <a:buChar char="•"/>
              <a:tabLst>
                <a:tab pos="959529" algn="l"/>
              </a:tabLst>
            </a:pPr>
            <a:r>
              <a:rPr sz="3846" dirty="0">
                <a:latin typeface="Calibri"/>
                <a:cs typeface="Calibri"/>
              </a:rPr>
              <a:t>In</a:t>
            </a:r>
            <a:r>
              <a:rPr sz="3846" spc="-14" dirty="0">
                <a:latin typeface="Calibri"/>
                <a:cs typeface="Calibri"/>
              </a:rPr>
              <a:t> </a:t>
            </a:r>
            <a:r>
              <a:rPr sz="3846" spc="-7" dirty="0">
                <a:latin typeface="Calibri"/>
                <a:cs typeface="Calibri"/>
              </a:rPr>
              <a:t>real </a:t>
            </a:r>
            <a:r>
              <a:rPr sz="3846" dirty="0">
                <a:latin typeface="Calibri"/>
                <a:cs typeface="Calibri"/>
              </a:rPr>
              <a:t>life,</a:t>
            </a:r>
            <a:r>
              <a:rPr sz="3846" spc="-7" dirty="0">
                <a:latin typeface="Calibri"/>
                <a:cs typeface="Calibri"/>
              </a:rPr>
              <a:t> </a:t>
            </a:r>
            <a:r>
              <a:rPr sz="3846" dirty="0">
                <a:latin typeface="Calibri"/>
                <a:cs typeface="Calibri"/>
              </a:rPr>
              <a:t>it</a:t>
            </a:r>
            <a:r>
              <a:rPr sz="3846" spc="-7" dirty="0">
                <a:latin typeface="Calibri"/>
                <a:cs typeface="Calibri"/>
              </a:rPr>
              <a:t> </a:t>
            </a:r>
            <a:r>
              <a:rPr sz="3846" spc="-27" dirty="0">
                <a:latin typeface="Calibri"/>
                <a:cs typeface="Calibri"/>
              </a:rPr>
              <a:t>often</a:t>
            </a:r>
            <a:r>
              <a:rPr sz="3846" spc="-7" dirty="0">
                <a:latin typeface="Calibri"/>
                <a:cs typeface="Calibri"/>
              </a:rPr>
              <a:t> doesn’t</a:t>
            </a:r>
            <a:endParaRPr sz="3846" dirty="0">
              <a:latin typeface="Calibri"/>
              <a:cs typeface="Calibri"/>
            </a:endParaRPr>
          </a:p>
          <a:p>
            <a:pPr marL="959529" lvl="1" indent="-314028">
              <a:spcBef>
                <a:spcPts val="879"/>
              </a:spcBef>
              <a:buFont typeface="Times New Roman"/>
              <a:buChar char="•"/>
              <a:tabLst>
                <a:tab pos="959529" algn="l"/>
              </a:tabLst>
            </a:pPr>
            <a:r>
              <a:rPr sz="3846" spc="-7" dirty="0">
                <a:latin typeface="Calibri"/>
                <a:cs typeface="Calibri"/>
              </a:rPr>
              <a:t>We</a:t>
            </a:r>
            <a:r>
              <a:rPr sz="3846" dirty="0">
                <a:latin typeface="Calibri"/>
                <a:cs typeface="Calibri"/>
              </a:rPr>
              <a:t> need to </a:t>
            </a:r>
            <a:r>
              <a:rPr sz="3846" spc="-7" dirty="0">
                <a:latin typeface="Calibri"/>
                <a:cs typeface="Calibri"/>
              </a:rPr>
              <a:t>train</a:t>
            </a:r>
            <a:r>
              <a:rPr sz="3846" dirty="0">
                <a:latin typeface="Calibri"/>
                <a:cs typeface="Calibri"/>
              </a:rPr>
              <a:t> </a:t>
            </a:r>
            <a:r>
              <a:rPr sz="3846" spc="-7" dirty="0">
                <a:latin typeface="Calibri"/>
                <a:cs typeface="Calibri"/>
              </a:rPr>
              <a:t>robust</a:t>
            </a:r>
            <a:r>
              <a:rPr sz="3846" dirty="0">
                <a:latin typeface="Calibri"/>
                <a:cs typeface="Calibri"/>
              </a:rPr>
              <a:t> </a:t>
            </a:r>
            <a:r>
              <a:rPr sz="3846" spc="-7" dirty="0">
                <a:latin typeface="Calibri"/>
                <a:cs typeface="Calibri"/>
              </a:rPr>
              <a:t>models</a:t>
            </a:r>
            <a:r>
              <a:rPr sz="3846" dirty="0">
                <a:latin typeface="Calibri"/>
                <a:cs typeface="Calibri"/>
              </a:rPr>
              <a:t> that </a:t>
            </a:r>
            <a:r>
              <a:rPr sz="3846" spc="-7" dirty="0">
                <a:latin typeface="Calibri"/>
                <a:cs typeface="Calibri"/>
              </a:rPr>
              <a:t>generalize!</a:t>
            </a:r>
            <a:endParaRPr sz="3846" dirty="0">
              <a:latin typeface="Calibri"/>
              <a:cs typeface="Calibri"/>
            </a:endParaRPr>
          </a:p>
          <a:p>
            <a:pPr marL="959529" lvl="1" indent="-314028">
              <a:spcBef>
                <a:spcPts val="879"/>
              </a:spcBef>
              <a:buFont typeface="Times New Roman"/>
              <a:buChar char="•"/>
              <a:tabLst>
                <a:tab pos="959529" algn="l"/>
              </a:tabLst>
            </a:pPr>
            <a:r>
              <a:rPr sz="3846" dirty="0">
                <a:latin typeface="Calibri"/>
                <a:cs typeface="Calibri"/>
              </a:rPr>
              <a:t>One</a:t>
            </a:r>
            <a:r>
              <a:rPr sz="3846" spc="-14" dirty="0">
                <a:latin typeface="Calibri"/>
                <a:cs typeface="Calibri"/>
              </a:rPr>
              <a:t> </a:t>
            </a:r>
            <a:r>
              <a:rPr sz="3846" dirty="0">
                <a:latin typeface="Calibri"/>
                <a:cs typeface="Calibri"/>
              </a:rPr>
              <a:t>kind</a:t>
            </a:r>
            <a:r>
              <a:rPr sz="3846" spc="-14" dirty="0">
                <a:latin typeface="Calibri"/>
                <a:cs typeface="Calibri"/>
              </a:rPr>
              <a:t> </a:t>
            </a:r>
            <a:r>
              <a:rPr sz="3846" spc="-7" dirty="0">
                <a:latin typeface="Calibri"/>
                <a:cs typeface="Calibri"/>
              </a:rPr>
              <a:t>of generalization:</a:t>
            </a:r>
            <a:r>
              <a:rPr sz="3846" spc="-14" dirty="0">
                <a:latin typeface="Calibri"/>
                <a:cs typeface="Calibri"/>
              </a:rPr>
              <a:t> </a:t>
            </a:r>
            <a:r>
              <a:rPr sz="3846" spc="-7" dirty="0">
                <a:latin typeface="Calibri"/>
                <a:cs typeface="Calibri"/>
              </a:rPr>
              <a:t>Zeros!</a:t>
            </a:r>
            <a:endParaRPr sz="3846" dirty="0">
              <a:latin typeface="Calibri"/>
              <a:cs typeface="Calibri"/>
            </a:endParaRPr>
          </a:p>
          <a:p>
            <a:pPr marL="1430571" lvl="2" indent="-314028">
              <a:spcBef>
                <a:spcPts val="1017"/>
              </a:spcBef>
              <a:buClr>
                <a:srgbClr val="CC0000"/>
              </a:buClr>
              <a:buFont typeface="Times New Roman"/>
              <a:buChar char="•"/>
              <a:tabLst>
                <a:tab pos="1430571" algn="l"/>
              </a:tabLst>
            </a:pPr>
            <a:r>
              <a:rPr sz="3846" dirty="0">
                <a:latin typeface="Calibri"/>
                <a:cs typeface="Calibri"/>
              </a:rPr>
              <a:t>Things</a:t>
            </a:r>
            <a:r>
              <a:rPr sz="3846" spc="-7" dirty="0">
                <a:latin typeface="Calibri"/>
                <a:cs typeface="Calibri"/>
              </a:rPr>
              <a:t> </a:t>
            </a:r>
            <a:r>
              <a:rPr sz="3846" dirty="0">
                <a:latin typeface="Calibri"/>
                <a:cs typeface="Calibri"/>
              </a:rPr>
              <a:t>that</a:t>
            </a:r>
            <a:r>
              <a:rPr sz="3846" spc="-7" dirty="0">
                <a:latin typeface="Calibri"/>
                <a:cs typeface="Calibri"/>
              </a:rPr>
              <a:t> don’t</a:t>
            </a:r>
            <a:r>
              <a:rPr sz="3846" dirty="0">
                <a:latin typeface="Calibri"/>
                <a:cs typeface="Calibri"/>
              </a:rPr>
              <a:t> ever</a:t>
            </a:r>
            <a:r>
              <a:rPr sz="3846" spc="-7" dirty="0">
                <a:latin typeface="Calibri"/>
                <a:cs typeface="Calibri"/>
              </a:rPr>
              <a:t> occur</a:t>
            </a:r>
            <a:r>
              <a:rPr sz="3846" dirty="0">
                <a:latin typeface="Calibri"/>
                <a:cs typeface="Calibri"/>
              </a:rPr>
              <a:t> in</a:t>
            </a:r>
            <a:r>
              <a:rPr sz="3846" spc="-7" dirty="0">
                <a:latin typeface="Calibri"/>
                <a:cs typeface="Calibri"/>
              </a:rPr>
              <a:t> </a:t>
            </a:r>
            <a:r>
              <a:rPr sz="3846" dirty="0">
                <a:latin typeface="Calibri"/>
                <a:cs typeface="Calibri"/>
              </a:rPr>
              <a:t>the </a:t>
            </a:r>
            <a:r>
              <a:rPr sz="3846" spc="-7" dirty="0">
                <a:latin typeface="Calibri"/>
                <a:cs typeface="Calibri"/>
              </a:rPr>
              <a:t>training </a:t>
            </a:r>
            <a:r>
              <a:rPr sz="3846" dirty="0">
                <a:latin typeface="Calibri"/>
                <a:cs typeface="Calibri"/>
              </a:rPr>
              <a:t>set</a:t>
            </a:r>
          </a:p>
          <a:p>
            <a:pPr marL="1901613" lvl="3" indent="-314028">
              <a:spcBef>
                <a:spcPts val="879"/>
              </a:spcBef>
              <a:buFont typeface="Times New Roman"/>
              <a:buChar char="•"/>
              <a:tabLst>
                <a:tab pos="1901613" algn="l"/>
              </a:tabLst>
            </a:pPr>
            <a:r>
              <a:rPr sz="3846" spc="-7" dirty="0">
                <a:latin typeface="Calibri"/>
                <a:cs typeface="Calibri"/>
              </a:rPr>
              <a:t>But</a:t>
            </a:r>
            <a:r>
              <a:rPr sz="3846" spc="-14" dirty="0">
                <a:latin typeface="Calibri"/>
                <a:cs typeface="Calibri"/>
              </a:rPr>
              <a:t> </a:t>
            </a:r>
            <a:r>
              <a:rPr sz="3846" spc="-7" dirty="0">
                <a:latin typeface="Calibri"/>
                <a:cs typeface="Calibri"/>
              </a:rPr>
              <a:t>occur</a:t>
            </a:r>
            <a:r>
              <a:rPr sz="3846" spc="-14" dirty="0">
                <a:latin typeface="Calibri"/>
                <a:cs typeface="Calibri"/>
              </a:rPr>
              <a:t> </a:t>
            </a:r>
            <a:r>
              <a:rPr sz="3846" dirty="0">
                <a:latin typeface="Calibri"/>
                <a:cs typeface="Calibri"/>
              </a:rPr>
              <a:t>in</a:t>
            </a:r>
            <a:r>
              <a:rPr sz="3846" spc="-14" dirty="0">
                <a:latin typeface="Calibri"/>
                <a:cs typeface="Calibri"/>
              </a:rPr>
              <a:t> </a:t>
            </a:r>
            <a:r>
              <a:rPr sz="3846" dirty="0">
                <a:latin typeface="Calibri"/>
                <a:cs typeface="Calibri"/>
              </a:rPr>
              <a:t>the</a:t>
            </a:r>
            <a:r>
              <a:rPr sz="3846" spc="-7" dirty="0">
                <a:latin typeface="Calibri"/>
                <a:cs typeface="Calibri"/>
              </a:rPr>
              <a:t> test</a:t>
            </a:r>
            <a:r>
              <a:rPr sz="3846" spc="-14" dirty="0">
                <a:latin typeface="Calibri"/>
                <a:cs typeface="Calibri"/>
              </a:rPr>
              <a:t> </a:t>
            </a:r>
            <a:r>
              <a:rPr sz="3846" dirty="0">
                <a:latin typeface="Calibri"/>
                <a:cs typeface="Calibri"/>
              </a:rPr>
              <a:t>set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721731"/>
            <a:ext cx="1746391" cy="778594"/>
          </a:xfrm>
          <a:prstGeom prst="rect">
            <a:avLst/>
          </a:prstGeom>
        </p:spPr>
        <p:txBody>
          <a:bodyPr vert="horz" wrap="square" lIns="0" tIns="17446" rIns="0" bIns="0" rtlCol="0">
            <a:spAutoFit/>
          </a:bodyPr>
          <a:lstStyle/>
          <a:p>
            <a:pPr marL="17446">
              <a:spcBef>
                <a:spcPts val="137"/>
              </a:spcBef>
            </a:pPr>
            <a:r>
              <a:rPr sz="4945" dirty="0"/>
              <a:t>Zeros</a:t>
            </a:r>
            <a:endParaRPr sz="4945"/>
          </a:p>
        </p:txBody>
      </p:sp>
      <p:sp>
        <p:nvSpPr>
          <p:cNvPr id="7" name="object 7"/>
          <p:cNvSpPr txBox="1"/>
          <p:nvPr/>
        </p:nvSpPr>
        <p:spPr>
          <a:xfrm>
            <a:off x="1143439" y="2490165"/>
            <a:ext cx="6198729" cy="3121030"/>
          </a:xfrm>
          <a:prstGeom prst="rect">
            <a:avLst/>
          </a:prstGeom>
        </p:spPr>
        <p:txBody>
          <a:bodyPr vert="horz" wrap="square" lIns="0" tIns="17446" rIns="0" bIns="0" rtlCol="0">
            <a:spAutoFit/>
          </a:bodyPr>
          <a:lstStyle/>
          <a:p>
            <a:pPr marL="488488" indent="-471042">
              <a:lnSpc>
                <a:spcPts val="4951"/>
              </a:lnSpc>
              <a:spcBef>
                <a:spcPts val="137"/>
              </a:spcBef>
              <a:buClr>
                <a:srgbClr val="CC0000"/>
              </a:buClr>
              <a:buFont typeface="Times New Roman"/>
              <a:buChar char="•"/>
              <a:tabLst>
                <a:tab pos="487615" algn="l"/>
                <a:tab pos="488488" algn="l"/>
              </a:tabLst>
            </a:pPr>
            <a:r>
              <a:rPr sz="4396" spc="-7" dirty="0">
                <a:latin typeface="Calibri"/>
                <a:cs typeface="Calibri"/>
              </a:rPr>
              <a:t>Training</a:t>
            </a:r>
            <a:r>
              <a:rPr sz="4396" spc="-41" dirty="0">
                <a:latin typeface="Calibri"/>
                <a:cs typeface="Calibri"/>
              </a:rPr>
              <a:t> </a:t>
            </a:r>
            <a:r>
              <a:rPr sz="4396" dirty="0">
                <a:latin typeface="Calibri"/>
                <a:cs typeface="Calibri"/>
              </a:rPr>
              <a:t>set:</a:t>
            </a:r>
            <a:endParaRPr sz="4396">
              <a:latin typeface="Calibri"/>
              <a:cs typeface="Calibri"/>
            </a:endParaRPr>
          </a:p>
          <a:p>
            <a:pPr marL="645502">
              <a:lnSpc>
                <a:spcPts val="4719"/>
              </a:lnSpc>
            </a:pPr>
            <a:r>
              <a:rPr sz="4396" dirty="0">
                <a:latin typeface="Calibri"/>
                <a:cs typeface="Calibri"/>
              </a:rPr>
              <a:t>…</a:t>
            </a:r>
            <a:r>
              <a:rPr sz="4396" spc="-34" dirty="0">
                <a:latin typeface="Calibri"/>
                <a:cs typeface="Calibri"/>
              </a:rPr>
              <a:t> </a:t>
            </a:r>
            <a:r>
              <a:rPr sz="4396" dirty="0">
                <a:latin typeface="Calibri"/>
                <a:cs typeface="Calibri"/>
              </a:rPr>
              <a:t>denied</a:t>
            </a:r>
            <a:r>
              <a:rPr sz="4396" spc="-34" dirty="0">
                <a:latin typeface="Calibri"/>
                <a:cs typeface="Calibri"/>
              </a:rPr>
              <a:t> </a:t>
            </a:r>
            <a:r>
              <a:rPr sz="4396" dirty="0">
                <a:latin typeface="Calibri"/>
                <a:cs typeface="Calibri"/>
              </a:rPr>
              <a:t>the</a:t>
            </a:r>
            <a:r>
              <a:rPr sz="4396" spc="-27" dirty="0">
                <a:latin typeface="Calibri"/>
                <a:cs typeface="Calibri"/>
              </a:rPr>
              <a:t> </a:t>
            </a:r>
            <a:r>
              <a:rPr sz="4396" spc="-7" dirty="0">
                <a:latin typeface="Calibri"/>
                <a:cs typeface="Calibri"/>
              </a:rPr>
              <a:t>allegations</a:t>
            </a:r>
            <a:endParaRPr sz="4396">
              <a:latin typeface="Calibri"/>
              <a:cs typeface="Calibri"/>
            </a:endParaRPr>
          </a:p>
          <a:p>
            <a:pPr marL="645502">
              <a:lnSpc>
                <a:spcPts val="4808"/>
              </a:lnSpc>
            </a:pPr>
            <a:r>
              <a:rPr sz="4396" dirty="0">
                <a:latin typeface="Calibri"/>
                <a:cs typeface="Calibri"/>
              </a:rPr>
              <a:t>…</a:t>
            </a:r>
            <a:r>
              <a:rPr sz="4396" spc="-27" dirty="0">
                <a:latin typeface="Calibri"/>
                <a:cs typeface="Calibri"/>
              </a:rPr>
              <a:t> </a:t>
            </a:r>
            <a:r>
              <a:rPr sz="4396" dirty="0">
                <a:latin typeface="Calibri"/>
                <a:cs typeface="Calibri"/>
              </a:rPr>
              <a:t>denied</a:t>
            </a:r>
            <a:r>
              <a:rPr sz="4396" spc="-27" dirty="0">
                <a:latin typeface="Calibri"/>
                <a:cs typeface="Calibri"/>
              </a:rPr>
              <a:t> </a:t>
            </a:r>
            <a:r>
              <a:rPr sz="4396" dirty="0">
                <a:latin typeface="Calibri"/>
                <a:cs typeface="Calibri"/>
              </a:rPr>
              <a:t>the</a:t>
            </a:r>
            <a:r>
              <a:rPr sz="4396" spc="-21" dirty="0">
                <a:latin typeface="Calibri"/>
                <a:cs typeface="Calibri"/>
              </a:rPr>
              <a:t> </a:t>
            </a:r>
            <a:r>
              <a:rPr sz="4396" spc="-7" dirty="0">
                <a:latin typeface="Calibri"/>
                <a:cs typeface="Calibri"/>
              </a:rPr>
              <a:t>reports</a:t>
            </a:r>
            <a:endParaRPr sz="4396">
              <a:latin typeface="Calibri"/>
              <a:cs typeface="Calibri"/>
            </a:endParaRPr>
          </a:p>
          <a:p>
            <a:pPr marL="645502">
              <a:lnSpc>
                <a:spcPts val="4739"/>
              </a:lnSpc>
            </a:pPr>
            <a:r>
              <a:rPr sz="4396" dirty="0">
                <a:latin typeface="Calibri"/>
                <a:cs typeface="Calibri"/>
              </a:rPr>
              <a:t>…</a:t>
            </a:r>
            <a:r>
              <a:rPr sz="4396" spc="-27" dirty="0">
                <a:latin typeface="Calibri"/>
                <a:cs typeface="Calibri"/>
              </a:rPr>
              <a:t> </a:t>
            </a:r>
            <a:r>
              <a:rPr sz="4396" dirty="0">
                <a:latin typeface="Calibri"/>
                <a:cs typeface="Calibri"/>
              </a:rPr>
              <a:t>denied</a:t>
            </a:r>
            <a:r>
              <a:rPr sz="4396" spc="-21" dirty="0">
                <a:latin typeface="Calibri"/>
                <a:cs typeface="Calibri"/>
              </a:rPr>
              <a:t> </a:t>
            </a:r>
            <a:r>
              <a:rPr sz="4396" dirty="0">
                <a:latin typeface="Calibri"/>
                <a:cs typeface="Calibri"/>
              </a:rPr>
              <a:t>the</a:t>
            </a:r>
            <a:r>
              <a:rPr sz="4396" spc="-27" dirty="0">
                <a:latin typeface="Calibri"/>
                <a:cs typeface="Calibri"/>
              </a:rPr>
              <a:t> </a:t>
            </a:r>
            <a:r>
              <a:rPr sz="4396" spc="-7" dirty="0">
                <a:latin typeface="Calibri"/>
                <a:cs typeface="Calibri"/>
              </a:rPr>
              <a:t>claims</a:t>
            </a:r>
            <a:endParaRPr sz="4396">
              <a:latin typeface="Calibri"/>
              <a:cs typeface="Calibri"/>
            </a:endParaRPr>
          </a:p>
          <a:p>
            <a:pPr marL="645502">
              <a:lnSpc>
                <a:spcPts val="4973"/>
              </a:lnSpc>
            </a:pPr>
            <a:r>
              <a:rPr sz="4396" dirty="0">
                <a:latin typeface="Calibri"/>
                <a:cs typeface="Calibri"/>
              </a:rPr>
              <a:t>…</a:t>
            </a:r>
            <a:r>
              <a:rPr sz="4396" spc="-27" dirty="0">
                <a:latin typeface="Calibri"/>
                <a:cs typeface="Calibri"/>
              </a:rPr>
              <a:t> </a:t>
            </a:r>
            <a:r>
              <a:rPr sz="4396" dirty="0">
                <a:latin typeface="Calibri"/>
                <a:cs typeface="Calibri"/>
              </a:rPr>
              <a:t>denied</a:t>
            </a:r>
            <a:r>
              <a:rPr sz="4396" spc="-21" dirty="0">
                <a:latin typeface="Calibri"/>
                <a:cs typeface="Calibri"/>
              </a:rPr>
              <a:t> </a:t>
            </a:r>
            <a:r>
              <a:rPr sz="4396" dirty="0">
                <a:latin typeface="Calibri"/>
                <a:cs typeface="Calibri"/>
              </a:rPr>
              <a:t>the</a:t>
            </a:r>
            <a:r>
              <a:rPr sz="4396" spc="-21" dirty="0">
                <a:latin typeface="Calibri"/>
                <a:cs typeface="Calibri"/>
              </a:rPr>
              <a:t> </a:t>
            </a:r>
            <a:r>
              <a:rPr sz="4396" spc="-7" dirty="0">
                <a:latin typeface="Calibri"/>
                <a:cs typeface="Calibri"/>
              </a:rPr>
              <a:t>request</a:t>
            </a:r>
            <a:endParaRPr sz="4396">
              <a:latin typeface="Calibri"/>
              <a:cs typeface="Calibri"/>
            </a:endParaRPr>
          </a:p>
        </p:txBody>
      </p:sp>
      <p:sp>
        <p:nvSpPr>
          <p:cNvPr id="8" name="object 8"/>
          <p:cNvSpPr txBox="1"/>
          <p:nvPr/>
        </p:nvSpPr>
        <p:spPr>
          <a:xfrm>
            <a:off x="1771513" y="6096000"/>
            <a:ext cx="5993733" cy="694084"/>
          </a:xfrm>
          <a:prstGeom prst="rect">
            <a:avLst/>
          </a:prstGeom>
        </p:spPr>
        <p:txBody>
          <a:bodyPr vert="horz" wrap="square" lIns="0" tIns="17446" rIns="0" bIns="0" rtlCol="0">
            <a:spAutoFit/>
          </a:bodyPr>
          <a:lstStyle/>
          <a:p>
            <a:pPr marL="17446">
              <a:spcBef>
                <a:spcPts val="137"/>
              </a:spcBef>
            </a:pPr>
            <a:r>
              <a:rPr sz="4396" spc="-7" dirty="0">
                <a:latin typeface="Calibri"/>
                <a:cs typeface="Calibri"/>
              </a:rPr>
              <a:t>P(“oﬀer”</a:t>
            </a:r>
            <a:r>
              <a:rPr sz="4396" spc="-21" dirty="0">
                <a:latin typeface="Calibri"/>
                <a:cs typeface="Calibri"/>
              </a:rPr>
              <a:t> </a:t>
            </a:r>
            <a:r>
              <a:rPr sz="4396" dirty="0">
                <a:latin typeface="Calibri"/>
                <a:cs typeface="Calibri"/>
              </a:rPr>
              <a:t>|</a:t>
            </a:r>
            <a:r>
              <a:rPr sz="4396" spc="-27" dirty="0">
                <a:latin typeface="Calibri"/>
                <a:cs typeface="Calibri"/>
              </a:rPr>
              <a:t> </a:t>
            </a:r>
            <a:r>
              <a:rPr sz="4396" dirty="0">
                <a:latin typeface="Calibri"/>
                <a:cs typeface="Calibri"/>
              </a:rPr>
              <a:t>denied</a:t>
            </a:r>
            <a:r>
              <a:rPr sz="4396" spc="-21" dirty="0">
                <a:latin typeface="Calibri"/>
                <a:cs typeface="Calibri"/>
              </a:rPr>
              <a:t> </a:t>
            </a:r>
            <a:r>
              <a:rPr sz="4396" dirty="0">
                <a:latin typeface="Calibri"/>
                <a:cs typeface="Calibri"/>
              </a:rPr>
              <a:t>the)</a:t>
            </a:r>
            <a:r>
              <a:rPr sz="4396" spc="-21" dirty="0">
                <a:latin typeface="Calibri"/>
                <a:cs typeface="Calibri"/>
              </a:rPr>
              <a:t> </a:t>
            </a:r>
            <a:r>
              <a:rPr sz="4396" dirty="0">
                <a:latin typeface="Calibri"/>
                <a:cs typeface="Calibri"/>
              </a:rPr>
              <a:t>=</a:t>
            </a:r>
            <a:r>
              <a:rPr sz="4396" spc="-27" dirty="0">
                <a:latin typeface="Calibri"/>
                <a:cs typeface="Calibri"/>
              </a:rPr>
              <a:t> </a:t>
            </a:r>
            <a:r>
              <a:rPr sz="4396" dirty="0">
                <a:latin typeface="Calibri"/>
                <a:cs typeface="Calibri"/>
              </a:rPr>
              <a:t>0</a:t>
            </a:r>
            <a:endParaRPr sz="4396">
              <a:latin typeface="Calibri"/>
              <a:cs typeface="Calibri"/>
            </a:endParaRPr>
          </a:p>
        </p:txBody>
      </p:sp>
      <p:sp>
        <p:nvSpPr>
          <p:cNvPr id="9" name="object 9"/>
          <p:cNvSpPr txBox="1"/>
          <p:nvPr/>
        </p:nvSpPr>
        <p:spPr>
          <a:xfrm>
            <a:off x="7575369" y="2468267"/>
            <a:ext cx="4842266" cy="1902748"/>
          </a:xfrm>
          <a:prstGeom prst="rect">
            <a:avLst/>
          </a:prstGeom>
        </p:spPr>
        <p:txBody>
          <a:bodyPr vert="horz" wrap="square" lIns="0" tIns="17446" rIns="0" bIns="0" rtlCol="0">
            <a:spAutoFit/>
          </a:bodyPr>
          <a:lstStyle/>
          <a:p>
            <a:pPr marL="488488" indent="-471042">
              <a:lnSpc>
                <a:spcPts val="4951"/>
              </a:lnSpc>
              <a:spcBef>
                <a:spcPts val="137"/>
              </a:spcBef>
              <a:buClr>
                <a:srgbClr val="CC0000"/>
              </a:buClr>
              <a:buFont typeface="Times New Roman"/>
              <a:buChar char="•"/>
              <a:tabLst>
                <a:tab pos="487615" algn="l"/>
                <a:tab pos="488488" algn="l"/>
              </a:tabLst>
            </a:pPr>
            <a:r>
              <a:rPr sz="4396" dirty="0">
                <a:latin typeface="Calibri"/>
                <a:cs typeface="Calibri"/>
              </a:rPr>
              <a:t>Test</a:t>
            </a:r>
            <a:r>
              <a:rPr sz="4396" spc="-62" dirty="0">
                <a:latin typeface="Calibri"/>
                <a:cs typeface="Calibri"/>
              </a:rPr>
              <a:t> </a:t>
            </a:r>
            <a:r>
              <a:rPr sz="4396" dirty="0">
                <a:latin typeface="Calibri"/>
                <a:cs typeface="Calibri"/>
              </a:rPr>
              <a:t>set</a:t>
            </a:r>
            <a:endParaRPr sz="4396">
              <a:latin typeface="Calibri"/>
              <a:cs typeface="Calibri"/>
            </a:endParaRPr>
          </a:p>
          <a:p>
            <a:pPr marL="645502">
              <a:lnSpc>
                <a:spcPts val="4719"/>
              </a:lnSpc>
            </a:pPr>
            <a:r>
              <a:rPr sz="4396" dirty="0">
                <a:latin typeface="Calibri"/>
                <a:cs typeface="Calibri"/>
              </a:rPr>
              <a:t>…</a:t>
            </a:r>
            <a:r>
              <a:rPr sz="4396" spc="-41" dirty="0">
                <a:latin typeface="Calibri"/>
                <a:cs typeface="Calibri"/>
              </a:rPr>
              <a:t> </a:t>
            </a:r>
            <a:r>
              <a:rPr sz="4396" dirty="0">
                <a:latin typeface="Calibri"/>
                <a:cs typeface="Calibri"/>
              </a:rPr>
              <a:t>denied</a:t>
            </a:r>
            <a:r>
              <a:rPr sz="4396" spc="-34" dirty="0">
                <a:latin typeface="Calibri"/>
                <a:cs typeface="Calibri"/>
              </a:rPr>
              <a:t> </a:t>
            </a:r>
            <a:r>
              <a:rPr sz="4396" dirty="0">
                <a:latin typeface="Calibri"/>
                <a:cs typeface="Calibri"/>
              </a:rPr>
              <a:t>the</a:t>
            </a:r>
            <a:r>
              <a:rPr sz="4396" spc="-41" dirty="0">
                <a:latin typeface="Calibri"/>
                <a:cs typeface="Calibri"/>
              </a:rPr>
              <a:t> </a:t>
            </a:r>
            <a:r>
              <a:rPr sz="4396" spc="-7" dirty="0">
                <a:latin typeface="Calibri"/>
                <a:cs typeface="Calibri"/>
              </a:rPr>
              <a:t>oﬀer</a:t>
            </a:r>
            <a:endParaRPr sz="4396">
              <a:latin typeface="Calibri"/>
              <a:cs typeface="Calibri"/>
            </a:endParaRPr>
          </a:p>
          <a:p>
            <a:pPr marL="645502">
              <a:lnSpc>
                <a:spcPts val="5041"/>
              </a:lnSpc>
            </a:pPr>
            <a:r>
              <a:rPr sz="4396" dirty="0">
                <a:latin typeface="Calibri"/>
                <a:cs typeface="Calibri"/>
              </a:rPr>
              <a:t>…</a:t>
            </a:r>
            <a:r>
              <a:rPr sz="4396" spc="-34" dirty="0">
                <a:latin typeface="Calibri"/>
                <a:cs typeface="Calibri"/>
              </a:rPr>
              <a:t> </a:t>
            </a:r>
            <a:r>
              <a:rPr sz="4396" dirty="0">
                <a:latin typeface="Calibri"/>
                <a:cs typeface="Calibri"/>
              </a:rPr>
              <a:t>denied</a:t>
            </a:r>
            <a:r>
              <a:rPr sz="4396" spc="-27" dirty="0">
                <a:latin typeface="Calibri"/>
                <a:cs typeface="Calibri"/>
              </a:rPr>
              <a:t> </a:t>
            </a:r>
            <a:r>
              <a:rPr sz="4396" dirty="0">
                <a:latin typeface="Calibri"/>
                <a:cs typeface="Calibri"/>
              </a:rPr>
              <a:t>the</a:t>
            </a:r>
            <a:r>
              <a:rPr sz="4396" spc="-27" dirty="0">
                <a:latin typeface="Calibri"/>
                <a:cs typeface="Calibri"/>
              </a:rPr>
              <a:t> </a:t>
            </a:r>
            <a:r>
              <a:rPr sz="4396" spc="-7" dirty="0">
                <a:latin typeface="Calibri"/>
                <a:cs typeface="Calibri"/>
              </a:rPr>
              <a:t>loan</a:t>
            </a:r>
            <a:endParaRPr sz="4396">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5729418" cy="694084"/>
          </a:xfrm>
          <a:prstGeom prst="rect">
            <a:avLst/>
          </a:prstGeom>
        </p:spPr>
        <p:txBody>
          <a:bodyPr vert="horz" wrap="square" lIns="0" tIns="17446" rIns="0" bIns="0" rtlCol="0">
            <a:spAutoFit/>
          </a:bodyPr>
          <a:lstStyle/>
          <a:p>
            <a:pPr marL="17446">
              <a:spcBef>
                <a:spcPts val="137"/>
              </a:spcBef>
            </a:pPr>
            <a:r>
              <a:rPr spc="-7" dirty="0">
                <a:latin typeface="Calibri"/>
                <a:cs typeface="Calibri"/>
              </a:rPr>
              <a:t>Zero</a:t>
            </a:r>
            <a:r>
              <a:rPr spc="-14" dirty="0">
                <a:latin typeface="Calibri"/>
                <a:cs typeface="Calibri"/>
              </a:rPr>
              <a:t> </a:t>
            </a:r>
            <a:r>
              <a:rPr spc="-7" dirty="0">
                <a:latin typeface="Calibri"/>
                <a:cs typeface="Calibri"/>
              </a:rPr>
              <a:t>probability</a:t>
            </a:r>
            <a:r>
              <a:rPr spc="-14" dirty="0">
                <a:latin typeface="Calibri"/>
                <a:cs typeface="Calibri"/>
              </a:rPr>
              <a:t> </a:t>
            </a:r>
            <a:r>
              <a:rPr spc="-7" dirty="0">
                <a:latin typeface="Calibri"/>
                <a:cs typeface="Calibri"/>
              </a:rPr>
              <a:t>bigrams</a:t>
            </a:r>
          </a:p>
        </p:txBody>
      </p:sp>
      <p:sp>
        <p:nvSpPr>
          <p:cNvPr id="7" name="object 7"/>
          <p:cNvSpPr txBox="1"/>
          <p:nvPr/>
        </p:nvSpPr>
        <p:spPr>
          <a:xfrm>
            <a:off x="1138359" y="2743200"/>
            <a:ext cx="10871764" cy="1706399"/>
          </a:xfrm>
          <a:prstGeom prst="rect">
            <a:avLst/>
          </a:prstGeom>
        </p:spPr>
        <p:txBody>
          <a:bodyPr vert="horz" wrap="square" lIns="0" tIns="101189" rIns="0" bIns="0" rtlCol="0">
            <a:spAutoFit/>
          </a:bodyPr>
          <a:lstStyle/>
          <a:p>
            <a:pPr marL="488488" indent="-471042">
              <a:spcBef>
                <a:spcPts val="797"/>
              </a:spcBef>
              <a:buClr>
                <a:srgbClr val="CC0000"/>
              </a:buClr>
              <a:buFont typeface="Times New Roman"/>
              <a:buChar char="•"/>
              <a:tabLst>
                <a:tab pos="487615" algn="l"/>
                <a:tab pos="488488" algn="l"/>
              </a:tabLst>
            </a:pPr>
            <a:r>
              <a:rPr sz="3297" spc="-7" dirty="0">
                <a:latin typeface="Calibri"/>
                <a:cs typeface="Calibri"/>
              </a:rPr>
              <a:t>Bigrams with</a:t>
            </a:r>
            <a:r>
              <a:rPr sz="3297" dirty="0">
                <a:latin typeface="Calibri"/>
                <a:cs typeface="Calibri"/>
              </a:rPr>
              <a:t> </a:t>
            </a:r>
            <a:r>
              <a:rPr sz="3297" spc="-7" dirty="0">
                <a:latin typeface="Calibri"/>
                <a:cs typeface="Calibri"/>
              </a:rPr>
              <a:t>zero probability</a:t>
            </a:r>
            <a:endParaRPr sz="3297">
              <a:latin typeface="Calibri"/>
              <a:cs typeface="Calibri"/>
            </a:endParaRPr>
          </a:p>
          <a:p>
            <a:pPr marL="959529" lvl="1" indent="-314028">
              <a:spcBef>
                <a:spcPts val="549"/>
              </a:spcBef>
              <a:buFont typeface="Times New Roman"/>
              <a:buChar char="•"/>
              <a:tabLst>
                <a:tab pos="958657" algn="l"/>
                <a:tab pos="959529" algn="l"/>
              </a:tabLst>
            </a:pPr>
            <a:r>
              <a:rPr sz="2747" spc="-7" dirty="0">
                <a:latin typeface="Calibri"/>
                <a:cs typeface="Calibri"/>
              </a:rPr>
              <a:t>mean </a:t>
            </a:r>
            <a:r>
              <a:rPr sz="2747" dirty="0">
                <a:latin typeface="Calibri"/>
                <a:cs typeface="Calibri"/>
              </a:rPr>
              <a:t>that </a:t>
            </a:r>
            <a:r>
              <a:rPr sz="2747" spc="-7" dirty="0">
                <a:latin typeface="Calibri"/>
                <a:cs typeface="Calibri"/>
              </a:rPr>
              <a:t>we</a:t>
            </a:r>
            <a:r>
              <a:rPr sz="2747" dirty="0">
                <a:latin typeface="Calibri"/>
                <a:cs typeface="Calibri"/>
              </a:rPr>
              <a:t> </a:t>
            </a:r>
            <a:r>
              <a:rPr sz="2747" spc="-7" dirty="0">
                <a:latin typeface="Calibri"/>
                <a:cs typeface="Calibri"/>
              </a:rPr>
              <a:t>will</a:t>
            </a:r>
            <a:r>
              <a:rPr sz="2747" dirty="0">
                <a:latin typeface="Calibri"/>
                <a:cs typeface="Calibri"/>
              </a:rPr>
              <a:t> assign 0 </a:t>
            </a:r>
            <a:r>
              <a:rPr sz="2747" spc="-7" dirty="0">
                <a:latin typeface="Calibri"/>
                <a:cs typeface="Calibri"/>
              </a:rPr>
              <a:t>probability </a:t>
            </a:r>
            <a:r>
              <a:rPr sz="2747" dirty="0">
                <a:latin typeface="Calibri"/>
                <a:cs typeface="Calibri"/>
              </a:rPr>
              <a:t>to the </a:t>
            </a:r>
            <a:r>
              <a:rPr sz="2747" spc="-7" dirty="0">
                <a:latin typeface="Calibri"/>
                <a:cs typeface="Calibri"/>
              </a:rPr>
              <a:t>test</a:t>
            </a:r>
            <a:r>
              <a:rPr sz="2747" dirty="0">
                <a:latin typeface="Calibri"/>
                <a:cs typeface="Calibri"/>
              </a:rPr>
              <a:t> set!</a:t>
            </a:r>
            <a:endParaRPr sz="2747">
              <a:latin typeface="Calibri"/>
              <a:cs typeface="Calibri"/>
            </a:endParaRPr>
          </a:p>
          <a:p>
            <a:pPr marL="488488" indent="-471042">
              <a:spcBef>
                <a:spcPts val="817"/>
              </a:spcBef>
              <a:buClr>
                <a:srgbClr val="CC0000"/>
              </a:buClr>
              <a:buFont typeface="Times New Roman"/>
              <a:buChar char="•"/>
              <a:tabLst>
                <a:tab pos="487615" algn="l"/>
                <a:tab pos="488488" algn="l"/>
              </a:tabLst>
            </a:pPr>
            <a:r>
              <a:rPr sz="3297" dirty="0">
                <a:latin typeface="Calibri"/>
                <a:cs typeface="Calibri"/>
              </a:rPr>
              <a:t>And hence</a:t>
            </a:r>
            <a:r>
              <a:rPr sz="3297" spc="7" dirty="0">
                <a:latin typeface="Calibri"/>
                <a:cs typeface="Calibri"/>
              </a:rPr>
              <a:t> </a:t>
            </a:r>
            <a:r>
              <a:rPr sz="3297" spc="-7" dirty="0">
                <a:latin typeface="Calibri"/>
                <a:cs typeface="Calibri"/>
              </a:rPr>
              <a:t>we</a:t>
            </a:r>
            <a:r>
              <a:rPr sz="3297" dirty="0">
                <a:latin typeface="Calibri"/>
                <a:cs typeface="Calibri"/>
              </a:rPr>
              <a:t> </a:t>
            </a:r>
            <a:r>
              <a:rPr sz="3297" spc="-7" dirty="0">
                <a:latin typeface="Calibri"/>
                <a:cs typeface="Calibri"/>
              </a:rPr>
              <a:t>cannot</a:t>
            </a:r>
            <a:r>
              <a:rPr sz="3297" spc="7" dirty="0">
                <a:latin typeface="Calibri"/>
                <a:cs typeface="Calibri"/>
              </a:rPr>
              <a:t> </a:t>
            </a:r>
            <a:r>
              <a:rPr sz="3297" spc="-7" dirty="0">
                <a:latin typeface="Calibri"/>
                <a:cs typeface="Calibri"/>
              </a:rPr>
              <a:t>compute</a:t>
            </a:r>
            <a:r>
              <a:rPr sz="3297" dirty="0">
                <a:latin typeface="Calibri"/>
                <a:cs typeface="Calibri"/>
              </a:rPr>
              <a:t> </a:t>
            </a:r>
            <a:r>
              <a:rPr sz="3297" spc="-7" dirty="0">
                <a:latin typeface="Calibri"/>
                <a:cs typeface="Calibri"/>
              </a:rPr>
              <a:t>perplexity (can’t</a:t>
            </a:r>
            <a:r>
              <a:rPr sz="3297" spc="7" dirty="0">
                <a:latin typeface="Calibri"/>
                <a:cs typeface="Calibri"/>
              </a:rPr>
              <a:t> </a:t>
            </a:r>
            <a:r>
              <a:rPr sz="3297" dirty="0">
                <a:latin typeface="Calibri"/>
                <a:cs typeface="Calibri"/>
              </a:rPr>
              <a:t>divide</a:t>
            </a:r>
            <a:r>
              <a:rPr sz="3297" spc="7" dirty="0">
                <a:latin typeface="Calibri"/>
                <a:cs typeface="Calibri"/>
              </a:rPr>
              <a:t> </a:t>
            </a:r>
            <a:r>
              <a:rPr sz="3297" dirty="0">
                <a:latin typeface="Calibri"/>
                <a:cs typeface="Calibri"/>
              </a:rPr>
              <a:t>by </a:t>
            </a:r>
            <a:r>
              <a:rPr sz="3297" spc="-7" dirty="0">
                <a:latin typeface="Calibri"/>
                <a:cs typeface="Calibri"/>
              </a:rPr>
              <a:t>0)!</a:t>
            </a:r>
            <a:endParaRPr sz="3297">
              <a:latin typeface="Calibri"/>
              <a:cs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1087559" y="351864"/>
            <a:ext cx="15803745" cy="1375979"/>
          </a:xfrm>
          <a:prstGeom prst="rect">
            <a:avLst/>
          </a:prstGeom>
        </p:spPr>
        <p:txBody>
          <a:bodyPr vert="horz" wrap="square" lIns="0" tIns="41872" rIns="0" bIns="0" rtlCol="0">
            <a:spAutoFit/>
          </a:bodyPr>
          <a:lstStyle/>
          <a:p>
            <a:pPr marL="1480292" marR="6978">
              <a:lnSpc>
                <a:spcPts val="5220"/>
              </a:lnSpc>
              <a:spcBef>
                <a:spcPts val="330"/>
              </a:spcBef>
            </a:pPr>
            <a:r>
              <a:rPr spc="-7" dirty="0">
                <a:latin typeface="Calibri"/>
                <a:cs typeface="Calibri"/>
              </a:rPr>
              <a:t>Unknown words: </a:t>
            </a:r>
            <a:br>
              <a:rPr lang="en-US" spc="-7" dirty="0">
                <a:latin typeface="Calibri"/>
                <a:cs typeface="Calibri"/>
              </a:rPr>
            </a:br>
            <a:r>
              <a:rPr spc="-7" dirty="0">
                <a:latin typeface="Calibri"/>
                <a:cs typeface="Calibri"/>
              </a:rPr>
              <a:t>Open versus closed </a:t>
            </a:r>
            <a:r>
              <a:rPr spc="-975" dirty="0">
                <a:latin typeface="Calibri"/>
                <a:cs typeface="Calibri"/>
              </a:rPr>
              <a:t> </a:t>
            </a:r>
            <a:r>
              <a:rPr spc="-7" dirty="0">
                <a:latin typeface="Calibri"/>
                <a:cs typeface="Calibri"/>
              </a:rPr>
              <a:t>vocabulary tasks</a:t>
            </a:r>
          </a:p>
        </p:txBody>
      </p:sp>
      <p:pic>
        <p:nvPicPr>
          <p:cNvPr id="9" name="Picture 8">
            <a:extLst>
              <a:ext uri="{FF2B5EF4-FFF2-40B4-BE49-F238E27FC236}">
                <a16:creationId xmlns:a16="http://schemas.microsoft.com/office/drawing/2014/main" id="{42535EEC-2E32-F2AB-6757-88D0589F1A6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1627039" y="2286000"/>
            <a:ext cx="10771310" cy="459105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1099566" y="874719"/>
            <a:ext cx="15803745" cy="709130"/>
          </a:xfrm>
          <a:prstGeom prst="rect">
            <a:avLst/>
          </a:prstGeom>
        </p:spPr>
        <p:txBody>
          <a:bodyPr vert="horz" wrap="square" lIns="0" tIns="41872" rIns="0" bIns="0" rtlCol="0">
            <a:spAutoFit/>
          </a:bodyPr>
          <a:lstStyle/>
          <a:p>
            <a:pPr marL="1480292" marR="6978">
              <a:lnSpc>
                <a:spcPts val="5220"/>
              </a:lnSpc>
              <a:spcBef>
                <a:spcPts val="330"/>
              </a:spcBef>
            </a:pPr>
            <a:r>
              <a:rPr lang="en-US" spc="-7" dirty="0">
                <a:latin typeface="Calibri"/>
                <a:cs typeface="Calibri"/>
              </a:rPr>
              <a:t>C</a:t>
            </a:r>
            <a:r>
              <a:rPr spc="-7" dirty="0">
                <a:latin typeface="Calibri"/>
                <a:cs typeface="Calibri"/>
              </a:rPr>
              <a:t>losed </a:t>
            </a:r>
            <a:r>
              <a:rPr spc="-975" dirty="0">
                <a:latin typeface="Calibri"/>
                <a:cs typeface="Calibri"/>
              </a:rPr>
              <a:t> </a:t>
            </a:r>
            <a:r>
              <a:rPr spc="-7" dirty="0">
                <a:latin typeface="Calibri"/>
                <a:cs typeface="Calibri"/>
              </a:rPr>
              <a:t>vocabulary </a:t>
            </a:r>
            <a:r>
              <a:rPr lang="en-US" spc="-7" dirty="0">
                <a:latin typeface="Calibri"/>
                <a:cs typeface="Calibri"/>
              </a:rPr>
              <a:t>System</a:t>
            </a:r>
            <a:endParaRPr spc="-7" dirty="0">
              <a:latin typeface="Calibri"/>
              <a:cs typeface="Calibri"/>
            </a:endParaRPr>
          </a:p>
        </p:txBody>
      </p:sp>
      <p:pic>
        <p:nvPicPr>
          <p:cNvPr id="8" name="Picture 7">
            <a:extLst>
              <a:ext uri="{FF2B5EF4-FFF2-40B4-BE49-F238E27FC236}">
                <a16:creationId xmlns:a16="http://schemas.microsoft.com/office/drawing/2014/main" id="{12CA38DA-11FD-B946-5DC9-64798DC3290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1627039" y="2514600"/>
            <a:ext cx="10864612" cy="4310063"/>
          </a:xfrm>
          <a:prstGeom prst="rect">
            <a:avLst/>
          </a:prstGeom>
        </p:spPr>
      </p:pic>
    </p:spTree>
    <p:extLst>
      <p:ext uri="{BB962C8B-B14F-4D97-AF65-F5344CB8AC3E}">
        <p14:creationId xmlns:p14="http://schemas.microsoft.com/office/powerpoint/2010/main" val="11811781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1087559" y="351864"/>
            <a:ext cx="15803745" cy="1375979"/>
          </a:xfrm>
          <a:prstGeom prst="rect">
            <a:avLst/>
          </a:prstGeom>
        </p:spPr>
        <p:txBody>
          <a:bodyPr vert="horz" wrap="square" lIns="0" tIns="41872" rIns="0" bIns="0" rtlCol="0">
            <a:spAutoFit/>
          </a:bodyPr>
          <a:lstStyle/>
          <a:p>
            <a:pPr marL="1480292" marR="6978">
              <a:lnSpc>
                <a:spcPts val="5220"/>
              </a:lnSpc>
              <a:spcBef>
                <a:spcPts val="330"/>
              </a:spcBef>
            </a:pPr>
            <a:br>
              <a:rPr lang="en-US" spc="-7" dirty="0">
                <a:latin typeface="Calibri"/>
                <a:cs typeface="Calibri"/>
              </a:rPr>
            </a:br>
            <a:r>
              <a:rPr spc="-7" dirty="0">
                <a:latin typeface="Calibri"/>
                <a:cs typeface="Calibri"/>
              </a:rPr>
              <a:t>Open </a:t>
            </a:r>
            <a:r>
              <a:rPr lang="en-US" spc="-7" dirty="0">
                <a:latin typeface="Calibri"/>
                <a:cs typeface="Calibri"/>
              </a:rPr>
              <a:t>V</a:t>
            </a:r>
            <a:r>
              <a:rPr spc="-7" dirty="0">
                <a:latin typeface="Calibri"/>
                <a:cs typeface="Calibri"/>
              </a:rPr>
              <a:t>ocabulary </a:t>
            </a:r>
            <a:r>
              <a:rPr lang="en-US" spc="-7" dirty="0">
                <a:latin typeface="Calibri"/>
                <a:cs typeface="Calibri"/>
              </a:rPr>
              <a:t>System</a:t>
            </a:r>
            <a:endParaRPr spc="-7" dirty="0">
              <a:latin typeface="Calibri"/>
              <a:cs typeface="Calibri"/>
            </a:endParaRPr>
          </a:p>
        </p:txBody>
      </p:sp>
      <p:pic>
        <p:nvPicPr>
          <p:cNvPr id="8" name="Picture 7">
            <a:extLst>
              <a:ext uri="{FF2B5EF4-FFF2-40B4-BE49-F238E27FC236}">
                <a16:creationId xmlns:a16="http://schemas.microsoft.com/office/drawing/2014/main" id="{54542E9B-5F5A-A702-A92F-7C1EB2B4482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136040" y="2590800"/>
            <a:ext cx="10677907" cy="4148138"/>
          </a:xfrm>
          <a:prstGeom prst="rect">
            <a:avLst/>
          </a:prstGeom>
        </p:spPr>
      </p:pic>
    </p:spTree>
    <p:extLst>
      <p:ext uri="{BB962C8B-B14F-4D97-AF65-F5344CB8AC3E}">
        <p14:creationId xmlns:p14="http://schemas.microsoft.com/office/powerpoint/2010/main" val="38953153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1087559" y="351864"/>
            <a:ext cx="15803745" cy="1375979"/>
          </a:xfrm>
          <a:prstGeom prst="rect">
            <a:avLst/>
          </a:prstGeom>
        </p:spPr>
        <p:txBody>
          <a:bodyPr vert="horz" wrap="square" lIns="0" tIns="41872" rIns="0" bIns="0" rtlCol="0">
            <a:spAutoFit/>
          </a:bodyPr>
          <a:lstStyle/>
          <a:p>
            <a:pPr marL="1480292" marR="6978">
              <a:lnSpc>
                <a:spcPts val="5220"/>
              </a:lnSpc>
              <a:spcBef>
                <a:spcPts val="330"/>
              </a:spcBef>
            </a:pPr>
            <a:br>
              <a:rPr lang="en-US" spc="-7" dirty="0">
                <a:latin typeface="Calibri"/>
                <a:cs typeface="Calibri"/>
              </a:rPr>
            </a:br>
            <a:r>
              <a:rPr spc="-7" dirty="0">
                <a:latin typeface="Calibri"/>
                <a:cs typeface="Calibri"/>
              </a:rPr>
              <a:t>Open </a:t>
            </a:r>
            <a:r>
              <a:rPr lang="en-US" spc="-7" dirty="0">
                <a:latin typeface="Calibri"/>
                <a:cs typeface="Calibri"/>
              </a:rPr>
              <a:t>V</a:t>
            </a:r>
            <a:r>
              <a:rPr spc="-7" dirty="0">
                <a:latin typeface="Calibri"/>
                <a:cs typeface="Calibri"/>
              </a:rPr>
              <a:t>ocabulary </a:t>
            </a:r>
            <a:r>
              <a:rPr lang="en-US" spc="-7" dirty="0">
                <a:latin typeface="Calibri"/>
                <a:cs typeface="Calibri"/>
              </a:rPr>
              <a:t>System: First Approach</a:t>
            </a:r>
            <a:endParaRPr spc="-7" dirty="0">
              <a:latin typeface="Calibri"/>
              <a:cs typeface="Calibri"/>
            </a:endParaRPr>
          </a:p>
        </p:txBody>
      </p:sp>
      <p:pic>
        <p:nvPicPr>
          <p:cNvPr id="9" name="Picture 8">
            <a:extLst>
              <a:ext uri="{FF2B5EF4-FFF2-40B4-BE49-F238E27FC236}">
                <a16:creationId xmlns:a16="http://schemas.microsoft.com/office/drawing/2014/main" id="{24BF5DD7-422A-FCF0-F4F3-E9B98B4F145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1395172" y="2819400"/>
            <a:ext cx="11027256" cy="4310063"/>
          </a:xfrm>
          <a:prstGeom prst="rect">
            <a:avLst/>
          </a:prstGeom>
        </p:spPr>
      </p:pic>
    </p:spTree>
    <p:extLst>
      <p:ext uri="{BB962C8B-B14F-4D97-AF65-F5344CB8AC3E}">
        <p14:creationId xmlns:p14="http://schemas.microsoft.com/office/powerpoint/2010/main" val="10307760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1087559" y="351864"/>
            <a:ext cx="15803745" cy="1375979"/>
          </a:xfrm>
          <a:prstGeom prst="rect">
            <a:avLst/>
          </a:prstGeom>
        </p:spPr>
        <p:txBody>
          <a:bodyPr vert="horz" wrap="square" lIns="0" tIns="41872" rIns="0" bIns="0" rtlCol="0">
            <a:spAutoFit/>
          </a:bodyPr>
          <a:lstStyle/>
          <a:p>
            <a:pPr marL="1480292" marR="6978">
              <a:lnSpc>
                <a:spcPts val="5220"/>
              </a:lnSpc>
              <a:spcBef>
                <a:spcPts val="330"/>
              </a:spcBef>
            </a:pPr>
            <a:br>
              <a:rPr lang="en-US" spc="-7" dirty="0">
                <a:latin typeface="Calibri"/>
                <a:cs typeface="Calibri"/>
              </a:rPr>
            </a:br>
            <a:r>
              <a:rPr spc="-7" dirty="0">
                <a:latin typeface="Calibri"/>
                <a:cs typeface="Calibri"/>
              </a:rPr>
              <a:t>Open </a:t>
            </a:r>
            <a:r>
              <a:rPr lang="en-US" spc="-7" dirty="0">
                <a:latin typeface="Calibri"/>
                <a:cs typeface="Calibri"/>
              </a:rPr>
              <a:t>V</a:t>
            </a:r>
            <a:r>
              <a:rPr spc="-7" dirty="0">
                <a:latin typeface="Calibri"/>
                <a:cs typeface="Calibri"/>
              </a:rPr>
              <a:t>ocabulary </a:t>
            </a:r>
            <a:r>
              <a:rPr lang="en-US" spc="-7" dirty="0">
                <a:latin typeface="Calibri"/>
                <a:cs typeface="Calibri"/>
              </a:rPr>
              <a:t>System: Second Approach</a:t>
            </a:r>
            <a:endParaRPr spc="-7" dirty="0">
              <a:latin typeface="Calibri"/>
              <a:cs typeface="Calibri"/>
            </a:endParaRPr>
          </a:p>
        </p:txBody>
      </p:sp>
      <p:pic>
        <p:nvPicPr>
          <p:cNvPr id="8" name="Picture 7">
            <a:extLst>
              <a:ext uri="{FF2B5EF4-FFF2-40B4-BE49-F238E27FC236}">
                <a16:creationId xmlns:a16="http://schemas.microsoft.com/office/drawing/2014/main" id="{912CBD3D-6A38-2154-CBC5-73E92C06066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054943" y="2667000"/>
            <a:ext cx="10413564" cy="4419600"/>
          </a:xfrm>
          <a:prstGeom prst="rect">
            <a:avLst/>
          </a:prstGeom>
        </p:spPr>
      </p:pic>
    </p:spTree>
    <p:extLst>
      <p:ext uri="{BB962C8B-B14F-4D97-AF65-F5344CB8AC3E}">
        <p14:creationId xmlns:p14="http://schemas.microsoft.com/office/powerpoint/2010/main" val="13616017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1087559" y="351864"/>
            <a:ext cx="15803745" cy="709130"/>
          </a:xfrm>
          <a:prstGeom prst="rect">
            <a:avLst/>
          </a:prstGeom>
        </p:spPr>
        <p:txBody>
          <a:bodyPr vert="horz" wrap="square" lIns="0" tIns="41872" rIns="0" bIns="0" rtlCol="0">
            <a:spAutoFit/>
          </a:bodyPr>
          <a:lstStyle/>
          <a:p>
            <a:pPr marL="1480292" marR="6978">
              <a:lnSpc>
                <a:spcPts val="5220"/>
              </a:lnSpc>
              <a:spcBef>
                <a:spcPts val="330"/>
              </a:spcBef>
            </a:pPr>
            <a:r>
              <a:rPr lang="en-US" spc="-7" dirty="0">
                <a:latin typeface="Calibri"/>
                <a:cs typeface="Calibri"/>
              </a:rPr>
              <a:t>Unknown Words</a:t>
            </a:r>
            <a:endParaRPr spc="-7" dirty="0">
              <a:latin typeface="Calibri"/>
              <a:cs typeface="Calibri"/>
            </a:endParaRPr>
          </a:p>
        </p:txBody>
      </p:sp>
      <p:pic>
        <p:nvPicPr>
          <p:cNvPr id="8" name="Picture 7">
            <a:extLst>
              <a:ext uri="{FF2B5EF4-FFF2-40B4-BE49-F238E27FC236}">
                <a16:creationId xmlns:a16="http://schemas.microsoft.com/office/drawing/2014/main" id="{0E7B4B3A-8AE7-C54B-A894-019B8D4E8C6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1627039" y="2362200"/>
            <a:ext cx="11263906" cy="4769732"/>
          </a:xfrm>
          <a:prstGeom prst="rect">
            <a:avLst/>
          </a:prstGeom>
        </p:spPr>
      </p:pic>
    </p:spTree>
    <p:extLst>
      <p:ext uri="{BB962C8B-B14F-4D97-AF65-F5344CB8AC3E}">
        <p14:creationId xmlns:p14="http://schemas.microsoft.com/office/powerpoint/2010/main" val="5800155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1087559" y="351864"/>
            <a:ext cx="15803745" cy="1375979"/>
          </a:xfrm>
          <a:prstGeom prst="rect">
            <a:avLst/>
          </a:prstGeom>
        </p:spPr>
        <p:txBody>
          <a:bodyPr vert="horz" wrap="square" lIns="0" tIns="41872" rIns="0" bIns="0" rtlCol="0">
            <a:spAutoFit/>
          </a:bodyPr>
          <a:lstStyle/>
          <a:p>
            <a:pPr marL="1480292" marR="6978">
              <a:lnSpc>
                <a:spcPts val="5220"/>
              </a:lnSpc>
              <a:spcBef>
                <a:spcPts val="330"/>
              </a:spcBef>
            </a:pPr>
            <a:r>
              <a:rPr spc="-7" dirty="0">
                <a:latin typeface="Calibri"/>
                <a:cs typeface="Calibri"/>
              </a:rPr>
              <a:t>Unknown words: </a:t>
            </a:r>
            <a:br>
              <a:rPr lang="en-US" spc="-7" dirty="0">
                <a:latin typeface="Calibri"/>
                <a:cs typeface="Calibri"/>
              </a:rPr>
            </a:br>
            <a:r>
              <a:rPr spc="-7" dirty="0">
                <a:latin typeface="Calibri"/>
                <a:cs typeface="Calibri"/>
              </a:rPr>
              <a:t>Open versus closed </a:t>
            </a:r>
            <a:r>
              <a:rPr spc="-975" dirty="0">
                <a:latin typeface="Calibri"/>
                <a:cs typeface="Calibri"/>
              </a:rPr>
              <a:t> </a:t>
            </a:r>
            <a:r>
              <a:rPr spc="-7" dirty="0">
                <a:latin typeface="Calibri"/>
                <a:cs typeface="Calibri"/>
              </a:rPr>
              <a:t>vocabulary tasks</a:t>
            </a:r>
          </a:p>
        </p:txBody>
      </p:sp>
      <p:sp>
        <p:nvSpPr>
          <p:cNvPr id="7" name="object 7"/>
          <p:cNvSpPr txBox="1"/>
          <p:nvPr/>
        </p:nvSpPr>
        <p:spPr>
          <a:xfrm>
            <a:off x="2136040" y="1995056"/>
            <a:ext cx="9860742" cy="5374361"/>
          </a:xfrm>
          <a:prstGeom prst="rect">
            <a:avLst/>
          </a:prstGeom>
        </p:spPr>
        <p:txBody>
          <a:bodyPr vert="horz" wrap="square" lIns="0" tIns="46233" rIns="0" bIns="0" rtlCol="0">
            <a:spAutoFit/>
          </a:bodyPr>
          <a:lstStyle/>
          <a:p>
            <a:pPr marL="488488" indent="-471042">
              <a:spcBef>
                <a:spcPts val="364"/>
              </a:spcBef>
              <a:buClr>
                <a:srgbClr val="CC0000"/>
              </a:buClr>
              <a:buFont typeface="Times New Roman"/>
              <a:buChar char="•"/>
              <a:tabLst>
                <a:tab pos="487615" algn="l"/>
                <a:tab pos="488488" algn="l"/>
              </a:tabLst>
            </a:pPr>
            <a:r>
              <a:rPr sz="2747" dirty="0">
                <a:latin typeface="Calibri"/>
                <a:cs typeface="Calibri"/>
              </a:rPr>
              <a:t>If</a:t>
            </a:r>
            <a:r>
              <a:rPr sz="2747" spc="-14" dirty="0">
                <a:latin typeface="Calibri"/>
                <a:cs typeface="Calibri"/>
              </a:rPr>
              <a:t> </a:t>
            </a:r>
            <a:r>
              <a:rPr sz="2747" spc="-7" dirty="0">
                <a:latin typeface="Calibri"/>
                <a:cs typeface="Calibri"/>
              </a:rPr>
              <a:t>we</a:t>
            </a:r>
            <a:r>
              <a:rPr sz="2747" spc="-14" dirty="0">
                <a:latin typeface="Calibri"/>
                <a:cs typeface="Calibri"/>
              </a:rPr>
              <a:t> </a:t>
            </a:r>
            <a:r>
              <a:rPr sz="2747" spc="-7" dirty="0">
                <a:latin typeface="Calibri"/>
                <a:cs typeface="Calibri"/>
              </a:rPr>
              <a:t>know </a:t>
            </a:r>
            <a:r>
              <a:rPr sz="2747" dirty="0">
                <a:latin typeface="Calibri"/>
                <a:cs typeface="Calibri"/>
              </a:rPr>
              <a:t>all</a:t>
            </a:r>
            <a:r>
              <a:rPr sz="2747" spc="-14" dirty="0">
                <a:latin typeface="Calibri"/>
                <a:cs typeface="Calibri"/>
              </a:rPr>
              <a:t> </a:t>
            </a:r>
            <a:r>
              <a:rPr sz="2747" dirty="0">
                <a:latin typeface="Calibri"/>
                <a:cs typeface="Calibri"/>
              </a:rPr>
              <a:t>the</a:t>
            </a:r>
            <a:r>
              <a:rPr sz="2747" spc="-14" dirty="0">
                <a:latin typeface="Calibri"/>
                <a:cs typeface="Calibri"/>
              </a:rPr>
              <a:t> </a:t>
            </a:r>
            <a:r>
              <a:rPr sz="2747" spc="-7" dirty="0">
                <a:latin typeface="Calibri"/>
                <a:cs typeface="Calibri"/>
              </a:rPr>
              <a:t>words </a:t>
            </a:r>
            <a:r>
              <a:rPr sz="2747" dirty="0">
                <a:latin typeface="Calibri"/>
                <a:cs typeface="Calibri"/>
              </a:rPr>
              <a:t>in</a:t>
            </a:r>
            <a:r>
              <a:rPr sz="2747" spc="-14" dirty="0">
                <a:latin typeface="Calibri"/>
                <a:cs typeface="Calibri"/>
              </a:rPr>
              <a:t> </a:t>
            </a:r>
            <a:r>
              <a:rPr sz="2747" dirty="0">
                <a:latin typeface="Calibri"/>
                <a:cs typeface="Calibri"/>
              </a:rPr>
              <a:t>advanced</a:t>
            </a:r>
          </a:p>
          <a:p>
            <a:pPr marL="959529" lvl="1" indent="-314028">
              <a:spcBef>
                <a:spcPts val="213"/>
              </a:spcBef>
              <a:buFont typeface="Times New Roman"/>
              <a:buChar char="•"/>
              <a:tabLst>
                <a:tab pos="958657" algn="l"/>
                <a:tab pos="959529" algn="l"/>
              </a:tabLst>
            </a:pPr>
            <a:r>
              <a:rPr sz="2473" spc="-7" dirty="0">
                <a:latin typeface="Calibri"/>
                <a:cs typeface="Calibri"/>
              </a:rPr>
              <a:t>Vocabulary</a:t>
            </a:r>
            <a:r>
              <a:rPr sz="2473" spc="-14" dirty="0">
                <a:latin typeface="Calibri"/>
                <a:cs typeface="Calibri"/>
              </a:rPr>
              <a:t> </a:t>
            </a:r>
            <a:r>
              <a:rPr sz="2473" dirty="0">
                <a:latin typeface="Calibri"/>
                <a:cs typeface="Calibri"/>
              </a:rPr>
              <a:t>V</a:t>
            </a:r>
            <a:r>
              <a:rPr sz="2473" spc="-14" dirty="0">
                <a:latin typeface="Calibri"/>
                <a:cs typeface="Calibri"/>
              </a:rPr>
              <a:t> </a:t>
            </a:r>
            <a:r>
              <a:rPr sz="2473" dirty="0">
                <a:latin typeface="Calibri"/>
                <a:cs typeface="Calibri"/>
              </a:rPr>
              <a:t>is</a:t>
            </a:r>
            <a:r>
              <a:rPr sz="2473" spc="-14" dirty="0">
                <a:latin typeface="Calibri"/>
                <a:cs typeface="Calibri"/>
              </a:rPr>
              <a:t> </a:t>
            </a:r>
            <a:r>
              <a:rPr sz="2473" spc="-7" dirty="0">
                <a:latin typeface="Calibri"/>
                <a:cs typeface="Calibri"/>
              </a:rPr>
              <a:t>fixed</a:t>
            </a:r>
            <a:endParaRPr sz="2473" dirty="0">
              <a:latin typeface="Calibri"/>
              <a:cs typeface="Calibri"/>
            </a:endParaRPr>
          </a:p>
          <a:p>
            <a:pPr marL="959529" lvl="1" indent="-314028">
              <a:spcBef>
                <a:spcPts val="330"/>
              </a:spcBef>
              <a:buFont typeface="Times New Roman"/>
              <a:buChar char="•"/>
              <a:tabLst>
                <a:tab pos="958657" algn="l"/>
                <a:tab pos="959529" algn="l"/>
              </a:tabLst>
            </a:pPr>
            <a:r>
              <a:rPr sz="2473" spc="-7" dirty="0">
                <a:latin typeface="Calibri"/>
                <a:cs typeface="Calibri"/>
              </a:rPr>
              <a:t>Closed</a:t>
            </a:r>
            <a:r>
              <a:rPr sz="2473" spc="-21" dirty="0">
                <a:latin typeface="Calibri"/>
                <a:cs typeface="Calibri"/>
              </a:rPr>
              <a:t> </a:t>
            </a:r>
            <a:r>
              <a:rPr sz="2473" spc="-7" dirty="0">
                <a:latin typeface="Calibri"/>
                <a:cs typeface="Calibri"/>
              </a:rPr>
              <a:t>vocabulary</a:t>
            </a:r>
            <a:r>
              <a:rPr sz="2473" spc="-14" dirty="0">
                <a:latin typeface="Calibri"/>
                <a:cs typeface="Calibri"/>
              </a:rPr>
              <a:t> </a:t>
            </a:r>
            <a:r>
              <a:rPr sz="2473" dirty="0">
                <a:latin typeface="Calibri"/>
                <a:cs typeface="Calibri"/>
              </a:rPr>
              <a:t>task</a:t>
            </a:r>
          </a:p>
          <a:p>
            <a:pPr marL="488488" indent="-471042">
              <a:spcBef>
                <a:spcPts val="364"/>
              </a:spcBef>
              <a:buClr>
                <a:srgbClr val="CC0000"/>
              </a:buClr>
              <a:buFont typeface="Times New Roman"/>
              <a:buChar char="•"/>
              <a:tabLst>
                <a:tab pos="487615" algn="l"/>
                <a:tab pos="488488" algn="l"/>
              </a:tabLst>
            </a:pPr>
            <a:r>
              <a:rPr sz="2747" spc="-14" dirty="0">
                <a:latin typeface="Calibri"/>
                <a:cs typeface="Calibri"/>
              </a:rPr>
              <a:t>Often</a:t>
            </a:r>
            <a:r>
              <a:rPr sz="2747" spc="-21" dirty="0">
                <a:latin typeface="Calibri"/>
                <a:cs typeface="Calibri"/>
              </a:rPr>
              <a:t> </a:t>
            </a:r>
            <a:r>
              <a:rPr sz="2747" spc="-7" dirty="0">
                <a:latin typeface="Calibri"/>
                <a:cs typeface="Calibri"/>
              </a:rPr>
              <a:t>we</a:t>
            </a:r>
            <a:r>
              <a:rPr sz="2747" spc="-14" dirty="0">
                <a:latin typeface="Calibri"/>
                <a:cs typeface="Calibri"/>
              </a:rPr>
              <a:t> </a:t>
            </a:r>
            <a:r>
              <a:rPr sz="2747" spc="-7" dirty="0">
                <a:latin typeface="Calibri"/>
                <a:cs typeface="Calibri"/>
              </a:rPr>
              <a:t>don’t</a:t>
            </a:r>
            <a:r>
              <a:rPr sz="2747" spc="-14" dirty="0">
                <a:latin typeface="Calibri"/>
                <a:cs typeface="Calibri"/>
              </a:rPr>
              <a:t> </a:t>
            </a:r>
            <a:r>
              <a:rPr sz="2747" spc="-7" dirty="0">
                <a:latin typeface="Calibri"/>
                <a:cs typeface="Calibri"/>
              </a:rPr>
              <a:t>know</a:t>
            </a:r>
            <a:r>
              <a:rPr sz="2747" spc="-14" dirty="0">
                <a:latin typeface="Calibri"/>
                <a:cs typeface="Calibri"/>
              </a:rPr>
              <a:t> </a:t>
            </a:r>
            <a:r>
              <a:rPr sz="2747" dirty="0">
                <a:latin typeface="Calibri"/>
                <a:cs typeface="Calibri"/>
              </a:rPr>
              <a:t>this</a:t>
            </a:r>
          </a:p>
          <a:p>
            <a:pPr marL="959529" lvl="1" indent="-314028">
              <a:spcBef>
                <a:spcPts val="240"/>
              </a:spcBef>
              <a:buFont typeface="Times New Roman"/>
              <a:buChar char="•"/>
              <a:tabLst>
                <a:tab pos="958657" algn="l"/>
                <a:tab pos="959529" algn="l"/>
              </a:tabLst>
            </a:pPr>
            <a:r>
              <a:rPr sz="2473" b="1" spc="-7" dirty="0">
                <a:latin typeface="Calibri"/>
                <a:cs typeface="Calibri"/>
              </a:rPr>
              <a:t>Out</a:t>
            </a:r>
            <a:r>
              <a:rPr sz="2473" b="1" spc="-21" dirty="0">
                <a:latin typeface="Calibri"/>
                <a:cs typeface="Calibri"/>
              </a:rPr>
              <a:t> </a:t>
            </a:r>
            <a:r>
              <a:rPr sz="2473" b="1" spc="-7" dirty="0">
                <a:latin typeface="Calibri"/>
                <a:cs typeface="Calibri"/>
              </a:rPr>
              <a:t>Of</a:t>
            </a:r>
            <a:r>
              <a:rPr sz="2473" b="1" spc="-14" dirty="0">
                <a:latin typeface="Calibri"/>
                <a:cs typeface="Calibri"/>
              </a:rPr>
              <a:t> </a:t>
            </a:r>
            <a:r>
              <a:rPr sz="2473" b="1" spc="-7" dirty="0">
                <a:latin typeface="Calibri"/>
                <a:cs typeface="Calibri"/>
              </a:rPr>
              <a:t>Vocabulary</a:t>
            </a:r>
            <a:r>
              <a:rPr sz="2473" b="1" spc="-14" dirty="0">
                <a:latin typeface="Calibri"/>
                <a:cs typeface="Calibri"/>
              </a:rPr>
              <a:t> </a:t>
            </a:r>
            <a:r>
              <a:rPr sz="2473" dirty="0">
                <a:latin typeface="Calibri"/>
                <a:cs typeface="Calibri"/>
              </a:rPr>
              <a:t>=</a:t>
            </a:r>
            <a:r>
              <a:rPr sz="2473" spc="-21" dirty="0">
                <a:latin typeface="Calibri"/>
                <a:cs typeface="Calibri"/>
              </a:rPr>
              <a:t> </a:t>
            </a:r>
            <a:r>
              <a:rPr sz="2473" dirty="0">
                <a:latin typeface="Calibri"/>
                <a:cs typeface="Calibri"/>
              </a:rPr>
              <a:t>OOV</a:t>
            </a:r>
            <a:r>
              <a:rPr sz="2473" spc="-14" dirty="0">
                <a:latin typeface="Calibri"/>
                <a:cs typeface="Calibri"/>
              </a:rPr>
              <a:t> </a:t>
            </a:r>
            <a:r>
              <a:rPr sz="2473" spc="-7" dirty="0">
                <a:latin typeface="Calibri"/>
                <a:cs typeface="Calibri"/>
              </a:rPr>
              <a:t>words</a:t>
            </a:r>
            <a:endParaRPr sz="2473" dirty="0">
              <a:latin typeface="Calibri"/>
              <a:cs typeface="Calibri"/>
            </a:endParaRPr>
          </a:p>
          <a:p>
            <a:pPr marL="959529" lvl="1" indent="-314028">
              <a:spcBef>
                <a:spcPts val="330"/>
              </a:spcBef>
              <a:buFont typeface="Times New Roman"/>
              <a:buChar char="•"/>
              <a:tabLst>
                <a:tab pos="958657" algn="l"/>
                <a:tab pos="959529" algn="l"/>
              </a:tabLst>
            </a:pPr>
            <a:r>
              <a:rPr sz="2473" dirty="0">
                <a:latin typeface="Calibri"/>
                <a:cs typeface="Calibri"/>
              </a:rPr>
              <a:t>Open</a:t>
            </a:r>
            <a:r>
              <a:rPr sz="2473" spc="-27" dirty="0">
                <a:latin typeface="Calibri"/>
                <a:cs typeface="Calibri"/>
              </a:rPr>
              <a:t> </a:t>
            </a:r>
            <a:r>
              <a:rPr sz="2473" spc="-7" dirty="0">
                <a:latin typeface="Calibri"/>
                <a:cs typeface="Calibri"/>
              </a:rPr>
              <a:t>vocabulary</a:t>
            </a:r>
            <a:r>
              <a:rPr sz="2473" spc="-21" dirty="0">
                <a:latin typeface="Calibri"/>
                <a:cs typeface="Calibri"/>
              </a:rPr>
              <a:t> </a:t>
            </a:r>
            <a:r>
              <a:rPr sz="2473" dirty="0">
                <a:latin typeface="Calibri"/>
                <a:cs typeface="Calibri"/>
              </a:rPr>
              <a:t>task</a:t>
            </a:r>
          </a:p>
          <a:p>
            <a:pPr marL="488488" indent="-471042">
              <a:spcBef>
                <a:spcPts val="364"/>
              </a:spcBef>
              <a:buClr>
                <a:srgbClr val="CC0000"/>
              </a:buClr>
              <a:buFont typeface="Times New Roman"/>
              <a:buChar char="•"/>
              <a:tabLst>
                <a:tab pos="487615" algn="l"/>
                <a:tab pos="488488" algn="l"/>
              </a:tabLst>
            </a:pPr>
            <a:r>
              <a:rPr sz="2747" spc="-7" dirty="0">
                <a:latin typeface="Calibri"/>
                <a:cs typeface="Calibri"/>
              </a:rPr>
              <a:t>Instead:</a:t>
            </a:r>
            <a:r>
              <a:rPr sz="2747" dirty="0">
                <a:latin typeface="Calibri"/>
                <a:cs typeface="Calibri"/>
              </a:rPr>
              <a:t> </a:t>
            </a:r>
            <a:r>
              <a:rPr sz="2747" spc="-7" dirty="0">
                <a:latin typeface="Calibri"/>
                <a:cs typeface="Calibri"/>
              </a:rPr>
              <a:t>create </a:t>
            </a:r>
            <a:r>
              <a:rPr sz="2747" dirty="0">
                <a:latin typeface="Calibri"/>
                <a:cs typeface="Calibri"/>
              </a:rPr>
              <a:t>an </a:t>
            </a:r>
            <a:r>
              <a:rPr sz="2747" spc="-7" dirty="0">
                <a:latin typeface="Calibri"/>
                <a:cs typeface="Calibri"/>
              </a:rPr>
              <a:t>unknown</a:t>
            </a:r>
            <a:r>
              <a:rPr sz="2747" dirty="0">
                <a:latin typeface="Calibri"/>
                <a:cs typeface="Calibri"/>
              </a:rPr>
              <a:t> </a:t>
            </a:r>
            <a:r>
              <a:rPr sz="2747" spc="-7" dirty="0">
                <a:latin typeface="Calibri"/>
                <a:cs typeface="Calibri"/>
              </a:rPr>
              <a:t>word</a:t>
            </a:r>
            <a:r>
              <a:rPr sz="2747" dirty="0">
                <a:latin typeface="Calibri"/>
                <a:cs typeface="Calibri"/>
              </a:rPr>
              <a:t> token </a:t>
            </a:r>
            <a:r>
              <a:rPr sz="2747" spc="-7" dirty="0">
                <a:latin typeface="Calibri"/>
                <a:cs typeface="Calibri"/>
              </a:rPr>
              <a:t>&lt;UNK&gt;</a:t>
            </a:r>
            <a:endParaRPr sz="2747" dirty="0">
              <a:latin typeface="Calibri"/>
              <a:cs typeface="Calibri"/>
            </a:endParaRPr>
          </a:p>
          <a:p>
            <a:pPr marL="959529" lvl="1" indent="-314028">
              <a:spcBef>
                <a:spcPts val="240"/>
              </a:spcBef>
              <a:buFont typeface="Times New Roman"/>
              <a:buChar char="•"/>
              <a:tabLst>
                <a:tab pos="958657" algn="l"/>
                <a:tab pos="959529" algn="l"/>
              </a:tabLst>
            </a:pPr>
            <a:r>
              <a:rPr sz="2473" spc="-7" dirty="0">
                <a:latin typeface="Calibri"/>
                <a:cs typeface="Calibri"/>
              </a:rPr>
              <a:t>Training of &lt;UNK&gt; probabilities</a:t>
            </a:r>
            <a:endParaRPr sz="2473" dirty="0">
              <a:latin typeface="Calibri"/>
              <a:cs typeface="Calibri"/>
            </a:endParaRPr>
          </a:p>
          <a:p>
            <a:pPr marL="1430571" lvl="2" indent="-314028">
              <a:spcBef>
                <a:spcPts val="288"/>
              </a:spcBef>
              <a:buClr>
                <a:srgbClr val="CC0000"/>
              </a:buClr>
              <a:buFont typeface="Times New Roman"/>
              <a:buChar char="•"/>
              <a:tabLst>
                <a:tab pos="1429699" algn="l"/>
                <a:tab pos="1430571" algn="l"/>
              </a:tabLst>
            </a:pPr>
            <a:r>
              <a:rPr sz="2198" spc="-7" dirty="0">
                <a:latin typeface="Calibri"/>
                <a:cs typeface="Calibri"/>
              </a:rPr>
              <a:t>Create</a:t>
            </a:r>
            <a:r>
              <a:rPr sz="2198" spc="-14" dirty="0">
                <a:latin typeface="Calibri"/>
                <a:cs typeface="Calibri"/>
              </a:rPr>
              <a:t> </a:t>
            </a:r>
            <a:r>
              <a:rPr sz="2198" dirty="0">
                <a:latin typeface="Calibri"/>
                <a:cs typeface="Calibri"/>
              </a:rPr>
              <a:t>a</a:t>
            </a:r>
            <a:r>
              <a:rPr sz="2198" spc="-7" dirty="0">
                <a:latin typeface="Calibri"/>
                <a:cs typeface="Calibri"/>
              </a:rPr>
              <a:t> fixed</a:t>
            </a:r>
            <a:r>
              <a:rPr sz="2198" dirty="0">
                <a:latin typeface="Calibri"/>
                <a:cs typeface="Calibri"/>
              </a:rPr>
              <a:t> </a:t>
            </a:r>
            <a:r>
              <a:rPr sz="2198" spc="-7" dirty="0">
                <a:latin typeface="Calibri"/>
                <a:cs typeface="Calibri"/>
              </a:rPr>
              <a:t>lexicon </a:t>
            </a:r>
            <a:r>
              <a:rPr sz="2198" dirty="0">
                <a:latin typeface="Calibri"/>
                <a:cs typeface="Calibri"/>
              </a:rPr>
              <a:t>L </a:t>
            </a:r>
            <a:r>
              <a:rPr sz="2198" spc="-7" dirty="0">
                <a:latin typeface="Calibri"/>
                <a:cs typeface="Calibri"/>
              </a:rPr>
              <a:t>of </a:t>
            </a:r>
            <a:r>
              <a:rPr sz="2198" dirty="0">
                <a:latin typeface="Calibri"/>
                <a:cs typeface="Calibri"/>
              </a:rPr>
              <a:t>size</a:t>
            </a:r>
            <a:r>
              <a:rPr sz="2198" spc="-7" dirty="0">
                <a:latin typeface="Calibri"/>
                <a:cs typeface="Calibri"/>
              </a:rPr>
              <a:t> </a:t>
            </a:r>
            <a:r>
              <a:rPr sz="2198" dirty="0">
                <a:latin typeface="Calibri"/>
                <a:cs typeface="Calibri"/>
              </a:rPr>
              <a:t>V</a:t>
            </a:r>
          </a:p>
          <a:p>
            <a:pPr marL="1430571" lvl="2" indent="-314028">
              <a:spcBef>
                <a:spcPts val="247"/>
              </a:spcBef>
              <a:buClr>
                <a:srgbClr val="CC0000"/>
              </a:buClr>
              <a:buFont typeface="Times New Roman"/>
              <a:buChar char="•"/>
              <a:tabLst>
                <a:tab pos="1429699" algn="l"/>
                <a:tab pos="1430571" algn="l"/>
              </a:tabLst>
            </a:pPr>
            <a:r>
              <a:rPr sz="2198" dirty="0">
                <a:latin typeface="Calibri"/>
                <a:cs typeface="Calibri"/>
              </a:rPr>
              <a:t>At </a:t>
            </a:r>
            <a:r>
              <a:rPr sz="2198" spc="-7" dirty="0">
                <a:latin typeface="Calibri"/>
                <a:cs typeface="Calibri"/>
              </a:rPr>
              <a:t>text</a:t>
            </a:r>
            <a:r>
              <a:rPr sz="2198" dirty="0">
                <a:latin typeface="Calibri"/>
                <a:cs typeface="Calibri"/>
              </a:rPr>
              <a:t> </a:t>
            </a:r>
            <a:r>
              <a:rPr sz="2198" spc="-7" dirty="0">
                <a:latin typeface="Calibri"/>
                <a:cs typeface="Calibri"/>
              </a:rPr>
              <a:t>normalization</a:t>
            </a:r>
            <a:r>
              <a:rPr sz="2198" dirty="0">
                <a:latin typeface="Calibri"/>
                <a:cs typeface="Calibri"/>
              </a:rPr>
              <a:t> phase, any </a:t>
            </a:r>
            <a:r>
              <a:rPr sz="2198" spc="-7" dirty="0">
                <a:latin typeface="Calibri"/>
                <a:cs typeface="Calibri"/>
              </a:rPr>
              <a:t>training</a:t>
            </a:r>
            <a:r>
              <a:rPr sz="2198" spc="7" dirty="0">
                <a:latin typeface="Calibri"/>
                <a:cs typeface="Calibri"/>
              </a:rPr>
              <a:t> </a:t>
            </a:r>
            <a:r>
              <a:rPr sz="2198" spc="-7" dirty="0">
                <a:latin typeface="Calibri"/>
                <a:cs typeface="Calibri"/>
              </a:rPr>
              <a:t>word</a:t>
            </a:r>
            <a:r>
              <a:rPr sz="2198" dirty="0">
                <a:latin typeface="Calibri"/>
                <a:cs typeface="Calibri"/>
              </a:rPr>
              <a:t> </a:t>
            </a:r>
            <a:r>
              <a:rPr sz="2198" spc="-7" dirty="0">
                <a:latin typeface="Calibri"/>
                <a:cs typeface="Calibri"/>
              </a:rPr>
              <a:t>not</a:t>
            </a:r>
            <a:r>
              <a:rPr sz="2198" dirty="0">
                <a:latin typeface="Calibri"/>
                <a:cs typeface="Calibri"/>
              </a:rPr>
              <a:t> in L changed</a:t>
            </a:r>
            <a:r>
              <a:rPr sz="2198" spc="7" dirty="0">
                <a:latin typeface="Calibri"/>
                <a:cs typeface="Calibri"/>
              </a:rPr>
              <a:t> </a:t>
            </a:r>
            <a:r>
              <a:rPr sz="2198" dirty="0">
                <a:latin typeface="Calibri"/>
                <a:cs typeface="Calibri"/>
              </a:rPr>
              <a:t>to</a:t>
            </a:r>
            <a:r>
              <a:rPr sz="2198" spc="495" dirty="0">
                <a:latin typeface="Calibri"/>
                <a:cs typeface="Calibri"/>
              </a:rPr>
              <a:t> </a:t>
            </a:r>
            <a:r>
              <a:rPr sz="2198" spc="-7" dirty="0">
                <a:latin typeface="Calibri"/>
                <a:cs typeface="Calibri"/>
              </a:rPr>
              <a:t>&lt;UNK&gt;</a:t>
            </a:r>
            <a:endParaRPr sz="2198" dirty="0">
              <a:latin typeface="Calibri"/>
              <a:cs typeface="Calibri"/>
            </a:endParaRPr>
          </a:p>
          <a:p>
            <a:pPr marL="1430571" lvl="2" indent="-314028">
              <a:spcBef>
                <a:spcPts val="247"/>
              </a:spcBef>
              <a:buClr>
                <a:srgbClr val="CC0000"/>
              </a:buClr>
              <a:buFont typeface="Times New Roman"/>
              <a:buChar char="•"/>
              <a:tabLst>
                <a:tab pos="1429699" algn="l"/>
                <a:tab pos="1430571" algn="l"/>
              </a:tabLst>
            </a:pPr>
            <a:r>
              <a:rPr sz="2198" spc="-7" dirty="0">
                <a:latin typeface="Calibri"/>
                <a:cs typeface="Calibri"/>
              </a:rPr>
              <a:t>Now</a:t>
            </a:r>
            <a:r>
              <a:rPr sz="2198" dirty="0">
                <a:latin typeface="Calibri"/>
                <a:cs typeface="Calibri"/>
              </a:rPr>
              <a:t> </a:t>
            </a:r>
            <a:r>
              <a:rPr sz="2198" spc="-7" dirty="0">
                <a:latin typeface="Calibri"/>
                <a:cs typeface="Calibri"/>
              </a:rPr>
              <a:t>we</a:t>
            </a:r>
            <a:r>
              <a:rPr sz="2198" dirty="0">
                <a:latin typeface="Calibri"/>
                <a:cs typeface="Calibri"/>
              </a:rPr>
              <a:t> </a:t>
            </a:r>
            <a:r>
              <a:rPr sz="2198" spc="-7" dirty="0">
                <a:latin typeface="Calibri"/>
                <a:cs typeface="Calibri"/>
              </a:rPr>
              <a:t>train</a:t>
            </a:r>
            <a:r>
              <a:rPr sz="2198" dirty="0">
                <a:latin typeface="Calibri"/>
                <a:cs typeface="Calibri"/>
              </a:rPr>
              <a:t> its </a:t>
            </a:r>
            <a:r>
              <a:rPr sz="2198" spc="-7" dirty="0">
                <a:latin typeface="Calibri"/>
                <a:cs typeface="Calibri"/>
              </a:rPr>
              <a:t>probabilities</a:t>
            </a:r>
            <a:r>
              <a:rPr sz="2198" dirty="0">
                <a:latin typeface="Calibri"/>
                <a:cs typeface="Calibri"/>
              </a:rPr>
              <a:t> like a </a:t>
            </a:r>
            <a:r>
              <a:rPr sz="2198" spc="-7" dirty="0">
                <a:latin typeface="Calibri"/>
                <a:cs typeface="Calibri"/>
              </a:rPr>
              <a:t>normal</a:t>
            </a:r>
            <a:r>
              <a:rPr sz="2198" dirty="0">
                <a:latin typeface="Calibri"/>
                <a:cs typeface="Calibri"/>
              </a:rPr>
              <a:t> </a:t>
            </a:r>
            <a:r>
              <a:rPr sz="2198" spc="-7" dirty="0">
                <a:latin typeface="Calibri"/>
                <a:cs typeface="Calibri"/>
              </a:rPr>
              <a:t>word</a:t>
            </a:r>
            <a:endParaRPr sz="2198" dirty="0">
              <a:latin typeface="Calibri"/>
              <a:cs typeface="Calibri"/>
            </a:endParaRPr>
          </a:p>
          <a:p>
            <a:pPr marL="959529" lvl="1" indent="-314028">
              <a:spcBef>
                <a:spcPts val="288"/>
              </a:spcBef>
              <a:buFont typeface="Times New Roman"/>
              <a:buChar char="•"/>
              <a:tabLst>
                <a:tab pos="958657" algn="l"/>
                <a:tab pos="959529" algn="l"/>
              </a:tabLst>
            </a:pPr>
            <a:r>
              <a:rPr sz="2473" dirty="0">
                <a:latin typeface="Calibri"/>
                <a:cs typeface="Calibri"/>
              </a:rPr>
              <a:t>At</a:t>
            </a:r>
            <a:r>
              <a:rPr sz="2473" spc="-21" dirty="0">
                <a:latin typeface="Calibri"/>
                <a:cs typeface="Calibri"/>
              </a:rPr>
              <a:t> </a:t>
            </a:r>
            <a:r>
              <a:rPr sz="2473" spc="-7" dirty="0">
                <a:latin typeface="Calibri"/>
                <a:cs typeface="Calibri"/>
              </a:rPr>
              <a:t>decoding</a:t>
            </a:r>
            <a:r>
              <a:rPr sz="2473" spc="-21" dirty="0">
                <a:latin typeface="Calibri"/>
                <a:cs typeface="Calibri"/>
              </a:rPr>
              <a:t> </a:t>
            </a:r>
            <a:r>
              <a:rPr sz="2473" spc="-14" dirty="0">
                <a:latin typeface="Calibri"/>
                <a:cs typeface="Calibri"/>
              </a:rPr>
              <a:t>time</a:t>
            </a:r>
            <a:endParaRPr sz="2473" dirty="0">
              <a:latin typeface="Calibri"/>
              <a:cs typeface="Calibri"/>
            </a:endParaRPr>
          </a:p>
          <a:p>
            <a:pPr marL="1430571" lvl="2" indent="-314028">
              <a:spcBef>
                <a:spcPts val="288"/>
              </a:spcBef>
              <a:buClr>
                <a:srgbClr val="CC0000"/>
              </a:buClr>
              <a:buFont typeface="Times New Roman"/>
              <a:buChar char="•"/>
              <a:tabLst>
                <a:tab pos="1429699" algn="l"/>
                <a:tab pos="1430571" algn="l"/>
              </a:tabLst>
            </a:pPr>
            <a:r>
              <a:rPr sz="2198" dirty="0">
                <a:latin typeface="Calibri"/>
                <a:cs typeface="Calibri"/>
              </a:rPr>
              <a:t>If </a:t>
            </a:r>
            <a:r>
              <a:rPr sz="2198" spc="-7" dirty="0">
                <a:latin typeface="Calibri"/>
                <a:cs typeface="Calibri"/>
              </a:rPr>
              <a:t>text</a:t>
            </a:r>
            <a:r>
              <a:rPr sz="2198" dirty="0">
                <a:latin typeface="Calibri"/>
                <a:cs typeface="Calibri"/>
              </a:rPr>
              <a:t> input:</a:t>
            </a:r>
            <a:r>
              <a:rPr sz="2198" spc="-7" dirty="0">
                <a:latin typeface="Calibri"/>
                <a:cs typeface="Calibri"/>
              </a:rPr>
              <a:t> </a:t>
            </a:r>
            <a:r>
              <a:rPr sz="2198" dirty="0">
                <a:latin typeface="Calibri"/>
                <a:cs typeface="Calibri"/>
              </a:rPr>
              <a:t>Use</a:t>
            </a:r>
            <a:r>
              <a:rPr sz="2198" spc="7" dirty="0">
                <a:latin typeface="Calibri"/>
                <a:cs typeface="Calibri"/>
              </a:rPr>
              <a:t> </a:t>
            </a:r>
            <a:r>
              <a:rPr sz="2198" dirty="0">
                <a:latin typeface="Calibri"/>
                <a:cs typeface="Calibri"/>
              </a:rPr>
              <a:t>UNK </a:t>
            </a:r>
            <a:r>
              <a:rPr sz="2198" spc="-7" dirty="0">
                <a:latin typeface="Calibri"/>
                <a:cs typeface="Calibri"/>
              </a:rPr>
              <a:t>probabilities</a:t>
            </a:r>
            <a:r>
              <a:rPr sz="2198" dirty="0">
                <a:latin typeface="Calibri"/>
                <a:cs typeface="Calibri"/>
              </a:rPr>
              <a:t> </a:t>
            </a:r>
            <a:r>
              <a:rPr sz="2198" spc="-7" dirty="0">
                <a:latin typeface="Calibri"/>
                <a:cs typeface="Calibri"/>
              </a:rPr>
              <a:t>for</a:t>
            </a:r>
            <a:r>
              <a:rPr sz="2198" spc="7" dirty="0">
                <a:latin typeface="Calibri"/>
                <a:cs typeface="Calibri"/>
              </a:rPr>
              <a:t> </a:t>
            </a:r>
            <a:r>
              <a:rPr sz="2198" dirty="0">
                <a:latin typeface="Calibri"/>
                <a:cs typeface="Calibri"/>
              </a:rPr>
              <a:t>any </a:t>
            </a:r>
            <a:r>
              <a:rPr sz="2198" spc="-7" dirty="0">
                <a:latin typeface="Calibri"/>
                <a:cs typeface="Calibri"/>
              </a:rPr>
              <a:t>word</a:t>
            </a:r>
            <a:r>
              <a:rPr sz="2198" dirty="0">
                <a:latin typeface="Calibri"/>
                <a:cs typeface="Calibri"/>
              </a:rPr>
              <a:t> </a:t>
            </a:r>
            <a:r>
              <a:rPr sz="2198" spc="-7" dirty="0">
                <a:latin typeface="Calibri"/>
                <a:cs typeface="Calibri"/>
              </a:rPr>
              <a:t>not</a:t>
            </a:r>
            <a:r>
              <a:rPr sz="2198" dirty="0">
                <a:latin typeface="Calibri"/>
                <a:cs typeface="Calibri"/>
              </a:rPr>
              <a:t> in</a:t>
            </a:r>
            <a:r>
              <a:rPr sz="2198" spc="7" dirty="0">
                <a:latin typeface="Calibri"/>
                <a:cs typeface="Calibri"/>
              </a:rPr>
              <a:t> </a:t>
            </a:r>
            <a:r>
              <a:rPr sz="2198" spc="-7" dirty="0">
                <a:latin typeface="Calibri"/>
                <a:cs typeface="Calibri"/>
              </a:rPr>
              <a:t>training</a:t>
            </a:r>
            <a:endParaRPr sz="2198" dirty="0">
              <a:latin typeface="Calibri"/>
              <a:cs typeface="Calibri"/>
            </a:endParaRPr>
          </a:p>
        </p:txBody>
      </p:sp>
    </p:spTree>
    <p:extLst>
      <p:ext uri="{BB962C8B-B14F-4D97-AF65-F5344CB8AC3E}">
        <p14:creationId xmlns:p14="http://schemas.microsoft.com/office/powerpoint/2010/main" val="6298926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subTitle" idx="4"/>
          </p:nvPr>
        </p:nvSpPr>
        <p:spPr>
          <a:xfrm>
            <a:off x="1506840" y="4198809"/>
            <a:ext cx="15968070" cy="672502"/>
          </a:xfrm>
          <a:prstGeom prst="rect">
            <a:avLst/>
          </a:prstGeom>
        </p:spPr>
        <p:txBody>
          <a:bodyPr vert="horz" wrap="square" lIns="0" tIns="6106" rIns="0" bIns="0" rtlCol="0">
            <a:spAutoFit/>
          </a:bodyPr>
          <a:lstStyle/>
          <a:p>
            <a:pPr marL="7828016" marR="6978" indent="-1540481">
              <a:lnSpc>
                <a:spcPct val="101600"/>
              </a:lnSpc>
              <a:spcBef>
                <a:spcPts val="48"/>
              </a:spcBef>
            </a:pPr>
            <a:r>
              <a:rPr spc="-7" dirty="0">
                <a:solidFill>
                  <a:srgbClr val="A50021"/>
                </a:solidFill>
                <a:latin typeface="Calibri"/>
                <a:cs typeface="Calibri"/>
              </a:rPr>
              <a:t>Generalization</a:t>
            </a:r>
            <a:r>
              <a:rPr spc="-103" dirty="0">
                <a:solidFill>
                  <a:srgbClr val="A50021"/>
                </a:solidFill>
                <a:latin typeface="Calibri"/>
                <a:cs typeface="Calibri"/>
              </a:rPr>
              <a:t> </a:t>
            </a:r>
            <a:r>
              <a:rPr dirty="0">
                <a:solidFill>
                  <a:srgbClr val="A50021"/>
                </a:solidFill>
                <a:latin typeface="Calibri"/>
                <a:cs typeface="Calibri"/>
              </a:rPr>
              <a:t>and </a:t>
            </a:r>
            <a:r>
              <a:rPr spc="-975" dirty="0">
                <a:solidFill>
                  <a:srgbClr val="A50021"/>
                </a:solidFill>
                <a:latin typeface="Calibri"/>
                <a:cs typeface="Calibri"/>
              </a:rPr>
              <a:t> </a:t>
            </a:r>
            <a:r>
              <a:rPr spc="-7" dirty="0">
                <a:solidFill>
                  <a:srgbClr val="A50021"/>
                </a:solidFill>
                <a:latin typeface="Calibri"/>
                <a:cs typeface="Calibri"/>
              </a:rPr>
              <a:t>zeros</a:t>
            </a:r>
          </a:p>
        </p:txBody>
      </p:sp>
      <p:sp>
        <p:nvSpPr>
          <p:cNvPr id="3" name="object 3"/>
          <p:cNvSpPr txBox="1"/>
          <p:nvPr/>
        </p:nvSpPr>
        <p:spPr>
          <a:xfrm>
            <a:off x="7994328" y="1634179"/>
            <a:ext cx="3069705" cy="1873466"/>
          </a:xfrm>
          <a:prstGeom prst="rect">
            <a:avLst/>
          </a:prstGeom>
        </p:spPr>
        <p:txBody>
          <a:bodyPr vert="horz" wrap="square" lIns="0" tIns="13085" rIns="0" bIns="0" rtlCol="0">
            <a:spAutoFit/>
          </a:bodyPr>
          <a:lstStyle/>
          <a:p>
            <a:pPr marL="17446" marR="6978" indent="6978">
              <a:lnSpc>
                <a:spcPct val="100400"/>
              </a:lnSpc>
              <a:spcBef>
                <a:spcPts val="103"/>
              </a:spcBef>
            </a:pPr>
            <a:r>
              <a:rPr sz="6044" b="1" dirty="0">
                <a:latin typeface="Calibri"/>
                <a:cs typeface="Calibri"/>
              </a:rPr>
              <a:t>Language  </a:t>
            </a:r>
            <a:r>
              <a:rPr sz="6044" b="1" spc="-7" dirty="0">
                <a:latin typeface="Calibri"/>
                <a:cs typeface="Calibri"/>
              </a:rPr>
              <a:t>Mode</a:t>
            </a:r>
            <a:r>
              <a:rPr sz="6044" b="1" dirty="0">
                <a:latin typeface="Calibri"/>
                <a:cs typeface="Calibri"/>
              </a:rPr>
              <a:t>li</a:t>
            </a:r>
            <a:r>
              <a:rPr sz="6044" b="1" spc="-7" dirty="0">
                <a:latin typeface="Calibri"/>
                <a:cs typeface="Calibri"/>
              </a:rPr>
              <a:t>n</a:t>
            </a:r>
            <a:r>
              <a:rPr sz="6044" b="1" dirty="0">
                <a:latin typeface="Calibri"/>
                <a:cs typeface="Calibri"/>
              </a:rPr>
              <a:t>g</a:t>
            </a:r>
            <a:endParaRPr sz="6044">
              <a:latin typeface="Calibri"/>
              <a:cs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subTitle" idx="4"/>
          </p:nvPr>
        </p:nvSpPr>
        <p:spPr>
          <a:xfrm>
            <a:off x="203200" y="3886200"/>
            <a:ext cx="15968070" cy="1362499"/>
          </a:xfrm>
          <a:prstGeom prst="rect">
            <a:avLst/>
          </a:prstGeom>
        </p:spPr>
        <p:txBody>
          <a:bodyPr vert="horz" wrap="square" lIns="0" tIns="6106" rIns="0" bIns="0" rtlCol="0">
            <a:spAutoFit/>
          </a:bodyPr>
          <a:lstStyle/>
          <a:p>
            <a:pPr marL="6137499" marR="6978" indent="-45360">
              <a:lnSpc>
                <a:spcPct val="101600"/>
              </a:lnSpc>
              <a:spcBef>
                <a:spcPts val="48"/>
              </a:spcBef>
            </a:pPr>
            <a:r>
              <a:rPr spc="-7" dirty="0">
                <a:solidFill>
                  <a:srgbClr val="A50021"/>
                </a:solidFill>
                <a:latin typeface="Calibri"/>
                <a:cs typeface="Calibri"/>
              </a:rPr>
              <a:t>Smoothing:</a:t>
            </a:r>
            <a:r>
              <a:rPr spc="-69" dirty="0">
                <a:solidFill>
                  <a:srgbClr val="A50021"/>
                </a:solidFill>
                <a:latin typeface="Calibri"/>
                <a:cs typeface="Calibri"/>
              </a:rPr>
              <a:t> </a:t>
            </a:r>
            <a:endParaRPr lang="en-US" spc="-69" dirty="0">
              <a:solidFill>
                <a:srgbClr val="A50021"/>
              </a:solidFill>
              <a:latin typeface="Calibri"/>
              <a:cs typeface="Calibri"/>
            </a:endParaRPr>
          </a:p>
          <a:p>
            <a:pPr marL="6137499" marR="6978" indent="-45360">
              <a:lnSpc>
                <a:spcPct val="101600"/>
              </a:lnSpc>
              <a:spcBef>
                <a:spcPts val="48"/>
              </a:spcBef>
            </a:pPr>
            <a:r>
              <a:rPr spc="-302" dirty="0">
                <a:solidFill>
                  <a:srgbClr val="A50021"/>
                </a:solidFill>
                <a:latin typeface="Calibri"/>
                <a:cs typeface="Calibri"/>
              </a:rPr>
              <a:t>Add-­‐one </a:t>
            </a:r>
            <a:r>
              <a:rPr spc="-975" dirty="0">
                <a:solidFill>
                  <a:srgbClr val="A50021"/>
                </a:solidFill>
                <a:latin typeface="Calibri"/>
                <a:cs typeface="Calibri"/>
              </a:rPr>
              <a:t> </a:t>
            </a:r>
            <a:r>
              <a:rPr spc="-7" dirty="0">
                <a:solidFill>
                  <a:srgbClr val="A50021"/>
                </a:solidFill>
                <a:latin typeface="Calibri"/>
                <a:cs typeface="Calibri"/>
              </a:rPr>
              <a:t>(Laplace)</a:t>
            </a:r>
            <a:r>
              <a:rPr spc="-34" dirty="0">
                <a:solidFill>
                  <a:srgbClr val="A50021"/>
                </a:solidFill>
                <a:latin typeface="Calibri"/>
                <a:cs typeface="Calibri"/>
              </a:rPr>
              <a:t> </a:t>
            </a:r>
            <a:r>
              <a:rPr spc="-7" dirty="0">
                <a:solidFill>
                  <a:srgbClr val="A50021"/>
                </a:solidFill>
                <a:latin typeface="Calibri"/>
                <a:cs typeface="Calibri"/>
              </a:rPr>
              <a:t>smoothing</a:t>
            </a:r>
          </a:p>
        </p:txBody>
      </p:sp>
      <p:sp>
        <p:nvSpPr>
          <p:cNvPr id="3" name="object 3"/>
          <p:cNvSpPr txBox="1"/>
          <p:nvPr/>
        </p:nvSpPr>
        <p:spPr>
          <a:xfrm>
            <a:off x="7994328" y="1634179"/>
            <a:ext cx="3069705" cy="1873466"/>
          </a:xfrm>
          <a:prstGeom prst="rect">
            <a:avLst/>
          </a:prstGeom>
        </p:spPr>
        <p:txBody>
          <a:bodyPr vert="horz" wrap="square" lIns="0" tIns="13085" rIns="0" bIns="0" rtlCol="0">
            <a:spAutoFit/>
          </a:bodyPr>
          <a:lstStyle/>
          <a:p>
            <a:pPr marL="17446" marR="6978" indent="6978">
              <a:lnSpc>
                <a:spcPct val="100400"/>
              </a:lnSpc>
              <a:spcBef>
                <a:spcPts val="103"/>
              </a:spcBef>
            </a:pPr>
            <a:r>
              <a:rPr sz="6044" b="1" dirty="0">
                <a:latin typeface="Calibri"/>
                <a:cs typeface="Calibri"/>
              </a:rPr>
              <a:t>Language  </a:t>
            </a:r>
            <a:r>
              <a:rPr sz="6044" b="1" spc="-7" dirty="0">
                <a:latin typeface="Calibri"/>
                <a:cs typeface="Calibri"/>
              </a:rPr>
              <a:t>Mode</a:t>
            </a:r>
            <a:r>
              <a:rPr sz="6044" b="1" dirty="0">
                <a:latin typeface="Calibri"/>
                <a:cs typeface="Calibri"/>
              </a:rPr>
              <a:t>li</a:t>
            </a:r>
            <a:r>
              <a:rPr sz="6044" b="1" spc="-7" dirty="0">
                <a:latin typeface="Calibri"/>
                <a:cs typeface="Calibri"/>
              </a:rPr>
              <a:t>n</a:t>
            </a:r>
            <a:r>
              <a:rPr sz="6044" b="1" dirty="0">
                <a:latin typeface="Calibri"/>
                <a:cs typeface="Calibri"/>
              </a:rPr>
              <a:t>g</a:t>
            </a:r>
            <a:endParaRPr sz="6044">
              <a:latin typeface="Calibri"/>
              <a:cs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972957"/>
            <a:ext cx="8687467" cy="524999"/>
          </a:xfrm>
          <a:prstGeom prst="rect">
            <a:avLst/>
          </a:prstGeom>
        </p:spPr>
        <p:txBody>
          <a:bodyPr vert="horz" wrap="square" lIns="0" tIns="17446" rIns="0" bIns="0" rtlCol="0">
            <a:spAutoFit/>
          </a:bodyPr>
          <a:lstStyle/>
          <a:p>
            <a:pPr marL="17446">
              <a:spcBef>
                <a:spcPts val="137"/>
              </a:spcBef>
            </a:pPr>
            <a:r>
              <a:rPr sz="3297" spc="-7" dirty="0"/>
              <a:t>The intuition</a:t>
            </a:r>
            <a:r>
              <a:rPr sz="3297" spc="-14" dirty="0"/>
              <a:t> </a:t>
            </a:r>
            <a:r>
              <a:rPr sz="3297" spc="-7" dirty="0"/>
              <a:t>of smoothing</a:t>
            </a:r>
            <a:r>
              <a:rPr sz="3297" spc="-14" dirty="0"/>
              <a:t> </a:t>
            </a:r>
            <a:r>
              <a:rPr sz="3297" spc="-7" dirty="0"/>
              <a:t>(from </a:t>
            </a:r>
            <a:r>
              <a:rPr sz="3297" dirty="0"/>
              <a:t>Dan</a:t>
            </a:r>
            <a:r>
              <a:rPr sz="3297" spc="-7" dirty="0"/>
              <a:t> Klein)</a:t>
            </a:r>
            <a:endParaRPr sz="3297"/>
          </a:p>
        </p:txBody>
      </p:sp>
      <p:sp>
        <p:nvSpPr>
          <p:cNvPr id="7" name="object 7"/>
          <p:cNvSpPr txBox="1"/>
          <p:nvPr/>
        </p:nvSpPr>
        <p:spPr>
          <a:xfrm>
            <a:off x="1838811" y="1686039"/>
            <a:ext cx="5887309" cy="5731643"/>
          </a:xfrm>
          <a:prstGeom prst="rect">
            <a:avLst/>
          </a:prstGeom>
        </p:spPr>
        <p:txBody>
          <a:bodyPr vert="horz" wrap="square" lIns="0" tIns="145678" rIns="0" bIns="0" rtlCol="0">
            <a:spAutoFit/>
          </a:bodyPr>
          <a:lstStyle/>
          <a:p>
            <a:pPr marL="488488" indent="-471042">
              <a:spcBef>
                <a:spcPts val="1147"/>
              </a:spcBef>
              <a:buClr>
                <a:srgbClr val="CC0000"/>
              </a:buClr>
              <a:buFont typeface="Times New Roman"/>
              <a:buChar char="•"/>
              <a:tabLst>
                <a:tab pos="487615" algn="l"/>
                <a:tab pos="488488" algn="l"/>
              </a:tabLst>
            </a:pPr>
            <a:r>
              <a:rPr sz="2473" spc="-7" dirty="0">
                <a:latin typeface="Calibri"/>
                <a:cs typeface="Calibri"/>
              </a:rPr>
              <a:t>When we have</a:t>
            </a:r>
            <a:r>
              <a:rPr sz="2473" dirty="0">
                <a:latin typeface="Calibri"/>
                <a:cs typeface="Calibri"/>
              </a:rPr>
              <a:t> </a:t>
            </a:r>
            <a:r>
              <a:rPr sz="2473" spc="-7" dirty="0">
                <a:latin typeface="Calibri"/>
                <a:cs typeface="Calibri"/>
              </a:rPr>
              <a:t>sparse statistics:</a:t>
            </a:r>
            <a:endParaRPr sz="2473">
              <a:latin typeface="Calibri"/>
              <a:cs typeface="Calibri"/>
            </a:endParaRPr>
          </a:p>
          <a:p>
            <a:pPr marL="2027224" marR="1982737" indent="-126483">
              <a:lnSpc>
                <a:spcPts val="2610"/>
              </a:lnSpc>
              <a:spcBef>
                <a:spcPts val="1010"/>
              </a:spcBef>
            </a:pPr>
            <a:r>
              <a:rPr sz="2198" dirty="0">
                <a:latin typeface="Calibri"/>
                <a:cs typeface="Calibri"/>
              </a:rPr>
              <a:t>P(w</a:t>
            </a:r>
            <a:r>
              <a:rPr sz="2198" spc="-48" dirty="0">
                <a:latin typeface="Calibri"/>
                <a:cs typeface="Calibri"/>
              </a:rPr>
              <a:t> </a:t>
            </a:r>
            <a:r>
              <a:rPr sz="2198" dirty="0">
                <a:latin typeface="Calibri"/>
                <a:cs typeface="Calibri"/>
              </a:rPr>
              <a:t>|</a:t>
            </a:r>
            <a:r>
              <a:rPr sz="2198" spc="-48" dirty="0">
                <a:latin typeface="Calibri"/>
                <a:cs typeface="Calibri"/>
              </a:rPr>
              <a:t> </a:t>
            </a:r>
            <a:r>
              <a:rPr sz="2198" dirty="0">
                <a:latin typeface="Calibri"/>
                <a:cs typeface="Calibri"/>
              </a:rPr>
              <a:t>denied</a:t>
            </a:r>
            <a:r>
              <a:rPr sz="2198" spc="-41" dirty="0">
                <a:latin typeface="Calibri"/>
                <a:cs typeface="Calibri"/>
              </a:rPr>
              <a:t> </a:t>
            </a:r>
            <a:r>
              <a:rPr sz="2198" dirty="0">
                <a:latin typeface="Calibri"/>
                <a:cs typeface="Calibri"/>
              </a:rPr>
              <a:t>the) </a:t>
            </a:r>
            <a:r>
              <a:rPr sz="2198" spc="-474" dirty="0">
                <a:latin typeface="Calibri"/>
                <a:cs typeface="Calibri"/>
              </a:rPr>
              <a:t> </a:t>
            </a:r>
            <a:r>
              <a:rPr sz="2198" dirty="0">
                <a:latin typeface="Calibri"/>
                <a:cs typeface="Calibri"/>
              </a:rPr>
              <a:t>3</a:t>
            </a:r>
            <a:r>
              <a:rPr sz="2198" spc="-14" dirty="0">
                <a:latin typeface="Calibri"/>
                <a:cs typeface="Calibri"/>
              </a:rPr>
              <a:t> </a:t>
            </a:r>
            <a:r>
              <a:rPr sz="2198" spc="-7" dirty="0">
                <a:latin typeface="Calibri"/>
                <a:cs typeface="Calibri"/>
              </a:rPr>
              <a:t>allegations</a:t>
            </a:r>
            <a:endParaRPr sz="2198">
              <a:latin typeface="Calibri"/>
              <a:cs typeface="Calibri"/>
            </a:endParaRPr>
          </a:p>
          <a:p>
            <a:pPr marL="2027224">
              <a:lnSpc>
                <a:spcPts val="2514"/>
              </a:lnSpc>
            </a:pPr>
            <a:r>
              <a:rPr sz="2198" dirty="0">
                <a:latin typeface="Calibri"/>
                <a:cs typeface="Calibri"/>
              </a:rPr>
              <a:t>2</a:t>
            </a:r>
            <a:r>
              <a:rPr sz="2198" spc="-48" dirty="0">
                <a:latin typeface="Calibri"/>
                <a:cs typeface="Calibri"/>
              </a:rPr>
              <a:t> </a:t>
            </a:r>
            <a:r>
              <a:rPr sz="2198" spc="-7" dirty="0">
                <a:latin typeface="Calibri"/>
                <a:cs typeface="Calibri"/>
              </a:rPr>
              <a:t>reports</a:t>
            </a:r>
            <a:endParaRPr sz="2198">
              <a:latin typeface="Calibri"/>
              <a:cs typeface="Calibri"/>
            </a:endParaRPr>
          </a:p>
          <a:p>
            <a:pPr marL="2027224">
              <a:lnSpc>
                <a:spcPts val="2610"/>
              </a:lnSpc>
            </a:pPr>
            <a:r>
              <a:rPr sz="2198" dirty="0">
                <a:latin typeface="Calibri"/>
                <a:cs typeface="Calibri"/>
              </a:rPr>
              <a:t>1</a:t>
            </a:r>
            <a:r>
              <a:rPr sz="2198" spc="-62" dirty="0">
                <a:latin typeface="Calibri"/>
                <a:cs typeface="Calibri"/>
              </a:rPr>
              <a:t> </a:t>
            </a:r>
            <a:r>
              <a:rPr sz="2198" dirty="0">
                <a:latin typeface="Calibri"/>
                <a:cs typeface="Calibri"/>
              </a:rPr>
              <a:t>claims</a:t>
            </a:r>
            <a:endParaRPr sz="2198">
              <a:latin typeface="Calibri"/>
              <a:cs typeface="Calibri"/>
            </a:endParaRPr>
          </a:p>
          <a:p>
            <a:pPr marL="2027224">
              <a:lnSpc>
                <a:spcPts val="2624"/>
              </a:lnSpc>
            </a:pPr>
            <a:r>
              <a:rPr sz="2198" dirty="0">
                <a:latin typeface="Calibri"/>
                <a:cs typeface="Calibri"/>
              </a:rPr>
              <a:t>1</a:t>
            </a:r>
            <a:r>
              <a:rPr sz="2198" spc="-41" dirty="0">
                <a:latin typeface="Calibri"/>
                <a:cs typeface="Calibri"/>
              </a:rPr>
              <a:t> </a:t>
            </a:r>
            <a:r>
              <a:rPr sz="2198" spc="-7" dirty="0">
                <a:latin typeface="Calibri"/>
                <a:cs typeface="Calibri"/>
              </a:rPr>
              <a:t>request</a:t>
            </a:r>
            <a:endParaRPr sz="2198">
              <a:latin typeface="Calibri"/>
              <a:cs typeface="Calibri"/>
            </a:endParaRPr>
          </a:p>
          <a:p>
            <a:pPr marL="2027224">
              <a:spcBef>
                <a:spcPts val="659"/>
              </a:spcBef>
            </a:pPr>
            <a:r>
              <a:rPr sz="2198" dirty="0">
                <a:latin typeface="Calibri"/>
                <a:cs typeface="Calibri"/>
              </a:rPr>
              <a:t>7</a:t>
            </a:r>
            <a:r>
              <a:rPr sz="2198" spc="-62" dirty="0">
                <a:latin typeface="Calibri"/>
                <a:cs typeface="Calibri"/>
              </a:rPr>
              <a:t> </a:t>
            </a:r>
            <a:r>
              <a:rPr sz="2198" dirty="0">
                <a:latin typeface="Calibri"/>
                <a:cs typeface="Calibri"/>
              </a:rPr>
              <a:t>total</a:t>
            </a:r>
            <a:endParaRPr sz="2198">
              <a:latin typeface="Calibri"/>
              <a:cs typeface="Calibri"/>
            </a:endParaRPr>
          </a:p>
          <a:p>
            <a:pPr marL="488488" indent="-471042">
              <a:spcBef>
                <a:spcPts val="1092"/>
              </a:spcBef>
              <a:buClr>
                <a:srgbClr val="CC0000"/>
              </a:buClr>
              <a:buFont typeface="Times New Roman"/>
              <a:buChar char="•"/>
              <a:tabLst>
                <a:tab pos="487615" algn="l"/>
                <a:tab pos="488488" algn="l"/>
              </a:tabLst>
            </a:pPr>
            <a:r>
              <a:rPr sz="2473" spc="-7" dirty="0">
                <a:latin typeface="Calibri"/>
                <a:cs typeface="Calibri"/>
              </a:rPr>
              <a:t>Steal</a:t>
            </a:r>
            <a:r>
              <a:rPr sz="2473" spc="7" dirty="0">
                <a:latin typeface="Calibri"/>
                <a:cs typeface="Calibri"/>
              </a:rPr>
              <a:t> </a:t>
            </a:r>
            <a:r>
              <a:rPr sz="2473" spc="-7" dirty="0">
                <a:latin typeface="Calibri"/>
                <a:cs typeface="Calibri"/>
              </a:rPr>
              <a:t>probability</a:t>
            </a:r>
            <a:r>
              <a:rPr sz="2473" spc="7" dirty="0">
                <a:latin typeface="Calibri"/>
                <a:cs typeface="Calibri"/>
              </a:rPr>
              <a:t> </a:t>
            </a:r>
            <a:r>
              <a:rPr sz="2473" spc="-7" dirty="0">
                <a:latin typeface="Calibri"/>
                <a:cs typeface="Calibri"/>
              </a:rPr>
              <a:t>mass</a:t>
            </a:r>
            <a:r>
              <a:rPr sz="2473" spc="14" dirty="0">
                <a:latin typeface="Calibri"/>
                <a:cs typeface="Calibri"/>
              </a:rPr>
              <a:t> </a:t>
            </a:r>
            <a:r>
              <a:rPr sz="2473" dirty="0">
                <a:latin typeface="Calibri"/>
                <a:cs typeface="Calibri"/>
              </a:rPr>
              <a:t>to</a:t>
            </a:r>
            <a:r>
              <a:rPr sz="2473" spc="14" dirty="0">
                <a:latin typeface="Calibri"/>
                <a:cs typeface="Calibri"/>
              </a:rPr>
              <a:t> </a:t>
            </a:r>
            <a:r>
              <a:rPr sz="2473" spc="-7" dirty="0">
                <a:latin typeface="Calibri"/>
                <a:cs typeface="Calibri"/>
              </a:rPr>
              <a:t>generalize</a:t>
            </a:r>
            <a:r>
              <a:rPr sz="2473" spc="7" dirty="0">
                <a:latin typeface="Calibri"/>
                <a:cs typeface="Calibri"/>
              </a:rPr>
              <a:t> </a:t>
            </a:r>
            <a:r>
              <a:rPr sz="2473" spc="-21" dirty="0">
                <a:latin typeface="Calibri"/>
                <a:cs typeface="Calibri"/>
              </a:rPr>
              <a:t>better</a:t>
            </a:r>
            <a:endParaRPr sz="2473">
              <a:latin typeface="Calibri"/>
              <a:cs typeface="Calibri"/>
            </a:endParaRPr>
          </a:p>
          <a:p>
            <a:pPr marL="2006289">
              <a:lnSpc>
                <a:spcPts val="2624"/>
              </a:lnSpc>
              <a:spcBef>
                <a:spcPts val="172"/>
              </a:spcBef>
            </a:pPr>
            <a:r>
              <a:rPr sz="2198" dirty="0">
                <a:latin typeface="Calibri"/>
                <a:cs typeface="Calibri"/>
              </a:rPr>
              <a:t>P(w</a:t>
            </a:r>
            <a:r>
              <a:rPr sz="2198" spc="-34" dirty="0">
                <a:latin typeface="Calibri"/>
                <a:cs typeface="Calibri"/>
              </a:rPr>
              <a:t> </a:t>
            </a:r>
            <a:r>
              <a:rPr sz="2198" dirty="0">
                <a:latin typeface="Calibri"/>
                <a:cs typeface="Calibri"/>
              </a:rPr>
              <a:t>|</a:t>
            </a:r>
            <a:r>
              <a:rPr sz="2198" spc="-27" dirty="0">
                <a:latin typeface="Calibri"/>
                <a:cs typeface="Calibri"/>
              </a:rPr>
              <a:t> </a:t>
            </a:r>
            <a:r>
              <a:rPr sz="2198" dirty="0">
                <a:latin typeface="Calibri"/>
                <a:cs typeface="Calibri"/>
              </a:rPr>
              <a:t>denied</a:t>
            </a:r>
            <a:r>
              <a:rPr sz="2198" spc="-34" dirty="0">
                <a:latin typeface="Calibri"/>
                <a:cs typeface="Calibri"/>
              </a:rPr>
              <a:t> </a:t>
            </a:r>
            <a:r>
              <a:rPr sz="2198" dirty="0">
                <a:latin typeface="Calibri"/>
                <a:cs typeface="Calibri"/>
              </a:rPr>
              <a:t>the)</a:t>
            </a:r>
            <a:endParaRPr sz="2198">
              <a:latin typeface="Calibri"/>
              <a:cs typeface="Calibri"/>
            </a:endParaRPr>
          </a:p>
          <a:p>
            <a:pPr marL="2131900">
              <a:lnSpc>
                <a:spcPts val="2610"/>
              </a:lnSpc>
            </a:pPr>
            <a:r>
              <a:rPr sz="2198" spc="-7" dirty="0">
                <a:latin typeface="Calibri"/>
                <a:cs typeface="Calibri"/>
              </a:rPr>
              <a:t>2.5</a:t>
            </a:r>
            <a:r>
              <a:rPr sz="2198" spc="-34" dirty="0">
                <a:latin typeface="Calibri"/>
                <a:cs typeface="Calibri"/>
              </a:rPr>
              <a:t> </a:t>
            </a:r>
            <a:r>
              <a:rPr sz="2198" spc="-7" dirty="0">
                <a:latin typeface="Calibri"/>
                <a:cs typeface="Calibri"/>
              </a:rPr>
              <a:t>allegations</a:t>
            </a:r>
            <a:endParaRPr sz="2198">
              <a:latin typeface="Calibri"/>
              <a:cs typeface="Calibri"/>
            </a:endParaRPr>
          </a:p>
          <a:p>
            <a:pPr marL="2131900">
              <a:lnSpc>
                <a:spcPts val="2610"/>
              </a:lnSpc>
            </a:pPr>
            <a:r>
              <a:rPr sz="2198" spc="-7" dirty="0">
                <a:latin typeface="Calibri"/>
                <a:cs typeface="Calibri"/>
              </a:rPr>
              <a:t>1.5</a:t>
            </a:r>
            <a:r>
              <a:rPr sz="2198" spc="-48" dirty="0">
                <a:latin typeface="Calibri"/>
                <a:cs typeface="Calibri"/>
              </a:rPr>
              <a:t> </a:t>
            </a:r>
            <a:r>
              <a:rPr sz="2198" spc="-7" dirty="0">
                <a:latin typeface="Calibri"/>
                <a:cs typeface="Calibri"/>
              </a:rPr>
              <a:t>reports</a:t>
            </a:r>
            <a:endParaRPr sz="2198">
              <a:latin typeface="Calibri"/>
              <a:cs typeface="Calibri"/>
            </a:endParaRPr>
          </a:p>
          <a:p>
            <a:pPr marL="2131900">
              <a:lnSpc>
                <a:spcPts val="2610"/>
              </a:lnSpc>
            </a:pPr>
            <a:r>
              <a:rPr sz="2198" spc="-7" dirty="0">
                <a:latin typeface="Calibri"/>
                <a:cs typeface="Calibri"/>
              </a:rPr>
              <a:t>0.5</a:t>
            </a:r>
            <a:r>
              <a:rPr sz="2198" spc="-55" dirty="0">
                <a:latin typeface="Calibri"/>
                <a:cs typeface="Calibri"/>
              </a:rPr>
              <a:t> </a:t>
            </a:r>
            <a:r>
              <a:rPr sz="2198" dirty="0">
                <a:latin typeface="Calibri"/>
                <a:cs typeface="Calibri"/>
              </a:rPr>
              <a:t>claims</a:t>
            </a:r>
            <a:endParaRPr sz="2198">
              <a:latin typeface="Calibri"/>
              <a:cs typeface="Calibri"/>
            </a:endParaRPr>
          </a:p>
          <a:p>
            <a:pPr marL="2131900">
              <a:lnSpc>
                <a:spcPts val="2624"/>
              </a:lnSpc>
            </a:pPr>
            <a:r>
              <a:rPr sz="2198" spc="-7" dirty="0">
                <a:latin typeface="Calibri"/>
                <a:cs typeface="Calibri"/>
              </a:rPr>
              <a:t>0.5</a:t>
            </a:r>
            <a:r>
              <a:rPr sz="2198" spc="-41" dirty="0">
                <a:latin typeface="Calibri"/>
                <a:cs typeface="Calibri"/>
              </a:rPr>
              <a:t> </a:t>
            </a:r>
            <a:r>
              <a:rPr sz="2198" spc="-7" dirty="0">
                <a:latin typeface="Calibri"/>
                <a:cs typeface="Calibri"/>
              </a:rPr>
              <a:t>request</a:t>
            </a:r>
            <a:endParaRPr sz="2198">
              <a:latin typeface="Calibri"/>
              <a:cs typeface="Calibri"/>
            </a:endParaRPr>
          </a:p>
          <a:p>
            <a:pPr marL="2131900">
              <a:spcBef>
                <a:spcPts val="110"/>
              </a:spcBef>
            </a:pPr>
            <a:r>
              <a:rPr sz="2198" dirty="0">
                <a:solidFill>
                  <a:srgbClr val="CC0000"/>
                </a:solidFill>
                <a:latin typeface="Calibri"/>
                <a:cs typeface="Calibri"/>
              </a:rPr>
              <a:t>2</a:t>
            </a:r>
            <a:r>
              <a:rPr sz="2198" spc="-48" dirty="0">
                <a:solidFill>
                  <a:srgbClr val="CC0000"/>
                </a:solidFill>
                <a:latin typeface="Calibri"/>
                <a:cs typeface="Calibri"/>
              </a:rPr>
              <a:t> </a:t>
            </a:r>
            <a:r>
              <a:rPr sz="2198" spc="-7" dirty="0">
                <a:solidFill>
                  <a:srgbClr val="CC0000"/>
                </a:solidFill>
                <a:latin typeface="Calibri"/>
                <a:cs typeface="Calibri"/>
              </a:rPr>
              <a:t>other</a:t>
            </a:r>
            <a:endParaRPr sz="2198">
              <a:latin typeface="Calibri"/>
              <a:cs typeface="Calibri"/>
            </a:endParaRPr>
          </a:p>
          <a:p>
            <a:pPr marL="2131900">
              <a:spcBef>
                <a:spcPts val="659"/>
              </a:spcBef>
            </a:pPr>
            <a:r>
              <a:rPr sz="2198" dirty="0">
                <a:latin typeface="Calibri"/>
                <a:cs typeface="Calibri"/>
              </a:rPr>
              <a:t>7</a:t>
            </a:r>
            <a:r>
              <a:rPr sz="2198" spc="-62" dirty="0">
                <a:latin typeface="Calibri"/>
                <a:cs typeface="Calibri"/>
              </a:rPr>
              <a:t> </a:t>
            </a:r>
            <a:r>
              <a:rPr sz="2198" dirty="0">
                <a:latin typeface="Calibri"/>
                <a:cs typeface="Calibri"/>
              </a:rPr>
              <a:t>total</a:t>
            </a:r>
            <a:endParaRPr sz="2198">
              <a:latin typeface="Calibri"/>
              <a:cs typeface="Calibri"/>
            </a:endParaRPr>
          </a:p>
        </p:txBody>
      </p:sp>
      <p:grpSp>
        <p:nvGrpSpPr>
          <p:cNvPr id="8" name="object 8"/>
          <p:cNvGrpSpPr/>
          <p:nvPr/>
        </p:nvGrpSpPr>
        <p:grpSpPr>
          <a:xfrm>
            <a:off x="7111614" y="1889333"/>
            <a:ext cx="5456382" cy="2316018"/>
            <a:chOff x="5176836" y="2432598"/>
            <a:chExt cx="3971925" cy="1685925"/>
          </a:xfrm>
        </p:grpSpPr>
        <p:sp>
          <p:nvSpPr>
            <p:cNvPr id="9" name="object 9"/>
            <p:cNvSpPr/>
            <p:nvPr/>
          </p:nvSpPr>
          <p:spPr>
            <a:xfrm>
              <a:off x="5181598" y="2437360"/>
              <a:ext cx="3962400" cy="1676400"/>
            </a:xfrm>
            <a:custGeom>
              <a:avLst/>
              <a:gdLst/>
              <a:ahLst/>
              <a:cxnLst/>
              <a:rect l="l" t="t" r="r" b="b"/>
              <a:pathLst>
                <a:path w="3962400" h="1676400">
                  <a:moveTo>
                    <a:pt x="0" y="0"/>
                  </a:moveTo>
                  <a:lnTo>
                    <a:pt x="3962398" y="0"/>
                  </a:lnTo>
                  <a:lnTo>
                    <a:pt x="3962398" y="1676399"/>
                  </a:lnTo>
                  <a:lnTo>
                    <a:pt x="0" y="1676399"/>
                  </a:lnTo>
                  <a:lnTo>
                    <a:pt x="0" y="0"/>
                  </a:lnTo>
                  <a:close/>
                </a:path>
              </a:pathLst>
            </a:custGeom>
            <a:ln w="9524">
              <a:solidFill>
                <a:srgbClr val="000000"/>
              </a:solidFill>
            </a:ln>
          </p:spPr>
          <p:txBody>
            <a:bodyPr wrap="square" lIns="0" tIns="0" rIns="0" bIns="0" rtlCol="0"/>
            <a:lstStyle/>
            <a:p>
              <a:endParaRPr sz="2473"/>
            </a:p>
          </p:txBody>
        </p:sp>
        <p:sp>
          <p:nvSpPr>
            <p:cNvPr id="10" name="object 10"/>
            <p:cNvSpPr/>
            <p:nvPr/>
          </p:nvSpPr>
          <p:spPr>
            <a:xfrm>
              <a:off x="5334000" y="2589761"/>
              <a:ext cx="381000" cy="1524000"/>
            </a:xfrm>
            <a:custGeom>
              <a:avLst/>
              <a:gdLst/>
              <a:ahLst/>
              <a:cxnLst/>
              <a:rect l="l" t="t" r="r" b="b"/>
              <a:pathLst>
                <a:path w="381000" h="1524000">
                  <a:moveTo>
                    <a:pt x="381000" y="0"/>
                  </a:moveTo>
                  <a:lnTo>
                    <a:pt x="0" y="0"/>
                  </a:lnTo>
                  <a:lnTo>
                    <a:pt x="0" y="1524000"/>
                  </a:lnTo>
                  <a:lnTo>
                    <a:pt x="381000" y="1524000"/>
                  </a:lnTo>
                  <a:lnTo>
                    <a:pt x="381000" y="0"/>
                  </a:lnTo>
                  <a:close/>
                </a:path>
              </a:pathLst>
            </a:custGeom>
            <a:solidFill>
              <a:srgbClr val="B51826"/>
            </a:solidFill>
          </p:spPr>
          <p:txBody>
            <a:bodyPr wrap="square" lIns="0" tIns="0" rIns="0" bIns="0" rtlCol="0"/>
            <a:lstStyle/>
            <a:p>
              <a:endParaRPr sz="2473"/>
            </a:p>
          </p:txBody>
        </p:sp>
        <p:sp>
          <p:nvSpPr>
            <p:cNvPr id="11" name="object 11"/>
            <p:cNvSpPr/>
            <p:nvPr/>
          </p:nvSpPr>
          <p:spPr>
            <a:xfrm>
              <a:off x="5334000" y="2589761"/>
              <a:ext cx="381000" cy="1524000"/>
            </a:xfrm>
            <a:custGeom>
              <a:avLst/>
              <a:gdLst/>
              <a:ahLst/>
              <a:cxnLst/>
              <a:rect l="l" t="t" r="r" b="b"/>
              <a:pathLst>
                <a:path w="381000" h="1524000">
                  <a:moveTo>
                    <a:pt x="0" y="1523999"/>
                  </a:moveTo>
                  <a:lnTo>
                    <a:pt x="0" y="0"/>
                  </a:lnTo>
                  <a:lnTo>
                    <a:pt x="380999" y="0"/>
                  </a:lnTo>
                  <a:lnTo>
                    <a:pt x="380999" y="1523999"/>
                  </a:lnTo>
                  <a:lnTo>
                    <a:pt x="0" y="1523999"/>
                  </a:lnTo>
                  <a:close/>
                </a:path>
              </a:pathLst>
            </a:custGeom>
            <a:ln w="9524">
              <a:solidFill>
                <a:srgbClr val="000000"/>
              </a:solidFill>
            </a:ln>
          </p:spPr>
          <p:txBody>
            <a:bodyPr wrap="square" lIns="0" tIns="0" rIns="0" bIns="0" rtlCol="0"/>
            <a:lstStyle/>
            <a:p>
              <a:endParaRPr sz="2473"/>
            </a:p>
          </p:txBody>
        </p:sp>
      </p:grpSp>
      <p:sp>
        <p:nvSpPr>
          <p:cNvPr id="12" name="object 12"/>
          <p:cNvSpPr txBox="1"/>
          <p:nvPr/>
        </p:nvSpPr>
        <p:spPr>
          <a:xfrm>
            <a:off x="7433324" y="2489159"/>
            <a:ext cx="295915" cy="1322442"/>
          </a:xfrm>
          <a:prstGeom prst="rect">
            <a:avLst/>
          </a:prstGeom>
        </p:spPr>
        <p:txBody>
          <a:bodyPr vert="vert270" wrap="square" lIns="0" tIns="8723" rIns="0" bIns="0" rtlCol="0">
            <a:spAutoFit/>
          </a:bodyPr>
          <a:lstStyle/>
          <a:p>
            <a:pPr marL="17446">
              <a:spcBef>
                <a:spcPts val="69"/>
              </a:spcBef>
            </a:pPr>
            <a:r>
              <a:rPr sz="1923" spc="-7" dirty="0">
                <a:latin typeface="Lucida Sans Unicode"/>
                <a:cs typeface="Lucida Sans Unicode"/>
              </a:rPr>
              <a:t>allegations</a:t>
            </a:r>
            <a:endParaRPr sz="1923">
              <a:latin typeface="Lucida Sans Unicode"/>
              <a:cs typeface="Lucida Sans Unicode"/>
            </a:endParaRPr>
          </a:p>
        </p:txBody>
      </p:sp>
      <p:grpSp>
        <p:nvGrpSpPr>
          <p:cNvPr id="13" name="object 13"/>
          <p:cNvGrpSpPr/>
          <p:nvPr/>
        </p:nvGrpSpPr>
        <p:grpSpPr>
          <a:xfrm>
            <a:off x="7949044" y="2726764"/>
            <a:ext cx="536479" cy="1478588"/>
            <a:chOff x="5786436" y="3042198"/>
            <a:chExt cx="390525" cy="1076325"/>
          </a:xfrm>
        </p:grpSpPr>
        <p:sp>
          <p:nvSpPr>
            <p:cNvPr id="14" name="object 14"/>
            <p:cNvSpPr/>
            <p:nvPr/>
          </p:nvSpPr>
          <p:spPr>
            <a:xfrm>
              <a:off x="5791198" y="3046961"/>
              <a:ext cx="381000" cy="1066800"/>
            </a:xfrm>
            <a:custGeom>
              <a:avLst/>
              <a:gdLst/>
              <a:ahLst/>
              <a:cxnLst/>
              <a:rect l="l" t="t" r="r" b="b"/>
              <a:pathLst>
                <a:path w="381000" h="1066800">
                  <a:moveTo>
                    <a:pt x="381000" y="0"/>
                  </a:moveTo>
                  <a:lnTo>
                    <a:pt x="0" y="0"/>
                  </a:lnTo>
                  <a:lnTo>
                    <a:pt x="0" y="1066800"/>
                  </a:lnTo>
                  <a:lnTo>
                    <a:pt x="381000" y="1066800"/>
                  </a:lnTo>
                  <a:lnTo>
                    <a:pt x="381000" y="0"/>
                  </a:lnTo>
                  <a:close/>
                </a:path>
              </a:pathLst>
            </a:custGeom>
            <a:solidFill>
              <a:srgbClr val="B51826"/>
            </a:solidFill>
          </p:spPr>
          <p:txBody>
            <a:bodyPr wrap="square" lIns="0" tIns="0" rIns="0" bIns="0" rtlCol="0"/>
            <a:lstStyle/>
            <a:p>
              <a:endParaRPr sz="2473"/>
            </a:p>
          </p:txBody>
        </p:sp>
        <p:sp>
          <p:nvSpPr>
            <p:cNvPr id="15" name="object 15"/>
            <p:cNvSpPr/>
            <p:nvPr/>
          </p:nvSpPr>
          <p:spPr>
            <a:xfrm>
              <a:off x="5791198" y="3046961"/>
              <a:ext cx="381000" cy="1066800"/>
            </a:xfrm>
            <a:custGeom>
              <a:avLst/>
              <a:gdLst/>
              <a:ahLst/>
              <a:cxnLst/>
              <a:rect l="l" t="t" r="r" b="b"/>
              <a:pathLst>
                <a:path w="381000" h="1066800">
                  <a:moveTo>
                    <a:pt x="0" y="1066799"/>
                  </a:moveTo>
                  <a:lnTo>
                    <a:pt x="0" y="0"/>
                  </a:lnTo>
                  <a:lnTo>
                    <a:pt x="380999" y="0"/>
                  </a:lnTo>
                  <a:lnTo>
                    <a:pt x="380999" y="1066799"/>
                  </a:lnTo>
                  <a:lnTo>
                    <a:pt x="0" y="1066799"/>
                  </a:lnTo>
                  <a:close/>
                </a:path>
              </a:pathLst>
            </a:custGeom>
            <a:ln w="9524">
              <a:solidFill>
                <a:srgbClr val="000000"/>
              </a:solidFill>
            </a:ln>
          </p:spPr>
          <p:txBody>
            <a:bodyPr wrap="square" lIns="0" tIns="0" rIns="0" bIns="0" rtlCol="0"/>
            <a:lstStyle/>
            <a:p>
              <a:endParaRPr sz="2473"/>
            </a:p>
          </p:txBody>
        </p:sp>
      </p:grpSp>
      <p:sp>
        <p:nvSpPr>
          <p:cNvPr id="16" name="object 16"/>
          <p:cNvSpPr txBox="1"/>
          <p:nvPr/>
        </p:nvSpPr>
        <p:spPr>
          <a:xfrm>
            <a:off x="8061396" y="3025687"/>
            <a:ext cx="295915" cy="890642"/>
          </a:xfrm>
          <a:prstGeom prst="rect">
            <a:avLst/>
          </a:prstGeom>
        </p:spPr>
        <p:txBody>
          <a:bodyPr vert="vert270" wrap="square" lIns="0" tIns="8723" rIns="0" bIns="0" rtlCol="0">
            <a:spAutoFit/>
          </a:bodyPr>
          <a:lstStyle/>
          <a:p>
            <a:pPr marL="17446">
              <a:spcBef>
                <a:spcPts val="69"/>
              </a:spcBef>
            </a:pPr>
            <a:r>
              <a:rPr sz="1923" dirty="0">
                <a:latin typeface="Lucida Sans Unicode"/>
                <a:cs typeface="Lucida Sans Unicode"/>
              </a:rPr>
              <a:t>reports</a:t>
            </a:r>
            <a:endParaRPr sz="1923">
              <a:latin typeface="Lucida Sans Unicode"/>
              <a:cs typeface="Lucida Sans Unicode"/>
            </a:endParaRPr>
          </a:p>
        </p:txBody>
      </p:sp>
      <p:grpSp>
        <p:nvGrpSpPr>
          <p:cNvPr id="17" name="object 17"/>
          <p:cNvGrpSpPr/>
          <p:nvPr/>
        </p:nvGrpSpPr>
        <p:grpSpPr>
          <a:xfrm>
            <a:off x="8577115" y="3354836"/>
            <a:ext cx="536479" cy="850515"/>
            <a:chOff x="6243635" y="3499398"/>
            <a:chExt cx="390525" cy="619125"/>
          </a:xfrm>
        </p:grpSpPr>
        <p:sp>
          <p:nvSpPr>
            <p:cNvPr id="18" name="object 18"/>
            <p:cNvSpPr/>
            <p:nvPr/>
          </p:nvSpPr>
          <p:spPr>
            <a:xfrm>
              <a:off x="6248398" y="3504161"/>
              <a:ext cx="381000" cy="609600"/>
            </a:xfrm>
            <a:custGeom>
              <a:avLst/>
              <a:gdLst/>
              <a:ahLst/>
              <a:cxnLst/>
              <a:rect l="l" t="t" r="r" b="b"/>
              <a:pathLst>
                <a:path w="381000" h="609600">
                  <a:moveTo>
                    <a:pt x="381000" y="0"/>
                  </a:moveTo>
                  <a:lnTo>
                    <a:pt x="0" y="0"/>
                  </a:lnTo>
                  <a:lnTo>
                    <a:pt x="0" y="609600"/>
                  </a:lnTo>
                  <a:lnTo>
                    <a:pt x="381000" y="609600"/>
                  </a:lnTo>
                  <a:lnTo>
                    <a:pt x="381000" y="0"/>
                  </a:lnTo>
                  <a:close/>
                </a:path>
              </a:pathLst>
            </a:custGeom>
            <a:solidFill>
              <a:srgbClr val="B51826"/>
            </a:solidFill>
          </p:spPr>
          <p:txBody>
            <a:bodyPr wrap="square" lIns="0" tIns="0" rIns="0" bIns="0" rtlCol="0"/>
            <a:lstStyle/>
            <a:p>
              <a:endParaRPr sz="2473"/>
            </a:p>
          </p:txBody>
        </p:sp>
        <p:sp>
          <p:nvSpPr>
            <p:cNvPr id="19" name="object 19"/>
            <p:cNvSpPr/>
            <p:nvPr/>
          </p:nvSpPr>
          <p:spPr>
            <a:xfrm>
              <a:off x="6248398" y="3504161"/>
              <a:ext cx="381000" cy="609600"/>
            </a:xfrm>
            <a:custGeom>
              <a:avLst/>
              <a:gdLst/>
              <a:ahLst/>
              <a:cxnLst/>
              <a:rect l="l" t="t" r="r" b="b"/>
              <a:pathLst>
                <a:path w="381000" h="609600">
                  <a:moveTo>
                    <a:pt x="0" y="609599"/>
                  </a:moveTo>
                  <a:lnTo>
                    <a:pt x="0" y="0"/>
                  </a:lnTo>
                  <a:lnTo>
                    <a:pt x="381000" y="0"/>
                  </a:lnTo>
                  <a:lnTo>
                    <a:pt x="381000" y="609599"/>
                  </a:lnTo>
                  <a:lnTo>
                    <a:pt x="0" y="609599"/>
                  </a:lnTo>
                  <a:close/>
                </a:path>
              </a:pathLst>
            </a:custGeom>
            <a:ln w="9524">
              <a:solidFill>
                <a:srgbClr val="000000"/>
              </a:solidFill>
            </a:ln>
          </p:spPr>
          <p:txBody>
            <a:bodyPr wrap="square" lIns="0" tIns="0" rIns="0" bIns="0" rtlCol="0"/>
            <a:lstStyle/>
            <a:p>
              <a:endParaRPr sz="2473"/>
            </a:p>
          </p:txBody>
        </p:sp>
      </p:grpSp>
      <p:sp>
        <p:nvSpPr>
          <p:cNvPr id="20" name="object 20"/>
          <p:cNvSpPr txBox="1"/>
          <p:nvPr/>
        </p:nvSpPr>
        <p:spPr>
          <a:xfrm>
            <a:off x="8689469" y="3389491"/>
            <a:ext cx="813018" cy="788580"/>
          </a:xfrm>
          <a:prstGeom prst="rect">
            <a:avLst/>
          </a:prstGeom>
        </p:spPr>
        <p:txBody>
          <a:bodyPr vert="vert270" wrap="square" lIns="0" tIns="8723" rIns="0" bIns="0" rtlCol="0">
            <a:spAutoFit/>
          </a:bodyPr>
          <a:lstStyle/>
          <a:p>
            <a:pPr marL="17446">
              <a:spcBef>
                <a:spcPts val="69"/>
              </a:spcBef>
            </a:pPr>
            <a:r>
              <a:rPr sz="1923" dirty="0">
                <a:latin typeface="Lucida Sans Unicode"/>
                <a:cs typeface="Lucida Sans Unicode"/>
              </a:rPr>
              <a:t>clai</a:t>
            </a:r>
            <a:r>
              <a:rPr sz="1923" spc="-7" dirty="0">
                <a:latin typeface="Lucida Sans Unicode"/>
                <a:cs typeface="Lucida Sans Unicode"/>
              </a:rPr>
              <a:t>m</a:t>
            </a:r>
            <a:r>
              <a:rPr sz="1923" dirty="0">
                <a:latin typeface="Lucida Sans Unicode"/>
                <a:cs typeface="Lucida Sans Unicode"/>
              </a:rPr>
              <a:t>s</a:t>
            </a:r>
            <a:endParaRPr sz="1923">
              <a:latin typeface="Lucida Sans Unicode"/>
              <a:cs typeface="Lucida Sans Unicode"/>
            </a:endParaRPr>
          </a:p>
        </p:txBody>
      </p:sp>
      <p:grpSp>
        <p:nvGrpSpPr>
          <p:cNvPr id="21" name="object 21"/>
          <p:cNvGrpSpPr/>
          <p:nvPr/>
        </p:nvGrpSpPr>
        <p:grpSpPr>
          <a:xfrm>
            <a:off x="9205188" y="3354836"/>
            <a:ext cx="536479" cy="850515"/>
            <a:chOff x="6700835" y="3499398"/>
            <a:chExt cx="390525" cy="619125"/>
          </a:xfrm>
        </p:grpSpPr>
        <p:sp>
          <p:nvSpPr>
            <p:cNvPr id="22" name="object 22"/>
            <p:cNvSpPr/>
            <p:nvPr/>
          </p:nvSpPr>
          <p:spPr>
            <a:xfrm>
              <a:off x="6705598" y="3504161"/>
              <a:ext cx="381000" cy="609600"/>
            </a:xfrm>
            <a:custGeom>
              <a:avLst/>
              <a:gdLst/>
              <a:ahLst/>
              <a:cxnLst/>
              <a:rect l="l" t="t" r="r" b="b"/>
              <a:pathLst>
                <a:path w="381000" h="609600">
                  <a:moveTo>
                    <a:pt x="381000" y="0"/>
                  </a:moveTo>
                  <a:lnTo>
                    <a:pt x="0" y="0"/>
                  </a:lnTo>
                  <a:lnTo>
                    <a:pt x="0" y="609600"/>
                  </a:lnTo>
                  <a:lnTo>
                    <a:pt x="381000" y="609600"/>
                  </a:lnTo>
                  <a:lnTo>
                    <a:pt x="381000" y="0"/>
                  </a:lnTo>
                  <a:close/>
                </a:path>
              </a:pathLst>
            </a:custGeom>
            <a:solidFill>
              <a:srgbClr val="B51826"/>
            </a:solidFill>
          </p:spPr>
          <p:txBody>
            <a:bodyPr wrap="square" lIns="0" tIns="0" rIns="0" bIns="0" rtlCol="0"/>
            <a:lstStyle/>
            <a:p>
              <a:endParaRPr sz="2473"/>
            </a:p>
          </p:txBody>
        </p:sp>
        <p:sp>
          <p:nvSpPr>
            <p:cNvPr id="23" name="object 23"/>
            <p:cNvSpPr/>
            <p:nvPr/>
          </p:nvSpPr>
          <p:spPr>
            <a:xfrm>
              <a:off x="6705598" y="3504161"/>
              <a:ext cx="381000" cy="609600"/>
            </a:xfrm>
            <a:custGeom>
              <a:avLst/>
              <a:gdLst/>
              <a:ahLst/>
              <a:cxnLst/>
              <a:rect l="l" t="t" r="r" b="b"/>
              <a:pathLst>
                <a:path w="381000" h="609600">
                  <a:moveTo>
                    <a:pt x="0" y="609599"/>
                  </a:moveTo>
                  <a:lnTo>
                    <a:pt x="0" y="0"/>
                  </a:lnTo>
                  <a:lnTo>
                    <a:pt x="380999" y="0"/>
                  </a:lnTo>
                  <a:lnTo>
                    <a:pt x="380999" y="609599"/>
                  </a:lnTo>
                  <a:lnTo>
                    <a:pt x="0" y="609599"/>
                  </a:lnTo>
                  <a:close/>
                </a:path>
              </a:pathLst>
            </a:custGeom>
            <a:ln w="9524">
              <a:solidFill>
                <a:srgbClr val="000000"/>
              </a:solidFill>
            </a:ln>
          </p:spPr>
          <p:txBody>
            <a:bodyPr wrap="square" lIns="0" tIns="0" rIns="0" bIns="0" rtlCol="0"/>
            <a:lstStyle/>
            <a:p>
              <a:endParaRPr sz="2473"/>
            </a:p>
          </p:txBody>
        </p:sp>
      </p:grpSp>
      <p:sp>
        <p:nvSpPr>
          <p:cNvPr id="24" name="object 24"/>
          <p:cNvSpPr txBox="1"/>
          <p:nvPr/>
        </p:nvSpPr>
        <p:spPr>
          <a:xfrm>
            <a:off x="9337319" y="3377313"/>
            <a:ext cx="253596" cy="800793"/>
          </a:xfrm>
          <a:prstGeom prst="rect">
            <a:avLst/>
          </a:prstGeom>
        </p:spPr>
        <p:txBody>
          <a:bodyPr vert="vert270" wrap="square" lIns="0" tIns="10468" rIns="0" bIns="0" rtlCol="0">
            <a:spAutoFit/>
          </a:bodyPr>
          <a:lstStyle/>
          <a:p>
            <a:pPr marL="17446">
              <a:spcBef>
                <a:spcPts val="82"/>
              </a:spcBef>
            </a:pPr>
            <a:r>
              <a:rPr sz="1648" dirty="0">
                <a:latin typeface="Lucida Sans Unicode"/>
                <a:cs typeface="Lucida Sans Unicode"/>
              </a:rPr>
              <a:t>request</a:t>
            </a:r>
            <a:endParaRPr sz="1648">
              <a:latin typeface="Lucida Sans Unicode"/>
              <a:cs typeface="Lucida Sans Unicode"/>
            </a:endParaRPr>
          </a:p>
        </p:txBody>
      </p:sp>
      <p:sp>
        <p:nvSpPr>
          <p:cNvPr id="25" name="object 25"/>
          <p:cNvSpPr txBox="1"/>
          <p:nvPr/>
        </p:nvSpPr>
        <p:spPr>
          <a:xfrm>
            <a:off x="10077349" y="2985038"/>
            <a:ext cx="1321003" cy="1106106"/>
          </a:xfrm>
          <a:prstGeom prst="rect">
            <a:avLst/>
          </a:prstGeom>
        </p:spPr>
        <p:txBody>
          <a:bodyPr vert="vert270" wrap="square" lIns="0" tIns="0" rIns="0" bIns="0" rtlCol="0">
            <a:spAutoFit/>
          </a:bodyPr>
          <a:lstStyle/>
          <a:p>
            <a:pPr marL="27914">
              <a:lnSpc>
                <a:spcPts val="2569"/>
              </a:lnSpc>
            </a:pPr>
            <a:r>
              <a:rPr sz="2198" spc="-7" dirty="0">
                <a:latin typeface="Arial MT"/>
                <a:cs typeface="Arial MT"/>
              </a:rPr>
              <a:t>attack</a:t>
            </a:r>
            <a:endParaRPr sz="2198">
              <a:latin typeface="Arial MT"/>
              <a:cs typeface="Arial MT"/>
            </a:endParaRPr>
          </a:p>
          <a:p>
            <a:pPr marL="17446" marR="6978">
              <a:lnSpc>
                <a:spcPct val="156300"/>
              </a:lnSpc>
            </a:pPr>
            <a:r>
              <a:rPr sz="2198" dirty="0">
                <a:latin typeface="Arial MT"/>
                <a:cs typeface="Arial MT"/>
              </a:rPr>
              <a:t>man </a:t>
            </a:r>
            <a:r>
              <a:rPr sz="2198" spc="7" dirty="0">
                <a:latin typeface="Arial MT"/>
                <a:cs typeface="Arial MT"/>
              </a:rPr>
              <a:t> </a:t>
            </a:r>
            <a:r>
              <a:rPr sz="2198" dirty="0">
                <a:latin typeface="Arial MT"/>
                <a:cs typeface="Arial MT"/>
              </a:rPr>
              <a:t>ou</a:t>
            </a:r>
            <a:r>
              <a:rPr sz="2198" spc="-7" dirty="0">
                <a:latin typeface="Arial MT"/>
                <a:cs typeface="Arial MT"/>
              </a:rPr>
              <a:t>t</a:t>
            </a:r>
            <a:r>
              <a:rPr sz="2198" dirty="0">
                <a:latin typeface="Arial MT"/>
                <a:cs typeface="Arial MT"/>
              </a:rPr>
              <a:t>come</a:t>
            </a:r>
            <a:endParaRPr sz="2198">
              <a:latin typeface="Arial MT"/>
              <a:cs typeface="Arial MT"/>
            </a:endParaRPr>
          </a:p>
        </p:txBody>
      </p:sp>
      <p:sp>
        <p:nvSpPr>
          <p:cNvPr id="26" name="object 26"/>
          <p:cNvSpPr txBox="1"/>
          <p:nvPr/>
        </p:nvSpPr>
        <p:spPr>
          <a:xfrm>
            <a:off x="11727511" y="3302060"/>
            <a:ext cx="593180" cy="694084"/>
          </a:xfrm>
          <a:prstGeom prst="rect">
            <a:avLst/>
          </a:prstGeom>
        </p:spPr>
        <p:txBody>
          <a:bodyPr vert="horz" wrap="square" lIns="0" tIns="17446" rIns="0" bIns="0" rtlCol="0">
            <a:spAutoFit/>
          </a:bodyPr>
          <a:lstStyle/>
          <a:p>
            <a:pPr marL="17446">
              <a:spcBef>
                <a:spcPts val="137"/>
              </a:spcBef>
            </a:pPr>
            <a:r>
              <a:rPr sz="4396" dirty="0">
                <a:latin typeface="Arial MT"/>
                <a:cs typeface="Arial MT"/>
              </a:rPr>
              <a:t>…</a:t>
            </a:r>
            <a:endParaRPr sz="4396">
              <a:latin typeface="Arial MT"/>
              <a:cs typeface="Arial MT"/>
            </a:endParaRPr>
          </a:p>
        </p:txBody>
      </p:sp>
      <p:grpSp>
        <p:nvGrpSpPr>
          <p:cNvPr id="27" name="object 27"/>
          <p:cNvGrpSpPr/>
          <p:nvPr/>
        </p:nvGrpSpPr>
        <p:grpSpPr>
          <a:xfrm>
            <a:off x="7111614" y="4925018"/>
            <a:ext cx="5456382" cy="2316018"/>
            <a:chOff x="5176836" y="4642398"/>
            <a:chExt cx="3971925" cy="1685925"/>
          </a:xfrm>
        </p:grpSpPr>
        <p:sp>
          <p:nvSpPr>
            <p:cNvPr id="28" name="object 28"/>
            <p:cNvSpPr/>
            <p:nvPr/>
          </p:nvSpPr>
          <p:spPr>
            <a:xfrm>
              <a:off x="5181598" y="4647161"/>
              <a:ext cx="3962400" cy="1676400"/>
            </a:xfrm>
            <a:custGeom>
              <a:avLst/>
              <a:gdLst/>
              <a:ahLst/>
              <a:cxnLst/>
              <a:rect l="l" t="t" r="r" b="b"/>
              <a:pathLst>
                <a:path w="3962400" h="1676400">
                  <a:moveTo>
                    <a:pt x="0" y="0"/>
                  </a:moveTo>
                  <a:lnTo>
                    <a:pt x="3962398" y="0"/>
                  </a:lnTo>
                  <a:lnTo>
                    <a:pt x="3962398" y="1676399"/>
                  </a:lnTo>
                  <a:lnTo>
                    <a:pt x="0" y="1676399"/>
                  </a:lnTo>
                  <a:lnTo>
                    <a:pt x="0" y="0"/>
                  </a:lnTo>
                  <a:close/>
                </a:path>
              </a:pathLst>
            </a:custGeom>
            <a:ln w="9524">
              <a:solidFill>
                <a:srgbClr val="000000"/>
              </a:solidFill>
            </a:ln>
          </p:spPr>
          <p:txBody>
            <a:bodyPr wrap="square" lIns="0" tIns="0" rIns="0" bIns="0" rtlCol="0"/>
            <a:lstStyle/>
            <a:p>
              <a:endParaRPr sz="2473"/>
            </a:p>
          </p:txBody>
        </p:sp>
        <p:sp>
          <p:nvSpPr>
            <p:cNvPr id="29" name="object 29"/>
            <p:cNvSpPr/>
            <p:nvPr/>
          </p:nvSpPr>
          <p:spPr>
            <a:xfrm>
              <a:off x="5334000" y="4799561"/>
              <a:ext cx="381000" cy="228600"/>
            </a:xfrm>
            <a:custGeom>
              <a:avLst/>
              <a:gdLst/>
              <a:ahLst/>
              <a:cxnLst/>
              <a:rect l="l" t="t" r="r" b="b"/>
              <a:pathLst>
                <a:path w="381000" h="228600">
                  <a:moveTo>
                    <a:pt x="0" y="228600"/>
                  </a:moveTo>
                  <a:lnTo>
                    <a:pt x="381000" y="228600"/>
                  </a:lnTo>
                  <a:lnTo>
                    <a:pt x="381000" y="0"/>
                  </a:lnTo>
                  <a:lnTo>
                    <a:pt x="0" y="0"/>
                  </a:lnTo>
                  <a:lnTo>
                    <a:pt x="0" y="228600"/>
                  </a:lnTo>
                  <a:close/>
                </a:path>
              </a:pathLst>
            </a:custGeom>
            <a:solidFill>
              <a:srgbClr val="B51826"/>
            </a:solidFill>
          </p:spPr>
          <p:txBody>
            <a:bodyPr wrap="square" lIns="0" tIns="0" rIns="0" bIns="0" rtlCol="0"/>
            <a:lstStyle/>
            <a:p>
              <a:endParaRPr sz="2473"/>
            </a:p>
          </p:txBody>
        </p:sp>
        <p:sp>
          <p:nvSpPr>
            <p:cNvPr id="30" name="object 30"/>
            <p:cNvSpPr/>
            <p:nvPr/>
          </p:nvSpPr>
          <p:spPr>
            <a:xfrm>
              <a:off x="5334000" y="4799561"/>
              <a:ext cx="381000" cy="1524000"/>
            </a:xfrm>
            <a:custGeom>
              <a:avLst/>
              <a:gdLst/>
              <a:ahLst/>
              <a:cxnLst/>
              <a:rect l="l" t="t" r="r" b="b"/>
              <a:pathLst>
                <a:path w="381000" h="1524000">
                  <a:moveTo>
                    <a:pt x="0" y="1523999"/>
                  </a:moveTo>
                  <a:lnTo>
                    <a:pt x="0" y="0"/>
                  </a:lnTo>
                  <a:lnTo>
                    <a:pt x="380999" y="0"/>
                  </a:lnTo>
                  <a:lnTo>
                    <a:pt x="380999" y="1523999"/>
                  </a:lnTo>
                  <a:lnTo>
                    <a:pt x="0" y="1523999"/>
                  </a:lnTo>
                  <a:close/>
                </a:path>
              </a:pathLst>
            </a:custGeom>
            <a:ln w="9524">
              <a:solidFill>
                <a:srgbClr val="000000"/>
              </a:solidFill>
            </a:ln>
          </p:spPr>
          <p:txBody>
            <a:bodyPr wrap="square" lIns="0" tIns="0" rIns="0" bIns="0" rtlCol="0"/>
            <a:lstStyle/>
            <a:p>
              <a:endParaRPr sz="2473"/>
            </a:p>
          </p:txBody>
        </p:sp>
      </p:grpSp>
      <p:sp>
        <p:nvSpPr>
          <p:cNvPr id="31" name="object 31"/>
          <p:cNvSpPr txBox="1"/>
          <p:nvPr/>
        </p:nvSpPr>
        <p:spPr>
          <a:xfrm>
            <a:off x="7450769" y="5542290"/>
            <a:ext cx="287867" cy="1327479"/>
          </a:xfrm>
          <a:prstGeom prst="rect">
            <a:avLst/>
          </a:prstGeom>
        </p:spPr>
        <p:txBody>
          <a:bodyPr vert="horz" wrap="square" lIns="0" tIns="0" rIns="0" bIns="0" rtlCol="0">
            <a:spAutoFit/>
          </a:bodyPr>
          <a:lstStyle/>
          <a:p>
            <a:pPr>
              <a:lnSpc>
                <a:spcPts val="810"/>
              </a:lnSpc>
            </a:pPr>
            <a:r>
              <a:rPr sz="1923" dirty="0">
                <a:latin typeface="Lucida Sans Unicode"/>
                <a:cs typeface="Lucida Sans Unicode"/>
              </a:rPr>
              <a:t>s</a:t>
            </a:r>
            <a:endParaRPr sz="1923">
              <a:latin typeface="Lucida Sans Unicode"/>
              <a:cs typeface="Lucida Sans Unicode"/>
            </a:endParaRPr>
          </a:p>
          <a:p>
            <a:pPr>
              <a:lnSpc>
                <a:spcPts val="1188"/>
              </a:lnSpc>
            </a:pPr>
            <a:r>
              <a:rPr sz="1923" dirty="0">
                <a:latin typeface="Lucida Sans Unicode"/>
                <a:cs typeface="Lucida Sans Unicode"/>
              </a:rPr>
              <a:t>n</a:t>
            </a:r>
            <a:endParaRPr sz="1923">
              <a:latin typeface="Lucida Sans Unicode"/>
              <a:cs typeface="Lucida Sans Unicode"/>
            </a:endParaRPr>
          </a:p>
          <a:p>
            <a:pPr>
              <a:lnSpc>
                <a:spcPts val="1228"/>
              </a:lnSpc>
            </a:pPr>
            <a:r>
              <a:rPr sz="1923" dirty="0">
                <a:latin typeface="Lucida Sans Unicode"/>
                <a:cs typeface="Lucida Sans Unicode"/>
              </a:rPr>
              <a:t>o</a:t>
            </a:r>
            <a:endParaRPr sz="1923">
              <a:latin typeface="Lucida Sans Unicode"/>
              <a:cs typeface="Lucida Sans Unicode"/>
            </a:endParaRPr>
          </a:p>
          <a:p>
            <a:pPr>
              <a:lnSpc>
                <a:spcPts val="1168"/>
              </a:lnSpc>
            </a:pPr>
            <a:r>
              <a:rPr sz="1923" dirty="0">
                <a:latin typeface="Lucida Sans Unicode"/>
                <a:cs typeface="Lucida Sans Unicode"/>
              </a:rPr>
              <a:t>ti</a:t>
            </a:r>
            <a:endParaRPr sz="1923">
              <a:latin typeface="Lucida Sans Unicode"/>
              <a:cs typeface="Lucida Sans Unicode"/>
            </a:endParaRPr>
          </a:p>
          <a:p>
            <a:pPr>
              <a:lnSpc>
                <a:spcPts val="1133"/>
              </a:lnSpc>
            </a:pPr>
            <a:r>
              <a:rPr sz="1923" dirty="0">
                <a:latin typeface="Lucida Sans Unicode"/>
                <a:cs typeface="Lucida Sans Unicode"/>
              </a:rPr>
              <a:t>a</a:t>
            </a:r>
            <a:endParaRPr sz="1923">
              <a:latin typeface="Lucida Sans Unicode"/>
              <a:cs typeface="Lucida Sans Unicode"/>
            </a:endParaRPr>
          </a:p>
          <a:p>
            <a:pPr>
              <a:lnSpc>
                <a:spcPts val="1133"/>
              </a:lnSpc>
            </a:pPr>
            <a:r>
              <a:rPr sz="1923" dirty="0">
                <a:latin typeface="Lucida Sans Unicode"/>
                <a:cs typeface="Lucida Sans Unicode"/>
              </a:rPr>
              <a:t>g</a:t>
            </a:r>
            <a:endParaRPr sz="1923">
              <a:latin typeface="Lucida Sans Unicode"/>
              <a:cs typeface="Lucida Sans Unicode"/>
            </a:endParaRPr>
          </a:p>
          <a:p>
            <a:pPr>
              <a:lnSpc>
                <a:spcPts val="810"/>
              </a:lnSpc>
            </a:pPr>
            <a:r>
              <a:rPr sz="1923" dirty="0">
                <a:latin typeface="Lucida Sans Unicode"/>
                <a:cs typeface="Lucida Sans Unicode"/>
              </a:rPr>
              <a:t>e</a:t>
            </a:r>
            <a:endParaRPr sz="1923">
              <a:latin typeface="Lucida Sans Unicode"/>
              <a:cs typeface="Lucida Sans Unicode"/>
            </a:endParaRPr>
          </a:p>
          <a:p>
            <a:pPr>
              <a:lnSpc>
                <a:spcPts val="556"/>
              </a:lnSpc>
            </a:pPr>
            <a:r>
              <a:rPr sz="1923" dirty="0">
                <a:latin typeface="Lucida Sans Unicode"/>
                <a:cs typeface="Lucida Sans Unicode"/>
              </a:rPr>
              <a:t>l</a:t>
            </a:r>
            <a:endParaRPr sz="1923">
              <a:latin typeface="Lucida Sans Unicode"/>
              <a:cs typeface="Lucida Sans Unicode"/>
            </a:endParaRPr>
          </a:p>
          <a:p>
            <a:pPr>
              <a:lnSpc>
                <a:spcPts val="810"/>
              </a:lnSpc>
            </a:pPr>
            <a:r>
              <a:rPr sz="1923" dirty="0">
                <a:latin typeface="Lucida Sans Unicode"/>
                <a:cs typeface="Lucida Sans Unicode"/>
              </a:rPr>
              <a:t>l</a:t>
            </a:r>
            <a:endParaRPr sz="1923">
              <a:latin typeface="Lucida Sans Unicode"/>
              <a:cs typeface="Lucida Sans Unicode"/>
            </a:endParaRPr>
          </a:p>
          <a:p>
            <a:pPr>
              <a:lnSpc>
                <a:spcPts val="1297"/>
              </a:lnSpc>
            </a:pPr>
            <a:r>
              <a:rPr sz="1923" dirty="0">
                <a:latin typeface="Lucida Sans Unicode"/>
                <a:cs typeface="Lucida Sans Unicode"/>
              </a:rPr>
              <a:t>a</a:t>
            </a:r>
            <a:endParaRPr sz="1923">
              <a:latin typeface="Lucida Sans Unicode"/>
              <a:cs typeface="Lucida Sans Unicode"/>
            </a:endParaRPr>
          </a:p>
        </p:txBody>
      </p:sp>
      <p:grpSp>
        <p:nvGrpSpPr>
          <p:cNvPr id="32" name="object 32"/>
          <p:cNvGrpSpPr/>
          <p:nvPr/>
        </p:nvGrpSpPr>
        <p:grpSpPr>
          <a:xfrm>
            <a:off x="7320973" y="5448412"/>
            <a:ext cx="2420697" cy="1792624"/>
            <a:chOff x="5329237" y="5023398"/>
            <a:chExt cx="1762125" cy="1304925"/>
          </a:xfrm>
        </p:grpSpPr>
        <p:sp>
          <p:nvSpPr>
            <p:cNvPr id="33" name="object 33"/>
            <p:cNvSpPr/>
            <p:nvPr/>
          </p:nvSpPr>
          <p:spPr>
            <a:xfrm>
              <a:off x="5791198" y="5256761"/>
              <a:ext cx="381000" cy="228600"/>
            </a:xfrm>
            <a:custGeom>
              <a:avLst/>
              <a:gdLst/>
              <a:ahLst/>
              <a:cxnLst/>
              <a:rect l="l" t="t" r="r" b="b"/>
              <a:pathLst>
                <a:path w="381000" h="228600">
                  <a:moveTo>
                    <a:pt x="0" y="228600"/>
                  </a:moveTo>
                  <a:lnTo>
                    <a:pt x="381000" y="228600"/>
                  </a:lnTo>
                  <a:lnTo>
                    <a:pt x="381000" y="0"/>
                  </a:lnTo>
                  <a:lnTo>
                    <a:pt x="0" y="0"/>
                  </a:lnTo>
                  <a:lnTo>
                    <a:pt x="0" y="228600"/>
                  </a:lnTo>
                  <a:close/>
                </a:path>
              </a:pathLst>
            </a:custGeom>
            <a:solidFill>
              <a:srgbClr val="B51826"/>
            </a:solidFill>
          </p:spPr>
          <p:txBody>
            <a:bodyPr wrap="square" lIns="0" tIns="0" rIns="0" bIns="0" rtlCol="0"/>
            <a:lstStyle/>
            <a:p>
              <a:endParaRPr sz="2473"/>
            </a:p>
          </p:txBody>
        </p:sp>
        <p:sp>
          <p:nvSpPr>
            <p:cNvPr id="34" name="object 34"/>
            <p:cNvSpPr/>
            <p:nvPr/>
          </p:nvSpPr>
          <p:spPr>
            <a:xfrm>
              <a:off x="5791198" y="5256761"/>
              <a:ext cx="381000" cy="1066800"/>
            </a:xfrm>
            <a:custGeom>
              <a:avLst/>
              <a:gdLst/>
              <a:ahLst/>
              <a:cxnLst/>
              <a:rect l="l" t="t" r="r" b="b"/>
              <a:pathLst>
                <a:path w="381000" h="1066800">
                  <a:moveTo>
                    <a:pt x="0" y="1066799"/>
                  </a:moveTo>
                  <a:lnTo>
                    <a:pt x="0" y="0"/>
                  </a:lnTo>
                  <a:lnTo>
                    <a:pt x="380999" y="0"/>
                  </a:lnTo>
                  <a:lnTo>
                    <a:pt x="380999" y="1066799"/>
                  </a:lnTo>
                  <a:lnTo>
                    <a:pt x="0" y="1066799"/>
                  </a:lnTo>
                  <a:close/>
                </a:path>
              </a:pathLst>
            </a:custGeom>
            <a:ln w="9524">
              <a:solidFill>
                <a:srgbClr val="000000"/>
              </a:solidFill>
            </a:ln>
          </p:spPr>
          <p:txBody>
            <a:bodyPr wrap="square" lIns="0" tIns="0" rIns="0" bIns="0" rtlCol="0"/>
            <a:lstStyle/>
            <a:p>
              <a:endParaRPr sz="2473"/>
            </a:p>
          </p:txBody>
        </p:sp>
        <p:sp>
          <p:nvSpPr>
            <p:cNvPr id="35" name="object 35"/>
            <p:cNvSpPr/>
            <p:nvPr/>
          </p:nvSpPr>
          <p:spPr>
            <a:xfrm>
              <a:off x="6248398" y="5713961"/>
              <a:ext cx="381000" cy="152400"/>
            </a:xfrm>
            <a:custGeom>
              <a:avLst/>
              <a:gdLst/>
              <a:ahLst/>
              <a:cxnLst/>
              <a:rect l="l" t="t" r="r" b="b"/>
              <a:pathLst>
                <a:path w="381000" h="152400">
                  <a:moveTo>
                    <a:pt x="0" y="152400"/>
                  </a:moveTo>
                  <a:lnTo>
                    <a:pt x="381000" y="152400"/>
                  </a:lnTo>
                  <a:lnTo>
                    <a:pt x="381000" y="0"/>
                  </a:lnTo>
                  <a:lnTo>
                    <a:pt x="0" y="0"/>
                  </a:lnTo>
                  <a:lnTo>
                    <a:pt x="0" y="152400"/>
                  </a:lnTo>
                  <a:close/>
                </a:path>
              </a:pathLst>
            </a:custGeom>
            <a:solidFill>
              <a:srgbClr val="B51826"/>
            </a:solidFill>
          </p:spPr>
          <p:txBody>
            <a:bodyPr wrap="square" lIns="0" tIns="0" rIns="0" bIns="0" rtlCol="0"/>
            <a:lstStyle/>
            <a:p>
              <a:endParaRPr sz="2473"/>
            </a:p>
          </p:txBody>
        </p:sp>
        <p:sp>
          <p:nvSpPr>
            <p:cNvPr id="36" name="object 36"/>
            <p:cNvSpPr/>
            <p:nvPr/>
          </p:nvSpPr>
          <p:spPr>
            <a:xfrm>
              <a:off x="6248398" y="5713961"/>
              <a:ext cx="381000" cy="609600"/>
            </a:xfrm>
            <a:custGeom>
              <a:avLst/>
              <a:gdLst/>
              <a:ahLst/>
              <a:cxnLst/>
              <a:rect l="l" t="t" r="r" b="b"/>
              <a:pathLst>
                <a:path w="381000" h="609600">
                  <a:moveTo>
                    <a:pt x="0" y="609599"/>
                  </a:moveTo>
                  <a:lnTo>
                    <a:pt x="0" y="0"/>
                  </a:lnTo>
                  <a:lnTo>
                    <a:pt x="381000" y="0"/>
                  </a:lnTo>
                  <a:lnTo>
                    <a:pt x="381000" y="609599"/>
                  </a:lnTo>
                  <a:lnTo>
                    <a:pt x="0" y="609599"/>
                  </a:lnTo>
                  <a:close/>
                </a:path>
              </a:pathLst>
            </a:custGeom>
            <a:ln w="9524">
              <a:solidFill>
                <a:srgbClr val="000000"/>
              </a:solidFill>
            </a:ln>
          </p:spPr>
          <p:txBody>
            <a:bodyPr wrap="square" lIns="0" tIns="0" rIns="0" bIns="0" rtlCol="0"/>
            <a:lstStyle/>
            <a:p>
              <a:endParaRPr sz="2473"/>
            </a:p>
          </p:txBody>
        </p:sp>
        <p:sp>
          <p:nvSpPr>
            <p:cNvPr id="37" name="object 37"/>
            <p:cNvSpPr/>
            <p:nvPr/>
          </p:nvSpPr>
          <p:spPr>
            <a:xfrm>
              <a:off x="6705598" y="5713961"/>
              <a:ext cx="381000" cy="152400"/>
            </a:xfrm>
            <a:custGeom>
              <a:avLst/>
              <a:gdLst/>
              <a:ahLst/>
              <a:cxnLst/>
              <a:rect l="l" t="t" r="r" b="b"/>
              <a:pathLst>
                <a:path w="381000" h="152400">
                  <a:moveTo>
                    <a:pt x="0" y="152400"/>
                  </a:moveTo>
                  <a:lnTo>
                    <a:pt x="381000" y="152400"/>
                  </a:lnTo>
                  <a:lnTo>
                    <a:pt x="381000" y="0"/>
                  </a:lnTo>
                  <a:lnTo>
                    <a:pt x="0" y="0"/>
                  </a:lnTo>
                  <a:lnTo>
                    <a:pt x="0" y="152400"/>
                  </a:lnTo>
                  <a:close/>
                </a:path>
              </a:pathLst>
            </a:custGeom>
            <a:solidFill>
              <a:srgbClr val="B51826"/>
            </a:solidFill>
          </p:spPr>
          <p:txBody>
            <a:bodyPr wrap="square" lIns="0" tIns="0" rIns="0" bIns="0" rtlCol="0"/>
            <a:lstStyle/>
            <a:p>
              <a:endParaRPr sz="2473"/>
            </a:p>
          </p:txBody>
        </p:sp>
        <p:sp>
          <p:nvSpPr>
            <p:cNvPr id="38" name="object 38"/>
            <p:cNvSpPr/>
            <p:nvPr/>
          </p:nvSpPr>
          <p:spPr>
            <a:xfrm>
              <a:off x="6705598" y="5713961"/>
              <a:ext cx="381000" cy="609600"/>
            </a:xfrm>
            <a:custGeom>
              <a:avLst/>
              <a:gdLst/>
              <a:ahLst/>
              <a:cxnLst/>
              <a:rect l="l" t="t" r="r" b="b"/>
              <a:pathLst>
                <a:path w="381000" h="609600">
                  <a:moveTo>
                    <a:pt x="0" y="609599"/>
                  </a:moveTo>
                  <a:lnTo>
                    <a:pt x="0" y="0"/>
                  </a:lnTo>
                  <a:lnTo>
                    <a:pt x="380999" y="0"/>
                  </a:lnTo>
                  <a:lnTo>
                    <a:pt x="380999" y="609599"/>
                  </a:lnTo>
                  <a:lnTo>
                    <a:pt x="0" y="609599"/>
                  </a:lnTo>
                  <a:close/>
                </a:path>
              </a:pathLst>
            </a:custGeom>
            <a:ln w="9524">
              <a:solidFill>
                <a:srgbClr val="000000"/>
              </a:solidFill>
            </a:ln>
          </p:spPr>
          <p:txBody>
            <a:bodyPr wrap="square" lIns="0" tIns="0" rIns="0" bIns="0" rtlCol="0"/>
            <a:lstStyle/>
            <a:p>
              <a:endParaRPr sz="2473"/>
            </a:p>
          </p:txBody>
        </p:sp>
        <p:sp>
          <p:nvSpPr>
            <p:cNvPr id="39" name="object 39"/>
            <p:cNvSpPr/>
            <p:nvPr/>
          </p:nvSpPr>
          <p:spPr>
            <a:xfrm>
              <a:off x="5334000" y="5028160"/>
              <a:ext cx="381000" cy="1295400"/>
            </a:xfrm>
            <a:custGeom>
              <a:avLst/>
              <a:gdLst/>
              <a:ahLst/>
              <a:cxnLst/>
              <a:rect l="l" t="t" r="r" b="b"/>
              <a:pathLst>
                <a:path w="381000" h="1295400">
                  <a:moveTo>
                    <a:pt x="381000" y="0"/>
                  </a:moveTo>
                  <a:lnTo>
                    <a:pt x="0" y="0"/>
                  </a:lnTo>
                  <a:lnTo>
                    <a:pt x="0" y="1295399"/>
                  </a:lnTo>
                  <a:lnTo>
                    <a:pt x="381000" y="1295399"/>
                  </a:lnTo>
                  <a:lnTo>
                    <a:pt x="381000" y="0"/>
                  </a:lnTo>
                  <a:close/>
                </a:path>
              </a:pathLst>
            </a:custGeom>
            <a:solidFill>
              <a:srgbClr val="FFACA9"/>
            </a:solidFill>
          </p:spPr>
          <p:txBody>
            <a:bodyPr wrap="square" lIns="0" tIns="0" rIns="0" bIns="0" rtlCol="0"/>
            <a:lstStyle/>
            <a:p>
              <a:endParaRPr sz="2473"/>
            </a:p>
          </p:txBody>
        </p:sp>
        <p:sp>
          <p:nvSpPr>
            <p:cNvPr id="40" name="object 40"/>
            <p:cNvSpPr/>
            <p:nvPr/>
          </p:nvSpPr>
          <p:spPr>
            <a:xfrm>
              <a:off x="5334000" y="5028161"/>
              <a:ext cx="381000" cy="1295400"/>
            </a:xfrm>
            <a:custGeom>
              <a:avLst/>
              <a:gdLst/>
              <a:ahLst/>
              <a:cxnLst/>
              <a:rect l="l" t="t" r="r" b="b"/>
              <a:pathLst>
                <a:path w="381000" h="1295400">
                  <a:moveTo>
                    <a:pt x="0" y="1295399"/>
                  </a:moveTo>
                  <a:lnTo>
                    <a:pt x="0" y="0"/>
                  </a:lnTo>
                  <a:lnTo>
                    <a:pt x="380999" y="0"/>
                  </a:lnTo>
                  <a:lnTo>
                    <a:pt x="380999" y="1295399"/>
                  </a:lnTo>
                  <a:lnTo>
                    <a:pt x="0" y="1295399"/>
                  </a:lnTo>
                  <a:close/>
                </a:path>
              </a:pathLst>
            </a:custGeom>
            <a:ln w="9524">
              <a:solidFill>
                <a:srgbClr val="000000"/>
              </a:solidFill>
            </a:ln>
          </p:spPr>
          <p:txBody>
            <a:bodyPr wrap="square" lIns="0" tIns="0" rIns="0" bIns="0" rtlCol="0"/>
            <a:lstStyle/>
            <a:p>
              <a:endParaRPr sz="2473"/>
            </a:p>
          </p:txBody>
        </p:sp>
      </p:grpSp>
      <p:sp>
        <p:nvSpPr>
          <p:cNvPr id="41" name="object 41"/>
          <p:cNvSpPr txBox="1"/>
          <p:nvPr/>
        </p:nvSpPr>
        <p:spPr>
          <a:xfrm>
            <a:off x="9972670" y="6241999"/>
            <a:ext cx="902491" cy="779857"/>
          </a:xfrm>
          <a:prstGeom prst="rect">
            <a:avLst/>
          </a:prstGeom>
        </p:spPr>
        <p:txBody>
          <a:bodyPr vert="vert270" wrap="square" lIns="0" tIns="0" rIns="0" bIns="0" rtlCol="0">
            <a:spAutoFit/>
          </a:bodyPr>
          <a:lstStyle/>
          <a:p>
            <a:pPr marL="17446">
              <a:lnSpc>
                <a:spcPts val="2569"/>
              </a:lnSpc>
            </a:pPr>
            <a:r>
              <a:rPr sz="2198" dirty="0">
                <a:latin typeface="Arial MT"/>
                <a:cs typeface="Arial MT"/>
              </a:rPr>
              <a:t>a</a:t>
            </a:r>
            <a:r>
              <a:rPr sz="2198" spc="-7" dirty="0">
                <a:latin typeface="Arial MT"/>
                <a:cs typeface="Arial MT"/>
              </a:rPr>
              <a:t>tt</a:t>
            </a:r>
            <a:r>
              <a:rPr sz="2198" dirty="0">
                <a:latin typeface="Arial MT"/>
                <a:cs typeface="Arial MT"/>
              </a:rPr>
              <a:t>ack</a:t>
            </a:r>
            <a:endParaRPr sz="2198">
              <a:latin typeface="Arial MT"/>
              <a:cs typeface="Arial MT"/>
            </a:endParaRPr>
          </a:p>
          <a:p>
            <a:pPr marL="17446">
              <a:spcBef>
                <a:spcPts val="1827"/>
              </a:spcBef>
            </a:pPr>
            <a:r>
              <a:rPr sz="2198" dirty="0">
                <a:latin typeface="Arial MT"/>
                <a:cs typeface="Arial MT"/>
              </a:rPr>
              <a:t>man</a:t>
            </a:r>
            <a:endParaRPr sz="2198">
              <a:latin typeface="Arial MT"/>
              <a:cs typeface="Arial MT"/>
            </a:endParaRPr>
          </a:p>
        </p:txBody>
      </p:sp>
      <p:sp>
        <p:nvSpPr>
          <p:cNvPr id="42" name="object 42"/>
          <p:cNvSpPr txBox="1"/>
          <p:nvPr/>
        </p:nvSpPr>
        <p:spPr>
          <a:xfrm>
            <a:off x="11167754" y="5916044"/>
            <a:ext cx="333425" cy="1106106"/>
          </a:xfrm>
          <a:prstGeom prst="rect">
            <a:avLst/>
          </a:prstGeom>
        </p:spPr>
        <p:txBody>
          <a:bodyPr vert="vert270" wrap="square" lIns="0" tIns="0" rIns="0" bIns="0" rtlCol="0">
            <a:spAutoFit/>
          </a:bodyPr>
          <a:lstStyle/>
          <a:p>
            <a:pPr marL="17446">
              <a:lnSpc>
                <a:spcPts val="2569"/>
              </a:lnSpc>
            </a:pPr>
            <a:r>
              <a:rPr sz="2198" spc="-7" dirty="0">
                <a:latin typeface="Arial MT"/>
                <a:cs typeface="Arial MT"/>
              </a:rPr>
              <a:t>outcome</a:t>
            </a:r>
            <a:endParaRPr sz="2198">
              <a:latin typeface="Arial MT"/>
              <a:cs typeface="Arial MT"/>
            </a:endParaRPr>
          </a:p>
        </p:txBody>
      </p:sp>
      <p:sp>
        <p:nvSpPr>
          <p:cNvPr id="43" name="object 43"/>
          <p:cNvSpPr txBox="1"/>
          <p:nvPr/>
        </p:nvSpPr>
        <p:spPr>
          <a:xfrm>
            <a:off x="11727511" y="6337745"/>
            <a:ext cx="593180" cy="694084"/>
          </a:xfrm>
          <a:prstGeom prst="rect">
            <a:avLst/>
          </a:prstGeom>
        </p:spPr>
        <p:txBody>
          <a:bodyPr vert="horz" wrap="square" lIns="0" tIns="17446" rIns="0" bIns="0" rtlCol="0">
            <a:spAutoFit/>
          </a:bodyPr>
          <a:lstStyle/>
          <a:p>
            <a:pPr marL="17446">
              <a:spcBef>
                <a:spcPts val="137"/>
              </a:spcBef>
            </a:pPr>
            <a:r>
              <a:rPr sz="4396" dirty="0">
                <a:latin typeface="Arial MT"/>
                <a:cs typeface="Arial MT"/>
              </a:rPr>
              <a:t>…</a:t>
            </a:r>
            <a:endParaRPr sz="4396">
              <a:latin typeface="Arial MT"/>
              <a:cs typeface="Arial MT"/>
            </a:endParaRPr>
          </a:p>
        </p:txBody>
      </p:sp>
      <p:sp>
        <p:nvSpPr>
          <p:cNvPr id="44" name="object 44"/>
          <p:cNvSpPr txBox="1"/>
          <p:nvPr/>
        </p:nvSpPr>
        <p:spPr>
          <a:xfrm>
            <a:off x="7433324" y="5681862"/>
            <a:ext cx="295915" cy="1322442"/>
          </a:xfrm>
          <a:prstGeom prst="rect">
            <a:avLst/>
          </a:prstGeom>
        </p:spPr>
        <p:txBody>
          <a:bodyPr vert="vert270" wrap="square" lIns="0" tIns="8723" rIns="0" bIns="0" rtlCol="0">
            <a:spAutoFit/>
          </a:bodyPr>
          <a:lstStyle/>
          <a:p>
            <a:pPr marL="17446">
              <a:spcBef>
                <a:spcPts val="69"/>
              </a:spcBef>
            </a:pPr>
            <a:r>
              <a:rPr sz="1923" spc="-7" dirty="0">
                <a:latin typeface="Lucida Sans Unicode"/>
                <a:cs typeface="Lucida Sans Unicode"/>
              </a:rPr>
              <a:t>allegations</a:t>
            </a:r>
            <a:endParaRPr sz="1923">
              <a:latin typeface="Lucida Sans Unicode"/>
              <a:cs typeface="Lucida Sans Unicode"/>
            </a:endParaRPr>
          </a:p>
        </p:txBody>
      </p:sp>
      <p:grpSp>
        <p:nvGrpSpPr>
          <p:cNvPr id="45" name="object 45"/>
          <p:cNvGrpSpPr/>
          <p:nvPr/>
        </p:nvGrpSpPr>
        <p:grpSpPr>
          <a:xfrm>
            <a:off x="7949044" y="6076485"/>
            <a:ext cx="536479" cy="1164552"/>
            <a:chOff x="5786436" y="5480598"/>
            <a:chExt cx="390525" cy="847725"/>
          </a:xfrm>
        </p:grpSpPr>
        <p:sp>
          <p:nvSpPr>
            <p:cNvPr id="46" name="object 46"/>
            <p:cNvSpPr/>
            <p:nvPr/>
          </p:nvSpPr>
          <p:spPr>
            <a:xfrm>
              <a:off x="5791198" y="5485361"/>
              <a:ext cx="381000" cy="838200"/>
            </a:xfrm>
            <a:custGeom>
              <a:avLst/>
              <a:gdLst/>
              <a:ahLst/>
              <a:cxnLst/>
              <a:rect l="l" t="t" r="r" b="b"/>
              <a:pathLst>
                <a:path w="381000" h="838200">
                  <a:moveTo>
                    <a:pt x="381000" y="0"/>
                  </a:moveTo>
                  <a:lnTo>
                    <a:pt x="0" y="0"/>
                  </a:lnTo>
                  <a:lnTo>
                    <a:pt x="0" y="838199"/>
                  </a:lnTo>
                  <a:lnTo>
                    <a:pt x="381000" y="838199"/>
                  </a:lnTo>
                  <a:lnTo>
                    <a:pt x="381000" y="0"/>
                  </a:lnTo>
                  <a:close/>
                </a:path>
              </a:pathLst>
            </a:custGeom>
            <a:solidFill>
              <a:srgbClr val="FFACA9"/>
            </a:solidFill>
          </p:spPr>
          <p:txBody>
            <a:bodyPr wrap="square" lIns="0" tIns="0" rIns="0" bIns="0" rtlCol="0"/>
            <a:lstStyle/>
            <a:p>
              <a:endParaRPr sz="2473"/>
            </a:p>
          </p:txBody>
        </p:sp>
        <p:sp>
          <p:nvSpPr>
            <p:cNvPr id="47" name="object 47"/>
            <p:cNvSpPr/>
            <p:nvPr/>
          </p:nvSpPr>
          <p:spPr>
            <a:xfrm>
              <a:off x="5791198" y="5485361"/>
              <a:ext cx="381000" cy="838200"/>
            </a:xfrm>
            <a:custGeom>
              <a:avLst/>
              <a:gdLst/>
              <a:ahLst/>
              <a:cxnLst/>
              <a:rect l="l" t="t" r="r" b="b"/>
              <a:pathLst>
                <a:path w="381000" h="838200">
                  <a:moveTo>
                    <a:pt x="0" y="838199"/>
                  </a:moveTo>
                  <a:lnTo>
                    <a:pt x="0" y="0"/>
                  </a:lnTo>
                  <a:lnTo>
                    <a:pt x="380999" y="0"/>
                  </a:lnTo>
                  <a:lnTo>
                    <a:pt x="380999" y="838199"/>
                  </a:lnTo>
                  <a:lnTo>
                    <a:pt x="0" y="838199"/>
                  </a:lnTo>
                  <a:close/>
                </a:path>
              </a:pathLst>
            </a:custGeom>
            <a:ln w="9524">
              <a:solidFill>
                <a:srgbClr val="000000"/>
              </a:solidFill>
            </a:ln>
          </p:spPr>
          <p:txBody>
            <a:bodyPr wrap="square" lIns="0" tIns="0" rIns="0" bIns="0" rtlCol="0"/>
            <a:lstStyle/>
            <a:p>
              <a:endParaRPr sz="2473"/>
            </a:p>
          </p:txBody>
        </p:sp>
      </p:grpSp>
      <p:sp>
        <p:nvSpPr>
          <p:cNvPr id="48" name="object 48"/>
          <p:cNvSpPr txBox="1"/>
          <p:nvPr/>
        </p:nvSpPr>
        <p:spPr>
          <a:xfrm>
            <a:off x="8061396" y="6218391"/>
            <a:ext cx="295915" cy="890642"/>
          </a:xfrm>
          <a:prstGeom prst="rect">
            <a:avLst/>
          </a:prstGeom>
        </p:spPr>
        <p:txBody>
          <a:bodyPr vert="vert270" wrap="square" lIns="0" tIns="8723" rIns="0" bIns="0" rtlCol="0">
            <a:spAutoFit/>
          </a:bodyPr>
          <a:lstStyle/>
          <a:p>
            <a:pPr marL="17446">
              <a:spcBef>
                <a:spcPts val="69"/>
              </a:spcBef>
            </a:pPr>
            <a:r>
              <a:rPr sz="1923" dirty="0">
                <a:latin typeface="Lucida Sans Unicode"/>
                <a:cs typeface="Lucida Sans Unicode"/>
              </a:rPr>
              <a:t>reports</a:t>
            </a:r>
            <a:endParaRPr sz="1923">
              <a:latin typeface="Lucida Sans Unicode"/>
              <a:cs typeface="Lucida Sans Unicode"/>
            </a:endParaRPr>
          </a:p>
        </p:txBody>
      </p:sp>
      <p:grpSp>
        <p:nvGrpSpPr>
          <p:cNvPr id="49" name="object 49"/>
          <p:cNvGrpSpPr/>
          <p:nvPr/>
        </p:nvGrpSpPr>
        <p:grpSpPr>
          <a:xfrm>
            <a:off x="8577115" y="6599879"/>
            <a:ext cx="536479" cy="641158"/>
            <a:chOff x="6243635" y="5861598"/>
            <a:chExt cx="390525" cy="466725"/>
          </a:xfrm>
        </p:grpSpPr>
        <p:sp>
          <p:nvSpPr>
            <p:cNvPr id="50" name="object 50"/>
            <p:cNvSpPr/>
            <p:nvPr/>
          </p:nvSpPr>
          <p:spPr>
            <a:xfrm>
              <a:off x="6248398" y="5866361"/>
              <a:ext cx="381000" cy="457200"/>
            </a:xfrm>
            <a:custGeom>
              <a:avLst/>
              <a:gdLst/>
              <a:ahLst/>
              <a:cxnLst/>
              <a:rect l="l" t="t" r="r" b="b"/>
              <a:pathLst>
                <a:path w="381000" h="457200">
                  <a:moveTo>
                    <a:pt x="381000" y="0"/>
                  </a:moveTo>
                  <a:lnTo>
                    <a:pt x="0" y="0"/>
                  </a:lnTo>
                  <a:lnTo>
                    <a:pt x="0" y="457199"/>
                  </a:lnTo>
                  <a:lnTo>
                    <a:pt x="381000" y="457199"/>
                  </a:lnTo>
                  <a:lnTo>
                    <a:pt x="381000" y="0"/>
                  </a:lnTo>
                  <a:close/>
                </a:path>
              </a:pathLst>
            </a:custGeom>
            <a:solidFill>
              <a:srgbClr val="FFACA9"/>
            </a:solidFill>
          </p:spPr>
          <p:txBody>
            <a:bodyPr wrap="square" lIns="0" tIns="0" rIns="0" bIns="0" rtlCol="0"/>
            <a:lstStyle/>
            <a:p>
              <a:endParaRPr sz="2473"/>
            </a:p>
          </p:txBody>
        </p:sp>
        <p:sp>
          <p:nvSpPr>
            <p:cNvPr id="51" name="object 51"/>
            <p:cNvSpPr/>
            <p:nvPr/>
          </p:nvSpPr>
          <p:spPr>
            <a:xfrm>
              <a:off x="6248398" y="5866361"/>
              <a:ext cx="381000" cy="457200"/>
            </a:xfrm>
            <a:custGeom>
              <a:avLst/>
              <a:gdLst/>
              <a:ahLst/>
              <a:cxnLst/>
              <a:rect l="l" t="t" r="r" b="b"/>
              <a:pathLst>
                <a:path w="381000" h="457200">
                  <a:moveTo>
                    <a:pt x="0" y="457199"/>
                  </a:moveTo>
                  <a:lnTo>
                    <a:pt x="0" y="0"/>
                  </a:lnTo>
                  <a:lnTo>
                    <a:pt x="381000" y="0"/>
                  </a:lnTo>
                  <a:lnTo>
                    <a:pt x="381000" y="457199"/>
                  </a:lnTo>
                  <a:lnTo>
                    <a:pt x="0" y="457199"/>
                  </a:lnTo>
                  <a:close/>
                </a:path>
              </a:pathLst>
            </a:custGeom>
            <a:ln w="9524">
              <a:solidFill>
                <a:srgbClr val="000000"/>
              </a:solidFill>
            </a:ln>
          </p:spPr>
          <p:txBody>
            <a:bodyPr wrap="square" lIns="0" tIns="0" rIns="0" bIns="0" rtlCol="0"/>
            <a:lstStyle/>
            <a:p>
              <a:endParaRPr sz="2473"/>
            </a:p>
          </p:txBody>
        </p:sp>
      </p:grpSp>
      <p:sp>
        <p:nvSpPr>
          <p:cNvPr id="52" name="object 52"/>
          <p:cNvSpPr txBox="1"/>
          <p:nvPr/>
        </p:nvSpPr>
        <p:spPr>
          <a:xfrm>
            <a:off x="8709245" y="6585157"/>
            <a:ext cx="696746" cy="681283"/>
          </a:xfrm>
          <a:prstGeom prst="rect">
            <a:avLst/>
          </a:prstGeom>
        </p:spPr>
        <p:txBody>
          <a:bodyPr vert="vert270" wrap="square" lIns="0" tIns="10468" rIns="0" bIns="0" rtlCol="0">
            <a:spAutoFit/>
          </a:bodyPr>
          <a:lstStyle/>
          <a:p>
            <a:pPr marL="17446">
              <a:spcBef>
                <a:spcPts val="82"/>
              </a:spcBef>
            </a:pPr>
            <a:r>
              <a:rPr sz="1648" dirty="0">
                <a:latin typeface="Lucida Sans Unicode"/>
                <a:cs typeface="Lucida Sans Unicode"/>
              </a:rPr>
              <a:t>clai</a:t>
            </a:r>
            <a:r>
              <a:rPr sz="1648" spc="-7" dirty="0">
                <a:latin typeface="Lucida Sans Unicode"/>
                <a:cs typeface="Lucida Sans Unicode"/>
              </a:rPr>
              <a:t>m</a:t>
            </a:r>
            <a:r>
              <a:rPr sz="1648" dirty="0">
                <a:latin typeface="Lucida Sans Unicode"/>
                <a:cs typeface="Lucida Sans Unicode"/>
              </a:rPr>
              <a:t>s</a:t>
            </a:r>
            <a:endParaRPr sz="1648">
              <a:latin typeface="Lucida Sans Unicode"/>
              <a:cs typeface="Lucida Sans Unicode"/>
            </a:endParaRPr>
          </a:p>
        </p:txBody>
      </p:sp>
      <p:grpSp>
        <p:nvGrpSpPr>
          <p:cNvPr id="53" name="object 53"/>
          <p:cNvGrpSpPr/>
          <p:nvPr/>
        </p:nvGrpSpPr>
        <p:grpSpPr>
          <a:xfrm>
            <a:off x="9205188" y="6599879"/>
            <a:ext cx="536479" cy="641158"/>
            <a:chOff x="6700835" y="5861598"/>
            <a:chExt cx="390525" cy="466725"/>
          </a:xfrm>
        </p:grpSpPr>
        <p:sp>
          <p:nvSpPr>
            <p:cNvPr id="54" name="object 54"/>
            <p:cNvSpPr/>
            <p:nvPr/>
          </p:nvSpPr>
          <p:spPr>
            <a:xfrm>
              <a:off x="6705598" y="5866361"/>
              <a:ext cx="381000" cy="457200"/>
            </a:xfrm>
            <a:custGeom>
              <a:avLst/>
              <a:gdLst/>
              <a:ahLst/>
              <a:cxnLst/>
              <a:rect l="l" t="t" r="r" b="b"/>
              <a:pathLst>
                <a:path w="381000" h="457200">
                  <a:moveTo>
                    <a:pt x="381000" y="0"/>
                  </a:moveTo>
                  <a:lnTo>
                    <a:pt x="0" y="0"/>
                  </a:lnTo>
                  <a:lnTo>
                    <a:pt x="0" y="457199"/>
                  </a:lnTo>
                  <a:lnTo>
                    <a:pt x="381000" y="457199"/>
                  </a:lnTo>
                  <a:lnTo>
                    <a:pt x="381000" y="0"/>
                  </a:lnTo>
                  <a:close/>
                </a:path>
              </a:pathLst>
            </a:custGeom>
            <a:solidFill>
              <a:srgbClr val="FFACA9"/>
            </a:solidFill>
          </p:spPr>
          <p:txBody>
            <a:bodyPr wrap="square" lIns="0" tIns="0" rIns="0" bIns="0" rtlCol="0"/>
            <a:lstStyle/>
            <a:p>
              <a:endParaRPr sz="2473"/>
            </a:p>
          </p:txBody>
        </p:sp>
        <p:sp>
          <p:nvSpPr>
            <p:cNvPr id="55" name="object 55"/>
            <p:cNvSpPr/>
            <p:nvPr/>
          </p:nvSpPr>
          <p:spPr>
            <a:xfrm>
              <a:off x="6705598" y="5866361"/>
              <a:ext cx="381000" cy="457200"/>
            </a:xfrm>
            <a:custGeom>
              <a:avLst/>
              <a:gdLst/>
              <a:ahLst/>
              <a:cxnLst/>
              <a:rect l="l" t="t" r="r" b="b"/>
              <a:pathLst>
                <a:path w="381000" h="457200">
                  <a:moveTo>
                    <a:pt x="0" y="457199"/>
                  </a:moveTo>
                  <a:lnTo>
                    <a:pt x="0" y="0"/>
                  </a:lnTo>
                  <a:lnTo>
                    <a:pt x="380999" y="0"/>
                  </a:lnTo>
                  <a:lnTo>
                    <a:pt x="380999" y="457199"/>
                  </a:lnTo>
                  <a:lnTo>
                    <a:pt x="0" y="457199"/>
                  </a:lnTo>
                  <a:close/>
                </a:path>
              </a:pathLst>
            </a:custGeom>
            <a:ln w="9524">
              <a:solidFill>
                <a:srgbClr val="000000"/>
              </a:solidFill>
            </a:ln>
          </p:spPr>
          <p:txBody>
            <a:bodyPr wrap="square" lIns="0" tIns="0" rIns="0" bIns="0" rtlCol="0"/>
            <a:lstStyle/>
            <a:p>
              <a:endParaRPr sz="2473"/>
            </a:p>
          </p:txBody>
        </p:sp>
      </p:grpSp>
      <p:sp>
        <p:nvSpPr>
          <p:cNvPr id="56" name="object 56"/>
          <p:cNvSpPr txBox="1"/>
          <p:nvPr/>
        </p:nvSpPr>
        <p:spPr>
          <a:xfrm>
            <a:off x="9357095" y="6592947"/>
            <a:ext cx="211468" cy="673434"/>
          </a:xfrm>
          <a:prstGeom prst="rect">
            <a:avLst/>
          </a:prstGeom>
        </p:spPr>
        <p:txBody>
          <a:bodyPr vert="vert270" wrap="square" lIns="0" tIns="11340" rIns="0" bIns="0" rtlCol="0">
            <a:spAutoFit/>
          </a:bodyPr>
          <a:lstStyle/>
          <a:p>
            <a:pPr marL="17446">
              <a:spcBef>
                <a:spcPts val="89"/>
              </a:spcBef>
            </a:pPr>
            <a:r>
              <a:rPr sz="1374" dirty="0">
                <a:latin typeface="Lucida Sans Unicode"/>
                <a:cs typeface="Lucida Sans Unicode"/>
              </a:rPr>
              <a:t>request</a:t>
            </a:r>
            <a:endParaRPr sz="1374">
              <a:latin typeface="Lucida Sans Unicode"/>
              <a:cs typeface="Lucida Sans Unicode"/>
            </a:endParaRPr>
          </a:p>
        </p:txBody>
      </p:sp>
      <p:grpSp>
        <p:nvGrpSpPr>
          <p:cNvPr id="57" name="object 57"/>
          <p:cNvGrpSpPr/>
          <p:nvPr/>
        </p:nvGrpSpPr>
        <p:grpSpPr>
          <a:xfrm>
            <a:off x="9833261" y="7123273"/>
            <a:ext cx="1792624" cy="117764"/>
            <a:chOff x="7158035" y="6242598"/>
            <a:chExt cx="1304925" cy="85725"/>
          </a:xfrm>
        </p:grpSpPr>
        <p:sp>
          <p:nvSpPr>
            <p:cNvPr id="58" name="object 58"/>
            <p:cNvSpPr/>
            <p:nvPr/>
          </p:nvSpPr>
          <p:spPr>
            <a:xfrm>
              <a:off x="7162798" y="6247361"/>
              <a:ext cx="381000" cy="76200"/>
            </a:xfrm>
            <a:custGeom>
              <a:avLst/>
              <a:gdLst/>
              <a:ahLst/>
              <a:cxnLst/>
              <a:rect l="l" t="t" r="r" b="b"/>
              <a:pathLst>
                <a:path w="381000" h="76200">
                  <a:moveTo>
                    <a:pt x="381000" y="0"/>
                  </a:moveTo>
                  <a:lnTo>
                    <a:pt x="0" y="0"/>
                  </a:lnTo>
                  <a:lnTo>
                    <a:pt x="0" y="76199"/>
                  </a:lnTo>
                  <a:lnTo>
                    <a:pt x="381000" y="76199"/>
                  </a:lnTo>
                  <a:lnTo>
                    <a:pt x="381000" y="0"/>
                  </a:lnTo>
                  <a:close/>
                </a:path>
              </a:pathLst>
            </a:custGeom>
            <a:solidFill>
              <a:srgbClr val="FFACA9"/>
            </a:solidFill>
          </p:spPr>
          <p:txBody>
            <a:bodyPr wrap="square" lIns="0" tIns="0" rIns="0" bIns="0" rtlCol="0"/>
            <a:lstStyle/>
            <a:p>
              <a:endParaRPr sz="2473"/>
            </a:p>
          </p:txBody>
        </p:sp>
        <p:sp>
          <p:nvSpPr>
            <p:cNvPr id="59" name="object 59"/>
            <p:cNvSpPr/>
            <p:nvPr/>
          </p:nvSpPr>
          <p:spPr>
            <a:xfrm>
              <a:off x="7162798" y="6247361"/>
              <a:ext cx="381000" cy="76200"/>
            </a:xfrm>
            <a:custGeom>
              <a:avLst/>
              <a:gdLst/>
              <a:ahLst/>
              <a:cxnLst/>
              <a:rect l="l" t="t" r="r" b="b"/>
              <a:pathLst>
                <a:path w="381000" h="76200">
                  <a:moveTo>
                    <a:pt x="0" y="76199"/>
                  </a:moveTo>
                  <a:lnTo>
                    <a:pt x="0" y="0"/>
                  </a:lnTo>
                  <a:lnTo>
                    <a:pt x="380999" y="0"/>
                  </a:lnTo>
                  <a:lnTo>
                    <a:pt x="380999" y="76199"/>
                  </a:lnTo>
                  <a:lnTo>
                    <a:pt x="0" y="76199"/>
                  </a:lnTo>
                  <a:close/>
                </a:path>
              </a:pathLst>
            </a:custGeom>
            <a:ln w="9524">
              <a:solidFill>
                <a:srgbClr val="000000"/>
              </a:solidFill>
            </a:ln>
          </p:spPr>
          <p:txBody>
            <a:bodyPr wrap="square" lIns="0" tIns="0" rIns="0" bIns="0" rtlCol="0"/>
            <a:lstStyle/>
            <a:p>
              <a:endParaRPr sz="2473"/>
            </a:p>
          </p:txBody>
        </p:sp>
        <p:sp>
          <p:nvSpPr>
            <p:cNvPr id="60" name="object 60"/>
            <p:cNvSpPr/>
            <p:nvPr/>
          </p:nvSpPr>
          <p:spPr>
            <a:xfrm>
              <a:off x="7619998" y="6247361"/>
              <a:ext cx="381000" cy="76200"/>
            </a:xfrm>
            <a:custGeom>
              <a:avLst/>
              <a:gdLst/>
              <a:ahLst/>
              <a:cxnLst/>
              <a:rect l="l" t="t" r="r" b="b"/>
              <a:pathLst>
                <a:path w="381000" h="76200">
                  <a:moveTo>
                    <a:pt x="381000" y="0"/>
                  </a:moveTo>
                  <a:lnTo>
                    <a:pt x="0" y="0"/>
                  </a:lnTo>
                  <a:lnTo>
                    <a:pt x="0" y="76199"/>
                  </a:lnTo>
                  <a:lnTo>
                    <a:pt x="381000" y="76199"/>
                  </a:lnTo>
                  <a:lnTo>
                    <a:pt x="381000" y="0"/>
                  </a:lnTo>
                  <a:close/>
                </a:path>
              </a:pathLst>
            </a:custGeom>
            <a:solidFill>
              <a:srgbClr val="FFACA9"/>
            </a:solidFill>
          </p:spPr>
          <p:txBody>
            <a:bodyPr wrap="square" lIns="0" tIns="0" rIns="0" bIns="0" rtlCol="0"/>
            <a:lstStyle/>
            <a:p>
              <a:endParaRPr sz="2473"/>
            </a:p>
          </p:txBody>
        </p:sp>
        <p:sp>
          <p:nvSpPr>
            <p:cNvPr id="61" name="object 61"/>
            <p:cNvSpPr/>
            <p:nvPr/>
          </p:nvSpPr>
          <p:spPr>
            <a:xfrm>
              <a:off x="7619998" y="6247361"/>
              <a:ext cx="381000" cy="76200"/>
            </a:xfrm>
            <a:custGeom>
              <a:avLst/>
              <a:gdLst/>
              <a:ahLst/>
              <a:cxnLst/>
              <a:rect l="l" t="t" r="r" b="b"/>
              <a:pathLst>
                <a:path w="381000" h="76200">
                  <a:moveTo>
                    <a:pt x="0" y="76199"/>
                  </a:moveTo>
                  <a:lnTo>
                    <a:pt x="0" y="0"/>
                  </a:lnTo>
                  <a:lnTo>
                    <a:pt x="381000" y="0"/>
                  </a:lnTo>
                  <a:lnTo>
                    <a:pt x="381000" y="76199"/>
                  </a:lnTo>
                  <a:lnTo>
                    <a:pt x="0" y="76199"/>
                  </a:lnTo>
                  <a:close/>
                </a:path>
              </a:pathLst>
            </a:custGeom>
            <a:ln w="9524">
              <a:solidFill>
                <a:srgbClr val="000000"/>
              </a:solidFill>
            </a:ln>
          </p:spPr>
          <p:txBody>
            <a:bodyPr wrap="square" lIns="0" tIns="0" rIns="0" bIns="0" rtlCol="0"/>
            <a:lstStyle/>
            <a:p>
              <a:endParaRPr sz="2473"/>
            </a:p>
          </p:txBody>
        </p:sp>
        <p:sp>
          <p:nvSpPr>
            <p:cNvPr id="62" name="object 62"/>
            <p:cNvSpPr/>
            <p:nvPr/>
          </p:nvSpPr>
          <p:spPr>
            <a:xfrm>
              <a:off x="8077198" y="6247361"/>
              <a:ext cx="381000" cy="76200"/>
            </a:xfrm>
            <a:custGeom>
              <a:avLst/>
              <a:gdLst/>
              <a:ahLst/>
              <a:cxnLst/>
              <a:rect l="l" t="t" r="r" b="b"/>
              <a:pathLst>
                <a:path w="381000" h="76200">
                  <a:moveTo>
                    <a:pt x="381000" y="0"/>
                  </a:moveTo>
                  <a:lnTo>
                    <a:pt x="0" y="0"/>
                  </a:lnTo>
                  <a:lnTo>
                    <a:pt x="0" y="76199"/>
                  </a:lnTo>
                  <a:lnTo>
                    <a:pt x="381000" y="76199"/>
                  </a:lnTo>
                  <a:lnTo>
                    <a:pt x="381000" y="0"/>
                  </a:lnTo>
                  <a:close/>
                </a:path>
              </a:pathLst>
            </a:custGeom>
            <a:solidFill>
              <a:srgbClr val="FFACA9"/>
            </a:solidFill>
          </p:spPr>
          <p:txBody>
            <a:bodyPr wrap="square" lIns="0" tIns="0" rIns="0" bIns="0" rtlCol="0"/>
            <a:lstStyle/>
            <a:p>
              <a:endParaRPr sz="2473"/>
            </a:p>
          </p:txBody>
        </p:sp>
        <p:sp>
          <p:nvSpPr>
            <p:cNvPr id="63" name="object 63"/>
            <p:cNvSpPr/>
            <p:nvPr/>
          </p:nvSpPr>
          <p:spPr>
            <a:xfrm>
              <a:off x="8077198" y="6247361"/>
              <a:ext cx="381000" cy="76200"/>
            </a:xfrm>
            <a:custGeom>
              <a:avLst/>
              <a:gdLst/>
              <a:ahLst/>
              <a:cxnLst/>
              <a:rect l="l" t="t" r="r" b="b"/>
              <a:pathLst>
                <a:path w="381000" h="76200">
                  <a:moveTo>
                    <a:pt x="0" y="76199"/>
                  </a:moveTo>
                  <a:lnTo>
                    <a:pt x="0" y="0"/>
                  </a:lnTo>
                  <a:lnTo>
                    <a:pt x="380999" y="0"/>
                  </a:lnTo>
                  <a:lnTo>
                    <a:pt x="380999" y="76199"/>
                  </a:lnTo>
                  <a:lnTo>
                    <a:pt x="0" y="76199"/>
                  </a:lnTo>
                  <a:close/>
                </a:path>
              </a:pathLst>
            </a:custGeom>
            <a:ln w="9524">
              <a:solidFill>
                <a:srgbClr val="000000"/>
              </a:solidFill>
            </a:ln>
          </p:spPr>
          <p:txBody>
            <a:bodyPr wrap="square" lIns="0" tIns="0" rIns="0" bIns="0" rtlCol="0"/>
            <a:lstStyle/>
            <a:p>
              <a:endParaRPr sz="2473"/>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3248530" y="936320"/>
            <a:ext cx="4637270" cy="694084"/>
          </a:xfrm>
          <a:prstGeom prst="rect">
            <a:avLst/>
          </a:prstGeom>
        </p:spPr>
        <p:txBody>
          <a:bodyPr vert="horz" wrap="square" lIns="0" tIns="17446" rIns="0" bIns="0" rtlCol="0">
            <a:spAutoFit/>
          </a:bodyPr>
          <a:lstStyle/>
          <a:p>
            <a:pPr marL="17446">
              <a:spcBef>
                <a:spcPts val="137"/>
              </a:spcBef>
            </a:pPr>
            <a:r>
              <a:rPr dirty="0">
                <a:latin typeface="Calibri"/>
                <a:cs typeface="Calibri"/>
              </a:rPr>
              <a:t>A</a:t>
            </a:r>
            <a:r>
              <a:rPr spc="-7" dirty="0">
                <a:latin typeface="Calibri"/>
                <a:cs typeface="Calibri"/>
              </a:rPr>
              <a:t>dd</a:t>
            </a:r>
            <a:r>
              <a:rPr spc="-900" dirty="0">
                <a:latin typeface="Calibri"/>
                <a:cs typeface="Calibri"/>
              </a:rPr>
              <a:t>-­‐</a:t>
            </a:r>
            <a:r>
              <a:rPr dirty="0">
                <a:latin typeface="Calibri"/>
                <a:cs typeface="Calibri"/>
              </a:rPr>
              <a:t>o</a:t>
            </a:r>
            <a:r>
              <a:rPr spc="-7" dirty="0">
                <a:latin typeface="Calibri"/>
                <a:cs typeface="Calibri"/>
              </a:rPr>
              <a:t>n</a:t>
            </a:r>
            <a:r>
              <a:rPr dirty="0">
                <a:latin typeface="Calibri"/>
                <a:cs typeface="Calibri"/>
              </a:rPr>
              <a:t>e </a:t>
            </a:r>
            <a:r>
              <a:rPr spc="-7" dirty="0">
                <a:latin typeface="Calibri"/>
                <a:cs typeface="Calibri"/>
              </a:rPr>
              <a:t>es</a:t>
            </a:r>
            <a:r>
              <a:rPr spc="-21" dirty="0">
                <a:latin typeface="Calibri"/>
                <a:cs typeface="Calibri"/>
              </a:rPr>
              <a:t>ti</a:t>
            </a:r>
            <a:r>
              <a:rPr dirty="0">
                <a:latin typeface="Calibri"/>
                <a:cs typeface="Calibri"/>
              </a:rPr>
              <a:t>ma</a:t>
            </a:r>
            <a:r>
              <a:rPr spc="-21" dirty="0">
                <a:latin typeface="Calibri"/>
                <a:cs typeface="Calibri"/>
              </a:rPr>
              <a:t>ti</a:t>
            </a:r>
            <a:r>
              <a:rPr dirty="0">
                <a:latin typeface="Calibri"/>
                <a:cs typeface="Calibri"/>
              </a:rPr>
              <a:t>on</a:t>
            </a:r>
          </a:p>
        </p:txBody>
      </p:sp>
      <p:sp>
        <p:nvSpPr>
          <p:cNvPr id="7" name="object 7"/>
          <p:cNvSpPr txBox="1"/>
          <p:nvPr/>
        </p:nvSpPr>
        <p:spPr>
          <a:xfrm>
            <a:off x="1154955" y="5059269"/>
            <a:ext cx="3346232" cy="609445"/>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846" dirty="0">
                <a:latin typeface="Calibri"/>
                <a:cs typeface="Calibri"/>
              </a:rPr>
              <a:t>MLE</a:t>
            </a:r>
            <a:r>
              <a:rPr sz="3846" spc="-110" dirty="0">
                <a:latin typeface="Calibri"/>
                <a:cs typeface="Calibri"/>
              </a:rPr>
              <a:t> </a:t>
            </a:r>
            <a:r>
              <a:rPr sz="3846" spc="-7" dirty="0">
                <a:latin typeface="Calibri"/>
                <a:cs typeface="Calibri"/>
              </a:rPr>
              <a:t>estimate:</a:t>
            </a:r>
            <a:endParaRPr sz="3846" dirty="0">
              <a:latin typeface="Calibri"/>
              <a:cs typeface="Calibri"/>
            </a:endParaRPr>
          </a:p>
        </p:txBody>
      </p:sp>
      <p:sp>
        <p:nvSpPr>
          <p:cNvPr id="8" name="object 8"/>
          <p:cNvSpPr txBox="1"/>
          <p:nvPr/>
        </p:nvSpPr>
        <p:spPr>
          <a:xfrm>
            <a:off x="1154954" y="6472433"/>
            <a:ext cx="3677715" cy="609445"/>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846" dirty="0">
                <a:latin typeface="Calibri"/>
                <a:cs typeface="Calibri"/>
              </a:rPr>
              <a:t>Add</a:t>
            </a:r>
            <a:r>
              <a:rPr sz="3846" spc="-790" dirty="0">
                <a:latin typeface="Calibri"/>
                <a:cs typeface="Calibri"/>
              </a:rPr>
              <a:t>-­‐</a:t>
            </a:r>
            <a:r>
              <a:rPr sz="3846" spc="-7" dirty="0">
                <a:latin typeface="Calibri"/>
                <a:cs typeface="Calibri"/>
              </a:rPr>
              <a:t>1 estimate</a:t>
            </a:r>
            <a:r>
              <a:rPr sz="3846" dirty="0">
                <a:latin typeface="Calibri"/>
                <a:cs typeface="Calibri"/>
              </a:rPr>
              <a:t>:</a:t>
            </a:r>
          </a:p>
        </p:txBody>
      </p:sp>
      <p:sp>
        <p:nvSpPr>
          <p:cNvPr id="9" name="object 9"/>
          <p:cNvSpPr txBox="1"/>
          <p:nvPr/>
        </p:nvSpPr>
        <p:spPr>
          <a:xfrm>
            <a:off x="6204209" y="4681665"/>
            <a:ext cx="2493971" cy="601636"/>
          </a:xfrm>
          <a:prstGeom prst="rect">
            <a:avLst/>
          </a:prstGeom>
        </p:spPr>
        <p:txBody>
          <a:bodyPr vert="horz" wrap="square" lIns="0" tIns="20062" rIns="0" bIns="0" rtlCol="0">
            <a:spAutoFit/>
          </a:bodyPr>
          <a:lstStyle/>
          <a:p>
            <a:pPr marL="52338">
              <a:spcBef>
                <a:spcPts val="157"/>
              </a:spcBef>
            </a:pPr>
            <a:r>
              <a:rPr sz="5667" i="1" spc="-710" baseline="14141" dirty="0">
                <a:latin typeface="Times New Roman"/>
                <a:cs typeface="Times New Roman"/>
              </a:rPr>
              <a:t>P</a:t>
            </a:r>
            <a:r>
              <a:rPr sz="2198" i="1" spc="-21" dirty="0">
                <a:latin typeface="Times New Roman"/>
                <a:cs typeface="Times New Roman"/>
              </a:rPr>
              <a:t>M</a:t>
            </a:r>
            <a:r>
              <a:rPr sz="2198" i="1" spc="-7" dirty="0">
                <a:latin typeface="Times New Roman"/>
                <a:cs typeface="Times New Roman"/>
              </a:rPr>
              <a:t>L</a:t>
            </a:r>
            <a:r>
              <a:rPr sz="2198" i="1" dirty="0">
                <a:latin typeface="Times New Roman"/>
                <a:cs typeface="Times New Roman"/>
              </a:rPr>
              <a:t>E</a:t>
            </a:r>
            <a:r>
              <a:rPr sz="2198" i="1" spc="-76" dirty="0">
                <a:latin typeface="Times New Roman"/>
                <a:cs typeface="Times New Roman"/>
              </a:rPr>
              <a:t> </a:t>
            </a:r>
            <a:r>
              <a:rPr sz="5667" spc="143" baseline="14141" dirty="0">
                <a:latin typeface="Times New Roman"/>
                <a:cs typeface="Times New Roman"/>
              </a:rPr>
              <a:t>(</a:t>
            </a:r>
            <a:r>
              <a:rPr sz="5667" i="1" spc="-92" baseline="14141" dirty="0">
                <a:latin typeface="Times New Roman"/>
                <a:cs typeface="Times New Roman"/>
              </a:rPr>
              <a:t>w</a:t>
            </a:r>
            <a:r>
              <a:rPr sz="2198" i="1" dirty="0">
                <a:latin typeface="Times New Roman"/>
                <a:cs typeface="Times New Roman"/>
              </a:rPr>
              <a:t>i </a:t>
            </a:r>
            <a:r>
              <a:rPr sz="2198" i="1" spc="-69" dirty="0">
                <a:latin typeface="Times New Roman"/>
                <a:cs typeface="Times New Roman"/>
              </a:rPr>
              <a:t> </a:t>
            </a:r>
            <a:r>
              <a:rPr sz="5667" baseline="14141" dirty="0">
                <a:latin typeface="Times New Roman"/>
                <a:cs typeface="Times New Roman"/>
              </a:rPr>
              <a:t>|</a:t>
            </a:r>
            <a:r>
              <a:rPr sz="5667" spc="-442" baseline="14141" dirty="0">
                <a:latin typeface="Times New Roman"/>
                <a:cs typeface="Times New Roman"/>
              </a:rPr>
              <a:t> </a:t>
            </a:r>
            <a:r>
              <a:rPr sz="5667" i="1" spc="-92" baseline="14141" dirty="0">
                <a:latin typeface="Times New Roman"/>
                <a:cs typeface="Times New Roman"/>
              </a:rPr>
              <a:t>w</a:t>
            </a:r>
            <a:r>
              <a:rPr sz="2198" i="1" spc="27" dirty="0">
                <a:latin typeface="Times New Roman"/>
                <a:cs typeface="Times New Roman"/>
              </a:rPr>
              <a:t>i</a:t>
            </a:r>
            <a:r>
              <a:rPr sz="2198" spc="-192" dirty="0">
                <a:latin typeface="Symbol"/>
                <a:cs typeface="Symbol"/>
              </a:rPr>
              <a:t></a:t>
            </a:r>
            <a:r>
              <a:rPr sz="2198" dirty="0">
                <a:latin typeface="Times New Roman"/>
                <a:cs typeface="Times New Roman"/>
              </a:rPr>
              <a:t>1</a:t>
            </a:r>
            <a:endParaRPr sz="2198">
              <a:latin typeface="Times New Roman"/>
              <a:cs typeface="Times New Roman"/>
            </a:endParaRPr>
          </a:p>
        </p:txBody>
      </p:sp>
      <p:sp>
        <p:nvSpPr>
          <p:cNvPr id="10" name="object 10"/>
          <p:cNvSpPr txBox="1"/>
          <p:nvPr/>
        </p:nvSpPr>
        <p:spPr>
          <a:xfrm>
            <a:off x="1154954" y="2290776"/>
            <a:ext cx="11424817" cy="2738424"/>
          </a:xfrm>
          <a:prstGeom prst="rect">
            <a:avLst/>
          </a:prstGeom>
        </p:spPr>
        <p:txBody>
          <a:bodyPr vert="horz" wrap="square" lIns="0" tIns="123870" rIns="0" bIns="0" rtlCol="0">
            <a:spAutoFit/>
          </a:bodyPr>
          <a:lstStyle/>
          <a:p>
            <a:pPr marL="505934" indent="-471042">
              <a:spcBef>
                <a:spcPts val="975"/>
              </a:spcBef>
              <a:buClr>
                <a:srgbClr val="CC0000"/>
              </a:buClr>
              <a:buFont typeface="Times New Roman"/>
              <a:buChar char="•"/>
              <a:tabLst>
                <a:tab pos="505061" algn="l"/>
                <a:tab pos="505934" algn="l"/>
              </a:tabLst>
            </a:pPr>
            <a:r>
              <a:rPr sz="3846" dirty="0">
                <a:latin typeface="Calibri"/>
                <a:cs typeface="Calibri"/>
              </a:rPr>
              <a:t>Also</a:t>
            </a:r>
            <a:r>
              <a:rPr sz="3846" spc="-14" dirty="0">
                <a:latin typeface="Calibri"/>
                <a:cs typeface="Calibri"/>
              </a:rPr>
              <a:t> </a:t>
            </a:r>
            <a:r>
              <a:rPr sz="3846" dirty="0">
                <a:latin typeface="Calibri"/>
                <a:cs typeface="Calibri"/>
              </a:rPr>
              <a:t>called</a:t>
            </a:r>
            <a:r>
              <a:rPr sz="3846" spc="-14" dirty="0">
                <a:latin typeface="Calibri"/>
                <a:cs typeface="Calibri"/>
              </a:rPr>
              <a:t> </a:t>
            </a:r>
            <a:r>
              <a:rPr sz="3846" spc="-7" dirty="0">
                <a:latin typeface="Calibri"/>
                <a:cs typeface="Calibri"/>
              </a:rPr>
              <a:t>Laplace</a:t>
            </a:r>
            <a:r>
              <a:rPr sz="3846" spc="-14" dirty="0">
                <a:latin typeface="Calibri"/>
                <a:cs typeface="Calibri"/>
              </a:rPr>
              <a:t> </a:t>
            </a:r>
            <a:r>
              <a:rPr sz="3846" spc="-7" dirty="0">
                <a:latin typeface="Calibri"/>
                <a:cs typeface="Calibri"/>
              </a:rPr>
              <a:t>smoothing</a:t>
            </a:r>
            <a:endParaRPr sz="3846" dirty="0">
              <a:latin typeface="Calibri"/>
              <a:cs typeface="Calibri"/>
            </a:endParaRPr>
          </a:p>
          <a:p>
            <a:pPr marL="505934" indent="-471042">
              <a:spcBef>
                <a:spcPts val="845"/>
              </a:spcBef>
              <a:buClr>
                <a:srgbClr val="CC0000"/>
              </a:buClr>
              <a:buFont typeface="Times New Roman"/>
              <a:buChar char="•"/>
              <a:tabLst>
                <a:tab pos="505061" algn="l"/>
                <a:tab pos="505934" algn="l"/>
              </a:tabLst>
            </a:pPr>
            <a:r>
              <a:rPr sz="3846" spc="-7" dirty="0">
                <a:latin typeface="Calibri"/>
                <a:cs typeface="Calibri"/>
              </a:rPr>
              <a:t>Pretend we</a:t>
            </a:r>
            <a:r>
              <a:rPr sz="3846" dirty="0">
                <a:latin typeface="Calibri"/>
                <a:cs typeface="Calibri"/>
              </a:rPr>
              <a:t> saw</a:t>
            </a:r>
            <a:r>
              <a:rPr sz="3846" spc="-14" dirty="0">
                <a:latin typeface="Calibri"/>
                <a:cs typeface="Calibri"/>
              </a:rPr>
              <a:t> </a:t>
            </a:r>
            <a:r>
              <a:rPr sz="3846" spc="-7" dirty="0">
                <a:latin typeface="Calibri"/>
                <a:cs typeface="Calibri"/>
              </a:rPr>
              <a:t>each</a:t>
            </a:r>
            <a:r>
              <a:rPr sz="3846" dirty="0">
                <a:latin typeface="Calibri"/>
                <a:cs typeface="Calibri"/>
              </a:rPr>
              <a:t> </a:t>
            </a:r>
            <a:r>
              <a:rPr sz="3846" spc="-7" dirty="0">
                <a:latin typeface="Calibri"/>
                <a:cs typeface="Calibri"/>
              </a:rPr>
              <a:t>word</a:t>
            </a:r>
            <a:r>
              <a:rPr sz="3846" dirty="0">
                <a:latin typeface="Calibri"/>
                <a:cs typeface="Calibri"/>
              </a:rPr>
              <a:t> </a:t>
            </a:r>
            <a:r>
              <a:rPr sz="3846" spc="-7" dirty="0">
                <a:latin typeface="Calibri"/>
                <a:cs typeface="Calibri"/>
              </a:rPr>
              <a:t>one more</a:t>
            </a:r>
            <a:r>
              <a:rPr sz="3846" dirty="0">
                <a:latin typeface="Calibri"/>
                <a:cs typeface="Calibri"/>
              </a:rPr>
              <a:t> </a:t>
            </a:r>
            <a:r>
              <a:rPr sz="3846" spc="-14" dirty="0">
                <a:latin typeface="Calibri"/>
                <a:cs typeface="Calibri"/>
              </a:rPr>
              <a:t>time</a:t>
            </a:r>
            <a:r>
              <a:rPr sz="3846" spc="-7" dirty="0">
                <a:latin typeface="Calibri"/>
                <a:cs typeface="Calibri"/>
              </a:rPr>
              <a:t> </a:t>
            </a:r>
            <a:r>
              <a:rPr sz="3846" dirty="0">
                <a:latin typeface="Calibri"/>
                <a:cs typeface="Calibri"/>
              </a:rPr>
              <a:t>than </a:t>
            </a:r>
            <a:r>
              <a:rPr sz="3846" spc="-7" dirty="0">
                <a:latin typeface="Calibri"/>
                <a:cs typeface="Calibri"/>
              </a:rPr>
              <a:t>we</a:t>
            </a:r>
            <a:r>
              <a:rPr sz="3846" dirty="0">
                <a:latin typeface="Calibri"/>
                <a:cs typeface="Calibri"/>
              </a:rPr>
              <a:t> did</a:t>
            </a:r>
          </a:p>
          <a:p>
            <a:pPr marL="505934" indent="-471042">
              <a:spcBef>
                <a:spcPts val="879"/>
              </a:spcBef>
              <a:buClr>
                <a:srgbClr val="CC0000"/>
              </a:buClr>
              <a:buFont typeface="Times New Roman"/>
              <a:buChar char="•"/>
              <a:tabLst>
                <a:tab pos="505061" algn="l"/>
                <a:tab pos="505934" algn="l"/>
              </a:tabLst>
            </a:pPr>
            <a:r>
              <a:rPr sz="3846" spc="-7" dirty="0">
                <a:latin typeface="Calibri"/>
                <a:cs typeface="Calibri"/>
              </a:rPr>
              <a:t>Just</a:t>
            </a:r>
            <a:r>
              <a:rPr sz="3846" spc="-14" dirty="0">
                <a:latin typeface="Calibri"/>
                <a:cs typeface="Calibri"/>
              </a:rPr>
              <a:t> </a:t>
            </a:r>
            <a:r>
              <a:rPr sz="3846" dirty="0">
                <a:latin typeface="Calibri"/>
                <a:cs typeface="Calibri"/>
              </a:rPr>
              <a:t>add</a:t>
            </a:r>
            <a:r>
              <a:rPr sz="3846" spc="-7" dirty="0">
                <a:latin typeface="Calibri"/>
                <a:cs typeface="Calibri"/>
              </a:rPr>
              <a:t> one </a:t>
            </a:r>
            <a:r>
              <a:rPr sz="3846" dirty="0">
                <a:latin typeface="Calibri"/>
                <a:cs typeface="Calibri"/>
              </a:rPr>
              <a:t>to</a:t>
            </a:r>
            <a:r>
              <a:rPr sz="3846" spc="-7" dirty="0">
                <a:latin typeface="Calibri"/>
                <a:cs typeface="Calibri"/>
              </a:rPr>
              <a:t> </a:t>
            </a:r>
            <a:r>
              <a:rPr sz="3846" dirty="0">
                <a:latin typeface="Calibri"/>
                <a:cs typeface="Calibri"/>
              </a:rPr>
              <a:t>all</a:t>
            </a:r>
            <a:r>
              <a:rPr sz="3846" spc="-14" dirty="0">
                <a:latin typeface="Calibri"/>
                <a:cs typeface="Calibri"/>
              </a:rPr>
              <a:t> </a:t>
            </a:r>
            <a:r>
              <a:rPr sz="3846" dirty="0">
                <a:latin typeface="Calibri"/>
                <a:cs typeface="Calibri"/>
              </a:rPr>
              <a:t>the</a:t>
            </a:r>
            <a:r>
              <a:rPr sz="3846" spc="-7" dirty="0">
                <a:latin typeface="Calibri"/>
                <a:cs typeface="Calibri"/>
              </a:rPr>
              <a:t> counts!</a:t>
            </a:r>
            <a:endParaRPr sz="3846" dirty="0">
              <a:latin typeface="Calibri"/>
              <a:cs typeface="Calibri"/>
            </a:endParaRPr>
          </a:p>
          <a:p>
            <a:pPr marL="7539285">
              <a:spcBef>
                <a:spcPts val="323"/>
              </a:spcBef>
            </a:pPr>
            <a:r>
              <a:rPr sz="5667" spc="10" baseline="-33333" dirty="0">
                <a:latin typeface="Times New Roman"/>
                <a:cs typeface="Times New Roman"/>
              </a:rPr>
              <a:t>)</a:t>
            </a:r>
            <a:r>
              <a:rPr sz="5667" spc="-453" baseline="-33333" dirty="0">
                <a:latin typeface="Times New Roman"/>
                <a:cs typeface="Times New Roman"/>
              </a:rPr>
              <a:t> </a:t>
            </a:r>
            <a:r>
              <a:rPr sz="5667" spc="21" baseline="-33333" dirty="0">
                <a:latin typeface="Symbol"/>
                <a:cs typeface="Symbol"/>
              </a:rPr>
              <a:t></a:t>
            </a:r>
            <a:r>
              <a:rPr sz="5667" spc="154" baseline="-33333" dirty="0">
                <a:latin typeface="Times New Roman"/>
                <a:cs typeface="Times New Roman"/>
              </a:rPr>
              <a:t> </a:t>
            </a:r>
            <a:r>
              <a:rPr sz="3778" i="1" spc="62" dirty="0">
                <a:latin typeface="Times New Roman"/>
                <a:cs typeface="Times New Roman"/>
              </a:rPr>
              <a:t>c</a:t>
            </a:r>
            <a:r>
              <a:rPr sz="3778" spc="96" dirty="0">
                <a:latin typeface="Times New Roman"/>
                <a:cs typeface="Times New Roman"/>
              </a:rPr>
              <a:t>(</a:t>
            </a:r>
            <a:r>
              <a:rPr sz="3778" i="1" spc="-62" dirty="0">
                <a:latin typeface="Times New Roman"/>
                <a:cs typeface="Times New Roman"/>
              </a:rPr>
              <a:t>w</a:t>
            </a:r>
            <a:r>
              <a:rPr sz="3297" i="1" spc="41" baseline="-24305" dirty="0">
                <a:latin typeface="Times New Roman"/>
                <a:cs typeface="Times New Roman"/>
              </a:rPr>
              <a:t>i</a:t>
            </a:r>
            <a:r>
              <a:rPr sz="3297" spc="-287" baseline="-24305" dirty="0">
                <a:latin typeface="Symbol"/>
                <a:cs typeface="Symbol"/>
              </a:rPr>
              <a:t></a:t>
            </a:r>
            <a:r>
              <a:rPr sz="3297" spc="-60" baseline="-24305" dirty="0">
                <a:latin typeface="Times New Roman"/>
                <a:cs typeface="Times New Roman"/>
              </a:rPr>
              <a:t>1</a:t>
            </a:r>
            <a:r>
              <a:rPr sz="3778" dirty="0">
                <a:latin typeface="Times New Roman"/>
                <a:cs typeface="Times New Roman"/>
              </a:rPr>
              <a:t>,</a:t>
            </a:r>
            <a:r>
              <a:rPr sz="3778" spc="-426" dirty="0">
                <a:latin typeface="Times New Roman"/>
                <a:cs typeface="Times New Roman"/>
              </a:rPr>
              <a:t> </a:t>
            </a:r>
            <a:r>
              <a:rPr sz="3778" i="1" spc="-62" dirty="0">
                <a:latin typeface="Times New Roman"/>
                <a:cs typeface="Times New Roman"/>
              </a:rPr>
              <a:t>w</a:t>
            </a:r>
            <a:r>
              <a:rPr sz="3297" i="1" baseline="-24305" dirty="0">
                <a:latin typeface="Times New Roman"/>
                <a:cs typeface="Times New Roman"/>
              </a:rPr>
              <a:t>i</a:t>
            </a:r>
            <a:r>
              <a:rPr sz="3297" i="1" spc="-154" baseline="-24305" dirty="0">
                <a:latin typeface="Times New Roman"/>
                <a:cs typeface="Times New Roman"/>
              </a:rPr>
              <a:t> </a:t>
            </a:r>
            <a:r>
              <a:rPr sz="3778" spc="7" dirty="0">
                <a:latin typeface="Times New Roman"/>
                <a:cs typeface="Times New Roman"/>
              </a:rPr>
              <a:t>)</a:t>
            </a:r>
            <a:endParaRPr sz="3778" dirty="0">
              <a:latin typeface="Times New Roman"/>
              <a:cs typeface="Times New Roman"/>
            </a:endParaRPr>
          </a:p>
        </p:txBody>
      </p:sp>
      <p:sp>
        <p:nvSpPr>
          <p:cNvPr id="11" name="object 11"/>
          <p:cNvSpPr txBox="1"/>
          <p:nvPr/>
        </p:nvSpPr>
        <p:spPr>
          <a:xfrm>
            <a:off x="10308176" y="5269833"/>
            <a:ext cx="386439" cy="355850"/>
          </a:xfrm>
          <a:prstGeom prst="rect">
            <a:avLst/>
          </a:prstGeom>
        </p:spPr>
        <p:txBody>
          <a:bodyPr vert="horz" wrap="square" lIns="0" tIns="17446" rIns="0" bIns="0" rtlCol="0">
            <a:spAutoFit/>
          </a:bodyPr>
          <a:lstStyle/>
          <a:p>
            <a:pPr marL="17446">
              <a:spcBef>
                <a:spcPts val="137"/>
              </a:spcBef>
            </a:pPr>
            <a:r>
              <a:rPr sz="2198" i="1" spc="27" dirty="0">
                <a:latin typeface="Times New Roman"/>
                <a:cs typeface="Times New Roman"/>
              </a:rPr>
              <a:t>i</a:t>
            </a:r>
            <a:r>
              <a:rPr sz="2198" spc="-192" dirty="0">
                <a:latin typeface="Symbol"/>
                <a:cs typeface="Symbol"/>
              </a:rPr>
              <a:t></a:t>
            </a:r>
            <a:r>
              <a:rPr sz="2198" dirty="0">
                <a:latin typeface="Times New Roman"/>
                <a:cs typeface="Times New Roman"/>
              </a:rPr>
              <a:t>1</a:t>
            </a:r>
            <a:endParaRPr sz="2198">
              <a:latin typeface="Times New Roman"/>
              <a:cs typeface="Times New Roman"/>
            </a:endParaRPr>
          </a:p>
        </p:txBody>
      </p:sp>
      <p:sp>
        <p:nvSpPr>
          <p:cNvPr id="12" name="object 12"/>
          <p:cNvSpPr txBox="1"/>
          <p:nvPr/>
        </p:nvSpPr>
        <p:spPr>
          <a:xfrm>
            <a:off x="9601276" y="4945585"/>
            <a:ext cx="1286677" cy="601636"/>
          </a:xfrm>
          <a:prstGeom prst="rect">
            <a:avLst/>
          </a:prstGeom>
        </p:spPr>
        <p:txBody>
          <a:bodyPr vert="horz" wrap="square" lIns="0" tIns="20062" rIns="0" bIns="0" rtlCol="0">
            <a:spAutoFit/>
          </a:bodyPr>
          <a:lstStyle/>
          <a:p>
            <a:pPr marL="17446">
              <a:spcBef>
                <a:spcPts val="157"/>
              </a:spcBef>
              <a:tabLst>
                <a:tab pos="1107820" algn="l"/>
              </a:tabLst>
            </a:pPr>
            <a:r>
              <a:rPr sz="3778" i="1" spc="62" dirty="0">
                <a:latin typeface="Times New Roman"/>
                <a:cs typeface="Times New Roman"/>
              </a:rPr>
              <a:t>c</a:t>
            </a:r>
            <a:r>
              <a:rPr sz="3778" spc="96" dirty="0">
                <a:latin typeface="Times New Roman"/>
                <a:cs typeface="Times New Roman"/>
              </a:rPr>
              <a:t>(</a:t>
            </a:r>
            <a:r>
              <a:rPr sz="3778" i="1" spc="14" dirty="0">
                <a:latin typeface="Times New Roman"/>
                <a:cs typeface="Times New Roman"/>
              </a:rPr>
              <a:t>w</a:t>
            </a:r>
            <a:r>
              <a:rPr sz="3778" i="1" dirty="0">
                <a:latin typeface="Times New Roman"/>
                <a:cs typeface="Times New Roman"/>
              </a:rPr>
              <a:t>	</a:t>
            </a:r>
            <a:r>
              <a:rPr sz="3778" spc="7" dirty="0">
                <a:latin typeface="Times New Roman"/>
                <a:cs typeface="Times New Roman"/>
              </a:rPr>
              <a:t>)</a:t>
            </a:r>
            <a:endParaRPr sz="3778">
              <a:latin typeface="Times New Roman"/>
              <a:cs typeface="Times New Roman"/>
            </a:endParaRPr>
          </a:p>
        </p:txBody>
      </p:sp>
      <p:sp>
        <p:nvSpPr>
          <p:cNvPr id="13" name="object 13"/>
          <p:cNvSpPr/>
          <p:nvPr/>
        </p:nvSpPr>
        <p:spPr>
          <a:xfrm>
            <a:off x="9294203" y="4957377"/>
            <a:ext cx="1884218" cy="0"/>
          </a:xfrm>
          <a:custGeom>
            <a:avLst/>
            <a:gdLst/>
            <a:ahLst/>
            <a:cxnLst/>
            <a:rect l="l" t="t" r="r" b="b"/>
            <a:pathLst>
              <a:path w="1371600">
                <a:moveTo>
                  <a:pt x="0" y="0"/>
                </a:moveTo>
                <a:lnTo>
                  <a:pt x="1371606" y="0"/>
                </a:lnTo>
              </a:path>
            </a:pathLst>
          </a:custGeom>
          <a:ln w="17382">
            <a:solidFill>
              <a:srgbClr val="000000"/>
            </a:solidFill>
          </a:ln>
        </p:spPr>
        <p:txBody>
          <a:bodyPr wrap="square" lIns="0" tIns="0" rIns="0" bIns="0" rtlCol="0"/>
          <a:lstStyle/>
          <a:p>
            <a:endParaRPr sz="2473"/>
          </a:p>
        </p:txBody>
      </p:sp>
      <p:sp>
        <p:nvSpPr>
          <p:cNvPr id="14" name="object 14"/>
          <p:cNvSpPr txBox="1"/>
          <p:nvPr/>
        </p:nvSpPr>
        <p:spPr>
          <a:xfrm>
            <a:off x="6318061" y="6560123"/>
            <a:ext cx="1358206" cy="355850"/>
          </a:xfrm>
          <a:prstGeom prst="rect">
            <a:avLst/>
          </a:prstGeom>
        </p:spPr>
        <p:txBody>
          <a:bodyPr vert="horz" wrap="square" lIns="0" tIns="17446" rIns="0" bIns="0" rtlCol="0">
            <a:spAutoFit/>
          </a:bodyPr>
          <a:lstStyle/>
          <a:p>
            <a:pPr marL="17446">
              <a:spcBef>
                <a:spcPts val="137"/>
              </a:spcBef>
              <a:tabLst>
                <a:tab pos="1262216" algn="l"/>
              </a:tabLst>
            </a:pPr>
            <a:r>
              <a:rPr sz="2198" i="1" spc="-21" dirty="0">
                <a:latin typeface="Times New Roman"/>
                <a:cs typeface="Times New Roman"/>
              </a:rPr>
              <a:t>A</a:t>
            </a:r>
            <a:r>
              <a:rPr sz="2198" i="1" dirty="0">
                <a:latin typeface="Times New Roman"/>
                <a:cs typeface="Times New Roman"/>
              </a:rPr>
              <a:t>d</a:t>
            </a:r>
            <a:r>
              <a:rPr sz="2198" i="1" spc="137" dirty="0">
                <a:latin typeface="Times New Roman"/>
                <a:cs typeface="Times New Roman"/>
              </a:rPr>
              <a:t>d</a:t>
            </a:r>
            <a:r>
              <a:rPr sz="2198" spc="-192" dirty="0">
                <a:latin typeface="Symbol"/>
                <a:cs typeface="Symbol"/>
              </a:rPr>
              <a:t></a:t>
            </a:r>
            <a:r>
              <a:rPr sz="2198" dirty="0">
                <a:latin typeface="Times New Roman"/>
                <a:cs typeface="Times New Roman"/>
              </a:rPr>
              <a:t>1	</a:t>
            </a:r>
            <a:r>
              <a:rPr sz="2198" i="1" dirty="0">
                <a:latin typeface="Times New Roman"/>
                <a:cs typeface="Times New Roman"/>
              </a:rPr>
              <a:t>i</a:t>
            </a:r>
            <a:endParaRPr sz="2198">
              <a:latin typeface="Times New Roman"/>
              <a:cs typeface="Times New Roman"/>
            </a:endParaRPr>
          </a:p>
        </p:txBody>
      </p:sp>
      <p:sp>
        <p:nvSpPr>
          <p:cNvPr id="15" name="object 15"/>
          <p:cNvSpPr txBox="1"/>
          <p:nvPr/>
        </p:nvSpPr>
        <p:spPr>
          <a:xfrm>
            <a:off x="6077746" y="6235877"/>
            <a:ext cx="2232275" cy="601636"/>
          </a:xfrm>
          <a:prstGeom prst="rect">
            <a:avLst/>
          </a:prstGeom>
        </p:spPr>
        <p:txBody>
          <a:bodyPr vert="horz" wrap="square" lIns="0" tIns="20062" rIns="0" bIns="0" rtlCol="0">
            <a:spAutoFit/>
          </a:bodyPr>
          <a:lstStyle/>
          <a:p>
            <a:pPr marL="17446">
              <a:spcBef>
                <a:spcPts val="157"/>
              </a:spcBef>
              <a:tabLst>
                <a:tab pos="1017101" algn="l"/>
                <a:tab pos="1711452" algn="l"/>
              </a:tabLst>
            </a:pPr>
            <a:r>
              <a:rPr sz="3778" i="1" spc="14" dirty="0">
                <a:latin typeface="Times New Roman"/>
                <a:cs typeface="Times New Roman"/>
              </a:rPr>
              <a:t>P	</a:t>
            </a:r>
            <a:r>
              <a:rPr sz="3778" spc="96" dirty="0">
                <a:latin typeface="Times New Roman"/>
                <a:cs typeface="Times New Roman"/>
              </a:rPr>
              <a:t>(</a:t>
            </a:r>
            <a:r>
              <a:rPr sz="3778" i="1" spc="14" dirty="0">
                <a:latin typeface="Times New Roman"/>
                <a:cs typeface="Times New Roman"/>
              </a:rPr>
              <a:t>w</a:t>
            </a:r>
            <a:r>
              <a:rPr sz="3778" i="1" dirty="0">
                <a:latin typeface="Times New Roman"/>
                <a:cs typeface="Times New Roman"/>
              </a:rPr>
              <a:t>	</a:t>
            </a:r>
            <a:r>
              <a:rPr sz="3778" dirty="0">
                <a:latin typeface="Times New Roman"/>
                <a:cs typeface="Times New Roman"/>
              </a:rPr>
              <a:t>|</a:t>
            </a:r>
            <a:r>
              <a:rPr sz="3778" spc="-295" dirty="0">
                <a:latin typeface="Times New Roman"/>
                <a:cs typeface="Times New Roman"/>
              </a:rPr>
              <a:t> </a:t>
            </a:r>
            <a:r>
              <a:rPr sz="3778" i="1" spc="14" dirty="0">
                <a:latin typeface="Times New Roman"/>
                <a:cs typeface="Times New Roman"/>
              </a:rPr>
              <a:t>w</a:t>
            </a:r>
            <a:endParaRPr sz="3778">
              <a:latin typeface="Times New Roman"/>
              <a:cs typeface="Times New Roman"/>
            </a:endParaRPr>
          </a:p>
        </p:txBody>
      </p:sp>
      <p:sp>
        <p:nvSpPr>
          <p:cNvPr id="16" name="object 16"/>
          <p:cNvSpPr txBox="1"/>
          <p:nvPr/>
        </p:nvSpPr>
        <p:spPr>
          <a:xfrm>
            <a:off x="8265747" y="6560123"/>
            <a:ext cx="386439" cy="355850"/>
          </a:xfrm>
          <a:prstGeom prst="rect">
            <a:avLst/>
          </a:prstGeom>
        </p:spPr>
        <p:txBody>
          <a:bodyPr vert="horz" wrap="square" lIns="0" tIns="17446" rIns="0" bIns="0" rtlCol="0">
            <a:spAutoFit/>
          </a:bodyPr>
          <a:lstStyle/>
          <a:p>
            <a:pPr marL="17446">
              <a:spcBef>
                <a:spcPts val="137"/>
              </a:spcBef>
            </a:pPr>
            <a:r>
              <a:rPr sz="2198" i="1" spc="27" dirty="0">
                <a:latin typeface="Times New Roman"/>
                <a:cs typeface="Times New Roman"/>
              </a:rPr>
              <a:t>i</a:t>
            </a:r>
            <a:r>
              <a:rPr sz="2198" spc="-192" dirty="0">
                <a:latin typeface="Symbol"/>
                <a:cs typeface="Symbol"/>
              </a:rPr>
              <a:t></a:t>
            </a:r>
            <a:r>
              <a:rPr sz="2198" dirty="0">
                <a:latin typeface="Times New Roman"/>
                <a:cs typeface="Times New Roman"/>
              </a:rPr>
              <a:t>1</a:t>
            </a:r>
            <a:endParaRPr sz="2198">
              <a:latin typeface="Times New Roman"/>
              <a:cs typeface="Times New Roman"/>
            </a:endParaRPr>
          </a:p>
        </p:txBody>
      </p:sp>
      <p:sp>
        <p:nvSpPr>
          <p:cNvPr id="17" name="object 17"/>
          <p:cNvSpPr txBox="1"/>
          <p:nvPr/>
        </p:nvSpPr>
        <p:spPr>
          <a:xfrm>
            <a:off x="8614603" y="5945562"/>
            <a:ext cx="3186597" cy="601636"/>
          </a:xfrm>
          <a:prstGeom prst="rect">
            <a:avLst/>
          </a:prstGeom>
        </p:spPr>
        <p:txBody>
          <a:bodyPr vert="horz" wrap="square" lIns="0" tIns="20062" rIns="0" bIns="0" rtlCol="0">
            <a:spAutoFit/>
          </a:bodyPr>
          <a:lstStyle/>
          <a:p>
            <a:pPr marL="52338">
              <a:spcBef>
                <a:spcPts val="157"/>
              </a:spcBef>
            </a:pPr>
            <a:r>
              <a:rPr sz="5667" spc="10" baseline="-33333" dirty="0">
                <a:latin typeface="Times New Roman"/>
                <a:cs typeface="Times New Roman"/>
              </a:rPr>
              <a:t>)</a:t>
            </a:r>
            <a:r>
              <a:rPr sz="5667" spc="-453" baseline="-33333" dirty="0">
                <a:latin typeface="Times New Roman"/>
                <a:cs typeface="Times New Roman"/>
              </a:rPr>
              <a:t> </a:t>
            </a:r>
            <a:r>
              <a:rPr sz="5667" spc="21" baseline="-33333" dirty="0">
                <a:latin typeface="Symbol"/>
                <a:cs typeface="Symbol"/>
              </a:rPr>
              <a:t></a:t>
            </a:r>
            <a:r>
              <a:rPr sz="5667" spc="154" baseline="-33333" dirty="0">
                <a:latin typeface="Times New Roman"/>
                <a:cs typeface="Times New Roman"/>
              </a:rPr>
              <a:t> </a:t>
            </a:r>
            <a:r>
              <a:rPr sz="3778" i="1" spc="62" dirty="0">
                <a:latin typeface="Times New Roman"/>
                <a:cs typeface="Times New Roman"/>
              </a:rPr>
              <a:t>c</a:t>
            </a:r>
            <a:r>
              <a:rPr sz="3778" spc="96" dirty="0">
                <a:latin typeface="Times New Roman"/>
                <a:cs typeface="Times New Roman"/>
              </a:rPr>
              <a:t>(</a:t>
            </a:r>
            <a:r>
              <a:rPr sz="3778" i="1" spc="-62" dirty="0">
                <a:latin typeface="Times New Roman"/>
                <a:cs typeface="Times New Roman"/>
              </a:rPr>
              <a:t>w</a:t>
            </a:r>
            <a:r>
              <a:rPr sz="3297" i="1" spc="41" baseline="-24305" dirty="0">
                <a:latin typeface="Times New Roman"/>
                <a:cs typeface="Times New Roman"/>
              </a:rPr>
              <a:t>i</a:t>
            </a:r>
            <a:r>
              <a:rPr sz="3297" spc="-287" baseline="-24305" dirty="0">
                <a:latin typeface="Symbol"/>
                <a:cs typeface="Symbol"/>
              </a:rPr>
              <a:t></a:t>
            </a:r>
            <a:r>
              <a:rPr sz="3297" spc="-60" baseline="-24305" dirty="0">
                <a:latin typeface="Times New Roman"/>
                <a:cs typeface="Times New Roman"/>
              </a:rPr>
              <a:t>1</a:t>
            </a:r>
            <a:r>
              <a:rPr sz="3778" dirty="0">
                <a:latin typeface="Times New Roman"/>
                <a:cs typeface="Times New Roman"/>
              </a:rPr>
              <a:t>,</a:t>
            </a:r>
            <a:r>
              <a:rPr sz="3778" spc="-426" dirty="0">
                <a:latin typeface="Times New Roman"/>
                <a:cs typeface="Times New Roman"/>
              </a:rPr>
              <a:t> </a:t>
            </a:r>
            <a:r>
              <a:rPr sz="3778" i="1" spc="-62" dirty="0">
                <a:latin typeface="Times New Roman"/>
                <a:cs typeface="Times New Roman"/>
              </a:rPr>
              <a:t>w</a:t>
            </a:r>
            <a:r>
              <a:rPr sz="3297" i="1" baseline="-24305" dirty="0">
                <a:latin typeface="Times New Roman"/>
                <a:cs typeface="Times New Roman"/>
              </a:rPr>
              <a:t>i</a:t>
            </a:r>
            <a:r>
              <a:rPr sz="3297" i="1" spc="-154" baseline="-24305" dirty="0">
                <a:latin typeface="Times New Roman"/>
                <a:cs typeface="Times New Roman"/>
              </a:rPr>
              <a:t> </a:t>
            </a:r>
            <a:r>
              <a:rPr sz="3778" spc="7" dirty="0">
                <a:latin typeface="Times New Roman"/>
                <a:cs typeface="Times New Roman"/>
              </a:rPr>
              <a:t>)</a:t>
            </a:r>
            <a:r>
              <a:rPr sz="3778" spc="-508" dirty="0">
                <a:latin typeface="Times New Roman"/>
                <a:cs typeface="Times New Roman"/>
              </a:rPr>
              <a:t> </a:t>
            </a:r>
            <a:r>
              <a:rPr sz="3778" spc="234" dirty="0">
                <a:latin typeface="Symbol"/>
                <a:cs typeface="Symbol"/>
              </a:rPr>
              <a:t></a:t>
            </a:r>
            <a:r>
              <a:rPr sz="3778" spc="7" dirty="0">
                <a:latin typeface="Times New Roman"/>
                <a:cs typeface="Times New Roman"/>
              </a:rPr>
              <a:t>1</a:t>
            </a:r>
            <a:endParaRPr sz="3778">
              <a:latin typeface="Times New Roman"/>
              <a:cs typeface="Times New Roman"/>
            </a:endParaRPr>
          </a:p>
        </p:txBody>
      </p:sp>
      <p:sp>
        <p:nvSpPr>
          <p:cNvPr id="18" name="object 18"/>
          <p:cNvSpPr txBox="1"/>
          <p:nvPr/>
        </p:nvSpPr>
        <p:spPr>
          <a:xfrm>
            <a:off x="10215949" y="6944695"/>
            <a:ext cx="386439" cy="355850"/>
          </a:xfrm>
          <a:prstGeom prst="rect">
            <a:avLst/>
          </a:prstGeom>
        </p:spPr>
        <p:txBody>
          <a:bodyPr vert="horz" wrap="square" lIns="0" tIns="17446" rIns="0" bIns="0" rtlCol="0">
            <a:spAutoFit/>
          </a:bodyPr>
          <a:lstStyle/>
          <a:p>
            <a:pPr marL="17446">
              <a:spcBef>
                <a:spcPts val="137"/>
              </a:spcBef>
            </a:pPr>
            <a:r>
              <a:rPr sz="2198" i="1" spc="27" dirty="0">
                <a:latin typeface="Times New Roman"/>
                <a:cs typeface="Times New Roman"/>
              </a:rPr>
              <a:t>i</a:t>
            </a:r>
            <a:r>
              <a:rPr sz="2198" spc="-192" dirty="0">
                <a:latin typeface="Symbol"/>
                <a:cs typeface="Symbol"/>
              </a:rPr>
              <a:t></a:t>
            </a:r>
            <a:r>
              <a:rPr sz="2198" dirty="0">
                <a:latin typeface="Times New Roman"/>
                <a:cs typeface="Times New Roman"/>
              </a:rPr>
              <a:t>1</a:t>
            </a:r>
            <a:endParaRPr sz="2198">
              <a:latin typeface="Times New Roman"/>
              <a:cs typeface="Times New Roman"/>
            </a:endParaRPr>
          </a:p>
        </p:txBody>
      </p:sp>
      <p:sp>
        <p:nvSpPr>
          <p:cNvPr id="19" name="object 19"/>
          <p:cNvSpPr txBox="1"/>
          <p:nvPr/>
        </p:nvSpPr>
        <p:spPr>
          <a:xfrm>
            <a:off x="9508843" y="6620448"/>
            <a:ext cx="1951387" cy="601636"/>
          </a:xfrm>
          <a:prstGeom prst="rect">
            <a:avLst/>
          </a:prstGeom>
        </p:spPr>
        <p:txBody>
          <a:bodyPr vert="horz" wrap="square" lIns="0" tIns="20062" rIns="0" bIns="0" rtlCol="0">
            <a:spAutoFit/>
          </a:bodyPr>
          <a:lstStyle/>
          <a:p>
            <a:pPr marL="17446">
              <a:spcBef>
                <a:spcPts val="157"/>
              </a:spcBef>
              <a:tabLst>
                <a:tab pos="1107820" algn="l"/>
              </a:tabLst>
            </a:pPr>
            <a:r>
              <a:rPr sz="3778" i="1" spc="62" dirty="0">
                <a:latin typeface="Times New Roman"/>
                <a:cs typeface="Times New Roman"/>
              </a:rPr>
              <a:t>c</a:t>
            </a:r>
            <a:r>
              <a:rPr sz="3778" spc="96" dirty="0">
                <a:latin typeface="Times New Roman"/>
                <a:cs typeface="Times New Roman"/>
              </a:rPr>
              <a:t>(</a:t>
            </a:r>
            <a:r>
              <a:rPr sz="3778" i="1" spc="14" dirty="0">
                <a:latin typeface="Times New Roman"/>
                <a:cs typeface="Times New Roman"/>
              </a:rPr>
              <a:t>w</a:t>
            </a:r>
            <a:r>
              <a:rPr sz="3778" i="1" dirty="0">
                <a:latin typeface="Times New Roman"/>
                <a:cs typeface="Times New Roman"/>
              </a:rPr>
              <a:t>	</a:t>
            </a:r>
            <a:r>
              <a:rPr sz="3778" spc="7" dirty="0">
                <a:latin typeface="Times New Roman"/>
                <a:cs typeface="Times New Roman"/>
              </a:rPr>
              <a:t>)</a:t>
            </a:r>
            <a:r>
              <a:rPr sz="3778" spc="-508" dirty="0">
                <a:latin typeface="Times New Roman"/>
                <a:cs typeface="Times New Roman"/>
              </a:rPr>
              <a:t> </a:t>
            </a:r>
            <a:r>
              <a:rPr sz="3778" spc="14" dirty="0">
                <a:latin typeface="Symbol"/>
                <a:cs typeface="Symbol"/>
              </a:rPr>
              <a:t></a:t>
            </a:r>
            <a:r>
              <a:rPr sz="3778" spc="-570" dirty="0">
                <a:latin typeface="Times New Roman"/>
                <a:cs typeface="Times New Roman"/>
              </a:rPr>
              <a:t> </a:t>
            </a:r>
            <a:r>
              <a:rPr sz="3778" i="1" spc="14" dirty="0">
                <a:latin typeface="Times New Roman"/>
                <a:cs typeface="Times New Roman"/>
              </a:rPr>
              <a:t>V</a:t>
            </a:r>
            <a:endParaRPr sz="3778">
              <a:latin typeface="Times New Roman"/>
              <a:cs typeface="Times New Roman"/>
            </a:endParaRPr>
          </a:p>
        </p:txBody>
      </p:sp>
      <p:sp>
        <p:nvSpPr>
          <p:cNvPr id="20" name="object 20"/>
          <p:cNvSpPr/>
          <p:nvPr/>
        </p:nvSpPr>
        <p:spPr>
          <a:xfrm>
            <a:off x="9283458" y="6632239"/>
            <a:ext cx="2452973" cy="0"/>
          </a:xfrm>
          <a:custGeom>
            <a:avLst/>
            <a:gdLst/>
            <a:ahLst/>
            <a:cxnLst/>
            <a:rect l="l" t="t" r="r" b="b"/>
            <a:pathLst>
              <a:path w="1785620">
                <a:moveTo>
                  <a:pt x="0" y="0"/>
                </a:moveTo>
                <a:lnTo>
                  <a:pt x="1785073" y="0"/>
                </a:lnTo>
              </a:path>
            </a:pathLst>
          </a:custGeom>
          <a:ln w="17382">
            <a:solidFill>
              <a:srgbClr val="000000"/>
            </a:solidFill>
          </a:ln>
        </p:spPr>
        <p:txBody>
          <a:bodyPr wrap="square" lIns="0" tIns="0" rIns="0" bIns="0" rtlCol="0"/>
          <a:lstStyle/>
          <a:p>
            <a:endParaRPr sz="2473"/>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7297856" cy="694084"/>
          </a:xfrm>
          <a:prstGeom prst="rect">
            <a:avLst/>
          </a:prstGeom>
        </p:spPr>
        <p:txBody>
          <a:bodyPr vert="horz" wrap="square" lIns="0" tIns="17446" rIns="0" bIns="0" rtlCol="0">
            <a:spAutoFit/>
          </a:bodyPr>
          <a:lstStyle/>
          <a:p>
            <a:pPr marL="17446">
              <a:spcBef>
                <a:spcPts val="137"/>
              </a:spcBef>
            </a:pPr>
            <a:r>
              <a:rPr spc="-7" dirty="0">
                <a:latin typeface="Calibri"/>
                <a:cs typeface="Calibri"/>
              </a:rPr>
              <a:t>Maximum</a:t>
            </a:r>
            <a:r>
              <a:rPr spc="-21" dirty="0">
                <a:latin typeface="Calibri"/>
                <a:cs typeface="Calibri"/>
              </a:rPr>
              <a:t> </a:t>
            </a:r>
            <a:r>
              <a:rPr spc="-7" dirty="0">
                <a:latin typeface="Calibri"/>
                <a:cs typeface="Calibri"/>
              </a:rPr>
              <a:t>Likelihood</a:t>
            </a:r>
            <a:r>
              <a:rPr spc="-14" dirty="0">
                <a:latin typeface="Calibri"/>
                <a:cs typeface="Calibri"/>
              </a:rPr>
              <a:t> </a:t>
            </a:r>
            <a:r>
              <a:rPr spc="-7" dirty="0">
                <a:latin typeface="Calibri"/>
                <a:cs typeface="Calibri"/>
              </a:rPr>
              <a:t>Estimates</a:t>
            </a:r>
          </a:p>
        </p:txBody>
      </p:sp>
      <p:sp>
        <p:nvSpPr>
          <p:cNvPr id="7" name="object 7"/>
          <p:cNvSpPr txBox="1"/>
          <p:nvPr/>
        </p:nvSpPr>
        <p:spPr>
          <a:xfrm>
            <a:off x="1118039" y="2514600"/>
            <a:ext cx="11416966" cy="4775893"/>
          </a:xfrm>
          <a:prstGeom prst="rect">
            <a:avLst/>
          </a:prstGeom>
        </p:spPr>
        <p:txBody>
          <a:bodyPr vert="horz" wrap="square" lIns="0" tIns="101189" rIns="0" bIns="0" rtlCol="0">
            <a:spAutoFit/>
          </a:bodyPr>
          <a:lstStyle/>
          <a:p>
            <a:pPr marL="488488" indent="-471042">
              <a:spcBef>
                <a:spcPts val="797"/>
              </a:spcBef>
              <a:buClr>
                <a:srgbClr val="CC0000"/>
              </a:buClr>
              <a:buFont typeface="Times New Roman"/>
              <a:buChar char="•"/>
              <a:tabLst>
                <a:tab pos="487615" algn="l"/>
                <a:tab pos="488488" algn="l"/>
              </a:tabLst>
            </a:pPr>
            <a:r>
              <a:rPr sz="2747" dirty="0">
                <a:latin typeface="Calibri"/>
                <a:cs typeface="Calibri"/>
              </a:rPr>
              <a:t>The</a:t>
            </a:r>
            <a:r>
              <a:rPr sz="2747" spc="-7" dirty="0">
                <a:latin typeface="Calibri"/>
                <a:cs typeface="Calibri"/>
              </a:rPr>
              <a:t> maximum likelihood estimate</a:t>
            </a:r>
            <a:endParaRPr sz="2747" dirty="0">
              <a:latin typeface="Calibri"/>
              <a:cs typeface="Calibri"/>
            </a:endParaRPr>
          </a:p>
          <a:p>
            <a:pPr marL="959529" lvl="1" indent="-314028">
              <a:spcBef>
                <a:spcPts val="591"/>
              </a:spcBef>
              <a:buFont typeface="Times New Roman"/>
              <a:buChar char="•"/>
              <a:tabLst>
                <a:tab pos="958657" algn="l"/>
                <a:tab pos="959529" algn="l"/>
              </a:tabLst>
            </a:pPr>
            <a:r>
              <a:rPr sz="2473" spc="-7" dirty="0">
                <a:latin typeface="Calibri"/>
                <a:cs typeface="Calibri"/>
              </a:rPr>
              <a:t>of</a:t>
            </a:r>
            <a:r>
              <a:rPr sz="2473" dirty="0">
                <a:latin typeface="Calibri"/>
                <a:cs typeface="Calibri"/>
              </a:rPr>
              <a:t> </a:t>
            </a:r>
            <a:r>
              <a:rPr sz="2473" spc="-7" dirty="0">
                <a:latin typeface="Calibri"/>
                <a:cs typeface="Calibri"/>
              </a:rPr>
              <a:t>some</a:t>
            </a:r>
            <a:r>
              <a:rPr sz="2473" dirty="0">
                <a:latin typeface="Calibri"/>
                <a:cs typeface="Calibri"/>
              </a:rPr>
              <a:t> </a:t>
            </a:r>
            <a:r>
              <a:rPr sz="2473" spc="-7" dirty="0">
                <a:latin typeface="Calibri"/>
                <a:cs typeface="Calibri"/>
              </a:rPr>
              <a:t>parameter</a:t>
            </a:r>
            <a:r>
              <a:rPr sz="2473" dirty="0">
                <a:latin typeface="Calibri"/>
                <a:cs typeface="Calibri"/>
              </a:rPr>
              <a:t> </a:t>
            </a:r>
            <a:r>
              <a:rPr sz="2473" spc="-7" dirty="0">
                <a:latin typeface="Calibri"/>
                <a:cs typeface="Calibri"/>
              </a:rPr>
              <a:t>of</a:t>
            </a:r>
            <a:r>
              <a:rPr sz="2473" dirty="0">
                <a:latin typeface="Calibri"/>
                <a:cs typeface="Calibri"/>
              </a:rPr>
              <a:t> a </a:t>
            </a:r>
            <a:r>
              <a:rPr sz="2473" spc="-7" dirty="0">
                <a:latin typeface="Calibri"/>
                <a:cs typeface="Calibri"/>
              </a:rPr>
              <a:t>model</a:t>
            </a:r>
            <a:r>
              <a:rPr sz="2473" dirty="0">
                <a:latin typeface="Calibri"/>
                <a:cs typeface="Calibri"/>
              </a:rPr>
              <a:t> M</a:t>
            </a:r>
            <a:r>
              <a:rPr sz="2473" spc="7" dirty="0">
                <a:latin typeface="Calibri"/>
                <a:cs typeface="Calibri"/>
              </a:rPr>
              <a:t> </a:t>
            </a:r>
            <a:r>
              <a:rPr sz="2473" spc="-7" dirty="0">
                <a:latin typeface="Calibri"/>
                <a:cs typeface="Calibri"/>
              </a:rPr>
              <a:t>from</a:t>
            </a:r>
            <a:r>
              <a:rPr sz="2473" dirty="0">
                <a:latin typeface="Calibri"/>
                <a:cs typeface="Calibri"/>
              </a:rPr>
              <a:t> a </a:t>
            </a:r>
            <a:r>
              <a:rPr sz="2473" spc="-7" dirty="0">
                <a:latin typeface="Calibri"/>
                <a:cs typeface="Calibri"/>
              </a:rPr>
              <a:t>training</a:t>
            </a:r>
            <a:r>
              <a:rPr sz="2473" dirty="0">
                <a:latin typeface="Calibri"/>
                <a:cs typeface="Calibri"/>
              </a:rPr>
              <a:t> set T</a:t>
            </a:r>
          </a:p>
          <a:p>
            <a:pPr marL="959529" lvl="1" indent="-314028">
              <a:spcBef>
                <a:spcPts val="467"/>
              </a:spcBef>
              <a:buFont typeface="Times New Roman"/>
              <a:buChar char="•"/>
              <a:tabLst>
                <a:tab pos="958657" algn="l"/>
                <a:tab pos="959529" algn="l"/>
              </a:tabLst>
            </a:pPr>
            <a:r>
              <a:rPr sz="2473" spc="-7" dirty="0">
                <a:latin typeface="Calibri"/>
                <a:cs typeface="Calibri"/>
              </a:rPr>
              <a:t>maximizes</a:t>
            </a:r>
            <a:r>
              <a:rPr sz="2473" dirty="0">
                <a:latin typeface="Calibri"/>
                <a:cs typeface="Calibri"/>
              </a:rPr>
              <a:t> the </a:t>
            </a:r>
            <a:r>
              <a:rPr sz="2473" spc="-7" dirty="0">
                <a:latin typeface="Calibri"/>
                <a:cs typeface="Calibri"/>
              </a:rPr>
              <a:t>likelihood</a:t>
            </a:r>
            <a:r>
              <a:rPr sz="2473" spc="7" dirty="0">
                <a:latin typeface="Calibri"/>
                <a:cs typeface="Calibri"/>
              </a:rPr>
              <a:t> </a:t>
            </a:r>
            <a:r>
              <a:rPr sz="2473" spc="-7" dirty="0">
                <a:latin typeface="Calibri"/>
                <a:cs typeface="Calibri"/>
              </a:rPr>
              <a:t>of</a:t>
            </a:r>
            <a:r>
              <a:rPr sz="2473" dirty="0">
                <a:latin typeface="Calibri"/>
                <a:cs typeface="Calibri"/>
              </a:rPr>
              <a:t> the</a:t>
            </a:r>
            <a:r>
              <a:rPr sz="2473" spc="7" dirty="0">
                <a:latin typeface="Calibri"/>
                <a:cs typeface="Calibri"/>
              </a:rPr>
              <a:t> </a:t>
            </a:r>
            <a:r>
              <a:rPr sz="2473" spc="-7" dirty="0">
                <a:latin typeface="Calibri"/>
                <a:cs typeface="Calibri"/>
              </a:rPr>
              <a:t>training</a:t>
            </a:r>
            <a:r>
              <a:rPr sz="2473" dirty="0">
                <a:latin typeface="Calibri"/>
                <a:cs typeface="Calibri"/>
              </a:rPr>
              <a:t> set T</a:t>
            </a:r>
            <a:r>
              <a:rPr sz="2473" spc="7" dirty="0">
                <a:latin typeface="Calibri"/>
                <a:cs typeface="Calibri"/>
              </a:rPr>
              <a:t> </a:t>
            </a:r>
            <a:r>
              <a:rPr sz="2473" dirty="0">
                <a:latin typeface="Calibri"/>
                <a:cs typeface="Calibri"/>
              </a:rPr>
              <a:t>given the</a:t>
            </a:r>
            <a:r>
              <a:rPr sz="2473" spc="7" dirty="0">
                <a:latin typeface="Calibri"/>
                <a:cs typeface="Calibri"/>
              </a:rPr>
              <a:t> </a:t>
            </a:r>
            <a:r>
              <a:rPr sz="2473" spc="-7" dirty="0">
                <a:latin typeface="Calibri"/>
                <a:cs typeface="Calibri"/>
              </a:rPr>
              <a:t>model</a:t>
            </a:r>
            <a:r>
              <a:rPr sz="2473" dirty="0">
                <a:latin typeface="Calibri"/>
                <a:cs typeface="Calibri"/>
              </a:rPr>
              <a:t> M</a:t>
            </a:r>
          </a:p>
          <a:p>
            <a:pPr marL="488488" indent="-471042">
              <a:spcBef>
                <a:spcPts val="672"/>
              </a:spcBef>
              <a:buClr>
                <a:srgbClr val="CC0000"/>
              </a:buClr>
              <a:buFont typeface="Times New Roman"/>
              <a:buChar char="•"/>
              <a:tabLst>
                <a:tab pos="487615" algn="l"/>
                <a:tab pos="488488" algn="l"/>
              </a:tabLst>
            </a:pPr>
            <a:r>
              <a:rPr sz="2747" spc="-7" dirty="0">
                <a:latin typeface="Calibri"/>
                <a:cs typeface="Calibri"/>
              </a:rPr>
              <a:t>Suppose</a:t>
            </a:r>
            <a:r>
              <a:rPr sz="2747" dirty="0">
                <a:latin typeface="Calibri"/>
                <a:cs typeface="Calibri"/>
              </a:rPr>
              <a:t> the</a:t>
            </a:r>
            <a:r>
              <a:rPr sz="2747" spc="7" dirty="0">
                <a:latin typeface="Calibri"/>
                <a:cs typeface="Calibri"/>
              </a:rPr>
              <a:t> </a:t>
            </a:r>
            <a:r>
              <a:rPr sz="2747" spc="-7" dirty="0">
                <a:latin typeface="Calibri"/>
                <a:cs typeface="Calibri"/>
              </a:rPr>
              <a:t>word</a:t>
            </a:r>
            <a:r>
              <a:rPr sz="2747" spc="7" dirty="0">
                <a:latin typeface="Calibri"/>
                <a:cs typeface="Calibri"/>
              </a:rPr>
              <a:t> </a:t>
            </a:r>
            <a:r>
              <a:rPr sz="2747" spc="-7" dirty="0">
                <a:latin typeface="Calibri"/>
                <a:cs typeface="Calibri"/>
              </a:rPr>
              <a:t>“bagel”</a:t>
            </a:r>
            <a:r>
              <a:rPr sz="2747" dirty="0">
                <a:latin typeface="Calibri"/>
                <a:cs typeface="Calibri"/>
              </a:rPr>
              <a:t> </a:t>
            </a:r>
            <a:r>
              <a:rPr sz="2747" spc="-7" dirty="0">
                <a:latin typeface="Calibri"/>
                <a:cs typeface="Calibri"/>
              </a:rPr>
              <a:t>occurs</a:t>
            </a:r>
            <a:r>
              <a:rPr sz="2747" spc="7" dirty="0">
                <a:latin typeface="Calibri"/>
                <a:cs typeface="Calibri"/>
              </a:rPr>
              <a:t> </a:t>
            </a:r>
            <a:r>
              <a:rPr sz="2747" spc="-7" dirty="0">
                <a:latin typeface="Calibri"/>
                <a:cs typeface="Calibri"/>
              </a:rPr>
              <a:t>400</a:t>
            </a:r>
            <a:r>
              <a:rPr sz="2747" spc="7" dirty="0">
                <a:latin typeface="Calibri"/>
                <a:cs typeface="Calibri"/>
              </a:rPr>
              <a:t> </a:t>
            </a:r>
            <a:r>
              <a:rPr sz="2747" spc="-7" dirty="0">
                <a:latin typeface="Calibri"/>
                <a:cs typeface="Calibri"/>
              </a:rPr>
              <a:t>times</a:t>
            </a:r>
            <a:r>
              <a:rPr sz="2747" dirty="0">
                <a:latin typeface="Calibri"/>
                <a:cs typeface="Calibri"/>
              </a:rPr>
              <a:t> in</a:t>
            </a:r>
            <a:r>
              <a:rPr sz="2747" spc="7" dirty="0">
                <a:latin typeface="Calibri"/>
                <a:cs typeface="Calibri"/>
              </a:rPr>
              <a:t> </a:t>
            </a:r>
            <a:r>
              <a:rPr sz="2747" dirty="0">
                <a:latin typeface="Calibri"/>
                <a:cs typeface="Calibri"/>
              </a:rPr>
              <a:t>a</a:t>
            </a:r>
            <a:r>
              <a:rPr sz="2747" spc="7" dirty="0">
                <a:latin typeface="Calibri"/>
                <a:cs typeface="Calibri"/>
              </a:rPr>
              <a:t> </a:t>
            </a:r>
            <a:r>
              <a:rPr sz="2747" spc="-7" dirty="0">
                <a:latin typeface="Calibri"/>
                <a:cs typeface="Calibri"/>
              </a:rPr>
              <a:t>corpus</a:t>
            </a:r>
            <a:r>
              <a:rPr sz="2747" dirty="0">
                <a:latin typeface="Calibri"/>
                <a:cs typeface="Calibri"/>
              </a:rPr>
              <a:t> </a:t>
            </a:r>
            <a:r>
              <a:rPr sz="2747" spc="-7" dirty="0">
                <a:latin typeface="Calibri"/>
                <a:cs typeface="Calibri"/>
              </a:rPr>
              <a:t>of</a:t>
            </a:r>
            <a:r>
              <a:rPr sz="2747" spc="7" dirty="0">
                <a:latin typeface="Calibri"/>
                <a:cs typeface="Calibri"/>
              </a:rPr>
              <a:t> </a:t>
            </a:r>
            <a:r>
              <a:rPr sz="2747" dirty="0">
                <a:latin typeface="Calibri"/>
                <a:cs typeface="Calibri"/>
              </a:rPr>
              <a:t>a</a:t>
            </a:r>
            <a:r>
              <a:rPr sz="2747" spc="7" dirty="0">
                <a:latin typeface="Calibri"/>
                <a:cs typeface="Calibri"/>
              </a:rPr>
              <a:t> </a:t>
            </a:r>
            <a:r>
              <a:rPr sz="2747" spc="-7" dirty="0">
                <a:latin typeface="Calibri"/>
                <a:cs typeface="Calibri"/>
              </a:rPr>
              <a:t>million</a:t>
            </a:r>
            <a:r>
              <a:rPr sz="2747" spc="7" dirty="0">
                <a:latin typeface="Calibri"/>
                <a:cs typeface="Calibri"/>
              </a:rPr>
              <a:t> </a:t>
            </a:r>
            <a:r>
              <a:rPr sz="2747" spc="-7" dirty="0">
                <a:latin typeface="Calibri"/>
                <a:cs typeface="Calibri"/>
              </a:rPr>
              <a:t>words</a:t>
            </a:r>
            <a:endParaRPr sz="2747" dirty="0">
              <a:latin typeface="Calibri"/>
              <a:cs typeface="Calibri"/>
            </a:endParaRPr>
          </a:p>
          <a:p>
            <a:pPr marL="488488" marR="628927" indent="-471042">
              <a:lnSpc>
                <a:spcPct val="100800"/>
              </a:lnSpc>
              <a:spcBef>
                <a:spcPts val="659"/>
              </a:spcBef>
              <a:buClr>
                <a:srgbClr val="CC0000"/>
              </a:buClr>
              <a:buFont typeface="Times New Roman"/>
              <a:buChar char="•"/>
              <a:tabLst>
                <a:tab pos="487615" algn="l"/>
                <a:tab pos="488488" algn="l"/>
              </a:tabLst>
            </a:pPr>
            <a:r>
              <a:rPr sz="2747" spc="-7" dirty="0">
                <a:latin typeface="Calibri"/>
                <a:cs typeface="Calibri"/>
              </a:rPr>
              <a:t>What</a:t>
            </a:r>
            <a:r>
              <a:rPr sz="2747" dirty="0">
                <a:latin typeface="Calibri"/>
                <a:cs typeface="Calibri"/>
              </a:rPr>
              <a:t> is</a:t>
            </a:r>
            <a:r>
              <a:rPr sz="2747" spc="7" dirty="0">
                <a:latin typeface="Calibri"/>
                <a:cs typeface="Calibri"/>
              </a:rPr>
              <a:t> </a:t>
            </a:r>
            <a:r>
              <a:rPr sz="2747" dirty="0">
                <a:latin typeface="Calibri"/>
                <a:cs typeface="Calibri"/>
              </a:rPr>
              <a:t>the</a:t>
            </a:r>
            <a:r>
              <a:rPr sz="2747" spc="7" dirty="0">
                <a:latin typeface="Calibri"/>
                <a:cs typeface="Calibri"/>
              </a:rPr>
              <a:t> </a:t>
            </a:r>
            <a:r>
              <a:rPr sz="2747" spc="-7" dirty="0">
                <a:latin typeface="Calibri"/>
                <a:cs typeface="Calibri"/>
              </a:rPr>
              <a:t>probability</a:t>
            </a:r>
            <a:r>
              <a:rPr sz="2747" dirty="0">
                <a:latin typeface="Calibri"/>
                <a:cs typeface="Calibri"/>
              </a:rPr>
              <a:t> that</a:t>
            </a:r>
            <a:r>
              <a:rPr sz="2747" spc="7" dirty="0">
                <a:latin typeface="Calibri"/>
                <a:cs typeface="Calibri"/>
              </a:rPr>
              <a:t> </a:t>
            </a:r>
            <a:r>
              <a:rPr sz="2747" dirty="0">
                <a:latin typeface="Calibri"/>
                <a:cs typeface="Calibri"/>
              </a:rPr>
              <a:t>a </a:t>
            </a:r>
            <a:r>
              <a:rPr sz="2747" spc="-7" dirty="0">
                <a:latin typeface="Calibri"/>
                <a:cs typeface="Calibri"/>
              </a:rPr>
              <a:t>random</a:t>
            </a:r>
            <a:r>
              <a:rPr sz="2747" spc="7" dirty="0">
                <a:latin typeface="Calibri"/>
                <a:cs typeface="Calibri"/>
              </a:rPr>
              <a:t> </a:t>
            </a:r>
            <a:r>
              <a:rPr sz="2747" spc="-7" dirty="0">
                <a:latin typeface="Calibri"/>
                <a:cs typeface="Calibri"/>
              </a:rPr>
              <a:t>word</a:t>
            </a:r>
            <a:r>
              <a:rPr sz="2747" spc="7" dirty="0">
                <a:latin typeface="Calibri"/>
                <a:cs typeface="Calibri"/>
              </a:rPr>
              <a:t> </a:t>
            </a:r>
            <a:r>
              <a:rPr sz="2747" spc="-7" dirty="0">
                <a:latin typeface="Calibri"/>
                <a:cs typeface="Calibri"/>
              </a:rPr>
              <a:t>from</a:t>
            </a:r>
            <a:r>
              <a:rPr sz="2747" spc="7" dirty="0">
                <a:latin typeface="Calibri"/>
                <a:cs typeface="Calibri"/>
              </a:rPr>
              <a:t> </a:t>
            </a:r>
            <a:r>
              <a:rPr sz="2747" spc="-7" dirty="0">
                <a:latin typeface="Calibri"/>
                <a:cs typeface="Calibri"/>
              </a:rPr>
              <a:t>some</a:t>
            </a:r>
            <a:r>
              <a:rPr sz="2747" spc="7" dirty="0">
                <a:latin typeface="Calibri"/>
                <a:cs typeface="Calibri"/>
              </a:rPr>
              <a:t> </a:t>
            </a:r>
            <a:r>
              <a:rPr sz="2747" spc="-7" dirty="0">
                <a:latin typeface="Calibri"/>
                <a:cs typeface="Calibri"/>
              </a:rPr>
              <a:t>other</a:t>
            </a:r>
            <a:r>
              <a:rPr sz="2747" spc="7" dirty="0">
                <a:latin typeface="Calibri"/>
                <a:cs typeface="Calibri"/>
              </a:rPr>
              <a:t> </a:t>
            </a:r>
            <a:r>
              <a:rPr sz="2747" spc="-7" dirty="0">
                <a:latin typeface="Calibri"/>
                <a:cs typeface="Calibri"/>
              </a:rPr>
              <a:t>text</a:t>
            </a:r>
            <a:r>
              <a:rPr sz="2747" dirty="0">
                <a:latin typeface="Calibri"/>
                <a:cs typeface="Calibri"/>
              </a:rPr>
              <a:t> </a:t>
            </a:r>
            <a:r>
              <a:rPr sz="2747" spc="-7" dirty="0">
                <a:latin typeface="Calibri"/>
                <a:cs typeface="Calibri"/>
              </a:rPr>
              <a:t>will</a:t>
            </a:r>
            <a:r>
              <a:rPr sz="2747" spc="7" dirty="0">
                <a:latin typeface="Calibri"/>
                <a:cs typeface="Calibri"/>
              </a:rPr>
              <a:t> </a:t>
            </a:r>
            <a:r>
              <a:rPr sz="2747" dirty="0">
                <a:latin typeface="Calibri"/>
                <a:cs typeface="Calibri"/>
              </a:rPr>
              <a:t>be </a:t>
            </a:r>
            <a:r>
              <a:rPr sz="2747" spc="-596" dirty="0">
                <a:latin typeface="Calibri"/>
                <a:cs typeface="Calibri"/>
              </a:rPr>
              <a:t> </a:t>
            </a:r>
            <a:r>
              <a:rPr sz="2747" spc="-7" dirty="0">
                <a:latin typeface="Calibri"/>
                <a:cs typeface="Calibri"/>
              </a:rPr>
              <a:t>“bagel”?</a:t>
            </a:r>
            <a:endParaRPr sz="2747" dirty="0">
              <a:latin typeface="Calibri"/>
              <a:cs typeface="Calibri"/>
            </a:endParaRPr>
          </a:p>
          <a:p>
            <a:pPr marL="488488" indent="-471042">
              <a:spcBef>
                <a:spcPts val="659"/>
              </a:spcBef>
              <a:buClr>
                <a:srgbClr val="CC0000"/>
              </a:buClr>
              <a:buFont typeface="Times New Roman"/>
              <a:buChar char="•"/>
              <a:tabLst>
                <a:tab pos="487615" algn="l"/>
                <a:tab pos="488488" algn="l"/>
              </a:tabLst>
            </a:pPr>
            <a:r>
              <a:rPr sz="2747" dirty="0">
                <a:latin typeface="Calibri"/>
                <a:cs typeface="Calibri"/>
              </a:rPr>
              <a:t>MLE</a:t>
            </a:r>
            <a:r>
              <a:rPr sz="2747" spc="-14" dirty="0">
                <a:latin typeface="Calibri"/>
                <a:cs typeface="Calibri"/>
              </a:rPr>
              <a:t> </a:t>
            </a:r>
            <a:r>
              <a:rPr sz="2747" spc="-7" dirty="0">
                <a:latin typeface="Calibri"/>
                <a:cs typeface="Calibri"/>
              </a:rPr>
              <a:t>estimate</a:t>
            </a:r>
            <a:r>
              <a:rPr sz="2747" spc="-21" dirty="0">
                <a:latin typeface="Calibri"/>
                <a:cs typeface="Calibri"/>
              </a:rPr>
              <a:t> </a:t>
            </a:r>
            <a:r>
              <a:rPr sz="2747" dirty="0">
                <a:latin typeface="Calibri"/>
                <a:cs typeface="Calibri"/>
              </a:rPr>
              <a:t>is</a:t>
            </a:r>
            <a:r>
              <a:rPr sz="2747" spc="-14" dirty="0">
                <a:latin typeface="Calibri"/>
                <a:cs typeface="Calibri"/>
              </a:rPr>
              <a:t> </a:t>
            </a:r>
            <a:r>
              <a:rPr sz="2747" spc="-7" dirty="0">
                <a:latin typeface="Calibri"/>
                <a:cs typeface="Calibri"/>
              </a:rPr>
              <a:t>400/1,000,000</a:t>
            </a:r>
            <a:r>
              <a:rPr sz="2747" spc="-14" dirty="0">
                <a:latin typeface="Calibri"/>
                <a:cs typeface="Calibri"/>
              </a:rPr>
              <a:t> </a:t>
            </a:r>
            <a:r>
              <a:rPr sz="2747" dirty="0">
                <a:latin typeface="Calibri"/>
                <a:cs typeface="Calibri"/>
              </a:rPr>
              <a:t>=</a:t>
            </a:r>
            <a:r>
              <a:rPr sz="2747" spc="-21" dirty="0">
                <a:latin typeface="Calibri"/>
                <a:cs typeface="Calibri"/>
              </a:rPr>
              <a:t> </a:t>
            </a:r>
            <a:r>
              <a:rPr sz="2747" spc="-7" dirty="0">
                <a:latin typeface="Calibri"/>
                <a:cs typeface="Calibri"/>
              </a:rPr>
              <a:t>.0004</a:t>
            </a:r>
            <a:endParaRPr sz="2747" dirty="0">
              <a:latin typeface="Calibri"/>
              <a:cs typeface="Calibri"/>
            </a:endParaRPr>
          </a:p>
          <a:p>
            <a:pPr marL="488488" indent="-471042">
              <a:spcBef>
                <a:spcPts val="749"/>
              </a:spcBef>
              <a:buClr>
                <a:srgbClr val="CC0000"/>
              </a:buClr>
              <a:buFont typeface="Times New Roman"/>
              <a:buChar char="•"/>
              <a:tabLst>
                <a:tab pos="487615" algn="l"/>
                <a:tab pos="488488" algn="l"/>
              </a:tabLst>
            </a:pPr>
            <a:r>
              <a:rPr sz="3022" dirty="0">
                <a:latin typeface="Calibri"/>
                <a:cs typeface="Calibri"/>
              </a:rPr>
              <a:t>This</a:t>
            </a:r>
            <a:r>
              <a:rPr sz="3022" spc="-7" dirty="0">
                <a:latin typeface="Calibri"/>
                <a:cs typeface="Calibri"/>
              </a:rPr>
              <a:t> may </a:t>
            </a:r>
            <a:r>
              <a:rPr sz="3022" dirty="0">
                <a:latin typeface="Calibri"/>
                <a:cs typeface="Calibri"/>
              </a:rPr>
              <a:t>be a</a:t>
            </a:r>
            <a:r>
              <a:rPr sz="3022" spc="-7" dirty="0">
                <a:latin typeface="Calibri"/>
                <a:cs typeface="Calibri"/>
              </a:rPr>
              <a:t> </a:t>
            </a:r>
            <a:r>
              <a:rPr sz="3022" dirty="0">
                <a:latin typeface="Calibri"/>
                <a:cs typeface="Calibri"/>
              </a:rPr>
              <a:t>bad </a:t>
            </a:r>
            <a:r>
              <a:rPr sz="3022" spc="-7" dirty="0">
                <a:latin typeface="Calibri"/>
                <a:cs typeface="Calibri"/>
              </a:rPr>
              <a:t>estimate for some</a:t>
            </a:r>
            <a:r>
              <a:rPr sz="3022" dirty="0">
                <a:latin typeface="Calibri"/>
                <a:cs typeface="Calibri"/>
              </a:rPr>
              <a:t> </a:t>
            </a:r>
            <a:r>
              <a:rPr sz="3022" spc="-7" dirty="0">
                <a:latin typeface="Calibri"/>
                <a:cs typeface="Calibri"/>
              </a:rPr>
              <a:t>other</a:t>
            </a:r>
            <a:r>
              <a:rPr sz="3022" dirty="0">
                <a:latin typeface="Calibri"/>
                <a:cs typeface="Calibri"/>
              </a:rPr>
              <a:t> </a:t>
            </a:r>
            <a:r>
              <a:rPr sz="3022" spc="-7" dirty="0">
                <a:latin typeface="Calibri"/>
                <a:cs typeface="Calibri"/>
              </a:rPr>
              <a:t>corpus</a:t>
            </a:r>
            <a:endParaRPr sz="3022" dirty="0">
              <a:latin typeface="Calibri"/>
              <a:cs typeface="Calibri"/>
            </a:endParaRPr>
          </a:p>
          <a:p>
            <a:pPr marL="959529" marR="6978" lvl="1" indent="-314028">
              <a:spcBef>
                <a:spcPts val="501"/>
              </a:spcBef>
              <a:buFont typeface="Times New Roman"/>
              <a:buChar char="•"/>
              <a:tabLst>
                <a:tab pos="958657" algn="l"/>
                <a:tab pos="959529" algn="l"/>
              </a:tabLst>
            </a:pPr>
            <a:r>
              <a:rPr sz="2473" spc="-7" dirty="0">
                <a:latin typeface="Calibri"/>
                <a:cs typeface="Calibri"/>
              </a:rPr>
              <a:t>But</a:t>
            </a:r>
            <a:r>
              <a:rPr sz="2473" dirty="0">
                <a:latin typeface="Calibri"/>
                <a:cs typeface="Calibri"/>
              </a:rPr>
              <a:t> it is</a:t>
            </a:r>
            <a:r>
              <a:rPr sz="2473" spc="7" dirty="0">
                <a:latin typeface="Calibri"/>
                <a:cs typeface="Calibri"/>
              </a:rPr>
              <a:t> </a:t>
            </a:r>
            <a:r>
              <a:rPr sz="2473" dirty="0">
                <a:latin typeface="Calibri"/>
                <a:cs typeface="Calibri"/>
              </a:rPr>
              <a:t>the</a:t>
            </a:r>
            <a:r>
              <a:rPr sz="2473" spc="-7" dirty="0">
                <a:latin typeface="Calibri"/>
                <a:cs typeface="Calibri"/>
              </a:rPr>
              <a:t> </a:t>
            </a:r>
            <a:r>
              <a:rPr sz="2473" b="1" spc="-14" dirty="0">
                <a:latin typeface="Calibri"/>
                <a:cs typeface="Calibri"/>
              </a:rPr>
              <a:t>estimate</a:t>
            </a:r>
            <a:r>
              <a:rPr sz="2473" b="1" spc="7" dirty="0">
                <a:latin typeface="Calibri"/>
                <a:cs typeface="Calibri"/>
              </a:rPr>
              <a:t> </a:t>
            </a:r>
            <a:r>
              <a:rPr sz="2473" dirty="0">
                <a:latin typeface="Calibri"/>
                <a:cs typeface="Calibri"/>
              </a:rPr>
              <a:t>that </a:t>
            </a:r>
            <a:r>
              <a:rPr sz="2473" spc="-7" dirty="0">
                <a:latin typeface="Calibri"/>
                <a:cs typeface="Calibri"/>
              </a:rPr>
              <a:t>makes</a:t>
            </a:r>
            <a:r>
              <a:rPr sz="2473" dirty="0">
                <a:latin typeface="Calibri"/>
                <a:cs typeface="Calibri"/>
              </a:rPr>
              <a:t> it </a:t>
            </a:r>
            <a:r>
              <a:rPr sz="2473" b="1" dirty="0">
                <a:latin typeface="Calibri"/>
                <a:cs typeface="Calibri"/>
              </a:rPr>
              <a:t>most likely </a:t>
            </a:r>
            <a:r>
              <a:rPr sz="2473" dirty="0">
                <a:latin typeface="Calibri"/>
                <a:cs typeface="Calibri"/>
              </a:rPr>
              <a:t>that </a:t>
            </a:r>
            <a:r>
              <a:rPr sz="2473" spc="-7" dirty="0">
                <a:latin typeface="Calibri"/>
                <a:cs typeface="Calibri"/>
              </a:rPr>
              <a:t>“bagel”</a:t>
            </a:r>
            <a:r>
              <a:rPr sz="2473" spc="7" dirty="0">
                <a:latin typeface="Calibri"/>
                <a:cs typeface="Calibri"/>
              </a:rPr>
              <a:t> </a:t>
            </a:r>
            <a:r>
              <a:rPr sz="2473" spc="-7" dirty="0">
                <a:latin typeface="Calibri"/>
                <a:cs typeface="Calibri"/>
              </a:rPr>
              <a:t>will</a:t>
            </a:r>
            <a:r>
              <a:rPr sz="2473" dirty="0">
                <a:latin typeface="Calibri"/>
                <a:cs typeface="Calibri"/>
              </a:rPr>
              <a:t> </a:t>
            </a:r>
            <a:r>
              <a:rPr sz="2473" spc="-7" dirty="0">
                <a:latin typeface="Calibri"/>
                <a:cs typeface="Calibri"/>
              </a:rPr>
              <a:t>occur</a:t>
            </a:r>
            <a:r>
              <a:rPr sz="2473" dirty="0">
                <a:latin typeface="Calibri"/>
                <a:cs typeface="Calibri"/>
              </a:rPr>
              <a:t> </a:t>
            </a:r>
            <a:r>
              <a:rPr sz="2473" spc="-7" dirty="0">
                <a:latin typeface="Calibri"/>
                <a:cs typeface="Calibri"/>
              </a:rPr>
              <a:t>400</a:t>
            </a:r>
            <a:r>
              <a:rPr sz="2473" spc="7" dirty="0">
                <a:latin typeface="Calibri"/>
                <a:cs typeface="Calibri"/>
              </a:rPr>
              <a:t> </a:t>
            </a:r>
            <a:r>
              <a:rPr sz="2473" spc="-7" dirty="0">
                <a:latin typeface="Calibri"/>
                <a:cs typeface="Calibri"/>
              </a:rPr>
              <a:t>times</a:t>
            </a:r>
            <a:r>
              <a:rPr sz="2473" dirty="0">
                <a:latin typeface="Calibri"/>
                <a:cs typeface="Calibri"/>
              </a:rPr>
              <a:t> in </a:t>
            </a:r>
            <a:r>
              <a:rPr sz="2473" spc="-536" dirty="0">
                <a:latin typeface="Calibri"/>
                <a:cs typeface="Calibri"/>
              </a:rPr>
              <a:t> </a:t>
            </a:r>
            <a:r>
              <a:rPr sz="2473" dirty="0">
                <a:latin typeface="Calibri"/>
                <a:cs typeface="Calibri"/>
              </a:rPr>
              <a:t>a</a:t>
            </a:r>
            <a:r>
              <a:rPr sz="2473" spc="-7" dirty="0">
                <a:latin typeface="Calibri"/>
                <a:cs typeface="Calibri"/>
              </a:rPr>
              <a:t> million</a:t>
            </a:r>
            <a:r>
              <a:rPr sz="2473" dirty="0">
                <a:latin typeface="Calibri"/>
                <a:cs typeface="Calibri"/>
              </a:rPr>
              <a:t> </a:t>
            </a:r>
            <a:r>
              <a:rPr sz="2473" spc="-7" dirty="0">
                <a:latin typeface="Calibri"/>
                <a:cs typeface="Calibri"/>
              </a:rPr>
              <a:t>word</a:t>
            </a:r>
            <a:r>
              <a:rPr sz="2473" dirty="0">
                <a:latin typeface="Calibri"/>
                <a:cs typeface="Calibri"/>
              </a:rPr>
              <a:t> </a:t>
            </a:r>
            <a:r>
              <a:rPr sz="2473" spc="-7" dirty="0">
                <a:latin typeface="Calibri"/>
                <a:cs typeface="Calibri"/>
              </a:rPr>
              <a:t>corpus.</a:t>
            </a:r>
            <a:endParaRPr sz="2473" dirty="0">
              <a:latin typeface="Calibri"/>
              <a:cs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936320"/>
            <a:ext cx="4472401"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Raw</a:t>
            </a:r>
            <a:r>
              <a:rPr spc="-34" dirty="0">
                <a:latin typeface="Calibri"/>
                <a:cs typeface="Calibri"/>
              </a:rPr>
              <a:t> </a:t>
            </a:r>
            <a:r>
              <a:rPr spc="-7" dirty="0">
                <a:latin typeface="Calibri"/>
                <a:cs typeface="Calibri"/>
              </a:rPr>
              <a:t>bigram</a:t>
            </a:r>
            <a:r>
              <a:rPr spc="-34" dirty="0">
                <a:latin typeface="Calibri"/>
                <a:cs typeface="Calibri"/>
              </a:rPr>
              <a:t> </a:t>
            </a:r>
            <a:r>
              <a:rPr spc="-7" dirty="0">
                <a:latin typeface="Calibri"/>
                <a:cs typeface="Calibri"/>
              </a:rPr>
              <a:t>counts</a:t>
            </a:r>
          </a:p>
        </p:txBody>
      </p:sp>
      <p:sp>
        <p:nvSpPr>
          <p:cNvPr id="7" name="object 7"/>
          <p:cNvSpPr txBox="1"/>
          <p:nvPr/>
        </p:nvSpPr>
        <p:spPr>
          <a:xfrm>
            <a:off x="2136040" y="1520100"/>
            <a:ext cx="4335446" cy="524999"/>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297" dirty="0">
                <a:latin typeface="Calibri"/>
                <a:cs typeface="Calibri"/>
              </a:rPr>
              <a:t>Out</a:t>
            </a:r>
            <a:r>
              <a:rPr sz="3297" spc="-27" dirty="0">
                <a:latin typeface="Calibri"/>
                <a:cs typeface="Calibri"/>
              </a:rPr>
              <a:t> </a:t>
            </a:r>
            <a:r>
              <a:rPr sz="3297" spc="-7" dirty="0">
                <a:latin typeface="Calibri"/>
                <a:cs typeface="Calibri"/>
              </a:rPr>
              <a:t>of</a:t>
            </a:r>
            <a:r>
              <a:rPr sz="3297" spc="-21" dirty="0">
                <a:latin typeface="Calibri"/>
                <a:cs typeface="Calibri"/>
              </a:rPr>
              <a:t> </a:t>
            </a:r>
            <a:r>
              <a:rPr sz="3297" spc="-7" dirty="0">
                <a:latin typeface="Calibri"/>
                <a:cs typeface="Calibri"/>
              </a:rPr>
              <a:t>9222</a:t>
            </a:r>
            <a:r>
              <a:rPr sz="3297" spc="-21" dirty="0">
                <a:latin typeface="Calibri"/>
                <a:cs typeface="Calibri"/>
              </a:rPr>
              <a:t> </a:t>
            </a:r>
            <a:r>
              <a:rPr sz="3297" spc="-7" dirty="0">
                <a:latin typeface="Calibri"/>
                <a:cs typeface="Calibri"/>
              </a:rPr>
              <a:t>sentences</a:t>
            </a:r>
            <a:endParaRPr sz="3297" dirty="0">
              <a:latin typeface="Calibri"/>
              <a:cs typeface="Calibri"/>
            </a:endParaRPr>
          </a:p>
        </p:txBody>
      </p:sp>
      <p:pic>
        <p:nvPicPr>
          <p:cNvPr id="8" name="object 8"/>
          <p:cNvPicPr/>
          <p:nvPr/>
        </p:nvPicPr>
        <p:blipFill>
          <a:blip r:embed="rId3" cstate="print"/>
          <a:stretch>
            <a:fillRect/>
          </a:stretch>
        </p:blipFill>
        <p:spPr>
          <a:xfrm>
            <a:off x="715656" y="1641157"/>
            <a:ext cx="9631968" cy="2565085"/>
          </a:xfrm>
          <a:prstGeom prst="rect">
            <a:avLst/>
          </a:prstGeom>
        </p:spPr>
      </p:pic>
      <p:pic>
        <p:nvPicPr>
          <p:cNvPr id="9" name="object 8">
            <a:extLst>
              <a:ext uri="{FF2B5EF4-FFF2-40B4-BE49-F238E27FC236}">
                <a16:creationId xmlns:a16="http://schemas.microsoft.com/office/drawing/2014/main" id="{D105E706-4326-0E4D-A421-3A265F7A1300}"/>
              </a:ext>
            </a:extLst>
          </p:cNvPr>
          <p:cNvPicPr/>
          <p:nvPr/>
        </p:nvPicPr>
        <p:blipFill>
          <a:blip r:embed="rId4" cstate="print"/>
          <a:stretch>
            <a:fillRect/>
          </a:stretch>
        </p:blipFill>
        <p:spPr>
          <a:xfrm>
            <a:off x="690876" y="4251120"/>
            <a:ext cx="9506978" cy="3368533"/>
          </a:xfrm>
          <a:prstGeom prst="rect">
            <a:avLst/>
          </a:prstGeom>
        </p:spPr>
      </p:pic>
    </p:spTree>
    <p:extLst>
      <p:ext uri="{BB962C8B-B14F-4D97-AF65-F5344CB8AC3E}">
        <p14:creationId xmlns:p14="http://schemas.microsoft.com/office/powerpoint/2010/main" val="36186764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9" y="1145678"/>
            <a:ext cx="5838459" cy="704837"/>
          </a:xfrm>
          <a:prstGeom prst="rect">
            <a:avLst/>
          </a:prstGeom>
        </p:spPr>
        <p:txBody>
          <a:bodyPr vert="horz" wrap="square" lIns="0" tIns="17446" rIns="0" bIns="0" rtlCol="0">
            <a:spAutoFit/>
          </a:bodyPr>
          <a:lstStyle/>
          <a:p>
            <a:pPr marL="17446">
              <a:spcBef>
                <a:spcPts val="137"/>
              </a:spcBef>
            </a:pPr>
            <a:r>
              <a:rPr spc="-7" dirty="0">
                <a:latin typeface="Calibri"/>
                <a:cs typeface="Calibri"/>
              </a:rPr>
              <a:t>Raw</a:t>
            </a:r>
            <a:r>
              <a:rPr spc="-34" dirty="0">
                <a:latin typeface="Calibri"/>
                <a:cs typeface="Calibri"/>
              </a:rPr>
              <a:t> </a:t>
            </a:r>
            <a:r>
              <a:rPr spc="-7" dirty="0">
                <a:latin typeface="Calibri"/>
                <a:cs typeface="Calibri"/>
              </a:rPr>
              <a:t>bigram</a:t>
            </a:r>
            <a:r>
              <a:rPr spc="-34" dirty="0">
                <a:latin typeface="Calibri"/>
                <a:cs typeface="Calibri"/>
              </a:rPr>
              <a:t> </a:t>
            </a:r>
            <a:r>
              <a:rPr spc="-7" dirty="0">
                <a:latin typeface="Calibri"/>
                <a:cs typeface="Calibri"/>
              </a:rPr>
              <a:t>probabilities</a:t>
            </a:r>
          </a:p>
        </p:txBody>
      </p:sp>
      <p:sp>
        <p:nvSpPr>
          <p:cNvPr id="7" name="object 7"/>
          <p:cNvSpPr txBox="1"/>
          <p:nvPr/>
        </p:nvSpPr>
        <p:spPr>
          <a:xfrm>
            <a:off x="1154955" y="2255272"/>
            <a:ext cx="3861775" cy="1716736"/>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2747" spc="-7" dirty="0">
                <a:latin typeface="Calibri"/>
                <a:cs typeface="Calibri"/>
              </a:rPr>
              <a:t>Normalize</a:t>
            </a:r>
            <a:r>
              <a:rPr sz="2747" spc="-34" dirty="0">
                <a:latin typeface="Calibri"/>
                <a:cs typeface="Calibri"/>
              </a:rPr>
              <a:t> </a:t>
            </a:r>
            <a:r>
              <a:rPr sz="2747" dirty="0">
                <a:latin typeface="Calibri"/>
                <a:cs typeface="Calibri"/>
              </a:rPr>
              <a:t>by</a:t>
            </a:r>
            <a:r>
              <a:rPr sz="2747" spc="-21" dirty="0">
                <a:latin typeface="Calibri"/>
                <a:cs typeface="Calibri"/>
              </a:rPr>
              <a:t> </a:t>
            </a:r>
            <a:r>
              <a:rPr sz="2747" spc="-7" dirty="0">
                <a:latin typeface="Calibri"/>
                <a:cs typeface="Calibri"/>
              </a:rPr>
              <a:t>unigrams:</a:t>
            </a:r>
            <a:endParaRPr sz="2747">
              <a:latin typeface="Calibri"/>
              <a:cs typeface="Calibri"/>
            </a:endParaRPr>
          </a:p>
          <a:p>
            <a:pPr>
              <a:lnSpc>
                <a:spcPct val="100000"/>
              </a:lnSpc>
              <a:buClr>
                <a:srgbClr val="CC0000"/>
              </a:buClr>
              <a:buFont typeface="Times New Roman"/>
              <a:buChar char="•"/>
            </a:pPr>
            <a:endParaRPr sz="3297">
              <a:latin typeface="Calibri"/>
              <a:cs typeface="Calibri"/>
            </a:endParaRPr>
          </a:p>
          <a:p>
            <a:pPr marL="488488" indent="-471042">
              <a:spcBef>
                <a:spcPts val="2679"/>
              </a:spcBef>
              <a:buClr>
                <a:srgbClr val="CC0000"/>
              </a:buClr>
              <a:buFont typeface="Times New Roman"/>
              <a:buChar char="•"/>
              <a:tabLst>
                <a:tab pos="487615" algn="l"/>
                <a:tab pos="488488" algn="l"/>
              </a:tabLst>
            </a:pPr>
            <a:r>
              <a:rPr sz="2747" spc="-7" dirty="0">
                <a:latin typeface="Calibri"/>
                <a:cs typeface="Calibri"/>
              </a:rPr>
              <a:t>Result:</a:t>
            </a:r>
            <a:endParaRPr sz="2747">
              <a:latin typeface="Calibri"/>
              <a:cs typeface="Calibri"/>
            </a:endParaRPr>
          </a:p>
        </p:txBody>
      </p:sp>
      <p:pic>
        <p:nvPicPr>
          <p:cNvPr id="8" name="object 8"/>
          <p:cNvPicPr/>
          <p:nvPr/>
        </p:nvPicPr>
        <p:blipFill>
          <a:blip r:embed="rId3" cstate="print"/>
          <a:stretch>
            <a:fillRect/>
          </a:stretch>
        </p:blipFill>
        <p:spPr>
          <a:xfrm>
            <a:off x="2992740" y="4016255"/>
            <a:ext cx="9506978" cy="3368533"/>
          </a:xfrm>
          <a:prstGeom prst="rect">
            <a:avLst/>
          </a:prstGeom>
        </p:spPr>
      </p:pic>
      <p:pic>
        <p:nvPicPr>
          <p:cNvPr id="9" name="object 9"/>
          <p:cNvPicPr/>
          <p:nvPr/>
        </p:nvPicPr>
        <p:blipFill>
          <a:blip r:embed="rId4" cstate="print"/>
          <a:stretch>
            <a:fillRect/>
          </a:stretch>
        </p:blipFill>
        <p:spPr>
          <a:xfrm>
            <a:off x="3312224" y="2800535"/>
            <a:ext cx="9061221" cy="722712"/>
          </a:xfrm>
          <a:prstGeom prst="rect">
            <a:avLst/>
          </a:prstGeom>
        </p:spPr>
      </p:pic>
    </p:spTree>
    <p:extLst>
      <p:ext uri="{BB962C8B-B14F-4D97-AF65-F5344CB8AC3E}">
        <p14:creationId xmlns:p14="http://schemas.microsoft.com/office/powerpoint/2010/main" val="13306218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12568433" cy="7078903"/>
            <a:chOff x="452435" y="1308648"/>
            <a:chExt cx="9149080"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pic>
          <p:nvPicPr>
            <p:cNvPr id="6" name="object 6"/>
            <p:cNvPicPr/>
            <p:nvPr/>
          </p:nvPicPr>
          <p:blipFill>
            <a:blip r:embed="rId3" cstate="print"/>
            <a:stretch>
              <a:fillRect/>
            </a:stretch>
          </p:blipFill>
          <p:spPr>
            <a:xfrm>
              <a:off x="457200" y="2894562"/>
              <a:ext cx="9143998" cy="3289298"/>
            </a:xfrm>
            <a:prstGeom prst="rect">
              <a:avLst/>
            </a:prstGeom>
          </p:spPr>
        </p:pic>
      </p:grpSp>
      <p:sp>
        <p:nvSpPr>
          <p:cNvPr id="7" name="object 7"/>
          <p:cNvSpPr txBox="1">
            <a:spLocks noGrp="1"/>
          </p:cNvSpPr>
          <p:nvPr>
            <p:ph type="title"/>
          </p:nvPr>
        </p:nvSpPr>
        <p:spPr>
          <a:xfrm>
            <a:off x="-177800" y="685730"/>
            <a:ext cx="15803745" cy="647511"/>
          </a:xfrm>
          <a:prstGeom prst="rect">
            <a:avLst/>
          </a:prstGeom>
        </p:spPr>
        <p:txBody>
          <a:bodyPr vert="horz" wrap="square" lIns="0" tIns="41872" rIns="0" bIns="0" rtlCol="0">
            <a:spAutoFit/>
          </a:bodyPr>
          <a:lstStyle/>
          <a:p>
            <a:pPr marL="1480292" marR="6978">
              <a:lnSpc>
                <a:spcPts val="5220"/>
              </a:lnSpc>
              <a:spcBef>
                <a:spcPts val="330"/>
              </a:spcBef>
            </a:pPr>
            <a:r>
              <a:rPr sz="3200" spc="-7" dirty="0"/>
              <a:t>Berkeley</a:t>
            </a:r>
            <a:r>
              <a:rPr sz="3200" dirty="0"/>
              <a:t> </a:t>
            </a:r>
            <a:r>
              <a:rPr sz="3200" spc="-7" dirty="0"/>
              <a:t>Restaurant</a:t>
            </a:r>
            <a:r>
              <a:rPr sz="3200" dirty="0"/>
              <a:t> </a:t>
            </a:r>
            <a:r>
              <a:rPr sz="3200" spc="-7" dirty="0"/>
              <a:t>Corpus:</a:t>
            </a:r>
            <a:r>
              <a:rPr sz="3200" dirty="0"/>
              <a:t> </a:t>
            </a:r>
            <a:r>
              <a:rPr sz="3200" spc="-7" dirty="0"/>
              <a:t>Laplace </a:t>
            </a:r>
            <a:r>
              <a:rPr sz="3200" spc="-1194" dirty="0"/>
              <a:t> </a:t>
            </a:r>
            <a:r>
              <a:rPr sz="3200" spc="-7" dirty="0"/>
              <a:t>smoothed</a:t>
            </a:r>
            <a:r>
              <a:rPr sz="3200" spc="-14" dirty="0"/>
              <a:t> </a:t>
            </a:r>
            <a:r>
              <a:rPr sz="3200" spc="-7" dirty="0"/>
              <a:t>bigram</a:t>
            </a:r>
            <a:r>
              <a:rPr sz="3200" dirty="0"/>
              <a:t> </a:t>
            </a:r>
            <a:r>
              <a:rPr sz="3200" spc="-7" dirty="0"/>
              <a:t>counts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7294367" cy="694084"/>
          </a:xfrm>
          <a:prstGeom prst="rect">
            <a:avLst/>
          </a:prstGeom>
        </p:spPr>
        <p:txBody>
          <a:bodyPr vert="horz" wrap="square" lIns="0" tIns="17446" rIns="0" bIns="0" rtlCol="0">
            <a:spAutoFit/>
          </a:bodyPr>
          <a:lstStyle/>
          <a:p>
            <a:pPr marL="17446">
              <a:spcBef>
                <a:spcPts val="137"/>
              </a:spcBef>
            </a:pPr>
            <a:r>
              <a:rPr spc="-7" dirty="0"/>
              <a:t>Laplace-smoothed</a:t>
            </a:r>
            <a:r>
              <a:rPr spc="-48" dirty="0"/>
              <a:t> </a:t>
            </a:r>
            <a:r>
              <a:rPr spc="-7" dirty="0"/>
              <a:t>bigrams</a:t>
            </a:r>
          </a:p>
        </p:txBody>
      </p:sp>
      <p:pic>
        <p:nvPicPr>
          <p:cNvPr id="7" name="object 7"/>
          <p:cNvPicPr/>
          <p:nvPr/>
        </p:nvPicPr>
        <p:blipFill>
          <a:blip r:embed="rId3" cstate="print"/>
          <a:stretch>
            <a:fillRect/>
          </a:stretch>
        </p:blipFill>
        <p:spPr>
          <a:xfrm>
            <a:off x="1346200" y="2737204"/>
            <a:ext cx="6225772" cy="970754"/>
          </a:xfrm>
          <a:prstGeom prst="rect">
            <a:avLst/>
          </a:prstGeom>
        </p:spPr>
      </p:pic>
      <p:pic>
        <p:nvPicPr>
          <p:cNvPr id="8" name="object 8"/>
          <p:cNvPicPr/>
          <p:nvPr/>
        </p:nvPicPr>
        <p:blipFill>
          <a:blip r:embed="rId4" cstate="print"/>
          <a:stretch>
            <a:fillRect/>
          </a:stretch>
        </p:blipFill>
        <p:spPr>
          <a:xfrm>
            <a:off x="1084274" y="4064442"/>
            <a:ext cx="11705270" cy="3102736"/>
          </a:xfrm>
          <a:prstGeom prst="rect">
            <a:avLst/>
          </a:prstGeom>
        </p:spPr>
      </p:pic>
      <p:sp>
        <p:nvSpPr>
          <p:cNvPr id="9" name="TextBox 8">
            <a:extLst>
              <a:ext uri="{FF2B5EF4-FFF2-40B4-BE49-F238E27FC236}">
                <a16:creationId xmlns:a16="http://schemas.microsoft.com/office/drawing/2014/main" id="{DDCE51B5-CB6E-6C23-7748-04D33D751876}"/>
              </a:ext>
            </a:extLst>
          </p:cNvPr>
          <p:cNvSpPr txBox="1"/>
          <p:nvPr/>
        </p:nvSpPr>
        <p:spPr>
          <a:xfrm>
            <a:off x="7899400" y="2590800"/>
            <a:ext cx="5772673" cy="1200329"/>
          </a:xfrm>
          <a:prstGeom prst="rect">
            <a:avLst/>
          </a:prstGeom>
          <a:noFill/>
        </p:spPr>
        <p:txBody>
          <a:bodyPr wrap="square" rtlCol="0">
            <a:spAutoFit/>
          </a:bodyPr>
          <a:lstStyle/>
          <a:p>
            <a:r>
              <a:rPr lang="en-US" sz="2400" dirty="0"/>
              <a:t>P* (want | </a:t>
            </a:r>
            <a:r>
              <a:rPr lang="en-US" sz="2400" dirty="0" err="1"/>
              <a:t>i</a:t>
            </a:r>
            <a:r>
              <a:rPr lang="en-US" sz="2400" dirty="0"/>
              <a:t> )= count (</a:t>
            </a:r>
            <a:r>
              <a:rPr lang="en-US" sz="2400" dirty="0" err="1"/>
              <a:t>i</a:t>
            </a:r>
            <a:r>
              <a:rPr lang="en-US" sz="2400" dirty="0"/>
              <a:t> want) + 1/count (</a:t>
            </a:r>
            <a:r>
              <a:rPr lang="en-US" sz="2400" dirty="0" err="1"/>
              <a:t>i</a:t>
            </a:r>
            <a:r>
              <a:rPr lang="en-US" sz="2400" dirty="0"/>
              <a:t>) + V</a:t>
            </a:r>
          </a:p>
          <a:p>
            <a:endParaRPr lang="en-US" sz="2400" dirty="0"/>
          </a:p>
          <a:p>
            <a:r>
              <a:rPr lang="en-US" sz="2400" dirty="0"/>
              <a:t>827+1/ 2533 + 1446=0.2081=0.21 (round of)</a:t>
            </a:r>
            <a:endParaRPr lang="en-PK"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700793"/>
            <a:ext cx="5742502" cy="694084"/>
          </a:xfrm>
          <a:prstGeom prst="rect">
            <a:avLst/>
          </a:prstGeom>
        </p:spPr>
        <p:txBody>
          <a:bodyPr vert="horz" wrap="square" lIns="0" tIns="17446" rIns="0" bIns="0" rtlCol="0">
            <a:spAutoFit/>
          </a:bodyPr>
          <a:lstStyle/>
          <a:p>
            <a:pPr marL="17446">
              <a:spcBef>
                <a:spcPts val="137"/>
              </a:spcBef>
            </a:pPr>
            <a:r>
              <a:rPr spc="-7" dirty="0"/>
              <a:t>Reconstituted</a:t>
            </a:r>
            <a:r>
              <a:rPr spc="-55" dirty="0"/>
              <a:t> </a:t>
            </a:r>
            <a:r>
              <a:rPr spc="-7" dirty="0"/>
              <a:t>counts</a:t>
            </a:r>
          </a:p>
        </p:txBody>
      </p:sp>
      <p:pic>
        <p:nvPicPr>
          <p:cNvPr id="7" name="object 7"/>
          <p:cNvPicPr/>
          <p:nvPr/>
        </p:nvPicPr>
        <p:blipFill>
          <a:blip r:embed="rId3" cstate="print"/>
          <a:stretch>
            <a:fillRect/>
          </a:stretch>
        </p:blipFill>
        <p:spPr>
          <a:xfrm>
            <a:off x="1303247" y="2465822"/>
            <a:ext cx="5831382" cy="838200"/>
          </a:xfrm>
          <a:prstGeom prst="rect">
            <a:avLst/>
          </a:prstGeom>
        </p:spPr>
      </p:pic>
      <p:pic>
        <p:nvPicPr>
          <p:cNvPr id="8" name="object 8"/>
          <p:cNvPicPr/>
          <p:nvPr/>
        </p:nvPicPr>
        <p:blipFill>
          <a:blip r:embed="rId4" cstate="print"/>
          <a:stretch>
            <a:fillRect/>
          </a:stretch>
        </p:blipFill>
        <p:spPr>
          <a:xfrm>
            <a:off x="1091751" y="3626700"/>
            <a:ext cx="11611615" cy="3793834"/>
          </a:xfrm>
          <a:prstGeom prst="rect">
            <a:avLst/>
          </a:prstGeom>
        </p:spPr>
      </p:pic>
      <p:sp>
        <p:nvSpPr>
          <p:cNvPr id="9" name="TextBox 8">
            <a:extLst>
              <a:ext uri="{FF2B5EF4-FFF2-40B4-BE49-F238E27FC236}">
                <a16:creationId xmlns:a16="http://schemas.microsoft.com/office/drawing/2014/main" id="{10CDC1BC-16DE-C471-44F5-CAA3BFFBD0D4}"/>
              </a:ext>
            </a:extLst>
          </p:cNvPr>
          <p:cNvSpPr txBox="1"/>
          <p:nvPr/>
        </p:nvSpPr>
        <p:spPr>
          <a:xfrm>
            <a:off x="7747000" y="2580640"/>
            <a:ext cx="5742502"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Prob(want | </a:t>
            </a:r>
            <a:r>
              <a:rPr lang="en-US" sz="2400" dirty="0" err="1"/>
              <a:t>i</a:t>
            </a:r>
            <a:r>
              <a:rPr lang="en-US" sz="2400" dirty="0"/>
              <a:t> ) * count (</a:t>
            </a:r>
            <a:r>
              <a:rPr lang="en-US" sz="2400" dirty="0" err="1"/>
              <a:t>i</a:t>
            </a:r>
            <a:r>
              <a:rPr lang="en-US" sz="2400" dirty="0"/>
              <a:t>) = count (</a:t>
            </a:r>
            <a:r>
              <a:rPr lang="en-US" sz="2400" dirty="0" err="1"/>
              <a:t>i</a:t>
            </a:r>
            <a:r>
              <a:rPr lang="en-US" sz="2400" dirty="0"/>
              <a:t> want)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       0.2081 * 2533  = </a:t>
            </a:r>
            <a:r>
              <a:rPr lang="en-US" sz="2400" b="1" dirty="0"/>
              <a:t>527</a:t>
            </a:r>
            <a:endParaRPr lang="en-PK" sz="2400" b="1"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7" y="658362"/>
            <a:ext cx="8845358" cy="694084"/>
          </a:xfrm>
          <a:prstGeom prst="rect">
            <a:avLst/>
          </a:prstGeom>
        </p:spPr>
        <p:txBody>
          <a:bodyPr vert="horz" wrap="square" lIns="0" tIns="17446" rIns="0" bIns="0" rtlCol="0">
            <a:spAutoFit/>
          </a:bodyPr>
          <a:lstStyle/>
          <a:p>
            <a:pPr marL="17446">
              <a:spcBef>
                <a:spcPts val="137"/>
              </a:spcBef>
            </a:pPr>
            <a:r>
              <a:rPr spc="-7" dirty="0"/>
              <a:t>Compare</a:t>
            </a:r>
            <a:r>
              <a:rPr spc="-14" dirty="0"/>
              <a:t> </a:t>
            </a:r>
            <a:r>
              <a:rPr spc="-7" dirty="0"/>
              <a:t>with</a:t>
            </a:r>
            <a:r>
              <a:rPr spc="-21" dirty="0"/>
              <a:t> </a:t>
            </a:r>
            <a:r>
              <a:rPr dirty="0"/>
              <a:t>raw</a:t>
            </a:r>
            <a:r>
              <a:rPr spc="-21" dirty="0"/>
              <a:t> </a:t>
            </a:r>
            <a:r>
              <a:rPr spc="-7" dirty="0"/>
              <a:t>bigram counts</a:t>
            </a:r>
          </a:p>
        </p:txBody>
      </p:sp>
      <p:grpSp>
        <p:nvGrpSpPr>
          <p:cNvPr id="7" name="object 7"/>
          <p:cNvGrpSpPr/>
          <p:nvPr/>
        </p:nvGrpSpPr>
        <p:grpSpPr>
          <a:xfrm>
            <a:off x="3245043" y="1577834"/>
            <a:ext cx="8793018" cy="5840204"/>
            <a:chOff x="2362200" y="2205845"/>
            <a:chExt cx="6400800" cy="4251325"/>
          </a:xfrm>
        </p:grpSpPr>
        <p:pic>
          <p:nvPicPr>
            <p:cNvPr id="8" name="object 8"/>
            <p:cNvPicPr/>
            <p:nvPr/>
          </p:nvPicPr>
          <p:blipFill>
            <a:blip r:embed="rId3" cstate="print"/>
            <a:stretch>
              <a:fillRect/>
            </a:stretch>
          </p:blipFill>
          <p:spPr>
            <a:xfrm>
              <a:off x="2439165" y="2205845"/>
              <a:ext cx="6072679" cy="2136515"/>
            </a:xfrm>
            <a:prstGeom prst="rect">
              <a:avLst/>
            </a:prstGeom>
          </p:spPr>
        </p:pic>
        <p:pic>
          <p:nvPicPr>
            <p:cNvPr id="9" name="object 9"/>
            <p:cNvPicPr/>
            <p:nvPr/>
          </p:nvPicPr>
          <p:blipFill>
            <a:blip r:embed="rId4" cstate="print"/>
            <a:stretch>
              <a:fillRect/>
            </a:stretch>
          </p:blipFill>
          <p:spPr>
            <a:xfrm>
              <a:off x="2362200" y="4321089"/>
              <a:ext cx="6400798" cy="2135821"/>
            </a:xfrm>
            <a:prstGeom prst="rect">
              <a:avLst/>
            </a:prstGeom>
          </p:spPr>
        </p:pic>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7" y="1145678"/>
            <a:ext cx="8988419" cy="694084"/>
          </a:xfrm>
          <a:prstGeom prst="rect">
            <a:avLst/>
          </a:prstGeom>
        </p:spPr>
        <p:txBody>
          <a:bodyPr vert="horz" wrap="square" lIns="0" tIns="17446" rIns="0" bIns="0" rtlCol="0">
            <a:spAutoFit/>
          </a:bodyPr>
          <a:lstStyle/>
          <a:p>
            <a:pPr marL="17446">
              <a:spcBef>
                <a:spcPts val="137"/>
              </a:spcBef>
            </a:pPr>
            <a:r>
              <a:rPr dirty="0">
                <a:latin typeface="Calibri"/>
                <a:cs typeface="Calibri"/>
              </a:rPr>
              <a:t>A</a:t>
            </a:r>
            <a:r>
              <a:rPr spc="-7" dirty="0">
                <a:latin typeface="Calibri"/>
                <a:cs typeface="Calibri"/>
              </a:rPr>
              <a:t>dd</a:t>
            </a:r>
            <a:r>
              <a:rPr spc="-900" dirty="0">
                <a:latin typeface="Calibri"/>
                <a:cs typeface="Calibri"/>
              </a:rPr>
              <a:t>-­‐</a:t>
            </a:r>
            <a:r>
              <a:rPr dirty="0">
                <a:latin typeface="Calibri"/>
                <a:cs typeface="Calibri"/>
              </a:rPr>
              <a:t>1 </a:t>
            </a:r>
            <a:r>
              <a:rPr spc="-7" dirty="0">
                <a:latin typeface="Calibri"/>
                <a:cs typeface="Calibri"/>
              </a:rPr>
              <a:t>es</a:t>
            </a:r>
            <a:r>
              <a:rPr spc="-21" dirty="0">
                <a:latin typeface="Calibri"/>
                <a:cs typeface="Calibri"/>
              </a:rPr>
              <a:t>ti</a:t>
            </a:r>
            <a:r>
              <a:rPr dirty="0">
                <a:latin typeface="Calibri"/>
                <a:cs typeface="Calibri"/>
              </a:rPr>
              <a:t>ma</a:t>
            </a:r>
            <a:r>
              <a:rPr spc="-21" dirty="0">
                <a:latin typeface="Calibri"/>
                <a:cs typeface="Calibri"/>
              </a:rPr>
              <a:t>ti</a:t>
            </a:r>
            <a:r>
              <a:rPr dirty="0">
                <a:latin typeface="Calibri"/>
                <a:cs typeface="Calibri"/>
              </a:rPr>
              <a:t>on is a </a:t>
            </a:r>
            <a:r>
              <a:rPr spc="-7" dirty="0">
                <a:latin typeface="Calibri"/>
                <a:cs typeface="Calibri"/>
              </a:rPr>
              <a:t>b</a:t>
            </a:r>
            <a:r>
              <a:rPr dirty="0">
                <a:latin typeface="Calibri"/>
                <a:cs typeface="Calibri"/>
              </a:rPr>
              <a:t>l</a:t>
            </a:r>
            <a:r>
              <a:rPr spc="-7" dirty="0">
                <a:latin typeface="Calibri"/>
                <a:cs typeface="Calibri"/>
              </a:rPr>
              <a:t>un</a:t>
            </a:r>
            <a:r>
              <a:rPr dirty="0">
                <a:latin typeface="Calibri"/>
                <a:cs typeface="Calibri"/>
              </a:rPr>
              <a:t>t i</a:t>
            </a:r>
            <a:r>
              <a:rPr spc="-7" dirty="0">
                <a:latin typeface="Calibri"/>
                <a:cs typeface="Calibri"/>
              </a:rPr>
              <a:t>ns</a:t>
            </a:r>
            <a:r>
              <a:rPr dirty="0">
                <a:latin typeface="Calibri"/>
                <a:cs typeface="Calibri"/>
              </a:rPr>
              <a:t>tr</a:t>
            </a:r>
            <a:r>
              <a:rPr spc="-7" dirty="0">
                <a:latin typeface="Calibri"/>
                <a:cs typeface="Calibri"/>
              </a:rPr>
              <a:t>u</a:t>
            </a:r>
            <a:r>
              <a:rPr dirty="0">
                <a:latin typeface="Calibri"/>
                <a:cs typeface="Calibri"/>
              </a:rPr>
              <a:t>m</a:t>
            </a:r>
            <a:r>
              <a:rPr spc="-7" dirty="0">
                <a:latin typeface="Calibri"/>
                <a:cs typeface="Calibri"/>
              </a:rPr>
              <a:t>en</a:t>
            </a:r>
            <a:r>
              <a:rPr dirty="0">
                <a:latin typeface="Calibri"/>
                <a:cs typeface="Calibri"/>
              </a:rPr>
              <a:t>t</a:t>
            </a:r>
          </a:p>
        </p:txBody>
      </p:sp>
      <p:sp>
        <p:nvSpPr>
          <p:cNvPr id="7" name="object 7"/>
          <p:cNvSpPr txBox="1"/>
          <p:nvPr/>
        </p:nvSpPr>
        <p:spPr>
          <a:xfrm>
            <a:off x="1153599" y="2667000"/>
            <a:ext cx="9923548" cy="2926348"/>
          </a:xfrm>
          <a:prstGeom prst="rect">
            <a:avLst/>
          </a:prstGeom>
        </p:spPr>
        <p:txBody>
          <a:bodyPr vert="horz" wrap="square" lIns="0" tIns="101189" rIns="0" bIns="0" rtlCol="0">
            <a:spAutoFit/>
          </a:bodyPr>
          <a:lstStyle/>
          <a:p>
            <a:pPr marL="488488" indent="-471042">
              <a:spcBef>
                <a:spcPts val="797"/>
              </a:spcBef>
              <a:buClr>
                <a:srgbClr val="CC0000"/>
              </a:buClr>
              <a:buFont typeface="Times New Roman"/>
              <a:buChar char="•"/>
              <a:tabLst>
                <a:tab pos="487615" algn="l"/>
                <a:tab pos="488488" algn="l"/>
              </a:tabLst>
            </a:pPr>
            <a:r>
              <a:rPr sz="3297" dirty="0">
                <a:latin typeface="Calibri"/>
                <a:cs typeface="Calibri"/>
              </a:rPr>
              <a:t>So add-­</a:t>
            </a:r>
            <a:r>
              <a:rPr lang="en-US" sz="3297" dirty="0">
                <a:latin typeface="Calibri"/>
                <a:cs typeface="Calibri"/>
              </a:rPr>
              <a:t>1 </a:t>
            </a:r>
            <a:r>
              <a:rPr lang="en-US" sz="3297" dirty="0" err="1">
                <a:latin typeface="Calibri"/>
                <a:cs typeface="Calibri"/>
              </a:rPr>
              <a:t>isnt</a:t>
            </a:r>
            <a:r>
              <a:rPr lang="en-US" sz="3297" dirty="0">
                <a:latin typeface="Calibri"/>
                <a:cs typeface="Calibri"/>
              </a:rPr>
              <a:t> used for </a:t>
            </a:r>
            <a:r>
              <a:rPr sz="3297" dirty="0">
                <a:latin typeface="Calibri"/>
                <a:cs typeface="Calibri"/>
              </a:rPr>
              <a:t>N-­‐g</a:t>
            </a:r>
            <a:r>
              <a:rPr sz="3297" spc="-7" dirty="0">
                <a:latin typeface="Calibri"/>
                <a:cs typeface="Calibri"/>
              </a:rPr>
              <a:t>r</a:t>
            </a:r>
            <a:r>
              <a:rPr sz="3297" dirty="0">
                <a:latin typeface="Calibri"/>
                <a:cs typeface="Calibri"/>
              </a:rPr>
              <a:t>a</a:t>
            </a:r>
            <a:r>
              <a:rPr sz="3297" spc="-7" dirty="0">
                <a:latin typeface="Calibri"/>
                <a:cs typeface="Calibri"/>
              </a:rPr>
              <a:t>m</a:t>
            </a:r>
            <a:r>
              <a:rPr sz="3297" dirty="0">
                <a:latin typeface="Calibri"/>
                <a:cs typeface="Calibri"/>
              </a:rPr>
              <a:t>s:</a:t>
            </a:r>
          </a:p>
          <a:p>
            <a:pPr marL="959529" lvl="1" indent="-314028">
              <a:spcBef>
                <a:spcPts val="549"/>
              </a:spcBef>
              <a:buFont typeface="Times New Roman"/>
              <a:buChar char="•"/>
              <a:tabLst>
                <a:tab pos="958657" algn="l"/>
                <a:tab pos="959529" algn="l"/>
              </a:tabLst>
            </a:pPr>
            <a:r>
              <a:rPr sz="2747" spc="-7" dirty="0">
                <a:latin typeface="Calibri"/>
                <a:cs typeface="Calibri"/>
              </a:rPr>
              <a:t>We’ll</a:t>
            </a:r>
            <a:r>
              <a:rPr sz="2747" spc="-14" dirty="0">
                <a:latin typeface="Calibri"/>
                <a:cs typeface="Calibri"/>
              </a:rPr>
              <a:t> </a:t>
            </a:r>
            <a:r>
              <a:rPr sz="2747" dirty="0">
                <a:latin typeface="Calibri"/>
                <a:cs typeface="Calibri"/>
              </a:rPr>
              <a:t>see</a:t>
            </a:r>
            <a:r>
              <a:rPr sz="2747" spc="-14" dirty="0">
                <a:latin typeface="Calibri"/>
                <a:cs typeface="Calibri"/>
              </a:rPr>
              <a:t> </a:t>
            </a:r>
            <a:r>
              <a:rPr sz="2747" spc="-21" dirty="0">
                <a:latin typeface="Calibri"/>
                <a:cs typeface="Calibri"/>
              </a:rPr>
              <a:t>better</a:t>
            </a:r>
            <a:r>
              <a:rPr sz="2747" spc="-7" dirty="0">
                <a:latin typeface="Calibri"/>
                <a:cs typeface="Calibri"/>
              </a:rPr>
              <a:t> methods</a:t>
            </a:r>
            <a:endParaRPr sz="2747" dirty="0">
              <a:latin typeface="Calibri"/>
              <a:cs typeface="Calibri"/>
            </a:endParaRPr>
          </a:p>
          <a:p>
            <a:pPr marL="488488" indent="-471042">
              <a:spcBef>
                <a:spcPts val="817"/>
              </a:spcBef>
              <a:buClr>
                <a:srgbClr val="CC0000"/>
              </a:buClr>
              <a:buFont typeface="Times New Roman"/>
              <a:buChar char="•"/>
              <a:tabLst>
                <a:tab pos="487615" algn="l"/>
                <a:tab pos="488488" algn="l"/>
              </a:tabLst>
            </a:pPr>
            <a:r>
              <a:rPr sz="3297" spc="-7" dirty="0">
                <a:latin typeface="Calibri"/>
                <a:cs typeface="Calibri"/>
              </a:rPr>
              <a:t>B</a:t>
            </a:r>
            <a:r>
              <a:rPr sz="3297" dirty="0">
                <a:latin typeface="Calibri"/>
                <a:cs typeface="Calibri"/>
              </a:rPr>
              <a:t>ut add</a:t>
            </a:r>
            <a:r>
              <a:rPr sz="3297" spc="-673" dirty="0">
                <a:latin typeface="Calibri"/>
                <a:cs typeface="Calibri"/>
              </a:rPr>
              <a:t>-­‐</a:t>
            </a:r>
            <a:r>
              <a:rPr sz="3297" dirty="0">
                <a:latin typeface="Calibri"/>
                <a:cs typeface="Calibri"/>
              </a:rPr>
              <a:t>1 is used to s</a:t>
            </a:r>
            <a:r>
              <a:rPr sz="3297" spc="-7" dirty="0">
                <a:latin typeface="Calibri"/>
                <a:cs typeface="Calibri"/>
              </a:rPr>
              <a:t>moo</a:t>
            </a:r>
            <a:r>
              <a:rPr sz="3297" dirty="0">
                <a:latin typeface="Calibri"/>
                <a:cs typeface="Calibri"/>
              </a:rPr>
              <a:t>th </a:t>
            </a:r>
            <a:r>
              <a:rPr sz="3297" spc="-7" dirty="0">
                <a:latin typeface="Calibri"/>
                <a:cs typeface="Calibri"/>
              </a:rPr>
              <a:t>o</a:t>
            </a:r>
            <a:r>
              <a:rPr sz="3297" dirty="0">
                <a:latin typeface="Calibri"/>
                <a:cs typeface="Calibri"/>
              </a:rPr>
              <a:t>ther NLP </a:t>
            </a:r>
            <a:r>
              <a:rPr sz="3297" spc="-7" dirty="0">
                <a:latin typeface="Calibri"/>
                <a:cs typeface="Calibri"/>
              </a:rPr>
              <a:t>mo</a:t>
            </a:r>
            <a:r>
              <a:rPr sz="3297" dirty="0">
                <a:latin typeface="Calibri"/>
                <a:cs typeface="Calibri"/>
              </a:rPr>
              <a:t>dels</a:t>
            </a:r>
          </a:p>
          <a:p>
            <a:pPr marL="959529" lvl="1" indent="-314028">
              <a:spcBef>
                <a:spcPts val="852"/>
              </a:spcBef>
              <a:buFont typeface="Times New Roman"/>
              <a:buChar char="•"/>
              <a:tabLst>
                <a:tab pos="959529" algn="l"/>
              </a:tabLst>
            </a:pPr>
            <a:r>
              <a:rPr sz="3297" spc="-7" dirty="0">
                <a:latin typeface="Calibri"/>
                <a:cs typeface="Calibri"/>
              </a:rPr>
              <a:t>For</a:t>
            </a:r>
            <a:r>
              <a:rPr sz="3297" spc="-21" dirty="0">
                <a:latin typeface="Calibri"/>
                <a:cs typeface="Calibri"/>
              </a:rPr>
              <a:t> </a:t>
            </a:r>
            <a:r>
              <a:rPr sz="3297" spc="-7" dirty="0">
                <a:latin typeface="Calibri"/>
                <a:cs typeface="Calibri"/>
              </a:rPr>
              <a:t>text</a:t>
            </a:r>
            <a:r>
              <a:rPr sz="3297" spc="-14" dirty="0">
                <a:latin typeface="Calibri"/>
                <a:cs typeface="Calibri"/>
              </a:rPr>
              <a:t> </a:t>
            </a:r>
            <a:r>
              <a:rPr sz="3297" spc="-7" dirty="0">
                <a:latin typeface="Calibri"/>
                <a:cs typeface="Calibri"/>
              </a:rPr>
              <a:t>classification</a:t>
            </a:r>
            <a:endParaRPr sz="3297" dirty="0">
              <a:latin typeface="Calibri"/>
              <a:cs typeface="Calibri"/>
            </a:endParaRPr>
          </a:p>
          <a:p>
            <a:pPr marL="959529" lvl="1" indent="-314028">
              <a:spcBef>
                <a:spcPts val="714"/>
              </a:spcBef>
              <a:buFont typeface="Times New Roman"/>
              <a:buChar char="•"/>
              <a:tabLst>
                <a:tab pos="959529" algn="l"/>
              </a:tabLst>
            </a:pPr>
            <a:r>
              <a:rPr sz="3297" dirty="0">
                <a:latin typeface="Calibri"/>
                <a:cs typeface="Calibri"/>
              </a:rPr>
              <a:t>In</a:t>
            </a:r>
            <a:r>
              <a:rPr sz="3297" spc="-7" dirty="0">
                <a:latin typeface="Calibri"/>
                <a:cs typeface="Calibri"/>
              </a:rPr>
              <a:t> domains</a:t>
            </a:r>
            <a:r>
              <a:rPr sz="3297" dirty="0">
                <a:latin typeface="Calibri"/>
                <a:cs typeface="Calibri"/>
              </a:rPr>
              <a:t> </a:t>
            </a:r>
            <a:r>
              <a:rPr sz="3297" spc="-7" dirty="0">
                <a:latin typeface="Calibri"/>
                <a:cs typeface="Calibri"/>
              </a:rPr>
              <a:t>where </a:t>
            </a:r>
            <a:r>
              <a:rPr sz="3297" dirty="0">
                <a:latin typeface="Calibri"/>
                <a:cs typeface="Calibri"/>
              </a:rPr>
              <a:t>the </a:t>
            </a:r>
            <a:r>
              <a:rPr sz="3297" spc="-7" dirty="0">
                <a:latin typeface="Calibri"/>
                <a:cs typeface="Calibri"/>
              </a:rPr>
              <a:t>number of</a:t>
            </a:r>
            <a:r>
              <a:rPr sz="3297" dirty="0">
                <a:latin typeface="Calibri"/>
                <a:cs typeface="Calibri"/>
              </a:rPr>
              <a:t> </a:t>
            </a:r>
            <a:r>
              <a:rPr sz="3297" spc="-7" dirty="0">
                <a:latin typeface="Calibri"/>
                <a:cs typeface="Calibri"/>
              </a:rPr>
              <a:t>zeros </a:t>
            </a:r>
            <a:r>
              <a:rPr sz="3297" dirty="0">
                <a:latin typeface="Calibri"/>
                <a:cs typeface="Calibri"/>
              </a:rPr>
              <a:t>isn’t so huge.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subTitle" idx="4"/>
          </p:nvPr>
        </p:nvSpPr>
        <p:spPr>
          <a:xfrm>
            <a:off x="508000" y="3612574"/>
            <a:ext cx="15968070" cy="1362499"/>
          </a:xfrm>
          <a:prstGeom prst="rect">
            <a:avLst/>
          </a:prstGeom>
        </p:spPr>
        <p:txBody>
          <a:bodyPr vert="horz" wrap="square" lIns="0" tIns="6106" rIns="0" bIns="0" rtlCol="0">
            <a:spAutoFit/>
          </a:bodyPr>
          <a:lstStyle/>
          <a:p>
            <a:pPr marL="6137499" marR="6978" indent="-45360">
              <a:lnSpc>
                <a:spcPct val="101600"/>
              </a:lnSpc>
              <a:spcBef>
                <a:spcPts val="48"/>
              </a:spcBef>
            </a:pPr>
            <a:r>
              <a:rPr spc="-7" dirty="0">
                <a:solidFill>
                  <a:srgbClr val="A50021"/>
                </a:solidFill>
                <a:latin typeface="Calibri"/>
                <a:cs typeface="Calibri"/>
              </a:rPr>
              <a:t>Smoothing:</a:t>
            </a:r>
            <a:endParaRPr lang="en-US" spc="-7" dirty="0">
              <a:solidFill>
                <a:srgbClr val="A50021"/>
              </a:solidFill>
              <a:latin typeface="Calibri"/>
              <a:cs typeface="Calibri"/>
            </a:endParaRPr>
          </a:p>
          <a:p>
            <a:pPr marL="6137499" marR="6978" indent="-45360">
              <a:lnSpc>
                <a:spcPct val="101600"/>
              </a:lnSpc>
              <a:spcBef>
                <a:spcPts val="48"/>
              </a:spcBef>
            </a:pPr>
            <a:r>
              <a:rPr spc="-69" dirty="0">
                <a:solidFill>
                  <a:srgbClr val="A50021"/>
                </a:solidFill>
                <a:latin typeface="Calibri"/>
                <a:cs typeface="Calibri"/>
              </a:rPr>
              <a:t> </a:t>
            </a:r>
            <a:r>
              <a:rPr spc="-302" dirty="0">
                <a:solidFill>
                  <a:srgbClr val="A50021"/>
                </a:solidFill>
                <a:latin typeface="Calibri"/>
                <a:cs typeface="Calibri"/>
              </a:rPr>
              <a:t>Add-­‐one </a:t>
            </a:r>
            <a:r>
              <a:rPr spc="-975" dirty="0">
                <a:solidFill>
                  <a:srgbClr val="A50021"/>
                </a:solidFill>
                <a:latin typeface="Calibri"/>
                <a:cs typeface="Calibri"/>
              </a:rPr>
              <a:t> </a:t>
            </a:r>
            <a:r>
              <a:rPr spc="-7" dirty="0">
                <a:solidFill>
                  <a:srgbClr val="A50021"/>
                </a:solidFill>
                <a:latin typeface="Calibri"/>
                <a:cs typeface="Calibri"/>
              </a:rPr>
              <a:t>(Laplace)</a:t>
            </a:r>
            <a:r>
              <a:rPr spc="-34" dirty="0">
                <a:solidFill>
                  <a:srgbClr val="A50021"/>
                </a:solidFill>
                <a:latin typeface="Calibri"/>
                <a:cs typeface="Calibri"/>
              </a:rPr>
              <a:t> </a:t>
            </a:r>
            <a:r>
              <a:rPr spc="-7" dirty="0">
                <a:solidFill>
                  <a:srgbClr val="A50021"/>
                </a:solidFill>
                <a:latin typeface="Calibri"/>
                <a:cs typeface="Calibri"/>
              </a:rPr>
              <a:t>smoothing</a:t>
            </a:r>
          </a:p>
        </p:txBody>
      </p:sp>
      <p:sp>
        <p:nvSpPr>
          <p:cNvPr id="3" name="object 3"/>
          <p:cNvSpPr txBox="1"/>
          <p:nvPr/>
        </p:nvSpPr>
        <p:spPr>
          <a:xfrm>
            <a:off x="7994328" y="1634179"/>
            <a:ext cx="3069705" cy="1873466"/>
          </a:xfrm>
          <a:prstGeom prst="rect">
            <a:avLst/>
          </a:prstGeom>
        </p:spPr>
        <p:txBody>
          <a:bodyPr vert="horz" wrap="square" lIns="0" tIns="13085" rIns="0" bIns="0" rtlCol="0">
            <a:spAutoFit/>
          </a:bodyPr>
          <a:lstStyle/>
          <a:p>
            <a:pPr marL="17446" marR="6978" indent="6978">
              <a:lnSpc>
                <a:spcPct val="100400"/>
              </a:lnSpc>
              <a:spcBef>
                <a:spcPts val="103"/>
              </a:spcBef>
            </a:pPr>
            <a:r>
              <a:rPr sz="6044" b="1" dirty="0">
                <a:latin typeface="Calibri"/>
                <a:cs typeface="Calibri"/>
              </a:rPr>
              <a:t>Language  </a:t>
            </a:r>
            <a:r>
              <a:rPr sz="6044" b="1" spc="-7" dirty="0">
                <a:latin typeface="Calibri"/>
                <a:cs typeface="Calibri"/>
              </a:rPr>
              <a:t>Mode</a:t>
            </a:r>
            <a:r>
              <a:rPr sz="6044" b="1" dirty="0">
                <a:latin typeface="Calibri"/>
                <a:cs typeface="Calibri"/>
              </a:rPr>
              <a:t>li</a:t>
            </a:r>
            <a:r>
              <a:rPr sz="6044" b="1" spc="-7" dirty="0">
                <a:latin typeface="Calibri"/>
                <a:cs typeface="Calibri"/>
              </a:rPr>
              <a:t>n</a:t>
            </a:r>
            <a:r>
              <a:rPr sz="6044" b="1" dirty="0">
                <a:latin typeface="Calibri"/>
                <a:cs typeface="Calibri"/>
              </a:rPr>
              <a:t>g</a:t>
            </a:r>
            <a:endParaRPr sz="6044">
              <a:latin typeface="Calibri"/>
              <a:cs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subTitle" idx="4"/>
          </p:nvPr>
        </p:nvSpPr>
        <p:spPr>
          <a:xfrm>
            <a:off x="-177800" y="3865880"/>
            <a:ext cx="15968070" cy="1362499"/>
          </a:xfrm>
          <a:prstGeom prst="rect">
            <a:avLst/>
          </a:prstGeom>
        </p:spPr>
        <p:txBody>
          <a:bodyPr vert="horz" wrap="square" lIns="0" tIns="6106" rIns="0" bIns="0" rtlCol="0">
            <a:spAutoFit/>
          </a:bodyPr>
          <a:lstStyle/>
          <a:p>
            <a:pPr marL="6210772" marR="6978" indent="-310539">
              <a:lnSpc>
                <a:spcPct val="101600"/>
              </a:lnSpc>
              <a:spcBef>
                <a:spcPts val="48"/>
              </a:spcBef>
            </a:pPr>
            <a:r>
              <a:rPr spc="-7" dirty="0">
                <a:solidFill>
                  <a:srgbClr val="A50021"/>
                </a:solidFill>
                <a:latin typeface="Calibri"/>
                <a:cs typeface="Calibri"/>
              </a:rPr>
              <a:t>Interpolation,</a:t>
            </a:r>
            <a:r>
              <a:rPr spc="-76" dirty="0">
                <a:solidFill>
                  <a:srgbClr val="A50021"/>
                </a:solidFill>
                <a:latin typeface="Calibri"/>
                <a:cs typeface="Calibri"/>
              </a:rPr>
              <a:t> </a:t>
            </a:r>
            <a:endParaRPr lang="en-US" spc="-76" dirty="0">
              <a:solidFill>
                <a:srgbClr val="A50021"/>
              </a:solidFill>
              <a:latin typeface="Calibri"/>
              <a:cs typeface="Calibri"/>
            </a:endParaRPr>
          </a:p>
          <a:p>
            <a:pPr marL="6210772" marR="6978" indent="-310539">
              <a:lnSpc>
                <a:spcPct val="101600"/>
              </a:lnSpc>
              <a:spcBef>
                <a:spcPts val="48"/>
              </a:spcBef>
            </a:pPr>
            <a:r>
              <a:rPr spc="-7" dirty="0">
                <a:solidFill>
                  <a:srgbClr val="A50021"/>
                </a:solidFill>
                <a:latin typeface="Calibri"/>
                <a:cs typeface="Calibri"/>
              </a:rPr>
              <a:t>Backoﬀ, </a:t>
            </a:r>
            <a:r>
              <a:rPr spc="-975" dirty="0">
                <a:solidFill>
                  <a:srgbClr val="A50021"/>
                </a:solidFill>
                <a:latin typeface="Calibri"/>
                <a:cs typeface="Calibri"/>
              </a:rPr>
              <a:t> </a:t>
            </a:r>
            <a:r>
              <a:rPr dirty="0">
                <a:solidFill>
                  <a:srgbClr val="A50021"/>
                </a:solidFill>
                <a:latin typeface="Calibri"/>
                <a:cs typeface="Calibri"/>
              </a:rPr>
              <a:t>and </a:t>
            </a:r>
            <a:r>
              <a:rPr spc="-7" dirty="0">
                <a:solidFill>
                  <a:srgbClr val="A50021"/>
                </a:solidFill>
                <a:latin typeface="Calibri"/>
                <a:cs typeface="Calibri"/>
              </a:rPr>
              <a:t>W</a:t>
            </a:r>
            <a:r>
              <a:rPr dirty="0">
                <a:solidFill>
                  <a:srgbClr val="A50021"/>
                </a:solidFill>
                <a:latin typeface="Calibri"/>
                <a:cs typeface="Calibri"/>
              </a:rPr>
              <a:t>eb</a:t>
            </a:r>
            <a:r>
              <a:rPr spc="-900" dirty="0">
                <a:solidFill>
                  <a:srgbClr val="A50021"/>
                </a:solidFill>
                <a:latin typeface="Calibri"/>
                <a:cs typeface="Calibri"/>
              </a:rPr>
              <a:t>-­‐</a:t>
            </a:r>
            <a:r>
              <a:rPr dirty="0">
                <a:solidFill>
                  <a:srgbClr val="A50021"/>
                </a:solidFill>
                <a:latin typeface="Calibri"/>
                <a:cs typeface="Calibri"/>
              </a:rPr>
              <a:t>Scale LMs</a:t>
            </a:r>
          </a:p>
        </p:txBody>
      </p:sp>
      <p:sp>
        <p:nvSpPr>
          <p:cNvPr id="3" name="object 3"/>
          <p:cNvSpPr txBox="1"/>
          <p:nvPr/>
        </p:nvSpPr>
        <p:spPr>
          <a:xfrm>
            <a:off x="7994328" y="1634179"/>
            <a:ext cx="3069705" cy="1873466"/>
          </a:xfrm>
          <a:prstGeom prst="rect">
            <a:avLst/>
          </a:prstGeom>
        </p:spPr>
        <p:txBody>
          <a:bodyPr vert="horz" wrap="square" lIns="0" tIns="13085" rIns="0" bIns="0" rtlCol="0">
            <a:spAutoFit/>
          </a:bodyPr>
          <a:lstStyle/>
          <a:p>
            <a:pPr marL="17446" marR="6978" indent="6978">
              <a:lnSpc>
                <a:spcPct val="100400"/>
              </a:lnSpc>
              <a:spcBef>
                <a:spcPts val="103"/>
              </a:spcBef>
            </a:pPr>
            <a:r>
              <a:rPr sz="6044" b="1" dirty="0">
                <a:latin typeface="Calibri"/>
                <a:cs typeface="Calibri"/>
              </a:rPr>
              <a:t>Language  </a:t>
            </a:r>
            <a:r>
              <a:rPr sz="6044" b="1" spc="-7" dirty="0">
                <a:latin typeface="Calibri"/>
                <a:cs typeface="Calibri"/>
              </a:rPr>
              <a:t>Mode</a:t>
            </a:r>
            <a:r>
              <a:rPr sz="6044" b="1" dirty="0">
                <a:latin typeface="Calibri"/>
                <a:cs typeface="Calibri"/>
              </a:rPr>
              <a:t>li</a:t>
            </a:r>
            <a:r>
              <a:rPr sz="6044" b="1" spc="-7" dirty="0">
                <a:latin typeface="Calibri"/>
                <a:cs typeface="Calibri"/>
              </a:rPr>
              <a:t>n</a:t>
            </a:r>
            <a:r>
              <a:rPr sz="6044" b="1" dirty="0">
                <a:latin typeface="Calibri"/>
                <a:cs typeface="Calibri"/>
              </a:rPr>
              <a:t>g</a:t>
            </a:r>
            <a:endParaRPr sz="6044">
              <a:latin typeface="Calibri"/>
              <a:cs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6765739" cy="694084"/>
          </a:xfrm>
          <a:prstGeom prst="rect">
            <a:avLst/>
          </a:prstGeom>
        </p:spPr>
        <p:txBody>
          <a:bodyPr vert="horz" wrap="square" lIns="0" tIns="17446" rIns="0" bIns="0" rtlCol="0">
            <a:spAutoFit/>
          </a:bodyPr>
          <a:lstStyle/>
          <a:p>
            <a:pPr marL="17446">
              <a:spcBef>
                <a:spcPts val="137"/>
              </a:spcBef>
            </a:pPr>
            <a:r>
              <a:rPr spc="-7" dirty="0"/>
              <a:t>Backoff</a:t>
            </a:r>
            <a:r>
              <a:rPr spc="-27" dirty="0"/>
              <a:t> </a:t>
            </a:r>
            <a:r>
              <a:rPr spc="-7" dirty="0"/>
              <a:t>and</a:t>
            </a:r>
            <a:r>
              <a:rPr spc="-27" dirty="0"/>
              <a:t> </a:t>
            </a:r>
            <a:r>
              <a:rPr spc="-7" dirty="0"/>
              <a:t>Interpolation</a:t>
            </a:r>
          </a:p>
        </p:txBody>
      </p:sp>
      <p:sp>
        <p:nvSpPr>
          <p:cNvPr id="7" name="object 7"/>
          <p:cNvSpPr txBox="1"/>
          <p:nvPr/>
        </p:nvSpPr>
        <p:spPr>
          <a:xfrm>
            <a:off x="1123118" y="2286000"/>
            <a:ext cx="12491281" cy="4781471"/>
          </a:xfrm>
          <a:prstGeom prst="rect">
            <a:avLst/>
          </a:prstGeom>
        </p:spPr>
        <p:txBody>
          <a:bodyPr vert="horz" wrap="square" lIns="0" tIns="101189" rIns="0" bIns="0" rtlCol="0">
            <a:spAutoFit/>
          </a:bodyPr>
          <a:lstStyle/>
          <a:p>
            <a:pPr marL="488488" indent="-471042">
              <a:spcBef>
                <a:spcPts val="797"/>
              </a:spcBef>
              <a:buClr>
                <a:srgbClr val="CC0000"/>
              </a:buClr>
              <a:buFont typeface="Times New Roman"/>
              <a:buChar char="•"/>
              <a:tabLst>
                <a:tab pos="487615" algn="l"/>
                <a:tab pos="488488" algn="l"/>
              </a:tabLst>
            </a:pPr>
            <a:r>
              <a:rPr sz="3297" spc="-7" dirty="0">
                <a:latin typeface="Calibri"/>
                <a:cs typeface="Calibri"/>
              </a:rPr>
              <a:t>Sometimes</a:t>
            </a:r>
            <a:r>
              <a:rPr sz="3297" spc="-14" dirty="0">
                <a:latin typeface="Calibri"/>
                <a:cs typeface="Calibri"/>
              </a:rPr>
              <a:t> </a:t>
            </a:r>
            <a:r>
              <a:rPr sz="3297" dirty="0">
                <a:latin typeface="Calibri"/>
                <a:cs typeface="Calibri"/>
              </a:rPr>
              <a:t>it</a:t>
            </a:r>
            <a:r>
              <a:rPr sz="3297" spc="-7" dirty="0">
                <a:latin typeface="Calibri"/>
                <a:cs typeface="Calibri"/>
              </a:rPr>
              <a:t> </a:t>
            </a:r>
            <a:r>
              <a:rPr sz="3297" dirty="0">
                <a:latin typeface="Calibri"/>
                <a:cs typeface="Calibri"/>
              </a:rPr>
              <a:t>helps</a:t>
            </a:r>
            <a:r>
              <a:rPr sz="3297" spc="-14" dirty="0">
                <a:latin typeface="Calibri"/>
                <a:cs typeface="Calibri"/>
              </a:rPr>
              <a:t> </a:t>
            </a:r>
            <a:r>
              <a:rPr sz="3297" dirty="0">
                <a:latin typeface="Calibri"/>
                <a:cs typeface="Calibri"/>
              </a:rPr>
              <a:t>to</a:t>
            </a:r>
            <a:r>
              <a:rPr sz="3297" spc="-7" dirty="0">
                <a:latin typeface="Calibri"/>
                <a:cs typeface="Calibri"/>
              </a:rPr>
              <a:t> </a:t>
            </a:r>
            <a:r>
              <a:rPr sz="3297" dirty="0">
                <a:latin typeface="Calibri"/>
                <a:cs typeface="Calibri"/>
              </a:rPr>
              <a:t>use</a:t>
            </a:r>
            <a:r>
              <a:rPr sz="3297" spc="-21" dirty="0">
                <a:latin typeface="Calibri"/>
                <a:cs typeface="Calibri"/>
              </a:rPr>
              <a:t> </a:t>
            </a:r>
            <a:r>
              <a:rPr sz="3297" b="1" spc="-7" dirty="0">
                <a:latin typeface="Calibri"/>
                <a:cs typeface="Calibri"/>
              </a:rPr>
              <a:t>less</a:t>
            </a:r>
            <a:r>
              <a:rPr sz="3297" b="1" spc="-14" dirty="0">
                <a:latin typeface="Calibri"/>
                <a:cs typeface="Calibri"/>
              </a:rPr>
              <a:t> </a:t>
            </a:r>
            <a:r>
              <a:rPr sz="3297" spc="-7" dirty="0">
                <a:latin typeface="Calibri"/>
                <a:cs typeface="Calibri"/>
              </a:rPr>
              <a:t>context</a:t>
            </a:r>
            <a:endParaRPr sz="3297" dirty="0">
              <a:latin typeface="Calibri"/>
              <a:cs typeface="Calibri"/>
            </a:endParaRPr>
          </a:p>
          <a:p>
            <a:pPr marL="959529" lvl="1" indent="-314028">
              <a:spcBef>
                <a:spcPts val="549"/>
              </a:spcBef>
              <a:buFont typeface="Times New Roman"/>
              <a:buChar char="•"/>
              <a:tabLst>
                <a:tab pos="958657" algn="l"/>
                <a:tab pos="959529" algn="l"/>
              </a:tabLst>
            </a:pPr>
            <a:r>
              <a:rPr sz="2747" spc="-7" dirty="0">
                <a:latin typeface="Calibri"/>
                <a:cs typeface="Calibri"/>
              </a:rPr>
              <a:t>Condition</a:t>
            </a:r>
            <a:r>
              <a:rPr sz="2747" spc="7" dirty="0">
                <a:latin typeface="Calibri"/>
                <a:cs typeface="Calibri"/>
              </a:rPr>
              <a:t> </a:t>
            </a:r>
            <a:r>
              <a:rPr sz="2747" spc="-7" dirty="0">
                <a:latin typeface="Calibri"/>
                <a:cs typeface="Calibri"/>
              </a:rPr>
              <a:t>on</a:t>
            </a:r>
            <a:r>
              <a:rPr sz="2747" spc="14" dirty="0">
                <a:latin typeface="Calibri"/>
                <a:cs typeface="Calibri"/>
              </a:rPr>
              <a:t> </a:t>
            </a:r>
            <a:r>
              <a:rPr sz="2747" dirty="0">
                <a:latin typeface="Calibri"/>
                <a:cs typeface="Calibri"/>
              </a:rPr>
              <a:t>less</a:t>
            </a:r>
            <a:r>
              <a:rPr sz="2747" spc="7" dirty="0">
                <a:latin typeface="Calibri"/>
                <a:cs typeface="Calibri"/>
              </a:rPr>
              <a:t> </a:t>
            </a:r>
            <a:r>
              <a:rPr sz="2747" spc="-7" dirty="0">
                <a:latin typeface="Calibri"/>
                <a:cs typeface="Calibri"/>
              </a:rPr>
              <a:t>context</a:t>
            </a:r>
            <a:r>
              <a:rPr sz="2747" spc="14" dirty="0">
                <a:latin typeface="Calibri"/>
                <a:cs typeface="Calibri"/>
              </a:rPr>
              <a:t> </a:t>
            </a:r>
            <a:r>
              <a:rPr sz="2747" spc="-7" dirty="0">
                <a:latin typeface="Calibri"/>
                <a:cs typeface="Calibri"/>
              </a:rPr>
              <a:t>for</a:t>
            </a:r>
            <a:r>
              <a:rPr sz="2747" spc="14" dirty="0">
                <a:latin typeface="Calibri"/>
                <a:cs typeface="Calibri"/>
              </a:rPr>
              <a:t> </a:t>
            </a:r>
            <a:r>
              <a:rPr sz="2747" spc="-7" dirty="0">
                <a:latin typeface="Calibri"/>
                <a:cs typeface="Calibri"/>
              </a:rPr>
              <a:t>contexts</a:t>
            </a:r>
            <a:r>
              <a:rPr sz="2747" spc="7" dirty="0">
                <a:latin typeface="Calibri"/>
                <a:cs typeface="Calibri"/>
              </a:rPr>
              <a:t> </a:t>
            </a:r>
            <a:r>
              <a:rPr sz="2747" spc="-7" dirty="0">
                <a:latin typeface="Calibri"/>
                <a:cs typeface="Calibri"/>
              </a:rPr>
              <a:t>you</a:t>
            </a:r>
            <a:r>
              <a:rPr sz="2747" spc="14" dirty="0">
                <a:latin typeface="Calibri"/>
                <a:cs typeface="Calibri"/>
              </a:rPr>
              <a:t> </a:t>
            </a:r>
            <a:r>
              <a:rPr sz="2747" spc="-7" dirty="0">
                <a:latin typeface="Calibri"/>
                <a:cs typeface="Calibri"/>
              </a:rPr>
              <a:t>haven’t</a:t>
            </a:r>
            <a:r>
              <a:rPr sz="2747" spc="14" dirty="0">
                <a:latin typeface="Calibri"/>
                <a:cs typeface="Calibri"/>
              </a:rPr>
              <a:t> </a:t>
            </a:r>
            <a:r>
              <a:rPr sz="2747" spc="-7" dirty="0">
                <a:latin typeface="Calibri"/>
                <a:cs typeface="Calibri"/>
              </a:rPr>
              <a:t>learned</a:t>
            </a:r>
            <a:r>
              <a:rPr sz="2747" spc="7" dirty="0">
                <a:latin typeface="Calibri"/>
                <a:cs typeface="Calibri"/>
              </a:rPr>
              <a:t> </a:t>
            </a:r>
            <a:r>
              <a:rPr sz="2747" spc="-7" dirty="0">
                <a:latin typeface="Calibri"/>
                <a:cs typeface="Calibri"/>
              </a:rPr>
              <a:t>much</a:t>
            </a:r>
            <a:r>
              <a:rPr sz="2747" spc="14" dirty="0">
                <a:latin typeface="Calibri"/>
                <a:cs typeface="Calibri"/>
              </a:rPr>
              <a:t> </a:t>
            </a:r>
            <a:r>
              <a:rPr sz="2747" spc="-7" dirty="0">
                <a:latin typeface="Calibri"/>
                <a:cs typeface="Calibri"/>
              </a:rPr>
              <a:t>about</a:t>
            </a:r>
            <a:endParaRPr sz="2747" dirty="0">
              <a:latin typeface="Calibri"/>
              <a:cs typeface="Calibri"/>
            </a:endParaRPr>
          </a:p>
          <a:p>
            <a:pPr marL="488488" indent="-471042">
              <a:spcBef>
                <a:spcPts val="817"/>
              </a:spcBef>
              <a:buClr>
                <a:srgbClr val="CC0000"/>
              </a:buClr>
              <a:buFont typeface="Times New Roman"/>
              <a:buChar char="•"/>
              <a:tabLst>
                <a:tab pos="487615" algn="l"/>
                <a:tab pos="488488" algn="l"/>
              </a:tabLst>
            </a:pPr>
            <a:r>
              <a:rPr sz="3297" b="1" spc="-7" dirty="0">
                <a:latin typeface="Calibri"/>
                <a:cs typeface="Calibri"/>
              </a:rPr>
              <a:t>Backoﬀ:</a:t>
            </a:r>
            <a:endParaRPr sz="3297" dirty="0">
              <a:latin typeface="Calibri"/>
              <a:cs typeface="Calibri"/>
            </a:endParaRPr>
          </a:p>
          <a:p>
            <a:pPr marL="959529" lvl="1" indent="-314028">
              <a:spcBef>
                <a:spcPts val="721"/>
              </a:spcBef>
              <a:buFont typeface="Times New Roman"/>
              <a:buChar char="•"/>
              <a:tabLst>
                <a:tab pos="958657" algn="l"/>
                <a:tab pos="959529" algn="l"/>
              </a:tabLst>
            </a:pPr>
            <a:r>
              <a:rPr lang="en-US" sz="2747" spc="-7" dirty="0">
                <a:latin typeface="Calibri"/>
                <a:cs typeface="Calibri"/>
              </a:rPr>
              <a:t>Go to a lower order n-gram if the higher order n-gram count is unreliable or zero</a:t>
            </a:r>
            <a:endParaRPr lang="en-US" sz="2747" dirty="0">
              <a:latin typeface="Calibri"/>
              <a:cs typeface="Calibri"/>
            </a:endParaRPr>
          </a:p>
          <a:p>
            <a:pPr marL="959529" lvl="1" indent="-314028">
              <a:spcBef>
                <a:spcPts val="721"/>
              </a:spcBef>
              <a:buFont typeface="Times New Roman"/>
              <a:buChar char="•"/>
              <a:tabLst>
                <a:tab pos="958657" algn="l"/>
                <a:tab pos="959529" algn="l"/>
              </a:tabLst>
            </a:pPr>
            <a:r>
              <a:rPr sz="2747" dirty="0">
                <a:latin typeface="Calibri"/>
                <a:cs typeface="Calibri"/>
              </a:rPr>
              <a:t>use</a:t>
            </a:r>
            <a:r>
              <a:rPr sz="2747" spc="-14" dirty="0">
                <a:latin typeface="Calibri"/>
                <a:cs typeface="Calibri"/>
              </a:rPr>
              <a:t> </a:t>
            </a:r>
            <a:r>
              <a:rPr sz="2747" spc="-7" dirty="0">
                <a:latin typeface="Calibri"/>
                <a:cs typeface="Calibri"/>
              </a:rPr>
              <a:t>trigram</a:t>
            </a:r>
            <a:r>
              <a:rPr sz="2747" spc="-14" dirty="0">
                <a:latin typeface="Calibri"/>
                <a:cs typeface="Calibri"/>
              </a:rPr>
              <a:t> </a:t>
            </a:r>
            <a:r>
              <a:rPr sz="2747" dirty="0">
                <a:latin typeface="Calibri"/>
                <a:cs typeface="Calibri"/>
              </a:rPr>
              <a:t>if</a:t>
            </a:r>
            <a:r>
              <a:rPr sz="2747" spc="-7" dirty="0">
                <a:latin typeface="Calibri"/>
                <a:cs typeface="Calibri"/>
              </a:rPr>
              <a:t> you have</a:t>
            </a:r>
            <a:r>
              <a:rPr sz="2747" spc="-14" dirty="0">
                <a:latin typeface="Calibri"/>
                <a:cs typeface="Calibri"/>
              </a:rPr>
              <a:t> </a:t>
            </a:r>
            <a:r>
              <a:rPr sz="2747" spc="-7" dirty="0">
                <a:latin typeface="Calibri"/>
                <a:cs typeface="Calibri"/>
              </a:rPr>
              <a:t>good </a:t>
            </a:r>
            <a:r>
              <a:rPr sz="2747" dirty="0">
                <a:latin typeface="Calibri"/>
                <a:cs typeface="Calibri"/>
              </a:rPr>
              <a:t>evidence,</a:t>
            </a:r>
            <a:r>
              <a:rPr lang="en-US" sz="2747" dirty="0">
                <a:latin typeface="Calibri"/>
                <a:cs typeface="Calibri"/>
              </a:rPr>
              <a:t> </a:t>
            </a:r>
            <a:r>
              <a:rPr sz="2747" spc="-7" dirty="0">
                <a:latin typeface="Calibri"/>
                <a:cs typeface="Calibri"/>
              </a:rPr>
              <a:t>otherwise</a:t>
            </a:r>
            <a:r>
              <a:rPr sz="2747" dirty="0">
                <a:latin typeface="Calibri"/>
                <a:cs typeface="Calibri"/>
              </a:rPr>
              <a:t> </a:t>
            </a:r>
            <a:r>
              <a:rPr sz="2747" spc="-7" dirty="0">
                <a:latin typeface="Calibri"/>
                <a:cs typeface="Calibri"/>
              </a:rPr>
              <a:t>bigram,</a:t>
            </a:r>
            <a:r>
              <a:rPr sz="2747" spc="7" dirty="0">
                <a:latin typeface="Calibri"/>
                <a:cs typeface="Calibri"/>
              </a:rPr>
              <a:t> </a:t>
            </a:r>
            <a:r>
              <a:rPr sz="2747" spc="-7" dirty="0">
                <a:latin typeface="Calibri"/>
                <a:cs typeface="Calibri"/>
              </a:rPr>
              <a:t>otherwise</a:t>
            </a:r>
            <a:r>
              <a:rPr sz="2747" spc="7" dirty="0">
                <a:latin typeface="Calibri"/>
                <a:cs typeface="Calibri"/>
              </a:rPr>
              <a:t> </a:t>
            </a:r>
            <a:r>
              <a:rPr sz="2747" spc="-7" dirty="0">
                <a:latin typeface="Calibri"/>
                <a:cs typeface="Calibri"/>
              </a:rPr>
              <a:t>unigram</a:t>
            </a:r>
            <a:endParaRPr lang="en-US" sz="2747" spc="-7" dirty="0">
              <a:latin typeface="Calibri"/>
              <a:cs typeface="Calibri"/>
            </a:endParaRPr>
          </a:p>
          <a:p>
            <a:pPr marL="645501" lvl="1">
              <a:spcBef>
                <a:spcPts val="721"/>
              </a:spcBef>
              <a:tabLst>
                <a:tab pos="958657" algn="l"/>
                <a:tab pos="959529" algn="l"/>
              </a:tabLst>
            </a:pPr>
            <a:endParaRPr lang="en-US" sz="2747" spc="-7" dirty="0">
              <a:latin typeface="Calibri"/>
              <a:cs typeface="Calibri"/>
            </a:endParaRPr>
          </a:p>
          <a:p>
            <a:pPr marL="645501" lvl="1">
              <a:spcBef>
                <a:spcPts val="721"/>
              </a:spcBef>
              <a:tabLst>
                <a:tab pos="958657" algn="l"/>
                <a:tab pos="959529" algn="l"/>
              </a:tabLst>
            </a:pPr>
            <a:r>
              <a:rPr lang="en-US" sz="2747" i="1" spc="-7" dirty="0">
                <a:latin typeface="Calibri"/>
                <a:cs typeface="Calibri"/>
              </a:rPr>
              <a:t>The quick brown fox jumped over </a:t>
            </a:r>
            <a:r>
              <a:rPr lang="en-US" sz="2747" b="1" i="1" spc="-7" dirty="0">
                <a:latin typeface="Calibri"/>
                <a:cs typeface="Calibri"/>
              </a:rPr>
              <a:t>the lazy dog</a:t>
            </a:r>
          </a:p>
          <a:p>
            <a:pPr marL="645501" lvl="1">
              <a:spcBef>
                <a:spcPts val="721"/>
              </a:spcBef>
              <a:tabLst>
                <a:tab pos="958657" algn="l"/>
                <a:tab pos="959529" algn="l"/>
              </a:tabLst>
            </a:pPr>
            <a:r>
              <a:rPr lang="en-US" sz="2747" spc="-7" dirty="0">
                <a:latin typeface="Calibri"/>
                <a:cs typeface="Calibri"/>
              </a:rPr>
              <a:t>P(dog| the lazy) if this trigram has an unreliable or zero value</a:t>
            </a:r>
          </a:p>
          <a:p>
            <a:pPr marL="645501" lvl="1">
              <a:spcBef>
                <a:spcPts val="721"/>
              </a:spcBef>
              <a:tabLst>
                <a:tab pos="958657" algn="l"/>
                <a:tab pos="959529" algn="l"/>
              </a:tabLst>
            </a:pPr>
            <a:r>
              <a:rPr lang="en-US" sz="2747" spc="-7" dirty="0">
                <a:latin typeface="Calibri"/>
                <a:cs typeface="Calibri"/>
              </a:rPr>
              <a:t>P(</a:t>
            </a:r>
            <a:r>
              <a:rPr lang="en-US" sz="2747" spc="-7" dirty="0" err="1">
                <a:latin typeface="Calibri"/>
                <a:cs typeface="Calibri"/>
              </a:rPr>
              <a:t>dog|lazy</a:t>
            </a:r>
            <a:r>
              <a:rPr lang="en-US" sz="2747" spc="-7" dirty="0">
                <a:latin typeface="Calibri"/>
                <a:cs typeface="Calibri"/>
              </a:rPr>
              <a:t>) back off to a lower order n-gram</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6765739" cy="694084"/>
          </a:xfrm>
          <a:prstGeom prst="rect">
            <a:avLst/>
          </a:prstGeom>
        </p:spPr>
        <p:txBody>
          <a:bodyPr vert="horz" wrap="square" lIns="0" tIns="17446" rIns="0" bIns="0" rtlCol="0">
            <a:spAutoFit/>
          </a:bodyPr>
          <a:lstStyle/>
          <a:p>
            <a:pPr marL="17446">
              <a:spcBef>
                <a:spcPts val="137"/>
              </a:spcBef>
            </a:pPr>
            <a:r>
              <a:rPr spc="-7" dirty="0"/>
              <a:t>Interpolation</a:t>
            </a:r>
          </a:p>
        </p:txBody>
      </p:sp>
      <p:sp>
        <p:nvSpPr>
          <p:cNvPr id="7" name="object 7"/>
          <p:cNvSpPr txBox="1"/>
          <p:nvPr/>
        </p:nvSpPr>
        <p:spPr>
          <a:xfrm>
            <a:off x="1123118" y="2286000"/>
            <a:ext cx="12491281" cy="4940168"/>
          </a:xfrm>
          <a:prstGeom prst="rect">
            <a:avLst/>
          </a:prstGeom>
        </p:spPr>
        <p:txBody>
          <a:bodyPr vert="horz" wrap="square" lIns="0" tIns="101189" rIns="0" bIns="0" rtlCol="0">
            <a:spAutoFit/>
          </a:bodyPr>
          <a:lstStyle/>
          <a:p>
            <a:pPr marL="959529" lvl="1" indent="-314028">
              <a:spcBef>
                <a:spcPts val="721"/>
              </a:spcBef>
              <a:buFont typeface="Times New Roman"/>
              <a:buChar char="•"/>
              <a:tabLst>
                <a:tab pos="958657" algn="l"/>
                <a:tab pos="959529" algn="l"/>
              </a:tabLst>
            </a:pPr>
            <a:r>
              <a:rPr sz="2747" spc="-7" dirty="0">
                <a:latin typeface="Calibri"/>
                <a:cs typeface="Calibri"/>
              </a:rPr>
              <a:t>mix unigram,</a:t>
            </a:r>
            <a:r>
              <a:rPr sz="2747" dirty="0">
                <a:latin typeface="Calibri"/>
                <a:cs typeface="Calibri"/>
              </a:rPr>
              <a:t> </a:t>
            </a:r>
            <a:r>
              <a:rPr sz="2747" spc="-7" dirty="0">
                <a:latin typeface="Calibri"/>
                <a:cs typeface="Calibri"/>
              </a:rPr>
              <a:t>bigram, trigram</a:t>
            </a:r>
            <a:endParaRPr lang="en-US" sz="2747" spc="-7" dirty="0">
              <a:latin typeface="Calibri"/>
              <a:cs typeface="Calibri"/>
            </a:endParaRPr>
          </a:p>
          <a:p>
            <a:pPr marL="959529" lvl="1" indent="-314028">
              <a:spcBef>
                <a:spcPts val="721"/>
              </a:spcBef>
              <a:buFont typeface="Times New Roman"/>
              <a:buChar char="•"/>
              <a:tabLst>
                <a:tab pos="958657" algn="l"/>
                <a:tab pos="959529" algn="l"/>
              </a:tabLst>
            </a:pPr>
            <a:r>
              <a:rPr lang="en-US" sz="2747" spc="-7" dirty="0">
                <a:latin typeface="Calibri"/>
                <a:cs typeface="Calibri"/>
              </a:rPr>
              <a:t>Add lambda with lower order n-gram and use it for prob estimate</a:t>
            </a:r>
          </a:p>
          <a:p>
            <a:pPr marL="959529" lvl="1" indent="-314028">
              <a:spcBef>
                <a:spcPts val="721"/>
              </a:spcBef>
              <a:buFont typeface="Times New Roman"/>
              <a:buChar char="•"/>
              <a:tabLst>
                <a:tab pos="361950" algn="l"/>
                <a:tab pos="958850" algn="l"/>
              </a:tabLst>
            </a:pPr>
            <a:r>
              <a:rPr lang="en-US" sz="2747" spc="-7" dirty="0">
                <a:latin typeface="Calibri"/>
                <a:cs typeface="Calibri"/>
              </a:rPr>
              <a:t>Add lower order n-grams to the estimate of higher order n-grams</a:t>
            </a:r>
          </a:p>
          <a:p>
            <a:pPr marL="959529" lvl="1" indent="-314028">
              <a:spcBef>
                <a:spcPts val="721"/>
              </a:spcBef>
              <a:buFont typeface="Times New Roman"/>
              <a:buChar char="•"/>
              <a:tabLst>
                <a:tab pos="361950" algn="l"/>
                <a:tab pos="958850" algn="l"/>
              </a:tabLst>
            </a:pPr>
            <a:endParaRPr lang="en-US" sz="2747" spc="-7" dirty="0">
              <a:latin typeface="Calibri"/>
              <a:cs typeface="Calibri"/>
            </a:endParaRPr>
          </a:p>
          <a:p>
            <a:pPr marL="645501" lvl="1">
              <a:spcBef>
                <a:spcPts val="721"/>
              </a:spcBef>
              <a:tabLst>
                <a:tab pos="958657" algn="l"/>
                <a:tab pos="959529" algn="l"/>
              </a:tabLst>
            </a:pPr>
            <a:r>
              <a:rPr lang="en-US" sz="2800" i="1" dirty="0">
                <a:latin typeface="Calibri"/>
                <a:cs typeface="Calibri"/>
              </a:rPr>
              <a:t>The quick brown fox jumped over </a:t>
            </a:r>
            <a:r>
              <a:rPr lang="en-US" sz="2800" b="1" i="1" dirty="0">
                <a:latin typeface="Calibri"/>
                <a:cs typeface="Calibri"/>
              </a:rPr>
              <a:t>the lazy dog</a:t>
            </a:r>
          </a:p>
          <a:p>
            <a:pPr marL="645501" lvl="1">
              <a:spcBef>
                <a:spcPts val="721"/>
              </a:spcBef>
              <a:tabLst>
                <a:tab pos="958657" algn="l"/>
                <a:tab pos="959529" algn="l"/>
              </a:tabLst>
            </a:pPr>
            <a:r>
              <a:rPr lang="en-US" sz="2800" dirty="0">
                <a:latin typeface="Calibri"/>
                <a:cs typeface="Calibri"/>
              </a:rPr>
              <a:t>P(dog| the lazy) </a:t>
            </a:r>
            <a:r>
              <a:rPr lang="en-US" sz="2400" dirty="0">
                <a:latin typeface="Calibri"/>
                <a:cs typeface="Calibri"/>
              </a:rPr>
              <a:t>if this trigram has unreliable or zero value</a:t>
            </a:r>
          </a:p>
          <a:p>
            <a:pPr marL="645501" lvl="1">
              <a:spcBef>
                <a:spcPts val="721"/>
              </a:spcBef>
              <a:tabLst>
                <a:tab pos="958657" algn="l"/>
                <a:tab pos="959529" algn="l"/>
              </a:tabLst>
            </a:pPr>
            <a:r>
              <a:rPr lang="en-US" sz="2800" dirty="0">
                <a:latin typeface="Calibri"/>
                <a:cs typeface="Calibri"/>
              </a:rPr>
              <a:t>P(dog| the lazy)= lambda P(dog| the lazy) + lambda P(</a:t>
            </a:r>
            <a:r>
              <a:rPr lang="en-US" sz="2800" dirty="0" err="1">
                <a:latin typeface="Calibri"/>
                <a:cs typeface="Calibri"/>
              </a:rPr>
              <a:t>dog|lazy</a:t>
            </a:r>
            <a:r>
              <a:rPr lang="en-US" sz="2800" dirty="0">
                <a:latin typeface="Calibri"/>
                <a:cs typeface="Calibri"/>
              </a:rPr>
              <a:t>) + lambda P(dog)</a:t>
            </a:r>
          </a:p>
          <a:p>
            <a:pPr marL="1217001" lvl="1" indent="-571500">
              <a:spcBef>
                <a:spcPts val="721"/>
              </a:spcBef>
              <a:buFont typeface="Arial" panose="020B0604020202020204" pitchFamily="34" charset="0"/>
              <a:buChar char="•"/>
              <a:tabLst>
                <a:tab pos="958657" algn="l"/>
                <a:tab pos="959529" algn="l"/>
              </a:tabLst>
            </a:pPr>
            <a:r>
              <a:rPr lang="en-US" sz="2400" dirty="0">
                <a:latin typeface="Calibri"/>
                <a:cs typeface="Calibri"/>
              </a:rPr>
              <a:t>Lambda estimated on training corpus, learn with diff lambdas on training set</a:t>
            </a:r>
          </a:p>
          <a:p>
            <a:pPr marL="1217001" lvl="1" indent="-571500">
              <a:spcBef>
                <a:spcPts val="721"/>
              </a:spcBef>
              <a:buFont typeface="Arial" panose="020B0604020202020204" pitchFamily="34" charset="0"/>
              <a:buChar char="•"/>
              <a:tabLst>
                <a:tab pos="958657" algn="l"/>
                <a:tab pos="959529" algn="l"/>
              </a:tabLst>
            </a:pPr>
            <a:r>
              <a:rPr lang="en-US" sz="2400" dirty="0">
                <a:latin typeface="Calibri"/>
                <a:cs typeface="Calibri"/>
              </a:rPr>
              <a:t>Evaluate on validation set (for which lambda perplexity is minimal: intrinsic evaluation)</a:t>
            </a:r>
            <a:endParaRPr lang="en-PK" sz="2400" dirty="0">
              <a:latin typeface="Calibri"/>
              <a:cs typeface="Calibri"/>
            </a:endParaRPr>
          </a:p>
          <a:p>
            <a:pPr marL="1217001" lvl="1" indent="-571500">
              <a:spcBef>
                <a:spcPts val="721"/>
              </a:spcBef>
              <a:buFont typeface="Arial" panose="020B0604020202020204" pitchFamily="34" charset="0"/>
              <a:buChar char="•"/>
              <a:tabLst>
                <a:tab pos="958657" algn="l"/>
                <a:tab pos="959529" algn="l"/>
              </a:tabLst>
            </a:pPr>
            <a:endParaRPr lang="en-PK" sz="2000" dirty="0">
              <a:latin typeface="Calibri"/>
              <a:cs typeface="Calibri"/>
            </a:endParaRPr>
          </a:p>
        </p:txBody>
      </p:sp>
    </p:spTree>
    <p:extLst>
      <p:ext uri="{BB962C8B-B14F-4D97-AF65-F5344CB8AC3E}">
        <p14:creationId xmlns:p14="http://schemas.microsoft.com/office/powerpoint/2010/main" val="23863586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6765739" cy="694084"/>
          </a:xfrm>
          <a:prstGeom prst="rect">
            <a:avLst/>
          </a:prstGeom>
        </p:spPr>
        <p:txBody>
          <a:bodyPr vert="horz" wrap="square" lIns="0" tIns="17446" rIns="0" bIns="0" rtlCol="0">
            <a:spAutoFit/>
          </a:bodyPr>
          <a:lstStyle/>
          <a:p>
            <a:pPr marL="17446">
              <a:spcBef>
                <a:spcPts val="137"/>
              </a:spcBef>
            </a:pPr>
            <a:r>
              <a:rPr spc="-7" dirty="0"/>
              <a:t>Interpolation</a:t>
            </a:r>
          </a:p>
        </p:txBody>
      </p:sp>
      <p:sp>
        <p:nvSpPr>
          <p:cNvPr id="7" name="object 7"/>
          <p:cNvSpPr txBox="1"/>
          <p:nvPr/>
        </p:nvSpPr>
        <p:spPr>
          <a:xfrm>
            <a:off x="1627039" y="3276600"/>
            <a:ext cx="10591361" cy="1764171"/>
          </a:xfrm>
          <a:prstGeom prst="rect">
            <a:avLst/>
          </a:prstGeom>
        </p:spPr>
        <p:txBody>
          <a:bodyPr vert="horz" wrap="square" lIns="0" tIns="101189" rIns="0" bIns="0" rtlCol="0">
            <a:spAutoFit/>
          </a:bodyPr>
          <a:lstStyle/>
          <a:p>
            <a:pPr marL="645501" lvl="1">
              <a:spcBef>
                <a:spcPts val="721"/>
              </a:spcBef>
              <a:tabLst>
                <a:tab pos="958657" algn="l"/>
                <a:tab pos="959529" algn="l"/>
              </a:tabLst>
            </a:pPr>
            <a:r>
              <a:rPr lang="en-US" sz="3600" b="0" i="0" dirty="0">
                <a:effectLst/>
                <a:latin typeface="Söhne"/>
              </a:rPr>
              <a:t>The basic idea is to interpolate between </a:t>
            </a:r>
            <a:r>
              <a:rPr lang="en-US" sz="3600" b="0" i="1" dirty="0">
                <a:solidFill>
                  <a:srgbClr val="002060"/>
                </a:solidFill>
                <a:effectLst/>
                <a:latin typeface="Söhne"/>
              </a:rPr>
              <a:t>higher-order n-gram models that have lower frequency </a:t>
            </a:r>
            <a:r>
              <a:rPr lang="en-US" sz="3600" b="0" i="0" dirty="0">
                <a:effectLst/>
                <a:latin typeface="Söhne"/>
              </a:rPr>
              <a:t>and lower-order n-gram models that have higher frequency.</a:t>
            </a:r>
            <a:endParaRPr lang="en-PK" sz="2800" dirty="0">
              <a:latin typeface="Calibri"/>
              <a:cs typeface="Calibri"/>
            </a:endParaRPr>
          </a:p>
        </p:txBody>
      </p:sp>
    </p:spTree>
    <p:extLst>
      <p:ext uri="{BB962C8B-B14F-4D97-AF65-F5344CB8AC3E}">
        <p14:creationId xmlns:p14="http://schemas.microsoft.com/office/powerpoint/2010/main" val="16069212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4654717" cy="694084"/>
          </a:xfrm>
          <a:prstGeom prst="rect">
            <a:avLst/>
          </a:prstGeom>
        </p:spPr>
        <p:txBody>
          <a:bodyPr vert="horz" wrap="square" lIns="0" tIns="17446" rIns="0" bIns="0" rtlCol="0">
            <a:spAutoFit/>
          </a:bodyPr>
          <a:lstStyle/>
          <a:p>
            <a:pPr marL="17446">
              <a:spcBef>
                <a:spcPts val="137"/>
              </a:spcBef>
            </a:pPr>
            <a:r>
              <a:rPr dirty="0">
                <a:latin typeface="Calibri"/>
                <a:cs typeface="Calibri"/>
              </a:rPr>
              <a:t>Linear</a:t>
            </a:r>
            <a:r>
              <a:rPr spc="-69" dirty="0">
                <a:latin typeface="Calibri"/>
                <a:cs typeface="Calibri"/>
              </a:rPr>
              <a:t> </a:t>
            </a:r>
            <a:r>
              <a:rPr spc="-7" dirty="0">
                <a:latin typeface="Calibri"/>
                <a:cs typeface="Calibri"/>
              </a:rPr>
              <a:t>Interpolation</a:t>
            </a:r>
          </a:p>
        </p:txBody>
      </p:sp>
      <p:sp>
        <p:nvSpPr>
          <p:cNvPr id="7" name="object 7"/>
          <p:cNvSpPr txBox="1"/>
          <p:nvPr/>
        </p:nvSpPr>
        <p:spPr>
          <a:xfrm>
            <a:off x="1050276" y="2438555"/>
            <a:ext cx="4547420" cy="609445"/>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846" spc="-7" dirty="0">
                <a:latin typeface="Calibri"/>
                <a:cs typeface="Calibri"/>
              </a:rPr>
              <a:t>Simple</a:t>
            </a:r>
            <a:r>
              <a:rPr sz="3846" spc="-62" dirty="0">
                <a:latin typeface="Calibri"/>
                <a:cs typeface="Calibri"/>
              </a:rPr>
              <a:t> </a:t>
            </a:r>
            <a:r>
              <a:rPr sz="3846" spc="-7" dirty="0">
                <a:latin typeface="Calibri"/>
                <a:cs typeface="Calibri"/>
              </a:rPr>
              <a:t>interpolation</a:t>
            </a:r>
            <a:endParaRPr sz="3846">
              <a:latin typeface="Calibri"/>
              <a:cs typeface="Calibri"/>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4F38AF1-842F-1DC1-AC39-03BC0EF4089A}"/>
                  </a:ext>
                </a:extLst>
              </p:cNvPr>
              <p:cNvSpPr txBox="1"/>
              <p:nvPr/>
            </p:nvSpPr>
            <p:spPr>
              <a:xfrm>
                <a:off x="2620457" y="3200245"/>
                <a:ext cx="7730736" cy="8613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𝑤</m:t>
                          </m:r>
                          <m:r>
                            <a:rPr lang="en-US" sz="2400" b="0" i="1" baseline="-25000" smtClean="0">
                              <a:latin typeface="Cambria Math" panose="02040503050406030204" pitchFamily="18" charset="0"/>
                            </a:rPr>
                            <m:t>𝑖</m:t>
                          </m:r>
                          <m:r>
                            <a:rPr lang="en-US" sz="2400" b="0" i="1" smtClean="0">
                              <a:latin typeface="Cambria Math" panose="02040503050406030204" pitchFamily="18" charset="0"/>
                            </a:rPr>
                            <m:t> </m:t>
                          </m:r>
                        </m:e>
                        <m:e>
                          <m:r>
                            <a:rPr lang="en-US" sz="2400" b="0" i="1" smtClean="0">
                              <a:latin typeface="Cambria Math" panose="02040503050406030204" pitchFamily="18" charset="0"/>
                            </a:rPr>
                            <m:t>𝑤</m:t>
                          </m:r>
                          <m:r>
                            <a:rPr lang="en-US" sz="2400" b="0" i="1" baseline="-25000" smtClean="0">
                              <a:latin typeface="Cambria Math" panose="02040503050406030204" pitchFamily="18" charset="0"/>
                            </a:rPr>
                            <m:t>𝑖</m:t>
                          </m:r>
                          <m:r>
                            <a:rPr lang="en-US" sz="2400" b="0" i="1" baseline="-25000" smtClean="0">
                              <a:latin typeface="Cambria Math" panose="02040503050406030204" pitchFamily="18" charset="0"/>
                            </a:rPr>
                            <m:t>−1</m:t>
                          </m:r>
                        </m:e>
                      </m:d>
                      <m:r>
                        <a:rPr lang="en-US" sz="2400" b="0" i="1" smtClean="0">
                          <a:latin typeface="Cambria Math" panose="02040503050406030204" pitchFamily="18" charset="0"/>
                        </a:rPr>
                        <m:t>=</m:t>
                      </m:r>
                      <m:r>
                        <a:rPr lang="en-US" sz="2400" b="0" i="1" smtClean="0">
                          <a:latin typeface="Cambria Math" panose="02040503050406030204" pitchFamily="18" charset="0"/>
                        </a:rPr>
                        <m:t>𝑙𝑎𝑚𝑏𝑑𝑎</m:t>
                      </m:r>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𝐶</m:t>
                          </m:r>
                          <m:r>
                            <a:rPr lang="en-US" sz="2400" b="0" i="1" smtClean="0">
                              <a:latin typeface="Cambria Math" panose="02040503050406030204" pitchFamily="18" charset="0"/>
                            </a:rPr>
                            <m:t>(</m:t>
                          </m:r>
                          <m:r>
                            <a:rPr lang="en-US" sz="2400" b="0" i="1" smtClean="0">
                              <a:latin typeface="Cambria Math" panose="02040503050406030204" pitchFamily="18" charset="0"/>
                            </a:rPr>
                            <m:t>𝑤𝑖</m:t>
                          </m:r>
                          <m:r>
                            <a:rPr lang="en-US" sz="2400" b="0" i="1" baseline="-25000" smtClean="0">
                              <a:latin typeface="Cambria Math" panose="02040503050406030204" pitchFamily="18" charset="0"/>
                            </a:rPr>
                            <m:t>−1, </m:t>
                          </m:r>
                          <m:r>
                            <a:rPr lang="en-US" sz="2400" b="0" i="1" smtClean="0">
                              <a:latin typeface="Cambria Math" panose="02040503050406030204" pitchFamily="18" charset="0"/>
                            </a:rPr>
                            <m:t>𝑤𝑖</m:t>
                          </m:r>
                          <m:r>
                            <a:rPr lang="en-US" sz="2400" b="0" i="1" smtClean="0">
                              <a:latin typeface="Cambria Math" panose="02040503050406030204" pitchFamily="18" charset="0"/>
                            </a:rPr>
                            <m:t>)</m:t>
                          </m:r>
                        </m:num>
                        <m:den>
                          <m:r>
                            <a:rPr lang="en-US" sz="2400" b="0" i="1" smtClean="0">
                              <a:latin typeface="Cambria Math" panose="02040503050406030204" pitchFamily="18" charset="0"/>
                            </a:rPr>
                            <m:t>𝐶</m:t>
                          </m:r>
                          <m:r>
                            <a:rPr lang="en-US" sz="2400" b="0" i="1" smtClean="0">
                              <a:latin typeface="Cambria Math" panose="02040503050406030204" pitchFamily="18" charset="0"/>
                            </a:rPr>
                            <m:t>(</m:t>
                          </m:r>
                          <m:r>
                            <a:rPr lang="en-US" sz="2400" b="0" i="1" smtClean="0">
                              <a:latin typeface="Cambria Math" panose="02040503050406030204" pitchFamily="18" charset="0"/>
                            </a:rPr>
                            <m:t>𝑤𝑖</m:t>
                          </m:r>
                          <m:r>
                            <a:rPr lang="en-US" sz="2400" b="0" i="1" baseline="-25000" smtClean="0">
                              <a:latin typeface="Cambria Math" panose="02040503050406030204" pitchFamily="18" charset="0"/>
                            </a:rPr>
                            <m:t>−1)</m:t>
                          </m:r>
                        </m:den>
                      </m:f>
                      <m:r>
                        <a:rPr lang="en-US" sz="2400" b="0" i="1" smtClean="0">
                          <a:latin typeface="Cambria Math" panose="02040503050406030204" pitchFamily="18" charset="0"/>
                        </a:rPr>
                        <m:t>+</m:t>
                      </m:r>
                      <m:r>
                        <a:rPr lang="en-US" sz="2400" b="0" i="1" smtClean="0">
                          <a:latin typeface="Cambria Math" panose="02040503050406030204" pitchFamily="18" charset="0"/>
                        </a:rPr>
                        <m:t>𝑙𝑎𝑚𝑏𝑑𝑎</m:t>
                      </m:r>
                      <m:r>
                        <a:rPr lang="en-US" sz="2400" b="0" i="1" smtClean="0">
                          <a:latin typeface="Cambria Math" panose="02040503050406030204" pitchFamily="18" charset="0"/>
                        </a:rPr>
                        <m:t> ∗</m:t>
                      </m:r>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𝑤𝑖</m:t>
                      </m:r>
                      <m:r>
                        <a:rPr lang="en-US" sz="2400" b="0" i="1" smtClean="0">
                          <a:latin typeface="Cambria Math" panose="02040503050406030204" pitchFamily="18" charset="0"/>
                        </a:rPr>
                        <m:t>)</m:t>
                      </m:r>
                    </m:oMath>
                  </m:oMathPara>
                </a14:m>
                <a:endParaRPr lang="en-PK" sz="2400" dirty="0"/>
              </a:p>
            </p:txBody>
          </p:sp>
        </mc:Choice>
        <mc:Fallback xmlns="">
          <p:sp>
            <p:nvSpPr>
              <p:cNvPr id="12" name="TextBox 11">
                <a:extLst>
                  <a:ext uri="{FF2B5EF4-FFF2-40B4-BE49-F238E27FC236}">
                    <a16:creationId xmlns:a16="http://schemas.microsoft.com/office/drawing/2014/main" id="{44F38AF1-842F-1DC1-AC39-03BC0EF4089A}"/>
                  </a:ext>
                </a:extLst>
              </p:cNvPr>
              <p:cNvSpPr txBox="1">
                <a:spLocks noRot="1" noChangeAspect="1" noMove="1" noResize="1" noEditPoints="1" noAdjustHandles="1" noChangeArrowheads="1" noChangeShapeType="1" noTextEdit="1"/>
              </p:cNvSpPr>
              <p:nvPr/>
            </p:nvSpPr>
            <p:spPr>
              <a:xfrm>
                <a:off x="2620457" y="3200245"/>
                <a:ext cx="7730736" cy="861326"/>
              </a:xfrm>
              <a:prstGeom prst="rect">
                <a:avLst/>
              </a:prstGeom>
              <a:blipFill>
                <a:blip r:embed="rId3"/>
                <a:stretch>
                  <a:fillRect/>
                </a:stretch>
              </a:blipFill>
            </p:spPr>
            <p:txBody>
              <a:bodyPr/>
              <a:lstStyle/>
              <a:p>
                <a:r>
                  <a:rPr lang="en-PK">
                    <a:noFill/>
                  </a:rPr>
                  <a:t> </a:t>
                </a:r>
              </a:p>
            </p:txBody>
          </p:sp>
        </mc:Fallback>
      </mc:AlternateContent>
      <p:sp>
        <p:nvSpPr>
          <p:cNvPr id="13" name="TextBox 12">
            <a:extLst>
              <a:ext uri="{FF2B5EF4-FFF2-40B4-BE49-F238E27FC236}">
                <a16:creationId xmlns:a16="http://schemas.microsoft.com/office/drawing/2014/main" id="{CDA130FA-B1C1-4414-C276-1101CB256777}"/>
              </a:ext>
            </a:extLst>
          </p:cNvPr>
          <p:cNvSpPr txBox="1"/>
          <p:nvPr/>
        </p:nvSpPr>
        <p:spPr>
          <a:xfrm>
            <a:off x="1043926" y="5105400"/>
            <a:ext cx="12039600" cy="2677656"/>
          </a:xfrm>
          <a:prstGeom prst="rect">
            <a:avLst/>
          </a:prstGeom>
          <a:noFill/>
        </p:spPr>
        <p:txBody>
          <a:bodyPr wrap="square" rtlCol="0">
            <a:spAutoFit/>
          </a:bodyPr>
          <a:lstStyle/>
          <a:p>
            <a:pPr marL="457200" indent="-457200">
              <a:buFont typeface="Arial" panose="020B0604020202020204" pitchFamily="34" charset="0"/>
              <a:buChar char="•"/>
            </a:pPr>
            <a:r>
              <a:rPr lang="en-US" sz="2800" dirty="0"/>
              <a:t>Add a weighted estimate of a lower order n-gram</a:t>
            </a:r>
          </a:p>
          <a:p>
            <a:pPr marL="457200" indent="-457200">
              <a:buFont typeface="Arial" panose="020B0604020202020204" pitchFamily="34" charset="0"/>
              <a:buChar char="•"/>
            </a:pPr>
            <a:r>
              <a:rPr lang="en-US" sz="2800" dirty="0"/>
              <a:t>Can be done recursively (trigram, bigram, unigram)</a:t>
            </a:r>
          </a:p>
          <a:p>
            <a:pPr marL="457200" indent="-457200">
              <a:buFont typeface="Arial" panose="020B0604020202020204" pitchFamily="34" charset="0"/>
              <a:buChar char="•"/>
            </a:pPr>
            <a:r>
              <a:rPr lang="en-US" sz="2800" dirty="0"/>
              <a:t>Lambda estimated on training corpus</a:t>
            </a:r>
          </a:p>
          <a:p>
            <a:pPr marL="457200" indent="-457200">
              <a:buFont typeface="Arial" panose="020B0604020202020204" pitchFamily="34" charset="0"/>
              <a:buChar char="•"/>
            </a:pPr>
            <a:r>
              <a:rPr lang="en-US" sz="2800" dirty="0"/>
              <a:t>Stupid Backoff</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PK" sz="2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4654717" cy="694084"/>
          </a:xfrm>
          <a:prstGeom prst="rect">
            <a:avLst/>
          </a:prstGeom>
        </p:spPr>
        <p:txBody>
          <a:bodyPr vert="horz" wrap="square" lIns="0" tIns="17446" rIns="0" bIns="0" rtlCol="0">
            <a:spAutoFit/>
          </a:bodyPr>
          <a:lstStyle/>
          <a:p>
            <a:pPr marL="17446">
              <a:spcBef>
                <a:spcPts val="137"/>
              </a:spcBef>
            </a:pPr>
            <a:r>
              <a:rPr dirty="0">
                <a:latin typeface="Calibri"/>
                <a:cs typeface="Calibri"/>
              </a:rPr>
              <a:t>Linear</a:t>
            </a:r>
            <a:r>
              <a:rPr spc="-69" dirty="0">
                <a:latin typeface="Calibri"/>
                <a:cs typeface="Calibri"/>
              </a:rPr>
              <a:t> </a:t>
            </a:r>
            <a:r>
              <a:rPr spc="-7" dirty="0">
                <a:latin typeface="Calibri"/>
                <a:cs typeface="Calibri"/>
              </a:rPr>
              <a:t>Interpolation</a:t>
            </a:r>
          </a:p>
        </p:txBody>
      </p:sp>
      <p:sp>
        <p:nvSpPr>
          <p:cNvPr id="7" name="object 7"/>
          <p:cNvSpPr txBox="1"/>
          <p:nvPr/>
        </p:nvSpPr>
        <p:spPr>
          <a:xfrm>
            <a:off x="1050276" y="2438555"/>
            <a:ext cx="4547420" cy="609445"/>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846" spc="-7" dirty="0">
                <a:latin typeface="Calibri"/>
                <a:cs typeface="Calibri"/>
              </a:rPr>
              <a:t>Simple</a:t>
            </a:r>
            <a:r>
              <a:rPr sz="3846" spc="-62" dirty="0">
                <a:latin typeface="Calibri"/>
                <a:cs typeface="Calibri"/>
              </a:rPr>
              <a:t> </a:t>
            </a:r>
            <a:r>
              <a:rPr sz="3846" spc="-7" dirty="0">
                <a:latin typeface="Calibri"/>
                <a:cs typeface="Calibri"/>
              </a:rPr>
              <a:t>interpolation</a:t>
            </a:r>
            <a:endParaRPr sz="3846">
              <a:latin typeface="Calibri"/>
              <a:cs typeface="Calibri"/>
            </a:endParaRPr>
          </a:p>
        </p:txBody>
      </p:sp>
      <p:pic>
        <p:nvPicPr>
          <p:cNvPr id="11" name="object 11"/>
          <p:cNvPicPr/>
          <p:nvPr/>
        </p:nvPicPr>
        <p:blipFill>
          <a:blip r:embed="rId3" cstate="print"/>
          <a:stretch>
            <a:fillRect/>
          </a:stretch>
        </p:blipFill>
        <p:spPr>
          <a:xfrm>
            <a:off x="10404874" y="3371555"/>
            <a:ext cx="1487949" cy="804954"/>
          </a:xfrm>
          <a:prstGeom prst="rect">
            <a:avLst/>
          </a:prstGeom>
        </p:spPr>
      </p:pic>
      <p:pic>
        <p:nvPicPr>
          <p:cNvPr id="8" name="object 9">
            <a:extLst>
              <a:ext uri="{FF2B5EF4-FFF2-40B4-BE49-F238E27FC236}">
                <a16:creationId xmlns:a16="http://schemas.microsoft.com/office/drawing/2014/main" id="{2025D0B8-5C5B-67D1-741D-6210A046F91C}"/>
              </a:ext>
            </a:extLst>
          </p:cNvPr>
          <p:cNvPicPr/>
          <p:nvPr/>
        </p:nvPicPr>
        <p:blipFill>
          <a:blip r:embed="rId4" cstate="print"/>
          <a:stretch>
            <a:fillRect/>
          </a:stretch>
        </p:blipFill>
        <p:spPr>
          <a:xfrm>
            <a:off x="4698999" y="3174521"/>
            <a:ext cx="4547419" cy="1549879"/>
          </a:xfrm>
          <a:prstGeom prst="rect">
            <a:avLst/>
          </a:prstGeom>
        </p:spPr>
      </p:pic>
      <p:pic>
        <p:nvPicPr>
          <p:cNvPr id="9" name="object 10">
            <a:extLst>
              <a:ext uri="{FF2B5EF4-FFF2-40B4-BE49-F238E27FC236}">
                <a16:creationId xmlns:a16="http://schemas.microsoft.com/office/drawing/2014/main" id="{78F491E6-A397-91DE-EF1A-3FE95BD38660}"/>
              </a:ext>
            </a:extLst>
          </p:cNvPr>
          <p:cNvPicPr/>
          <p:nvPr/>
        </p:nvPicPr>
        <p:blipFill>
          <a:blip r:embed="rId5" cstate="print"/>
          <a:stretch>
            <a:fillRect/>
          </a:stretch>
        </p:blipFill>
        <p:spPr>
          <a:xfrm>
            <a:off x="4841510" y="5815474"/>
            <a:ext cx="4867329" cy="1372670"/>
          </a:xfrm>
          <a:prstGeom prst="rect">
            <a:avLst/>
          </a:prstGeom>
        </p:spPr>
      </p:pic>
      <p:sp>
        <p:nvSpPr>
          <p:cNvPr id="10" name="object 8">
            <a:extLst>
              <a:ext uri="{FF2B5EF4-FFF2-40B4-BE49-F238E27FC236}">
                <a16:creationId xmlns:a16="http://schemas.microsoft.com/office/drawing/2014/main" id="{40776224-3CE7-8117-02D5-136C1B893A01}"/>
              </a:ext>
            </a:extLst>
          </p:cNvPr>
          <p:cNvSpPr txBox="1"/>
          <p:nvPr/>
        </p:nvSpPr>
        <p:spPr>
          <a:xfrm>
            <a:off x="1050276" y="5024827"/>
            <a:ext cx="5077460" cy="452120"/>
          </a:xfrm>
          <a:prstGeom prst="rect">
            <a:avLst/>
          </a:prstGeom>
        </p:spPr>
        <p:txBody>
          <a:bodyPr vert="horz" wrap="square" lIns="0" tIns="12700" rIns="0" bIns="0" rtlCol="0">
            <a:spAutoFit/>
          </a:bodyPr>
          <a:lstStyle/>
          <a:p>
            <a:pPr marL="355600" indent="-342900">
              <a:spcBef>
                <a:spcPts val="100"/>
              </a:spcBef>
              <a:buClr>
                <a:srgbClr val="CC0000"/>
              </a:buClr>
              <a:buFont typeface="Times New Roman"/>
              <a:buChar char="•"/>
              <a:tabLst>
                <a:tab pos="354965" algn="l"/>
                <a:tab pos="355600" algn="l"/>
              </a:tabLst>
            </a:pPr>
            <a:r>
              <a:rPr sz="2800" spc="-5" dirty="0">
                <a:latin typeface="Calibri"/>
                <a:cs typeface="Calibri"/>
              </a:rPr>
              <a:t>Lambdas conditional on context:</a:t>
            </a:r>
            <a:endParaRPr sz="2800">
              <a:latin typeface="Calibri"/>
              <a:cs typeface="Calibri"/>
            </a:endParaRPr>
          </a:p>
        </p:txBody>
      </p:sp>
    </p:spTree>
    <p:extLst>
      <p:ext uri="{BB962C8B-B14F-4D97-AF65-F5344CB8AC3E}">
        <p14:creationId xmlns:p14="http://schemas.microsoft.com/office/powerpoint/2010/main" val="3339506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5800949" cy="694084"/>
          </a:xfrm>
          <a:prstGeom prst="rect">
            <a:avLst/>
          </a:prstGeom>
        </p:spPr>
        <p:txBody>
          <a:bodyPr vert="horz" wrap="square" lIns="0" tIns="17446" rIns="0" bIns="0" rtlCol="0">
            <a:spAutoFit/>
          </a:bodyPr>
          <a:lstStyle/>
          <a:p>
            <a:pPr marL="17446">
              <a:spcBef>
                <a:spcPts val="137"/>
              </a:spcBef>
            </a:pPr>
            <a:r>
              <a:rPr dirty="0">
                <a:latin typeface="Calibri"/>
                <a:cs typeface="Calibri"/>
              </a:rPr>
              <a:t>How</a:t>
            </a:r>
            <a:r>
              <a:rPr spc="-34" dirty="0">
                <a:latin typeface="Calibri"/>
                <a:cs typeface="Calibri"/>
              </a:rPr>
              <a:t> </a:t>
            </a:r>
            <a:r>
              <a:rPr dirty="0">
                <a:latin typeface="Calibri"/>
                <a:cs typeface="Calibri"/>
              </a:rPr>
              <a:t>to</a:t>
            </a:r>
            <a:r>
              <a:rPr spc="-27" dirty="0">
                <a:latin typeface="Calibri"/>
                <a:cs typeface="Calibri"/>
              </a:rPr>
              <a:t> </a:t>
            </a:r>
            <a:r>
              <a:rPr spc="-7" dirty="0">
                <a:latin typeface="Calibri"/>
                <a:cs typeface="Calibri"/>
              </a:rPr>
              <a:t>set</a:t>
            </a:r>
            <a:r>
              <a:rPr spc="-27" dirty="0">
                <a:latin typeface="Calibri"/>
                <a:cs typeface="Calibri"/>
              </a:rPr>
              <a:t> </a:t>
            </a:r>
            <a:r>
              <a:rPr dirty="0">
                <a:latin typeface="Calibri"/>
                <a:cs typeface="Calibri"/>
              </a:rPr>
              <a:t>the</a:t>
            </a:r>
            <a:r>
              <a:rPr spc="-34" dirty="0">
                <a:latin typeface="Calibri"/>
                <a:cs typeface="Calibri"/>
              </a:rPr>
              <a:t> </a:t>
            </a:r>
            <a:r>
              <a:rPr dirty="0">
                <a:latin typeface="Calibri"/>
                <a:cs typeface="Calibri"/>
              </a:rPr>
              <a:t>lambdas?</a:t>
            </a:r>
          </a:p>
        </p:txBody>
      </p:sp>
      <p:sp>
        <p:nvSpPr>
          <p:cNvPr id="7" name="object 7"/>
          <p:cNvSpPr txBox="1"/>
          <p:nvPr/>
        </p:nvSpPr>
        <p:spPr>
          <a:xfrm>
            <a:off x="1259634" y="2150594"/>
            <a:ext cx="5092066" cy="524999"/>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297" dirty="0">
                <a:latin typeface="Calibri"/>
                <a:cs typeface="Calibri"/>
              </a:rPr>
              <a:t>Use a</a:t>
            </a:r>
            <a:r>
              <a:rPr sz="3297" spc="-7" dirty="0">
                <a:latin typeface="Calibri"/>
                <a:cs typeface="Calibri"/>
              </a:rPr>
              <a:t> </a:t>
            </a:r>
            <a:r>
              <a:rPr sz="3297" b="1" dirty="0">
                <a:latin typeface="Calibri"/>
                <a:cs typeface="Calibri"/>
              </a:rPr>
              <a:t>held-­‐out </a:t>
            </a:r>
            <a:r>
              <a:rPr sz="3297" dirty="0">
                <a:latin typeface="Calibri"/>
                <a:cs typeface="Calibri"/>
              </a:rPr>
              <a:t>co</a:t>
            </a:r>
            <a:r>
              <a:rPr sz="3297" spc="-7" dirty="0">
                <a:latin typeface="Calibri"/>
                <a:cs typeface="Calibri"/>
              </a:rPr>
              <a:t>rpus</a:t>
            </a:r>
            <a:endParaRPr sz="3297" dirty="0">
              <a:latin typeface="Calibri"/>
              <a:cs typeface="Calibri"/>
            </a:endParaRPr>
          </a:p>
        </p:txBody>
      </p:sp>
      <p:pic>
        <p:nvPicPr>
          <p:cNvPr id="8" name="object 8"/>
          <p:cNvPicPr/>
          <p:nvPr/>
        </p:nvPicPr>
        <p:blipFill>
          <a:blip r:embed="rId2" cstate="print"/>
          <a:stretch>
            <a:fillRect/>
          </a:stretch>
        </p:blipFill>
        <p:spPr>
          <a:xfrm>
            <a:off x="1290404" y="2692861"/>
            <a:ext cx="4956064" cy="1187628"/>
          </a:xfrm>
          <a:prstGeom prst="rect">
            <a:avLst/>
          </a:prstGeom>
        </p:spPr>
      </p:pic>
      <p:sp>
        <p:nvSpPr>
          <p:cNvPr id="9" name="object 9"/>
          <p:cNvSpPr txBox="1"/>
          <p:nvPr/>
        </p:nvSpPr>
        <p:spPr>
          <a:xfrm>
            <a:off x="1360823" y="2733306"/>
            <a:ext cx="4815224" cy="824371"/>
          </a:xfrm>
          <a:prstGeom prst="rect">
            <a:avLst/>
          </a:prstGeom>
          <a:solidFill>
            <a:srgbClr val="81C6E9"/>
          </a:solidFill>
          <a:ln w="9524">
            <a:solidFill>
              <a:srgbClr val="B51820"/>
            </a:solidFill>
          </a:ln>
        </p:spPr>
        <p:txBody>
          <a:bodyPr vert="horz" wrap="square" lIns="0" tIns="230293" rIns="0" bIns="0" rtlCol="0">
            <a:spAutoFit/>
          </a:bodyPr>
          <a:lstStyle/>
          <a:p>
            <a:pPr marL="1084268">
              <a:spcBef>
                <a:spcPts val="1813"/>
              </a:spcBef>
            </a:pPr>
            <a:r>
              <a:rPr sz="3846" spc="-7" dirty="0">
                <a:solidFill>
                  <a:srgbClr val="FFFFFF"/>
                </a:solidFill>
                <a:latin typeface="Calibri"/>
                <a:cs typeface="Calibri"/>
              </a:rPr>
              <a:t>Training</a:t>
            </a:r>
            <a:r>
              <a:rPr sz="3846" spc="-34" dirty="0">
                <a:solidFill>
                  <a:srgbClr val="FFFFFF"/>
                </a:solidFill>
                <a:latin typeface="Calibri"/>
                <a:cs typeface="Calibri"/>
              </a:rPr>
              <a:t> </a:t>
            </a:r>
            <a:r>
              <a:rPr sz="3846" spc="-7" dirty="0">
                <a:solidFill>
                  <a:srgbClr val="FFFFFF"/>
                </a:solidFill>
                <a:latin typeface="Calibri"/>
                <a:cs typeface="Calibri"/>
              </a:rPr>
              <a:t>Data</a:t>
            </a:r>
            <a:endParaRPr sz="3846">
              <a:latin typeface="Calibri"/>
              <a:cs typeface="Calibri"/>
            </a:endParaRPr>
          </a:p>
        </p:txBody>
      </p:sp>
      <p:grpSp>
        <p:nvGrpSpPr>
          <p:cNvPr id="10" name="object 10"/>
          <p:cNvGrpSpPr/>
          <p:nvPr/>
        </p:nvGrpSpPr>
        <p:grpSpPr>
          <a:xfrm>
            <a:off x="6423470" y="2687151"/>
            <a:ext cx="1959238" cy="1210785"/>
            <a:chOff x="4675908" y="3013363"/>
            <a:chExt cx="1426210" cy="881380"/>
          </a:xfrm>
        </p:grpSpPr>
        <p:pic>
          <p:nvPicPr>
            <p:cNvPr id="11" name="object 11"/>
            <p:cNvPicPr/>
            <p:nvPr/>
          </p:nvPicPr>
          <p:blipFill>
            <a:blip r:embed="rId3" cstate="print"/>
            <a:stretch>
              <a:fillRect/>
            </a:stretch>
          </p:blipFill>
          <p:spPr>
            <a:xfrm>
              <a:off x="4675908" y="3017519"/>
              <a:ext cx="1425632" cy="864523"/>
            </a:xfrm>
            <a:prstGeom prst="rect">
              <a:avLst/>
            </a:prstGeom>
          </p:spPr>
        </p:pic>
        <p:pic>
          <p:nvPicPr>
            <p:cNvPr id="12" name="object 12"/>
            <p:cNvPicPr/>
            <p:nvPr/>
          </p:nvPicPr>
          <p:blipFill>
            <a:blip r:embed="rId4" cstate="print"/>
            <a:stretch>
              <a:fillRect/>
            </a:stretch>
          </p:blipFill>
          <p:spPr>
            <a:xfrm>
              <a:off x="4746567" y="3013363"/>
              <a:ext cx="1271846" cy="881148"/>
            </a:xfrm>
            <a:prstGeom prst="rect">
              <a:avLst/>
            </a:prstGeom>
          </p:spPr>
        </p:pic>
      </p:grpSp>
      <p:sp>
        <p:nvSpPr>
          <p:cNvPr id="13" name="object 13"/>
          <p:cNvSpPr txBox="1"/>
          <p:nvPr/>
        </p:nvSpPr>
        <p:spPr>
          <a:xfrm>
            <a:off x="6490083" y="2733307"/>
            <a:ext cx="1820539" cy="1023953"/>
          </a:xfrm>
          <a:prstGeom prst="rect">
            <a:avLst/>
          </a:prstGeom>
          <a:solidFill>
            <a:srgbClr val="AD8C30"/>
          </a:solidFill>
          <a:ln w="9524">
            <a:solidFill>
              <a:srgbClr val="B51820"/>
            </a:solidFill>
          </a:ln>
        </p:spPr>
        <p:txBody>
          <a:bodyPr vert="horz" wrap="square" lIns="0" tIns="48850" rIns="0" bIns="0" rtlCol="0">
            <a:spAutoFit/>
          </a:bodyPr>
          <a:lstStyle/>
          <a:p>
            <a:pPr marL="513784" marR="120377" indent="-376833">
              <a:lnSpc>
                <a:spcPts val="3846"/>
              </a:lnSpc>
              <a:spcBef>
                <a:spcPts val="385"/>
              </a:spcBef>
            </a:pPr>
            <a:r>
              <a:rPr sz="3297" spc="-7" dirty="0">
                <a:solidFill>
                  <a:srgbClr val="FFFFFF"/>
                </a:solidFill>
                <a:latin typeface="Calibri"/>
                <a:cs typeface="Calibri"/>
              </a:rPr>
              <a:t>He</a:t>
            </a:r>
            <a:r>
              <a:rPr sz="3297" dirty="0">
                <a:solidFill>
                  <a:srgbClr val="FFFFFF"/>
                </a:solidFill>
                <a:latin typeface="Calibri"/>
                <a:cs typeface="Calibri"/>
              </a:rPr>
              <a:t>ld</a:t>
            </a:r>
            <a:r>
              <a:rPr sz="3297" spc="-673" dirty="0">
                <a:solidFill>
                  <a:srgbClr val="FFFFFF"/>
                </a:solidFill>
                <a:latin typeface="Calibri"/>
                <a:cs typeface="Calibri"/>
              </a:rPr>
              <a:t>-­‐</a:t>
            </a:r>
            <a:r>
              <a:rPr sz="3297" dirty="0">
                <a:solidFill>
                  <a:srgbClr val="FFFFFF"/>
                </a:solidFill>
                <a:latin typeface="Calibri"/>
                <a:cs typeface="Calibri"/>
              </a:rPr>
              <a:t>Out  </a:t>
            </a:r>
            <a:r>
              <a:rPr sz="3297" spc="-7" dirty="0">
                <a:solidFill>
                  <a:srgbClr val="FFFFFF"/>
                </a:solidFill>
                <a:latin typeface="Calibri"/>
                <a:cs typeface="Calibri"/>
              </a:rPr>
              <a:t>Data</a:t>
            </a:r>
            <a:endParaRPr sz="3297">
              <a:latin typeface="Calibri"/>
              <a:cs typeface="Calibri"/>
            </a:endParaRPr>
          </a:p>
        </p:txBody>
      </p:sp>
      <p:grpSp>
        <p:nvGrpSpPr>
          <p:cNvPr id="14" name="object 14"/>
          <p:cNvGrpSpPr/>
          <p:nvPr/>
        </p:nvGrpSpPr>
        <p:grpSpPr>
          <a:xfrm>
            <a:off x="8513239" y="2687151"/>
            <a:ext cx="2175574" cy="1210785"/>
            <a:chOff x="6197137" y="3013363"/>
            <a:chExt cx="1583690" cy="881380"/>
          </a:xfrm>
        </p:grpSpPr>
        <p:pic>
          <p:nvPicPr>
            <p:cNvPr id="15" name="object 15"/>
            <p:cNvPicPr/>
            <p:nvPr/>
          </p:nvPicPr>
          <p:blipFill>
            <a:blip r:embed="rId5" cstate="print"/>
            <a:stretch>
              <a:fillRect/>
            </a:stretch>
          </p:blipFill>
          <p:spPr>
            <a:xfrm>
              <a:off x="6197137" y="3017519"/>
              <a:ext cx="1583574" cy="864523"/>
            </a:xfrm>
            <a:prstGeom prst="rect">
              <a:avLst/>
            </a:prstGeom>
          </p:spPr>
        </p:pic>
        <p:pic>
          <p:nvPicPr>
            <p:cNvPr id="16" name="object 16"/>
            <p:cNvPicPr/>
            <p:nvPr/>
          </p:nvPicPr>
          <p:blipFill>
            <a:blip r:embed="rId6" cstate="print"/>
            <a:stretch>
              <a:fillRect/>
            </a:stretch>
          </p:blipFill>
          <p:spPr>
            <a:xfrm>
              <a:off x="6625243" y="3013363"/>
              <a:ext cx="727363" cy="881148"/>
            </a:xfrm>
            <a:prstGeom prst="rect">
              <a:avLst/>
            </a:prstGeom>
          </p:spPr>
        </p:pic>
      </p:grpSp>
      <p:sp>
        <p:nvSpPr>
          <p:cNvPr id="17" name="object 17"/>
          <p:cNvSpPr txBox="1"/>
          <p:nvPr/>
        </p:nvSpPr>
        <p:spPr>
          <a:xfrm>
            <a:off x="8583658" y="2733306"/>
            <a:ext cx="2036875" cy="1023953"/>
          </a:xfrm>
          <a:prstGeom prst="rect">
            <a:avLst/>
          </a:prstGeom>
          <a:solidFill>
            <a:srgbClr val="4180FF"/>
          </a:solidFill>
          <a:ln w="9524">
            <a:solidFill>
              <a:srgbClr val="B51820"/>
            </a:solidFill>
          </a:ln>
        </p:spPr>
        <p:txBody>
          <a:bodyPr vert="horz" wrap="square" lIns="0" tIns="48850" rIns="0" bIns="0" rtlCol="0">
            <a:spAutoFit/>
          </a:bodyPr>
          <a:lstStyle/>
          <a:p>
            <a:pPr marL="621950" marR="604504" indent="40998">
              <a:lnSpc>
                <a:spcPts val="3846"/>
              </a:lnSpc>
              <a:spcBef>
                <a:spcPts val="385"/>
              </a:spcBef>
            </a:pPr>
            <a:r>
              <a:rPr sz="3297" dirty="0">
                <a:solidFill>
                  <a:srgbClr val="FFFFFF"/>
                </a:solidFill>
                <a:latin typeface="Calibri"/>
                <a:cs typeface="Calibri"/>
              </a:rPr>
              <a:t>Test </a:t>
            </a:r>
            <a:r>
              <a:rPr sz="3297" spc="-728" dirty="0">
                <a:solidFill>
                  <a:srgbClr val="FFFFFF"/>
                </a:solidFill>
                <a:latin typeface="Calibri"/>
                <a:cs typeface="Calibri"/>
              </a:rPr>
              <a:t> </a:t>
            </a:r>
            <a:r>
              <a:rPr sz="3297" spc="-7" dirty="0">
                <a:solidFill>
                  <a:srgbClr val="FFFFFF"/>
                </a:solidFill>
                <a:latin typeface="Calibri"/>
                <a:cs typeface="Calibri"/>
              </a:rPr>
              <a:t>D</a:t>
            </a:r>
            <a:r>
              <a:rPr sz="3297" dirty="0">
                <a:solidFill>
                  <a:srgbClr val="FFFFFF"/>
                </a:solidFill>
                <a:latin typeface="Calibri"/>
                <a:cs typeface="Calibri"/>
              </a:rPr>
              <a:t>ata</a:t>
            </a:r>
            <a:endParaRPr sz="3297">
              <a:latin typeface="Calibri"/>
              <a:cs typeface="Calibri"/>
            </a:endParaRPr>
          </a:p>
        </p:txBody>
      </p:sp>
      <p:sp>
        <p:nvSpPr>
          <p:cNvPr id="18" name="object 18"/>
          <p:cNvSpPr txBox="1"/>
          <p:nvPr/>
        </p:nvSpPr>
        <p:spPr>
          <a:xfrm>
            <a:off x="1242188" y="3835226"/>
            <a:ext cx="11608005" cy="3335925"/>
          </a:xfrm>
          <a:prstGeom prst="rect">
            <a:avLst/>
          </a:prstGeom>
        </p:spPr>
        <p:txBody>
          <a:bodyPr vert="horz" wrap="square" lIns="0" tIns="125615" rIns="0" bIns="0" rtlCol="0">
            <a:spAutoFit/>
          </a:bodyPr>
          <a:lstStyle/>
          <a:p>
            <a:pPr marL="505934" indent="-471042">
              <a:spcBef>
                <a:spcPts val="989"/>
              </a:spcBef>
              <a:buClr>
                <a:srgbClr val="CC0000"/>
              </a:buClr>
              <a:buFont typeface="Times New Roman"/>
              <a:buChar char="•"/>
              <a:tabLst>
                <a:tab pos="505061" algn="l"/>
                <a:tab pos="505934" algn="l"/>
              </a:tabLst>
            </a:pPr>
            <a:r>
              <a:rPr sz="3297" dirty="0">
                <a:latin typeface="Calibri"/>
                <a:cs typeface="Calibri"/>
              </a:rPr>
              <a:t>Choose λs to </a:t>
            </a:r>
            <a:r>
              <a:rPr sz="3297" spc="-7" dirty="0">
                <a:latin typeface="Calibri"/>
                <a:cs typeface="Calibri"/>
              </a:rPr>
              <a:t>maximize </a:t>
            </a:r>
            <a:r>
              <a:rPr sz="3297" dirty="0">
                <a:latin typeface="Calibri"/>
                <a:cs typeface="Calibri"/>
              </a:rPr>
              <a:t>the </a:t>
            </a:r>
            <a:r>
              <a:rPr sz="3297" spc="-7" dirty="0">
                <a:latin typeface="Calibri"/>
                <a:cs typeface="Calibri"/>
              </a:rPr>
              <a:t>probability of</a:t>
            </a:r>
            <a:r>
              <a:rPr sz="3297" dirty="0">
                <a:latin typeface="Calibri"/>
                <a:cs typeface="Calibri"/>
              </a:rPr>
              <a:t> </a:t>
            </a:r>
            <a:r>
              <a:rPr sz="3297" spc="-206" dirty="0">
                <a:latin typeface="Calibri"/>
                <a:cs typeface="Calibri"/>
              </a:rPr>
              <a:t>held-­‐out</a:t>
            </a:r>
            <a:r>
              <a:rPr sz="3297" dirty="0">
                <a:latin typeface="Calibri"/>
                <a:cs typeface="Calibri"/>
              </a:rPr>
              <a:t> data:</a:t>
            </a:r>
            <a:endParaRPr sz="3297">
              <a:latin typeface="Calibri"/>
              <a:cs typeface="Calibri"/>
            </a:endParaRPr>
          </a:p>
          <a:p>
            <a:pPr marL="976975" lvl="1" indent="-314028">
              <a:spcBef>
                <a:spcPts val="852"/>
              </a:spcBef>
              <a:buFont typeface="Times New Roman"/>
              <a:buChar char="•"/>
              <a:tabLst>
                <a:tab pos="976975" algn="l"/>
              </a:tabLst>
            </a:pPr>
            <a:r>
              <a:rPr sz="3297" dirty="0">
                <a:latin typeface="Calibri"/>
                <a:cs typeface="Calibri"/>
              </a:rPr>
              <a:t>Fix the N</a:t>
            </a:r>
            <a:r>
              <a:rPr sz="3297" spc="-673" dirty="0">
                <a:latin typeface="Calibri"/>
                <a:cs typeface="Calibri"/>
              </a:rPr>
              <a:t>-­‐</a:t>
            </a:r>
            <a:r>
              <a:rPr sz="3297" dirty="0">
                <a:latin typeface="Calibri"/>
                <a:cs typeface="Calibri"/>
              </a:rPr>
              <a:t>g</a:t>
            </a:r>
            <a:r>
              <a:rPr sz="3297" spc="-7" dirty="0">
                <a:latin typeface="Calibri"/>
                <a:cs typeface="Calibri"/>
              </a:rPr>
              <a:t>r</a:t>
            </a:r>
            <a:r>
              <a:rPr sz="3297" dirty="0">
                <a:latin typeface="Calibri"/>
                <a:cs typeface="Calibri"/>
              </a:rPr>
              <a:t>am</a:t>
            </a:r>
            <a:r>
              <a:rPr sz="3297" spc="-7" dirty="0">
                <a:latin typeface="Calibri"/>
                <a:cs typeface="Calibri"/>
              </a:rPr>
              <a:t> </a:t>
            </a:r>
            <a:r>
              <a:rPr sz="3297" dirty="0">
                <a:latin typeface="Calibri"/>
                <a:cs typeface="Calibri"/>
              </a:rPr>
              <a:t>p</a:t>
            </a:r>
            <a:r>
              <a:rPr sz="3297" spc="-7" dirty="0">
                <a:latin typeface="Calibri"/>
                <a:cs typeface="Calibri"/>
              </a:rPr>
              <a:t>ro</a:t>
            </a:r>
            <a:r>
              <a:rPr sz="3297" dirty="0">
                <a:latin typeface="Calibri"/>
                <a:cs typeface="Calibri"/>
              </a:rPr>
              <a:t>babili</a:t>
            </a:r>
            <a:r>
              <a:rPr sz="3297" spc="-21" dirty="0">
                <a:latin typeface="Calibri"/>
                <a:cs typeface="Calibri"/>
              </a:rPr>
              <a:t>ti</a:t>
            </a:r>
            <a:r>
              <a:rPr sz="3297" dirty="0">
                <a:latin typeface="Calibri"/>
                <a:cs typeface="Calibri"/>
              </a:rPr>
              <a:t>es </a:t>
            </a:r>
            <a:r>
              <a:rPr sz="3297" spc="-7" dirty="0">
                <a:latin typeface="Calibri"/>
                <a:cs typeface="Calibri"/>
              </a:rPr>
              <a:t>(o</a:t>
            </a:r>
            <a:r>
              <a:rPr sz="3297" dirty="0">
                <a:latin typeface="Calibri"/>
                <a:cs typeface="Calibri"/>
              </a:rPr>
              <a:t>n the t</a:t>
            </a:r>
            <a:r>
              <a:rPr sz="3297" spc="-7" dirty="0">
                <a:latin typeface="Calibri"/>
                <a:cs typeface="Calibri"/>
              </a:rPr>
              <a:t>r</a:t>
            </a:r>
            <a:r>
              <a:rPr sz="3297" dirty="0">
                <a:latin typeface="Calibri"/>
                <a:cs typeface="Calibri"/>
              </a:rPr>
              <a:t>aining data)</a:t>
            </a:r>
            <a:endParaRPr sz="3297">
              <a:latin typeface="Calibri"/>
              <a:cs typeface="Calibri"/>
            </a:endParaRPr>
          </a:p>
          <a:p>
            <a:pPr marL="976975" lvl="1" indent="-314028">
              <a:spcBef>
                <a:spcPts val="852"/>
              </a:spcBef>
              <a:buFont typeface="Times New Roman"/>
              <a:buChar char="•"/>
              <a:tabLst>
                <a:tab pos="976975" algn="l"/>
              </a:tabLst>
            </a:pPr>
            <a:r>
              <a:rPr sz="3297" dirty="0">
                <a:latin typeface="Calibri"/>
                <a:cs typeface="Calibri"/>
              </a:rPr>
              <a:t>Then </a:t>
            </a:r>
            <a:r>
              <a:rPr sz="3297" spc="-7" dirty="0">
                <a:latin typeface="Calibri"/>
                <a:cs typeface="Calibri"/>
              </a:rPr>
              <a:t>search</a:t>
            </a:r>
            <a:r>
              <a:rPr sz="3297" spc="7" dirty="0">
                <a:latin typeface="Calibri"/>
                <a:cs typeface="Calibri"/>
              </a:rPr>
              <a:t> </a:t>
            </a:r>
            <a:r>
              <a:rPr sz="3297" spc="-7" dirty="0">
                <a:latin typeface="Calibri"/>
                <a:cs typeface="Calibri"/>
              </a:rPr>
              <a:t>for</a:t>
            </a:r>
            <a:r>
              <a:rPr sz="3297" spc="7" dirty="0">
                <a:latin typeface="Calibri"/>
                <a:cs typeface="Calibri"/>
              </a:rPr>
              <a:t> </a:t>
            </a:r>
            <a:r>
              <a:rPr sz="3297" dirty="0">
                <a:latin typeface="Calibri"/>
                <a:cs typeface="Calibri"/>
              </a:rPr>
              <a:t>λs that</a:t>
            </a:r>
            <a:r>
              <a:rPr sz="3297" spc="7" dirty="0">
                <a:latin typeface="Calibri"/>
                <a:cs typeface="Calibri"/>
              </a:rPr>
              <a:t> </a:t>
            </a:r>
            <a:r>
              <a:rPr sz="3297" dirty="0">
                <a:latin typeface="Calibri"/>
                <a:cs typeface="Calibri"/>
              </a:rPr>
              <a:t>give</a:t>
            </a:r>
            <a:r>
              <a:rPr sz="3297" spc="7" dirty="0">
                <a:latin typeface="Calibri"/>
                <a:cs typeface="Calibri"/>
              </a:rPr>
              <a:t> </a:t>
            </a:r>
            <a:r>
              <a:rPr sz="3297" spc="-7" dirty="0">
                <a:latin typeface="Calibri"/>
                <a:cs typeface="Calibri"/>
              </a:rPr>
              <a:t>largest</a:t>
            </a:r>
            <a:r>
              <a:rPr sz="3297" dirty="0">
                <a:latin typeface="Calibri"/>
                <a:cs typeface="Calibri"/>
              </a:rPr>
              <a:t> </a:t>
            </a:r>
            <a:r>
              <a:rPr sz="3297" spc="-7" dirty="0">
                <a:latin typeface="Calibri"/>
                <a:cs typeface="Calibri"/>
              </a:rPr>
              <a:t>probability</a:t>
            </a:r>
            <a:r>
              <a:rPr sz="3297" dirty="0">
                <a:latin typeface="Calibri"/>
                <a:cs typeface="Calibri"/>
              </a:rPr>
              <a:t> to</a:t>
            </a:r>
            <a:r>
              <a:rPr sz="3297" spc="7" dirty="0">
                <a:latin typeface="Calibri"/>
                <a:cs typeface="Calibri"/>
              </a:rPr>
              <a:t> </a:t>
            </a:r>
            <a:r>
              <a:rPr sz="3297" spc="-206" dirty="0">
                <a:latin typeface="Calibri"/>
                <a:cs typeface="Calibri"/>
              </a:rPr>
              <a:t>held-­‐out</a:t>
            </a:r>
            <a:r>
              <a:rPr sz="3297" dirty="0">
                <a:latin typeface="Calibri"/>
                <a:cs typeface="Calibri"/>
              </a:rPr>
              <a:t> set:</a:t>
            </a:r>
            <a:endParaRPr sz="3297">
              <a:latin typeface="Calibri"/>
              <a:cs typeface="Calibri"/>
            </a:endParaRPr>
          </a:p>
          <a:p>
            <a:pPr marL="1128756">
              <a:spcBef>
                <a:spcPts val="1985"/>
              </a:spcBef>
            </a:pPr>
            <a:r>
              <a:rPr sz="3434" spc="27" dirty="0">
                <a:latin typeface="Times New Roman"/>
                <a:cs typeface="Times New Roman"/>
              </a:rPr>
              <a:t>log</a:t>
            </a:r>
            <a:r>
              <a:rPr sz="3434" spc="-405" dirty="0">
                <a:latin typeface="Times New Roman"/>
                <a:cs typeface="Times New Roman"/>
              </a:rPr>
              <a:t> </a:t>
            </a:r>
            <a:r>
              <a:rPr sz="3434" i="1" spc="34" dirty="0">
                <a:latin typeface="Times New Roman"/>
                <a:cs typeface="Times New Roman"/>
              </a:rPr>
              <a:t>P</a:t>
            </a:r>
            <a:r>
              <a:rPr sz="3434" spc="34" dirty="0">
                <a:latin typeface="Times New Roman"/>
                <a:cs typeface="Times New Roman"/>
              </a:rPr>
              <a:t>(</a:t>
            </a:r>
            <a:r>
              <a:rPr sz="3434" i="1" spc="34" dirty="0">
                <a:latin typeface="Times New Roman"/>
                <a:cs typeface="Times New Roman"/>
              </a:rPr>
              <a:t>w</a:t>
            </a:r>
            <a:r>
              <a:rPr sz="2988" spc="51" baseline="-24904" dirty="0">
                <a:latin typeface="Times New Roman"/>
                <a:cs typeface="Times New Roman"/>
              </a:rPr>
              <a:t>1</a:t>
            </a:r>
            <a:r>
              <a:rPr sz="3434" spc="34" dirty="0">
                <a:latin typeface="Times New Roman"/>
                <a:cs typeface="Times New Roman"/>
              </a:rPr>
              <a:t>...</a:t>
            </a:r>
            <a:r>
              <a:rPr sz="3434" i="1" spc="34" dirty="0">
                <a:latin typeface="Times New Roman"/>
                <a:cs typeface="Times New Roman"/>
              </a:rPr>
              <a:t>w</a:t>
            </a:r>
            <a:r>
              <a:rPr sz="2988" i="1" spc="51" baseline="-24904" dirty="0">
                <a:latin typeface="Times New Roman"/>
                <a:cs typeface="Times New Roman"/>
              </a:rPr>
              <a:t>n</a:t>
            </a:r>
            <a:r>
              <a:rPr sz="2988" i="1" spc="669" baseline="-24904" dirty="0">
                <a:latin typeface="Times New Roman"/>
                <a:cs typeface="Times New Roman"/>
              </a:rPr>
              <a:t> </a:t>
            </a:r>
            <a:r>
              <a:rPr sz="3434" spc="14" dirty="0">
                <a:latin typeface="Times New Roman"/>
                <a:cs typeface="Times New Roman"/>
              </a:rPr>
              <a:t>|</a:t>
            </a:r>
            <a:r>
              <a:rPr sz="3434" spc="-192" dirty="0">
                <a:latin typeface="Times New Roman"/>
                <a:cs typeface="Times New Roman"/>
              </a:rPr>
              <a:t> </a:t>
            </a:r>
            <a:r>
              <a:rPr sz="3434" i="1" spc="69" dirty="0">
                <a:latin typeface="Times New Roman"/>
                <a:cs typeface="Times New Roman"/>
              </a:rPr>
              <a:t>M</a:t>
            </a:r>
            <a:r>
              <a:rPr sz="3434" i="1" spc="-433" dirty="0">
                <a:latin typeface="Times New Roman"/>
                <a:cs typeface="Times New Roman"/>
              </a:rPr>
              <a:t> </a:t>
            </a:r>
            <a:r>
              <a:rPr sz="3434" dirty="0">
                <a:latin typeface="Times New Roman"/>
                <a:cs typeface="Times New Roman"/>
              </a:rPr>
              <a:t>(</a:t>
            </a:r>
            <a:r>
              <a:rPr sz="3572" dirty="0">
                <a:latin typeface="Symbol"/>
                <a:cs typeface="Symbol"/>
              </a:rPr>
              <a:t></a:t>
            </a:r>
            <a:r>
              <a:rPr sz="2988" baseline="-24904" dirty="0">
                <a:latin typeface="Times New Roman"/>
                <a:cs typeface="Times New Roman"/>
              </a:rPr>
              <a:t>1</a:t>
            </a:r>
            <a:r>
              <a:rPr sz="3434" dirty="0">
                <a:latin typeface="Times New Roman"/>
                <a:cs typeface="Times New Roman"/>
              </a:rPr>
              <a:t>...</a:t>
            </a:r>
            <a:r>
              <a:rPr sz="3572" dirty="0">
                <a:latin typeface="Symbol"/>
                <a:cs typeface="Symbol"/>
              </a:rPr>
              <a:t></a:t>
            </a:r>
            <a:r>
              <a:rPr sz="2988" i="1" baseline="-24904" dirty="0">
                <a:latin typeface="Times New Roman"/>
                <a:cs typeface="Times New Roman"/>
              </a:rPr>
              <a:t>k</a:t>
            </a:r>
            <a:r>
              <a:rPr sz="2988" i="1" spc="-30" baseline="-24904" dirty="0">
                <a:latin typeface="Times New Roman"/>
                <a:cs typeface="Times New Roman"/>
              </a:rPr>
              <a:t> </a:t>
            </a:r>
            <a:r>
              <a:rPr sz="3434" spc="14" dirty="0">
                <a:latin typeface="Times New Roman"/>
                <a:cs typeface="Times New Roman"/>
              </a:rPr>
              <a:t>))</a:t>
            </a:r>
            <a:r>
              <a:rPr sz="3434" spc="-268" dirty="0">
                <a:latin typeface="Times New Roman"/>
                <a:cs typeface="Times New Roman"/>
              </a:rPr>
              <a:t> </a:t>
            </a:r>
            <a:r>
              <a:rPr sz="3434" spc="41" dirty="0">
                <a:latin typeface="Symbol"/>
                <a:cs typeface="Symbol"/>
              </a:rPr>
              <a:t></a:t>
            </a:r>
            <a:r>
              <a:rPr sz="3434" spc="-254" dirty="0">
                <a:latin typeface="Times New Roman"/>
                <a:cs typeface="Times New Roman"/>
              </a:rPr>
              <a:t> </a:t>
            </a:r>
            <a:r>
              <a:rPr sz="7830" spc="133" baseline="-5847" dirty="0">
                <a:latin typeface="Symbol"/>
                <a:cs typeface="Symbol"/>
              </a:rPr>
              <a:t></a:t>
            </a:r>
            <a:r>
              <a:rPr sz="3434" spc="89" dirty="0">
                <a:latin typeface="Times New Roman"/>
                <a:cs typeface="Times New Roman"/>
              </a:rPr>
              <a:t>log</a:t>
            </a:r>
            <a:r>
              <a:rPr sz="3434" spc="-405" dirty="0">
                <a:latin typeface="Times New Roman"/>
                <a:cs typeface="Times New Roman"/>
              </a:rPr>
              <a:t> </a:t>
            </a:r>
            <a:r>
              <a:rPr sz="3434" i="1" spc="-185" dirty="0">
                <a:latin typeface="Times New Roman"/>
                <a:cs typeface="Times New Roman"/>
              </a:rPr>
              <a:t>P</a:t>
            </a:r>
            <a:r>
              <a:rPr sz="2988" i="1" spc="-277" baseline="-24904" dirty="0">
                <a:latin typeface="Times New Roman"/>
                <a:cs typeface="Times New Roman"/>
              </a:rPr>
              <a:t>M</a:t>
            </a:r>
            <a:r>
              <a:rPr sz="2988" i="1" spc="-216" baseline="-24904" dirty="0">
                <a:latin typeface="Times New Roman"/>
                <a:cs typeface="Times New Roman"/>
              </a:rPr>
              <a:t> </a:t>
            </a:r>
            <a:r>
              <a:rPr sz="2988" spc="41" baseline="-24904" dirty="0">
                <a:latin typeface="Times New Roman"/>
                <a:cs typeface="Times New Roman"/>
              </a:rPr>
              <a:t>(</a:t>
            </a:r>
            <a:r>
              <a:rPr sz="3091" spc="41" baseline="-24074" dirty="0">
                <a:latin typeface="Symbol"/>
                <a:cs typeface="Symbol"/>
              </a:rPr>
              <a:t></a:t>
            </a:r>
            <a:r>
              <a:rPr sz="2164" spc="41" baseline="-52910" dirty="0">
                <a:latin typeface="Times New Roman"/>
                <a:cs typeface="Times New Roman"/>
              </a:rPr>
              <a:t>1</a:t>
            </a:r>
            <a:r>
              <a:rPr sz="2988" spc="41" baseline="-24904" dirty="0">
                <a:latin typeface="Times New Roman"/>
                <a:cs typeface="Times New Roman"/>
              </a:rPr>
              <a:t>...</a:t>
            </a:r>
            <a:r>
              <a:rPr sz="3091" spc="41" baseline="-24074" dirty="0">
                <a:latin typeface="Symbol"/>
                <a:cs typeface="Symbol"/>
              </a:rPr>
              <a:t></a:t>
            </a:r>
            <a:r>
              <a:rPr sz="2164" i="1" spc="41" baseline="-52910" dirty="0">
                <a:latin typeface="Times New Roman"/>
                <a:cs typeface="Times New Roman"/>
              </a:rPr>
              <a:t>k </a:t>
            </a:r>
            <a:r>
              <a:rPr sz="2988" spc="21" baseline="-24904" dirty="0">
                <a:latin typeface="Times New Roman"/>
                <a:cs typeface="Times New Roman"/>
              </a:rPr>
              <a:t>)</a:t>
            </a:r>
            <a:r>
              <a:rPr sz="2988" spc="-330" baseline="-24904" dirty="0">
                <a:latin typeface="Times New Roman"/>
                <a:cs typeface="Times New Roman"/>
              </a:rPr>
              <a:t> </a:t>
            </a:r>
            <a:r>
              <a:rPr sz="3434" spc="34" dirty="0">
                <a:latin typeface="Times New Roman"/>
                <a:cs typeface="Times New Roman"/>
              </a:rPr>
              <a:t>(</a:t>
            </a:r>
            <a:r>
              <a:rPr sz="3434" i="1" spc="34" dirty="0">
                <a:latin typeface="Times New Roman"/>
                <a:cs typeface="Times New Roman"/>
              </a:rPr>
              <a:t>w</a:t>
            </a:r>
            <a:r>
              <a:rPr sz="2988" i="1" spc="51" baseline="-24904" dirty="0">
                <a:latin typeface="Times New Roman"/>
                <a:cs typeface="Times New Roman"/>
              </a:rPr>
              <a:t>i</a:t>
            </a:r>
            <a:r>
              <a:rPr sz="2988" i="1" spc="690" baseline="-24904" dirty="0">
                <a:latin typeface="Times New Roman"/>
                <a:cs typeface="Times New Roman"/>
              </a:rPr>
              <a:t> </a:t>
            </a:r>
            <a:r>
              <a:rPr sz="3434" spc="14" dirty="0">
                <a:latin typeface="Times New Roman"/>
                <a:cs typeface="Times New Roman"/>
              </a:rPr>
              <a:t>|</a:t>
            </a:r>
            <a:r>
              <a:rPr sz="3434" spc="-254" dirty="0">
                <a:latin typeface="Times New Roman"/>
                <a:cs typeface="Times New Roman"/>
              </a:rPr>
              <a:t> </a:t>
            </a:r>
            <a:r>
              <a:rPr sz="3434" i="1" spc="-27" dirty="0">
                <a:latin typeface="Times New Roman"/>
                <a:cs typeface="Times New Roman"/>
              </a:rPr>
              <a:t>w</a:t>
            </a:r>
            <a:r>
              <a:rPr sz="2988" i="1" spc="-41" baseline="-24904" dirty="0">
                <a:latin typeface="Times New Roman"/>
                <a:cs typeface="Times New Roman"/>
              </a:rPr>
              <a:t>i</a:t>
            </a:r>
            <a:r>
              <a:rPr sz="2988" spc="-41" baseline="-24904" dirty="0">
                <a:latin typeface="Symbol"/>
                <a:cs typeface="Symbol"/>
              </a:rPr>
              <a:t></a:t>
            </a:r>
            <a:r>
              <a:rPr sz="2988" spc="-41" baseline="-24904" dirty="0">
                <a:latin typeface="Times New Roman"/>
                <a:cs typeface="Times New Roman"/>
              </a:rPr>
              <a:t>1</a:t>
            </a:r>
            <a:r>
              <a:rPr sz="2988" spc="-390" baseline="-24904" dirty="0">
                <a:latin typeface="Times New Roman"/>
                <a:cs typeface="Times New Roman"/>
              </a:rPr>
              <a:t> </a:t>
            </a:r>
            <a:r>
              <a:rPr sz="3434" spc="27" dirty="0">
                <a:latin typeface="Times New Roman"/>
                <a:cs typeface="Times New Roman"/>
              </a:rPr>
              <a:t>)</a:t>
            </a:r>
            <a:endParaRPr sz="3434">
              <a:latin typeface="Times New Roman"/>
              <a:cs typeface="Times New Roman"/>
            </a:endParaRPr>
          </a:p>
          <a:p>
            <a:pPr marL="982209" algn="ctr">
              <a:spcBef>
                <a:spcPts val="687"/>
              </a:spcBef>
            </a:pPr>
            <a:r>
              <a:rPr sz="1992" i="1" spc="7" dirty="0">
                <a:latin typeface="Times New Roman"/>
                <a:cs typeface="Times New Roman"/>
              </a:rPr>
              <a:t>i</a:t>
            </a:r>
            <a:endParaRPr sz="1992">
              <a:latin typeface="Times New Roman"/>
              <a:cs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6765739" cy="694084"/>
          </a:xfrm>
          <a:prstGeom prst="rect">
            <a:avLst/>
          </a:prstGeom>
        </p:spPr>
        <p:txBody>
          <a:bodyPr vert="horz" wrap="square" lIns="0" tIns="17446" rIns="0" bIns="0" rtlCol="0">
            <a:spAutoFit/>
          </a:bodyPr>
          <a:lstStyle/>
          <a:p>
            <a:pPr marL="17446">
              <a:spcBef>
                <a:spcPts val="137"/>
              </a:spcBef>
            </a:pPr>
            <a:r>
              <a:rPr lang="en-US" spc="-7" dirty="0"/>
              <a:t>Stupid </a:t>
            </a:r>
            <a:r>
              <a:rPr spc="-7" dirty="0"/>
              <a:t>Backoff</a:t>
            </a:r>
          </a:p>
        </p:txBody>
      </p:sp>
      <p:sp>
        <p:nvSpPr>
          <p:cNvPr id="7" name="object 7"/>
          <p:cNvSpPr txBox="1"/>
          <p:nvPr/>
        </p:nvSpPr>
        <p:spPr>
          <a:xfrm>
            <a:off x="1118040" y="2438400"/>
            <a:ext cx="12071492" cy="4445482"/>
          </a:xfrm>
          <a:prstGeom prst="rect">
            <a:avLst/>
          </a:prstGeom>
        </p:spPr>
        <p:txBody>
          <a:bodyPr vert="horz" wrap="square" lIns="0" tIns="101189" rIns="0" bIns="0" rtlCol="0">
            <a:spAutoFit/>
          </a:bodyPr>
          <a:lstStyle/>
          <a:p>
            <a:pPr marL="645501" lvl="1">
              <a:spcBef>
                <a:spcPts val="721"/>
              </a:spcBef>
              <a:tabLst>
                <a:tab pos="958657" algn="l"/>
                <a:tab pos="959529" algn="l"/>
              </a:tabLst>
            </a:pPr>
            <a:r>
              <a:rPr lang="en-US" sz="2747" i="1" spc="-7" dirty="0">
                <a:latin typeface="Calibri"/>
                <a:cs typeface="Calibri"/>
              </a:rPr>
              <a:t>The quick brown fox jumped over </a:t>
            </a:r>
            <a:r>
              <a:rPr lang="en-US" sz="2747" b="1" i="1" spc="-7" dirty="0">
                <a:latin typeface="Calibri"/>
                <a:cs typeface="Calibri"/>
              </a:rPr>
              <a:t>the lazy dog</a:t>
            </a:r>
          </a:p>
          <a:p>
            <a:pPr marL="645501" lvl="1">
              <a:spcBef>
                <a:spcPts val="721"/>
              </a:spcBef>
              <a:tabLst>
                <a:tab pos="958657" algn="l"/>
                <a:tab pos="959529" algn="l"/>
              </a:tabLst>
            </a:pPr>
            <a:r>
              <a:rPr lang="en-US" sz="2747" spc="-7" dirty="0">
                <a:latin typeface="Calibri"/>
                <a:cs typeface="Calibri"/>
              </a:rPr>
              <a:t>P("dog" | "the lazy") = lambda * P("dog" | "lazy") + (1 - lambda) * P("dog")</a:t>
            </a:r>
          </a:p>
          <a:p>
            <a:pPr marL="645501" lvl="1">
              <a:spcBef>
                <a:spcPts val="721"/>
              </a:spcBef>
              <a:tabLst>
                <a:tab pos="958657" algn="l"/>
                <a:tab pos="959529" algn="l"/>
              </a:tabLst>
            </a:pPr>
            <a:r>
              <a:rPr lang="en-US" sz="2747" spc="-7" dirty="0">
                <a:latin typeface="Calibri"/>
                <a:cs typeface="Calibri"/>
              </a:rPr>
              <a:t>where lambda is a smoothing parameter, typically set to 0.4 or 0.5.</a:t>
            </a:r>
          </a:p>
          <a:p>
            <a:pPr marL="645501" lvl="1">
              <a:spcBef>
                <a:spcPts val="721"/>
              </a:spcBef>
              <a:tabLst>
                <a:tab pos="958657" algn="l"/>
                <a:tab pos="959529" algn="l"/>
              </a:tabLst>
            </a:pPr>
            <a:endParaRPr lang="en-US" sz="2747" spc="-7" dirty="0">
              <a:latin typeface="Calibri"/>
              <a:cs typeface="Calibri"/>
            </a:endParaRPr>
          </a:p>
          <a:p>
            <a:pPr marL="1102701" lvl="1" indent="-457200">
              <a:spcBef>
                <a:spcPts val="721"/>
              </a:spcBef>
              <a:buFont typeface="Arial" panose="020B0604020202020204" pitchFamily="34" charset="0"/>
              <a:buChar char="•"/>
              <a:tabLst>
                <a:tab pos="958657" algn="l"/>
                <a:tab pos="959529" algn="l"/>
              </a:tabLst>
            </a:pPr>
            <a:r>
              <a:rPr lang="en-US" sz="2747" spc="-7" dirty="0">
                <a:latin typeface="Calibri"/>
                <a:cs typeface="Calibri"/>
              </a:rPr>
              <a:t>Lambda is fixed, based on empirical analysis</a:t>
            </a:r>
          </a:p>
          <a:p>
            <a:pPr marL="1102701" lvl="1" indent="-457200">
              <a:spcBef>
                <a:spcPts val="721"/>
              </a:spcBef>
              <a:buFont typeface="Arial" panose="020B0604020202020204" pitchFamily="34" charset="0"/>
              <a:buChar char="•"/>
              <a:tabLst>
                <a:tab pos="958657" algn="l"/>
                <a:tab pos="959529" algn="l"/>
              </a:tabLst>
            </a:pPr>
            <a:r>
              <a:rPr lang="en-US" sz="2747" spc="-7" dirty="0">
                <a:latin typeface="Calibri"/>
                <a:cs typeface="Calibri"/>
              </a:rPr>
              <a:t>Reduce the estimate of a lower n-gram to get a better estimate of a higher order n-gram</a:t>
            </a:r>
          </a:p>
          <a:p>
            <a:pPr marL="1102701" lvl="1" indent="-457200">
              <a:spcBef>
                <a:spcPts val="721"/>
              </a:spcBef>
              <a:buFont typeface="Arial" panose="020B0604020202020204" pitchFamily="34" charset="0"/>
              <a:buChar char="•"/>
              <a:tabLst>
                <a:tab pos="958657" algn="l"/>
                <a:tab pos="959529" algn="l"/>
              </a:tabLst>
            </a:pPr>
            <a:r>
              <a:rPr lang="en-US" sz="2747" b="1" spc="-7" dirty="0">
                <a:latin typeface="Calibri"/>
                <a:cs typeface="Calibri"/>
              </a:rPr>
              <a:t>Stupid backoff </a:t>
            </a:r>
            <a:r>
              <a:rPr lang="en-US" sz="2747" spc="-7" dirty="0">
                <a:latin typeface="Calibri"/>
                <a:cs typeface="Calibri"/>
              </a:rPr>
              <a:t>produces scores rather than probabilities. And this works quite well for large scale N-Grams.</a:t>
            </a:r>
          </a:p>
        </p:txBody>
      </p:sp>
    </p:spTree>
    <p:extLst>
      <p:ext uri="{BB962C8B-B14F-4D97-AF65-F5344CB8AC3E}">
        <p14:creationId xmlns:p14="http://schemas.microsoft.com/office/powerpoint/2010/main" val="38567325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7969545" cy="694084"/>
          </a:xfrm>
          <a:prstGeom prst="rect">
            <a:avLst/>
          </a:prstGeom>
        </p:spPr>
        <p:txBody>
          <a:bodyPr vert="horz" wrap="square" lIns="0" tIns="17446" rIns="0" bIns="0" rtlCol="0">
            <a:spAutoFit/>
          </a:bodyPr>
          <a:lstStyle/>
          <a:p>
            <a:pPr marL="17446">
              <a:spcBef>
                <a:spcPts val="137"/>
              </a:spcBef>
            </a:pPr>
            <a:r>
              <a:rPr dirty="0">
                <a:latin typeface="Calibri"/>
                <a:cs typeface="Calibri"/>
              </a:rPr>
              <a:t>Smoothing for We</a:t>
            </a:r>
            <a:r>
              <a:rPr spc="-673" dirty="0">
                <a:latin typeface="Calibri"/>
                <a:cs typeface="Calibri"/>
              </a:rPr>
              <a:t>b-­‐</a:t>
            </a:r>
            <a:r>
              <a:rPr spc="-7" dirty="0">
                <a:latin typeface="Calibri"/>
                <a:cs typeface="Calibri"/>
              </a:rPr>
              <a:t>s</a:t>
            </a:r>
            <a:r>
              <a:rPr dirty="0">
                <a:latin typeface="Calibri"/>
                <a:cs typeface="Calibri"/>
              </a:rPr>
              <a:t>cale </a:t>
            </a:r>
            <a:r>
              <a:rPr spc="-673" dirty="0">
                <a:latin typeface="Calibri"/>
                <a:cs typeface="Calibri"/>
              </a:rPr>
              <a:t>N-­‐</a:t>
            </a:r>
            <a:r>
              <a:rPr spc="-7" dirty="0">
                <a:latin typeface="Calibri"/>
                <a:cs typeface="Calibri"/>
              </a:rPr>
              <a:t>g</a:t>
            </a:r>
            <a:r>
              <a:rPr dirty="0">
                <a:latin typeface="Calibri"/>
                <a:cs typeface="Calibri"/>
              </a:rPr>
              <a:t>rams</a:t>
            </a:r>
          </a:p>
        </p:txBody>
      </p:sp>
      <p:sp>
        <p:nvSpPr>
          <p:cNvPr id="7" name="object 7"/>
          <p:cNvSpPr txBox="1"/>
          <p:nvPr/>
        </p:nvSpPr>
        <p:spPr>
          <a:xfrm>
            <a:off x="1154954" y="6861139"/>
            <a:ext cx="282633" cy="313531"/>
          </a:xfrm>
          <a:prstGeom prst="rect">
            <a:avLst/>
          </a:prstGeom>
        </p:spPr>
        <p:txBody>
          <a:bodyPr vert="horz" wrap="square" lIns="0" tIns="17446" rIns="0" bIns="0" rtlCol="0">
            <a:spAutoFit/>
          </a:bodyPr>
          <a:lstStyle/>
          <a:p>
            <a:pPr marL="17446">
              <a:spcBef>
                <a:spcPts val="137"/>
              </a:spcBef>
            </a:pPr>
            <a:r>
              <a:rPr sz="1923" dirty="0">
                <a:latin typeface="Calibri"/>
                <a:cs typeface="Calibri"/>
              </a:rPr>
              <a:t>63</a:t>
            </a:r>
            <a:endParaRPr sz="1923">
              <a:latin typeface="Calibri"/>
              <a:cs typeface="Calibri"/>
            </a:endParaRPr>
          </a:p>
        </p:txBody>
      </p:sp>
      <p:sp>
        <p:nvSpPr>
          <p:cNvPr id="8" name="object 8"/>
          <p:cNvSpPr txBox="1"/>
          <p:nvPr/>
        </p:nvSpPr>
        <p:spPr>
          <a:xfrm>
            <a:off x="2992852" y="4763134"/>
            <a:ext cx="97700" cy="287141"/>
          </a:xfrm>
          <a:prstGeom prst="rect">
            <a:avLst/>
          </a:prstGeom>
        </p:spPr>
        <p:txBody>
          <a:bodyPr vert="horz" wrap="square" lIns="0" tIns="22680" rIns="0" bIns="0" rtlCol="0">
            <a:spAutoFit/>
          </a:bodyPr>
          <a:lstStyle/>
          <a:p>
            <a:pPr marL="17446">
              <a:spcBef>
                <a:spcPts val="179"/>
              </a:spcBef>
            </a:pPr>
            <a:r>
              <a:rPr sz="1717" i="1" spc="7" dirty="0">
                <a:latin typeface="Times New Roman"/>
                <a:cs typeface="Times New Roman"/>
              </a:rPr>
              <a:t>i</a:t>
            </a:r>
            <a:endParaRPr sz="1717">
              <a:latin typeface="Times New Roman"/>
              <a:cs typeface="Times New Roman"/>
            </a:endParaRPr>
          </a:p>
        </p:txBody>
      </p:sp>
      <p:sp>
        <p:nvSpPr>
          <p:cNvPr id="9" name="object 9"/>
          <p:cNvSpPr txBox="1"/>
          <p:nvPr/>
        </p:nvSpPr>
        <p:spPr>
          <a:xfrm>
            <a:off x="3554447" y="4763134"/>
            <a:ext cx="550436" cy="287141"/>
          </a:xfrm>
          <a:prstGeom prst="rect">
            <a:avLst/>
          </a:prstGeom>
        </p:spPr>
        <p:txBody>
          <a:bodyPr vert="horz" wrap="square" lIns="0" tIns="22680" rIns="0" bIns="0" rtlCol="0">
            <a:spAutoFit/>
          </a:bodyPr>
          <a:lstStyle/>
          <a:p>
            <a:pPr marL="17446">
              <a:spcBef>
                <a:spcPts val="179"/>
              </a:spcBef>
            </a:pPr>
            <a:r>
              <a:rPr sz="1717" i="1" spc="27" dirty="0">
                <a:latin typeface="Times New Roman"/>
                <a:cs typeface="Times New Roman"/>
              </a:rPr>
              <a:t>i</a:t>
            </a:r>
            <a:r>
              <a:rPr sz="1717" spc="41" dirty="0">
                <a:latin typeface="Symbol"/>
                <a:cs typeface="Symbol"/>
              </a:rPr>
              <a:t></a:t>
            </a:r>
            <a:r>
              <a:rPr sz="1717" i="1" spc="82" dirty="0">
                <a:latin typeface="Times New Roman"/>
                <a:cs typeface="Times New Roman"/>
              </a:rPr>
              <a:t>k</a:t>
            </a:r>
            <a:r>
              <a:rPr sz="1717" spc="-131" dirty="0">
                <a:latin typeface="Symbol"/>
                <a:cs typeface="Symbol"/>
              </a:rPr>
              <a:t></a:t>
            </a:r>
            <a:r>
              <a:rPr sz="1717" spc="21" dirty="0">
                <a:latin typeface="Times New Roman"/>
                <a:cs typeface="Times New Roman"/>
              </a:rPr>
              <a:t>1</a:t>
            </a:r>
            <a:endParaRPr sz="1717">
              <a:latin typeface="Times New Roman"/>
              <a:cs typeface="Times New Roman"/>
            </a:endParaRPr>
          </a:p>
        </p:txBody>
      </p:sp>
      <p:sp>
        <p:nvSpPr>
          <p:cNvPr id="10" name="object 10"/>
          <p:cNvSpPr txBox="1"/>
          <p:nvPr/>
        </p:nvSpPr>
        <p:spPr>
          <a:xfrm>
            <a:off x="2360132" y="4503451"/>
            <a:ext cx="1564076" cy="485322"/>
          </a:xfrm>
          <a:prstGeom prst="rect">
            <a:avLst/>
          </a:prstGeom>
        </p:spPr>
        <p:txBody>
          <a:bodyPr vert="horz" wrap="square" lIns="0" tIns="20062" rIns="0" bIns="0" rtlCol="0">
            <a:spAutoFit/>
          </a:bodyPr>
          <a:lstStyle/>
          <a:p>
            <a:pPr marL="52338">
              <a:spcBef>
                <a:spcPts val="157"/>
              </a:spcBef>
            </a:pPr>
            <a:r>
              <a:rPr sz="3022" i="1" spc="131" dirty="0">
                <a:latin typeface="Times New Roman"/>
                <a:cs typeface="Times New Roman"/>
              </a:rPr>
              <a:t>S</a:t>
            </a:r>
            <a:r>
              <a:rPr sz="3022" spc="76" dirty="0">
                <a:latin typeface="Times New Roman"/>
                <a:cs typeface="Times New Roman"/>
              </a:rPr>
              <a:t>(</a:t>
            </a:r>
            <a:r>
              <a:rPr sz="3022" i="1" spc="14" dirty="0">
                <a:latin typeface="Times New Roman"/>
                <a:cs typeface="Times New Roman"/>
              </a:rPr>
              <a:t>w</a:t>
            </a:r>
            <a:r>
              <a:rPr sz="3022" i="1" dirty="0">
                <a:latin typeface="Times New Roman"/>
                <a:cs typeface="Times New Roman"/>
              </a:rPr>
              <a:t> </a:t>
            </a:r>
            <a:r>
              <a:rPr sz="3022" i="1" spc="-254" dirty="0">
                <a:latin typeface="Times New Roman"/>
                <a:cs typeface="Times New Roman"/>
              </a:rPr>
              <a:t> </a:t>
            </a:r>
            <a:r>
              <a:rPr sz="3022" dirty="0">
                <a:latin typeface="Times New Roman"/>
                <a:cs typeface="Times New Roman"/>
              </a:rPr>
              <a:t>|</a:t>
            </a:r>
            <a:r>
              <a:rPr sz="3022" spc="-234" dirty="0">
                <a:latin typeface="Times New Roman"/>
                <a:cs typeface="Times New Roman"/>
              </a:rPr>
              <a:t> </a:t>
            </a:r>
            <a:r>
              <a:rPr sz="3022" i="1" spc="103" dirty="0">
                <a:latin typeface="Times New Roman"/>
                <a:cs typeface="Times New Roman"/>
              </a:rPr>
              <a:t>w</a:t>
            </a:r>
            <a:r>
              <a:rPr sz="2576" i="1" spc="41" baseline="44444" dirty="0">
                <a:latin typeface="Times New Roman"/>
                <a:cs typeface="Times New Roman"/>
              </a:rPr>
              <a:t>i</a:t>
            </a:r>
            <a:r>
              <a:rPr sz="2576" spc="-195" baseline="44444" dirty="0">
                <a:latin typeface="Symbol"/>
                <a:cs typeface="Symbol"/>
              </a:rPr>
              <a:t></a:t>
            </a:r>
            <a:r>
              <a:rPr sz="2576" spc="30" baseline="44444" dirty="0">
                <a:latin typeface="Times New Roman"/>
                <a:cs typeface="Times New Roman"/>
              </a:rPr>
              <a:t>1</a:t>
            </a:r>
            <a:endParaRPr sz="2576" baseline="44444">
              <a:latin typeface="Times New Roman"/>
              <a:cs typeface="Times New Roman"/>
            </a:endParaRPr>
          </a:p>
        </p:txBody>
      </p:sp>
      <p:sp>
        <p:nvSpPr>
          <p:cNvPr id="11" name="object 11"/>
          <p:cNvSpPr txBox="1"/>
          <p:nvPr/>
        </p:nvSpPr>
        <p:spPr>
          <a:xfrm>
            <a:off x="4982590" y="4200486"/>
            <a:ext cx="1977557" cy="287141"/>
          </a:xfrm>
          <a:prstGeom prst="rect">
            <a:avLst/>
          </a:prstGeom>
        </p:spPr>
        <p:txBody>
          <a:bodyPr vert="horz" wrap="square" lIns="0" tIns="22680" rIns="0" bIns="0" rtlCol="0">
            <a:spAutoFit/>
          </a:bodyPr>
          <a:lstStyle/>
          <a:p>
            <a:pPr marL="17446">
              <a:spcBef>
                <a:spcPts val="179"/>
              </a:spcBef>
              <a:tabLst>
                <a:tab pos="1281408" algn="l"/>
              </a:tabLst>
            </a:pPr>
            <a:r>
              <a:rPr sz="1717" u="heavy" spc="7" dirty="0">
                <a:uFill>
                  <a:solidFill>
                    <a:srgbClr val="000000"/>
                  </a:solidFill>
                </a:uFill>
                <a:latin typeface="Times New Roman"/>
                <a:cs typeface="Times New Roman"/>
              </a:rPr>
              <a:t> 	</a:t>
            </a:r>
            <a:r>
              <a:rPr sz="1717" i="1" u="heavy" spc="7" dirty="0">
                <a:uFill>
                  <a:solidFill>
                    <a:srgbClr val="000000"/>
                  </a:solidFill>
                </a:uFill>
                <a:latin typeface="Times New Roman"/>
                <a:cs typeface="Times New Roman"/>
              </a:rPr>
              <a:t>i</a:t>
            </a:r>
            <a:r>
              <a:rPr sz="1717" u="heavy" spc="7" dirty="0">
                <a:uFill>
                  <a:solidFill>
                    <a:srgbClr val="000000"/>
                  </a:solidFill>
                </a:uFill>
                <a:latin typeface="Symbol"/>
                <a:cs typeface="Symbol"/>
              </a:rPr>
              <a:t></a:t>
            </a:r>
            <a:r>
              <a:rPr sz="1717" i="1" u="heavy" spc="7" dirty="0">
                <a:uFill>
                  <a:solidFill>
                    <a:srgbClr val="000000"/>
                  </a:solidFill>
                </a:uFill>
                <a:latin typeface="Times New Roman"/>
                <a:cs typeface="Times New Roman"/>
              </a:rPr>
              <a:t>k</a:t>
            </a:r>
            <a:r>
              <a:rPr sz="1717" u="heavy" spc="7" dirty="0">
                <a:uFill>
                  <a:solidFill>
                    <a:srgbClr val="000000"/>
                  </a:solidFill>
                </a:uFill>
                <a:latin typeface="Symbol"/>
                <a:cs typeface="Symbol"/>
              </a:rPr>
              <a:t></a:t>
            </a:r>
            <a:r>
              <a:rPr sz="1717" u="heavy" spc="7" dirty="0">
                <a:uFill>
                  <a:solidFill>
                    <a:srgbClr val="000000"/>
                  </a:solidFill>
                </a:uFill>
                <a:latin typeface="Times New Roman"/>
                <a:cs typeface="Times New Roman"/>
              </a:rPr>
              <a:t>1</a:t>
            </a:r>
            <a:r>
              <a:rPr sz="1717" u="heavy" spc="-7" dirty="0">
                <a:uFill>
                  <a:solidFill>
                    <a:srgbClr val="000000"/>
                  </a:solidFill>
                </a:uFill>
                <a:latin typeface="Times New Roman"/>
                <a:cs typeface="Times New Roman"/>
              </a:rPr>
              <a:t> </a:t>
            </a:r>
            <a:endParaRPr sz="1717">
              <a:latin typeface="Times New Roman"/>
              <a:cs typeface="Times New Roman"/>
            </a:endParaRPr>
          </a:p>
        </p:txBody>
      </p:sp>
      <p:sp>
        <p:nvSpPr>
          <p:cNvPr id="12" name="object 12"/>
          <p:cNvSpPr txBox="1"/>
          <p:nvPr/>
        </p:nvSpPr>
        <p:spPr>
          <a:xfrm>
            <a:off x="4950380" y="3940802"/>
            <a:ext cx="2036875" cy="485322"/>
          </a:xfrm>
          <a:prstGeom prst="rect">
            <a:avLst/>
          </a:prstGeom>
        </p:spPr>
        <p:txBody>
          <a:bodyPr vert="horz" wrap="square" lIns="0" tIns="20062" rIns="0" bIns="0" rtlCol="0">
            <a:spAutoFit/>
          </a:bodyPr>
          <a:lstStyle/>
          <a:p>
            <a:pPr marL="69784">
              <a:spcBef>
                <a:spcPts val="157"/>
              </a:spcBef>
              <a:tabLst>
                <a:tab pos="1854509" algn="l"/>
              </a:tabLst>
            </a:pPr>
            <a:r>
              <a:rPr sz="3022" spc="21" dirty="0">
                <a:latin typeface="Times New Roman"/>
                <a:cs typeface="Times New Roman"/>
              </a:rPr>
              <a:t>count(</a:t>
            </a:r>
            <a:r>
              <a:rPr sz="3022" i="1" spc="21" dirty="0">
                <a:latin typeface="Times New Roman"/>
                <a:cs typeface="Times New Roman"/>
              </a:rPr>
              <a:t>w</a:t>
            </a:r>
            <a:r>
              <a:rPr sz="2576" i="1" spc="30" baseline="44444" dirty="0">
                <a:latin typeface="Times New Roman"/>
                <a:cs typeface="Times New Roman"/>
              </a:rPr>
              <a:t>i	</a:t>
            </a:r>
            <a:r>
              <a:rPr sz="3022" spc="7" dirty="0">
                <a:latin typeface="Times New Roman"/>
                <a:cs typeface="Times New Roman"/>
              </a:rPr>
              <a:t>)</a:t>
            </a:r>
            <a:endParaRPr sz="3022">
              <a:latin typeface="Times New Roman"/>
              <a:cs typeface="Times New Roman"/>
            </a:endParaRPr>
          </a:p>
        </p:txBody>
      </p:sp>
      <p:sp>
        <p:nvSpPr>
          <p:cNvPr id="13" name="object 13"/>
          <p:cNvSpPr txBox="1"/>
          <p:nvPr/>
        </p:nvSpPr>
        <p:spPr>
          <a:xfrm>
            <a:off x="6246683" y="4740991"/>
            <a:ext cx="550436" cy="287141"/>
          </a:xfrm>
          <a:prstGeom prst="rect">
            <a:avLst/>
          </a:prstGeom>
        </p:spPr>
        <p:txBody>
          <a:bodyPr vert="horz" wrap="square" lIns="0" tIns="22680" rIns="0" bIns="0" rtlCol="0">
            <a:spAutoFit/>
          </a:bodyPr>
          <a:lstStyle/>
          <a:p>
            <a:pPr marL="17446">
              <a:spcBef>
                <a:spcPts val="179"/>
              </a:spcBef>
            </a:pPr>
            <a:r>
              <a:rPr sz="1717" i="1" spc="27" dirty="0">
                <a:latin typeface="Times New Roman"/>
                <a:cs typeface="Times New Roman"/>
              </a:rPr>
              <a:t>i</a:t>
            </a:r>
            <a:r>
              <a:rPr sz="1717" spc="41" dirty="0">
                <a:latin typeface="Symbol"/>
                <a:cs typeface="Symbol"/>
              </a:rPr>
              <a:t></a:t>
            </a:r>
            <a:r>
              <a:rPr sz="1717" i="1" spc="82" dirty="0">
                <a:latin typeface="Times New Roman"/>
                <a:cs typeface="Times New Roman"/>
              </a:rPr>
              <a:t>k</a:t>
            </a:r>
            <a:r>
              <a:rPr sz="1717" spc="-131" dirty="0">
                <a:latin typeface="Symbol"/>
                <a:cs typeface="Symbol"/>
              </a:rPr>
              <a:t></a:t>
            </a:r>
            <a:r>
              <a:rPr sz="1717" spc="21" dirty="0">
                <a:latin typeface="Times New Roman"/>
                <a:cs typeface="Times New Roman"/>
              </a:rPr>
              <a:t>1</a:t>
            </a:r>
            <a:endParaRPr sz="1717">
              <a:latin typeface="Times New Roman"/>
              <a:cs typeface="Times New Roman"/>
            </a:endParaRPr>
          </a:p>
        </p:txBody>
      </p:sp>
      <p:sp>
        <p:nvSpPr>
          <p:cNvPr id="14" name="object 14"/>
          <p:cNvSpPr txBox="1"/>
          <p:nvPr/>
        </p:nvSpPr>
        <p:spPr>
          <a:xfrm>
            <a:off x="4950380" y="4481307"/>
            <a:ext cx="2036875" cy="485322"/>
          </a:xfrm>
          <a:prstGeom prst="rect">
            <a:avLst/>
          </a:prstGeom>
        </p:spPr>
        <p:txBody>
          <a:bodyPr vert="horz" wrap="square" lIns="0" tIns="20062" rIns="0" bIns="0" rtlCol="0">
            <a:spAutoFit/>
          </a:bodyPr>
          <a:lstStyle/>
          <a:p>
            <a:pPr marL="69784">
              <a:spcBef>
                <a:spcPts val="157"/>
              </a:spcBef>
              <a:tabLst>
                <a:tab pos="1854509" algn="l"/>
              </a:tabLst>
            </a:pPr>
            <a:r>
              <a:rPr sz="3022" spc="7" dirty="0">
                <a:latin typeface="Times New Roman"/>
                <a:cs typeface="Times New Roman"/>
              </a:rPr>
              <a:t>count(</a:t>
            </a:r>
            <a:r>
              <a:rPr sz="3022" i="1" spc="7" dirty="0">
                <a:latin typeface="Times New Roman"/>
                <a:cs typeface="Times New Roman"/>
              </a:rPr>
              <a:t>w</a:t>
            </a:r>
            <a:r>
              <a:rPr sz="2576" i="1" spc="10" baseline="44444" dirty="0">
                <a:latin typeface="Times New Roman"/>
                <a:cs typeface="Times New Roman"/>
              </a:rPr>
              <a:t>i</a:t>
            </a:r>
            <a:r>
              <a:rPr sz="2576" spc="10" baseline="44444" dirty="0">
                <a:latin typeface="Symbol"/>
                <a:cs typeface="Symbol"/>
              </a:rPr>
              <a:t></a:t>
            </a:r>
            <a:r>
              <a:rPr sz="2576" spc="10" baseline="44444" dirty="0">
                <a:latin typeface="Times New Roman"/>
                <a:cs typeface="Times New Roman"/>
              </a:rPr>
              <a:t>1	</a:t>
            </a:r>
            <a:r>
              <a:rPr sz="3022" spc="7" dirty="0">
                <a:latin typeface="Times New Roman"/>
                <a:cs typeface="Times New Roman"/>
              </a:rPr>
              <a:t>)</a:t>
            </a:r>
            <a:endParaRPr sz="3022">
              <a:latin typeface="Times New Roman"/>
              <a:cs typeface="Times New Roman"/>
            </a:endParaRPr>
          </a:p>
        </p:txBody>
      </p:sp>
      <p:sp>
        <p:nvSpPr>
          <p:cNvPr id="15" name="object 15"/>
          <p:cNvSpPr txBox="1"/>
          <p:nvPr/>
        </p:nvSpPr>
        <p:spPr>
          <a:xfrm>
            <a:off x="8900673" y="4432995"/>
            <a:ext cx="550436" cy="287141"/>
          </a:xfrm>
          <a:prstGeom prst="rect">
            <a:avLst/>
          </a:prstGeom>
        </p:spPr>
        <p:txBody>
          <a:bodyPr vert="horz" wrap="square" lIns="0" tIns="22680" rIns="0" bIns="0" rtlCol="0">
            <a:spAutoFit/>
          </a:bodyPr>
          <a:lstStyle/>
          <a:p>
            <a:pPr marL="17446">
              <a:spcBef>
                <a:spcPts val="179"/>
              </a:spcBef>
            </a:pPr>
            <a:r>
              <a:rPr sz="1717" i="1" spc="27" dirty="0">
                <a:latin typeface="Times New Roman"/>
                <a:cs typeface="Times New Roman"/>
              </a:rPr>
              <a:t>i</a:t>
            </a:r>
            <a:r>
              <a:rPr sz="1717" spc="41" dirty="0">
                <a:latin typeface="Symbol"/>
                <a:cs typeface="Symbol"/>
              </a:rPr>
              <a:t></a:t>
            </a:r>
            <a:r>
              <a:rPr sz="1717" i="1" spc="82" dirty="0">
                <a:latin typeface="Times New Roman"/>
                <a:cs typeface="Times New Roman"/>
              </a:rPr>
              <a:t>k</a:t>
            </a:r>
            <a:r>
              <a:rPr sz="1717" spc="-131" dirty="0">
                <a:latin typeface="Symbol"/>
                <a:cs typeface="Symbol"/>
              </a:rPr>
              <a:t></a:t>
            </a:r>
            <a:r>
              <a:rPr sz="1717" spc="21" dirty="0">
                <a:latin typeface="Times New Roman"/>
                <a:cs typeface="Times New Roman"/>
              </a:rPr>
              <a:t>1</a:t>
            </a:r>
            <a:endParaRPr sz="1717">
              <a:latin typeface="Times New Roman"/>
              <a:cs typeface="Times New Roman"/>
            </a:endParaRPr>
          </a:p>
        </p:txBody>
      </p:sp>
      <p:sp>
        <p:nvSpPr>
          <p:cNvPr id="16" name="object 16"/>
          <p:cNvSpPr txBox="1"/>
          <p:nvPr/>
        </p:nvSpPr>
        <p:spPr>
          <a:xfrm>
            <a:off x="7127316" y="4173311"/>
            <a:ext cx="3060982" cy="485322"/>
          </a:xfrm>
          <a:prstGeom prst="rect">
            <a:avLst/>
          </a:prstGeom>
        </p:spPr>
        <p:txBody>
          <a:bodyPr vert="horz" wrap="square" lIns="0" tIns="20062" rIns="0" bIns="0" rtlCol="0">
            <a:spAutoFit/>
          </a:bodyPr>
          <a:lstStyle/>
          <a:p>
            <a:pPr marL="69784">
              <a:spcBef>
                <a:spcPts val="157"/>
              </a:spcBef>
              <a:tabLst>
                <a:tab pos="546059" algn="l"/>
                <a:tab pos="2331657" algn="l"/>
              </a:tabLst>
            </a:pPr>
            <a:r>
              <a:rPr sz="3022" spc="-7" dirty="0">
                <a:latin typeface="Times New Roman"/>
                <a:cs typeface="Times New Roman"/>
              </a:rPr>
              <a:t>i</a:t>
            </a:r>
            <a:r>
              <a:rPr sz="3022" spc="7" dirty="0">
                <a:latin typeface="Times New Roman"/>
                <a:cs typeface="Times New Roman"/>
              </a:rPr>
              <a:t>f</a:t>
            </a:r>
            <a:r>
              <a:rPr sz="3022" dirty="0">
                <a:latin typeface="Times New Roman"/>
                <a:cs typeface="Times New Roman"/>
              </a:rPr>
              <a:t>	</a:t>
            </a:r>
            <a:r>
              <a:rPr sz="3022" spc="-14" dirty="0">
                <a:latin typeface="Times New Roman"/>
                <a:cs typeface="Times New Roman"/>
              </a:rPr>
              <a:t>c</a:t>
            </a:r>
            <a:r>
              <a:rPr sz="3022" spc="7" dirty="0">
                <a:latin typeface="Times New Roman"/>
                <a:cs typeface="Times New Roman"/>
              </a:rPr>
              <a:t>oun</a:t>
            </a:r>
            <a:r>
              <a:rPr sz="3022" spc="-7" dirty="0">
                <a:latin typeface="Times New Roman"/>
                <a:cs typeface="Times New Roman"/>
              </a:rPr>
              <a:t>t</a:t>
            </a:r>
            <a:r>
              <a:rPr sz="3022" spc="76" dirty="0">
                <a:latin typeface="Times New Roman"/>
                <a:cs typeface="Times New Roman"/>
              </a:rPr>
              <a:t>(</a:t>
            </a:r>
            <a:r>
              <a:rPr sz="3022" i="1" spc="103" dirty="0">
                <a:latin typeface="Times New Roman"/>
                <a:cs typeface="Times New Roman"/>
              </a:rPr>
              <a:t>w</a:t>
            </a:r>
            <a:r>
              <a:rPr sz="2576" i="1" spc="10" baseline="44444" dirty="0">
                <a:latin typeface="Times New Roman"/>
                <a:cs typeface="Times New Roman"/>
              </a:rPr>
              <a:t>i</a:t>
            </a:r>
            <a:r>
              <a:rPr sz="2576" i="1" baseline="44444" dirty="0">
                <a:latin typeface="Times New Roman"/>
                <a:cs typeface="Times New Roman"/>
              </a:rPr>
              <a:t>	</a:t>
            </a:r>
            <a:r>
              <a:rPr sz="3022" spc="7" dirty="0">
                <a:latin typeface="Times New Roman"/>
                <a:cs typeface="Times New Roman"/>
              </a:rPr>
              <a:t>)</a:t>
            </a:r>
            <a:r>
              <a:rPr sz="3022" spc="-261" dirty="0">
                <a:latin typeface="Times New Roman"/>
                <a:cs typeface="Times New Roman"/>
              </a:rPr>
              <a:t> </a:t>
            </a:r>
            <a:r>
              <a:rPr sz="3022" spc="7" dirty="0">
                <a:latin typeface="Symbol"/>
                <a:cs typeface="Symbol"/>
              </a:rPr>
              <a:t></a:t>
            </a:r>
            <a:r>
              <a:rPr sz="3022" spc="-137" dirty="0">
                <a:latin typeface="Times New Roman"/>
                <a:cs typeface="Times New Roman"/>
              </a:rPr>
              <a:t> </a:t>
            </a:r>
            <a:r>
              <a:rPr sz="3022" spc="7" dirty="0">
                <a:latin typeface="Times New Roman"/>
                <a:cs typeface="Times New Roman"/>
              </a:rPr>
              <a:t>0</a:t>
            </a:r>
            <a:endParaRPr sz="3022">
              <a:latin typeface="Times New Roman"/>
              <a:cs typeface="Times New Roman"/>
            </a:endParaRPr>
          </a:p>
        </p:txBody>
      </p:sp>
      <p:sp>
        <p:nvSpPr>
          <p:cNvPr id="17" name="object 17"/>
          <p:cNvSpPr txBox="1"/>
          <p:nvPr/>
        </p:nvSpPr>
        <p:spPr>
          <a:xfrm>
            <a:off x="1154955" y="2148501"/>
            <a:ext cx="9291987" cy="2081577"/>
          </a:xfrm>
          <a:prstGeom prst="rect">
            <a:avLst/>
          </a:prstGeom>
        </p:spPr>
        <p:txBody>
          <a:bodyPr vert="horz" wrap="square" lIns="0" tIns="123870" rIns="0" bIns="0" rtlCol="0">
            <a:spAutoFit/>
          </a:bodyPr>
          <a:lstStyle/>
          <a:p>
            <a:pPr marL="488488" indent="-471042">
              <a:spcBef>
                <a:spcPts val="975"/>
              </a:spcBef>
              <a:buClr>
                <a:srgbClr val="CC0000"/>
              </a:buClr>
              <a:buFont typeface="Times New Roman"/>
              <a:buChar char="•"/>
              <a:tabLst>
                <a:tab pos="487615" algn="l"/>
                <a:tab pos="488488" algn="l"/>
              </a:tabLst>
            </a:pPr>
            <a:r>
              <a:rPr sz="3846" dirty="0">
                <a:latin typeface="Calibri"/>
                <a:cs typeface="Calibri"/>
              </a:rPr>
              <a:t>“Stupid</a:t>
            </a:r>
            <a:r>
              <a:rPr sz="3846" spc="-14" dirty="0">
                <a:latin typeface="Calibri"/>
                <a:cs typeface="Calibri"/>
              </a:rPr>
              <a:t> </a:t>
            </a:r>
            <a:r>
              <a:rPr sz="3846" spc="-7" dirty="0">
                <a:latin typeface="Calibri"/>
                <a:cs typeface="Calibri"/>
              </a:rPr>
              <a:t>backoﬀ” (Brants</a:t>
            </a:r>
            <a:r>
              <a:rPr sz="3846" spc="-14" dirty="0">
                <a:latin typeface="Calibri"/>
                <a:cs typeface="Calibri"/>
              </a:rPr>
              <a:t> </a:t>
            </a:r>
            <a:r>
              <a:rPr sz="3846" i="1" spc="-7" dirty="0">
                <a:latin typeface="Calibri"/>
                <a:cs typeface="Calibri"/>
              </a:rPr>
              <a:t>et al</a:t>
            </a:r>
            <a:r>
              <a:rPr sz="3846" spc="-7" dirty="0">
                <a:latin typeface="Calibri"/>
                <a:cs typeface="Calibri"/>
              </a:rPr>
              <a:t>.</a:t>
            </a:r>
            <a:r>
              <a:rPr sz="3846" spc="-14" dirty="0">
                <a:latin typeface="Calibri"/>
                <a:cs typeface="Calibri"/>
              </a:rPr>
              <a:t> </a:t>
            </a:r>
            <a:r>
              <a:rPr sz="3846" spc="-7" dirty="0">
                <a:latin typeface="Calibri"/>
                <a:cs typeface="Calibri"/>
              </a:rPr>
              <a:t>2007)</a:t>
            </a:r>
            <a:endParaRPr sz="3846">
              <a:latin typeface="Calibri"/>
              <a:cs typeface="Calibri"/>
            </a:endParaRPr>
          </a:p>
          <a:p>
            <a:pPr marL="488488" indent="-471042">
              <a:spcBef>
                <a:spcPts val="845"/>
              </a:spcBef>
              <a:buClr>
                <a:srgbClr val="CC0000"/>
              </a:buClr>
              <a:buFont typeface="Times New Roman"/>
              <a:buChar char="•"/>
              <a:tabLst>
                <a:tab pos="487615" algn="l"/>
                <a:tab pos="488488" algn="l"/>
              </a:tabLst>
            </a:pPr>
            <a:r>
              <a:rPr sz="3846" dirty="0">
                <a:latin typeface="Calibri"/>
                <a:cs typeface="Calibri"/>
              </a:rPr>
              <a:t>No</a:t>
            </a:r>
            <a:r>
              <a:rPr sz="3846" spc="-7" dirty="0">
                <a:latin typeface="Calibri"/>
                <a:cs typeface="Calibri"/>
              </a:rPr>
              <a:t> discounting,</a:t>
            </a:r>
            <a:r>
              <a:rPr sz="3846" dirty="0">
                <a:latin typeface="Calibri"/>
                <a:cs typeface="Calibri"/>
              </a:rPr>
              <a:t> just use </a:t>
            </a:r>
            <a:r>
              <a:rPr sz="3846" spc="-7" dirty="0">
                <a:latin typeface="Calibri"/>
                <a:cs typeface="Calibri"/>
              </a:rPr>
              <a:t>relative frequencies</a:t>
            </a:r>
            <a:endParaRPr sz="3846">
              <a:latin typeface="Calibri"/>
              <a:cs typeface="Calibri"/>
            </a:endParaRPr>
          </a:p>
          <a:p>
            <a:pPr marR="2222619" algn="ctr">
              <a:spcBef>
                <a:spcPts val="1648"/>
              </a:spcBef>
            </a:pPr>
            <a:r>
              <a:rPr sz="3022" spc="7" dirty="0">
                <a:latin typeface="Symbol"/>
                <a:cs typeface="Symbol"/>
              </a:rPr>
              <a:t></a:t>
            </a:r>
            <a:endParaRPr sz="3022">
              <a:latin typeface="Symbol"/>
              <a:cs typeface="Symbol"/>
            </a:endParaRPr>
          </a:p>
        </p:txBody>
      </p:sp>
      <p:sp>
        <p:nvSpPr>
          <p:cNvPr id="18" name="object 18"/>
          <p:cNvSpPr txBox="1"/>
          <p:nvPr/>
        </p:nvSpPr>
        <p:spPr>
          <a:xfrm>
            <a:off x="5253988" y="5131524"/>
            <a:ext cx="2525376" cy="555148"/>
          </a:xfrm>
          <a:prstGeom prst="rect">
            <a:avLst/>
          </a:prstGeom>
        </p:spPr>
        <p:txBody>
          <a:bodyPr vert="horz" wrap="square" lIns="0" tIns="20062" rIns="0" bIns="0" rtlCol="0">
            <a:spAutoFit/>
          </a:bodyPr>
          <a:lstStyle/>
          <a:p>
            <a:pPr marL="87230">
              <a:lnSpc>
                <a:spcPts val="2844"/>
              </a:lnSpc>
              <a:spcBef>
                <a:spcPts val="157"/>
              </a:spcBef>
              <a:tabLst>
                <a:tab pos="2326423" algn="l"/>
              </a:tabLst>
            </a:pPr>
            <a:r>
              <a:rPr sz="3022" spc="55" dirty="0">
                <a:latin typeface="Times New Roman"/>
                <a:cs typeface="Times New Roman"/>
              </a:rPr>
              <a:t>0.4</a:t>
            </a:r>
            <a:r>
              <a:rPr sz="3022" i="1" spc="55" dirty="0">
                <a:latin typeface="Times New Roman"/>
                <a:cs typeface="Times New Roman"/>
              </a:rPr>
              <a:t>S</a:t>
            </a:r>
            <a:r>
              <a:rPr sz="3022" spc="55" dirty="0">
                <a:latin typeface="Times New Roman"/>
                <a:cs typeface="Times New Roman"/>
              </a:rPr>
              <a:t>(</a:t>
            </a:r>
            <a:r>
              <a:rPr sz="3022" i="1" spc="55" dirty="0">
                <a:latin typeface="Times New Roman"/>
                <a:cs typeface="Times New Roman"/>
              </a:rPr>
              <a:t>w</a:t>
            </a:r>
            <a:r>
              <a:rPr sz="3022" i="1" spc="508" dirty="0">
                <a:latin typeface="Times New Roman"/>
                <a:cs typeface="Times New Roman"/>
              </a:rPr>
              <a:t> </a:t>
            </a:r>
            <a:r>
              <a:rPr sz="3022" dirty="0">
                <a:latin typeface="Times New Roman"/>
                <a:cs typeface="Times New Roman"/>
              </a:rPr>
              <a:t>|</a:t>
            </a:r>
            <a:r>
              <a:rPr sz="3022" spc="-227" dirty="0">
                <a:latin typeface="Times New Roman"/>
                <a:cs typeface="Times New Roman"/>
              </a:rPr>
              <a:t> </a:t>
            </a:r>
            <a:r>
              <a:rPr sz="3022" i="1" spc="7" dirty="0">
                <a:latin typeface="Times New Roman"/>
                <a:cs typeface="Times New Roman"/>
              </a:rPr>
              <a:t>w</a:t>
            </a:r>
            <a:r>
              <a:rPr sz="2576" i="1" spc="10" baseline="44444" dirty="0">
                <a:latin typeface="Times New Roman"/>
                <a:cs typeface="Times New Roman"/>
              </a:rPr>
              <a:t>i</a:t>
            </a:r>
            <a:r>
              <a:rPr sz="2576" spc="10" baseline="44444" dirty="0">
                <a:latin typeface="Symbol"/>
                <a:cs typeface="Symbol"/>
              </a:rPr>
              <a:t></a:t>
            </a:r>
            <a:r>
              <a:rPr sz="2576" spc="10" baseline="44444" dirty="0">
                <a:latin typeface="Times New Roman"/>
                <a:cs typeface="Times New Roman"/>
              </a:rPr>
              <a:t>1	</a:t>
            </a:r>
            <a:r>
              <a:rPr sz="3022" spc="7" dirty="0">
                <a:latin typeface="Times New Roman"/>
                <a:cs typeface="Times New Roman"/>
              </a:rPr>
              <a:t>)</a:t>
            </a:r>
            <a:endParaRPr sz="3022">
              <a:latin typeface="Times New Roman"/>
              <a:cs typeface="Times New Roman"/>
            </a:endParaRPr>
          </a:p>
          <a:p>
            <a:pPr marL="1181966">
              <a:lnSpc>
                <a:spcPts val="1278"/>
              </a:lnSpc>
              <a:tabLst>
                <a:tab pos="1742854" algn="l"/>
              </a:tabLst>
            </a:pPr>
            <a:r>
              <a:rPr sz="1717" i="1" spc="7" dirty="0">
                <a:latin typeface="Times New Roman"/>
                <a:cs typeface="Times New Roman"/>
              </a:rPr>
              <a:t>i	</a:t>
            </a:r>
            <a:r>
              <a:rPr sz="1717" i="1" spc="41" dirty="0">
                <a:latin typeface="Times New Roman"/>
                <a:cs typeface="Times New Roman"/>
              </a:rPr>
              <a:t>i</a:t>
            </a:r>
            <a:r>
              <a:rPr sz="1717" spc="41" dirty="0">
                <a:latin typeface="Symbol"/>
                <a:cs typeface="Symbol"/>
              </a:rPr>
              <a:t></a:t>
            </a:r>
            <a:r>
              <a:rPr sz="1717" i="1" spc="41" dirty="0">
                <a:latin typeface="Times New Roman"/>
                <a:cs typeface="Times New Roman"/>
              </a:rPr>
              <a:t>k</a:t>
            </a:r>
            <a:r>
              <a:rPr sz="1717" spc="41" dirty="0">
                <a:latin typeface="Symbol"/>
                <a:cs typeface="Symbol"/>
              </a:rPr>
              <a:t></a:t>
            </a:r>
            <a:r>
              <a:rPr sz="1717" spc="41" dirty="0">
                <a:latin typeface="Times New Roman"/>
                <a:cs typeface="Times New Roman"/>
              </a:rPr>
              <a:t>2</a:t>
            </a:r>
            <a:endParaRPr sz="1717">
              <a:latin typeface="Times New Roman"/>
              <a:cs typeface="Times New Roman"/>
            </a:endParaRPr>
          </a:p>
        </p:txBody>
      </p:sp>
      <p:sp>
        <p:nvSpPr>
          <p:cNvPr id="19" name="object 19"/>
          <p:cNvSpPr txBox="1"/>
          <p:nvPr/>
        </p:nvSpPr>
        <p:spPr>
          <a:xfrm>
            <a:off x="8279697" y="5131524"/>
            <a:ext cx="1527438" cy="485322"/>
          </a:xfrm>
          <a:prstGeom prst="rect">
            <a:avLst/>
          </a:prstGeom>
        </p:spPr>
        <p:txBody>
          <a:bodyPr vert="horz" wrap="square" lIns="0" tIns="20062" rIns="0" bIns="0" rtlCol="0">
            <a:spAutoFit/>
          </a:bodyPr>
          <a:lstStyle/>
          <a:p>
            <a:pPr marL="17446">
              <a:spcBef>
                <a:spcPts val="157"/>
              </a:spcBef>
            </a:pPr>
            <a:r>
              <a:rPr sz="3022" spc="-7" dirty="0">
                <a:latin typeface="Times New Roman"/>
                <a:cs typeface="Times New Roman"/>
              </a:rPr>
              <a:t>otherwise</a:t>
            </a:r>
            <a:endParaRPr sz="3022">
              <a:latin typeface="Times New Roman"/>
              <a:cs typeface="Times New Roman"/>
            </a:endParaRPr>
          </a:p>
        </p:txBody>
      </p:sp>
      <p:sp>
        <p:nvSpPr>
          <p:cNvPr id="21" name="object 21"/>
          <p:cNvSpPr txBox="1"/>
          <p:nvPr/>
        </p:nvSpPr>
        <p:spPr>
          <a:xfrm>
            <a:off x="4061020" y="4516535"/>
            <a:ext cx="771134" cy="1200068"/>
          </a:xfrm>
          <a:prstGeom prst="rect">
            <a:avLst/>
          </a:prstGeom>
        </p:spPr>
        <p:txBody>
          <a:bodyPr vert="horz" wrap="square" lIns="0" tIns="20062" rIns="0" bIns="0" rtlCol="0">
            <a:spAutoFit/>
          </a:bodyPr>
          <a:lstStyle/>
          <a:p>
            <a:pPr marR="41870" algn="r">
              <a:lnSpc>
                <a:spcPts val="3311"/>
              </a:lnSpc>
              <a:spcBef>
                <a:spcPts val="157"/>
              </a:spcBef>
            </a:pPr>
            <a:r>
              <a:rPr sz="4533" spc="10" baseline="1262" dirty="0">
                <a:latin typeface="Times New Roman"/>
                <a:cs typeface="Times New Roman"/>
              </a:rPr>
              <a:t>)</a:t>
            </a:r>
            <a:r>
              <a:rPr sz="4533" spc="-360" baseline="1262" dirty="0">
                <a:latin typeface="Times New Roman"/>
                <a:cs typeface="Times New Roman"/>
              </a:rPr>
              <a:t> </a:t>
            </a:r>
            <a:r>
              <a:rPr sz="4533" spc="10" baseline="1262" dirty="0">
                <a:latin typeface="Symbol"/>
                <a:cs typeface="Symbol"/>
              </a:rPr>
              <a:t></a:t>
            </a:r>
            <a:r>
              <a:rPr sz="4533" spc="-330" baseline="1262" dirty="0">
                <a:latin typeface="Times New Roman"/>
                <a:cs typeface="Times New Roman"/>
              </a:rPr>
              <a:t> </a:t>
            </a:r>
            <a:r>
              <a:rPr sz="3022" spc="7" dirty="0">
                <a:latin typeface="Symbol"/>
                <a:cs typeface="Symbol"/>
              </a:rPr>
              <a:t></a:t>
            </a:r>
            <a:endParaRPr sz="3022" dirty="0">
              <a:latin typeface="Symbol"/>
              <a:cs typeface="Symbol"/>
            </a:endParaRPr>
          </a:p>
          <a:p>
            <a:pPr marR="41870" algn="r">
              <a:lnSpc>
                <a:spcPts val="2775"/>
              </a:lnSpc>
            </a:pPr>
            <a:r>
              <a:rPr sz="3022" spc="-570" dirty="0">
                <a:latin typeface="Symbol"/>
                <a:cs typeface="Symbol"/>
              </a:rPr>
              <a:t></a:t>
            </a:r>
            <a:endParaRPr sz="3022" dirty="0">
              <a:latin typeface="Symbol"/>
              <a:cs typeface="Symbol"/>
            </a:endParaRPr>
          </a:p>
          <a:p>
            <a:pPr marR="41870" algn="r">
              <a:lnSpc>
                <a:spcPts val="3091"/>
              </a:lnSpc>
            </a:pPr>
            <a:r>
              <a:rPr sz="3022" spc="-1037" dirty="0">
                <a:latin typeface="Symbol"/>
                <a:cs typeface="Symbol"/>
              </a:rPr>
              <a:t></a:t>
            </a:r>
            <a:r>
              <a:rPr sz="4533" spc="-1555" baseline="-10101" dirty="0">
                <a:latin typeface="Symbol"/>
                <a:cs typeface="Symbol"/>
              </a:rPr>
              <a:t></a:t>
            </a:r>
            <a:endParaRPr sz="4533" baseline="-10101" dirty="0">
              <a:latin typeface="Symbol"/>
              <a:cs typeface="Symbol"/>
            </a:endParaRPr>
          </a:p>
        </p:txBody>
      </p:sp>
      <p:sp>
        <p:nvSpPr>
          <p:cNvPr id="22" name="object 22"/>
          <p:cNvSpPr txBox="1"/>
          <p:nvPr/>
        </p:nvSpPr>
        <p:spPr>
          <a:xfrm>
            <a:off x="3390540" y="6561486"/>
            <a:ext cx="98573" cy="294197"/>
          </a:xfrm>
          <a:prstGeom prst="rect">
            <a:avLst/>
          </a:prstGeom>
        </p:spPr>
        <p:txBody>
          <a:bodyPr vert="horz" wrap="square" lIns="0" tIns="19191" rIns="0" bIns="0" rtlCol="0">
            <a:spAutoFit/>
          </a:bodyPr>
          <a:lstStyle/>
          <a:p>
            <a:pPr marL="17446">
              <a:spcBef>
                <a:spcPts val="151"/>
              </a:spcBef>
            </a:pPr>
            <a:r>
              <a:rPr sz="1786" i="1" dirty="0">
                <a:latin typeface="Times New Roman"/>
                <a:cs typeface="Times New Roman"/>
              </a:rPr>
              <a:t>i</a:t>
            </a:r>
            <a:endParaRPr sz="1786">
              <a:latin typeface="Times New Roman"/>
              <a:cs typeface="Times New Roman"/>
            </a:endParaRPr>
          </a:p>
        </p:txBody>
      </p:sp>
      <p:sp>
        <p:nvSpPr>
          <p:cNvPr id="23" name="object 23"/>
          <p:cNvSpPr txBox="1"/>
          <p:nvPr/>
        </p:nvSpPr>
        <p:spPr>
          <a:xfrm>
            <a:off x="2780101" y="6296042"/>
            <a:ext cx="1170656" cy="495902"/>
          </a:xfrm>
          <a:prstGeom prst="rect">
            <a:avLst/>
          </a:prstGeom>
        </p:spPr>
        <p:txBody>
          <a:bodyPr vert="horz" wrap="square" lIns="0" tIns="20063" rIns="0" bIns="0" rtlCol="0">
            <a:spAutoFit/>
          </a:bodyPr>
          <a:lstStyle/>
          <a:p>
            <a:pPr marL="17446">
              <a:spcBef>
                <a:spcPts val="158"/>
              </a:spcBef>
            </a:pPr>
            <a:r>
              <a:rPr sz="3091" i="1" spc="131" dirty="0">
                <a:latin typeface="Times New Roman"/>
                <a:cs typeface="Times New Roman"/>
              </a:rPr>
              <a:t>S</a:t>
            </a:r>
            <a:r>
              <a:rPr sz="3091" spc="69" dirty="0">
                <a:latin typeface="Times New Roman"/>
                <a:cs typeface="Times New Roman"/>
              </a:rPr>
              <a:t>(</a:t>
            </a:r>
            <a:r>
              <a:rPr sz="3091" i="1" spc="7" dirty="0">
                <a:latin typeface="Times New Roman"/>
                <a:cs typeface="Times New Roman"/>
              </a:rPr>
              <a:t>w</a:t>
            </a:r>
            <a:r>
              <a:rPr sz="3091" i="1" spc="34" dirty="0">
                <a:latin typeface="Times New Roman"/>
                <a:cs typeface="Times New Roman"/>
              </a:rPr>
              <a:t> </a:t>
            </a:r>
            <a:r>
              <a:rPr sz="3091" dirty="0">
                <a:latin typeface="Times New Roman"/>
                <a:cs typeface="Times New Roman"/>
              </a:rPr>
              <a:t>)</a:t>
            </a:r>
            <a:r>
              <a:rPr sz="3091" spc="-247" dirty="0">
                <a:latin typeface="Times New Roman"/>
                <a:cs typeface="Times New Roman"/>
              </a:rPr>
              <a:t> </a:t>
            </a:r>
            <a:r>
              <a:rPr sz="3091" spc="7" dirty="0">
                <a:latin typeface="Symbol"/>
                <a:cs typeface="Symbol"/>
              </a:rPr>
              <a:t></a:t>
            </a:r>
            <a:endParaRPr sz="3091">
              <a:latin typeface="Symbol"/>
              <a:cs typeface="Symbol"/>
            </a:endParaRPr>
          </a:p>
        </p:txBody>
      </p:sp>
      <p:sp>
        <p:nvSpPr>
          <p:cNvPr id="24" name="object 24"/>
          <p:cNvSpPr txBox="1"/>
          <p:nvPr/>
        </p:nvSpPr>
        <p:spPr>
          <a:xfrm>
            <a:off x="5294820" y="6323821"/>
            <a:ext cx="98573" cy="294197"/>
          </a:xfrm>
          <a:prstGeom prst="rect">
            <a:avLst/>
          </a:prstGeom>
        </p:spPr>
        <p:txBody>
          <a:bodyPr vert="horz" wrap="square" lIns="0" tIns="19191" rIns="0" bIns="0" rtlCol="0">
            <a:spAutoFit/>
          </a:bodyPr>
          <a:lstStyle/>
          <a:p>
            <a:pPr marL="17446">
              <a:spcBef>
                <a:spcPts val="151"/>
              </a:spcBef>
            </a:pPr>
            <a:r>
              <a:rPr sz="1786" i="1" dirty="0">
                <a:latin typeface="Times New Roman"/>
                <a:cs typeface="Times New Roman"/>
              </a:rPr>
              <a:t>i</a:t>
            </a:r>
            <a:endParaRPr sz="1786">
              <a:latin typeface="Times New Roman"/>
              <a:cs typeface="Times New Roman"/>
            </a:endParaRPr>
          </a:p>
        </p:txBody>
      </p:sp>
      <p:sp>
        <p:nvSpPr>
          <p:cNvPr id="25" name="object 25"/>
          <p:cNvSpPr txBox="1"/>
          <p:nvPr/>
        </p:nvSpPr>
        <p:spPr>
          <a:xfrm>
            <a:off x="4024614" y="6058377"/>
            <a:ext cx="1546629" cy="495902"/>
          </a:xfrm>
          <a:prstGeom prst="rect">
            <a:avLst/>
          </a:prstGeom>
        </p:spPr>
        <p:txBody>
          <a:bodyPr vert="horz" wrap="square" lIns="0" tIns="20063" rIns="0" bIns="0" rtlCol="0">
            <a:spAutoFit/>
          </a:bodyPr>
          <a:lstStyle/>
          <a:p>
            <a:pPr marL="17446">
              <a:spcBef>
                <a:spcPts val="158"/>
              </a:spcBef>
            </a:pPr>
            <a:r>
              <a:rPr sz="3091" spc="7" dirty="0">
                <a:latin typeface="Times New Roman"/>
                <a:cs typeface="Times New Roman"/>
              </a:rPr>
              <a:t>count(</a:t>
            </a:r>
            <a:r>
              <a:rPr sz="3091" i="1" spc="7" dirty="0">
                <a:latin typeface="Times New Roman"/>
                <a:cs typeface="Times New Roman"/>
              </a:rPr>
              <a:t>w</a:t>
            </a:r>
            <a:r>
              <a:rPr sz="3091" i="1" spc="-41" dirty="0">
                <a:latin typeface="Times New Roman"/>
                <a:cs typeface="Times New Roman"/>
              </a:rPr>
              <a:t> </a:t>
            </a:r>
            <a:r>
              <a:rPr sz="3091" dirty="0">
                <a:latin typeface="Times New Roman"/>
                <a:cs typeface="Times New Roman"/>
              </a:rPr>
              <a:t>)</a:t>
            </a:r>
            <a:endParaRPr sz="3091">
              <a:latin typeface="Times New Roman"/>
              <a:cs typeface="Times New Roman"/>
            </a:endParaRPr>
          </a:p>
        </p:txBody>
      </p:sp>
      <p:sp>
        <p:nvSpPr>
          <p:cNvPr id="26" name="object 26"/>
          <p:cNvSpPr txBox="1"/>
          <p:nvPr/>
        </p:nvSpPr>
        <p:spPr>
          <a:xfrm>
            <a:off x="4635051" y="6610872"/>
            <a:ext cx="298335" cy="495902"/>
          </a:xfrm>
          <a:prstGeom prst="rect">
            <a:avLst/>
          </a:prstGeom>
        </p:spPr>
        <p:txBody>
          <a:bodyPr vert="horz" wrap="square" lIns="0" tIns="20063" rIns="0" bIns="0" rtlCol="0">
            <a:spAutoFit/>
          </a:bodyPr>
          <a:lstStyle/>
          <a:p>
            <a:pPr marL="17446">
              <a:spcBef>
                <a:spcPts val="158"/>
              </a:spcBef>
            </a:pPr>
            <a:r>
              <a:rPr sz="3091" i="1" spc="7" dirty="0">
                <a:latin typeface="Times New Roman"/>
                <a:cs typeface="Times New Roman"/>
              </a:rPr>
              <a:t>N</a:t>
            </a:r>
            <a:endParaRPr sz="3091">
              <a:latin typeface="Times New Roman"/>
              <a:cs typeface="Times New Roman"/>
            </a:endParaRPr>
          </a:p>
        </p:txBody>
      </p:sp>
      <p:sp>
        <p:nvSpPr>
          <p:cNvPr id="27" name="object 27"/>
          <p:cNvSpPr/>
          <p:nvPr/>
        </p:nvSpPr>
        <p:spPr>
          <a:xfrm>
            <a:off x="4021506" y="6623688"/>
            <a:ext cx="1540523" cy="0"/>
          </a:xfrm>
          <a:custGeom>
            <a:avLst/>
            <a:gdLst/>
            <a:ahLst/>
            <a:cxnLst/>
            <a:rect l="l" t="t" r="r" b="b"/>
            <a:pathLst>
              <a:path w="1121410">
                <a:moveTo>
                  <a:pt x="0" y="0"/>
                </a:moveTo>
                <a:lnTo>
                  <a:pt x="1121381" y="0"/>
                </a:lnTo>
              </a:path>
            </a:pathLst>
          </a:custGeom>
          <a:ln w="14229">
            <a:solidFill>
              <a:srgbClr val="000000"/>
            </a:solidFill>
          </a:ln>
        </p:spPr>
        <p:txBody>
          <a:bodyPr wrap="square" lIns="0" tIns="0" rIns="0" bIns="0" rtlCol="0"/>
          <a:lstStyle/>
          <a:p>
            <a:endParaRPr sz="2473"/>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5693654" cy="694084"/>
          </a:xfrm>
          <a:prstGeom prst="rect">
            <a:avLst/>
          </a:prstGeom>
        </p:spPr>
        <p:txBody>
          <a:bodyPr vert="horz" wrap="square" lIns="0" tIns="17446" rIns="0" bIns="0" rtlCol="0">
            <a:spAutoFit/>
          </a:bodyPr>
          <a:lstStyle/>
          <a:p>
            <a:pPr marL="17446">
              <a:spcBef>
                <a:spcPts val="137"/>
              </a:spcBef>
            </a:pPr>
            <a:r>
              <a:rPr dirty="0">
                <a:latin typeface="Calibri"/>
                <a:cs typeface="Calibri"/>
              </a:rPr>
              <a:t>Huge </a:t>
            </a:r>
            <a:r>
              <a:rPr spc="-7" dirty="0">
                <a:latin typeface="Calibri"/>
                <a:cs typeface="Calibri"/>
              </a:rPr>
              <a:t>w</a:t>
            </a:r>
            <a:r>
              <a:rPr dirty="0">
                <a:latin typeface="Calibri"/>
                <a:cs typeface="Calibri"/>
              </a:rPr>
              <a:t>e</a:t>
            </a:r>
            <a:r>
              <a:rPr spc="-453" dirty="0">
                <a:latin typeface="Calibri"/>
                <a:cs typeface="Calibri"/>
              </a:rPr>
              <a:t>b-­‐sc</a:t>
            </a:r>
            <a:r>
              <a:rPr dirty="0">
                <a:latin typeface="Calibri"/>
                <a:cs typeface="Calibri"/>
              </a:rPr>
              <a:t>ale </a:t>
            </a:r>
            <a:r>
              <a:rPr spc="-453" dirty="0">
                <a:latin typeface="Calibri"/>
                <a:cs typeface="Calibri"/>
              </a:rPr>
              <a:t>n-­‐gr</a:t>
            </a:r>
            <a:r>
              <a:rPr dirty="0">
                <a:latin typeface="Calibri"/>
                <a:cs typeface="Calibri"/>
              </a:rPr>
              <a:t>ams</a:t>
            </a:r>
          </a:p>
        </p:txBody>
      </p:sp>
      <p:sp>
        <p:nvSpPr>
          <p:cNvPr id="7" name="object 7"/>
          <p:cNvSpPr txBox="1"/>
          <p:nvPr/>
        </p:nvSpPr>
        <p:spPr>
          <a:xfrm>
            <a:off x="2103713" y="2040481"/>
            <a:ext cx="10644088" cy="4943693"/>
          </a:xfrm>
          <a:prstGeom prst="rect">
            <a:avLst/>
          </a:prstGeom>
        </p:spPr>
        <p:txBody>
          <a:bodyPr vert="horz" wrap="square" lIns="0" tIns="51467" rIns="0" bIns="0" rtlCol="0">
            <a:spAutoFit/>
          </a:bodyPr>
          <a:lstStyle/>
          <a:p>
            <a:pPr marL="488488" indent="-471042">
              <a:spcBef>
                <a:spcPts val="405"/>
              </a:spcBef>
              <a:buClr>
                <a:srgbClr val="CC0000"/>
              </a:buClr>
              <a:buFont typeface="Times New Roman"/>
              <a:buChar char="•"/>
              <a:tabLst>
                <a:tab pos="487615" algn="l"/>
                <a:tab pos="488488" algn="l"/>
              </a:tabLst>
            </a:pPr>
            <a:r>
              <a:rPr sz="3297" spc="-7" dirty="0">
                <a:latin typeface="Calibri"/>
                <a:cs typeface="Calibri"/>
              </a:rPr>
              <a:t>H</a:t>
            </a:r>
            <a:r>
              <a:rPr sz="3297" dirty="0">
                <a:latin typeface="Calibri"/>
                <a:cs typeface="Calibri"/>
              </a:rPr>
              <a:t>ow to deal </a:t>
            </a:r>
            <a:r>
              <a:rPr sz="3297" spc="-7" dirty="0">
                <a:latin typeface="Calibri"/>
                <a:cs typeface="Calibri"/>
              </a:rPr>
              <a:t>w</a:t>
            </a:r>
            <a:r>
              <a:rPr sz="3297" dirty="0">
                <a:latin typeface="Calibri"/>
                <a:cs typeface="Calibri"/>
              </a:rPr>
              <a:t>ith, e</a:t>
            </a:r>
            <a:r>
              <a:rPr sz="3297" spc="-7" dirty="0">
                <a:latin typeface="Calibri"/>
                <a:cs typeface="Calibri"/>
              </a:rPr>
              <a:t>.</a:t>
            </a:r>
            <a:r>
              <a:rPr sz="3297" dirty="0">
                <a:latin typeface="Calibri"/>
                <a:cs typeface="Calibri"/>
              </a:rPr>
              <a:t>g</a:t>
            </a:r>
            <a:r>
              <a:rPr sz="3297" spc="-7" dirty="0">
                <a:latin typeface="Calibri"/>
                <a:cs typeface="Calibri"/>
              </a:rPr>
              <a:t>.</a:t>
            </a:r>
            <a:r>
              <a:rPr sz="3297" dirty="0">
                <a:latin typeface="Calibri"/>
                <a:cs typeface="Calibri"/>
              </a:rPr>
              <a:t>, G</a:t>
            </a:r>
            <a:r>
              <a:rPr sz="3297" spc="-7" dirty="0">
                <a:latin typeface="Calibri"/>
                <a:cs typeface="Calibri"/>
              </a:rPr>
              <a:t>oo</a:t>
            </a:r>
            <a:r>
              <a:rPr sz="3297" dirty="0">
                <a:latin typeface="Calibri"/>
                <a:cs typeface="Calibri"/>
              </a:rPr>
              <a:t>gle N</a:t>
            </a:r>
            <a:r>
              <a:rPr sz="3297" spc="-673" dirty="0">
                <a:latin typeface="Calibri"/>
                <a:cs typeface="Calibri"/>
              </a:rPr>
              <a:t>-­‐</a:t>
            </a:r>
            <a:r>
              <a:rPr sz="3297" dirty="0">
                <a:latin typeface="Calibri"/>
                <a:cs typeface="Calibri"/>
              </a:rPr>
              <a:t>g</a:t>
            </a:r>
            <a:r>
              <a:rPr sz="3297" spc="-7" dirty="0">
                <a:latin typeface="Calibri"/>
                <a:cs typeface="Calibri"/>
              </a:rPr>
              <a:t>r</a:t>
            </a:r>
            <a:r>
              <a:rPr sz="3297" dirty="0">
                <a:latin typeface="Calibri"/>
                <a:cs typeface="Calibri"/>
              </a:rPr>
              <a:t>am</a:t>
            </a:r>
            <a:r>
              <a:rPr sz="3297" spc="-7" dirty="0">
                <a:latin typeface="Calibri"/>
                <a:cs typeface="Calibri"/>
              </a:rPr>
              <a:t> </a:t>
            </a:r>
            <a:r>
              <a:rPr sz="3297" dirty="0">
                <a:latin typeface="Calibri"/>
                <a:cs typeface="Calibri"/>
              </a:rPr>
              <a:t>c</a:t>
            </a:r>
            <a:r>
              <a:rPr sz="3297" spc="-7" dirty="0">
                <a:latin typeface="Calibri"/>
                <a:cs typeface="Calibri"/>
              </a:rPr>
              <a:t>or</a:t>
            </a:r>
            <a:r>
              <a:rPr sz="3297" dirty="0">
                <a:latin typeface="Calibri"/>
                <a:cs typeface="Calibri"/>
              </a:rPr>
              <a:t>pus</a:t>
            </a:r>
          </a:p>
          <a:p>
            <a:pPr marL="488488" indent="-471042">
              <a:spcBef>
                <a:spcPts val="268"/>
              </a:spcBef>
              <a:buClr>
                <a:srgbClr val="CC0000"/>
              </a:buClr>
              <a:buFont typeface="Times New Roman"/>
              <a:buChar char="•"/>
              <a:tabLst>
                <a:tab pos="487615" algn="l"/>
                <a:tab pos="488488" algn="l"/>
              </a:tabLst>
            </a:pPr>
            <a:r>
              <a:rPr sz="3297" dirty="0">
                <a:latin typeface="Calibri"/>
                <a:cs typeface="Calibri"/>
              </a:rPr>
              <a:t>Pruning</a:t>
            </a:r>
          </a:p>
          <a:p>
            <a:pPr marL="959529" lvl="1" indent="-314028">
              <a:spcBef>
                <a:spcPts val="364"/>
              </a:spcBef>
              <a:buFont typeface="Times New Roman"/>
              <a:buChar char="•"/>
              <a:tabLst>
                <a:tab pos="958657" algn="l"/>
                <a:tab pos="959529" algn="l"/>
              </a:tabLst>
            </a:pPr>
            <a:r>
              <a:rPr sz="2747" dirty="0">
                <a:latin typeface="Calibri"/>
                <a:cs typeface="Calibri"/>
              </a:rPr>
              <a:t>Only </a:t>
            </a:r>
            <a:r>
              <a:rPr sz="2747" spc="-7" dirty="0">
                <a:latin typeface="Calibri"/>
                <a:cs typeface="Calibri"/>
              </a:rPr>
              <a:t>store</a:t>
            </a:r>
            <a:r>
              <a:rPr sz="2747" spc="7" dirty="0">
                <a:latin typeface="Calibri"/>
                <a:cs typeface="Calibri"/>
              </a:rPr>
              <a:t> </a:t>
            </a:r>
            <a:r>
              <a:rPr sz="2747" spc="-192" dirty="0">
                <a:latin typeface="Calibri"/>
                <a:cs typeface="Calibri"/>
              </a:rPr>
              <a:t>N-­‐grams</a:t>
            </a:r>
            <a:r>
              <a:rPr sz="2747" dirty="0">
                <a:latin typeface="Calibri"/>
                <a:cs typeface="Calibri"/>
              </a:rPr>
              <a:t> </a:t>
            </a:r>
            <a:r>
              <a:rPr sz="2747" spc="-7" dirty="0">
                <a:latin typeface="Calibri"/>
                <a:cs typeface="Calibri"/>
              </a:rPr>
              <a:t>with</a:t>
            </a:r>
            <a:r>
              <a:rPr sz="2747" spc="7" dirty="0">
                <a:latin typeface="Calibri"/>
                <a:cs typeface="Calibri"/>
              </a:rPr>
              <a:t> </a:t>
            </a:r>
            <a:r>
              <a:rPr sz="2747" spc="-7" dirty="0">
                <a:latin typeface="Calibri"/>
                <a:cs typeface="Calibri"/>
              </a:rPr>
              <a:t>count</a:t>
            </a:r>
            <a:r>
              <a:rPr sz="2747" dirty="0">
                <a:latin typeface="Calibri"/>
                <a:cs typeface="Calibri"/>
              </a:rPr>
              <a:t> &gt; </a:t>
            </a:r>
            <a:r>
              <a:rPr sz="2747" spc="-7" dirty="0">
                <a:latin typeface="Calibri"/>
                <a:cs typeface="Calibri"/>
              </a:rPr>
              <a:t>threshold.</a:t>
            </a:r>
            <a:endParaRPr sz="2747" dirty="0">
              <a:latin typeface="Calibri"/>
              <a:cs typeface="Calibri"/>
            </a:endParaRPr>
          </a:p>
          <a:p>
            <a:pPr marL="1430571" lvl="2" indent="-314028">
              <a:spcBef>
                <a:spcPts val="275"/>
              </a:spcBef>
              <a:buClr>
                <a:srgbClr val="CC0000"/>
              </a:buClr>
              <a:buFont typeface="Times New Roman"/>
              <a:buChar char="•"/>
              <a:tabLst>
                <a:tab pos="1429699" algn="l"/>
                <a:tab pos="1430571" algn="l"/>
              </a:tabLst>
            </a:pPr>
            <a:r>
              <a:rPr sz="2747" spc="-7" dirty="0">
                <a:latin typeface="Calibri"/>
                <a:cs typeface="Calibri"/>
              </a:rPr>
              <a:t>Remove</a:t>
            </a:r>
            <a:r>
              <a:rPr sz="2747" spc="-14" dirty="0">
                <a:latin typeface="Calibri"/>
                <a:cs typeface="Calibri"/>
              </a:rPr>
              <a:t> </a:t>
            </a:r>
            <a:r>
              <a:rPr sz="2747" dirty="0">
                <a:latin typeface="Calibri"/>
                <a:cs typeface="Calibri"/>
              </a:rPr>
              <a:t>singletons</a:t>
            </a:r>
            <a:r>
              <a:rPr lang="en-US" sz="2747" dirty="0">
                <a:latin typeface="Calibri"/>
                <a:cs typeface="Calibri"/>
              </a:rPr>
              <a:t> (lower order </a:t>
            </a:r>
            <a:r>
              <a:rPr lang="en-US" sz="2747" dirty="0" err="1">
                <a:latin typeface="Calibri"/>
                <a:cs typeface="Calibri"/>
              </a:rPr>
              <a:t>ngrams</a:t>
            </a:r>
            <a:r>
              <a:rPr lang="en-US" sz="2747" dirty="0">
                <a:latin typeface="Calibri"/>
                <a:cs typeface="Calibri"/>
              </a:rPr>
              <a:t>)</a:t>
            </a:r>
            <a:r>
              <a:rPr sz="2747" spc="-7" dirty="0">
                <a:latin typeface="Calibri"/>
                <a:cs typeface="Calibri"/>
              </a:rPr>
              <a:t> of </a:t>
            </a:r>
            <a:r>
              <a:rPr sz="2747" spc="-124" dirty="0">
                <a:latin typeface="Calibri"/>
                <a:cs typeface="Calibri"/>
              </a:rPr>
              <a:t>higher-­‐order</a:t>
            </a:r>
            <a:r>
              <a:rPr sz="2747" spc="-7" dirty="0">
                <a:latin typeface="Calibri"/>
                <a:cs typeface="Calibri"/>
              </a:rPr>
              <a:t> </a:t>
            </a:r>
            <a:r>
              <a:rPr sz="2747" spc="-192" dirty="0">
                <a:latin typeface="Calibri"/>
                <a:cs typeface="Calibri"/>
              </a:rPr>
              <a:t>n-­‐grams</a:t>
            </a:r>
            <a:endParaRPr sz="2747" dirty="0">
              <a:latin typeface="Calibri"/>
              <a:cs typeface="Calibri"/>
            </a:endParaRPr>
          </a:p>
          <a:p>
            <a:pPr marL="959529" lvl="1" indent="-314028">
              <a:spcBef>
                <a:spcPts val="412"/>
              </a:spcBef>
              <a:buFont typeface="Times New Roman"/>
              <a:buChar char="•"/>
              <a:tabLst>
                <a:tab pos="958657" algn="l"/>
                <a:tab pos="959529" algn="l"/>
              </a:tabLst>
            </a:pPr>
            <a:r>
              <a:rPr sz="2747" spc="-117" dirty="0">
                <a:latin typeface="Calibri"/>
                <a:cs typeface="Calibri"/>
              </a:rPr>
              <a:t>Entropy-­‐based</a:t>
            </a:r>
            <a:r>
              <a:rPr sz="2747" spc="-21" dirty="0">
                <a:latin typeface="Calibri"/>
                <a:cs typeface="Calibri"/>
              </a:rPr>
              <a:t> </a:t>
            </a:r>
            <a:r>
              <a:rPr sz="2747" spc="-7" dirty="0">
                <a:latin typeface="Calibri"/>
                <a:cs typeface="Calibri"/>
              </a:rPr>
              <a:t>pruning</a:t>
            </a:r>
            <a:endParaRPr sz="2747" dirty="0">
              <a:latin typeface="Calibri"/>
              <a:cs typeface="Calibri"/>
            </a:endParaRPr>
          </a:p>
          <a:p>
            <a:pPr marL="488488" indent="-471042">
              <a:spcBef>
                <a:spcPts val="349"/>
              </a:spcBef>
              <a:buClr>
                <a:srgbClr val="CC0000"/>
              </a:buClr>
              <a:buFont typeface="Times New Roman"/>
              <a:buChar char="•"/>
              <a:tabLst>
                <a:tab pos="487615" algn="l"/>
                <a:tab pos="488488" algn="l"/>
              </a:tabLst>
            </a:pPr>
            <a:r>
              <a:rPr sz="3297" spc="-21" dirty="0">
                <a:latin typeface="Calibri"/>
                <a:cs typeface="Calibri"/>
              </a:rPr>
              <a:t>Efficiency</a:t>
            </a:r>
            <a:endParaRPr sz="3297" dirty="0">
              <a:latin typeface="Calibri"/>
              <a:cs typeface="Calibri"/>
            </a:endParaRPr>
          </a:p>
          <a:p>
            <a:pPr marL="959529" lvl="1" indent="-314028">
              <a:spcBef>
                <a:spcPts val="364"/>
              </a:spcBef>
              <a:buFont typeface="Times New Roman"/>
              <a:buChar char="•"/>
              <a:tabLst>
                <a:tab pos="958657" algn="l"/>
                <a:tab pos="959529" algn="l"/>
              </a:tabLst>
            </a:pPr>
            <a:r>
              <a:rPr sz="2747" spc="-14" dirty="0">
                <a:latin typeface="Calibri"/>
                <a:cs typeface="Calibri"/>
              </a:rPr>
              <a:t>Efficient</a:t>
            </a:r>
            <a:r>
              <a:rPr sz="2747" spc="-7" dirty="0">
                <a:latin typeface="Calibri"/>
                <a:cs typeface="Calibri"/>
              </a:rPr>
              <a:t> </a:t>
            </a:r>
            <a:r>
              <a:rPr sz="2747" dirty="0">
                <a:latin typeface="Calibri"/>
                <a:cs typeface="Calibri"/>
              </a:rPr>
              <a:t>data</a:t>
            </a:r>
            <a:r>
              <a:rPr sz="2747" spc="-7" dirty="0">
                <a:latin typeface="Calibri"/>
                <a:cs typeface="Calibri"/>
              </a:rPr>
              <a:t> structures</a:t>
            </a:r>
            <a:r>
              <a:rPr sz="2747" dirty="0">
                <a:latin typeface="Calibri"/>
                <a:cs typeface="Calibri"/>
              </a:rPr>
              <a:t> </a:t>
            </a:r>
            <a:endParaRPr lang="en-US" sz="2747" dirty="0">
              <a:latin typeface="Calibri"/>
              <a:cs typeface="Calibri"/>
            </a:endParaRPr>
          </a:p>
          <a:p>
            <a:pPr marL="959529" lvl="1" indent="-314028">
              <a:spcBef>
                <a:spcPts val="412"/>
              </a:spcBef>
              <a:buFont typeface="Times New Roman"/>
              <a:buChar char="•"/>
              <a:tabLst>
                <a:tab pos="958657" algn="l"/>
                <a:tab pos="959529" algn="l"/>
              </a:tabLst>
            </a:pPr>
            <a:r>
              <a:rPr sz="2747" spc="-7" dirty="0">
                <a:latin typeface="Calibri"/>
                <a:cs typeface="Calibri"/>
              </a:rPr>
              <a:t>Store words </a:t>
            </a:r>
            <a:r>
              <a:rPr sz="2747" dirty="0">
                <a:latin typeface="Calibri"/>
                <a:cs typeface="Calibri"/>
              </a:rPr>
              <a:t>as</a:t>
            </a:r>
            <a:r>
              <a:rPr sz="2747" spc="-7" dirty="0">
                <a:latin typeface="Calibri"/>
                <a:cs typeface="Calibri"/>
              </a:rPr>
              <a:t> </a:t>
            </a:r>
            <a:r>
              <a:rPr sz="2747" dirty="0">
                <a:latin typeface="Calibri"/>
                <a:cs typeface="Calibri"/>
              </a:rPr>
              <a:t>indexes,</a:t>
            </a:r>
            <a:r>
              <a:rPr sz="2747" spc="-7" dirty="0">
                <a:latin typeface="Calibri"/>
                <a:cs typeface="Calibri"/>
              </a:rPr>
              <a:t> not strings</a:t>
            </a:r>
            <a:endParaRPr sz="2747" dirty="0">
              <a:latin typeface="Calibri"/>
              <a:cs typeface="Calibri"/>
            </a:endParaRPr>
          </a:p>
          <a:p>
            <a:pPr marL="1430571" lvl="2" indent="-314028">
              <a:spcBef>
                <a:spcPts val="275"/>
              </a:spcBef>
              <a:buClr>
                <a:srgbClr val="CC0000"/>
              </a:buClr>
              <a:buFont typeface="Times New Roman"/>
              <a:buChar char="•"/>
              <a:tabLst>
                <a:tab pos="1429699" algn="l"/>
                <a:tab pos="1430571" algn="l"/>
              </a:tabLst>
            </a:pPr>
            <a:r>
              <a:rPr sz="2747" dirty="0">
                <a:latin typeface="Calibri"/>
                <a:cs typeface="Calibri"/>
              </a:rPr>
              <a:t>Use </a:t>
            </a:r>
            <a:r>
              <a:rPr sz="2747" spc="-7" dirty="0">
                <a:latin typeface="Calibri"/>
                <a:cs typeface="Calibri"/>
              </a:rPr>
              <a:t>Huﬀman</a:t>
            </a:r>
            <a:r>
              <a:rPr sz="2747" spc="7" dirty="0">
                <a:latin typeface="Calibri"/>
                <a:cs typeface="Calibri"/>
              </a:rPr>
              <a:t> </a:t>
            </a:r>
            <a:r>
              <a:rPr sz="2747" spc="-7" dirty="0">
                <a:latin typeface="Calibri"/>
                <a:cs typeface="Calibri"/>
              </a:rPr>
              <a:t>coding</a:t>
            </a:r>
            <a:r>
              <a:rPr sz="2747" dirty="0">
                <a:latin typeface="Calibri"/>
                <a:cs typeface="Calibri"/>
              </a:rPr>
              <a:t> to</a:t>
            </a:r>
            <a:r>
              <a:rPr sz="2747" spc="7" dirty="0">
                <a:latin typeface="Calibri"/>
                <a:cs typeface="Calibri"/>
              </a:rPr>
              <a:t> </a:t>
            </a:r>
            <a:r>
              <a:rPr sz="2747" spc="-7" dirty="0">
                <a:latin typeface="Calibri"/>
                <a:cs typeface="Calibri"/>
              </a:rPr>
              <a:t>fit</a:t>
            </a:r>
            <a:r>
              <a:rPr sz="2747" spc="7" dirty="0">
                <a:latin typeface="Calibri"/>
                <a:cs typeface="Calibri"/>
              </a:rPr>
              <a:t> </a:t>
            </a:r>
            <a:r>
              <a:rPr sz="2747" spc="-7" dirty="0">
                <a:latin typeface="Calibri"/>
                <a:cs typeface="Calibri"/>
              </a:rPr>
              <a:t>large</a:t>
            </a:r>
            <a:r>
              <a:rPr sz="2747" dirty="0">
                <a:latin typeface="Calibri"/>
                <a:cs typeface="Calibri"/>
              </a:rPr>
              <a:t> </a:t>
            </a:r>
            <a:r>
              <a:rPr sz="2747" spc="-7" dirty="0">
                <a:latin typeface="Calibri"/>
                <a:cs typeface="Calibri"/>
              </a:rPr>
              <a:t>numbers</a:t>
            </a:r>
            <a:r>
              <a:rPr sz="2747" spc="7" dirty="0">
                <a:latin typeface="Calibri"/>
                <a:cs typeface="Calibri"/>
              </a:rPr>
              <a:t> </a:t>
            </a:r>
            <a:r>
              <a:rPr sz="2747" spc="-7" dirty="0">
                <a:latin typeface="Calibri"/>
                <a:cs typeface="Calibri"/>
              </a:rPr>
              <a:t>of</a:t>
            </a:r>
            <a:r>
              <a:rPr sz="2747" dirty="0">
                <a:latin typeface="Calibri"/>
                <a:cs typeface="Calibri"/>
              </a:rPr>
              <a:t> </a:t>
            </a:r>
            <a:r>
              <a:rPr sz="2747" spc="-7" dirty="0">
                <a:latin typeface="Calibri"/>
                <a:cs typeface="Calibri"/>
              </a:rPr>
              <a:t>words</a:t>
            </a:r>
            <a:r>
              <a:rPr sz="2747" spc="7" dirty="0">
                <a:latin typeface="Calibri"/>
                <a:cs typeface="Calibri"/>
              </a:rPr>
              <a:t> </a:t>
            </a:r>
            <a:r>
              <a:rPr sz="2747" dirty="0">
                <a:latin typeface="Calibri"/>
                <a:cs typeface="Calibri"/>
              </a:rPr>
              <a:t>into</a:t>
            </a:r>
            <a:r>
              <a:rPr sz="2747" spc="7" dirty="0">
                <a:latin typeface="Calibri"/>
                <a:cs typeface="Calibri"/>
              </a:rPr>
              <a:t> </a:t>
            </a:r>
            <a:r>
              <a:rPr sz="2747" spc="-7" dirty="0">
                <a:latin typeface="Calibri"/>
                <a:cs typeface="Calibri"/>
              </a:rPr>
              <a:t>two</a:t>
            </a:r>
            <a:r>
              <a:rPr sz="2747" dirty="0">
                <a:latin typeface="Calibri"/>
                <a:cs typeface="Calibri"/>
              </a:rPr>
              <a:t> </a:t>
            </a:r>
            <a:r>
              <a:rPr sz="2747" spc="-7" dirty="0">
                <a:latin typeface="Calibri"/>
                <a:cs typeface="Calibri"/>
              </a:rPr>
              <a:t>bytes</a:t>
            </a:r>
            <a:endParaRPr sz="2747" dirty="0">
              <a:latin typeface="Calibri"/>
              <a:cs typeface="Calibri"/>
            </a:endParaRPr>
          </a:p>
          <a:p>
            <a:pPr marL="959529" lvl="1" indent="-314028">
              <a:spcBef>
                <a:spcPts val="412"/>
              </a:spcBef>
              <a:buFont typeface="Times New Roman"/>
              <a:buChar char="•"/>
              <a:tabLst>
                <a:tab pos="958657" algn="l"/>
                <a:tab pos="959529" algn="l"/>
              </a:tabLst>
            </a:pPr>
            <a:r>
              <a:rPr sz="2747" spc="-7" dirty="0">
                <a:latin typeface="Calibri"/>
                <a:cs typeface="Calibri"/>
              </a:rPr>
              <a:t>Quantize probabilities</a:t>
            </a:r>
            <a:r>
              <a:rPr sz="2747" dirty="0">
                <a:latin typeface="Calibri"/>
                <a:cs typeface="Calibri"/>
              </a:rPr>
              <a:t> </a:t>
            </a:r>
            <a:r>
              <a:rPr sz="2747" spc="-280" dirty="0">
                <a:latin typeface="Calibri"/>
                <a:cs typeface="Calibri"/>
              </a:rPr>
              <a:t>(4-­‐8</a:t>
            </a:r>
            <a:r>
              <a:rPr sz="2747" spc="7" dirty="0">
                <a:latin typeface="Calibri"/>
                <a:cs typeface="Calibri"/>
              </a:rPr>
              <a:t> </a:t>
            </a:r>
            <a:r>
              <a:rPr sz="2747" dirty="0">
                <a:latin typeface="Calibri"/>
                <a:cs typeface="Calibri"/>
              </a:rPr>
              <a:t>bits </a:t>
            </a:r>
            <a:r>
              <a:rPr sz="2747" spc="-7" dirty="0">
                <a:latin typeface="Calibri"/>
                <a:cs typeface="Calibri"/>
              </a:rPr>
              <a:t>instead</a:t>
            </a:r>
            <a:r>
              <a:rPr sz="2747" dirty="0">
                <a:latin typeface="Calibri"/>
                <a:cs typeface="Calibri"/>
              </a:rPr>
              <a:t> </a:t>
            </a:r>
            <a:r>
              <a:rPr sz="2747" spc="-7" dirty="0">
                <a:latin typeface="Calibri"/>
                <a:cs typeface="Calibri"/>
              </a:rPr>
              <a:t>of</a:t>
            </a:r>
            <a:r>
              <a:rPr sz="2747" spc="7" dirty="0">
                <a:latin typeface="Calibri"/>
                <a:cs typeface="Calibri"/>
              </a:rPr>
              <a:t> </a:t>
            </a:r>
            <a:r>
              <a:rPr sz="2747" spc="-213" dirty="0">
                <a:latin typeface="Calibri"/>
                <a:cs typeface="Calibri"/>
              </a:rPr>
              <a:t>8-­‐byte</a:t>
            </a:r>
            <a:r>
              <a:rPr sz="2747" spc="-7" dirty="0">
                <a:latin typeface="Calibri"/>
                <a:cs typeface="Calibri"/>
              </a:rPr>
              <a:t> ﬂoat)</a:t>
            </a:r>
            <a:endParaRPr sz="2747" dirty="0">
              <a:latin typeface="Calibri"/>
              <a:cs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6747420" cy="694084"/>
          </a:xfrm>
          <a:prstGeom prst="rect">
            <a:avLst/>
          </a:prstGeom>
        </p:spPr>
        <p:txBody>
          <a:bodyPr vert="horz" wrap="square" lIns="0" tIns="17446" rIns="0" bIns="0" rtlCol="0">
            <a:spAutoFit/>
          </a:bodyPr>
          <a:lstStyle/>
          <a:p>
            <a:pPr marL="17446">
              <a:spcBef>
                <a:spcPts val="137"/>
              </a:spcBef>
            </a:pPr>
            <a:r>
              <a:rPr dirty="0">
                <a:latin typeface="Calibri"/>
                <a:cs typeface="Calibri"/>
              </a:rPr>
              <a:t>N</a:t>
            </a:r>
            <a:r>
              <a:rPr spc="-900" dirty="0">
                <a:latin typeface="Calibri"/>
                <a:cs typeface="Calibri"/>
              </a:rPr>
              <a:t>-­‐</a:t>
            </a:r>
            <a:r>
              <a:rPr spc="-7" dirty="0">
                <a:latin typeface="Calibri"/>
                <a:cs typeface="Calibri"/>
              </a:rPr>
              <a:t>g</a:t>
            </a:r>
            <a:r>
              <a:rPr dirty="0">
                <a:latin typeface="Calibri"/>
                <a:cs typeface="Calibri"/>
              </a:rPr>
              <a:t>ram Smoothing Summary</a:t>
            </a:r>
          </a:p>
        </p:txBody>
      </p:sp>
      <p:sp>
        <p:nvSpPr>
          <p:cNvPr id="7" name="object 7"/>
          <p:cNvSpPr txBox="1"/>
          <p:nvPr/>
        </p:nvSpPr>
        <p:spPr>
          <a:xfrm>
            <a:off x="1154954" y="2150244"/>
            <a:ext cx="10038696" cy="3946737"/>
          </a:xfrm>
          <a:prstGeom prst="rect">
            <a:avLst/>
          </a:prstGeom>
        </p:spPr>
        <p:txBody>
          <a:bodyPr vert="horz" wrap="square" lIns="0" tIns="122125" rIns="0" bIns="0" rtlCol="0">
            <a:spAutoFit/>
          </a:bodyPr>
          <a:lstStyle/>
          <a:p>
            <a:pPr marL="488488" indent="-471042">
              <a:spcBef>
                <a:spcPts val="962"/>
              </a:spcBef>
              <a:buClr>
                <a:srgbClr val="CC0000"/>
              </a:buClr>
              <a:buFont typeface="Times New Roman"/>
              <a:buChar char="•"/>
              <a:tabLst>
                <a:tab pos="487615" algn="l"/>
                <a:tab pos="488488" algn="l"/>
              </a:tabLst>
            </a:pPr>
            <a:r>
              <a:rPr sz="3846" dirty="0">
                <a:latin typeface="Calibri"/>
                <a:cs typeface="Calibri"/>
              </a:rPr>
              <a:t>Add</a:t>
            </a:r>
            <a:r>
              <a:rPr sz="3846" spc="-790" dirty="0">
                <a:latin typeface="Calibri"/>
                <a:cs typeface="Calibri"/>
              </a:rPr>
              <a:t>-­‐</a:t>
            </a:r>
            <a:r>
              <a:rPr sz="3846" spc="-7" dirty="0">
                <a:latin typeface="Calibri"/>
                <a:cs typeface="Calibri"/>
              </a:rPr>
              <a:t>1 smoothing</a:t>
            </a:r>
            <a:r>
              <a:rPr sz="3846" dirty="0">
                <a:latin typeface="Calibri"/>
                <a:cs typeface="Calibri"/>
              </a:rPr>
              <a:t>:</a:t>
            </a:r>
          </a:p>
          <a:p>
            <a:pPr marL="959529" lvl="1" indent="-314028">
              <a:spcBef>
                <a:spcPts val="707"/>
              </a:spcBef>
              <a:buFont typeface="Times New Roman"/>
              <a:buChar char="•"/>
              <a:tabLst>
                <a:tab pos="959529" algn="l"/>
              </a:tabLst>
            </a:pPr>
            <a:r>
              <a:rPr sz="3297" dirty="0">
                <a:latin typeface="Calibri"/>
                <a:cs typeface="Calibri"/>
              </a:rPr>
              <a:t>OK</a:t>
            </a:r>
            <a:r>
              <a:rPr sz="3297" spc="7" dirty="0">
                <a:latin typeface="Calibri"/>
                <a:cs typeface="Calibri"/>
              </a:rPr>
              <a:t> </a:t>
            </a:r>
            <a:r>
              <a:rPr sz="3297" spc="-7" dirty="0">
                <a:latin typeface="Calibri"/>
                <a:cs typeface="Calibri"/>
              </a:rPr>
              <a:t>for</a:t>
            </a:r>
            <a:r>
              <a:rPr sz="3297" spc="7" dirty="0">
                <a:latin typeface="Calibri"/>
                <a:cs typeface="Calibri"/>
              </a:rPr>
              <a:t> </a:t>
            </a:r>
            <a:r>
              <a:rPr sz="3297" spc="-7" dirty="0">
                <a:latin typeface="Calibri"/>
                <a:cs typeface="Calibri"/>
              </a:rPr>
              <a:t>text</a:t>
            </a:r>
            <a:r>
              <a:rPr sz="3297" spc="7" dirty="0">
                <a:latin typeface="Calibri"/>
                <a:cs typeface="Calibri"/>
              </a:rPr>
              <a:t> </a:t>
            </a:r>
            <a:r>
              <a:rPr sz="3297" spc="-7" dirty="0">
                <a:latin typeface="Calibri"/>
                <a:cs typeface="Calibri"/>
              </a:rPr>
              <a:t>categorization,</a:t>
            </a:r>
            <a:r>
              <a:rPr sz="3297" spc="14" dirty="0">
                <a:latin typeface="Calibri"/>
                <a:cs typeface="Calibri"/>
              </a:rPr>
              <a:t> </a:t>
            </a:r>
            <a:r>
              <a:rPr sz="3297" spc="-7" dirty="0">
                <a:latin typeface="Calibri"/>
                <a:cs typeface="Calibri"/>
              </a:rPr>
              <a:t>not</a:t>
            </a:r>
            <a:r>
              <a:rPr sz="3297" spc="7" dirty="0">
                <a:latin typeface="Calibri"/>
                <a:cs typeface="Calibri"/>
              </a:rPr>
              <a:t> </a:t>
            </a:r>
            <a:r>
              <a:rPr sz="3297" spc="-7" dirty="0">
                <a:latin typeface="Calibri"/>
                <a:cs typeface="Calibri"/>
              </a:rPr>
              <a:t>for</a:t>
            </a:r>
            <a:r>
              <a:rPr sz="3297" spc="7" dirty="0">
                <a:latin typeface="Calibri"/>
                <a:cs typeface="Calibri"/>
              </a:rPr>
              <a:t> </a:t>
            </a:r>
            <a:r>
              <a:rPr sz="3297" spc="-7" dirty="0">
                <a:latin typeface="Calibri"/>
                <a:cs typeface="Calibri"/>
              </a:rPr>
              <a:t>language</a:t>
            </a:r>
            <a:r>
              <a:rPr sz="3297" spc="14" dirty="0">
                <a:latin typeface="Calibri"/>
                <a:cs typeface="Calibri"/>
              </a:rPr>
              <a:t> </a:t>
            </a:r>
            <a:r>
              <a:rPr sz="3297" spc="-7" dirty="0">
                <a:latin typeface="Calibri"/>
                <a:cs typeface="Calibri"/>
              </a:rPr>
              <a:t>modeling</a:t>
            </a:r>
            <a:endParaRPr sz="3297" dirty="0">
              <a:latin typeface="Calibri"/>
              <a:cs typeface="Calibri"/>
            </a:endParaRPr>
          </a:p>
          <a:p>
            <a:pPr marL="488488" indent="-471042">
              <a:spcBef>
                <a:spcPts val="989"/>
              </a:spcBef>
              <a:buClr>
                <a:srgbClr val="CC0000"/>
              </a:buClr>
              <a:buFont typeface="Times New Roman"/>
              <a:buChar char="•"/>
              <a:tabLst>
                <a:tab pos="487615" algn="l"/>
                <a:tab pos="488488" algn="l"/>
              </a:tabLst>
            </a:pPr>
            <a:r>
              <a:rPr sz="3846" dirty="0">
                <a:latin typeface="Calibri"/>
                <a:cs typeface="Calibri"/>
              </a:rPr>
              <a:t>The</a:t>
            </a:r>
            <a:r>
              <a:rPr sz="3846" spc="-14" dirty="0">
                <a:latin typeface="Calibri"/>
                <a:cs typeface="Calibri"/>
              </a:rPr>
              <a:t> </a:t>
            </a:r>
            <a:r>
              <a:rPr sz="3846" spc="-7" dirty="0">
                <a:latin typeface="Calibri"/>
                <a:cs typeface="Calibri"/>
              </a:rPr>
              <a:t>most</a:t>
            </a:r>
            <a:r>
              <a:rPr sz="3846" spc="-14" dirty="0">
                <a:latin typeface="Calibri"/>
                <a:cs typeface="Calibri"/>
              </a:rPr>
              <a:t> </a:t>
            </a:r>
            <a:r>
              <a:rPr sz="3846" spc="-7" dirty="0">
                <a:latin typeface="Calibri"/>
                <a:cs typeface="Calibri"/>
              </a:rPr>
              <a:t>commonly </a:t>
            </a:r>
            <a:r>
              <a:rPr sz="3846" dirty="0">
                <a:latin typeface="Calibri"/>
                <a:cs typeface="Calibri"/>
              </a:rPr>
              <a:t>used</a:t>
            </a:r>
            <a:r>
              <a:rPr sz="3846" spc="-14" dirty="0">
                <a:latin typeface="Calibri"/>
                <a:cs typeface="Calibri"/>
              </a:rPr>
              <a:t> </a:t>
            </a:r>
            <a:r>
              <a:rPr sz="3846" spc="-7" dirty="0">
                <a:latin typeface="Calibri"/>
                <a:cs typeface="Calibri"/>
              </a:rPr>
              <a:t>method:</a:t>
            </a:r>
            <a:endParaRPr sz="3846" dirty="0">
              <a:latin typeface="Calibri"/>
              <a:cs typeface="Calibri"/>
            </a:endParaRPr>
          </a:p>
          <a:p>
            <a:pPr marL="959529" lvl="1" indent="-314028">
              <a:spcBef>
                <a:spcPts val="742"/>
              </a:spcBef>
              <a:buFont typeface="Times New Roman"/>
              <a:buChar char="•"/>
              <a:tabLst>
                <a:tab pos="959529" algn="l"/>
              </a:tabLst>
            </a:pPr>
            <a:r>
              <a:rPr sz="3297" spc="-7" dirty="0">
                <a:latin typeface="Calibri"/>
                <a:cs typeface="Calibri"/>
              </a:rPr>
              <a:t>Extended</a:t>
            </a:r>
            <a:r>
              <a:rPr sz="3297" spc="-14" dirty="0">
                <a:latin typeface="Calibri"/>
                <a:cs typeface="Calibri"/>
              </a:rPr>
              <a:t> </a:t>
            </a:r>
            <a:r>
              <a:rPr sz="3297" spc="-7" dirty="0">
                <a:latin typeface="Calibri"/>
                <a:cs typeface="Calibri"/>
              </a:rPr>
              <a:t>Interpolated </a:t>
            </a:r>
            <a:r>
              <a:rPr sz="3297" spc="-172" dirty="0">
                <a:latin typeface="Calibri"/>
                <a:cs typeface="Calibri"/>
              </a:rPr>
              <a:t>Kneser-­‐Ney</a:t>
            </a:r>
            <a:endParaRPr sz="3297" dirty="0">
              <a:latin typeface="Calibri"/>
              <a:cs typeface="Calibri"/>
            </a:endParaRPr>
          </a:p>
          <a:p>
            <a:pPr marL="488488" indent="-471042">
              <a:spcBef>
                <a:spcPts val="989"/>
              </a:spcBef>
              <a:buClr>
                <a:srgbClr val="CC0000"/>
              </a:buClr>
              <a:buFont typeface="Times New Roman"/>
              <a:buChar char="•"/>
              <a:tabLst>
                <a:tab pos="487615" algn="l"/>
                <a:tab pos="488488" algn="l"/>
              </a:tabLst>
            </a:pPr>
            <a:r>
              <a:rPr sz="3846" dirty="0">
                <a:latin typeface="Calibri"/>
                <a:cs typeface="Calibri"/>
              </a:rPr>
              <a:t>F</a:t>
            </a:r>
            <a:r>
              <a:rPr sz="3846" spc="-7" dirty="0">
                <a:latin typeface="Calibri"/>
                <a:cs typeface="Calibri"/>
              </a:rPr>
              <a:t>o</a:t>
            </a:r>
            <a:r>
              <a:rPr sz="3846" dirty="0">
                <a:latin typeface="Calibri"/>
                <a:cs typeface="Calibri"/>
              </a:rPr>
              <a:t>r ve</a:t>
            </a:r>
            <a:r>
              <a:rPr sz="3846" spc="-7" dirty="0">
                <a:latin typeface="Calibri"/>
                <a:cs typeface="Calibri"/>
              </a:rPr>
              <a:t>r</a:t>
            </a:r>
            <a:r>
              <a:rPr sz="3846" dirty="0">
                <a:latin typeface="Calibri"/>
                <a:cs typeface="Calibri"/>
              </a:rPr>
              <a:t>y la</a:t>
            </a:r>
            <a:r>
              <a:rPr sz="3846" spc="-7" dirty="0">
                <a:latin typeface="Calibri"/>
                <a:cs typeface="Calibri"/>
              </a:rPr>
              <a:t>r</a:t>
            </a:r>
            <a:r>
              <a:rPr sz="3846" dirty="0">
                <a:latin typeface="Calibri"/>
                <a:cs typeface="Calibri"/>
              </a:rPr>
              <a:t>ge N</a:t>
            </a:r>
            <a:r>
              <a:rPr sz="3846" spc="-790" dirty="0">
                <a:latin typeface="Calibri"/>
                <a:cs typeface="Calibri"/>
              </a:rPr>
              <a:t>-­‐</a:t>
            </a:r>
            <a:r>
              <a:rPr sz="3846" dirty="0">
                <a:latin typeface="Calibri"/>
                <a:cs typeface="Calibri"/>
              </a:rPr>
              <a:t>g</a:t>
            </a:r>
            <a:r>
              <a:rPr sz="3846" spc="-7" dirty="0">
                <a:latin typeface="Calibri"/>
                <a:cs typeface="Calibri"/>
              </a:rPr>
              <a:t>r</a:t>
            </a:r>
            <a:r>
              <a:rPr sz="3846" dirty="0">
                <a:latin typeface="Calibri"/>
                <a:cs typeface="Calibri"/>
              </a:rPr>
              <a:t>a</a:t>
            </a:r>
            <a:r>
              <a:rPr sz="3846" spc="-7" dirty="0">
                <a:latin typeface="Calibri"/>
                <a:cs typeface="Calibri"/>
              </a:rPr>
              <a:t>m</a:t>
            </a:r>
            <a:r>
              <a:rPr sz="3846" dirty="0">
                <a:latin typeface="Calibri"/>
                <a:cs typeface="Calibri"/>
              </a:rPr>
              <a:t>s like the </a:t>
            </a:r>
            <a:r>
              <a:rPr sz="3846" spc="-7" dirty="0">
                <a:latin typeface="Calibri"/>
                <a:cs typeface="Calibri"/>
              </a:rPr>
              <a:t>W</a:t>
            </a:r>
            <a:r>
              <a:rPr sz="3846" dirty="0">
                <a:latin typeface="Calibri"/>
                <a:cs typeface="Calibri"/>
              </a:rPr>
              <a:t>eb:</a:t>
            </a:r>
          </a:p>
          <a:p>
            <a:pPr marL="959529" lvl="1" indent="-314028">
              <a:spcBef>
                <a:spcPts val="742"/>
              </a:spcBef>
              <a:buFont typeface="Times New Roman"/>
              <a:buChar char="•"/>
              <a:tabLst>
                <a:tab pos="959529" algn="l"/>
              </a:tabLst>
            </a:pPr>
            <a:r>
              <a:rPr sz="3297" dirty="0">
                <a:latin typeface="Calibri"/>
                <a:cs typeface="Calibri"/>
              </a:rPr>
              <a:t>Stupid</a:t>
            </a:r>
            <a:r>
              <a:rPr sz="3297" spc="-55" dirty="0">
                <a:latin typeface="Calibri"/>
                <a:cs typeface="Calibri"/>
              </a:rPr>
              <a:t> </a:t>
            </a:r>
            <a:r>
              <a:rPr sz="3297" spc="-7" dirty="0">
                <a:latin typeface="Calibri"/>
                <a:cs typeface="Calibri"/>
              </a:rPr>
              <a:t>backoﬀ</a:t>
            </a:r>
            <a:endParaRPr sz="3297" dirty="0">
              <a:latin typeface="Calibri"/>
              <a:cs typeface="Calibri"/>
            </a:endParaRPr>
          </a:p>
        </p:txBody>
      </p:sp>
      <p:sp>
        <p:nvSpPr>
          <p:cNvPr id="8" name="object 8"/>
          <p:cNvSpPr txBox="1"/>
          <p:nvPr/>
        </p:nvSpPr>
        <p:spPr>
          <a:xfrm>
            <a:off x="1154954" y="6861139"/>
            <a:ext cx="282633" cy="313531"/>
          </a:xfrm>
          <a:prstGeom prst="rect">
            <a:avLst/>
          </a:prstGeom>
        </p:spPr>
        <p:txBody>
          <a:bodyPr vert="horz" wrap="square" lIns="0" tIns="17446" rIns="0" bIns="0" rtlCol="0">
            <a:spAutoFit/>
          </a:bodyPr>
          <a:lstStyle/>
          <a:p>
            <a:pPr marL="17446">
              <a:spcBef>
                <a:spcPts val="137"/>
              </a:spcBef>
            </a:pPr>
            <a:r>
              <a:rPr sz="1923" dirty="0">
                <a:latin typeface="Calibri"/>
                <a:cs typeface="Calibri"/>
              </a:rPr>
              <a:t>64</a:t>
            </a:r>
            <a:endParaRPr sz="1923">
              <a:latin typeface="Calibri"/>
              <a:cs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7" y="1145678"/>
            <a:ext cx="8100394" cy="694084"/>
          </a:xfrm>
          <a:prstGeom prst="rect">
            <a:avLst/>
          </a:prstGeom>
        </p:spPr>
        <p:txBody>
          <a:bodyPr vert="horz" wrap="square" lIns="0" tIns="17446" rIns="0" bIns="0" rtlCol="0">
            <a:spAutoFit/>
          </a:bodyPr>
          <a:lstStyle/>
          <a:p>
            <a:pPr marL="17446">
              <a:spcBef>
                <a:spcPts val="137"/>
              </a:spcBef>
            </a:pPr>
            <a:r>
              <a:rPr spc="-7" dirty="0"/>
              <a:t>Advanced</a:t>
            </a:r>
            <a:r>
              <a:rPr spc="-34" dirty="0"/>
              <a:t> </a:t>
            </a:r>
            <a:r>
              <a:rPr spc="-7" dirty="0"/>
              <a:t>Language</a:t>
            </a:r>
            <a:r>
              <a:rPr spc="-27" dirty="0"/>
              <a:t> </a:t>
            </a:r>
            <a:r>
              <a:rPr spc="-7" dirty="0"/>
              <a:t>Modeling</a:t>
            </a:r>
          </a:p>
        </p:txBody>
      </p:sp>
      <p:sp>
        <p:nvSpPr>
          <p:cNvPr id="7" name="object 7"/>
          <p:cNvSpPr txBox="1"/>
          <p:nvPr/>
        </p:nvSpPr>
        <p:spPr>
          <a:xfrm>
            <a:off x="1154954" y="2171530"/>
            <a:ext cx="8854081" cy="3260093"/>
          </a:xfrm>
          <a:prstGeom prst="rect">
            <a:avLst/>
          </a:prstGeom>
        </p:spPr>
        <p:txBody>
          <a:bodyPr vert="horz" wrap="square" lIns="0" tIns="101189" rIns="0" bIns="0" rtlCol="0">
            <a:spAutoFit/>
          </a:bodyPr>
          <a:lstStyle/>
          <a:p>
            <a:pPr marL="488488" indent="-471042">
              <a:spcBef>
                <a:spcPts val="797"/>
              </a:spcBef>
              <a:buClr>
                <a:srgbClr val="CC0000"/>
              </a:buClr>
              <a:buFont typeface="Times New Roman"/>
              <a:buChar char="•"/>
              <a:tabLst>
                <a:tab pos="487615" algn="l"/>
                <a:tab pos="488488" algn="l"/>
              </a:tabLst>
            </a:pPr>
            <a:r>
              <a:rPr sz="3297" spc="-7" dirty="0">
                <a:latin typeface="Calibri"/>
                <a:cs typeface="Calibri"/>
              </a:rPr>
              <a:t>Discriminative</a:t>
            </a:r>
            <a:r>
              <a:rPr sz="3297" spc="-27" dirty="0">
                <a:latin typeface="Calibri"/>
                <a:cs typeface="Calibri"/>
              </a:rPr>
              <a:t> </a:t>
            </a:r>
            <a:r>
              <a:rPr sz="3297" spc="-7" dirty="0">
                <a:latin typeface="Calibri"/>
                <a:cs typeface="Calibri"/>
              </a:rPr>
              <a:t>models:</a:t>
            </a:r>
            <a:endParaRPr sz="3297">
              <a:latin typeface="Calibri"/>
              <a:cs typeface="Calibri"/>
            </a:endParaRPr>
          </a:p>
          <a:p>
            <a:pPr marL="959529" marR="6978" lvl="1" indent="-314028">
              <a:lnSpc>
                <a:spcPct val="100800"/>
              </a:lnSpc>
              <a:spcBef>
                <a:spcPts val="522"/>
              </a:spcBef>
              <a:buFont typeface="Times New Roman"/>
              <a:buChar char="•"/>
              <a:tabLst>
                <a:tab pos="1038036" algn="l"/>
                <a:tab pos="1038909" algn="l"/>
              </a:tabLst>
            </a:pPr>
            <a:r>
              <a:rPr sz="2473" dirty="0"/>
              <a:t>	</a:t>
            </a:r>
            <a:r>
              <a:rPr sz="2747" dirty="0">
                <a:latin typeface="Calibri"/>
                <a:cs typeface="Calibri"/>
              </a:rPr>
              <a:t>ch</a:t>
            </a:r>
            <a:r>
              <a:rPr sz="2747" spc="-7" dirty="0">
                <a:latin typeface="Calibri"/>
                <a:cs typeface="Calibri"/>
              </a:rPr>
              <a:t>oo</a:t>
            </a:r>
            <a:r>
              <a:rPr sz="2747" dirty="0">
                <a:latin typeface="Calibri"/>
                <a:cs typeface="Calibri"/>
              </a:rPr>
              <a:t>se n</a:t>
            </a:r>
            <a:r>
              <a:rPr sz="2747" spc="-562" dirty="0">
                <a:latin typeface="Calibri"/>
                <a:cs typeface="Calibri"/>
              </a:rPr>
              <a:t>-­‐</a:t>
            </a:r>
            <a:r>
              <a:rPr sz="2747" dirty="0">
                <a:latin typeface="Calibri"/>
                <a:cs typeface="Calibri"/>
              </a:rPr>
              <a:t>g</a:t>
            </a:r>
            <a:r>
              <a:rPr sz="2747" spc="-7" dirty="0">
                <a:latin typeface="Calibri"/>
                <a:cs typeface="Calibri"/>
              </a:rPr>
              <a:t>r</a:t>
            </a:r>
            <a:r>
              <a:rPr sz="2747" dirty="0">
                <a:latin typeface="Calibri"/>
                <a:cs typeface="Calibri"/>
              </a:rPr>
              <a:t>am</a:t>
            </a:r>
            <a:r>
              <a:rPr sz="2747" spc="-7" dirty="0">
                <a:latin typeface="Calibri"/>
                <a:cs typeface="Calibri"/>
              </a:rPr>
              <a:t> w</a:t>
            </a:r>
            <a:r>
              <a:rPr sz="2747" dirty="0">
                <a:latin typeface="Calibri"/>
                <a:cs typeface="Calibri"/>
              </a:rPr>
              <a:t>eights to i</a:t>
            </a:r>
            <a:r>
              <a:rPr sz="2747" spc="-7" dirty="0">
                <a:latin typeface="Calibri"/>
                <a:cs typeface="Calibri"/>
              </a:rPr>
              <a:t>m</a:t>
            </a:r>
            <a:r>
              <a:rPr sz="2747" dirty="0">
                <a:latin typeface="Calibri"/>
                <a:cs typeface="Calibri"/>
              </a:rPr>
              <a:t>p</a:t>
            </a:r>
            <a:r>
              <a:rPr sz="2747" spc="-7" dirty="0">
                <a:latin typeface="Calibri"/>
                <a:cs typeface="Calibri"/>
              </a:rPr>
              <a:t>ro</a:t>
            </a:r>
            <a:r>
              <a:rPr sz="2747" dirty="0">
                <a:latin typeface="Calibri"/>
                <a:cs typeface="Calibri"/>
              </a:rPr>
              <a:t>ve a task, n</a:t>
            </a:r>
            <a:r>
              <a:rPr sz="2747" spc="-7" dirty="0">
                <a:latin typeface="Calibri"/>
                <a:cs typeface="Calibri"/>
              </a:rPr>
              <a:t>o</a:t>
            </a:r>
            <a:r>
              <a:rPr sz="2747" dirty="0">
                <a:latin typeface="Calibri"/>
                <a:cs typeface="Calibri"/>
              </a:rPr>
              <a:t>t to </a:t>
            </a:r>
            <a:r>
              <a:rPr sz="2747" spc="-14" dirty="0">
                <a:latin typeface="Calibri"/>
                <a:cs typeface="Calibri"/>
              </a:rPr>
              <a:t>fi</a:t>
            </a:r>
            <a:r>
              <a:rPr sz="2747" dirty="0">
                <a:latin typeface="Calibri"/>
                <a:cs typeface="Calibri"/>
              </a:rPr>
              <a:t>t the  </a:t>
            </a:r>
            <a:r>
              <a:rPr sz="2747" spc="-7" dirty="0">
                <a:latin typeface="Calibri"/>
                <a:cs typeface="Calibri"/>
              </a:rPr>
              <a:t>training </a:t>
            </a:r>
            <a:r>
              <a:rPr sz="2747" dirty="0">
                <a:latin typeface="Calibri"/>
                <a:cs typeface="Calibri"/>
              </a:rPr>
              <a:t>set</a:t>
            </a:r>
            <a:endParaRPr sz="2747">
              <a:latin typeface="Calibri"/>
              <a:cs typeface="Calibri"/>
            </a:endParaRPr>
          </a:p>
          <a:p>
            <a:pPr marL="488488" indent="-471042">
              <a:spcBef>
                <a:spcPts val="790"/>
              </a:spcBef>
              <a:buClr>
                <a:srgbClr val="CC0000"/>
              </a:buClr>
              <a:buFont typeface="Times New Roman"/>
              <a:buChar char="•"/>
              <a:tabLst>
                <a:tab pos="487615" algn="l"/>
                <a:tab pos="488488" algn="l"/>
              </a:tabLst>
            </a:pPr>
            <a:r>
              <a:rPr sz="3297" spc="-137" dirty="0">
                <a:latin typeface="Calibri"/>
                <a:cs typeface="Calibri"/>
              </a:rPr>
              <a:t>Parsing-­‐based</a:t>
            </a:r>
            <a:r>
              <a:rPr sz="3297" spc="-34" dirty="0">
                <a:latin typeface="Calibri"/>
                <a:cs typeface="Calibri"/>
              </a:rPr>
              <a:t> </a:t>
            </a:r>
            <a:r>
              <a:rPr sz="3297" spc="-7" dirty="0">
                <a:latin typeface="Calibri"/>
                <a:cs typeface="Calibri"/>
              </a:rPr>
              <a:t>models</a:t>
            </a:r>
            <a:endParaRPr sz="3297">
              <a:latin typeface="Calibri"/>
              <a:cs typeface="Calibri"/>
            </a:endParaRPr>
          </a:p>
          <a:p>
            <a:pPr marL="488488" indent="-471042">
              <a:spcBef>
                <a:spcPts val="852"/>
              </a:spcBef>
              <a:buClr>
                <a:srgbClr val="CC0000"/>
              </a:buClr>
              <a:buFont typeface="Times New Roman"/>
              <a:buChar char="•"/>
              <a:tabLst>
                <a:tab pos="487615" algn="l"/>
                <a:tab pos="488488" algn="l"/>
              </a:tabLst>
            </a:pPr>
            <a:r>
              <a:rPr sz="3297" spc="-7" dirty="0">
                <a:latin typeface="Calibri"/>
                <a:cs typeface="Calibri"/>
              </a:rPr>
              <a:t>Caching</a:t>
            </a:r>
            <a:r>
              <a:rPr sz="3297" spc="-41" dirty="0">
                <a:latin typeface="Calibri"/>
                <a:cs typeface="Calibri"/>
              </a:rPr>
              <a:t> </a:t>
            </a:r>
            <a:r>
              <a:rPr sz="3297" dirty="0">
                <a:latin typeface="Calibri"/>
                <a:cs typeface="Calibri"/>
              </a:rPr>
              <a:t>Models</a:t>
            </a:r>
            <a:endParaRPr sz="3297">
              <a:latin typeface="Calibri"/>
              <a:cs typeface="Calibri"/>
            </a:endParaRPr>
          </a:p>
          <a:p>
            <a:pPr marL="959529" lvl="1" indent="-314028">
              <a:spcBef>
                <a:spcPts val="584"/>
              </a:spcBef>
              <a:buFont typeface="Times New Roman"/>
              <a:buChar char="•"/>
              <a:tabLst>
                <a:tab pos="958657" algn="l"/>
                <a:tab pos="959529" algn="l"/>
              </a:tabLst>
            </a:pPr>
            <a:r>
              <a:rPr sz="2747" spc="-7" dirty="0">
                <a:latin typeface="Calibri"/>
                <a:cs typeface="Calibri"/>
              </a:rPr>
              <a:t>Recently </a:t>
            </a:r>
            <a:r>
              <a:rPr sz="2747" dirty="0">
                <a:latin typeface="Calibri"/>
                <a:cs typeface="Calibri"/>
              </a:rPr>
              <a:t>used</a:t>
            </a:r>
            <a:r>
              <a:rPr sz="2747" spc="-7" dirty="0">
                <a:latin typeface="Calibri"/>
                <a:cs typeface="Calibri"/>
              </a:rPr>
              <a:t> words are more </a:t>
            </a:r>
            <a:r>
              <a:rPr sz="2747" dirty="0">
                <a:latin typeface="Calibri"/>
                <a:cs typeface="Calibri"/>
              </a:rPr>
              <a:t>likely</a:t>
            </a:r>
            <a:r>
              <a:rPr sz="2747" spc="-7" dirty="0">
                <a:latin typeface="Calibri"/>
                <a:cs typeface="Calibri"/>
              </a:rPr>
              <a:t> </a:t>
            </a:r>
            <a:r>
              <a:rPr sz="2747" dirty="0">
                <a:latin typeface="Calibri"/>
                <a:cs typeface="Calibri"/>
              </a:rPr>
              <a:t>to</a:t>
            </a:r>
            <a:r>
              <a:rPr sz="2747" spc="-7" dirty="0">
                <a:latin typeface="Calibri"/>
                <a:cs typeface="Calibri"/>
              </a:rPr>
              <a:t> </a:t>
            </a:r>
            <a:r>
              <a:rPr sz="2747" dirty="0">
                <a:latin typeface="Calibri"/>
                <a:cs typeface="Calibri"/>
              </a:rPr>
              <a:t>appear</a:t>
            </a:r>
            <a:endParaRPr sz="2747">
              <a:latin typeface="Calibri"/>
              <a:cs typeface="Calibri"/>
            </a:endParaRPr>
          </a:p>
        </p:txBody>
      </p:sp>
      <p:sp>
        <p:nvSpPr>
          <p:cNvPr id="8" name="object 8"/>
          <p:cNvSpPr txBox="1"/>
          <p:nvPr/>
        </p:nvSpPr>
        <p:spPr>
          <a:xfrm>
            <a:off x="1783027" y="6473827"/>
            <a:ext cx="8416175" cy="440361"/>
          </a:xfrm>
          <a:prstGeom prst="rect">
            <a:avLst/>
          </a:prstGeom>
        </p:spPr>
        <p:txBody>
          <a:bodyPr vert="horz" wrap="square" lIns="0" tIns="17446" rIns="0" bIns="0" rtlCol="0">
            <a:spAutoFit/>
          </a:bodyPr>
          <a:lstStyle/>
          <a:p>
            <a:pPr marL="331474" indent="-314028">
              <a:spcBef>
                <a:spcPts val="137"/>
              </a:spcBef>
              <a:buFont typeface="Times New Roman"/>
              <a:buChar char="•"/>
              <a:tabLst>
                <a:tab pos="330602" algn="l"/>
                <a:tab pos="331474" algn="l"/>
              </a:tabLst>
            </a:pPr>
            <a:r>
              <a:rPr sz="2747" spc="-7" dirty="0">
                <a:latin typeface="Calibri"/>
                <a:cs typeface="Calibri"/>
              </a:rPr>
              <a:t>These</a:t>
            </a:r>
            <a:r>
              <a:rPr sz="2747" spc="-14" dirty="0">
                <a:latin typeface="Calibri"/>
                <a:cs typeface="Calibri"/>
              </a:rPr>
              <a:t> </a:t>
            </a:r>
            <a:r>
              <a:rPr sz="2747" spc="-7" dirty="0">
                <a:latin typeface="Calibri"/>
                <a:cs typeface="Calibri"/>
              </a:rPr>
              <a:t>perform</a:t>
            </a:r>
            <a:r>
              <a:rPr sz="2747" spc="-14" dirty="0">
                <a:latin typeface="Calibri"/>
                <a:cs typeface="Calibri"/>
              </a:rPr>
              <a:t> </a:t>
            </a:r>
            <a:r>
              <a:rPr sz="2747" spc="-7" dirty="0">
                <a:latin typeface="Calibri"/>
                <a:cs typeface="Calibri"/>
              </a:rPr>
              <a:t>very</a:t>
            </a:r>
            <a:r>
              <a:rPr sz="2747" spc="-14" dirty="0">
                <a:latin typeface="Calibri"/>
                <a:cs typeface="Calibri"/>
              </a:rPr>
              <a:t> </a:t>
            </a:r>
            <a:r>
              <a:rPr sz="2747" spc="-7" dirty="0">
                <a:latin typeface="Calibri"/>
                <a:cs typeface="Calibri"/>
              </a:rPr>
              <a:t>poorly</a:t>
            </a:r>
            <a:r>
              <a:rPr sz="2747" spc="-14" dirty="0">
                <a:latin typeface="Calibri"/>
                <a:cs typeface="Calibri"/>
              </a:rPr>
              <a:t> </a:t>
            </a:r>
            <a:r>
              <a:rPr sz="2747" dirty="0">
                <a:latin typeface="Calibri"/>
                <a:cs typeface="Calibri"/>
              </a:rPr>
              <a:t>for</a:t>
            </a:r>
            <a:r>
              <a:rPr sz="2747" spc="-7" dirty="0">
                <a:latin typeface="Calibri"/>
                <a:cs typeface="Calibri"/>
              </a:rPr>
              <a:t> speech recognition</a:t>
            </a:r>
            <a:r>
              <a:rPr sz="2747" spc="-14" dirty="0">
                <a:latin typeface="Calibri"/>
                <a:cs typeface="Calibri"/>
              </a:rPr>
              <a:t> </a:t>
            </a:r>
            <a:r>
              <a:rPr sz="2747" spc="-7" dirty="0">
                <a:latin typeface="Calibri"/>
                <a:cs typeface="Calibri"/>
              </a:rPr>
              <a:t>(why?)</a:t>
            </a:r>
            <a:endParaRPr sz="2747">
              <a:latin typeface="Calibri"/>
              <a:cs typeface="Calibri"/>
            </a:endParaRPr>
          </a:p>
        </p:txBody>
      </p:sp>
      <p:sp>
        <p:nvSpPr>
          <p:cNvPr id="9" name="object 9"/>
          <p:cNvSpPr txBox="1"/>
          <p:nvPr/>
        </p:nvSpPr>
        <p:spPr>
          <a:xfrm>
            <a:off x="2928529" y="5696907"/>
            <a:ext cx="4302298" cy="390231"/>
          </a:xfrm>
          <a:prstGeom prst="rect">
            <a:avLst/>
          </a:prstGeom>
        </p:spPr>
        <p:txBody>
          <a:bodyPr vert="horz" wrap="square" lIns="0" tIns="20062" rIns="0" bIns="0" rtlCol="0">
            <a:spAutoFit/>
          </a:bodyPr>
          <a:lstStyle/>
          <a:p>
            <a:pPr marL="52338">
              <a:spcBef>
                <a:spcPts val="157"/>
              </a:spcBef>
            </a:pPr>
            <a:r>
              <a:rPr sz="2335" i="1" spc="-364" dirty="0">
                <a:latin typeface="Times New Roman"/>
                <a:cs typeface="Times New Roman"/>
              </a:rPr>
              <a:t>P</a:t>
            </a:r>
            <a:r>
              <a:rPr sz="2061" i="1" spc="-30" baseline="-25000" dirty="0">
                <a:latin typeface="Times New Roman"/>
                <a:cs typeface="Times New Roman"/>
              </a:rPr>
              <a:t>C</a:t>
            </a:r>
            <a:r>
              <a:rPr sz="2061" i="1" spc="-41" baseline="-25000" dirty="0">
                <a:latin typeface="Times New Roman"/>
                <a:cs typeface="Times New Roman"/>
              </a:rPr>
              <a:t>A</a:t>
            </a:r>
            <a:r>
              <a:rPr sz="2061" i="1" spc="-30" baseline="-25000" dirty="0">
                <a:latin typeface="Times New Roman"/>
                <a:cs typeface="Times New Roman"/>
              </a:rPr>
              <a:t>C</a:t>
            </a:r>
            <a:r>
              <a:rPr sz="2061" i="1" spc="-51" baseline="-25000" dirty="0">
                <a:latin typeface="Times New Roman"/>
                <a:cs typeface="Times New Roman"/>
              </a:rPr>
              <a:t>H</a:t>
            </a:r>
            <a:r>
              <a:rPr sz="2061" i="1" spc="-21" baseline="-25000" dirty="0">
                <a:latin typeface="Times New Roman"/>
                <a:cs typeface="Times New Roman"/>
              </a:rPr>
              <a:t>E</a:t>
            </a:r>
            <a:r>
              <a:rPr sz="2061" i="1" spc="-71" baseline="-25000" dirty="0">
                <a:latin typeface="Times New Roman"/>
                <a:cs typeface="Times New Roman"/>
              </a:rPr>
              <a:t> </a:t>
            </a:r>
            <a:r>
              <a:rPr sz="2335" spc="62" dirty="0">
                <a:latin typeface="Times New Roman"/>
                <a:cs typeface="Times New Roman"/>
              </a:rPr>
              <a:t>(</a:t>
            </a:r>
            <a:r>
              <a:rPr sz="2335" i="1" spc="7" dirty="0">
                <a:latin typeface="Times New Roman"/>
                <a:cs typeface="Times New Roman"/>
              </a:rPr>
              <a:t>w</a:t>
            </a:r>
            <a:r>
              <a:rPr sz="2335" i="1" spc="-151" dirty="0">
                <a:latin typeface="Times New Roman"/>
                <a:cs typeface="Times New Roman"/>
              </a:rPr>
              <a:t> </a:t>
            </a:r>
            <a:r>
              <a:rPr sz="2335" dirty="0">
                <a:latin typeface="Times New Roman"/>
                <a:cs typeface="Times New Roman"/>
              </a:rPr>
              <a:t>|</a:t>
            </a:r>
            <a:r>
              <a:rPr sz="2335" spc="-199" dirty="0">
                <a:latin typeface="Times New Roman"/>
                <a:cs typeface="Times New Roman"/>
              </a:rPr>
              <a:t> </a:t>
            </a:r>
            <a:r>
              <a:rPr sz="2335" i="1" spc="7" dirty="0">
                <a:latin typeface="Times New Roman"/>
                <a:cs typeface="Times New Roman"/>
              </a:rPr>
              <a:t>h</a:t>
            </a:r>
            <a:r>
              <a:rPr sz="2335" i="1" spc="-7" dirty="0">
                <a:latin typeface="Times New Roman"/>
                <a:cs typeface="Times New Roman"/>
              </a:rPr>
              <a:t>ist</a:t>
            </a:r>
            <a:r>
              <a:rPr sz="2335" i="1" spc="7" dirty="0">
                <a:latin typeface="Times New Roman"/>
                <a:cs typeface="Times New Roman"/>
              </a:rPr>
              <a:t>o</a:t>
            </a:r>
            <a:r>
              <a:rPr sz="2335" i="1" dirty="0">
                <a:latin typeface="Times New Roman"/>
                <a:cs typeface="Times New Roman"/>
              </a:rPr>
              <a:t>r</a:t>
            </a:r>
            <a:r>
              <a:rPr sz="2335" i="1" spc="76" dirty="0">
                <a:latin typeface="Times New Roman"/>
                <a:cs typeface="Times New Roman"/>
              </a:rPr>
              <a:t>y</a:t>
            </a:r>
            <a:r>
              <a:rPr sz="2335" spc="7" dirty="0">
                <a:latin typeface="Times New Roman"/>
                <a:cs typeface="Times New Roman"/>
              </a:rPr>
              <a:t>)</a:t>
            </a:r>
            <a:r>
              <a:rPr sz="2335" spc="-185" dirty="0">
                <a:latin typeface="Times New Roman"/>
                <a:cs typeface="Times New Roman"/>
              </a:rPr>
              <a:t> </a:t>
            </a:r>
            <a:r>
              <a:rPr sz="2335" spc="7" dirty="0">
                <a:latin typeface="Symbol"/>
                <a:cs typeface="Symbol"/>
              </a:rPr>
              <a:t></a:t>
            </a:r>
            <a:r>
              <a:rPr sz="2335" spc="-89" dirty="0">
                <a:latin typeface="Times New Roman"/>
                <a:cs typeface="Times New Roman"/>
              </a:rPr>
              <a:t> </a:t>
            </a:r>
            <a:r>
              <a:rPr sz="2404" spc="124" dirty="0">
                <a:latin typeface="Symbol"/>
                <a:cs typeface="Symbol"/>
              </a:rPr>
              <a:t></a:t>
            </a:r>
            <a:r>
              <a:rPr sz="2335" i="1" spc="76" dirty="0">
                <a:latin typeface="Times New Roman"/>
                <a:cs typeface="Times New Roman"/>
              </a:rPr>
              <a:t>P</a:t>
            </a:r>
            <a:r>
              <a:rPr sz="2335" spc="62" dirty="0">
                <a:latin typeface="Times New Roman"/>
                <a:cs typeface="Times New Roman"/>
              </a:rPr>
              <a:t>(</a:t>
            </a:r>
            <a:r>
              <a:rPr sz="2335" i="1" spc="-41" dirty="0">
                <a:latin typeface="Times New Roman"/>
                <a:cs typeface="Times New Roman"/>
              </a:rPr>
              <a:t>w</a:t>
            </a:r>
            <a:r>
              <a:rPr sz="2061" i="1" spc="-10" baseline="-25000" dirty="0">
                <a:latin typeface="Times New Roman"/>
                <a:cs typeface="Times New Roman"/>
              </a:rPr>
              <a:t>i</a:t>
            </a:r>
            <a:r>
              <a:rPr sz="2061" i="1" baseline="-25000" dirty="0">
                <a:latin typeface="Times New Roman"/>
                <a:cs typeface="Times New Roman"/>
              </a:rPr>
              <a:t> </a:t>
            </a:r>
            <a:r>
              <a:rPr sz="2061" i="1" spc="-71" baseline="-25000" dirty="0">
                <a:latin typeface="Times New Roman"/>
                <a:cs typeface="Times New Roman"/>
              </a:rPr>
              <a:t> </a:t>
            </a:r>
            <a:r>
              <a:rPr sz="2335" dirty="0">
                <a:latin typeface="Times New Roman"/>
                <a:cs typeface="Times New Roman"/>
              </a:rPr>
              <a:t>|</a:t>
            </a:r>
            <a:r>
              <a:rPr sz="2335" spc="-179" dirty="0">
                <a:latin typeface="Times New Roman"/>
                <a:cs typeface="Times New Roman"/>
              </a:rPr>
              <a:t> </a:t>
            </a:r>
            <a:r>
              <a:rPr sz="2335" i="1" spc="-41" dirty="0">
                <a:latin typeface="Times New Roman"/>
                <a:cs typeface="Times New Roman"/>
              </a:rPr>
              <a:t>w</a:t>
            </a:r>
            <a:r>
              <a:rPr sz="2061" i="1" spc="10" baseline="-25000" dirty="0">
                <a:latin typeface="Times New Roman"/>
                <a:cs typeface="Times New Roman"/>
              </a:rPr>
              <a:t>i</a:t>
            </a:r>
            <a:r>
              <a:rPr sz="2061" spc="10" baseline="-25000" dirty="0">
                <a:latin typeface="Symbol"/>
                <a:cs typeface="Symbol"/>
              </a:rPr>
              <a:t></a:t>
            </a:r>
            <a:r>
              <a:rPr sz="2061" spc="-10" baseline="-25000" dirty="0">
                <a:latin typeface="Times New Roman"/>
                <a:cs typeface="Times New Roman"/>
              </a:rPr>
              <a:t>2</a:t>
            </a:r>
            <a:r>
              <a:rPr sz="2061" spc="-339" baseline="-25000" dirty="0">
                <a:latin typeface="Times New Roman"/>
                <a:cs typeface="Times New Roman"/>
              </a:rPr>
              <a:t> </a:t>
            </a:r>
            <a:r>
              <a:rPr sz="2335" i="1" spc="-41" dirty="0">
                <a:latin typeface="Times New Roman"/>
                <a:cs typeface="Times New Roman"/>
              </a:rPr>
              <a:t>w</a:t>
            </a:r>
            <a:r>
              <a:rPr sz="2061" i="1" spc="10" baseline="-25000" dirty="0">
                <a:latin typeface="Times New Roman"/>
                <a:cs typeface="Times New Roman"/>
              </a:rPr>
              <a:t>i</a:t>
            </a:r>
            <a:r>
              <a:rPr sz="2061" spc="-185" baseline="-25000" dirty="0">
                <a:latin typeface="Symbol"/>
                <a:cs typeface="Symbol"/>
              </a:rPr>
              <a:t></a:t>
            </a:r>
            <a:r>
              <a:rPr sz="2061" spc="-10" baseline="-25000" dirty="0">
                <a:latin typeface="Times New Roman"/>
                <a:cs typeface="Times New Roman"/>
              </a:rPr>
              <a:t>1</a:t>
            </a:r>
            <a:endParaRPr sz="2061" baseline="-25000">
              <a:latin typeface="Times New Roman"/>
              <a:cs typeface="Times New Roman"/>
            </a:endParaRPr>
          </a:p>
        </p:txBody>
      </p:sp>
      <p:sp>
        <p:nvSpPr>
          <p:cNvPr id="10" name="object 10"/>
          <p:cNvSpPr txBox="1"/>
          <p:nvPr/>
        </p:nvSpPr>
        <p:spPr>
          <a:xfrm>
            <a:off x="7145959" y="5516837"/>
            <a:ext cx="2963282" cy="390231"/>
          </a:xfrm>
          <a:prstGeom prst="rect">
            <a:avLst/>
          </a:prstGeom>
        </p:spPr>
        <p:txBody>
          <a:bodyPr vert="horz" wrap="square" lIns="0" tIns="20062" rIns="0" bIns="0" rtlCol="0">
            <a:spAutoFit/>
          </a:bodyPr>
          <a:lstStyle/>
          <a:p>
            <a:pPr marL="52338">
              <a:spcBef>
                <a:spcPts val="157"/>
              </a:spcBef>
            </a:pPr>
            <a:r>
              <a:rPr sz="3503" spc="10" baseline="-34313" dirty="0">
                <a:latin typeface="Times New Roman"/>
                <a:cs typeface="Times New Roman"/>
              </a:rPr>
              <a:t>)</a:t>
            </a:r>
            <a:r>
              <a:rPr sz="3503" spc="-474" baseline="-34313" dirty="0">
                <a:latin typeface="Times New Roman"/>
                <a:cs typeface="Times New Roman"/>
              </a:rPr>
              <a:t> </a:t>
            </a:r>
            <a:r>
              <a:rPr sz="3503" spc="10" baseline="-34313" dirty="0">
                <a:latin typeface="Symbol"/>
                <a:cs typeface="Symbol"/>
              </a:rPr>
              <a:t></a:t>
            </a:r>
            <a:r>
              <a:rPr sz="3503" spc="-412" baseline="-34313" dirty="0">
                <a:latin typeface="Times New Roman"/>
                <a:cs typeface="Times New Roman"/>
              </a:rPr>
              <a:t> </a:t>
            </a:r>
            <a:r>
              <a:rPr sz="3503" spc="-277" baseline="-34313" dirty="0">
                <a:latin typeface="Times New Roman"/>
                <a:cs typeface="Times New Roman"/>
              </a:rPr>
              <a:t>(</a:t>
            </a:r>
            <a:r>
              <a:rPr sz="3503" spc="268" baseline="-34313" dirty="0">
                <a:latin typeface="Times New Roman"/>
                <a:cs typeface="Times New Roman"/>
              </a:rPr>
              <a:t>1</a:t>
            </a:r>
            <a:r>
              <a:rPr sz="3503" spc="10" baseline="-34313" dirty="0">
                <a:latin typeface="Symbol"/>
                <a:cs typeface="Symbol"/>
              </a:rPr>
              <a:t></a:t>
            </a:r>
            <a:r>
              <a:rPr sz="3503" spc="-309" baseline="-34313" dirty="0">
                <a:latin typeface="Times New Roman"/>
                <a:cs typeface="Times New Roman"/>
              </a:rPr>
              <a:t> </a:t>
            </a:r>
            <a:r>
              <a:rPr sz="3606" spc="236" baseline="-33333" dirty="0">
                <a:latin typeface="Symbol"/>
                <a:cs typeface="Symbol"/>
              </a:rPr>
              <a:t></a:t>
            </a:r>
            <a:r>
              <a:rPr sz="3503" spc="10" baseline="-34313" dirty="0">
                <a:latin typeface="Times New Roman"/>
                <a:cs typeface="Times New Roman"/>
              </a:rPr>
              <a:t>)</a:t>
            </a:r>
            <a:r>
              <a:rPr sz="3503" spc="-339" baseline="-34313" dirty="0">
                <a:latin typeface="Times New Roman"/>
                <a:cs typeface="Times New Roman"/>
              </a:rPr>
              <a:t> </a:t>
            </a:r>
            <a:r>
              <a:rPr sz="2335" i="1" u="sng" spc="34" dirty="0">
                <a:uFill>
                  <a:solidFill>
                    <a:srgbClr val="000000"/>
                  </a:solidFill>
                </a:uFill>
                <a:latin typeface="Times New Roman"/>
                <a:cs typeface="Times New Roman"/>
              </a:rPr>
              <a:t>c</a:t>
            </a:r>
            <a:r>
              <a:rPr sz="2335" u="sng" spc="62" dirty="0">
                <a:uFill>
                  <a:solidFill>
                    <a:srgbClr val="000000"/>
                  </a:solidFill>
                </a:uFill>
                <a:latin typeface="Times New Roman"/>
                <a:cs typeface="Times New Roman"/>
              </a:rPr>
              <a:t>(</a:t>
            </a:r>
            <a:r>
              <a:rPr sz="2335" i="1" u="sng" spc="7" dirty="0">
                <a:uFill>
                  <a:solidFill>
                    <a:srgbClr val="000000"/>
                  </a:solidFill>
                </a:uFill>
                <a:latin typeface="Times New Roman"/>
                <a:cs typeface="Times New Roman"/>
              </a:rPr>
              <a:t>w</a:t>
            </a:r>
            <a:r>
              <a:rPr sz="2335" i="1" u="sng" spc="-69" dirty="0">
                <a:uFill>
                  <a:solidFill>
                    <a:srgbClr val="000000"/>
                  </a:solidFill>
                </a:uFill>
                <a:latin typeface="Times New Roman"/>
                <a:cs typeface="Times New Roman"/>
              </a:rPr>
              <a:t> </a:t>
            </a:r>
            <a:r>
              <a:rPr sz="2335" u="sng" spc="14" dirty="0">
                <a:uFill>
                  <a:solidFill>
                    <a:srgbClr val="000000"/>
                  </a:solidFill>
                </a:uFill>
                <a:latin typeface="Symbol"/>
                <a:cs typeface="Symbol"/>
              </a:rPr>
              <a:t></a:t>
            </a:r>
            <a:r>
              <a:rPr sz="2335" u="sng" spc="-62" dirty="0">
                <a:uFill>
                  <a:solidFill>
                    <a:srgbClr val="000000"/>
                  </a:solidFill>
                </a:uFill>
                <a:latin typeface="Times New Roman"/>
                <a:cs typeface="Times New Roman"/>
              </a:rPr>
              <a:t> </a:t>
            </a:r>
            <a:r>
              <a:rPr sz="2335" i="1" u="sng" spc="7" dirty="0">
                <a:uFill>
                  <a:solidFill>
                    <a:srgbClr val="000000"/>
                  </a:solidFill>
                </a:uFill>
                <a:latin typeface="Times New Roman"/>
                <a:cs typeface="Times New Roman"/>
              </a:rPr>
              <a:t>h</a:t>
            </a:r>
            <a:r>
              <a:rPr sz="2335" i="1" u="sng" spc="-7" dirty="0">
                <a:uFill>
                  <a:solidFill>
                    <a:srgbClr val="000000"/>
                  </a:solidFill>
                </a:uFill>
                <a:latin typeface="Times New Roman"/>
                <a:cs typeface="Times New Roman"/>
              </a:rPr>
              <a:t>ist</a:t>
            </a:r>
            <a:r>
              <a:rPr sz="2335" i="1" u="sng" spc="7" dirty="0">
                <a:uFill>
                  <a:solidFill>
                    <a:srgbClr val="000000"/>
                  </a:solidFill>
                </a:uFill>
                <a:latin typeface="Times New Roman"/>
                <a:cs typeface="Times New Roman"/>
              </a:rPr>
              <a:t>o</a:t>
            </a:r>
            <a:r>
              <a:rPr sz="2335" i="1" u="sng" dirty="0">
                <a:uFill>
                  <a:solidFill>
                    <a:srgbClr val="000000"/>
                  </a:solidFill>
                </a:uFill>
                <a:latin typeface="Times New Roman"/>
                <a:cs typeface="Times New Roman"/>
              </a:rPr>
              <a:t>r</a:t>
            </a:r>
            <a:r>
              <a:rPr sz="2335" i="1" u="sng" spc="76" dirty="0">
                <a:uFill>
                  <a:solidFill>
                    <a:srgbClr val="000000"/>
                  </a:solidFill>
                </a:uFill>
                <a:latin typeface="Times New Roman"/>
                <a:cs typeface="Times New Roman"/>
              </a:rPr>
              <a:t>y</a:t>
            </a:r>
            <a:r>
              <a:rPr sz="2335" u="sng" spc="7" dirty="0">
                <a:uFill>
                  <a:solidFill>
                    <a:srgbClr val="000000"/>
                  </a:solidFill>
                </a:uFill>
                <a:latin typeface="Times New Roman"/>
                <a:cs typeface="Times New Roman"/>
              </a:rPr>
              <a:t>)</a:t>
            </a:r>
            <a:endParaRPr sz="2335">
              <a:latin typeface="Times New Roman"/>
              <a:cs typeface="Times New Roman"/>
            </a:endParaRPr>
          </a:p>
        </p:txBody>
      </p:sp>
      <p:sp>
        <p:nvSpPr>
          <p:cNvPr id="11" name="object 11"/>
          <p:cNvSpPr txBox="1"/>
          <p:nvPr/>
        </p:nvSpPr>
        <p:spPr>
          <a:xfrm>
            <a:off x="8647173" y="5944642"/>
            <a:ext cx="1088659" cy="379587"/>
          </a:xfrm>
          <a:prstGeom prst="rect">
            <a:avLst/>
          </a:prstGeom>
        </p:spPr>
        <p:txBody>
          <a:bodyPr vert="horz" wrap="square" lIns="0" tIns="20062" rIns="0" bIns="0" rtlCol="0">
            <a:spAutoFit/>
          </a:bodyPr>
          <a:lstStyle/>
          <a:p>
            <a:pPr marL="17446">
              <a:spcBef>
                <a:spcPts val="157"/>
              </a:spcBef>
            </a:pPr>
            <a:r>
              <a:rPr sz="2335" dirty="0">
                <a:latin typeface="Times New Roman"/>
                <a:cs typeface="Times New Roman"/>
              </a:rPr>
              <a:t>|</a:t>
            </a:r>
            <a:r>
              <a:rPr sz="2335" spc="-199" dirty="0">
                <a:latin typeface="Times New Roman"/>
                <a:cs typeface="Times New Roman"/>
              </a:rPr>
              <a:t> </a:t>
            </a:r>
            <a:r>
              <a:rPr sz="2335" i="1" spc="7" dirty="0">
                <a:latin typeface="Times New Roman"/>
                <a:cs typeface="Times New Roman"/>
              </a:rPr>
              <a:t>h</a:t>
            </a:r>
            <a:r>
              <a:rPr sz="2335" i="1" spc="-7" dirty="0">
                <a:latin typeface="Times New Roman"/>
                <a:cs typeface="Times New Roman"/>
              </a:rPr>
              <a:t>ist</a:t>
            </a:r>
            <a:r>
              <a:rPr sz="2335" i="1" spc="7" dirty="0">
                <a:latin typeface="Times New Roman"/>
                <a:cs typeface="Times New Roman"/>
              </a:rPr>
              <a:t>o</a:t>
            </a:r>
            <a:r>
              <a:rPr sz="2335" i="1" dirty="0">
                <a:latin typeface="Times New Roman"/>
                <a:cs typeface="Times New Roman"/>
              </a:rPr>
              <a:t>r</a:t>
            </a:r>
            <a:r>
              <a:rPr sz="2335" i="1" spc="7" dirty="0">
                <a:latin typeface="Times New Roman"/>
                <a:cs typeface="Times New Roman"/>
              </a:rPr>
              <a:t>y</a:t>
            </a:r>
            <a:r>
              <a:rPr sz="2335" i="1" spc="-151" dirty="0">
                <a:latin typeface="Times New Roman"/>
                <a:cs typeface="Times New Roman"/>
              </a:rPr>
              <a:t> </a:t>
            </a:r>
            <a:r>
              <a:rPr sz="2335" dirty="0">
                <a:latin typeface="Times New Roman"/>
                <a:cs typeface="Times New Roman"/>
              </a:rPr>
              <a:t>|</a:t>
            </a:r>
            <a:endParaRPr sz="2335">
              <a:latin typeface="Times New Roman"/>
              <a:cs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subTitle" idx="4"/>
          </p:nvPr>
        </p:nvSpPr>
        <p:spPr>
          <a:xfrm>
            <a:off x="1506840" y="4198809"/>
            <a:ext cx="15968070" cy="1362499"/>
          </a:xfrm>
          <a:prstGeom prst="rect">
            <a:avLst/>
          </a:prstGeom>
        </p:spPr>
        <p:txBody>
          <a:bodyPr vert="horz" wrap="square" lIns="0" tIns="6106" rIns="0" bIns="0" rtlCol="0">
            <a:spAutoFit/>
          </a:bodyPr>
          <a:lstStyle/>
          <a:p>
            <a:pPr marL="6210772" marR="6978" indent="-310539">
              <a:lnSpc>
                <a:spcPct val="101600"/>
              </a:lnSpc>
              <a:spcBef>
                <a:spcPts val="48"/>
              </a:spcBef>
            </a:pPr>
            <a:r>
              <a:rPr spc="-7" dirty="0">
                <a:solidFill>
                  <a:srgbClr val="A50021"/>
                </a:solidFill>
                <a:latin typeface="Calibri"/>
                <a:cs typeface="Calibri"/>
              </a:rPr>
              <a:t>Interpolation,</a:t>
            </a:r>
            <a:r>
              <a:rPr spc="-76" dirty="0">
                <a:solidFill>
                  <a:srgbClr val="A50021"/>
                </a:solidFill>
                <a:latin typeface="Calibri"/>
                <a:cs typeface="Calibri"/>
              </a:rPr>
              <a:t> </a:t>
            </a:r>
            <a:endParaRPr lang="en-US" spc="-76" dirty="0">
              <a:solidFill>
                <a:srgbClr val="A50021"/>
              </a:solidFill>
              <a:latin typeface="Calibri"/>
              <a:cs typeface="Calibri"/>
            </a:endParaRPr>
          </a:p>
          <a:p>
            <a:pPr marL="6210772" marR="6978" indent="-310539">
              <a:lnSpc>
                <a:spcPct val="101600"/>
              </a:lnSpc>
              <a:spcBef>
                <a:spcPts val="48"/>
              </a:spcBef>
            </a:pPr>
            <a:r>
              <a:rPr spc="-7" dirty="0">
                <a:solidFill>
                  <a:srgbClr val="A50021"/>
                </a:solidFill>
                <a:latin typeface="Calibri"/>
                <a:cs typeface="Calibri"/>
              </a:rPr>
              <a:t>Backoﬀ, </a:t>
            </a:r>
            <a:r>
              <a:rPr spc="-975" dirty="0">
                <a:solidFill>
                  <a:srgbClr val="A50021"/>
                </a:solidFill>
                <a:latin typeface="Calibri"/>
                <a:cs typeface="Calibri"/>
              </a:rPr>
              <a:t> </a:t>
            </a:r>
            <a:r>
              <a:rPr dirty="0">
                <a:solidFill>
                  <a:srgbClr val="A50021"/>
                </a:solidFill>
                <a:latin typeface="Calibri"/>
                <a:cs typeface="Calibri"/>
              </a:rPr>
              <a:t>and </a:t>
            </a:r>
            <a:r>
              <a:rPr spc="-7" dirty="0">
                <a:solidFill>
                  <a:srgbClr val="A50021"/>
                </a:solidFill>
                <a:latin typeface="Calibri"/>
                <a:cs typeface="Calibri"/>
              </a:rPr>
              <a:t>W</a:t>
            </a:r>
            <a:r>
              <a:rPr dirty="0">
                <a:solidFill>
                  <a:srgbClr val="A50021"/>
                </a:solidFill>
                <a:latin typeface="Calibri"/>
                <a:cs typeface="Calibri"/>
              </a:rPr>
              <a:t>eb</a:t>
            </a:r>
            <a:r>
              <a:rPr spc="-900" dirty="0">
                <a:solidFill>
                  <a:srgbClr val="A50021"/>
                </a:solidFill>
                <a:latin typeface="Calibri"/>
                <a:cs typeface="Calibri"/>
              </a:rPr>
              <a:t>-­‐</a:t>
            </a:r>
            <a:r>
              <a:rPr dirty="0">
                <a:solidFill>
                  <a:srgbClr val="A50021"/>
                </a:solidFill>
                <a:latin typeface="Calibri"/>
                <a:cs typeface="Calibri"/>
              </a:rPr>
              <a:t>Scale LMs</a:t>
            </a:r>
          </a:p>
        </p:txBody>
      </p:sp>
      <p:sp>
        <p:nvSpPr>
          <p:cNvPr id="3" name="object 3"/>
          <p:cNvSpPr txBox="1"/>
          <p:nvPr/>
        </p:nvSpPr>
        <p:spPr>
          <a:xfrm>
            <a:off x="7994328" y="1634179"/>
            <a:ext cx="3069705" cy="1873466"/>
          </a:xfrm>
          <a:prstGeom prst="rect">
            <a:avLst/>
          </a:prstGeom>
        </p:spPr>
        <p:txBody>
          <a:bodyPr vert="horz" wrap="square" lIns="0" tIns="13085" rIns="0" bIns="0" rtlCol="0">
            <a:spAutoFit/>
          </a:bodyPr>
          <a:lstStyle/>
          <a:p>
            <a:pPr marL="17446" marR="6978" indent="6978">
              <a:lnSpc>
                <a:spcPct val="100400"/>
              </a:lnSpc>
              <a:spcBef>
                <a:spcPts val="103"/>
              </a:spcBef>
            </a:pPr>
            <a:r>
              <a:rPr sz="6044" b="1" dirty="0">
                <a:latin typeface="Calibri"/>
                <a:cs typeface="Calibri"/>
              </a:rPr>
              <a:t>Language  </a:t>
            </a:r>
            <a:r>
              <a:rPr sz="6044" b="1" spc="-7" dirty="0">
                <a:latin typeface="Calibri"/>
                <a:cs typeface="Calibri"/>
              </a:rPr>
              <a:t>Mode</a:t>
            </a:r>
            <a:r>
              <a:rPr sz="6044" b="1" dirty="0">
                <a:latin typeface="Calibri"/>
                <a:cs typeface="Calibri"/>
              </a:rPr>
              <a:t>li</a:t>
            </a:r>
            <a:r>
              <a:rPr sz="6044" b="1" spc="-7" dirty="0">
                <a:latin typeface="Calibri"/>
                <a:cs typeface="Calibri"/>
              </a:rPr>
              <a:t>n</a:t>
            </a:r>
            <a:r>
              <a:rPr sz="6044" b="1" dirty="0">
                <a:latin typeface="Calibri"/>
                <a:cs typeface="Calibri"/>
              </a:rPr>
              <a:t>g</a:t>
            </a:r>
            <a:endParaRPr sz="6044">
              <a:latin typeface="Calibri"/>
              <a:cs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57494" y="1438778"/>
            <a:ext cx="3857413" cy="1870338"/>
          </a:xfrm>
          <a:prstGeom prst="rect">
            <a:avLst/>
          </a:prstGeom>
        </p:spPr>
        <p:txBody>
          <a:bodyPr vert="horz" wrap="square" lIns="0" tIns="48850" rIns="0" bIns="0" rtlCol="0">
            <a:spAutoFit/>
          </a:bodyPr>
          <a:lstStyle/>
          <a:p>
            <a:pPr marL="99442" marR="6978" indent="-82868">
              <a:lnSpc>
                <a:spcPts val="7143"/>
              </a:lnSpc>
              <a:spcBef>
                <a:spcPts val="385"/>
              </a:spcBef>
            </a:pPr>
            <a:r>
              <a:rPr sz="6044" b="1" spc="405" dirty="0">
                <a:latin typeface="Trebuchet MS"/>
                <a:cs typeface="Trebuchet MS"/>
              </a:rPr>
              <a:t>Language  </a:t>
            </a:r>
            <a:r>
              <a:rPr sz="6044" b="1" spc="453" dirty="0">
                <a:latin typeface="Trebuchet MS"/>
                <a:cs typeface="Trebuchet MS"/>
              </a:rPr>
              <a:t>Modeling</a:t>
            </a:r>
            <a:endParaRPr sz="6044">
              <a:latin typeface="Trebuchet MS"/>
              <a:cs typeface="Trebuchet MS"/>
            </a:endParaRPr>
          </a:p>
        </p:txBody>
      </p:sp>
      <p:sp>
        <p:nvSpPr>
          <p:cNvPr id="3" name="object 3"/>
          <p:cNvSpPr txBox="1">
            <a:spLocks noGrp="1"/>
          </p:cNvSpPr>
          <p:nvPr>
            <p:ph type="subTitle" idx="4"/>
          </p:nvPr>
        </p:nvSpPr>
        <p:spPr>
          <a:xfrm>
            <a:off x="660400" y="3886200"/>
            <a:ext cx="15968070" cy="1568328"/>
          </a:xfrm>
          <a:prstGeom prst="rect">
            <a:avLst/>
          </a:prstGeom>
        </p:spPr>
        <p:txBody>
          <a:bodyPr vert="horz" wrap="square" lIns="0" tIns="191910" rIns="0" bIns="0" rtlCol="0">
            <a:spAutoFit/>
          </a:bodyPr>
          <a:lstStyle/>
          <a:p>
            <a:pPr marL="6044163" marR="6978" indent="227670">
              <a:lnSpc>
                <a:spcPts val="5220"/>
              </a:lnSpc>
              <a:spcBef>
                <a:spcPts val="330"/>
              </a:spcBef>
            </a:pPr>
            <a:r>
              <a:rPr spc="-7" dirty="0"/>
              <a:t>Advanced: </a:t>
            </a:r>
            <a:endParaRPr lang="en-US" spc="-7" dirty="0"/>
          </a:p>
          <a:p>
            <a:pPr marL="6044163" marR="6978" indent="227670">
              <a:lnSpc>
                <a:spcPts val="5220"/>
              </a:lnSpc>
              <a:spcBef>
                <a:spcPts val="330"/>
              </a:spcBef>
            </a:pPr>
            <a:r>
              <a:rPr dirty="0"/>
              <a:t>Good </a:t>
            </a:r>
            <a:r>
              <a:rPr spc="7" dirty="0"/>
              <a:t> </a:t>
            </a:r>
            <a:r>
              <a:rPr spc="-7" dirty="0"/>
              <a:t>Turing</a:t>
            </a:r>
            <a:r>
              <a:rPr spc="-62" dirty="0"/>
              <a:t> </a:t>
            </a:r>
            <a:r>
              <a:rPr spc="-7" dirty="0"/>
              <a:t>Smoothing</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014829"/>
            <a:ext cx="10208799" cy="694084"/>
          </a:xfrm>
          <a:prstGeom prst="rect">
            <a:avLst/>
          </a:prstGeom>
        </p:spPr>
        <p:txBody>
          <a:bodyPr vert="horz" wrap="square" lIns="0" tIns="17446" rIns="0" bIns="0" rtlCol="0">
            <a:spAutoFit/>
          </a:bodyPr>
          <a:lstStyle/>
          <a:p>
            <a:pPr marL="17446">
              <a:spcBef>
                <a:spcPts val="137"/>
              </a:spcBef>
            </a:pPr>
            <a:r>
              <a:rPr spc="-7" dirty="0"/>
              <a:t>Reminder:</a:t>
            </a:r>
            <a:r>
              <a:rPr spc="-14" dirty="0"/>
              <a:t> </a:t>
            </a:r>
            <a:r>
              <a:rPr spc="-7" dirty="0"/>
              <a:t>Add-1</a:t>
            </a:r>
            <a:r>
              <a:rPr dirty="0"/>
              <a:t> </a:t>
            </a:r>
            <a:r>
              <a:rPr spc="-7" dirty="0"/>
              <a:t>(Laplace) Smoothing</a:t>
            </a:r>
          </a:p>
        </p:txBody>
      </p:sp>
      <p:sp>
        <p:nvSpPr>
          <p:cNvPr id="7" name="object 7"/>
          <p:cNvSpPr txBox="1"/>
          <p:nvPr/>
        </p:nvSpPr>
        <p:spPr>
          <a:xfrm>
            <a:off x="3552835" y="3876562"/>
            <a:ext cx="1664393" cy="430790"/>
          </a:xfrm>
          <a:prstGeom prst="rect">
            <a:avLst/>
          </a:prstGeom>
        </p:spPr>
        <p:txBody>
          <a:bodyPr vert="horz" wrap="square" lIns="0" tIns="18319" rIns="0" bIns="0" rtlCol="0">
            <a:spAutoFit/>
          </a:bodyPr>
          <a:lstStyle/>
          <a:p>
            <a:pPr marL="17446">
              <a:spcBef>
                <a:spcPts val="144"/>
              </a:spcBef>
              <a:tabLst>
                <a:tab pos="1550949" algn="l"/>
              </a:tabLst>
            </a:pPr>
            <a:r>
              <a:rPr sz="2679" i="1" spc="-7" dirty="0">
                <a:latin typeface="Times New Roman"/>
                <a:cs typeface="Times New Roman"/>
              </a:rPr>
              <a:t>A</a:t>
            </a:r>
            <a:r>
              <a:rPr sz="2679" i="1" spc="14" dirty="0">
                <a:latin typeface="Times New Roman"/>
                <a:cs typeface="Times New Roman"/>
              </a:rPr>
              <a:t>d</a:t>
            </a:r>
            <a:r>
              <a:rPr sz="2679" i="1" spc="179" dirty="0">
                <a:latin typeface="Times New Roman"/>
                <a:cs typeface="Times New Roman"/>
              </a:rPr>
              <a:t>d</a:t>
            </a:r>
            <a:r>
              <a:rPr sz="2679" spc="-220" dirty="0">
                <a:latin typeface="Symbol"/>
                <a:cs typeface="Symbol"/>
              </a:rPr>
              <a:t></a:t>
            </a:r>
            <a:r>
              <a:rPr sz="2679" spc="14" dirty="0">
                <a:latin typeface="Times New Roman"/>
                <a:cs typeface="Times New Roman"/>
              </a:rPr>
              <a:t>1</a:t>
            </a:r>
            <a:r>
              <a:rPr sz="2679" dirty="0">
                <a:latin typeface="Times New Roman"/>
                <a:cs typeface="Times New Roman"/>
              </a:rPr>
              <a:t>	</a:t>
            </a:r>
            <a:r>
              <a:rPr sz="2679" i="1" spc="7" dirty="0">
                <a:latin typeface="Times New Roman"/>
                <a:cs typeface="Times New Roman"/>
              </a:rPr>
              <a:t>i</a:t>
            </a:r>
            <a:endParaRPr sz="2679">
              <a:latin typeface="Times New Roman"/>
              <a:cs typeface="Times New Roman"/>
            </a:endParaRPr>
          </a:p>
        </p:txBody>
      </p:sp>
      <p:sp>
        <p:nvSpPr>
          <p:cNvPr id="8" name="object 8"/>
          <p:cNvSpPr txBox="1"/>
          <p:nvPr/>
        </p:nvSpPr>
        <p:spPr>
          <a:xfrm>
            <a:off x="3256954" y="3479397"/>
            <a:ext cx="2739967" cy="731990"/>
          </a:xfrm>
          <a:prstGeom prst="rect">
            <a:avLst/>
          </a:prstGeom>
        </p:spPr>
        <p:txBody>
          <a:bodyPr vert="horz" wrap="square" lIns="0" tIns="23553" rIns="0" bIns="0" rtlCol="0">
            <a:spAutoFit/>
          </a:bodyPr>
          <a:lstStyle/>
          <a:p>
            <a:pPr marL="17446">
              <a:spcBef>
                <a:spcPts val="185"/>
              </a:spcBef>
              <a:tabLst>
                <a:tab pos="1248261" algn="l"/>
                <a:tab pos="2103114" algn="l"/>
              </a:tabLst>
            </a:pPr>
            <a:r>
              <a:rPr sz="4602" i="1" spc="48" dirty="0">
                <a:latin typeface="Times New Roman"/>
                <a:cs typeface="Times New Roman"/>
              </a:rPr>
              <a:t>P	</a:t>
            </a:r>
            <a:r>
              <a:rPr sz="4602" spc="131" dirty="0">
                <a:latin typeface="Times New Roman"/>
                <a:cs typeface="Times New Roman"/>
              </a:rPr>
              <a:t>(</a:t>
            </a:r>
            <a:r>
              <a:rPr sz="4602" i="1" spc="48" dirty="0">
                <a:latin typeface="Times New Roman"/>
                <a:cs typeface="Times New Roman"/>
              </a:rPr>
              <a:t>w</a:t>
            </a:r>
            <a:r>
              <a:rPr sz="4602" i="1" dirty="0">
                <a:latin typeface="Times New Roman"/>
                <a:cs typeface="Times New Roman"/>
              </a:rPr>
              <a:t>	</a:t>
            </a:r>
            <a:r>
              <a:rPr sz="4602" spc="14" dirty="0">
                <a:latin typeface="Times New Roman"/>
                <a:cs typeface="Times New Roman"/>
              </a:rPr>
              <a:t>|</a:t>
            </a:r>
            <a:r>
              <a:rPr sz="4602" spc="-349" dirty="0">
                <a:latin typeface="Times New Roman"/>
                <a:cs typeface="Times New Roman"/>
              </a:rPr>
              <a:t> </a:t>
            </a:r>
            <a:r>
              <a:rPr sz="4602" i="1" spc="48" dirty="0">
                <a:latin typeface="Times New Roman"/>
                <a:cs typeface="Times New Roman"/>
              </a:rPr>
              <a:t>w</a:t>
            </a:r>
            <a:endParaRPr sz="4602">
              <a:latin typeface="Times New Roman"/>
              <a:cs typeface="Times New Roman"/>
            </a:endParaRPr>
          </a:p>
        </p:txBody>
      </p:sp>
      <p:sp>
        <p:nvSpPr>
          <p:cNvPr id="9" name="object 9"/>
          <p:cNvSpPr txBox="1"/>
          <p:nvPr/>
        </p:nvSpPr>
        <p:spPr>
          <a:xfrm>
            <a:off x="5950882" y="3876562"/>
            <a:ext cx="467565" cy="430790"/>
          </a:xfrm>
          <a:prstGeom prst="rect">
            <a:avLst/>
          </a:prstGeom>
        </p:spPr>
        <p:txBody>
          <a:bodyPr vert="horz" wrap="square" lIns="0" tIns="18319" rIns="0" bIns="0" rtlCol="0">
            <a:spAutoFit/>
          </a:bodyPr>
          <a:lstStyle/>
          <a:p>
            <a:pPr marL="17446">
              <a:spcBef>
                <a:spcPts val="144"/>
              </a:spcBef>
            </a:pPr>
            <a:r>
              <a:rPr sz="2679" i="1" spc="41" dirty="0">
                <a:latin typeface="Times New Roman"/>
                <a:cs typeface="Times New Roman"/>
              </a:rPr>
              <a:t>i</a:t>
            </a:r>
            <a:r>
              <a:rPr sz="2679" spc="-220" dirty="0">
                <a:latin typeface="Symbol"/>
                <a:cs typeface="Symbol"/>
              </a:rPr>
              <a:t></a:t>
            </a:r>
            <a:r>
              <a:rPr sz="2679" spc="14" dirty="0">
                <a:latin typeface="Times New Roman"/>
                <a:cs typeface="Times New Roman"/>
              </a:rPr>
              <a:t>1</a:t>
            </a:r>
            <a:endParaRPr sz="2679">
              <a:latin typeface="Times New Roman"/>
              <a:cs typeface="Times New Roman"/>
            </a:endParaRPr>
          </a:p>
        </p:txBody>
      </p:sp>
      <p:sp>
        <p:nvSpPr>
          <p:cNvPr id="10" name="object 10"/>
          <p:cNvSpPr txBox="1"/>
          <p:nvPr/>
        </p:nvSpPr>
        <p:spPr>
          <a:xfrm>
            <a:off x="6388472" y="3123798"/>
            <a:ext cx="3899285" cy="731990"/>
          </a:xfrm>
          <a:prstGeom prst="rect">
            <a:avLst/>
          </a:prstGeom>
        </p:spPr>
        <p:txBody>
          <a:bodyPr vert="horz" wrap="square" lIns="0" tIns="23553" rIns="0" bIns="0" rtlCol="0">
            <a:spAutoFit/>
          </a:bodyPr>
          <a:lstStyle/>
          <a:p>
            <a:pPr marL="52338">
              <a:spcBef>
                <a:spcPts val="185"/>
              </a:spcBef>
            </a:pPr>
            <a:r>
              <a:rPr sz="6903" spc="30" baseline="-33996" dirty="0">
                <a:latin typeface="Times New Roman"/>
                <a:cs typeface="Times New Roman"/>
              </a:rPr>
              <a:t>)</a:t>
            </a:r>
            <a:r>
              <a:rPr sz="6903" spc="-536" baseline="-33996" dirty="0">
                <a:latin typeface="Times New Roman"/>
                <a:cs typeface="Times New Roman"/>
              </a:rPr>
              <a:t> </a:t>
            </a:r>
            <a:r>
              <a:rPr sz="6903" spc="60" baseline="-33996" dirty="0">
                <a:latin typeface="Symbol"/>
                <a:cs typeface="Symbol"/>
              </a:rPr>
              <a:t></a:t>
            </a:r>
            <a:r>
              <a:rPr sz="6903" spc="216" baseline="-33996" dirty="0">
                <a:latin typeface="Times New Roman"/>
                <a:cs typeface="Times New Roman"/>
              </a:rPr>
              <a:t> </a:t>
            </a:r>
            <a:r>
              <a:rPr sz="4602" i="1" spc="96" dirty="0">
                <a:latin typeface="Times New Roman"/>
                <a:cs typeface="Times New Roman"/>
              </a:rPr>
              <a:t>c</a:t>
            </a:r>
            <a:r>
              <a:rPr sz="4602" spc="131" dirty="0">
                <a:latin typeface="Times New Roman"/>
                <a:cs typeface="Times New Roman"/>
              </a:rPr>
              <a:t>(</a:t>
            </a:r>
            <a:r>
              <a:rPr sz="4602" i="1" spc="-41" dirty="0">
                <a:latin typeface="Times New Roman"/>
                <a:cs typeface="Times New Roman"/>
              </a:rPr>
              <a:t>w</a:t>
            </a:r>
            <a:r>
              <a:rPr sz="4018" i="1" spc="60" baseline="-24216" dirty="0">
                <a:latin typeface="Times New Roman"/>
                <a:cs typeface="Times New Roman"/>
              </a:rPr>
              <a:t>i</a:t>
            </a:r>
            <a:r>
              <a:rPr sz="4018" spc="-330" baseline="-24216" dirty="0">
                <a:latin typeface="Symbol"/>
                <a:cs typeface="Symbol"/>
              </a:rPr>
              <a:t></a:t>
            </a:r>
            <a:r>
              <a:rPr sz="4018" spc="-60" baseline="-24216" dirty="0">
                <a:latin typeface="Times New Roman"/>
                <a:cs typeface="Times New Roman"/>
              </a:rPr>
              <a:t>1</a:t>
            </a:r>
            <a:r>
              <a:rPr sz="4602" spc="14" dirty="0">
                <a:latin typeface="Times New Roman"/>
                <a:cs typeface="Times New Roman"/>
              </a:rPr>
              <a:t>,</a:t>
            </a:r>
            <a:r>
              <a:rPr sz="4602" spc="-508" dirty="0">
                <a:latin typeface="Times New Roman"/>
                <a:cs typeface="Times New Roman"/>
              </a:rPr>
              <a:t> </a:t>
            </a:r>
            <a:r>
              <a:rPr sz="4602" i="1" spc="-41" dirty="0">
                <a:latin typeface="Times New Roman"/>
                <a:cs typeface="Times New Roman"/>
              </a:rPr>
              <a:t>w</a:t>
            </a:r>
            <a:r>
              <a:rPr sz="4018" i="1" spc="10" baseline="-24216" dirty="0">
                <a:latin typeface="Times New Roman"/>
                <a:cs typeface="Times New Roman"/>
              </a:rPr>
              <a:t>i</a:t>
            </a:r>
            <a:r>
              <a:rPr sz="4018" i="1" spc="-185" baseline="-24216" dirty="0">
                <a:latin typeface="Times New Roman"/>
                <a:cs typeface="Times New Roman"/>
              </a:rPr>
              <a:t> </a:t>
            </a:r>
            <a:r>
              <a:rPr sz="4602" spc="21" dirty="0">
                <a:latin typeface="Times New Roman"/>
                <a:cs typeface="Times New Roman"/>
              </a:rPr>
              <a:t>)</a:t>
            </a:r>
            <a:r>
              <a:rPr sz="4602" spc="-618" dirty="0">
                <a:latin typeface="Times New Roman"/>
                <a:cs typeface="Times New Roman"/>
              </a:rPr>
              <a:t> </a:t>
            </a:r>
            <a:r>
              <a:rPr sz="4602" spc="309" dirty="0">
                <a:latin typeface="Symbol"/>
                <a:cs typeface="Symbol"/>
              </a:rPr>
              <a:t></a:t>
            </a:r>
            <a:r>
              <a:rPr sz="4602" spc="34" dirty="0">
                <a:latin typeface="Times New Roman"/>
                <a:cs typeface="Times New Roman"/>
              </a:rPr>
              <a:t>1</a:t>
            </a:r>
            <a:endParaRPr sz="4602">
              <a:latin typeface="Times New Roman"/>
              <a:cs typeface="Times New Roman"/>
            </a:endParaRPr>
          </a:p>
        </p:txBody>
      </p:sp>
      <p:sp>
        <p:nvSpPr>
          <p:cNvPr id="11" name="object 11"/>
          <p:cNvSpPr txBox="1"/>
          <p:nvPr/>
        </p:nvSpPr>
        <p:spPr>
          <a:xfrm>
            <a:off x="7446526" y="3950451"/>
            <a:ext cx="2463439" cy="731990"/>
          </a:xfrm>
          <a:prstGeom prst="rect">
            <a:avLst/>
          </a:prstGeom>
        </p:spPr>
        <p:txBody>
          <a:bodyPr vert="horz" wrap="square" lIns="0" tIns="23553" rIns="0" bIns="0" rtlCol="0">
            <a:spAutoFit/>
          </a:bodyPr>
          <a:lstStyle/>
          <a:p>
            <a:pPr marL="52338">
              <a:spcBef>
                <a:spcPts val="185"/>
              </a:spcBef>
            </a:pPr>
            <a:r>
              <a:rPr sz="4602" i="1" spc="96" dirty="0">
                <a:latin typeface="Times New Roman"/>
                <a:cs typeface="Times New Roman"/>
              </a:rPr>
              <a:t>c</a:t>
            </a:r>
            <a:r>
              <a:rPr sz="4602" spc="131" dirty="0">
                <a:latin typeface="Times New Roman"/>
                <a:cs typeface="Times New Roman"/>
              </a:rPr>
              <a:t>(</a:t>
            </a:r>
            <a:r>
              <a:rPr sz="4602" i="1" spc="-41" dirty="0">
                <a:latin typeface="Times New Roman"/>
                <a:cs typeface="Times New Roman"/>
              </a:rPr>
              <a:t>w</a:t>
            </a:r>
            <a:r>
              <a:rPr sz="4018" i="1" spc="60" baseline="-24216" dirty="0">
                <a:latin typeface="Times New Roman"/>
                <a:cs typeface="Times New Roman"/>
              </a:rPr>
              <a:t>i</a:t>
            </a:r>
            <a:r>
              <a:rPr sz="4018" spc="-330" baseline="-24216" dirty="0">
                <a:latin typeface="Symbol"/>
                <a:cs typeface="Symbol"/>
              </a:rPr>
              <a:t></a:t>
            </a:r>
            <a:r>
              <a:rPr sz="4018" spc="21" baseline="-24216" dirty="0">
                <a:latin typeface="Times New Roman"/>
                <a:cs typeface="Times New Roman"/>
              </a:rPr>
              <a:t>1</a:t>
            </a:r>
            <a:r>
              <a:rPr sz="4018" spc="-536" baseline="-24216" dirty="0">
                <a:latin typeface="Times New Roman"/>
                <a:cs typeface="Times New Roman"/>
              </a:rPr>
              <a:t> </a:t>
            </a:r>
            <a:r>
              <a:rPr sz="4602" spc="21" dirty="0">
                <a:latin typeface="Times New Roman"/>
                <a:cs typeface="Times New Roman"/>
              </a:rPr>
              <a:t>)</a:t>
            </a:r>
            <a:r>
              <a:rPr sz="4602" spc="-618" dirty="0">
                <a:latin typeface="Times New Roman"/>
                <a:cs typeface="Times New Roman"/>
              </a:rPr>
              <a:t> </a:t>
            </a:r>
            <a:r>
              <a:rPr sz="4602" spc="41" dirty="0">
                <a:latin typeface="Symbol"/>
                <a:cs typeface="Symbol"/>
              </a:rPr>
              <a:t></a:t>
            </a:r>
            <a:r>
              <a:rPr sz="4602" spc="-687" dirty="0">
                <a:latin typeface="Times New Roman"/>
                <a:cs typeface="Times New Roman"/>
              </a:rPr>
              <a:t> </a:t>
            </a:r>
            <a:r>
              <a:rPr sz="4602" i="1" spc="48" dirty="0">
                <a:latin typeface="Times New Roman"/>
                <a:cs typeface="Times New Roman"/>
              </a:rPr>
              <a:t>V</a:t>
            </a:r>
            <a:endParaRPr sz="4602">
              <a:latin typeface="Times New Roman"/>
              <a:cs typeface="Times New Roman"/>
            </a:endParaRPr>
          </a:p>
        </p:txBody>
      </p:sp>
      <p:sp>
        <p:nvSpPr>
          <p:cNvPr id="12" name="object 12"/>
          <p:cNvSpPr/>
          <p:nvPr/>
        </p:nvSpPr>
        <p:spPr>
          <a:xfrm>
            <a:off x="7199884" y="3960971"/>
            <a:ext cx="3019983" cy="0"/>
          </a:xfrm>
          <a:custGeom>
            <a:avLst/>
            <a:gdLst/>
            <a:ahLst/>
            <a:cxnLst/>
            <a:rect l="l" t="t" r="r" b="b"/>
            <a:pathLst>
              <a:path w="2198370">
                <a:moveTo>
                  <a:pt x="0" y="0"/>
                </a:moveTo>
                <a:lnTo>
                  <a:pt x="2197833" y="0"/>
                </a:lnTo>
              </a:path>
            </a:pathLst>
          </a:custGeom>
          <a:ln w="21291">
            <a:solidFill>
              <a:srgbClr val="000000"/>
            </a:solidFill>
          </a:ln>
        </p:spPr>
        <p:txBody>
          <a:bodyPr wrap="square" lIns="0" tIns="0" rIns="0" bIns="0" rtlCol="0"/>
          <a:lstStyle/>
          <a:p>
            <a:endParaRPr sz="2473"/>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8968354" cy="694084"/>
          </a:xfrm>
          <a:prstGeom prst="rect">
            <a:avLst/>
          </a:prstGeom>
        </p:spPr>
        <p:txBody>
          <a:bodyPr vert="horz" wrap="square" lIns="0" tIns="17446" rIns="0" bIns="0" rtlCol="0">
            <a:spAutoFit/>
          </a:bodyPr>
          <a:lstStyle/>
          <a:p>
            <a:pPr marL="17446">
              <a:spcBef>
                <a:spcPts val="137"/>
              </a:spcBef>
            </a:pPr>
            <a:r>
              <a:rPr spc="-7" dirty="0"/>
              <a:t>More general</a:t>
            </a:r>
            <a:r>
              <a:rPr spc="-14" dirty="0"/>
              <a:t> </a:t>
            </a:r>
            <a:r>
              <a:rPr spc="-7" dirty="0"/>
              <a:t>formulations: Add-k</a:t>
            </a:r>
          </a:p>
        </p:txBody>
      </p:sp>
      <p:sp>
        <p:nvSpPr>
          <p:cNvPr id="7" name="object 7"/>
          <p:cNvSpPr txBox="1"/>
          <p:nvPr/>
        </p:nvSpPr>
        <p:spPr>
          <a:xfrm>
            <a:off x="3006469" y="5243230"/>
            <a:ext cx="7731401" cy="687973"/>
          </a:xfrm>
          <a:prstGeom prst="rect">
            <a:avLst/>
          </a:prstGeom>
        </p:spPr>
        <p:txBody>
          <a:bodyPr vert="horz" wrap="square" lIns="0" tIns="21808" rIns="0" bIns="0" rtlCol="0">
            <a:spAutoFit/>
          </a:bodyPr>
          <a:lstStyle/>
          <a:p>
            <a:pPr marL="52338">
              <a:spcBef>
                <a:spcPts val="172"/>
              </a:spcBef>
              <a:tabLst>
                <a:tab pos="7024628" algn="l"/>
                <a:tab pos="7677108" algn="l"/>
              </a:tabLst>
            </a:pPr>
            <a:r>
              <a:rPr sz="6491" i="1" spc="-30" baseline="14109" dirty="0">
                <a:latin typeface="Times New Roman"/>
                <a:cs typeface="Times New Roman"/>
              </a:rPr>
              <a:t>P</a:t>
            </a:r>
            <a:r>
              <a:rPr sz="2473" i="1" spc="-21" dirty="0">
                <a:latin typeface="Times New Roman"/>
                <a:cs typeface="Times New Roman"/>
              </a:rPr>
              <a:t>Add</a:t>
            </a:r>
            <a:r>
              <a:rPr sz="2473" spc="-21" dirty="0">
                <a:latin typeface="Symbol"/>
                <a:cs typeface="Symbol"/>
              </a:rPr>
              <a:t></a:t>
            </a:r>
            <a:r>
              <a:rPr sz="2473" i="1" spc="-21" dirty="0">
                <a:latin typeface="Times New Roman"/>
                <a:cs typeface="Times New Roman"/>
              </a:rPr>
              <a:t>k</a:t>
            </a:r>
            <a:r>
              <a:rPr sz="2473" i="1" spc="-89" dirty="0">
                <a:latin typeface="Times New Roman"/>
                <a:cs typeface="Times New Roman"/>
              </a:rPr>
              <a:t> </a:t>
            </a:r>
            <a:r>
              <a:rPr sz="6491" spc="41" baseline="14109" dirty="0">
                <a:latin typeface="Times New Roman"/>
                <a:cs typeface="Times New Roman"/>
              </a:rPr>
              <a:t>(</a:t>
            </a:r>
            <a:r>
              <a:rPr sz="6491" i="1" spc="41" baseline="14109" dirty="0">
                <a:latin typeface="Times New Roman"/>
                <a:cs typeface="Times New Roman"/>
              </a:rPr>
              <a:t>w</a:t>
            </a:r>
            <a:r>
              <a:rPr sz="2473" i="1" spc="27" dirty="0">
                <a:latin typeface="Times New Roman"/>
                <a:cs typeface="Times New Roman"/>
              </a:rPr>
              <a:t>i</a:t>
            </a:r>
            <a:r>
              <a:rPr sz="2473" i="1" spc="584" dirty="0">
                <a:latin typeface="Times New Roman"/>
                <a:cs typeface="Times New Roman"/>
              </a:rPr>
              <a:t> </a:t>
            </a:r>
            <a:r>
              <a:rPr sz="6491" spc="10" baseline="14109" dirty="0">
                <a:latin typeface="Times New Roman"/>
                <a:cs typeface="Times New Roman"/>
              </a:rPr>
              <a:t>|</a:t>
            </a:r>
            <a:r>
              <a:rPr sz="6491" spc="-493" baseline="14109" dirty="0">
                <a:latin typeface="Times New Roman"/>
                <a:cs typeface="Times New Roman"/>
              </a:rPr>
              <a:t> </a:t>
            </a:r>
            <a:r>
              <a:rPr sz="6491" i="1" spc="-60" baseline="14109" dirty="0">
                <a:latin typeface="Times New Roman"/>
                <a:cs typeface="Times New Roman"/>
              </a:rPr>
              <a:t>w</a:t>
            </a:r>
            <a:r>
              <a:rPr sz="2473" i="1" spc="-41" dirty="0">
                <a:latin typeface="Times New Roman"/>
                <a:cs typeface="Times New Roman"/>
              </a:rPr>
              <a:t>i</a:t>
            </a:r>
            <a:r>
              <a:rPr sz="2473" spc="-41" dirty="0">
                <a:latin typeface="Symbol"/>
                <a:cs typeface="Symbol"/>
              </a:rPr>
              <a:t></a:t>
            </a:r>
            <a:r>
              <a:rPr sz="2473" spc="-41" dirty="0">
                <a:latin typeface="Times New Roman"/>
                <a:cs typeface="Times New Roman"/>
              </a:rPr>
              <a:t>1</a:t>
            </a:r>
            <a:r>
              <a:rPr sz="2473" spc="-315" dirty="0">
                <a:latin typeface="Times New Roman"/>
                <a:cs typeface="Times New Roman"/>
              </a:rPr>
              <a:t> </a:t>
            </a:r>
            <a:r>
              <a:rPr sz="6491" spc="30" baseline="14109" dirty="0">
                <a:latin typeface="Times New Roman"/>
                <a:cs typeface="Times New Roman"/>
              </a:rPr>
              <a:t>)</a:t>
            </a:r>
            <a:r>
              <a:rPr sz="6491" spc="-504" baseline="14109" dirty="0">
                <a:latin typeface="Times New Roman"/>
                <a:cs typeface="Times New Roman"/>
              </a:rPr>
              <a:t> </a:t>
            </a:r>
            <a:r>
              <a:rPr sz="6491" spc="41" baseline="14109" dirty="0">
                <a:latin typeface="Symbol"/>
                <a:cs typeface="Symbol"/>
              </a:rPr>
              <a:t></a:t>
            </a:r>
            <a:r>
              <a:rPr sz="6491" u="heavy" spc="41" baseline="33509" dirty="0">
                <a:uFill>
                  <a:solidFill>
                    <a:srgbClr val="000000"/>
                  </a:solidFill>
                </a:uFill>
                <a:latin typeface="Times New Roman"/>
                <a:cs typeface="Times New Roman"/>
              </a:rPr>
              <a:t>	</a:t>
            </a:r>
            <a:r>
              <a:rPr sz="6491" i="1" u="heavy" spc="51" baseline="33509" dirty="0">
                <a:uFill>
                  <a:solidFill>
                    <a:srgbClr val="000000"/>
                  </a:solidFill>
                </a:uFill>
                <a:latin typeface="Times New Roman"/>
                <a:cs typeface="Times New Roman"/>
              </a:rPr>
              <a:t>V	</a:t>
            </a:r>
            <a:endParaRPr sz="6491" baseline="33509">
              <a:latin typeface="Times New Roman"/>
              <a:cs typeface="Times New Roman"/>
            </a:endParaRPr>
          </a:p>
        </p:txBody>
      </p:sp>
      <p:sp>
        <p:nvSpPr>
          <p:cNvPr id="8" name="object 8"/>
          <p:cNvSpPr txBox="1"/>
          <p:nvPr/>
        </p:nvSpPr>
        <p:spPr>
          <a:xfrm>
            <a:off x="10083661" y="4153950"/>
            <a:ext cx="314036" cy="687909"/>
          </a:xfrm>
          <a:prstGeom prst="rect">
            <a:avLst/>
          </a:prstGeom>
        </p:spPr>
        <p:txBody>
          <a:bodyPr vert="horz" wrap="square" lIns="0" tIns="21808" rIns="0" bIns="0" rtlCol="0">
            <a:spAutoFit/>
          </a:bodyPr>
          <a:lstStyle/>
          <a:p>
            <a:pPr marL="17446">
              <a:spcBef>
                <a:spcPts val="172"/>
              </a:spcBef>
            </a:pPr>
            <a:r>
              <a:rPr sz="4327" spc="27" dirty="0">
                <a:latin typeface="Times New Roman"/>
                <a:cs typeface="Times New Roman"/>
              </a:rPr>
              <a:t>1</a:t>
            </a:r>
            <a:endParaRPr sz="4327">
              <a:latin typeface="Times New Roman"/>
              <a:cs typeface="Times New Roman"/>
            </a:endParaRPr>
          </a:p>
        </p:txBody>
      </p:sp>
      <p:sp>
        <p:nvSpPr>
          <p:cNvPr id="9" name="object 9"/>
          <p:cNvSpPr/>
          <p:nvPr/>
        </p:nvSpPr>
        <p:spPr>
          <a:xfrm>
            <a:off x="10029974" y="4928121"/>
            <a:ext cx="428311" cy="0"/>
          </a:xfrm>
          <a:custGeom>
            <a:avLst/>
            <a:gdLst/>
            <a:ahLst/>
            <a:cxnLst/>
            <a:rect l="l" t="t" r="r" b="b"/>
            <a:pathLst>
              <a:path w="311784">
                <a:moveTo>
                  <a:pt x="0" y="0"/>
                </a:moveTo>
                <a:lnTo>
                  <a:pt x="311746" y="0"/>
                </a:lnTo>
              </a:path>
            </a:pathLst>
          </a:custGeom>
          <a:ln w="9452">
            <a:solidFill>
              <a:srgbClr val="000000"/>
            </a:solidFill>
          </a:ln>
        </p:spPr>
        <p:txBody>
          <a:bodyPr wrap="square" lIns="0" tIns="0" rIns="0" bIns="0" rtlCol="0"/>
          <a:lstStyle/>
          <a:p>
            <a:endParaRPr sz="2473"/>
          </a:p>
        </p:txBody>
      </p:sp>
      <p:sp>
        <p:nvSpPr>
          <p:cNvPr id="10" name="object 10"/>
          <p:cNvSpPr txBox="1"/>
          <p:nvPr/>
        </p:nvSpPr>
        <p:spPr>
          <a:xfrm>
            <a:off x="6748980" y="4480012"/>
            <a:ext cx="3976922" cy="687909"/>
          </a:xfrm>
          <a:prstGeom prst="rect">
            <a:avLst/>
          </a:prstGeom>
        </p:spPr>
        <p:txBody>
          <a:bodyPr vert="horz" wrap="square" lIns="0" tIns="21808" rIns="0" bIns="0" rtlCol="0">
            <a:spAutoFit/>
          </a:bodyPr>
          <a:lstStyle/>
          <a:p>
            <a:pPr marL="69784">
              <a:spcBef>
                <a:spcPts val="172"/>
              </a:spcBef>
              <a:tabLst>
                <a:tab pos="3737803" algn="l"/>
              </a:tabLst>
            </a:pPr>
            <a:r>
              <a:rPr sz="4327" i="1" dirty="0">
                <a:latin typeface="Times New Roman"/>
                <a:cs typeface="Times New Roman"/>
              </a:rPr>
              <a:t>c</a:t>
            </a:r>
            <a:r>
              <a:rPr sz="4327" dirty="0">
                <a:latin typeface="Times New Roman"/>
                <a:cs typeface="Times New Roman"/>
              </a:rPr>
              <a:t>(</a:t>
            </a:r>
            <a:r>
              <a:rPr sz="4327" i="1" dirty="0">
                <a:latin typeface="Times New Roman"/>
                <a:cs typeface="Times New Roman"/>
              </a:rPr>
              <a:t>w</a:t>
            </a:r>
            <a:r>
              <a:rPr sz="3709" i="1" baseline="-24691" dirty="0">
                <a:latin typeface="Times New Roman"/>
                <a:cs typeface="Times New Roman"/>
              </a:rPr>
              <a:t>i</a:t>
            </a:r>
            <a:r>
              <a:rPr sz="3709" baseline="-24691" dirty="0">
                <a:latin typeface="Symbol"/>
                <a:cs typeface="Symbol"/>
              </a:rPr>
              <a:t></a:t>
            </a:r>
            <a:r>
              <a:rPr sz="3709" baseline="-24691" dirty="0">
                <a:latin typeface="Times New Roman"/>
                <a:cs typeface="Times New Roman"/>
              </a:rPr>
              <a:t>1</a:t>
            </a:r>
            <a:r>
              <a:rPr sz="4327" dirty="0">
                <a:latin typeface="Times New Roman"/>
                <a:cs typeface="Times New Roman"/>
              </a:rPr>
              <a:t>,</a:t>
            </a:r>
            <a:r>
              <a:rPr sz="4327" spc="-481" dirty="0">
                <a:latin typeface="Times New Roman"/>
                <a:cs typeface="Times New Roman"/>
              </a:rPr>
              <a:t> </a:t>
            </a:r>
            <a:r>
              <a:rPr sz="4327" i="1" spc="-14" dirty="0">
                <a:latin typeface="Times New Roman"/>
                <a:cs typeface="Times New Roman"/>
              </a:rPr>
              <a:t>w</a:t>
            </a:r>
            <a:r>
              <a:rPr sz="3709" i="1" spc="-21" baseline="-24691" dirty="0">
                <a:latin typeface="Times New Roman"/>
                <a:cs typeface="Times New Roman"/>
              </a:rPr>
              <a:t>i</a:t>
            </a:r>
            <a:r>
              <a:rPr sz="3709" i="1" spc="-143" baseline="-24691" dirty="0">
                <a:latin typeface="Times New Roman"/>
                <a:cs typeface="Times New Roman"/>
              </a:rPr>
              <a:t> </a:t>
            </a:r>
            <a:r>
              <a:rPr sz="4327" spc="21" dirty="0">
                <a:latin typeface="Times New Roman"/>
                <a:cs typeface="Times New Roman"/>
              </a:rPr>
              <a:t>)</a:t>
            </a:r>
            <a:r>
              <a:rPr sz="4327" spc="-577" dirty="0">
                <a:latin typeface="Times New Roman"/>
                <a:cs typeface="Times New Roman"/>
              </a:rPr>
              <a:t> </a:t>
            </a:r>
            <a:r>
              <a:rPr sz="4327" spc="27" dirty="0">
                <a:latin typeface="Symbol"/>
                <a:cs typeface="Symbol"/>
              </a:rPr>
              <a:t></a:t>
            </a:r>
            <a:r>
              <a:rPr sz="4327" spc="-364" dirty="0">
                <a:latin typeface="Times New Roman"/>
                <a:cs typeface="Times New Roman"/>
              </a:rPr>
              <a:t> </a:t>
            </a:r>
            <a:r>
              <a:rPr sz="4327" i="1" spc="62" dirty="0">
                <a:latin typeface="Times New Roman"/>
                <a:cs typeface="Times New Roman"/>
              </a:rPr>
              <a:t>m</a:t>
            </a:r>
            <a:r>
              <a:rPr sz="4327" spc="62" dirty="0">
                <a:latin typeface="Times New Roman"/>
                <a:cs typeface="Times New Roman"/>
              </a:rPr>
              <a:t>(	</a:t>
            </a:r>
            <a:r>
              <a:rPr sz="4327" spc="21" dirty="0">
                <a:latin typeface="Times New Roman"/>
                <a:cs typeface="Times New Roman"/>
              </a:rPr>
              <a:t>)</a:t>
            </a:r>
            <a:endParaRPr sz="4327">
              <a:latin typeface="Times New Roman"/>
              <a:cs typeface="Times New Roman"/>
            </a:endParaRPr>
          </a:p>
        </p:txBody>
      </p:sp>
      <p:sp>
        <p:nvSpPr>
          <p:cNvPr id="11" name="object 11"/>
          <p:cNvSpPr txBox="1"/>
          <p:nvPr/>
        </p:nvSpPr>
        <p:spPr>
          <a:xfrm>
            <a:off x="7506805" y="5546210"/>
            <a:ext cx="2411974" cy="687909"/>
          </a:xfrm>
          <a:prstGeom prst="rect">
            <a:avLst/>
          </a:prstGeom>
        </p:spPr>
        <p:txBody>
          <a:bodyPr vert="horz" wrap="square" lIns="0" tIns="21808" rIns="0" bIns="0" rtlCol="0">
            <a:spAutoFit/>
          </a:bodyPr>
          <a:lstStyle/>
          <a:p>
            <a:pPr marL="52338">
              <a:spcBef>
                <a:spcPts val="172"/>
              </a:spcBef>
            </a:pPr>
            <a:r>
              <a:rPr sz="4327" i="1" spc="89" dirty="0">
                <a:latin typeface="Times New Roman"/>
                <a:cs typeface="Times New Roman"/>
              </a:rPr>
              <a:t>c</a:t>
            </a:r>
            <a:r>
              <a:rPr sz="4327" spc="124" dirty="0">
                <a:latin typeface="Times New Roman"/>
                <a:cs typeface="Times New Roman"/>
              </a:rPr>
              <a:t>(</a:t>
            </a:r>
            <a:r>
              <a:rPr sz="4327" i="1" spc="-41" dirty="0">
                <a:latin typeface="Times New Roman"/>
                <a:cs typeface="Times New Roman"/>
              </a:rPr>
              <a:t>w</a:t>
            </a:r>
            <a:r>
              <a:rPr sz="3709" i="1" spc="71" baseline="-24691" dirty="0">
                <a:latin typeface="Times New Roman"/>
                <a:cs typeface="Times New Roman"/>
              </a:rPr>
              <a:t>i</a:t>
            </a:r>
            <a:r>
              <a:rPr sz="3709" spc="-277" baseline="-24691" dirty="0">
                <a:latin typeface="Symbol"/>
                <a:cs typeface="Symbol"/>
              </a:rPr>
              <a:t></a:t>
            </a:r>
            <a:r>
              <a:rPr sz="3709" spc="41" baseline="-24691" dirty="0">
                <a:latin typeface="Times New Roman"/>
                <a:cs typeface="Times New Roman"/>
              </a:rPr>
              <a:t>1</a:t>
            </a:r>
            <a:r>
              <a:rPr sz="3709" spc="-484" baseline="-24691" dirty="0">
                <a:latin typeface="Times New Roman"/>
                <a:cs typeface="Times New Roman"/>
              </a:rPr>
              <a:t> </a:t>
            </a:r>
            <a:r>
              <a:rPr sz="4327" spc="21" dirty="0">
                <a:latin typeface="Times New Roman"/>
                <a:cs typeface="Times New Roman"/>
              </a:rPr>
              <a:t>)</a:t>
            </a:r>
            <a:r>
              <a:rPr sz="4327" spc="-584" dirty="0">
                <a:latin typeface="Times New Roman"/>
                <a:cs typeface="Times New Roman"/>
              </a:rPr>
              <a:t> </a:t>
            </a:r>
            <a:r>
              <a:rPr sz="4327" spc="27" dirty="0">
                <a:latin typeface="Symbol"/>
                <a:cs typeface="Symbol"/>
              </a:rPr>
              <a:t></a:t>
            </a:r>
            <a:r>
              <a:rPr sz="4327" spc="-371" dirty="0">
                <a:latin typeface="Times New Roman"/>
                <a:cs typeface="Times New Roman"/>
              </a:rPr>
              <a:t> </a:t>
            </a:r>
            <a:r>
              <a:rPr sz="4327" i="1" spc="41" dirty="0">
                <a:latin typeface="Times New Roman"/>
                <a:cs typeface="Times New Roman"/>
              </a:rPr>
              <a:t>m</a:t>
            </a:r>
            <a:endParaRPr sz="4327">
              <a:latin typeface="Times New Roman"/>
              <a:cs typeface="Times New Roman"/>
            </a:endParaRPr>
          </a:p>
        </p:txBody>
      </p:sp>
      <p:sp>
        <p:nvSpPr>
          <p:cNvPr id="12" name="object 12"/>
          <p:cNvSpPr txBox="1"/>
          <p:nvPr/>
        </p:nvSpPr>
        <p:spPr>
          <a:xfrm>
            <a:off x="3002147" y="2758963"/>
            <a:ext cx="3088024" cy="687973"/>
          </a:xfrm>
          <a:prstGeom prst="rect">
            <a:avLst/>
          </a:prstGeom>
        </p:spPr>
        <p:txBody>
          <a:bodyPr vert="horz" wrap="square" lIns="0" tIns="21808" rIns="0" bIns="0" rtlCol="0">
            <a:spAutoFit/>
          </a:bodyPr>
          <a:lstStyle/>
          <a:p>
            <a:pPr marL="52338">
              <a:spcBef>
                <a:spcPts val="172"/>
              </a:spcBef>
            </a:pPr>
            <a:r>
              <a:rPr sz="6491" i="1" spc="-699" baseline="14109" dirty="0">
                <a:latin typeface="Times New Roman"/>
                <a:cs typeface="Times New Roman"/>
              </a:rPr>
              <a:t>P</a:t>
            </a:r>
            <a:r>
              <a:rPr sz="2473" i="1" spc="14" dirty="0">
                <a:latin typeface="Times New Roman"/>
                <a:cs typeface="Times New Roman"/>
              </a:rPr>
              <a:t>A</a:t>
            </a:r>
            <a:r>
              <a:rPr sz="2473" i="1" spc="27" dirty="0">
                <a:latin typeface="Times New Roman"/>
                <a:cs typeface="Times New Roman"/>
              </a:rPr>
              <a:t>d</a:t>
            </a:r>
            <a:r>
              <a:rPr sz="2473" i="1" spc="185" dirty="0">
                <a:latin typeface="Times New Roman"/>
                <a:cs typeface="Times New Roman"/>
              </a:rPr>
              <a:t>d</a:t>
            </a:r>
            <a:r>
              <a:rPr sz="2473" spc="69" dirty="0">
                <a:latin typeface="Symbol"/>
                <a:cs typeface="Symbol"/>
              </a:rPr>
              <a:t></a:t>
            </a:r>
            <a:r>
              <a:rPr sz="2473" i="1" spc="27" dirty="0">
                <a:latin typeface="Times New Roman"/>
                <a:cs typeface="Times New Roman"/>
              </a:rPr>
              <a:t>k</a:t>
            </a:r>
            <a:r>
              <a:rPr sz="2473" i="1" spc="-89" dirty="0">
                <a:latin typeface="Times New Roman"/>
                <a:cs typeface="Times New Roman"/>
              </a:rPr>
              <a:t> </a:t>
            </a:r>
            <a:r>
              <a:rPr sz="6491" spc="185" baseline="14109" dirty="0">
                <a:latin typeface="Times New Roman"/>
                <a:cs typeface="Times New Roman"/>
              </a:rPr>
              <a:t>(</a:t>
            </a:r>
            <a:r>
              <a:rPr sz="6491" i="1" spc="-60" baseline="14109" dirty="0">
                <a:latin typeface="Times New Roman"/>
                <a:cs typeface="Times New Roman"/>
              </a:rPr>
              <a:t>w</a:t>
            </a:r>
            <a:r>
              <a:rPr sz="2473" i="1" spc="14" dirty="0">
                <a:latin typeface="Times New Roman"/>
                <a:cs typeface="Times New Roman"/>
              </a:rPr>
              <a:t>i</a:t>
            </a:r>
            <a:r>
              <a:rPr sz="2473" i="1" dirty="0">
                <a:latin typeface="Times New Roman"/>
                <a:cs typeface="Times New Roman"/>
              </a:rPr>
              <a:t> </a:t>
            </a:r>
            <a:r>
              <a:rPr sz="2473" i="1" spc="-48" dirty="0">
                <a:latin typeface="Times New Roman"/>
                <a:cs typeface="Times New Roman"/>
              </a:rPr>
              <a:t> </a:t>
            </a:r>
            <a:r>
              <a:rPr sz="6491" spc="10" baseline="14109" dirty="0">
                <a:latin typeface="Times New Roman"/>
                <a:cs typeface="Times New Roman"/>
              </a:rPr>
              <a:t>|</a:t>
            </a:r>
            <a:r>
              <a:rPr sz="6491" spc="-493" baseline="14109" dirty="0">
                <a:latin typeface="Times New Roman"/>
                <a:cs typeface="Times New Roman"/>
              </a:rPr>
              <a:t> </a:t>
            </a:r>
            <a:r>
              <a:rPr sz="6491" i="1" spc="-60" baseline="14109" dirty="0">
                <a:latin typeface="Times New Roman"/>
                <a:cs typeface="Times New Roman"/>
              </a:rPr>
              <a:t>w</a:t>
            </a:r>
            <a:r>
              <a:rPr sz="2473" i="1" spc="48" dirty="0">
                <a:latin typeface="Times New Roman"/>
                <a:cs typeface="Times New Roman"/>
              </a:rPr>
              <a:t>i</a:t>
            </a:r>
            <a:r>
              <a:rPr sz="2473" spc="-185" dirty="0">
                <a:latin typeface="Symbol"/>
                <a:cs typeface="Symbol"/>
              </a:rPr>
              <a:t></a:t>
            </a:r>
            <a:r>
              <a:rPr sz="2473" spc="27" dirty="0">
                <a:latin typeface="Times New Roman"/>
                <a:cs typeface="Times New Roman"/>
              </a:rPr>
              <a:t>1</a:t>
            </a:r>
            <a:endParaRPr sz="2473">
              <a:latin typeface="Times New Roman"/>
              <a:cs typeface="Times New Roman"/>
            </a:endParaRPr>
          </a:p>
        </p:txBody>
      </p:sp>
      <p:sp>
        <p:nvSpPr>
          <p:cNvPr id="13" name="object 13"/>
          <p:cNvSpPr txBox="1"/>
          <p:nvPr/>
        </p:nvSpPr>
        <p:spPr>
          <a:xfrm>
            <a:off x="6023007" y="2287043"/>
            <a:ext cx="3684693" cy="687973"/>
          </a:xfrm>
          <a:prstGeom prst="rect">
            <a:avLst/>
          </a:prstGeom>
        </p:spPr>
        <p:txBody>
          <a:bodyPr vert="horz" wrap="square" lIns="0" tIns="21808" rIns="0" bIns="0" rtlCol="0">
            <a:spAutoFit/>
          </a:bodyPr>
          <a:lstStyle/>
          <a:p>
            <a:pPr marL="52338">
              <a:spcBef>
                <a:spcPts val="172"/>
              </a:spcBef>
            </a:pPr>
            <a:r>
              <a:rPr sz="6491" spc="30" baseline="-33509" dirty="0">
                <a:latin typeface="Times New Roman"/>
                <a:cs typeface="Times New Roman"/>
              </a:rPr>
              <a:t>)</a:t>
            </a:r>
            <a:r>
              <a:rPr sz="6491" spc="-515" baseline="-33509" dirty="0">
                <a:latin typeface="Times New Roman"/>
                <a:cs typeface="Times New Roman"/>
              </a:rPr>
              <a:t> </a:t>
            </a:r>
            <a:r>
              <a:rPr sz="6491" spc="51" baseline="-33509" dirty="0">
                <a:latin typeface="Symbol"/>
                <a:cs typeface="Symbol"/>
              </a:rPr>
              <a:t></a:t>
            </a:r>
            <a:r>
              <a:rPr sz="6491" spc="195" baseline="-33509" dirty="0">
                <a:latin typeface="Times New Roman"/>
                <a:cs typeface="Times New Roman"/>
              </a:rPr>
              <a:t> </a:t>
            </a:r>
            <a:r>
              <a:rPr sz="4327" i="1" spc="89" dirty="0">
                <a:latin typeface="Times New Roman"/>
                <a:cs typeface="Times New Roman"/>
              </a:rPr>
              <a:t>c</a:t>
            </a:r>
            <a:r>
              <a:rPr sz="4327" spc="124" dirty="0">
                <a:latin typeface="Times New Roman"/>
                <a:cs typeface="Times New Roman"/>
              </a:rPr>
              <a:t>(</a:t>
            </a:r>
            <a:r>
              <a:rPr sz="4327" i="1" spc="-41" dirty="0">
                <a:latin typeface="Times New Roman"/>
                <a:cs typeface="Times New Roman"/>
              </a:rPr>
              <a:t>w</a:t>
            </a:r>
            <a:r>
              <a:rPr sz="3709" i="1" spc="71" baseline="-24691" dirty="0">
                <a:latin typeface="Times New Roman"/>
                <a:cs typeface="Times New Roman"/>
              </a:rPr>
              <a:t>i</a:t>
            </a:r>
            <a:r>
              <a:rPr sz="3709" spc="-277" baseline="-24691" dirty="0">
                <a:latin typeface="Symbol"/>
                <a:cs typeface="Symbol"/>
              </a:rPr>
              <a:t></a:t>
            </a:r>
            <a:r>
              <a:rPr sz="3709" spc="-30" baseline="-24691" dirty="0">
                <a:latin typeface="Times New Roman"/>
                <a:cs typeface="Times New Roman"/>
              </a:rPr>
              <a:t>1</a:t>
            </a:r>
            <a:r>
              <a:rPr sz="4327" spc="14" dirty="0">
                <a:latin typeface="Times New Roman"/>
                <a:cs typeface="Times New Roman"/>
              </a:rPr>
              <a:t>,</a:t>
            </a:r>
            <a:r>
              <a:rPr sz="4327" spc="-481" dirty="0">
                <a:latin typeface="Times New Roman"/>
                <a:cs typeface="Times New Roman"/>
              </a:rPr>
              <a:t> </a:t>
            </a:r>
            <a:r>
              <a:rPr sz="4327" i="1" spc="-41" dirty="0">
                <a:latin typeface="Times New Roman"/>
                <a:cs typeface="Times New Roman"/>
              </a:rPr>
              <a:t>w</a:t>
            </a:r>
            <a:r>
              <a:rPr sz="3709" i="1" spc="21" baseline="-24691" dirty="0">
                <a:latin typeface="Times New Roman"/>
                <a:cs typeface="Times New Roman"/>
              </a:rPr>
              <a:t>i</a:t>
            </a:r>
            <a:r>
              <a:rPr sz="3709" i="1" spc="-154" baseline="-24691" dirty="0">
                <a:latin typeface="Times New Roman"/>
                <a:cs typeface="Times New Roman"/>
              </a:rPr>
              <a:t> </a:t>
            </a:r>
            <a:r>
              <a:rPr sz="4327" spc="21" dirty="0">
                <a:latin typeface="Times New Roman"/>
                <a:cs typeface="Times New Roman"/>
              </a:rPr>
              <a:t>)</a:t>
            </a:r>
            <a:r>
              <a:rPr sz="4327" spc="-584" dirty="0">
                <a:latin typeface="Times New Roman"/>
                <a:cs typeface="Times New Roman"/>
              </a:rPr>
              <a:t> </a:t>
            </a:r>
            <a:r>
              <a:rPr sz="4327" spc="34" dirty="0">
                <a:latin typeface="Symbol"/>
                <a:cs typeface="Symbol"/>
              </a:rPr>
              <a:t></a:t>
            </a:r>
            <a:r>
              <a:rPr sz="4327" spc="-405" dirty="0">
                <a:latin typeface="Times New Roman"/>
                <a:cs typeface="Times New Roman"/>
              </a:rPr>
              <a:t> </a:t>
            </a:r>
            <a:r>
              <a:rPr sz="4327" i="1" spc="27" dirty="0">
                <a:latin typeface="Times New Roman"/>
                <a:cs typeface="Times New Roman"/>
              </a:rPr>
              <a:t>k</a:t>
            </a:r>
            <a:endParaRPr sz="4327">
              <a:latin typeface="Times New Roman"/>
              <a:cs typeface="Times New Roman"/>
            </a:endParaRPr>
          </a:p>
        </p:txBody>
      </p:sp>
      <p:sp>
        <p:nvSpPr>
          <p:cNvPr id="14" name="object 14"/>
          <p:cNvSpPr txBox="1"/>
          <p:nvPr/>
        </p:nvSpPr>
        <p:spPr>
          <a:xfrm>
            <a:off x="7765851" y="3434371"/>
            <a:ext cx="440523" cy="404336"/>
          </a:xfrm>
          <a:prstGeom prst="rect">
            <a:avLst/>
          </a:prstGeom>
        </p:spPr>
        <p:txBody>
          <a:bodyPr vert="horz" wrap="square" lIns="0" tIns="23553" rIns="0" bIns="0" rtlCol="0">
            <a:spAutoFit/>
          </a:bodyPr>
          <a:lstStyle/>
          <a:p>
            <a:pPr marL="17446">
              <a:spcBef>
                <a:spcPts val="185"/>
              </a:spcBef>
            </a:pPr>
            <a:r>
              <a:rPr sz="2473" i="1" spc="48" dirty="0">
                <a:latin typeface="Times New Roman"/>
                <a:cs typeface="Times New Roman"/>
              </a:rPr>
              <a:t>i</a:t>
            </a:r>
            <a:r>
              <a:rPr sz="2473" spc="-185" dirty="0">
                <a:latin typeface="Symbol"/>
                <a:cs typeface="Symbol"/>
              </a:rPr>
              <a:t></a:t>
            </a:r>
            <a:r>
              <a:rPr sz="2473" spc="27" dirty="0">
                <a:latin typeface="Times New Roman"/>
                <a:cs typeface="Times New Roman"/>
              </a:rPr>
              <a:t>1</a:t>
            </a:r>
            <a:endParaRPr sz="2473">
              <a:latin typeface="Times New Roman"/>
              <a:cs typeface="Times New Roman"/>
            </a:endParaRPr>
          </a:p>
        </p:txBody>
      </p:sp>
      <p:sp>
        <p:nvSpPr>
          <p:cNvPr id="15" name="object 15"/>
          <p:cNvSpPr txBox="1"/>
          <p:nvPr/>
        </p:nvSpPr>
        <p:spPr>
          <a:xfrm>
            <a:off x="6949636" y="3062031"/>
            <a:ext cx="2536716" cy="687909"/>
          </a:xfrm>
          <a:prstGeom prst="rect">
            <a:avLst/>
          </a:prstGeom>
        </p:spPr>
        <p:txBody>
          <a:bodyPr vert="horz" wrap="square" lIns="0" tIns="21808" rIns="0" bIns="0" rtlCol="0">
            <a:spAutoFit/>
          </a:bodyPr>
          <a:lstStyle/>
          <a:p>
            <a:pPr marL="17446">
              <a:spcBef>
                <a:spcPts val="172"/>
              </a:spcBef>
              <a:tabLst>
                <a:tab pos="1276174" algn="l"/>
              </a:tabLst>
            </a:pPr>
            <a:r>
              <a:rPr sz="4327" i="1" spc="89" dirty="0">
                <a:latin typeface="Times New Roman"/>
                <a:cs typeface="Times New Roman"/>
              </a:rPr>
              <a:t>c</a:t>
            </a:r>
            <a:r>
              <a:rPr sz="4327" spc="124" dirty="0">
                <a:latin typeface="Times New Roman"/>
                <a:cs typeface="Times New Roman"/>
              </a:rPr>
              <a:t>(</a:t>
            </a:r>
            <a:r>
              <a:rPr sz="4327" i="1" spc="41" dirty="0">
                <a:latin typeface="Times New Roman"/>
                <a:cs typeface="Times New Roman"/>
              </a:rPr>
              <a:t>w</a:t>
            </a:r>
            <a:r>
              <a:rPr sz="4327" i="1" dirty="0">
                <a:latin typeface="Times New Roman"/>
                <a:cs typeface="Times New Roman"/>
              </a:rPr>
              <a:t>	</a:t>
            </a:r>
            <a:r>
              <a:rPr sz="4327" spc="21" dirty="0">
                <a:latin typeface="Times New Roman"/>
                <a:cs typeface="Times New Roman"/>
              </a:rPr>
              <a:t>)</a:t>
            </a:r>
            <a:r>
              <a:rPr sz="4327" spc="-584" dirty="0">
                <a:latin typeface="Times New Roman"/>
                <a:cs typeface="Times New Roman"/>
              </a:rPr>
              <a:t> </a:t>
            </a:r>
            <a:r>
              <a:rPr sz="4327" spc="34" dirty="0">
                <a:latin typeface="Symbol"/>
                <a:cs typeface="Symbol"/>
              </a:rPr>
              <a:t></a:t>
            </a:r>
            <a:r>
              <a:rPr sz="4327" spc="-405" dirty="0">
                <a:latin typeface="Times New Roman"/>
                <a:cs typeface="Times New Roman"/>
              </a:rPr>
              <a:t> </a:t>
            </a:r>
            <a:r>
              <a:rPr sz="4327" i="1" spc="124" dirty="0">
                <a:latin typeface="Times New Roman"/>
                <a:cs typeface="Times New Roman"/>
              </a:rPr>
              <a:t>k</a:t>
            </a:r>
            <a:r>
              <a:rPr sz="4327" i="1" spc="34" dirty="0">
                <a:latin typeface="Times New Roman"/>
                <a:cs typeface="Times New Roman"/>
              </a:rPr>
              <a:t>V</a:t>
            </a:r>
            <a:endParaRPr sz="4327">
              <a:latin typeface="Times New Roman"/>
              <a:cs typeface="Times New Roman"/>
            </a:endParaRPr>
          </a:p>
        </p:txBody>
      </p:sp>
      <p:sp>
        <p:nvSpPr>
          <p:cNvPr id="16" name="object 16"/>
          <p:cNvSpPr/>
          <p:nvPr/>
        </p:nvSpPr>
        <p:spPr>
          <a:xfrm>
            <a:off x="6786993" y="3072982"/>
            <a:ext cx="2919666" cy="0"/>
          </a:xfrm>
          <a:custGeom>
            <a:avLst/>
            <a:gdLst/>
            <a:ahLst/>
            <a:cxnLst/>
            <a:rect l="l" t="t" r="r" b="b"/>
            <a:pathLst>
              <a:path w="2125345">
                <a:moveTo>
                  <a:pt x="0" y="0"/>
                </a:moveTo>
                <a:lnTo>
                  <a:pt x="2125004" y="0"/>
                </a:lnTo>
              </a:path>
            </a:pathLst>
          </a:custGeom>
          <a:ln w="19960">
            <a:solidFill>
              <a:srgbClr val="000000"/>
            </a:solidFill>
          </a:ln>
        </p:spPr>
        <p:txBody>
          <a:bodyPr wrap="square" lIns="0" tIns="0" rIns="0" bIns="0" rtlCol="0"/>
          <a:lstStyle/>
          <a:p>
            <a:endParaRPr sz="2473"/>
          </a:p>
        </p:txBody>
      </p:sp>
      <p:sp>
        <p:nvSpPr>
          <p:cNvPr id="17" name="TextBox 16">
            <a:extLst>
              <a:ext uri="{FF2B5EF4-FFF2-40B4-BE49-F238E27FC236}">
                <a16:creationId xmlns:a16="http://schemas.microsoft.com/office/drawing/2014/main" id="{962F432E-E1BB-3A47-80FD-B4224084B406}"/>
              </a:ext>
            </a:extLst>
          </p:cNvPr>
          <p:cNvSpPr txBox="1"/>
          <p:nvPr/>
        </p:nvSpPr>
        <p:spPr>
          <a:xfrm>
            <a:off x="2336800" y="6705600"/>
            <a:ext cx="6871393" cy="461665"/>
          </a:xfrm>
          <a:prstGeom prst="rect">
            <a:avLst/>
          </a:prstGeom>
          <a:noFill/>
        </p:spPr>
        <p:txBody>
          <a:bodyPr wrap="square" rtlCol="0">
            <a:spAutoFit/>
          </a:bodyPr>
          <a:lstStyle/>
          <a:p>
            <a:r>
              <a:rPr lang="en-US" sz="2400" dirty="0"/>
              <a:t>Can you use k&gt;1?</a:t>
            </a:r>
            <a:endParaRPr lang="en-PK" sz="2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8968354" cy="694084"/>
          </a:xfrm>
          <a:prstGeom prst="rect">
            <a:avLst/>
          </a:prstGeom>
        </p:spPr>
        <p:txBody>
          <a:bodyPr vert="horz" wrap="square" lIns="0" tIns="17446" rIns="0" bIns="0" rtlCol="0">
            <a:spAutoFit/>
          </a:bodyPr>
          <a:lstStyle/>
          <a:p>
            <a:pPr marL="17446">
              <a:spcBef>
                <a:spcPts val="137"/>
              </a:spcBef>
            </a:pPr>
            <a:r>
              <a:rPr spc="-7" dirty="0"/>
              <a:t>More general</a:t>
            </a:r>
            <a:r>
              <a:rPr spc="-14" dirty="0"/>
              <a:t> </a:t>
            </a:r>
            <a:r>
              <a:rPr spc="-7" dirty="0"/>
              <a:t>formulations: Add-k</a:t>
            </a:r>
          </a:p>
        </p:txBody>
      </p:sp>
      <p:sp>
        <p:nvSpPr>
          <p:cNvPr id="7" name="object 7"/>
          <p:cNvSpPr txBox="1"/>
          <p:nvPr/>
        </p:nvSpPr>
        <p:spPr>
          <a:xfrm>
            <a:off x="2336800" y="3299080"/>
            <a:ext cx="7731401" cy="687973"/>
          </a:xfrm>
          <a:prstGeom prst="rect">
            <a:avLst/>
          </a:prstGeom>
        </p:spPr>
        <p:txBody>
          <a:bodyPr vert="horz" wrap="square" lIns="0" tIns="21808" rIns="0" bIns="0" rtlCol="0">
            <a:spAutoFit/>
          </a:bodyPr>
          <a:lstStyle/>
          <a:p>
            <a:pPr marL="52338">
              <a:spcBef>
                <a:spcPts val="172"/>
              </a:spcBef>
              <a:tabLst>
                <a:tab pos="7024628" algn="l"/>
                <a:tab pos="7677108" algn="l"/>
              </a:tabLst>
            </a:pPr>
            <a:r>
              <a:rPr sz="6491" i="1" spc="-30" baseline="14109" dirty="0">
                <a:latin typeface="Times New Roman"/>
                <a:cs typeface="Times New Roman"/>
              </a:rPr>
              <a:t>P</a:t>
            </a:r>
            <a:r>
              <a:rPr sz="2473" i="1" spc="-21" dirty="0">
                <a:latin typeface="Times New Roman"/>
                <a:cs typeface="Times New Roman"/>
              </a:rPr>
              <a:t>Add</a:t>
            </a:r>
            <a:r>
              <a:rPr sz="2473" spc="-21" dirty="0">
                <a:latin typeface="Symbol"/>
                <a:cs typeface="Symbol"/>
              </a:rPr>
              <a:t></a:t>
            </a:r>
            <a:r>
              <a:rPr sz="2473" i="1" spc="-21" dirty="0">
                <a:latin typeface="Times New Roman"/>
                <a:cs typeface="Times New Roman"/>
              </a:rPr>
              <a:t>k</a:t>
            </a:r>
            <a:r>
              <a:rPr sz="2473" i="1" spc="-89" dirty="0">
                <a:latin typeface="Times New Roman"/>
                <a:cs typeface="Times New Roman"/>
              </a:rPr>
              <a:t> </a:t>
            </a:r>
            <a:r>
              <a:rPr sz="6491" spc="41" baseline="14109" dirty="0">
                <a:latin typeface="Times New Roman"/>
                <a:cs typeface="Times New Roman"/>
              </a:rPr>
              <a:t>(</a:t>
            </a:r>
            <a:r>
              <a:rPr sz="6491" i="1" spc="41" baseline="14109" dirty="0">
                <a:latin typeface="Times New Roman"/>
                <a:cs typeface="Times New Roman"/>
              </a:rPr>
              <a:t>w</a:t>
            </a:r>
            <a:r>
              <a:rPr sz="2473" i="1" spc="27" dirty="0">
                <a:latin typeface="Times New Roman"/>
                <a:cs typeface="Times New Roman"/>
              </a:rPr>
              <a:t>i</a:t>
            </a:r>
            <a:r>
              <a:rPr sz="2473" i="1" spc="584" dirty="0">
                <a:latin typeface="Times New Roman"/>
                <a:cs typeface="Times New Roman"/>
              </a:rPr>
              <a:t> </a:t>
            </a:r>
            <a:r>
              <a:rPr sz="6491" spc="10" baseline="14109" dirty="0">
                <a:latin typeface="Times New Roman"/>
                <a:cs typeface="Times New Roman"/>
              </a:rPr>
              <a:t>|</a:t>
            </a:r>
            <a:r>
              <a:rPr sz="6491" spc="-493" baseline="14109" dirty="0">
                <a:latin typeface="Times New Roman"/>
                <a:cs typeface="Times New Roman"/>
              </a:rPr>
              <a:t> </a:t>
            </a:r>
            <a:r>
              <a:rPr sz="6491" i="1" spc="-60" baseline="14109" dirty="0">
                <a:latin typeface="Times New Roman"/>
                <a:cs typeface="Times New Roman"/>
              </a:rPr>
              <a:t>w</a:t>
            </a:r>
            <a:r>
              <a:rPr sz="2473" i="1" spc="-41" dirty="0">
                <a:latin typeface="Times New Roman"/>
                <a:cs typeface="Times New Roman"/>
              </a:rPr>
              <a:t>i</a:t>
            </a:r>
            <a:r>
              <a:rPr sz="2473" spc="-41" dirty="0">
                <a:latin typeface="Symbol"/>
                <a:cs typeface="Symbol"/>
              </a:rPr>
              <a:t></a:t>
            </a:r>
            <a:r>
              <a:rPr sz="2473" spc="-41" dirty="0">
                <a:latin typeface="Times New Roman"/>
                <a:cs typeface="Times New Roman"/>
              </a:rPr>
              <a:t>1</a:t>
            </a:r>
            <a:r>
              <a:rPr sz="2473" spc="-315" dirty="0">
                <a:latin typeface="Times New Roman"/>
                <a:cs typeface="Times New Roman"/>
              </a:rPr>
              <a:t> </a:t>
            </a:r>
            <a:r>
              <a:rPr sz="6491" spc="30" baseline="14109" dirty="0">
                <a:latin typeface="Times New Roman"/>
                <a:cs typeface="Times New Roman"/>
              </a:rPr>
              <a:t>)</a:t>
            </a:r>
            <a:r>
              <a:rPr sz="6491" spc="-504" baseline="14109" dirty="0">
                <a:latin typeface="Times New Roman"/>
                <a:cs typeface="Times New Roman"/>
              </a:rPr>
              <a:t> </a:t>
            </a:r>
            <a:r>
              <a:rPr sz="6491" spc="41" baseline="14109" dirty="0">
                <a:latin typeface="Symbol"/>
                <a:cs typeface="Symbol"/>
              </a:rPr>
              <a:t></a:t>
            </a:r>
            <a:r>
              <a:rPr sz="6491" u="heavy" spc="41" baseline="33509" dirty="0">
                <a:uFill>
                  <a:solidFill>
                    <a:srgbClr val="000000"/>
                  </a:solidFill>
                </a:uFill>
                <a:latin typeface="Times New Roman"/>
                <a:cs typeface="Times New Roman"/>
              </a:rPr>
              <a:t>	</a:t>
            </a:r>
            <a:r>
              <a:rPr sz="6491" i="1" u="heavy" spc="51" baseline="33509" dirty="0">
                <a:uFill>
                  <a:solidFill>
                    <a:srgbClr val="000000"/>
                  </a:solidFill>
                </a:uFill>
                <a:latin typeface="Times New Roman"/>
                <a:cs typeface="Times New Roman"/>
              </a:rPr>
              <a:t>V	</a:t>
            </a:r>
            <a:endParaRPr sz="6491" baseline="33509">
              <a:latin typeface="Times New Roman"/>
              <a:cs typeface="Times New Roman"/>
            </a:endParaRPr>
          </a:p>
        </p:txBody>
      </p:sp>
      <p:sp>
        <p:nvSpPr>
          <p:cNvPr id="8" name="object 8"/>
          <p:cNvSpPr txBox="1"/>
          <p:nvPr/>
        </p:nvSpPr>
        <p:spPr>
          <a:xfrm>
            <a:off x="9413992" y="2209800"/>
            <a:ext cx="314036" cy="687909"/>
          </a:xfrm>
          <a:prstGeom prst="rect">
            <a:avLst/>
          </a:prstGeom>
        </p:spPr>
        <p:txBody>
          <a:bodyPr vert="horz" wrap="square" lIns="0" tIns="21808" rIns="0" bIns="0" rtlCol="0">
            <a:spAutoFit/>
          </a:bodyPr>
          <a:lstStyle/>
          <a:p>
            <a:pPr marL="17446">
              <a:spcBef>
                <a:spcPts val="172"/>
              </a:spcBef>
            </a:pPr>
            <a:r>
              <a:rPr sz="4327" spc="27" dirty="0">
                <a:latin typeface="Times New Roman"/>
                <a:cs typeface="Times New Roman"/>
              </a:rPr>
              <a:t>1</a:t>
            </a:r>
            <a:endParaRPr sz="4327">
              <a:latin typeface="Times New Roman"/>
              <a:cs typeface="Times New Roman"/>
            </a:endParaRPr>
          </a:p>
        </p:txBody>
      </p:sp>
      <p:sp>
        <p:nvSpPr>
          <p:cNvPr id="9" name="object 9"/>
          <p:cNvSpPr/>
          <p:nvPr/>
        </p:nvSpPr>
        <p:spPr>
          <a:xfrm>
            <a:off x="9360305" y="2983971"/>
            <a:ext cx="428311" cy="0"/>
          </a:xfrm>
          <a:custGeom>
            <a:avLst/>
            <a:gdLst/>
            <a:ahLst/>
            <a:cxnLst/>
            <a:rect l="l" t="t" r="r" b="b"/>
            <a:pathLst>
              <a:path w="311784">
                <a:moveTo>
                  <a:pt x="0" y="0"/>
                </a:moveTo>
                <a:lnTo>
                  <a:pt x="311746" y="0"/>
                </a:lnTo>
              </a:path>
            </a:pathLst>
          </a:custGeom>
          <a:ln w="9452">
            <a:solidFill>
              <a:srgbClr val="000000"/>
            </a:solidFill>
          </a:ln>
        </p:spPr>
        <p:txBody>
          <a:bodyPr wrap="square" lIns="0" tIns="0" rIns="0" bIns="0" rtlCol="0"/>
          <a:lstStyle/>
          <a:p>
            <a:endParaRPr sz="2473"/>
          </a:p>
        </p:txBody>
      </p:sp>
      <p:sp>
        <p:nvSpPr>
          <p:cNvPr id="10" name="object 10"/>
          <p:cNvSpPr txBox="1"/>
          <p:nvPr/>
        </p:nvSpPr>
        <p:spPr>
          <a:xfrm>
            <a:off x="6079311" y="2535862"/>
            <a:ext cx="3976922" cy="687909"/>
          </a:xfrm>
          <a:prstGeom prst="rect">
            <a:avLst/>
          </a:prstGeom>
        </p:spPr>
        <p:txBody>
          <a:bodyPr vert="horz" wrap="square" lIns="0" tIns="21808" rIns="0" bIns="0" rtlCol="0">
            <a:spAutoFit/>
          </a:bodyPr>
          <a:lstStyle/>
          <a:p>
            <a:pPr marL="69784">
              <a:spcBef>
                <a:spcPts val="172"/>
              </a:spcBef>
              <a:tabLst>
                <a:tab pos="3737803" algn="l"/>
              </a:tabLst>
            </a:pPr>
            <a:r>
              <a:rPr sz="4327" i="1" dirty="0">
                <a:latin typeface="Times New Roman"/>
                <a:cs typeface="Times New Roman"/>
              </a:rPr>
              <a:t>c</a:t>
            </a:r>
            <a:r>
              <a:rPr sz="4327" dirty="0">
                <a:latin typeface="Times New Roman"/>
                <a:cs typeface="Times New Roman"/>
              </a:rPr>
              <a:t>(</a:t>
            </a:r>
            <a:r>
              <a:rPr sz="4327" i="1" dirty="0">
                <a:latin typeface="Times New Roman"/>
                <a:cs typeface="Times New Roman"/>
              </a:rPr>
              <a:t>w</a:t>
            </a:r>
            <a:r>
              <a:rPr sz="3709" i="1" baseline="-24691" dirty="0">
                <a:latin typeface="Times New Roman"/>
                <a:cs typeface="Times New Roman"/>
              </a:rPr>
              <a:t>i</a:t>
            </a:r>
            <a:r>
              <a:rPr sz="3709" baseline="-24691" dirty="0">
                <a:latin typeface="Symbol"/>
                <a:cs typeface="Symbol"/>
              </a:rPr>
              <a:t></a:t>
            </a:r>
            <a:r>
              <a:rPr sz="3709" baseline="-24691" dirty="0">
                <a:latin typeface="Times New Roman"/>
                <a:cs typeface="Times New Roman"/>
              </a:rPr>
              <a:t>1</a:t>
            </a:r>
            <a:r>
              <a:rPr sz="4327" dirty="0">
                <a:latin typeface="Times New Roman"/>
                <a:cs typeface="Times New Roman"/>
              </a:rPr>
              <a:t>,</a:t>
            </a:r>
            <a:r>
              <a:rPr sz="4327" spc="-481" dirty="0">
                <a:latin typeface="Times New Roman"/>
                <a:cs typeface="Times New Roman"/>
              </a:rPr>
              <a:t> </a:t>
            </a:r>
            <a:r>
              <a:rPr sz="4327" i="1" spc="-14" dirty="0">
                <a:latin typeface="Times New Roman"/>
                <a:cs typeface="Times New Roman"/>
              </a:rPr>
              <a:t>w</a:t>
            </a:r>
            <a:r>
              <a:rPr sz="3709" i="1" spc="-21" baseline="-24691" dirty="0">
                <a:latin typeface="Times New Roman"/>
                <a:cs typeface="Times New Roman"/>
              </a:rPr>
              <a:t>i</a:t>
            </a:r>
            <a:r>
              <a:rPr sz="3709" i="1" spc="-143" baseline="-24691" dirty="0">
                <a:latin typeface="Times New Roman"/>
                <a:cs typeface="Times New Roman"/>
              </a:rPr>
              <a:t> </a:t>
            </a:r>
            <a:r>
              <a:rPr sz="4327" spc="21" dirty="0">
                <a:latin typeface="Times New Roman"/>
                <a:cs typeface="Times New Roman"/>
              </a:rPr>
              <a:t>)</a:t>
            </a:r>
            <a:r>
              <a:rPr sz="4327" spc="-577" dirty="0">
                <a:latin typeface="Times New Roman"/>
                <a:cs typeface="Times New Roman"/>
              </a:rPr>
              <a:t> </a:t>
            </a:r>
            <a:r>
              <a:rPr sz="4327" spc="27" dirty="0">
                <a:latin typeface="Symbol"/>
                <a:cs typeface="Symbol"/>
              </a:rPr>
              <a:t></a:t>
            </a:r>
            <a:r>
              <a:rPr sz="4327" spc="-364" dirty="0">
                <a:latin typeface="Times New Roman"/>
                <a:cs typeface="Times New Roman"/>
              </a:rPr>
              <a:t> </a:t>
            </a:r>
            <a:r>
              <a:rPr sz="4327" i="1" spc="62" dirty="0">
                <a:latin typeface="Times New Roman"/>
                <a:cs typeface="Times New Roman"/>
              </a:rPr>
              <a:t>m</a:t>
            </a:r>
            <a:r>
              <a:rPr sz="4327" spc="62" dirty="0">
                <a:latin typeface="Times New Roman"/>
                <a:cs typeface="Times New Roman"/>
              </a:rPr>
              <a:t>(	</a:t>
            </a:r>
            <a:r>
              <a:rPr sz="4327" spc="21" dirty="0">
                <a:latin typeface="Times New Roman"/>
                <a:cs typeface="Times New Roman"/>
              </a:rPr>
              <a:t>)</a:t>
            </a:r>
            <a:endParaRPr sz="4327">
              <a:latin typeface="Times New Roman"/>
              <a:cs typeface="Times New Roman"/>
            </a:endParaRPr>
          </a:p>
        </p:txBody>
      </p:sp>
      <p:sp>
        <p:nvSpPr>
          <p:cNvPr id="11" name="object 11"/>
          <p:cNvSpPr txBox="1"/>
          <p:nvPr/>
        </p:nvSpPr>
        <p:spPr>
          <a:xfrm>
            <a:off x="6837136" y="3602060"/>
            <a:ext cx="2411974" cy="687909"/>
          </a:xfrm>
          <a:prstGeom prst="rect">
            <a:avLst/>
          </a:prstGeom>
        </p:spPr>
        <p:txBody>
          <a:bodyPr vert="horz" wrap="square" lIns="0" tIns="21808" rIns="0" bIns="0" rtlCol="0">
            <a:spAutoFit/>
          </a:bodyPr>
          <a:lstStyle/>
          <a:p>
            <a:pPr marL="52338">
              <a:spcBef>
                <a:spcPts val="172"/>
              </a:spcBef>
            </a:pPr>
            <a:r>
              <a:rPr sz="4327" i="1" spc="89" dirty="0">
                <a:latin typeface="Times New Roman"/>
                <a:cs typeface="Times New Roman"/>
              </a:rPr>
              <a:t>c</a:t>
            </a:r>
            <a:r>
              <a:rPr sz="4327" spc="124" dirty="0">
                <a:latin typeface="Times New Roman"/>
                <a:cs typeface="Times New Roman"/>
              </a:rPr>
              <a:t>(</a:t>
            </a:r>
            <a:r>
              <a:rPr sz="4327" i="1" spc="-41" dirty="0">
                <a:latin typeface="Times New Roman"/>
                <a:cs typeface="Times New Roman"/>
              </a:rPr>
              <a:t>w</a:t>
            </a:r>
            <a:r>
              <a:rPr sz="3709" i="1" spc="71" baseline="-24691" dirty="0">
                <a:latin typeface="Times New Roman"/>
                <a:cs typeface="Times New Roman"/>
              </a:rPr>
              <a:t>i</a:t>
            </a:r>
            <a:r>
              <a:rPr sz="3709" spc="-277" baseline="-24691" dirty="0">
                <a:latin typeface="Symbol"/>
                <a:cs typeface="Symbol"/>
              </a:rPr>
              <a:t></a:t>
            </a:r>
            <a:r>
              <a:rPr sz="3709" spc="41" baseline="-24691" dirty="0">
                <a:latin typeface="Times New Roman"/>
                <a:cs typeface="Times New Roman"/>
              </a:rPr>
              <a:t>1</a:t>
            </a:r>
            <a:r>
              <a:rPr sz="3709" spc="-484" baseline="-24691" dirty="0">
                <a:latin typeface="Times New Roman"/>
                <a:cs typeface="Times New Roman"/>
              </a:rPr>
              <a:t> </a:t>
            </a:r>
            <a:r>
              <a:rPr sz="4327" spc="21" dirty="0">
                <a:latin typeface="Times New Roman"/>
                <a:cs typeface="Times New Roman"/>
              </a:rPr>
              <a:t>)</a:t>
            </a:r>
            <a:r>
              <a:rPr sz="4327" spc="-584" dirty="0">
                <a:latin typeface="Times New Roman"/>
                <a:cs typeface="Times New Roman"/>
              </a:rPr>
              <a:t> </a:t>
            </a:r>
            <a:r>
              <a:rPr sz="4327" spc="27" dirty="0">
                <a:latin typeface="Symbol"/>
                <a:cs typeface="Symbol"/>
              </a:rPr>
              <a:t></a:t>
            </a:r>
            <a:r>
              <a:rPr sz="4327" spc="-371" dirty="0">
                <a:latin typeface="Times New Roman"/>
                <a:cs typeface="Times New Roman"/>
              </a:rPr>
              <a:t> </a:t>
            </a:r>
            <a:r>
              <a:rPr sz="4327" i="1" spc="41" dirty="0">
                <a:latin typeface="Times New Roman"/>
                <a:cs typeface="Times New Roman"/>
              </a:rPr>
              <a:t>m</a:t>
            </a:r>
            <a:endParaRPr sz="4327">
              <a:latin typeface="Times New Roman"/>
              <a:cs typeface="Times New Roman"/>
            </a:endParaRPr>
          </a:p>
        </p:txBody>
      </p:sp>
      <p:sp>
        <p:nvSpPr>
          <p:cNvPr id="17" name="TextBox 16">
            <a:extLst>
              <a:ext uri="{FF2B5EF4-FFF2-40B4-BE49-F238E27FC236}">
                <a16:creationId xmlns:a16="http://schemas.microsoft.com/office/drawing/2014/main" id="{962F432E-E1BB-3A47-80FD-B4224084B406}"/>
              </a:ext>
            </a:extLst>
          </p:cNvPr>
          <p:cNvSpPr txBox="1"/>
          <p:nvPr/>
        </p:nvSpPr>
        <p:spPr>
          <a:xfrm>
            <a:off x="889001" y="4827156"/>
            <a:ext cx="6351388" cy="1200329"/>
          </a:xfrm>
          <a:prstGeom prst="rect">
            <a:avLst/>
          </a:prstGeom>
          <a:noFill/>
        </p:spPr>
        <p:txBody>
          <a:bodyPr wrap="square" rtlCol="0">
            <a:spAutoFit/>
          </a:bodyPr>
          <a:lstStyle/>
          <a:p>
            <a:r>
              <a:rPr lang="en-US" sz="2400" dirty="0"/>
              <a:t>If all words occur uniformly, probability for words: 1/|v|</a:t>
            </a:r>
          </a:p>
          <a:p>
            <a:r>
              <a:rPr lang="en-US" sz="2400" dirty="0"/>
              <a:t>P(word)= 1/|V|</a:t>
            </a:r>
            <a:endParaRPr lang="en-PK" sz="2400" dirty="0"/>
          </a:p>
        </p:txBody>
      </p:sp>
      <p:sp>
        <p:nvSpPr>
          <p:cNvPr id="18" name="TextBox 17">
            <a:extLst>
              <a:ext uri="{FF2B5EF4-FFF2-40B4-BE49-F238E27FC236}">
                <a16:creationId xmlns:a16="http://schemas.microsoft.com/office/drawing/2014/main" id="{5A483E67-78CC-0517-E951-87A96AD3C155}"/>
              </a:ext>
            </a:extLst>
          </p:cNvPr>
          <p:cNvSpPr txBox="1"/>
          <p:nvPr/>
        </p:nvSpPr>
        <p:spPr>
          <a:xfrm>
            <a:off x="8067772" y="4846206"/>
            <a:ext cx="5423594" cy="1938992"/>
          </a:xfrm>
          <a:prstGeom prst="rect">
            <a:avLst/>
          </a:prstGeom>
          <a:noFill/>
        </p:spPr>
        <p:txBody>
          <a:bodyPr wrap="square" rtlCol="0">
            <a:spAutoFit/>
          </a:bodyPr>
          <a:lstStyle/>
          <a:p>
            <a:r>
              <a:rPr lang="en-US" sz="2400" dirty="0"/>
              <a:t>m&gt;0</a:t>
            </a:r>
          </a:p>
          <a:p>
            <a:r>
              <a:rPr lang="en-US" sz="2400" dirty="0"/>
              <a:t>V=10000</a:t>
            </a:r>
          </a:p>
          <a:p>
            <a:r>
              <a:rPr lang="en-US" sz="2400" dirty="0"/>
              <a:t>1/|V|=0.0001</a:t>
            </a:r>
          </a:p>
          <a:p>
            <a:r>
              <a:rPr lang="en-US" sz="2400" dirty="0"/>
              <a:t>For good estimation m &lt; |V|</a:t>
            </a:r>
          </a:p>
          <a:p>
            <a:r>
              <a:rPr lang="en-US" sz="2400" dirty="0"/>
              <a:t>If m=10000, it becomes add-1 smoothing</a:t>
            </a:r>
            <a:endParaRPr lang="en-PK" sz="2400" dirty="0"/>
          </a:p>
        </p:txBody>
      </p:sp>
    </p:spTree>
    <p:extLst>
      <p:ext uri="{BB962C8B-B14F-4D97-AF65-F5344CB8AC3E}">
        <p14:creationId xmlns:p14="http://schemas.microsoft.com/office/powerpoint/2010/main" val="28616139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6734335" cy="694084"/>
          </a:xfrm>
          <a:prstGeom prst="rect">
            <a:avLst/>
          </a:prstGeom>
        </p:spPr>
        <p:txBody>
          <a:bodyPr vert="horz" wrap="square" lIns="0" tIns="17446" rIns="0" bIns="0" rtlCol="0">
            <a:spAutoFit/>
          </a:bodyPr>
          <a:lstStyle/>
          <a:p>
            <a:pPr marL="17446">
              <a:spcBef>
                <a:spcPts val="137"/>
              </a:spcBef>
            </a:pPr>
            <a:r>
              <a:rPr spc="-7" dirty="0"/>
              <a:t>Unigram</a:t>
            </a:r>
            <a:r>
              <a:rPr spc="-34" dirty="0"/>
              <a:t> </a:t>
            </a:r>
            <a:r>
              <a:rPr spc="-7" dirty="0"/>
              <a:t>prior</a:t>
            </a:r>
            <a:r>
              <a:rPr spc="-34" dirty="0"/>
              <a:t> </a:t>
            </a:r>
            <a:r>
              <a:rPr spc="-7" dirty="0"/>
              <a:t>smoothing</a:t>
            </a:r>
          </a:p>
        </p:txBody>
      </p:sp>
      <p:sp>
        <p:nvSpPr>
          <p:cNvPr id="7" name="object 7"/>
          <p:cNvSpPr txBox="1"/>
          <p:nvPr/>
        </p:nvSpPr>
        <p:spPr>
          <a:xfrm>
            <a:off x="2901790" y="3149654"/>
            <a:ext cx="7731401" cy="687973"/>
          </a:xfrm>
          <a:prstGeom prst="rect">
            <a:avLst/>
          </a:prstGeom>
        </p:spPr>
        <p:txBody>
          <a:bodyPr vert="horz" wrap="square" lIns="0" tIns="21808" rIns="0" bIns="0" rtlCol="0">
            <a:spAutoFit/>
          </a:bodyPr>
          <a:lstStyle/>
          <a:p>
            <a:pPr marL="52338">
              <a:spcBef>
                <a:spcPts val="172"/>
              </a:spcBef>
              <a:tabLst>
                <a:tab pos="7024628" algn="l"/>
                <a:tab pos="7677108" algn="l"/>
              </a:tabLst>
            </a:pPr>
            <a:r>
              <a:rPr sz="6491" i="1" spc="-30" baseline="14109" dirty="0">
                <a:latin typeface="Times New Roman"/>
                <a:cs typeface="Times New Roman"/>
              </a:rPr>
              <a:t>P</a:t>
            </a:r>
            <a:r>
              <a:rPr sz="2473" i="1" spc="-21" dirty="0">
                <a:latin typeface="Times New Roman"/>
                <a:cs typeface="Times New Roman"/>
              </a:rPr>
              <a:t>Add</a:t>
            </a:r>
            <a:r>
              <a:rPr sz="2473" spc="-21" dirty="0">
                <a:latin typeface="Symbol"/>
                <a:cs typeface="Symbol"/>
              </a:rPr>
              <a:t></a:t>
            </a:r>
            <a:r>
              <a:rPr sz="2473" i="1" spc="-21" dirty="0">
                <a:latin typeface="Times New Roman"/>
                <a:cs typeface="Times New Roman"/>
              </a:rPr>
              <a:t>k</a:t>
            </a:r>
            <a:r>
              <a:rPr sz="2473" i="1" spc="-89" dirty="0">
                <a:latin typeface="Times New Roman"/>
                <a:cs typeface="Times New Roman"/>
              </a:rPr>
              <a:t> </a:t>
            </a:r>
            <a:r>
              <a:rPr sz="6491" spc="41" baseline="14109" dirty="0">
                <a:latin typeface="Times New Roman"/>
                <a:cs typeface="Times New Roman"/>
              </a:rPr>
              <a:t>(</a:t>
            </a:r>
            <a:r>
              <a:rPr sz="6491" i="1" spc="41" baseline="14109" dirty="0">
                <a:latin typeface="Times New Roman"/>
                <a:cs typeface="Times New Roman"/>
              </a:rPr>
              <a:t>w</a:t>
            </a:r>
            <a:r>
              <a:rPr sz="2473" i="1" spc="27" dirty="0">
                <a:latin typeface="Times New Roman"/>
                <a:cs typeface="Times New Roman"/>
              </a:rPr>
              <a:t>i</a:t>
            </a:r>
            <a:r>
              <a:rPr sz="2473" i="1" spc="584" dirty="0">
                <a:latin typeface="Times New Roman"/>
                <a:cs typeface="Times New Roman"/>
              </a:rPr>
              <a:t> </a:t>
            </a:r>
            <a:r>
              <a:rPr sz="6491" spc="10" baseline="14109" dirty="0">
                <a:latin typeface="Times New Roman"/>
                <a:cs typeface="Times New Roman"/>
              </a:rPr>
              <a:t>|</a:t>
            </a:r>
            <a:r>
              <a:rPr sz="6491" spc="-493" baseline="14109" dirty="0">
                <a:latin typeface="Times New Roman"/>
                <a:cs typeface="Times New Roman"/>
              </a:rPr>
              <a:t> </a:t>
            </a:r>
            <a:r>
              <a:rPr sz="6491" i="1" spc="-60" baseline="14109" dirty="0">
                <a:latin typeface="Times New Roman"/>
                <a:cs typeface="Times New Roman"/>
              </a:rPr>
              <a:t>w</a:t>
            </a:r>
            <a:r>
              <a:rPr sz="2473" i="1" spc="-41" dirty="0">
                <a:latin typeface="Times New Roman"/>
                <a:cs typeface="Times New Roman"/>
              </a:rPr>
              <a:t>i</a:t>
            </a:r>
            <a:r>
              <a:rPr sz="2473" spc="-41" dirty="0">
                <a:latin typeface="Symbol"/>
                <a:cs typeface="Symbol"/>
              </a:rPr>
              <a:t></a:t>
            </a:r>
            <a:r>
              <a:rPr sz="2473" spc="-41" dirty="0">
                <a:latin typeface="Times New Roman"/>
                <a:cs typeface="Times New Roman"/>
              </a:rPr>
              <a:t>1</a:t>
            </a:r>
            <a:r>
              <a:rPr sz="2473" spc="-315" dirty="0">
                <a:latin typeface="Times New Roman"/>
                <a:cs typeface="Times New Roman"/>
              </a:rPr>
              <a:t> </a:t>
            </a:r>
            <a:r>
              <a:rPr sz="6491" spc="30" baseline="14109" dirty="0">
                <a:latin typeface="Times New Roman"/>
                <a:cs typeface="Times New Roman"/>
              </a:rPr>
              <a:t>)</a:t>
            </a:r>
            <a:r>
              <a:rPr sz="6491" spc="-504" baseline="14109" dirty="0">
                <a:latin typeface="Times New Roman"/>
                <a:cs typeface="Times New Roman"/>
              </a:rPr>
              <a:t> </a:t>
            </a:r>
            <a:r>
              <a:rPr sz="6491" spc="41" baseline="14109" dirty="0">
                <a:latin typeface="Symbol"/>
                <a:cs typeface="Symbol"/>
              </a:rPr>
              <a:t></a:t>
            </a:r>
            <a:r>
              <a:rPr sz="6491" u="heavy" spc="41" baseline="33509" dirty="0">
                <a:uFill>
                  <a:solidFill>
                    <a:srgbClr val="000000"/>
                  </a:solidFill>
                </a:uFill>
                <a:latin typeface="Times New Roman"/>
                <a:cs typeface="Times New Roman"/>
              </a:rPr>
              <a:t>	</a:t>
            </a:r>
            <a:r>
              <a:rPr sz="6491" i="1" u="heavy" spc="51" baseline="33509" dirty="0">
                <a:uFill>
                  <a:solidFill>
                    <a:srgbClr val="000000"/>
                  </a:solidFill>
                </a:uFill>
                <a:latin typeface="Times New Roman"/>
                <a:cs typeface="Times New Roman"/>
              </a:rPr>
              <a:t>V	</a:t>
            </a:r>
            <a:endParaRPr sz="6491" baseline="33509">
              <a:latin typeface="Times New Roman"/>
              <a:cs typeface="Times New Roman"/>
            </a:endParaRPr>
          </a:p>
        </p:txBody>
      </p:sp>
      <p:sp>
        <p:nvSpPr>
          <p:cNvPr id="8" name="object 8"/>
          <p:cNvSpPr txBox="1"/>
          <p:nvPr/>
        </p:nvSpPr>
        <p:spPr>
          <a:xfrm>
            <a:off x="9978982" y="2060374"/>
            <a:ext cx="314036" cy="687909"/>
          </a:xfrm>
          <a:prstGeom prst="rect">
            <a:avLst/>
          </a:prstGeom>
        </p:spPr>
        <p:txBody>
          <a:bodyPr vert="horz" wrap="square" lIns="0" tIns="21808" rIns="0" bIns="0" rtlCol="0">
            <a:spAutoFit/>
          </a:bodyPr>
          <a:lstStyle/>
          <a:p>
            <a:pPr marL="17446">
              <a:spcBef>
                <a:spcPts val="172"/>
              </a:spcBef>
            </a:pPr>
            <a:r>
              <a:rPr sz="4327" spc="27" dirty="0">
                <a:latin typeface="Times New Roman"/>
                <a:cs typeface="Times New Roman"/>
              </a:rPr>
              <a:t>1</a:t>
            </a:r>
            <a:endParaRPr sz="4327">
              <a:latin typeface="Times New Roman"/>
              <a:cs typeface="Times New Roman"/>
            </a:endParaRPr>
          </a:p>
        </p:txBody>
      </p:sp>
      <p:sp>
        <p:nvSpPr>
          <p:cNvPr id="9" name="object 9"/>
          <p:cNvSpPr/>
          <p:nvPr/>
        </p:nvSpPr>
        <p:spPr>
          <a:xfrm>
            <a:off x="9925296" y="2834546"/>
            <a:ext cx="428311" cy="0"/>
          </a:xfrm>
          <a:custGeom>
            <a:avLst/>
            <a:gdLst/>
            <a:ahLst/>
            <a:cxnLst/>
            <a:rect l="l" t="t" r="r" b="b"/>
            <a:pathLst>
              <a:path w="311784">
                <a:moveTo>
                  <a:pt x="0" y="0"/>
                </a:moveTo>
                <a:lnTo>
                  <a:pt x="311746" y="0"/>
                </a:lnTo>
              </a:path>
            </a:pathLst>
          </a:custGeom>
          <a:ln w="9452">
            <a:solidFill>
              <a:srgbClr val="000000"/>
            </a:solidFill>
          </a:ln>
        </p:spPr>
        <p:txBody>
          <a:bodyPr wrap="square" lIns="0" tIns="0" rIns="0" bIns="0" rtlCol="0"/>
          <a:lstStyle/>
          <a:p>
            <a:endParaRPr sz="2473"/>
          </a:p>
        </p:txBody>
      </p:sp>
      <p:sp>
        <p:nvSpPr>
          <p:cNvPr id="10" name="object 10"/>
          <p:cNvSpPr txBox="1"/>
          <p:nvPr/>
        </p:nvSpPr>
        <p:spPr>
          <a:xfrm>
            <a:off x="6644301" y="2386436"/>
            <a:ext cx="3976922" cy="687909"/>
          </a:xfrm>
          <a:prstGeom prst="rect">
            <a:avLst/>
          </a:prstGeom>
        </p:spPr>
        <p:txBody>
          <a:bodyPr vert="horz" wrap="square" lIns="0" tIns="21808" rIns="0" bIns="0" rtlCol="0">
            <a:spAutoFit/>
          </a:bodyPr>
          <a:lstStyle/>
          <a:p>
            <a:pPr marL="69784">
              <a:spcBef>
                <a:spcPts val="172"/>
              </a:spcBef>
              <a:tabLst>
                <a:tab pos="3737803" algn="l"/>
              </a:tabLst>
            </a:pPr>
            <a:r>
              <a:rPr sz="4327" i="1" dirty="0">
                <a:latin typeface="Times New Roman"/>
                <a:cs typeface="Times New Roman"/>
              </a:rPr>
              <a:t>c</a:t>
            </a:r>
            <a:r>
              <a:rPr sz="4327" dirty="0">
                <a:latin typeface="Times New Roman"/>
                <a:cs typeface="Times New Roman"/>
              </a:rPr>
              <a:t>(</a:t>
            </a:r>
            <a:r>
              <a:rPr sz="4327" i="1" dirty="0">
                <a:latin typeface="Times New Roman"/>
                <a:cs typeface="Times New Roman"/>
              </a:rPr>
              <a:t>w</a:t>
            </a:r>
            <a:r>
              <a:rPr sz="3709" i="1" baseline="-24691" dirty="0">
                <a:latin typeface="Times New Roman"/>
                <a:cs typeface="Times New Roman"/>
              </a:rPr>
              <a:t>i</a:t>
            </a:r>
            <a:r>
              <a:rPr sz="3709" baseline="-24691" dirty="0">
                <a:latin typeface="Symbol"/>
                <a:cs typeface="Symbol"/>
              </a:rPr>
              <a:t></a:t>
            </a:r>
            <a:r>
              <a:rPr sz="3709" baseline="-24691" dirty="0">
                <a:latin typeface="Times New Roman"/>
                <a:cs typeface="Times New Roman"/>
              </a:rPr>
              <a:t>1</a:t>
            </a:r>
            <a:r>
              <a:rPr sz="4327" dirty="0">
                <a:latin typeface="Times New Roman"/>
                <a:cs typeface="Times New Roman"/>
              </a:rPr>
              <a:t>,</a:t>
            </a:r>
            <a:r>
              <a:rPr sz="4327" spc="-481" dirty="0">
                <a:latin typeface="Times New Roman"/>
                <a:cs typeface="Times New Roman"/>
              </a:rPr>
              <a:t> </a:t>
            </a:r>
            <a:r>
              <a:rPr sz="4327" i="1" spc="-14" dirty="0">
                <a:latin typeface="Times New Roman"/>
                <a:cs typeface="Times New Roman"/>
              </a:rPr>
              <a:t>w</a:t>
            </a:r>
            <a:r>
              <a:rPr sz="3709" i="1" spc="-21" baseline="-24691" dirty="0">
                <a:latin typeface="Times New Roman"/>
                <a:cs typeface="Times New Roman"/>
              </a:rPr>
              <a:t>i</a:t>
            </a:r>
            <a:r>
              <a:rPr sz="3709" i="1" spc="-143" baseline="-24691" dirty="0">
                <a:latin typeface="Times New Roman"/>
                <a:cs typeface="Times New Roman"/>
              </a:rPr>
              <a:t> </a:t>
            </a:r>
            <a:r>
              <a:rPr sz="4327" spc="21" dirty="0">
                <a:latin typeface="Times New Roman"/>
                <a:cs typeface="Times New Roman"/>
              </a:rPr>
              <a:t>)</a:t>
            </a:r>
            <a:r>
              <a:rPr sz="4327" spc="-577" dirty="0">
                <a:latin typeface="Times New Roman"/>
                <a:cs typeface="Times New Roman"/>
              </a:rPr>
              <a:t> </a:t>
            </a:r>
            <a:r>
              <a:rPr sz="4327" spc="27" dirty="0">
                <a:latin typeface="Symbol"/>
                <a:cs typeface="Symbol"/>
              </a:rPr>
              <a:t></a:t>
            </a:r>
            <a:r>
              <a:rPr sz="4327" spc="-364" dirty="0">
                <a:latin typeface="Times New Roman"/>
                <a:cs typeface="Times New Roman"/>
              </a:rPr>
              <a:t> </a:t>
            </a:r>
            <a:r>
              <a:rPr sz="4327" i="1" spc="62" dirty="0">
                <a:latin typeface="Times New Roman"/>
                <a:cs typeface="Times New Roman"/>
              </a:rPr>
              <a:t>m</a:t>
            </a:r>
            <a:r>
              <a:rPr sz="4327" spc="62" dirty="0">
                <a:latin typeface="Times New Roman"/>
                <a:cs typeface="Times New Roman"/>
              </a:rPr>
              <a:t>(	</a:t>
            </a:r>
            <a:r>
              <a:rPr sz="4327" spc="21" dirty="0">
                <a:latin typeface="Times New Roman"/>
                <a:cs typeface="Times New Roman"/>
              </a:rPr>
              <a:t>)</a:t>
            </a:r>
            <a:endParaRPr sz="4327">
              <a:latin typeface="Times New Roman"/>
              <a:cs typeface="Times New Roman"/>
            </a:endParaRPr>
          </a:p>
        </p:txBody>
      </p:sp>
      <p:sp>
        <p:nvSpPr>
          <p:cNvPr id="11" name="object 11"/>
          <p:cNvSpPr txBox="1"/>
          <p:nvPr/>
        </p:nvSpPr>
        <p:spPr>
          <a:xfrm>
            <a:off x="7425353" y="3452634"/>
            <a:ext cx="2411974" cy="687909"/>
          </a:xfrm>
          <a:prstGeom prst="rect">
            <a:avLst/>
          </a:prstGeom>
        </p:spPr>
        <p:txBody>
          <a:bodyPr vert="horz" wrap="square" lIns="0" tIns="21808" rIns="0" bIns="0" rtlCol="0">
            <a:spAutoFit/>
          </a:bodyPr>
          <a:lstStyle/>
          <a:p>
            <a:pPr marL="52338">
              <a:spcBef>
                <a:spcPts val="172"/>
              </a:spcBef>
            </a:pPr>
            <a:r>
              <a:rPr sz="4327" i="1" spc="89" dirty="0">
                <a:latin typeface="Times New Roman"/>
                <a:cs typeface="Times New Roman"/>
              </a:rPr>
              <a:t>c</a:t>
            </a:r>
            <a:r>
              <a:rPr sz="4327" spc="124" dirty="0">
                <a:latin typeface="Times New Roman"/>
                <a:cs typeface="Times New Roman"/>
              </a:rPr>
              <a:t>(</a:t>
            </a:r>
            <a:r>
              <a:rPr sz="4327" i="1" spc="-41" dirty="0">
                <a:latin typeface="Times New Roman"/>
                <a:cs typeface="Times New Roman"/>
              </a:rPr>
              <a:t>w</a:t>
            </a:r>
            <a:r>
              <a:rPr sz="3709" i="1" spc="71" baseline="-24691" dirty="0">
                <a:latin typeface="Times New Roman"/>
                <a:cs typeface="Times New Roman"/>
              </a:rPr>
              <a:t>i</a:t>
            </a:r>
            <a:r>
              <a:rPr sz="3709" spc="-277" baseline="-24691" dirty="0">
                <a:latin typeface="Symbol"/>
                <a:cs typeface="Symbol"/>
              </a:rPr>
              <a:t></a:t>
            </a:r>
            <a:r>
              <a:rPr sz="3709" spc="41" baseline="-24691" dirty="0">
                <a:latin typeface="Times New Roman"/>
                <a:cs typeface="Times New Roman"/>
              </a:rPr>
              <a:t>1</a:t>
            </a:r>
            <a:r>
              <a:rPr sz="3709" spc="-484" baseline="-24691" dirty="0">
                <a:latin typeface="Times New Roman"/>
                <a:cs typeface="Times New Roman"/>
              </a:rPr>
              <a:t> </a:t>
            </a:r>
            <a:r>
              <a:rPr sz="4327" spc="21" dirty="0">
                <a:latin typeface="Times New Roman"/>
                <a:cs typeface="Times New Roman"/>
              </a:rPr>
              <a:t>)</a:t>
            </a:r>
            <a:r>
              <a:rPr sz="4327" spc="-584" dirty="0">
                <a:latin typeface="Times New Roman"/>
                <a:cs typeface="Times New Roman"/>
              </a:rPr>
              <a:t> </a:t>
            </a:r>
            <a:r>
              <a:rPr sz="4327" spc="27" dirty="0">
                <a:latin typeface="Symbol"/>
                <a:cs typeface="Symbol"/>
              </a:rPr>
              <a:t></a:t>
            </a:r>
            <a:r>
              <a:rPr sz="4327" spc="-371" dirty="0">
                <a:latin typeface="Times New Roman"/>
                <a:cs typeface="Times New Roman"/>
              </a:rPr>
              <a:t> </a:t>
            </a:r>
            <a:r>
              <a:rPr sz="4327" i="1" spc="41" dirty="0">
                <a:latin typeface="Times New Roman"/>
                <a:cs typeface="Times New Roman"/>
              </a:rPr>
              <a:t>m</a:t>
            </a:r>
            <a:endParaRPr sz="4327">
              <a:latin typeface="Times New Roman"/>
              <a:cs typeface="Times New Roman"/>
            </a:endParaRPr>
          </a:p>
        </p:txBody>
      </p:sp>
      <p:sp>
        <p:nvSpPr>
          <p:cNvPr id="12" name="object 12"/>
          <p:cNvSpPr txBox="1"/>
          <p:nvPr/>
        </p:nvSpPr>
        <p:spPr>
          <a:xfrm>
            <a:off x="2533225" y="5134441"/>
            <a:ext cx="375971" cy="687028"/>
          </a:xfrm>
          <a:prstGeom prst="rect">
            <a:avLst/>
          </a:prstGeom>
        </p:spPr>
        <p:txBody>
          <a:bodyPr vert="horz" wrap="square" lIns="0" tIns="20936" rIns="0" bIns="0" rtlCol="0">
            <a:spAutoFit/>
          </a:bodyPr>
          <a:lstStyle/>
          <a:p>
            <a:pPr marL="17446">
              <a:spcBef>
                <a:spcPts val="165"/>
              </a:spcBef>
            </a:pPr>
            <a:r>
              <a:rPr sz="4327" i="1" spc="34" dirty="0">
                <a:latin typeface="Times New Roman"/>
                <a:cs typeface="Times New Roman"/>
              </a:rPr>
              <a:t>P</a:t>
            </a:r>
            <a:endParaRPr sz="4327">
              <a:latin typeface="Times New Roman"/>
              <a:cs typeface="Times New Roman"/>
            </a:endParaRPr>
          </a:p>
        </p:txBody>
      </p:sp>
      <p:sp>
        <p:nvSpPr>
          <p:cNvPr id="13" name="object 13"/>
          <p:cNvSpPr txBox="1"/>
          <p:nvPr/>
        </p:nvSpPr>
        <p:spPr>
          <a:xfrm>
            <a:off x="2797409" y="5506263"/>
            <a:ext cx="1810071" cy="403455"/>
          </a:xfrm>
          <a:prstGeom prst="rect">
            <a:avLst/>
          </a:prstGeom>
        </p:spPr>
        <p:txBody>
          <a:bodyPr vert="horz" wrap="square" lIns="0" tIns="22680" rIns="0" bIns="0" rtlCol="0">
            <a:spAutoFit/>
          </a:bodyPr>
          <a:lstStyle/>
          <a:p>
            <a:pPr marL="17446">
              <a:spcBef>
                <a:spcPts val="179"/>
              </a:spcBef>
            </a:pPr>
            <a:r>
              <a:rPr sz="2473" spc="14" dirty="0">
                <a:latin typeface="Times New Roman"/>
                <a:cs typeface="Times New Roman"/>
              </a:rPr>
              <a:t>UnigramPrior</a:t>
            </a:r>
            <a:endParaRPr sz="2473">
              <a:latin typeface="Times New Roman"/>
              <a:cs typeface="Times New Roman"/>
            </a:endParaRPr>
          </a:p>
        </p:txBody>
      </p:sp>
      <p:sp>
        <p:nvSpPr>
          <p:cNvPr id="14" name="object 14"/>
          <p:cNvSpPr txBox="1"/>
          <p:nvPr/>
        </p:nvSpPr>
        <p:spPr>
          <a:xfrm>
            <a:off x="5198300" y="5506263"/>
            <a:ext cx="124742" cy="403455"/>
          </a:xfrm>
          <a:prstGeom prst="rect">
            <a:avLst/>
          </a:prstGeom>
        </p:spPr>
        <p:txBody>
          <a:bodyPr vert="horz" wrap="square" lIns="0" tIns="22680" rIns="0" bIns="0" rtlCol="0">
            <a:spAutoFit/>
          </a:bodyPr>
          <a:lstStyle/>
          <a:p>
            <a:pPr marL="17446">
              <a:spcBef>
                <a:spcPts val="179"/>
              </a:spcBef>
            </a:pPr>
            <a:r>
              <a:rPr sz="2473" i="1" spc="14" dirty="0">
                <a:latin typeface="Times New Roman"/>
                <a:cs typeface="Times New Roman"/>
              </a:rPr>
              <a:t>i</a:t>
            </a:r>
            <a:endParaRPr sz="2473">
              <a:latin typeface="Times New Roman"/>
              <a:cs typeface="Times New Roman"/>
            </a:endParaRPr>
          </a:p>
        </p:txBody>
      </p:sp>
      <p:sp>
        <p:nvSpPr>
          <p:cNvPr id="15" name="object 15"/>
          <p:cNvSpPr txBox="1"/>
          <p:nvPr/>
        </p:nvSpPr>
        <p:spPr>
          <a:xfrm>
            <a:off x="4637995" y="5134441"/>
            <a:ext cx="1415781" cy="687028"/>
          </a:xfrm>
          <a:prstGeom prst="rect">
            <a:avLst/>
          </a:prstGeom>
        </p:spPr>
        <p:txBody>
          <a:bodyPr vert="horz" wrap="square" lIns="0" tIns="20936" rIns="0" bIns="0" rtlCol="0">
            <a:spAutoFit/>
          </a:bodyPr>
          <a:lstStyle/>
          <a:p>
            <a:pPr marL="17446">
              <a:spcBef>
                <a:spcPts val="165"/>
              </a:spcBef>
              <a:tabLst>
                <a:tab pos="818217" algn="l"/>
              </a:tabLst>
            </a:pPr>
            <a:r>
              <a:rPr sz="4327" spc="124" dirty="0">
                <a:latin typeface="Times New Roman"/>
                <a:cs typeface="Times New Roman"/>
              </a:rPr>
              <a:t>(</a:t>
            </a:r>
            <a:r>
              <a:rPr sz="4327" i="1" spc="41" dirty="0">
                <a:latin typeface="Times New Roman"/>
                <a:cs typeface="Times New Roman"/>
              </a:rPr>
              <a:t>w</a:t>
            </a:r>
            <a:r>
              <a:rPr sz="4327" i="1" dirty="0">
                <a:latin typeface="Times New Roman"/>
                <a:cs typeface="Times New Roman"/>
              </a:rPr>
              <a:t>	</a:t>
            </a:r>
            <a:r>
              <a:rPr sz="4327" spc="7" dirty="0">
                <a:latin typeface="Times New Roman"/>
                <a:cs typeface="Times New Roman"/>
              </a:rPr>
              <a:t>|</a:t>
            </a:r>
            <a:r>
              <a:rPr sz="4327" spc="-330" dirty="0">
                <a:latin typeface="Times New Roman"/>
                <a:cs typeface="Times New Roman"/>
              </a:rPr>
              <a:t> </a:t>
            </a:r>
            <a:r>
              <a:rPr sz="4327" i="1" spc="41" dirty="0">
                <a:latin typeface="Times New Roman"/>
                <a:cs typeface="Times New Roman"/>
              </a:rPr>
              <a:t>w</a:t>
            </a:r>
            <a:endParaRPr sz="4327">
              <a:latin typeface="Times New Roman"/>
              <a:cs typeface="Times New Roman"/>
            </a:endParaRPr>
          </a:p>
        </p:txBody>
      </p:sp>
      <p:sp>
        <p:nvSpPr>
          <p:cNvPr id="16" name="object 16"/>
          <p:cNvSpPr txBox="1"/>
          <p:nvPr/>
        </p:nvSpPr>
        <p:spPr>
          <a:xfrm>
            <a:off x="6008273" y="5506263"/>
            <a:ext cx="440523" cy="403455"/>
          </a:xfrm>
          <a:prstGeom prst="rect">
            <a:avLst/>
          </a:prstGeom>
        </p:spPr>
        <p:txBody>
          <a:bodyPr vert="horz" wrap="square" lIns="0" tIns="22680" rIns="0" bIns="0" rtlCol="0">
            <a:spAutoFit/>
          </a:bodyPr>
          <a:lstStyle/>
          <a:p>
            <a:pPr marL="17446">
              <a:spcBef>
                <a:spcPts val="179"/>
              </a:spcBef>
            </a:pPr>
            <a:r>
              <a:rPr sz="2473" i="1" spc="48" dirty="0">
                <a:latin typeface="Times New Roman"/>
                <a:cs typeface="Times New Roman"/>
              </a:rPr>
              <a:t>i</a:t>
            </a:r>
            <a:r>
              <a:rPr sz="2473" spc="-185" dirty="0">
                <a:latin typeface="Symbol"/>
                <a:cs typeface="Symbol"/>
              </a:rPr>
              <a:t></a:t>
            </a:r>
            <a:r>
              <a:rPr sz="2473" spc="27" dirty="0">
                <a:latin typeface="Times New Roman"/>
                <a:cs typeface="Times New Roman"/>
              </a:rPr>
              <a:t>1</a:t>
            </a:r>
            <a:endParaRPr sz="2473">
              <a:latin typeface="Times New Roman"/>
              <a:cs typeface="Times New Roman"/>
            </a:endParaRPr>
          </a:p>
        </p:txBody>
      </p:sp>
      <p:sp>
        <p:nvSpPr>
          <p:cNvPr id="17" name="object 17"/>
          <p:cNvSpPr txBox="1"/>
          <p:nvPr/>
        </p:nvSpPr>
        <p:spPr>
          <a:xfrm>
            <a:off x="6416108" y="4801527"/>
            <a:ext cx="5095240" cy="687092"/>
          </a:xfrm>
          <a:prstGeom prst="rect">
            <a:avLst/>
          </a:prstGeom>
        </p:spPr>
        <p:txBody>
          <a:bodyPr vert="horz" wrap="square" lIns="0" tIns="20936" rIns="0" bIns="0" rtlCol="0">
            <a:spAutoFit/>
          </a:bodyPr>
          <a:lstStyle/>
          <a:p>
            <a:pPr marL="52338">
              <a:spcBef>
                <a:spcPts val="165"/>
              </a:spcBef>
            </a:pPr>
            <a:r>
              <a:rPr sz="6491" spc="30" baseline="-33509" dirty="0">
                <a:latin typeface="Times New Roman"/>
                <a:cs typeface="Times New Roman"/>
              </a:rPr>
              <a:t>)</a:t>
            </a:r>
            <a:r>
              <a:rPr sz="6491" spc="-515" baseline="-33509" dirty="0">
                <a:latin typeface="Times New Roman"/>
                <a:cs typeface="Times New Roman"/>
              </a:rPr>
              <a:t> </a:t>
            </a:r>
            <a:r>
              <a:rPr sz="6491" spc="41" baseline="-33509" dirty="0">
                <a:latin typeface="Symbol"/>
                <a:cs typeface="Symbol"/>
              </a:rPr>
              <a:t></a:t>
            </a:r>
            <a:r>
              <a:rPr sz="6491" spc="195" baseline="-33509" dirty="0">
                <a:latin typeface="Times New Roman"/>
                <a:cs typeface="Times New Roman"/>
              </a:rPr>
              <a:t> </a:t>
            </a:r>
            <a:r>
              <a:rPr sz="4327" i="1" spc="82" dirty="0">
                <a:latin typeface="Times New Roman"/>
                <a:cs typeface="Times New Roman"/>
              </a:rPr>
              <a:t>c</a:t>
            </a:r>
            <a:r>
              <a:rPr sz="4327" spc="124" dirty="0">
                <a:latin typeface="Times New Roman"/>
                <a:cs typeface="Times New Roman"/>
              </a:rPr>
              <a:t>(</a:t>
            </a:r>
            <a:r>
              <a:rPr sz="4327" i="1" spc="-41" dirty="0">
                <a:latin typeface="Times New Roman"/>
                <a:cs typeface="Times New Roman"/>
              </a:rPr>
              <a:t>w</a:t>
            </a:r>
            <a:r>
              <a:rPr sz="3709" i="1" spc="71" baseline="-24691" dirty="0">
                <a:latin typeface="Times New Roman"/>
                <a:cs typeface="Times New Roman"/>
              </a:rPr>
              <a:t>i</a:t>
            </a:r>
            <a:r>
              <a:rPr sz="3709" spc="-277" baseline="-24691" dirty="0">
                <a:latin typeface="Symbol"/>
                <a:cs typeface="Symbol"/>
              </a:rPr>
              <a:t></a:t>
            </a:r>
            <a:r>
              <a:rPr sz="3709" spc="-30" baseline="-24691" dirty="0">
                <a:latin typeface="Times New Roman"/>
                <a:cs typeface="Times New Roman"/>
              </a:rPr>
              <a:t>1</a:t>
            </a:r>
            <a:r>
              <a:rPr sz="4327" spc="14" dirty="0">
                <a:latin typeface="Times New Roman"/>
                <a:cs typeface="Times New Roman"/>
              </a:rPr>
              <a:t>,</a:t>
            </a:r>
            <a:r>
              <a:rPr sz="4327" spc="-481" dirty="0">
                <a:latin typeface="Times New Roman"/>
                <a:cs typeface="Times New Roman"/>
              </a:rPr>
              <a:t> </a:t>
            </a:r>
            <a:r>
              <a:rPr sz="4327" i="1" spc="-41" dirty="0">
                <a:latin typeface="Times New Roman"/>
                <a:cs typeface="Times New Roman"/>
              </a:rPr>
              <a:t>w</a:t>
            </a:r>
            <a:r>
              <a:rPr sz="3709" i="1" spc="21" baseline="-24691" dirty="0">
                <a:latin typeface="Times New Roman"/>
                <a:cs typeface="Times New Roman"/>
              </a:rPr>
              <a:t>i</a:t>
            </a:r>
            <a:r>
              <a:rPr sz="3709" i="1" spc="-154" baseline="-24691" dirty="0">
                <a:latin typeface="Times New Roman"/>
                <a:cs typeface="Times New Roman"/>
              </a:rPr>
              <a:t> </a:t>
            </a:r>
            <a:r>
              <a:rPr sz="4327" spc="21" dirty="0">
                <a:latin typeface="Times New Roman"/>
                <a:cs typeface="Times New Roman"/>
              </a:rPr>
              <a:t>)</a:t>
            </a:r>
            <a:r>
              <a:rPr sz="4327" spc="-584" dirty="0">
                <a:latin typeface="Times New Roman"/>
                <a:cs typeface="Times New Roman"/>
              </a:rPr>
              <a:t> </a:t>
            </a:r>
            <a:r>
              <a:rPr sz="4327" spc="27" dirty="0">
                <a:latin typeface="Symbol"/>
                <a:cs typeface="Symbol"/>
              </a:rPr>
              <a:t></a:t>
            </a:r>
            <a:r>
              <a:rPr sz="4327" spc="-371" dirty="0">
                <a:latin typeface="Times New Roman"/>
                <a:cs typeface="Times New Roman"/>
              </a:rPr>
              <a:t> </a:t>
            </a:r>
            <a:r>
              <a:rPr sz="4327" i="1" dirty="0">
                <a:latin typeface="Times New Roman"/>
                <a:cs typeface="Times New Roman"/>
              </a:rPr>
              <a:t>m</a:t>
            </a:r>
            <a:r>
              <a:rPr sz="4327" i="1" spc="165" dirty="0">
                <a:solidFill>
                  <a:srgbClr val="002060"/>
                </a:solidFill>
                <a:latin typeface="Times New Roman"/>
                <a:cs typeface="Times New Roman"/>
              </a:rPr>
              <a:t>P</a:t>
            </a:r>
            <a:r>
              <a:rPr sz="4327" spc="124" dirty="0">
                <a:solidFill>
                  <a:srgbClr val="002060"/>
                </a:solidFill>
                <a:latin typeface="Times New Roman"/>
                <a:cs typeface="Times New Roman"/>
              </a:rPr>
              <a:t>(</a:t>
            </a:r>
            <a:r>
              <a:rPr sz="4327" i="1" spc="-41" dirty="0">
                <a:solidFill>
                  <a:srgbClr val="002060"/>
                </a:solidFill>
                <a:latin typeface="Times New Roman"/>
                <a:cs typeface="Times New Roman"/>
              </a:rPr>
              <a:t>w</a:t>
            </a:r>
            <a:r>
              <a:rPr sz="3709" i="1" spc="21" baseline="-24691" dirty="0">
                <a:solidFill>
                  <a:srgbClr val="002060"/>
                </a:solidFill>
                <a:latin typeface="Times New Roman"/>
                <a:cs typeface="Times New Roman"/>
              </a:rPr>
              <a:t>i</a:t>
            </a:r>
            <a:r>
              <a:rPr sz="3709" i="1" spc="-154" baseline="-24691" dirty="0">
                <a:solidFill>
                  <a:srgbClr val="002060"/>
                </a:solidFill>
                <a:latin typeface="Times New Roman"/>
                <a:cs typeface="Times New Roman"/>
              </a:rPr>
              <a:t> </a:t>
            </a:r>
            <a:r>
              <a:rPr sz="4327" spc="21" dirty="0">
                <a:solidFill>
                  <a:srgbClr val="002060"/>
                </a:solidFill>
                <a:latin typeface="Times New Roman"/>
                <a:cs typeface="Times New Roman"/>
              </a:rPr>
              <a:t>)</a:t>
            </a:r>
            <a:endParaRPr sz="4327" dirty="0">
              <a:solidFill>
                <a:srgbClr val="002060"/>
              </a:solidFill>
              <a:latin typeface="Times New Roman"/>
              <a:cs typeface="Times New Roman"/>
            </a:endParaRPr>
          </a:p>
        </p:txBody>
      </p:sp>
      <p:sp>
        <p:nvSpPr>
          <p:cNvPr id="18" name="object 18"/>
          <p:cNvSpPr txBox="1"/>
          <p:nvPr/>
        </p:nvSpPr>
        <p:spPr>
          <a:xfrm>
            <a:off x="8946243" y="5947263"/>
            <a:ext cx="440523" cy="403455"/>
          </a:xfrm>
          <a:prstGeom prst="rect">
            <a:avLst/>
          </a:prstGeom>
        </p:spPr>
        <p:txBody>
          <a:bodyPr vert="horz" wrap="square" lIns="0" tIns="22680" rIns="0" bIns="0" rtlCol="0">
            <a:spAutoFit/>
          </a:bodyPr>
          <a:lstStyle/>
          <a:p>
            <a:pPr marL="17446">
              <a:spcBef>
                <a:spcPts val="179"/>
              </a:spcBef>
            </a:pPr>
            <a:r>
              <a:rPr sz="2473" i="1" spc="48" dirty="0">
                <a:latin typeface="Times New Roman"/>
                <a:cs typeface="Times New Roman"/>
              </a:rPr>
              <a:t>i</a:t>
            </a:r>
            <a:r>
              <a:rPr sz="2473" spc="-185" dirty="0">
                <a:latin typeface="Symbol"/>
                <a:cs typeface="Symbol"/>
              </a:rPr>
              <a:t></a:t>
            </a:r>
            <a:r>
              <a:rPr sz="2473" spc="27" dirty="0">
                <a:latin typeface="Times New Roman"/>
                <a:cs typeface="Times New Roman"/>
              </a:rPr>
              <a:t>1</a:t>
            </a:r>
            <a:endParaRPr sz="2473">
              <a:latin typeface="Times New Roman"/>
              <a:cs typeface="Times New Roman"/>
            </a:endParaRPr>
          </a:p>
        </p:txBody>
      </p:sp>
      <p:sp>
        <p:nvSpPr>
          <p:cNvPr id="19" name="object 19"/>
          <p:cNvSpPr txBox="1"/>
          <p:nvPr/>
        </p:nvSpPr>
        <p:spPr>
          <a:xfrm>
            <a:off x="8130463" y="5575439"/>
            <a:ext cx="2342188" cy="687028"/>
          </a:xfrm>
          <a:prstGeom prst="rect">
            <a:avLst/>
          </a:prstGeom>
        </p:spPr>
        <p:txBody>
          <a:bodyPr vert="horz" wrap="square" lIns="0" tIns="20936" rIns="0" bIns="0" rtlCol="0">
            <a:spAutoFit/>
          </a:bodyPr>
          <a:lstStyle/>
          <a:p>
            <a:pPr marL="17446">
              <a:spcBef>
                <a:spcPts val="165"/>
              </a:spcBef>
              <a:tabLst>
                <a:tab pos="1275300" algn="l"/>
              </a:tabLst>
            </a:pPr>
            <a:r>
              <a:rPr sz="4327" i="1" spc="82" dirty="0">
                <a:latin typeface="Times New Roman"/>
                <a:cs typeface="Times New Roman"/>
              </a:rPr>
              <a:t>c</a:t>
            </a:r>
            <a:r>
              <a:rPr sz="4327" spc="124" dirty="0">
                <a:latin typeface="Times New Roman"/>
                <a:cs typeface="Times New Roman"/>
              </a:rPr>
              <a:t>(</a:t>
            </a:r>
            <a:r>
              <a:rPr sz="4327" i="1" spc="41" dirty="0">
                <a:latin typeface="Times New Roman"/>
                <a:cs typeface="Times New Roman"/>
              </a:rPr>
              <a:t>w</a:t>
            </a:r>
            <a:r>
              <a:rPr sz="4327" i="1" dirty="0">
                <a:latin typeface="Times New Roman"/>
                <a:cs typeface="Times New Roman"/>
              </a:rPr>
              <a:t>	</a:t>
            </a:r>
            <a:r>
              <a:rPr sz="4327" spc="21" dirty="0">
                <a:latin typeface="Times New Roman"/>
                <a:cs typeface="Times New Roman"/>
              </a:rPr>
              <a:t>)</a:t>
            </a:r>
            <a:r>
              <a:rPr sz="4327" spc="-584" dirty="0">
                <a:latin typeface="Times New Roman"/>
                <a:cs typeface="Times New Roman"/>
              </a:rPr>
              <a:t> </a:t>
            </a:r>
            <a:r>
              <a:rPr sz="4327" spc="27" dirty="0">
                <a:latin typeface="Symbol"/>
                <a:cs typeface="Symbol"/>
              </a:rPr>
              <a:t></a:t>
            </a:r>
            <a:r>
              <a:rPr sz="4327" spc="-371" dirty="0">
                <a:latin typeface="Times New Roman"/>
                <a:cs typeface="Times New Roman"/>
              </a:rPr>
              <a:t> </a:t>
            </a:r>
            <a:r>
              <a:rPr sz="4327" i="1" spc="41" dirty="0">
                <a:latin typeface="Times New Roman"/>
                <a:cs typeface="Times New Roman"/>
              </a:rPr>
              <a:t>m</a:t>
            </a:r>
            <a:endParaRPr sz="4327">
              <a:latin typeface="Times New Roman"/>
              <a:cs typeface="Times New Roman"/>
            </a:endParaRPr>
          </a:p>
        </p:txBody>
      </p:sp>
      <p:sp>
        <p:nvSpPr>
          <p:cNvPr id="20" name="object 20"/>
          <p:cNvSpPr/>
          <p:nvPr/>
        </p:nvSpPr>
        <p:spPr>
          <a:xfrm>
            <a:off x="7179715" y="5586401"/>
            <a:ext cx="4290958" cy="0"/>
          </a:xfrm>
          <a:custGeom>
            <a:avLst/>
            <a:gdLst/>
            <a:ahLst/>
            <a:cxnLst/>
            <a:rect l="l" t="t" r="r" b="b"/>
            <a:pathLst>
              <a:path w="3123565">
                <a:moveTo>
                  <a:pt x="0" y="0"/>
                </a:moveTo>
                <a:lnTo>
                  <a:pt x="3123470" y="0"/>
                </a:lnTo>
              </a:path>
            </a:pathLst>
          </a:custGeom>
          <a:ln w="19932">
            <a:solidFill>
              <a:srgbClr val="000000"/>
            </a:solidFill>
          </a:ln>
        </p:spPr>
        <p:txBody>
          <a:bodyPr wrap="square" lIns="0" tIns="0" rIns="0" bIns="0" rtlCol="0"/>
          <a:lstStyle/>
          <a:p>
            <a:endParaRPr sz="2473"/>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7534256" cy="694084"/>
          </a:xfrm>
          <a:prstGeom prst="rect">
            <a:avLst/>
          </a:prstGeom>
        </p:spPr>
        <p:txBody>
          <a:bodyPr vert="horz" wrap="square" lIns="0" tIns="17446" rIns="0" bIns="0" rtlCol="0">
            <a:spAutoFit/>
          </a:bodyPr>
          <a:lstStyle/>
          <a:p>
            <a:pPr marL="17446">
              <a:spcBef>
                <a:spcPts val="137"/>
              </a:spcBef>
            </a:pPr>
            <a:r>
              <a:rPr spc="-7" dirty="0">
                <a:latin typeface="Calibri"/>
                <a:cs typeface="Calibri"/>
              </a:rPr>
              <a:t>Advanced smoothing algorithms</a:t>
            </a:r>
          </a:p>
        </p:txBody>
      </p:sp>
      <p:sp>
        <p:nvSpPr>
          <p:cNvPr id="7" name="object 7"/>
          <p:cNvSpPr txBox="1"/>
          <p:nvPr/>
        </p:nvSpPr>
        <p:spPr>
          <a:xfrm>
            <a:off x="1154955" y="2150244"/>
            <a:ext cx="10173906" cy="3849466"/>
          </a:xfrm>
          <a:prstGeom prst="rect">
            <a:avLst/>
          </a:prstGeom>
        </p:spPr>
        <p:txBody>
          <a:bodyPr vert="horz" wrap="square" lIns="0" tIns="122125" rIns="0" bIns="0" rtlCol="0">
            <a:spAutoFit/>
          </a:bodyPr>
          <a:lstStyle/>
          <a:p>
            <a:pPr marL="488488" indent="-471042">
              <a:spcBef>
                <a:spcPts val="962"/>
              </a:spcBef>
              <a:buClr>
                <a:srgbClr val="CC0000"/>
              </a:buClr>
              <a:buFont typeface="Times New Roman"/>
              <a:buChar char="•"/>
              <a:tabLst>
                <a:tab pos="487615" algn="l"/>
                <a:tab pos="488488" algn="l"/>
              </a:tabLst>
            </a:pPr>
            <a:r>
              <a:rPr sz="3846" spc="-7" dirty="0">
                <a:latin typeface="Calibri"/>
                <a:cs typeface="Calibri"/>
              </a:rPr>
              <a:t>Intuition </a:t>
            </a:r>
            <a:r>
              <a:rPr sz="3846" dirty="0">
                <a:latin typeface="Calibri"/>
                <a:cs typeface="Calibri"/>
              </a:rPr>
              <a:t>used by </a:t>
            </a:r>
            <a:r>
              <a:rPr sz="3846" spc="-7" dirty="0">
                <a:latin typeface="Calibri"/>
                <a:cs typeface="Calibri"/>
              </a:rPr>
              <a:t>many</a:t>
            </a:r>
            <a:r>
              <a:rPr sz="3846" dirty="0">
                <a:latin typeface="Calibri"/>
                <a:cs typeface="Calibri"/>
              </a:rPr>
              <a:t> </a:t>
            </a:r>
            <a:r>
              <a:rPr sz="3846" spc="-7" dirty="0">
                <a:latin typeface="Calibri"/>
                <a:cs typeface="Calibri"/>
              </a:rPr>
              <a:t>smoothing</a:t>
            </a:r>
            <a:r>
              <a:rPr sz="3846" dirty="0">
                <a:latin typeface="Calibri"/>
                <a:cs typeface="Calibri"/>
              </a:rPr>
              <a:t> </a:t>
            </a:r>
            <a:r>
              <a:rPr sz="3846" spc="-7" dirty="0">
                <a:latin typeface="Calibri"/>
                <a:cs typeface="Calibri"/>
              </a:rPr>
              <a:t>algorithms</a:t>
            </a:r>
            <a:endParaRPr sz="3846">
              <a:latin typeface="Calibri"/>
              <a:cs typeface="Calibri"/>
            </a:endParaRPr>
          </a:p>
          <a:p>
            <a:pPr marL="959529" lvl="1" indent="-314028">
              <a:spcBef>
                <a:spcPts val="707"/>
              </a:spcBef>
              <a:buFont typeface="Times New Roman"/>
              <a:buChar char="•"/>
              <a:tabLst>
                <a:tab pos="959529" algn="l"/>
              </a:tabLst>
            </a:pPr>
            <a:r>
              <a:rPr sz="3297" spc="-157" dirty="0">
                <a:latin typeface="Calibri"/>
                <a:cs typeface="Calibri"/>
              </a:rPr>
              <a:t>Good-­‐Turing</a:t>
            </a:r>
            <a:endParaRPr sz="3297">
              <a:latin typeface="Calibri"/>
              <a:cs typeface="Calibri"/>
            </a:endParaRPr>
          </a:p>
          <a:p>
            <a:pPr marL="959529" lvl="1" indent="-314028">
              <a:spcBef>
                <a:spcPts val="852"/>
              </a:spcBef>
              <a:buFont typeface="Times New Roman"/>
              <a:buChar char="•"/>
              <a:tabLst>
                <a:tab pos="959529" algn="l"/>
              </a:tabLst>
            </a:pPr>
            <a:r>
              <a:rPr sz="3297" spc="-172" dirty="0">
                <a:latin typeface="Calibri"/>
                <a:cs typeface="Calibri"/>
              </a:rPr>
              <a:t>Kneser-­‐Ney</a:t>
            </a:r>
            <a:endParaRPr sz="3297">
              <a:latin typeface="Calibri"/>
              <a:cs typeface="Calibri"/>
            </a:endParaRPr>
          </a:p>
          <a:p>
            <a:pPr marL="959529" lvl="1" indent="-314028">
              <a:spcBef>
                <a:spcPts val="714"/>
              </a:spcBef>
              <a:buFont typeface="Times New Roman"/>
              <a:buChar char="•"/>
              <a:tabLst>
                <a:tab pos="959529" algn="l"/>
              </a:tabLst>
            </a:pPr>
            <a:r>
              <a:rPr sz="3297" spc="-172" dirty="0">
                <a:latin typeface="Calibri"/>
                <a:cs typeface="Calibri"/>
              </a:rPr>
              <a:t>Witten-­‐Bell</a:t>
            </a:r>
            <a:endParaRPr sz="3297">
              <a:latin typeface="Calibri"/>
              <a:cs typeface="Calibri"/>
            </a:endParaRPr>
          </a:p>
          <a:p>
            <a:pPr marL="488488" indent="-471042">
              <a:spcBef>
                <a:spcPts val="989"/>
              </a:spcBef>
              <a:buClr>
                <a:srgbClr val="CC0000"/>
              </a:buClr>
              <a:buFont typeface="Times New Roman"/>
              <a:buChar char="•"/>
              <a:tabLst>
                <a:tab pos="487615" algn="l"/>
                <a:tab pos="488488" algn="l"/>
              </a:tabLst>
            </a:pPr>
            <a:r>
              <a:rPr sz="3846" dirty="0">
                <a:latin typeface="Calibri"/>
                <a:cs typeface="Calibri"/>
              </a:rPr>
              <a:t>Use</a:t>
            </a:r>
            <a:r>
              <a:rPr sz="3846" spc="-7" dirty="0">
                <a:latin typeface="Calibri"/>
                <a:cs typeface="Calibri"/>
              </a:rPr>
              <a:t> </a:t>
            </a:r>
            <a:r>
              <a:rPr sz="3846" dirty="0">
                <a:latin typeface="Calibri"/>
                <a:cs typeface="Calibri"/>
              </a:rPr>
              <a:t>the</a:t>
            </a:r>
            <a:r>
              <a:rPr sz="3846" spc="-7" dirty="0">
                <a:latin typeface="Calibri"/>
                <a:cs typeface="Calibri"/>
              </a:rPr>
              <a:t> count of </a:t>
            </a:r>
            <a:r>
              <a:rPr sz="3846" dirty="0">
                <a:latin typeface="Calibri"/>
                <a:cs typeface="Calibri"/>
              </a:rPr>
              <a:t>things</a:t>
            </a:r>
            <a:r>
              <a:rPr sz="3846" spc="-7" dirty="0">
                <a:latin typeface="Calibri"/>
                <a:cs typeface="Calibri"/>
              </a:rPr>
              <a:t> we’ve</a:t>
            </a:r>
            <a:r>
              <a:rPr sz="3846" spc="-14" dirty="0">
                <a:latin typeface="Calibri"/>
                <a:cs typeface="Calibri"/>
              </a:rPr>
              <a:t> </a:t>
            </a:r>
            <a:r>
              <a:rPr sz="3846" b="1" spc="-7" dirty="0">
                <a:latin typeface="Calibri"/>
                <a:cs typeface="Calibri"/>
              </a:rPr>
              <a:t>seen</a:t>
            </a:r>
            <a:r>
              <a:rPr sz="3846" b="1" spc="-14" dirty="0">
                <a:latin typeface="Calibri"/>
                <a:cs typeface="Calibri"/>
              </a:rPr>
              <a:t> </a:t>
            </a:r>
            <a:r>
              <a:rPr sz="3846" b="1" dirty="0">
                <a:latin typeface="Calibri"/>
                <a:cs typeface="Calibri"/>
              </a:rPr>
              <a:t>once</a:t>
            </a:r>
            <a:endParaRPr sz="3846">
              <a:latin typeface="Calibri"/>
              <a:cs typeface="Calibri"/>
            </a:endParaRPr>
          </a:p>
          <a:p>
            <a:pPr marL="959529" lvl="1" indent="-314028">
              <a:spcBef>
                <a:spcPts val="742"/>
              </a:spcBef>
              <a:buFont typeface="Times New Roman"/>
              <a:buChar char="•"/>
              <a:tabLst>
                <a:tab pos="959529" algn="l"/>
              </a:tabLst>
            </a:pPr>
            <a:r>
              <a:rPr sz="3297" dirty="0">
                <a:latin typeface="Calibri"/>
                <a:cs typeface="Calibri"/>
              </a:rPr>
              <a:t>to</a:t>
            </a:r>
            <a:r>
              <a:rPr sz="3297" spc="-7" dirty="0">
                <a:latin typeface="Calibri"/>
                <a:cs typeface="Calibri"/>
              </a:rPr>
              <a:t> </a:t>
            </a:r>
            <a:r>
              <a:rPr sz="3297" dirty="0">
                <a:latin typeface="Calibri"/>
                <a:cs typeface="Calibri"/>
              </a:rPr>
              <a:t>help </a:t>
            </a:r>
            <a:r>
              <a:rPr sz="3297" spc="-7" dirty="0">
                <a:latin typeface="Calibri"/>
                <a:cs typeface="Calibri"/>
              </a:rPr>
              <a:t>estimate </a:t>
            </a:r>
            <a:r>
              <a:rPr sz="3297" dirty="0">
                <a:latin typeface="Calibri"/>
                <a:cs typeface="Calibri"/>
              </a:rPr>
              <a:t>the </a:t>
            </a:r>
            <a:r>
              <a:rPr sz="3297" spc="-7" dirty="0">
                <a:latin typeface="Calibri"/>
                <a:cs typeface="Calibri"/>
              </a:rPr>
              <a:t>count</a:t>
            </a:r>
            <a:r>
              <a:rPr sz="3297" dirty="0">
                <a:latin typeface="Calibri"/>
                <a:cs typeface="Calibri"/>
              </a:rPr>
              <a:t> </a:t>
            </a:r>
            <a:r>
              <a:rPr sz="3297" spc="-7" dirty="0">
                <a:latin typeface="Calibri"/>
                <a:cs typeface="Calibri"/>
              </a:rPr>
              <a:t>of</a:t>
            </a:r>
            <a:r>
              <a:rPr sz="3297" dirty="0">
                <a:latin typeface="Calibri"/>
                <a:cs typeface="Calibri"/>
              </a:rPr>
              <a:t> things</a:t>
            </a:r>
            <a:r>
              <a:rPr sz="3297" spc="-7" dirty="0">
                <a:latin typeface="Calibri"/>
                <a:cs typeface="Calibri"/>
              </a:rPr>
              <a:t> we’ve </a:t>
            </a:r>
            <a:r>
              <a:rPr sz="3297" b="1" spc="-7" dirty="0">
                <a:latin typeface="Calibri"/>
                <a:cs typeface="Calibri"/>
              </a:rPr>
              <a:t>never</a:t>
            </a:r>
            <a:r>
              <a:rPr sz="3297" b="1" dirty="0">
                <a:latin typeface="Calibri"/>
                <a:cs typeface="Calibri"/>
              </a:rPr>
              <a:t> </a:t>
            </a:r>
            <a:r>
              <a:rPr sz="3297" b="1" spc="-7" dirty="0">
                <a:latin typeface="Calibri"/>
                <a:cs typeface="Calibri"/>
              </a:rPr>
              <a:t>seen</a:t>
            </a:r>
            <a:endParaRPr sz="3297">
              <a:latin typeface="Calibri"/>
              <a:cs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03012" y="1145678"/>
            <a:ext cx="9305072" cy="694084"/>
          </a:xfrm>
          <a:prstGeom prst="rect">
            <a:avLst/>
          </a:prstGeom>
        </p:spPr>
        <p:txBody>
          <a:bodyPr vert="horz" wrap="square" lIns="0" tIns="17446" rIns="0" bIns="0" rtlCol="0">
            <a:spAutoFit/>
          </a:bodyPr>
          <a:lstStyle/>
          <a:p>
            <a:pPr marL="34892">
              <a:spcBef>
                <a:spcPts val="137"/>
              </a:spcBef>
            </a:pPr>
            <a:r>
              <a:rPr spc="-7" dirty="0">
                <a:latin typeface="Calibri"/>
                <a:cs typeface="Calibri"/>
              </a:rPr>
              <a:t>Notation:</a:t>
            </a:r>
            <a:r>
              <a:rPr spc="-27" dirty="0">
                <a:latin typeface="Calibri"/>
                <a:cs typeface="Calibri"/>
              </a:rPr>
              <a:t> </a:t>
            </a:r>
            <a:r>
              <a:rPr spc="7" dirty="0">
                <a:latin typeface="Calibri"/>
                <a:cs typeface="Calibri"/>
              </a:rPr>
              <a:t>N</a:t>
            </a:r>
            <a:r>
              <a:rPr sz="4327" spc="10" baseline="-21164" dirty="0">
                <a:latin typeface="Calibri"/>
                <a:cs typeface="Calibri"/>
              </a:rPr>
              <a:t>c</a:t>
            </a:r>
            <a:r>
              <a:rPr sz="4327" spc="493" baseline="-21164" dirty="0">
                <a:latin typeface="Calibri"/>
                <a:cs typeface="Calibri"/>
              </a:rPr>
              <a:t> </a:t>
            </a:r>
            <a:r>
              <a:rPr dirty="0">
                <a:latin typeface="Calibri"/>
                <a:cs typeface="Calibri"/>
              </a:rPr>
              <a:t>=</a:t>
            </a:r>
            <a:r>
              <a:rPr spc="-14" dirty="0">
                <a:latin typeface="Calibri"/>
                <a:cs typeface="Calibri"/>
              </a:rPr>
              <a:t> </a:t>
            </a:r>
            <a:r>
              <a:rPr spc="-7" dirty="0">
                <a:latin typeface="Calibri"/>
                <a:cs typeface="Calibri"/>
              </a:rPr>
              <a:t>Frequency </a:t>
            </a:r>
            <a:r>
              <a:rPr dirty="0">
                <a:latin typeface="Calibri"/>
                <a:cs typeface="Calibri"/>
              </a:rPr>
              <a:t>of</a:t>
            </a:r>
            <a:r>
              <a:rPr spc="-7" dirty="0">
                <a:latin typeface="Calibri"/>
                <a:cs typeface="Calibri"/>
              </a:rPr>
              <a:t> frequency </a:t>
            </a:r>
            <a:r>
              <a:rPr dirty="0">
                <a:latin typeface="Calibri"/>
                <a:cs typeface="Calibri"/>
              </a:rPr>
              <a:t>c</a:t>
            </a:r>
            <a:endParaRPr>
              <a:latin typeface="Calibri"/>
              <a:cs typeface="Calibri"/>
            </a:endParaRPr>
          </a:p>
        </p:txBody>
      </p:sp>
      <p:graphicFrame>
        <p:nvGraphicFramePr>
          <p:cNvPr id="7" name="object 7"/>
          <p:cNvGraphicFramePr>
            <a:graphicFrameLocks noGrp="1"/>
          </p:cNvGraphicFramePr>
          <p:nvPr>
            <p:extLst>
              <p:ext uri="{D42A27DB-BD31-4B8C-83A1-F6EECF244321}">
                <p14:modId xmlns:p14="http://schemas.microsoft.com/office/powerpoint/2010/main" val="424312095"/>
              </p:ext>
            </p:extLst>
          </p:nvPr>
        </p:nvGraphicFramePr>
        <p:xfrm>
          <a:off x="1128785" y="2881748"/>
          <a:ext cx="2001387" cy="4130585"/>
        </p:xfrm>
        <a:graphic>
          <a:graphicData uri="http://schemas.openxmlformats.org/drawingml/2006/table">
            <a:tbl>
              <a:tblPr firstRow="1" bandRow="1">
                <a:tableStyleId>{2D5ABB26-0587-4C30-8999-92F81FD0307C}</a:tableStyleId>
              </a:tblPr>
              <a:tblGrid>
                <a:gridCol w="1374979">
                  <a:extLst>
                    <a:ext uri="{9D8B030D-6E8A-4147-A177-3AD203B41FA5}">
                      <a16:colId xmlns:a16="http://schemas.microsoft.com/office/drawing/2014/main" val="20000"/>
                    </a:ext>
                  </a:extLst>
                </a:gridCol>
                <a:gridCol w="626408">
                  <a:extLst>
                    <a:ext uri="{9D8B030D-6E8A-4147-A177-3AD203B41FA5}">
                      <a16:colId xmlns:a16="http://schemas.microsoft.com/office/drawing/2014/main" val="20001"/>
                    </a:ext>
                  </a:extLst>
                </a:gridCol>
              </a:tblGrid>
              <a:tr h="602380">
                <a:tc gridSpan="2">
                  <a:txBody>
                    <a:bodyPr/>
                    <a:lstStyle/>
                    <a:p>
                      <a:pPr marL="374650" indent="-342900">
                        <a:lnSpc>
                          <a:spcPts val="2765"/>
                        </a:lnSpc>
                        <a:buClr>
                          <a:srgbClr val="CC0000"/>
                        </a:buClr>
                        <a:buFont typeface="Times New Roman"/>
                        <a:buChar char="•"/>
                        <a:tabLst>
                          <a:tab pos="374015" algn="l"/>
                          <a:tab pos="374650" algn="l"/>
                        </a:tabLst>
                      </a:pPr>
                      <a:endParaRPr sz="3300" dirty="0">
                        <a:latin typeface="Calibri"/>
                        <a:cs typeface="Calibri"/>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597199">
                <a:tc>
                  <a:txBody>
                    <a:bodyPr/>
                    <a:lstStyle/>
                    <a:p>
                      <a:pPr marL="31750">
                        <a:lnSpc>
                          <a:spcPts val="2810"/>
                        </a:lnSpc>
                      </a:pPr>
                      <a:r>
                        <a:rPr sz="3300" dirty="0">
                          <a:latin typeface="Courier New"/>
                          <a:cs typeface="Courier New"/>
                        </a:rPr>
                        <a:t>I</a:t>
                      </a:r>
                      <a:endParaRPr sz="3300">
                        <a:latin typeface="Courier New"/>
                        <a:cs typeface="Courier New"/>
                      </a:endParaRPr>
                    </a:p>
                  </a:txBody>
                  <a:tcPr marL="0" marR="0" marT="0" marB="0"/>
                </a:tc>
                <a:tc>
                  <a:txBody>
                    <a:bodyPr/>
                    <a:lstStyle/>
                    <a:p>
                      <a:pPr marR="24130" algn="r">
                        <a:lnSpc>
                          <a:spcPts val="2810"/>
                        </a:lnSpc>
                      </a:pPr>
                      <a:r>
                        <a:rPr sz="3300" dirty="0">
                          <a:latin typeface="Courier New"/>
                          <a:cs typeface="Courier New"/>
                        </a:rPr>
                        <a:t>3</a:t>
                      </a:r>
                      <a:endParaRPr sz="3300">
                        <a:latin typeface="Courier New"/>
                        <a:cs typeface="Courier New"/>
                      </a:endParaRPr>
                    </a:p>
                  </a:txBody>
                  <a:tcPr marL="0" marR="0" marT="0" marB="0"/>
                </a:tc>
                <a:extLst>
                  <a:ext uri="{0D108BD9-81ED-4DB2-BD59-A6C34878D82A}">
                    <a16:rowId xmlns:a16="http://schemas.microsoft.com/office/drawing/2014/main" val="10001"/>
                  </a:ext>
                </a:extLst>
              </a:tr>
              <a:tr h="601903">
                <a:tc>
                  <a:txBody>
                    <a:bodyPr/>
                    <a:lstStyle/>
                    <a:p>
                      <a:pPr marL="31750">
                        <a:lnSpc>
                          <a:spcPts val="2790"/>
                        </a:lnSpc>
                      </a:pPr>
                      <a:r>
                        <a:rPr sz="3300" dirty="0">
                          <a:latin typeface="Courier New"/>
                          <a:cs typeface="Courier New"/>
                        </a:rPr>
                        <a:t>sam</a:t>
                      </a:r>
                      <a:endParaRPr sz="3300">
                        <a:latin typeface="Courier New"/>
                        <a:cs typeface="Courier New"/>
                      </a:endParaRPr>
                    </a:p>
                  </a:txBody>
                  <a:tcPr marL="0" marR="0" marT="0" marB="0"/>
                </a:tc>
                <a:tc>
                  <a:txBody>
                    <a:bodyPr/>
                    <a:lstStyle/>
                    <a:p>
                      <a:pPr marR="24130" algn="r">
                        <a:lnSpc>
                          <a:spcPts val="2790"/>
                        </a:lnSpc>
                      </a:pPr>
                      <a:r>
                        <a:rPr sz="3300" dirty="0">
                          <a:latin typeface="Courier New"/>
                          <a:cs typeface="Courier New"/>
                        </a:rPr>
                        <a:t>2</a:t>
                      </a:r>
                      <a:endParaRPr sz="3300">
                        <a:latin typeface="Courier New"/>
                        <a:cs typeface="Courier New"/>
                      </a:endParaRPr>
                    </a:p>
                  </a:txBody>
                  <a:tcPr marL="0" marR="0" marT="0" marB="0"/>
                </a:tc>
                <a:extLst>
                  <a:ext uri="{0D108BD9-81ED-4DB2-BD59-A6C34878D82A}">
                    <a16:rowId xmlns:a16="http://schemas.microsoft.com/office/drawing/2014/main" val="10002"/>
                  </a:ext>
                </a:extLst>
              </a:tr>
              <a:tr h="610626">
                <a:tc>
                  <a:txBody>
                    <a:bodyPr/>
                    <a:lstStyle/>
                    <a:p>
                      <a:pPr marL="31750">
                        <a:lnSpc>
                          <a:spcPts val="2840"/>
                        </a:lnSpc>
                      </a:pPr>
                      <a:r>
                        <a:rPr sz="3300" spc="-5" dirty="0">
                          <a:latin typeface="Courier New"/>
                          <a:cs typeface="Courier New"/>
                        </a:rPr>
                        <a:t>am</a:t>
                      </a:r>
                      <a:endParaRPr sz="3300">
                        <a:latin typeface="Courier New"/>
                        <a:cs typeface="Courier New"/>
                      </a:endParaRPr>
                    </a:p>
                  </a:txBody>
                  <a:tcPr marL="0" marR="0" marT="0" marB="0"/>
                </a:tc>
                <a:tc>
                  <a:txBody>
                    <a:bodyPr/>
                    <a:lstStyle/>
                    <a:p>
                      <a:pPr marR="24130" algn="r">
                        <a:lnSpc>
                          <a:spcPts val="2840"/>
                        </a:lnSpc>
                      </a:pPr>
                      <a:r>
                        <a:rPr sz="3300" dirty="0">
                          <a:latin typeface="Courier New"/>
                          <a:cs typeface="Courier New"/>
                        </a:rPr>
                        <a:t>2</a:t>
                      </a:r>
                      <a:endParaRPr sz="3300">
                        <a:latin typeface="Courier New"/>
                        <a:cs typeface="Courier New"/>
                      </a:endParaRPr>
                    </a:p>
                  </a:txBody>
                  <a:tcPr marL="0" marR="0" marT="0" marB="0"/>
                </a:tc>
                <a:extLst>
                  <a:ext uri="{0D108BD9-81ED-4DB2-BD59-A6C34878D82A}">
                    <a16:rowId xmlns:a16="http://schemas.microsoft.com/office/drawing/2014/main" val="10003"/>
                  </a:ext>
                </a:extLst>
              </a:tr>
              <a:tr h="601903">
                <a:tc>
                  <a:txBody>
                    <a:bodyPr/>
                    <a:lstStyle/>
                    <a:p>
                      <a:pPr marL="31750">
                        <a:lnSpc>
                          <a:spcPts val="2840"/>
                        </a:lnSpc>
                      </a:pPr>
                      <a:r>
                        <a:rPr sz="3300" spc="-5" dirty="0">
                          <a:latin typeface="Courier New"/>
                          <a:cs typeface="Courier New"/>
                        </a:rPr>
                        <a:t>do</a:t>
                      </a:r>
                      <a:endParaRPr sz="3300">
                        <a:latin typeface="Courier New"/>
                        <a:cs typeface="Courier New"/>
                      </a:endParaRPr>
                    </a:p>
                  </a:txBody>
                  <a:tcPr marL="0" marR="0" marT="0" marB="0"/>
                </a:tc>
                <a:tc>
                  <a:txBody>
                    <a:bodyPr/>
                    <a:lstStyle/>
                    <a:p>
                      <a:pPr marR="24130" algn="r">
                        <a:lnSpc>
                          <a:spcPts val="2840"/>
                        </a:lnSpc>
                      </a:pPr>
                      <a:r>
                        <a:rPr sz="3300" dirty="0">
                          <a:latin typeface="Courier New"/>
                          <a:cs typeface="Courier New"/>
                        </a:rPr>
                        <a:t>1</a:t>
                      </a:r>
                      <a:endParaRPr sz="3300">
                        <a:latin typeface="Courier New"/>
                        <a:cs typeface="Courier New"/>
                      </a:endParaRPr>
                    </a:p>
                  </a:txBody>
                  <a:tcPr marL="0" marR="0" marT="0" marB="0"/>
                </a:tc>
                <a:extLst>
                  <a:ext uri="{0D108BD9-81ED-4DB2-BD59-A6C34878D82A}">
                    <a16:rowId xmlns:a16="http://schemas.microsoft.com/office/drawing/2014/main" val="10004"/>
                  </a:ext>
                </a:extLst>
              </a:tr>
              <a:tr h="601903">
                <a:tc>
                  <a:txBody>
                    <a:bodyPr/>
                    <a:lstStyle/>
                    <a:p>
                      <a:pPr marL="31750">
                        <a:lnSpc>
                          <a:spcPts val="2790"/>
                        </a:lnSpc>
                      </a:pPr>
                      <a:r>
                        <a:rPr sz="3300" spc="-5" dirty="0">
                          <a:latin typeface="Courier New"/>
                          <a:cs typeface="Courier New"/>
                        </a:rPr>
                        <a:t>not</a:t>
                      </a:r>
                      <a:endParaRPr sz="3300">
                        <a:latin typeface="Courier New"/>
                        <a:cs typeface="Courier New"/>
                      </a:endParaRPr>
                    </a:p>
                  </a:txBody>
                  <a:tcPr marL="0" marR="0" marT="0" marB="0"/>
                </a:tc>
                <a:tc>
                  <a:txBody>
                    <a:bodyPr/>
                    <a:lstStyle/>
                    <a:p>
                      <a:pPr marR="24130" algn="r">
                        <a:lnSpc>
                          <a:spcPts val="2790"/>
                        </a:lnSpc>
                      </a:pPr>
                      <a:r>
                        <a:rPr sz="3300" dirty="0">
                          <a:latin typeface="Courier New"/>
                          <a:cs typeface="Courier New"/>
                        </a:rPr>
                        <a:t>1</a:t>
                      </a:r>
                      <a:endParaRPr sz="3300">
                        <a:latin typeface="Courier New"/>
                        <a:cs typeface="Courier New"/>
                      </a:endParaRPr>
                    </a:p>
                  </a:txBody>
                  <a:tcPr marL="0" marR="0" marT="0" marB="0"/>
                </a:tc>
                <a:extLst>
                  <a:ext uri="{0D108BD9-81ED-4DB2-BD59-A6C34878D82A}">
                    <a16:rowId xmlns:a16="http://schemas.microsoft.com/office/drawing/2014/main" val="10005"/>
                  </a:ext>
                </a:extLst>
              </a:tr>
              <a:tr h="514671">
                <a:tc>
                  <a:txBody>
                    <a:bodyPr/>
                    <a:lstStyle/>
                    <a:p>
                      <a:pPr marL="31750">
                        <a:lnSpc>
                          <a:spcPts val="2840"/>
                        </a:lnSpc>
                      </a:pPr>
                      <a:r>
                        <a:rPr sz="3300" spc="-5" dirty="0">
                          <a:latin typeface="Courier New"/>
                          <a:cs typeface="Courier New"/>
                        </a:rPr>
                        <a:t>eat</a:t>
                      </a:r>
                      <a:endParaRPr sz="3300">
                        <a:latin typeface="Courier New"/>
                        <a:cs typeface="Courier New"/>
                      </a:endParaRPr>
                    </a:p>
                  </a:txBody>
                  <a:tcPr marL="0" marR="0" marT="0" marB="0"/>
                </a:tc>
                <a:tc>
                  <a:txBody>
                    <a:bodyPr/>
                    <a:lstStyle/>
                    <a:p>
                      <a:pPr marR="24130" algn="r">
                        <a:lnSpc>
                          <a:spcPts val="2840"/>
                        </a:lnSpc>
                      </a:pPr>
                      <a:r>
                        <a:rPr sz="3300" dirty="0">
                          <a:latin typeface="Courier New"/>
                          <a:cs typeface="Courier New"/>
                        </a:rPr>
                        <a:t>1</a:t>
                      </a:r>
                    </a:p>
                  </a:txBody>
                  <a:tcPr marL="0" marR="0" marT="0" marB="0"/>
                </a:tc>
                <a:extLst>
                  <a:ext uri="{0D108BD9-81ED-4DB2-BD59-A6C34878D82A}">
                    <a16:rowId xmlns:a16="http://schemas.microsoft.com/office/drawing/2014/main" val="10006"/>
                  </a:ext>
                </a:extLst>
              </a:tr>
            </a:tbl>
          </a:graphicData>
        </a:graphic>
      </p:graphicFrame>
      <p:sp>
        <p:nvSpPr>
          <p:cNvPr id="8" name="object 8"/>
          <p:cNvSpPr txBox="1"/>
          <p:nvPr/>
        </p:nvSpPr>
        <p:spPr>
          <a:xfrm>
            <a:off x="1154954" y="6861139"/>
            <a:ext cx="282633" cy="313531"/>
          </a:xfrm>
          <a:prstGeom prst="rect">
            <a:avLst/>
          </a:prstGeom>
        </p:spPr>
        <p:txBody>
          <a:bodyPr vert="horz" wrap="square" lIns="0" tIns="17446" rIns="0" bIns="0" rtlCol="0">
            <a:spAutoFit/>
          </a:bodyPr>
          <a:lstStyle/>
          <a:p>
            <a:pPr marL="17446">
              <a:spcBef>
                <a:spcPts val="137"/>
              </a:spcBef>
            </a:pPr>
            <a:r>
              <a:rPr sz="1923" dirty="0">
                <a:latin typeface="Calibri"/>
                <a:cs typeface="Calibri"/>
              </a:rPr>
              <a:t>72</a:t>
            </a:r>
            <a:endParaRPr sz="1923">
              <a:latin typeface="Calibri"/>
              <a:cs typeface="Calibri"/>
            </a:endParaRPr>
          </a:p>
        </p:txBody>
      </p:sp>
      <p:sp>
        <p:nvSpPr>
          <p:cNvPr id="9" name="object 9"/>
          <p:cNvSpPr txBox="1"/>
          <p:nvPr/>
        </p:nvSpPr>
        <p:spPr>
          <a:xfrm>
            <a:off x="2136040" y="1936491"/>
            <a:ext cx="8551388" cy="4503011"/>
          </a:xfrm>
          <a:prstGeom prst="rect">
            <a:avLst/>
          </a:prstGeom>
        </p:spPr>
        <p:txBody>
          <a:bodyPr vert="horz" wrap="square" lIns="0" tIns="17446" rIns="0" bIns="0" rtlCol="0">
            <a:spAutoFit/>
          </a:bodyPr>
          <a:lstStyle/>
          <a:p>
            <a:pPr marL="522507" marR="41870" indent="-522507">
              <a:lnSpc>
                <a:spcPct val="117200"/>
              </a:lnSpc>
              <a:spcBef>
                <a:spcPts val="137"/>
              </a:spcBef>
              <a:buClr>
                <a:srgbClr val="CC0000"/>
              </a:buClr>
              <a:buFont typeface="Times New Roman"/>
              <a:buChar char="•"/>
              <a:tabLst>
                <a:tab pos="522507" algn="l"/>
                <a:tab pos="523380" algn="l"/>
              </a:tabLst>
            </a:pPr>
            <a:r>
              <a:rPr sz="3297" dirty="0">
                <a:latin typeface="Calibri"/>
                <a:cs typeface="Calibri"/>
              </a:rPr>
              <a:t>N</a:t>
            </a:r>
            <a:r>
              <a:rPr sz="3297" baseline="-20833" dirty="0">
                <a:latin typeface="Calibri"/>
                <a:cs typeface="Calibri"/>
              </a:rPr>
              <a:t>c</a:t>
            </a:r>
            <a:r>
              <a:rPr sz="3297" spc="349" baseline="-20833" dirty="0">
                <a:latin typeface="Calibri"/>
                <a:cs typeface="Calibri"/>
              </a:rPr>
              <a:t> </a:t>
            </a:r>
            <a:r>
              <a:rPr sz="3297" dirty="0">
                <a:latin typeface="Calibri"/>
                <a:cs typeface="Calibri"/>
              </a:rPr>
              <a:t>=</a:t>
            </a:r>
            <a:r>
              <a:rPr sz="3297" spc="-14" dirty="0">
                <a:latin typeface="Calibri"/>
                <a:cs typeface="Calibri"/>
              </a:rPr>
              <a:t> </a:t>
            </a:r>
            <a:r>
              <a:rPr sz="3297" dirty="0">
                <a:latin typeface="Calibri"/>
                <a:cs typeface="Calibri"/>
              </a:rPr>
              <a:t>the </a:t>
            </a:r>
            <a:r>
              <a:rPr sz="3297" spc="-7" dirty="0">
                <a:latin typeface="Calibri"/>
                <a:cs typeface="Calibri"/>
              </a:rPr>
              <a:t>count of </a:t>
            </a:r>
            <a:r>
              <a:rPr sz="3297" dirty="0">
                <a:latin typeface="Calibri"/>
                <a:cs typeface="Calibri"/>
              </a:rPr>
              <a:t>things </a:t>
            </a:r>
            <a:r>
              <a:rPr sz="3297" spc="-7" dirty="0">
                <a:latin typeface="Calibri"/>
                <a:cs typeface="Calibri"/>
              </a:rPr>
              <a:t>we’ve </a:t>
            </a:r>
            <a:r>
              <a:rPr sz="3297" dirty="0">
                <a:latin typeface="Calibri"/>
                <a:cs typeface="Calibri"/>
              </a:rPr>
              <a:t>seen</a:t>
            </a:r>
            <a:r>
              <a:rPr sz="3297" spc="-7" dirty="0">
                <a:latin typeface="Calibri"/>
                <a:cs typeface="Calibri"/>
              </a:rPr>
              <a:t> </a:t>
            </a:r>
            <a:r>
              <a:rPr sz="3297" dirty="0">
                <a:latin typeface="Calibri"/>
                <a:cs typeface="Calibri"/>
              </a:rPr>
              <a:t>c</a:t>
            </a:r>
            <a:r>
              <a:rPr sz="3297" spc="-7" dirty="0">
                <a:latin typeface="Calibri"/>
                <a:cs typeface="Calibri"/>
              </a:rPr>
              <a:t> </a:t>
            </a:r>
            <a:r>
              <a:rPr sz="3297" spc="-14" dirty="0">
                <a:latin typeface="Calibri"/>
                <a:cs typeface="Calibri"/>
              </a:rPr>
              <a:t>times</a:t>
            </a:r>
            <a:endParaRPr lang="en-US" sz="3297" spc="-14" dirty="0">
              <a:latin typeface="Calibri"/>
              <a:cs typeface="Calibri"/>
            </a:endParaRPr>
          </a:p>
          <a:p>
            <a:pPr marR="41870">
              <a:lnSpc>
                <a:spcPct val="117200"/>
              </a:lnSpc>
              <a:spcBef>
                <a:spcPts val="137"/>
              </a:spcBef>
              <a:buClr>
                <a:srgbClr val="CC0000"/>
              </a:buClr>
              <a:tabLst>
                <a:tab pos="522507" algn="l"/>
                <a:tab pos="523380" algn="l"/>
              </a:tabLst>
            </a:pPr>
            <a:r>
              <a:rPr lang="en-US" sz="3297" spc="-14" dirty="0">
                <a:latin typeface="Calibri"/>
                <a:cs typeface="Calibri"/>
              </a:rPr>
              <a:t>Sam I am I am Sam I do not eat</a:t>
            </a:r>
            <a:endParaRPr sz="3297" dirty="0">
              <a:latin typeface="Calibri"/>
              <a:cs typeface="Calibri"/>
            </a:endParaRPr>
          </a:p>
          <a:p>
            <a:pPr>
              <a:lnSpc>
                <a:spcPct val="100000"/>
              </a:lnSpc>
            </a:pPr>
            <a:endParaRPr sz="3984" dirty="0">
              <a:latin typeface="Calibri"/>
              <a:cs typeface="Calibri"/>
            </a:endParaRPr>
          </a:p>
          <a:p>
            <a:pPr>
              <a:spcBef>
                <a:spcPts val="41"/>
              </a:spcBef>
            </a:pPr>
            <a:endParaRPr sz="3640" dirty="0">
              <a:latin typeface="Calibri"/>
              <a:cs typeface="Calibri"/>
            </a:endParaRPr>
          </a:p>
          <a:p>
            <a:pPr marR="837408" algn="r"/>
            <a:r>
              <a:rPr sz="3297" dirty="0">
                <a:latin typeface="Calibri"/>
                <a:cs typeface="Calibri"/>
              </a:rPr>
              <a:t>N</a:t>
            </a:r>
            <a:r>
              <a:rPr sz="3297" baseline="-20833" dirty="0">
                <a:latin typeface="Calibri"/>
                <a:cs typeface="Calibri"/>
              </a:rPr>
              <a:t>1</a:t>
            </a:r>
            <a:r>
              <a:rPr sz="3297" spc="257" baseline="-20833" dirty="0">
                <a:latin typeface="Calibri"/>
                <a:cs typeface="Calibri"/>
              </a:rPr>
              <a:t> </a:t>
            </a:r>
            <a:r>
              <a:rPr sz="3297" dirty="0">
                <a:latin typeface="Calibri"/>
                <a:cs typeface="Calibri"/>
              </a:rPr>
              <a:t>=</a:t>
            </a:r>
            <a:r>
              <a:rPr sz="3297" spc="-76" dirty="0">
                <a:latin typeface="Calibri"/>
                <a:cs typeface="Calibri"/>
              </a:rPr>
              <a:t> </a:t>
            </a:r>
            <a:r>
              <a:rPr sz="3297" dirty="0">
                <a:latin typeface="Calibri"/>
                <a:cs typeface="Calibri"/>
              </a:rPr>
              <a:t>3</a:t>
            </a:r>
          </a:p>
          <a:p>
            <a:pPr marR="833046" algn="r">
              <a:spcBef>
                <a:spcPts val="2006"/>
              </a:spcBef>
            </a:pPr>
            <a:r>
              <a:rPr sz="3297" dirty="0">
                <a:latin typeface="Calibri"/>
                <a:cs typeface="Calibri"/>
              </a:rPr>
              <a:t>N</a:t>
            </a:r>
            <a:r>
              <a:rPr sz="3297" baseline="-20833" dirty="0">
                <a:latin typeface="Calibri"/>
                <a:cs typeface="Calibri"/>
              </a:rPr>
              <a:t>2</a:t>
            </a:r>
            <a:r>
              <a:rPr sz="3297" spc="257" baseline="-20833" dirty="0">
                <a:latin typeface="Calibri"/>
                <a:cs typeface="Calibri"/>
              </a:rPr>
              <a:t> </a:t>
            </a:r>
            <a:r>
              <a:rPr sz="3297" dirty="0">
                <a:latin typeface="Calibri"/>
                <a:cs typeface="Calibri"/>
              </a:rPr>
              <a:t>=</a:t>
            </a:r>
            <a:r>
              <a:rPr sz="3297" spc="-76" dirty="0">
                <a:latin typeface="Calibri"/>
                <a:cs typeface="Calibri"/>
              </a:rPr>
              <a:t> </a:t>
            </a:r>
            <a:r>
              <a:rPr sz="3297" dirty="0">
                <a:latin typeface="Calibri"/>
                <a:cs typeface="Calibri"/>
              </a:rPr>
              <a:t>2</a:t>
            </a:r>
          </a:p>
          <a:p>
            <a:pPr marR="808622" algn="r">
              <a:spcBef>
                <a:spcPts val="2561"/>
              </a:spcBef>
            </a:pPr>
            <a:r>
              <a:rPr sz="3297" dirty="0">
                <a:latin typeface="Calibri"/>
                <a:cs typeface="Calibri"/>
              </a:rPr>
              <a:t>N</a:t>
            </a:r>
            <a:r>
              <a:rPr sz="3297" baseline="-20833" dirty="0">
                <a:latin typeface="Calibri"/>
                <a:cs typeface="Calibri"/>
              </a:rPr>
              <a:t>3</a:t>
            </a:r>
            <a:r>
              <a:rPr sz="3297" spc="257" baseline="-20833" dirty="0">
                <a:latin typeface="Calibri"/>
                <a:cs typeface="Calibri"/>
              </a:rPr>
              <a:t> </a:t>
            </a:r>
            <a:r>
              <a:rPr sz="3297" dirty="0">
                <a:latin typeface="Calibri"/>
                <a:cs typeface="Calibri"/>
              </a:rPr>
              <a:t>=</a:t>
            </a:r>
            <a:r>
              <a:rPr sz="3297" spc="-76" dirty="0">
                <a:latin typeface="Calibri"/>
                <a:cs typeface="Calibri"/>
              </a:rPr>
              <a:t> </a:t>
            </a:r>
            <a:r>
              <a:rPr sz="3297" dirty="0">
                <a:latin typeface="Calibri"/>
                <a:cs typeface="Calibri"/>
              </a:rPr>
              <a:t>1</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805472"/>
            <a:ext cx="8779061" cy="694084"/>
          </a:xfrm>
          <a:prstGeom prst="rect">
            <a:avLst/>
          </a:prstGeom>
        </p:spPr>
        <p:txBody>
          <a:bodyPr vert="horz" wrap="square" lIns="0" tIns="17446" rIns="0" bIns="0" rtlCol="0">
            <a:spAutoFit/>
          </a:bodyPr>
          <a:lstStyle/>
          <a:p>
            <a:pPr marL="17446">
              <a:spcBef>
                <a:spcPts val="137"/>
              </a:spcBef>
            </a:pPr>
            <a:r>
              <a:rPr spc="-7" dirty="0"/>
              <a:t>Good-Turing</a:t>
            </a:r>
            <a:r>
              <a:rPr spc="-41" dirty="0"/>
              <a:t> </a:t>
            </a:r>
            <a:r>
              <a:rPr spc="-7" dirty="0"/>
              <a:t>smoothing</a:t>
            </a:r>
            <a:r>
              <a:rPr spc="-34" dirty="0"/>
              <a:t> </a:t>
            </a:r>
            <a:r>
              <a:rPr spc="-7" dirty="0"/>
              <a:t>intuition</a:t>
            </a:r>
          </a:p>
        </p:txBody>
      </p:sp>
      <p:sp>
        <p:nvSpPr>
          <p:cNvPr id="7" name="object 7"/>
          <p:cNvSpPr txBox="1"/>
          <p:nvPr/>
        </p:nvSpPr>
        <p:spPr>
          <a:xfrm>
            <a:off x="1627039" y="1954422"/>
            <a:ext cx="11434413" cy="5463260"/>
          </a:xfrm>
          <a:prstGeom prst="rect">
            <a:avLst/>
          </a:prstGeom>
        </p:spPr>
        <p:txBody>
          <a:bodyPr vert="horz" wrap="square" lIns="0" tIns="101189" rIns="0" bIns="0" rtlCol="0">
            <a:spAutoFit/>
          </a:bodyPr>
          <a:lstStyle/>
          <a:p>
            <a:pPr marL="523380" indent="-471042">
              <a:spcBef>
                <a:spcPts val="797"/>
              </a:spcBef>
              <a:buClr>
                <a:srgbClr val="CC0000"/>
              </a:buClr>
              <a:buFont typeface="Times New Roman"/>
              <a:buChar char="•"/>
              <a:tabLst>
                <a:tab pos="522507" algn="l"/>
                <a:tab pos="523380" algn="l"/>
              </a:tabLst>
            </a:pPr>
            <a:r>
              <a:rPr sz="3297" spc="-7" dirty="0">
                <a:latin typeface="Calibri"/>
                <a:cs typeface="Calibri"/>
              </a:rPr>
              <a:t>You</a:t>
            </a:r>
            <a:r>
              <a:rPr sz="3297" dirty="0">
                <a:latin typeface="Calibri"/>
                <a:cs typeface="Calibri"/>
              </a:rPr>
              <a:t> </a:t>
            </a:r>
            <a:r>
              <a:rPr sz="3297" spc="-7" dirty="0">
                <a:latin typeface="Calibri"/>
                <a:cs typeface="Calibri"/>
              </a:rPr>
              <a:t>are</a:t>
            </a:r>
            <a:r>
              <a:rPr sz="3297" spc="7" dirty="0">
                <a:latin typeface="Calibri"/>
                <a:cs typeface="Calibri"/>
              </a:rPr>
              <a:t> </a:t>
            </a:r>
            <a:r>
              <a:rPr sz="3297" spc="-7" dirty="0">
                <a:latin typeface="Calibri"/>
                <a:cs typeface="Calibri"/>
              </a:rPr>
              <a:t>fishing</a:t>
            </a:r>
            <a:r>
              <a:rPr sz="3297" dirty="0">
                <a:latin typeface="Calibri"/>
                <a:cs typeface="Calibri"/>
              </a:rPr>
              <a:t> </a:t>
            </a:r>
            <a:r>
              <a:rPr sz="3297" spc="-7" dirty="0">
                <a:latin typeface="Calibri"/>
                <a:cs typeface="Calibri"/>
              </a:rPr>
              <a:t>(a</a:t>
            </a:r>
            <a:r>
              <a:rPr sz="3297" spc="7" dirty="0">
                <a:latin typeface="Calibri"/>
                <a:cs typeface="Calibri"/>
              </a:rPr>
              <a:t> </a:t>
            </a:r>
            <a:r>
              <a:rPr sz="3297" spc="-7" dirty="0">
                <a:latin typeface="Calibri"/>
                <a:cs typeface="Calibri"/>
              </a:rPr>
              <a:t>scenario</a:t>
            </a:r>
            <a:r>
              <a:rPr sz="3297" dirty="0">
                <a:latin typeface="Calibri"/>
                <a:cs typeface="Calibri"/>
              </a:rPr>
              <a:t> </a:t>
            </a:r>
            <a:r>
              <a:rPr sz="3297" spc="-7" dirty="0">
                <a:latin typeface="Calibri"/>
                <a:cs typeface="Calibri"/>
              </a:rPr>
              <a:t>from</a:t>
            </a:r>
            <a:r>
              <a:rPr sz="3297" spc="7" dirty="0">
                <a:latin typeface="Calibri"/>
                <a:cs typeface="Calibri"/>
              </a:rPr>
              <a:t> </a:t>
            </a:r>
            <a:r>
              <a:rPr sz="3297" spc="-7" dirty="0">
                <a:latin typeface="Calibri"/>
                <a:cs typeface="Calibri"/>
              </a:rPr>
              <a:t>Josh</a:t>
            </a:r>
            <a:r>
              <a:rPr sz="3297" dirty="0">
                <a:latin typeface="Calibri"/>
                <a:cs typeface="Calibri"/>
              </a:rPr>
              <a:t> </a:t>
            </a:r>
            <a:r>
              <a:rPr sz="3297" spc="-7" dirty="0">
                <a:latin typeface="Calibri"/>
                <a:cs typeface="Calibri"/>
              </a:rPr>
              <a:t>Goodman),</a:t>
            </a:r>
            <a:r>
              <a:rPr sz="3297" spc="7" dirty="0">
                <a:latin typeface="Calibri"/>
                <a:cs typeface="Calibri"/>
              </a:rPr>
              <a:t> </a:t>
            </a:r>
            <a:r>
              <a:rPr sz="3297" dirty="0">
                <a:latin typeface="Calibri"/>
                <a:cs typeface="Calibri"/>
              </a:rPr>
              <a:t>and caught:</a:t>
            </a:r>
          </a:p>
          <a:p>
            <a:pPr marL="994421" lvl="1" indent="-314028">
              <a:spcBef>
                <a:spcPts val="549"/>
              </a:spcBef>
              <a:buFont typeface="Times New Roman"/>
              <a:buChar char="•"/>
              <a:tabLst>
                <a:tab pos="993549" algn="l"/>
                <a:tab pos="994421" algn="l"/>
              </a:tabLst>
            </a:pPr>
            <a:r>
              <a:rPr sz="2747" spc="-7" dirty="0">
                <a:latin typeface="Calibri"/>
                <a:cs typeface="Calibri"/>
              </a:rPr>
              <a:t>10</a:t>
            </a:r>
            <a:r>
              <a:rPr sz="2747" dirty="0">
                <a:latin typeface="Calibri"/>
                <a:cs typeface="Calibri"/>
              </a:rPr>
              <a:t> </a:t>
            </a:r>
            <a:r>
              <a:rPr sz="2747" spc="-7" dirty="0">
                <a:latin typeface="Calibri"/>
                <a:cs typeface="Calibri"/>
              </a:rPr>
              <a:t>carp,</a:t>
            </a:r>
            <a:r>
              <a:rPr sz="2747" spc="7" dirty="0">
                <a:latin typeface="Calibri"/>
                <a:cs typeface="Calibri"/>
              </a:rPr>
              <a:t> </a:t>
            </a:r>
            <a:r>
              <a:rPr sz="2747" dirty="0">
                <a:latin typeface="Calibri"/>
                <a:cs typeface="Calibri"/>
              </a:rPr>
              <a:t>3 </a:t>
            </a:r>
            <a:r>
              <a:rPr sz="2747" spc="-7" dirty="0">
                <a:latin typeface="Calibri"/>
                <a:cs typeface="Calibri"/>
              </a:rPr>
              <a:t>perch,</a:t>
            </a:r>
            <a:r>
              <a:rPr sz="2747" spc="7" dirty="0">
                <a:latin typeface="Calibri"/>
                <a:cs typeface="Calibri"/>
              </a:rPr>
              <a:t> </a:t>
            </a:r>
            <a:r>
              <a:rPr sz="2747" dirty="0">
                <a:latin typeface="Calibri"/>
                <a:cs typeface="Calibri"/>
              </a:rPr>
              <a:t>2 </a:t>
            </a:r>
            <a:r>
              <a:rPr sz="2747" spc="-7" dirty="0">
                <a:latin typeface="Calibri"/>
                <a:cs typeface="Calibri"/>
              </a:rPr>
              <a:t>whitefish,</a:t>
            </a:r>
            <a:r>
              <a:rPr sz="2747" spc="7" dirty="0">
                <a:latin typeface="Calibri"/>
                <a:cs typeface="Calibri"/>
              </a:rPr>
              <a:t> </a:t>
            </a:r>
            <a:r>
              <a:rPr sz="2747" dirty="0">
                <a:solidFill>
                  <a:srgbClr val="A50021"/>
                </a:solidFill>
                <a:latin typeface="Calibri"/>
                <a:cs typeface="Calibri"/>
              </a:rPr>
              <a:t>1 </a:t>
            </a:r>
            <a:r>
              <a:rPr sz="2747" spc="-7" dirty="0">
                <a:solidFill>
                  <a:srgbClr val="A50021"/>
                </a:solidFill>
                <a:latin typeface="Calibri"/>
                <a:cs typeface="Calibri"/>
              </a:rPr>
              <a:t>trout, </a:t>
            </a:r>
            <a:r>
              <a:rPr sz="2747" dirty="0">
                <a:solidFill>
                  <a:srgbClr val="A50021"/>
                </a:solidFill>
                <a:latin typeface="Calibri"/>
                <a:cs typeface="Calibri"/>
              </a:rPr>
              <a:t>1</a:t>
            </a:r>
            <a:r>
              <a:rPr sz="2747" spc="7" dirty="0">
                <a:solidFill>
                  <a:srgbClr val="A50021"/>
                </a:solidFill>
                <a:latin typeface="Calibri"/>
                <a:cs typeface="Calibri"/>
              </a:rPr>
              <a:t> </a:t>
            </a:r>
            <a:r>
              <a:rPr sz="2747" spc="-7" dirty="0">
                <a:solidFill>
                  <a:srgbClr val="A50021"/>
                </a:solidFill>
                <a:latin typeface="Calibri"/>
                <a:cs typeface="Calibri"/>
              </a:rPr>
              <a:t>salmon,</a:t>
            </a:r>
            <a:r>
              <a:rPr sz="2747" dirty="0">
                <a:solidFill>
                  <a:srgbClr val="A50021"/>
                </a:solidFill>
                <a:latin typeface="Calibri"/>
                <a:cs typeface="Calibri"/>
              </a:rPr>
              <a:t> 1</a:t>
            </a:r>
            <a:r>
              <a:rPr sz="2747" spc="7" dirty="0">
                <a:solidFill>
                  <a:srgbClr val="A50021"/>
                </a:solidFill>
                <a:latin typeface="Calibri"/>
                <a:cs typeface="Calibri"/>
              </a:rPr>
              <a:t> </a:t>
            </a:r>
            <a:r>
              <a:rPr sz="2747" dirty="0">
                <a:solidFill>
                  <a:srgbClr val="A50021"/>
                </a:solidFill>
                <a:latin typeface="Calibri"/>
                <a:cs typeface="Calibri"/>
              </a:rPr>
              <a:t>eel </a:t>
            </a:r>
            <a:r>
              <a:rPr sz="2747" dirty="0">
                <a:latin typeface="Calibri"/>
                <a:cs typeface="Calibri"/>
              </a:rPr>
              <a:t>= </a:t>
            </a:r>
            <a:r>
              <a:rPr sz="2747" spc="-7" dirty="0">
                <a:latin typeface="Calibri"/>
                <a:cs typeface="Calibri"/>
              </a:rPr>
              <a:t>18</a:t>
            </a:r>
            <a:r>
              <a:rPr sz="2747" dirty="0">
                <a:latin typeface="Calibri"/>
                <a:cs typeface="Calibri"/>
              </a:rPr>
              <a:t> </a:t>
            </a:r>
            <a:r>
              <a:rPr sz="2747" spc="-7" dirty="0">
                <a:latin typeface="Calibri"/>
                <a:cs typeface="Calibri"/>
              </a:rPr>
              <a:t>fish</a:t>
            </a:r>
            <a:endParaRPr sz="2747" dirty="0">
              <a:latin typeface="Calibri"/>
              <a:cs typeface="Calibri"/>
            </a:endParaRPr>
          </a:p>
          <a:p>
            <a:pPr marL="523380" indent="-471042">
              <a:spcBef>
                <a:spcPts val="817"/>
              </a:spcBef>
              <a:buClr>
                <a:srgbClr val="CC0000"/>
              </a:buClr>
              <a:buFont typeface="Times New Roman"/>
              <a:buChar char="•"/>
              <a:tabLst>
                <a:tab pos="522507" algn="l"/>
                <a:tab pos="523380" algn="l"/>
              </a:tabLst>
            </a:pPr>
            <a:r>
              <a:rPr sz="3297" spc="-7" dirty="0">
                <a:latin typeface="Calibri"/>
                <a:cs typeface="Calibri"/>
              </a:rPr>
              <a:t>How</a:t>
            </a:r>
            <a:r>
              <a:rPr sz="3297" spc="-14" dirty="0">
                <a:latin typeface="Calibri"/>
                <a:cs typeface="Calibri"/>
              </a:rPr>
              <a:t> </a:t>
            </a:r>
            <a:r>
              <a:rPr sz="3297" dirty="0">
                <a:latin typeface="Calibri"/>
                <a:cs typeface="Calibri"/>
              </a:rPr>
              <a:t>likely</a:t>
            </a:r>
            <a:r>
              <a:rPr sz="3297" spc="-7" dirty="0">
                <a:latin typeface="Calibri"/>
                <a:cs typeface="Calibri"/>
              </a:rPr>
              <a:t> </a:t>
            </a:r>
            <a:r>
              <a:rPr sz="3297" dirty="0">
                <a:latin typeface="Calibri"/>
                <a:cs typeface="Calibri"/>
              </a:rPr>
              <a:t>is</a:t>
            </a:r>
            <a:r>
              <a:rPr sz="3297" spc="-14" dirty="0">
                <a:latin typeface="Calibri"/>
                <a:cs typeface="Calibri"/>
              </a:rPr>
              <a:t> </a:t>
            </a:r>
            <a:r>
              <a:rPr sz="3297" dirty="0">
                <a:latin typeface="Calibri"/>
                <a:cs typeface="Calibri"/>
              </a:rPr>
              <a:t>it</a:t>
            </a:r>
            <a:r>
              <a:rPr sz="3297" spc="-7" dirty="0">
                <a:latin typeface="Calibri"/>
                <a:cs typeface="Calibri"/>
              </a:rPr>
              <a:t> </a:t>
            </a:r>
            <a:r>
              <a:rPr sz="3297" dirty="0">
                <a:latin typeface="Calibri"/>
                <a:cs typeface="Calibri"/>
              </a:rPr>
              <a:t>that</a:t>
            </a:r>
            <a:r>
              <a:rPr sz="3297" spc="-14" dirty="0">
                <a:latin typeface="Calibri"/>
                <a:cs typeface="Calibri"/>
              </a:rPr>
              <a:t> </a:t>
            </a:r>
            <a:r>
              <a:rPr sz="3297" dirty="0">
                <a:latin typeface="Calibri"/>
                <a:cs typeface="Calibri"/>
              </a:rPr>
              <a:t>next</a:t>
            </a:r>
            <a:r>
              <a:rPr sz="3297" spc="-7" dirty="0">
                <a:latin typeface="Calibri"/>
                <a:cs typeface="Calibri"/>
              </a:rPr>
              <a:t> </a:t>
            </a:r>
            <a:r>
              <a:rPr sz="3297" dirty="0">
                <a:latin typeface="Calibri"/>
                <a:cs typeface="Calibri"/>
              </a:rPr>
              <a:t>species</a:t>
            </a:r>
            <a:r>
              <a:rPr sz="3297" spc="-14" dirty="0">
                <a:latin typeface="Calibri"/>
                <a:cs typeface="Calibri"/>
              </a:rPr>
              <a:t> </a:t>
            </a:r>
            <a:r>
              <a:rPr sz="3297" dirty="0">
                <a:latin typeface="Calibri"/>
                <a:cs typeface="Calibri"/>
              </a:rPr>
              <a:t>is</a:t>
            </a:r>
            <a:r>
              <a:rPr sz="3297" spc="-7" dirty="0">
                <a:latin typeface="Calibri"/>
                <a:cs typeface="Calibri"/>
              </a:rPr>
              <a:t> trout?</a:t>
            </a:r>
            <a:endParaRPr sz="3297" dirty="0">
              <a:latin typeface="Calibri"/>
              <a:cs typeface="Calibri"/>
            </a:endParaRPr>
          </a:p>
          <a:p>
            <a:pPr marL="994421" lvl="1" indent="-314028">
              <a:spcBef>
                <a:spcPts val="721"/>
              </a:spcBef>
              <a:buFont typeface="Times New Roman"/>
              <a:buChar char="•"/>
              <a:tabLst>
                <a:tab pos="993549" algn="l"/>
                <a:tab pos="994421" algn="l"/>
              </a:tabLst>
            </a:pPr>
            <a:r>
              <a:rPr sz="2747" dirty="0">
                <a:latin typeface="Calibri"/>
                <a:cs typeface="Calibri"/>
              </a:rPr>
              <a:t>1/18</a:t>
            </a:r>
          </a:p>
          <a:p>
            <a:pPr marL="523380" indent="-471042">
              <a:spcBef>
                <a:spcPts val="680"/>
              </a:spcBef>
              <a:buClr>
                <a:srgbClr val="CC0000"/>
              </a:buClr>
              <a:buFont typeface="Times New Roman"/>
              <a:buChar char="•"/>
              <a:tabLst>
                <a:tab pos="522507" algn="l"/>
                <a:tab pos="523380" algn="l"/>
              </a:tabLst>
            </a:pPr>
            <a:r>
              <a:rPr sz="3297" spc="-7" dirty="0">
                <a:latin typeface="Calibri"/>
                <a:cs typeface="Calibri"/>
              </a:rPr>
              <a:t>How </a:t>
            </a:r>
            <a:r>
              <a:rPr sz="3297" dirty="0">
                <a:latin typeface="Calibri"/>
                <a:cs typeface="Calibri"/>
              </a:rPr>
              <a:t>likely</a:t>
            </a:r>
            <a:r>
              <a:rPr sz="3297" spc="-7" dirty="0">
                <a:latin typeface="Calibri"/>
                <a:cs typeface="Calibri"/>
              </a:rPr>
              <a:t> </a:t>
            </a:r>
            <a:r>
              <a:rPr sz="3297" dirty="0">
                <a:latin typeface="Calibri"/>
                <a:cs typeface="Calibri"/>
              </a:rPr>
              <a:t>is</a:t>
            </a:r>
            <a:r>
              <a:rPr sz="3297" spc="-7" dirty="0">
                <a:latin typeface="Calibri"/>
                <a:cs typeface="Calibri"/>
              </a:rPr>
              <a:t> </a:t>
            </a:r>
            <a:r>
              <a:rPr sz="3297" dirty="0">
                <a:latin typeface="Calibri"/>
                <a:cs typeface="Calibri"/>
              </a:rPr>
              <a:t>it</a:t>
            </a:r>
            <a:r>
              <a:rPr sz="3297" spc="-7" dirty="0">
                <a:latin typeface="Calibri"/>
                <a:cs typeface="Calibri"/>
              </a:rPr>
              <a:t> </a:t>
            </a:r>
            <a:r>
              <a:rPr sz="3297" dirty="0">
                <a:latin typeface="Calibri"/>
                <a:cs typeface="Calibri"/>
              </a:rPr>
              <a:t>that</a:t>
            </a:r>
            <a:r>
              <a:rPr sz="3297" spc="-7" dirty="0">
                <a:latin typeface="Calibri"/>
                <a:cs typeface="Calibri"/>
              </a:rPr>
              <a:t> </a:t>
            </a:r>
            <a:r>
              <a:rPr sz="3297" dirty="0">
                <a:latin typeface="Calibri"/>
                <a:cs typeface="Calibri"/>
              </a:rPr>
              <a:t>next</a:t>
            </a:r>
            <a:r>
              <a:rPr sz="3297" spc="-7" dirty="0">
                <a:latin typeface="Calibri"/>
                <a:cs typeface="Calibri"/>
              </a:rPr>
              <a:t> </a:t>
            </a:r>
            <a:r>
              <a:rPr sz="3297" dirty="0">
                <a:latin typeface="Calibri"/>
                <a:cs typeface="Calibri"/>
              </a:rPr>
              <a:t>species</a:t>
            </a:r>
            <a:r>
              <a:rPr sz="3297" spc="-7" dirty="0">
                <a:latin typeface="Calibri"/>
                <a:cs typeface="Calibri"/>
              </a:rPr>
              <a:t> </a:t>
            </a:r>
            <a:r>
              <a:rPr sz="3297" dirty="0">
                <a:latin typeface="Calibri"/>
                <a:cs typeface="Calibri"/>
              </a:rPr>
              <a:t>is</a:t>
            </a:r>
            <a:r>
              <a:rPr sz="3297" spc="-7" dirty="0">
                <a:latin typeface="Calibri"/>
                <a:cs typeface="Calibri"/>
              </a:rPr>
              <a:t> </a:t>
            </a:r>
            <a:r>
              <a:rPr sz="3297" dirty="0">
                <a:latin typeface="Calibri"/>
                <a:cs typeface="Calibri"/>
              </a:rPr>
              <a:t>new</a:t>
            </a:r>
            <a:r>
              <a:rPr sz="3297" spc="-7" dirty="0">
                <a:latin typeface="Calibri"/>
                <a:cs typeface="Calibri"/>
              </a:rPr>
              <a:t> (i.e. </a:t>
            </a:r>
            <a:r>
              <a:rPr sz="3297" spc="-14" dirty="0">
                <a:latin typeface="Calibri"/>
                <a:cs typeface="Calibri"/>
              </a:rPr>
              <a:t>catfish</a:t>
            </a:r>
            <a:r>
              <a:rPr sz="3297" spc="-7" dirty="0">
                <a:latin typeface="Calibri"/>
                <a:cs typeface="Calibri"/>
              </a:rPr>
              <a:t> or </a:t>
            </a:r>
            <a:r>
              <a:rPr sz="3297" dirty="0">
                <a:latin typeface="Calibri"/>
                <a:cs typeface="Calibri"/>
              </a:rPr>
              <a:t>bass)</a:t>
            </a:r>
          </a:p>
          <a:p>
            <a:pPr marL="994421" lvl="1" indent="-314028">
              <a:spcBef>
                <a:spcPts val="721"/>
              </a:spcBef>
              <a:buFont typeface="Times New Roman"/>
              <a:buChar char="•"/>
              <a:tabLst>
                <a:tab pos="993549" algn="l"/>
                <a:tab pos="994421" algn="l"/>
              </a:tabLst>
            </a:pPr>
            <a:r>
              <a:rPr sz="2747" dirty="0">
                <a:latin typeface="Calibri"/>
                <a:cs typeface="Calibri"/>
              </a:rPr>
              <a:t>Let</a:t>
            </a:r>
            <a:r>
              <a:rPr sz="2747" spc="-7" dirty="0">
                <a:latin typeface="Calibri"/>
                <a:cs typeface="Calibri"/>
              </a:rPr>
              <a:t>’</a:t>
            </a:r>
            <a:r>
              <a:rPr sz="2747" dirty="0">
                <a:latin typeface="Calibri"/>
                <a:cs typeface="Calibri"/>
              </a:rPr>
              <a:t>s use </a:t>
            </a:r>
            <a:r>
              <a:rPr sz="2747" spc="-7" dirty="0">
                <a:latin typeface="Calibri"/>
                <a:cs typeface="Calibri"/>
              </a:rPr>
              <a:t>o</a:t>
            </a:r>
            <a:r>
              <a:rPr sz="2747" dirty="0">
                <a:latin typeface="Calibri"/>
                <a:cs typeface="Calibri"/>
              </a:rPr>
              <a:t>ur es</a:t>
            </a:r>
            <a:r>
              <a:rPr sz="2747" spc="-14" dirty="0">
                <a:latin typeface="Calibri"/>
                <a:cs typeface="Calibri"/>
              </a:rPr>
              <a:t>t</a:t>
            </a:r>
            <a:r>
              <a:rPr sz="2747" spc="-21" dirty="0">
                <a:latin typeface="Calibri"/>
                <a:cs typeface="Calibri"/>
              </a:rPr>
              <a:t>i</a:t>
            </a:r>
            <a:r>
              <a:rPr sz="2747" spc="-7" dirty="0">
                <a:latin typeface="Calibri"/>
                <a:cs typeface="Calibri"/>
              </a:rPr>
              <a:t>m</a:t>
            </a:r>
            <a:r>
              <a:rPr sz="2747" dirty="0">
                <a:latin typeface="Calibri"/>
                <a:cs typeface="Calibri"/>
              </a:rPr>
              <a:t>ate</a:t>
            </a:r>
            <a:r>
              <a:rPr sz="2747" spc="-7" dirty="0">
                <a:latin typeface="Calibri"/>
                <a:cs typeface="Calibri"/>
              </a:rPr>
              <a:t> o</a:t>
            </a:r>
            <a:r>
              <a:rPr sz="2747" dirty="0">
                <a:latin typeface="Calibri"/>
                <a:cs typeface="Calibri"/>
              </a:rPr>
              <a:t>f things</a:t>
            </a:r>
            <a:r>
              <a:rPr sz="2747" spc="-562" dirty="0">
                <a:latin typeface="Calibri"/>
                <a:cs typeface="Calibri"/>
              </a:rPr>
              <a:t>-­‐</a:t>
            </a:r>
            <a:r>
              <a:rPr sz="2747" spc="-7" dirty="0">
                <a:latin typeface="Calibri"/>
                <a:cs typeface="Calibri"/>
              </a:rPr>
              <a:t>w</a:t>
            </a:r>
            <a:r>
              <a:rPr sz="2747" dirty="0">
                <a:latin typeface="Calibri"/>
                <a:cs typeface="Calibri"/>
              </a:rPr>
              <a:t>e</a:t>
            </a:r>
            <a:r>
              <a:rPr sz="2747" spc="-562" dirty="0">
                <a:latin typeface="Calibri"/>
                <a:cs typeface="Calibri"/>
              </a:rPr>
              <a:t>-­‐</a:t>
            </a:r>
            <a:r>
              <a:rPr sz="2747" dirty="0">
                <a:latin typeface="Calibri"/>
                <a:cs typeface="Calibri"/>
              </a:rPr>
              <a:t>sa</a:t>
            </a:r>
            <a:r>
              <a:rPr sz="2747" spc="-7" dirty="0">
                <a:latin typeface="Calibri"/>
                <a:cs typeface="Calibri"/>
              </a:rPr>
              <a:t>w</a:t>
            </a:r>
            <a:r>
              <a:rPr sz="2747" spc="-562" dirty="0">
                <a:latin typeface="Calibri"/>
                <a:cs typeface="Calibri"/>
              </a:rPr>
              <a:t>-­‐</a:t>
            </a:r>
            <a:r>
              <a:rPr sz="2747" spc="-7" dirty="0">
                <a:latin typeface="Calibri"/>
                <a:cs typeface="Calibri"/>
              </a:rPr>
              <a:t>o</a:t>
            </a:r>
            <a:r>
              <a:rPr sz="2747" dirty="0">
                <a:latin typeface="Calibri"/>
                <a:cs typeface="Calibri"/>
              </a:rPr>
              <a:t>nce to es</a:t>
            </a:r>
            <a:r>
              <a:rPr sz="2747" spc="-14" dirty="0">
                <a:latin typeface="Calibri"/>
                <a:cs typeface="Calibri"/>
              </a:rPr>
              <a:t>t</a:t>
            </a:r>
            <a:r>
              <a:rPr sz="2747" spc="-21" dirty="0">
                <a:latin typeface="Calibri"/>
                <a:cs typeface="Calibri"/>
              </a:rPr>
              <a:t>i</a:t>
            </a:r>
            <a:r>
              <a:rPr sz="2747" spc="-7" dirty="0">
                <a:latin typeface="Calibri"/>
                <a:cs typeface="Calibri"/>
              </a:rPr>
              <a:t>m</a:t>
            </a:r>
            <a:r>
              <a:rPr sz="2747" dirty="0">
                <a:latin typeface="Calibri"/>
                <a:cs typeface="Calibri"/>
              </a:rPr>
              <a:t>ate</a:t>
            </a:r>
            <a:r>
              <a:rPr sz="2747" spc="-7" dirty="0">
                <a:latin typeface="Calibri"/>
                <a:cs typeface="Calibri"/>
              </a:rPr>
              <a:t> </a:t>
            </a:r>
            <a:r>
              <a:rPr sz="2747" dirty="0">
                <a:latin typeface="Calibri"/>
                <a:cs typeface="Calibri"/>
              </a:rPr>
              <a:t>the new things.</a:t>
            </a:r>
          </a:p>
          <a:p>
            <a:pPr marL="994421" lvl="1" indent="-314028">
              <a:spcBef>
                <a:spcPts val="687"/>
              </a:spcBef>
              <a:buFont typeface="Times New Roman"/>
              <a:buChar char="•"/>
              <a:tabLst>
                <a:tab pos="993549" algn="l"/>
                <a:tab pos="994421" algn="l"/>
              </a:tabLst>
            </a:pPr>
            <a:r>
              <a:rPr sz="2747" spc="-7" dirty="0">
                <a:latin typeface="Calibri"/>
                <a:cs typeface="Calibri"/>
              </a:rPr>
              <a:t>3/18</a:t>
            </a:r>
            <a:r>
              <a:rPr sz="2747" spc="-41" dirty="0">
                <a:latin typeface="Calibri"/>
                <a:cs typeface="Calibri"/>
              </a:rPr>
              <a:t> </a:t>
            </a:r>
            <a:r>
              <a:rPr sz="2747" dirty="0">
                <a:latin typeface="Calibri"/>
                <a:cs typeface="Calibri"/>
              </a:rPr>
              <a:t>(because</a:t>
            </a:r>
            <a:r>
              <a:rPr sz="2747" spc="-34" dirty="0">
                <a:latin typeface="Calibri"/>
                <a:cs typeface="Calibri"/>
              </a:rPr>
              <a:t> </a:t>
            </a:r>
            <a:r>
              <a:rPr sz="2747" dirty="0">
                <a:latin typeface="Calibri"/>
                <a:cs typeface="Calibri"/>
              </a:rPr>
              <a:t>N</a:t>
            </a:r>
            <a:r>
              <a:rPr sz="2679" baseline="-21367" dirty="0">
                <a:latin typeface="Calibri"/>
                <a:cs typeface="Calibri"/>
              </a:rPr>
              <a:t>1</a:t>
            </a:r>
            <a:r>
              <a:rPr sz="2747" dirty="0">
                <a:latin typeface="Calibri"/>
                <a:cs typeface="Calibri"/>
              </a:rPr>
              <a:t>=3)</a:t>
            </a:r>
          </a:p>
          <a:p>
            <a:pPr marL="523380" indent="-471042">
              <a:spcBef>
                <a:spcPts val="817"/>
              </a:spcBef>
              <a:buClr>
                <a:srgbClr val="CC0000"/>
              </a:buClr>
              <a:buFont typeface="Times New Roman"/>
              <a:buChar char="•"/>
              <a:tabLst>
                <a:tab pos="522507" algn="l"/>
                <a:tab pos="523380" algn="l"/>
              </a:tabLst>
            </a:pPr>
            <a:r>
              <a:rPr sz="3297" spc="-7" dirty="0">
                <a:latin typeface="Calibri"/>
                <a:cs typeface="Calibri"/>
              </a:rPr>
              <a:t>Assuming so,</a:t>
            </a:r>
            <a:r>
              <a:rPr sz="3297" dirty="0">
                <a:latin typeface="Calibri"/>
                <a:cs typeface="Calibri"/>
              </a:rPr>
              <a:t> </a:t>
            </a:r>
            <a:r>
              <a:rPr sz="3297" spc="-7" dirty="0">
                <a:latin typeface="Calibri"/>
                <a:cs typeface="Calibri"/>
              </a:rPr>
              <a:t>how </a:t>
            </a:r>
            <a:r>
              <a:rPr sz="3297" dirty="0">
                <a:latin typeface="Calibri"/>
                <a:cs typeface="Calibri"/>
              </a:rPr>
              <a:t>likely is</a:t>
            </a:r>
            <a:r>
              <a:rPr sz="3297" spc="-7" dirty="0">
                <a:latin typeface="Calibri"/>
                <a:cs typeface="Calibri"/>
              </a:rPr>
              <a:t> </a:t>
            </a:r>
            <a:r>
              <a:rPr sz="3297" dirty="0">
                <a:latin typeface="Calibri"/>
                <a:cs typeface="Calibri"/>
              </a:rPr>
              <a:t>it that</a:t>
            </a:r>
            <a:r>
              <a:rPr sz="3297" spc="-7" dirty="0">
                <a:latin typeface="Calibri"/>
                <a:cs typeface="Calibri"/>
              </a:rPr>
              <a:t> </a:t>
            </a:r>
            <a:r>
              <a:rPr sz="3297" dirty="0">
                <a:latin typeface="Calibri"/>
                <a:cs typeface="Calibri"/>
              </a:rPr>
              <a:t>next species is</a:t>
            </a:r>
            <a:r>
              <a:rPr sz="3297" spc="-7" dirty="0">
                <a:latin typeface="Calibri"/>
                <a:cs typeface="Calibri"/>
              </a:rPr>
              <a:t> trout?</a:t>
            </a:r>
            <a:endParaRPr sz="3297" dirty="0">
              <a:latin typeface="Calibri"/>
              <a:cs typeface="Calibri"/>
            </a:endParaRPr>
          </a:p>
          <a:p>
            <a:pPr marL="994421" lvl="1" indent="-314028">
              <a:spcBef>
                <a:spcPts val="584"/>
              </a:spcBef>
              <a:buFont typeface="Times New Roman"/>
              <a:buChar char="•"/>
              <a:tabLst>
                <a:tab pos="993549" algn="l"/>
                <a:tab pos="994421" algn="l"/>
              </a:tabLst>
            </a:pPr>
            <a:r>
              <a:rPr sz="2747" dirty="0">
                <a:latin typeface="Calibri"/>
                <a:cs typeface="Calibri"/>
              </a:rPr>
              <a:t>Must</a:t>
            </a:r>
            <a:r>
              <a:rPr sz="2747" spc="-27" dirty="0">
                <a:latin typeface="Calibri"/>
                <a:cs typeface="Calibri"/>
              </a:rPr>
              <a:t> </a:t>
            </a:r>
            <a:r>
              <a:rPr sz="2747" dirty="0">
                <a:latin typeface="Calibri"/>
                <a:cs typeface="Calibri"/>
              </a:rPr>
              <a:t>be</a:t>
            </a:r>
            <a:r>
              <a:rPr sz="2747" spc="-21" dirty="0">
                <a:latin typeface="Calibri"/>
                <a:cs typeface="Calibri"/>
              </a:rPr>
              <a:t> </a:t>
            </a:r>
            <a:r>
              <a:rPr sz="2747" dirty="0">
                <a:latin typeface="Calibri"/>
                <a:cs typeface="Calibri"/>
              </a:rPr>
              <a:t>less</a:t>
            </a:r>
            <a:r>
              <a:rPr sz="2747" spc="-27" dirty="0">
                <a:latin typeface="Calibri"/>
                <a:cs typeface="Calibri"/>
              </a:rPr>
              <a:t> </a:t>
            </a:r>
            <a:r>
              <a:rPr sz="2747" dirty="0">
                <a:latin typeface="Calibri"/>
                <a:cs typeface="Calibri"/>
              </a:rPr>
              <a:t>than</a:t>
            </a:r>
            <a:r>
              <a:rPr sz="2747" spc="-21" dirty="0">
                <a:latin typeface="Calibri"/>
                <a:cs typeface="Calibri"/>
              </a:rPr>
              <a:t> </a:t>
            </a:r>
            <a:r>
              <a:rPr sz="2747" spc="-7" dirty="0">
                <a:latin typeface="Calibri"/>
                <a:cs typeface="Calibri"/>
              </a:rPr>
              <a:t>1/18</a:t>
            </a:r>
            <a:endParaRPr sz="2747" dirty="0">
              <a:latin typeface="Calibri"/>
              <a:cs typeface="Calibri"/>
            </a:endParaRPr>
          </a:p>
          <a:p>
            <a:pPr marL="994421" lvl="1" indent="-314028">
              <a:spcBef>
                <a:spcPts val="687"/>
              </a:spcBef>
              <a:buFont typeface="Times New Roman"/>
              <a:buChar char="•"/>
              <a:tabLst>
                <a:tab pos="993549" algn="l"/>
                <a:tab pos="994421" algn="l"/>
              </a:tabLst>
            </a:pPr>
            <a:r>
              <a:rPr sz="2747" spc="-7" dirty="0">
                <a:latin typeface="Calibri"/>
                <a:cs typeface="Calibri"/>
              </a:rPr>
              <a:t>How</a:t>
            </a:r>
            <a:r>
              <a:rPr sz="2747" spc="-34" dirty="0">
                <a:latin typeface="Calibri"/>
                <a:cs typeface="Calibri"/>
              </a:rPr>
              <a:t> </a:t>
            </a:r>
            <a:r>
              <a:rPr sz="2747" dirty="0">
                <a:latin typeface="Calibri"/>
                <a:cs typeface="Calibri"/>
              </a:rPr>
              <a:t>to</a:t>
            </a:r>
            <a:r>
              <a:rPr sz="2747" spc="-27" dirty="0">
                <a:latin typeface="Calibri"/>
                <a:cs typeface="Calibri"/>
              </a:rPr>
              <a:t> </a:t>
            </a:r>
            <a:r>
              <a:rPr sz="2747" spc="-7" dirty="0">
                <a:latin typeface="Calibri"/>
                <a:cs typeface="Calibri"/>
              </a:rPr>
              <a:t>estimate?</a:t>
            </a:r>
            <a:endParaRPr sz="2747" dirty="0">
              <a:latin typeface="Calibri"/>
              <a:cs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p:nvPr/>
        </p:nvSpPr>
        <p:spPr>
          <a:xfrm>
            <a:off x="6702933" y="3261445"/>
            <a:ext cx="3741394" cy="1626165"/>
          </a:xfrm>
          <a:prstGeom prst="rect">
            <a:avLst/>
          </a:prstGeom>
        </p:spPr>
        <p:txBody>
          <a:bodyPr vert="horz" wrap="square" lIns="0" tIns="105551" rIns="0" bIns="0" rtlCol="0">
            <a:spAutoFit/>
          </a:bodyPr>
          <a:lstStyle/>
          <a:p>
            <a:pPr marL="488488" indent="-471042">
              <a:spcBef>
                <a:spcPts val="831"/>
              </a:spcBef>
              <a:buClr>
                <a:srgbClr val="CC0000"/>
              </a:buClr>
              <a:buFont typeface="Times New Roman"/>
              <a:buChar char="•"/>
              <a:tabLst>
                <a:tab pos="487615" algn="l"/>
                <a:tab pos="488488" algn="l"/>
              </a:tabLst>
            </a:pPr>
            <a:r>
              <a:rPr sz="3297" dirty="0">
                <a:latin typeface="Arial MT"/>
                <a:cs typeface="Arial MT"/>
              </a:rPr>
              <a:t>Seen</a:t>
            </a:r>
            <a:r>
              <a:rPr sz="3297" spc="-48" dirty="0">
                <a:latin typeface="Arial MT"/>
                <a:cs typeface="Arial MT"/>
              </a:rPr>
              <a:t> </a:t>
            </a:r>
            <a:r>
              <a:rPr sz="3297" dirty="0">
                <a:latin typeface="Arial MT"/>
                <a:cs typeface="Arial MT"/>
              </a:rPr>
              <a:t>once</a:t>
            </a:r>
            <a:r>
              <a:rPr sz="3297" spc="-48" dirty="0">
                <a:latin typeface="Arial MT"/>
                <a:cs typeface="Arial MT"/>
              </a:rPr>
              <a:t> </a:t>
            </a:r>
            <a:r>
              <a:rPr sz="3297" spc="-7" dirty="0">
                <a:latin typeface="Arial MT"/>
                <a:cs typeface="Arial MT"/>
              </a:rPr>
              <a:t>(trout)</a:t>
            </a:r>
            <a:endParaRPr sz="3297" dirty="0">
              <a:latin typeface="Arial MT"/>
              <a:cs typeface="Arial MT"/>
            </a:endParaRPr>
          </a:p>
          <a:p>
            <a:pPr marL="959529" lvl="1" indent="-314028">
              <a:spcBef>
                <a:spcPts val="584"/>
              </a:spcBef>
              <a:buFont typeface="Times New Roman"/>
              <a:buChar char="•"/>
              <a:tabLst>
                <a:tab pos="958657" algn="l"/>
                <a:tab pos="959529" algn="l"/>
              </a:tabLst>
            </a:pPr>
            <a:r>
              <a:rPr sz="2747" dirty="0">
                <a:latin typeface="Arial MT"/>
                <a:cs typeface="Arial MT"/>
              </a:rPr>
              <a:t>c</a:t>
            </a:r>
            <a:r>
              <a:rPr sz="2747" spc="-55" dirty="0">
                <a:latin typeface="Arial MT"/>
                <a:cs typeface="Arial MT"/>
              </a:rPr>
              <a:t> </a:t>
            </a:r>
            <a:r>
              <a:rPr sz="2747" dirty="0">
                <a:latin typeface="Arial MT"/>
                <a:cs typeface="Arial MT"/>
              </a:rPr>
              <a:t>=</a:t>
            </a:r>
            <a:r>
              <a:rPr sz="2747" spc="-41" dirty="0">
                <a:latin typeface="Arial MT"/>
                <a:cs typeface="Arial MT"/>
              </a:rPr>
              <a:t> </a:t>
            </a:r>
            <a:r>
              <a:rPr sz="2747" dirty="0">
                <a:latin typeface="Arial MT"/>
                <a:cs typeface="Arial MT"/>
              </a:rPr>
              <a:t>1</a:t>
            </a:r>
          </a:p>
          <a:p>
            <a:pPr marL="959529" lvl="1" indent="-314028">
              <a:spcBef>
                <a:spcPts val="687"/>
              </a:spcBef>
              <a:buFont typeface="Times New Roman"/>
              <a:buChar char="•"/>
              <a:tabLst>
                <a:tab pos="958657" algn="l"/>
                <a:tab pos="959529" algn="l"/>
              </a:tabLst>
            </a:pPr>
            <a:r>
              <a:rPr sz="2747" dirty="0">
                <a:latin typeface="Arial MT"/>
                <a:cs typeface="Arial MT"/>
              </a:rPr>
              <a:t>MLE</a:t>
            </a:r>
            <a:r>
              <a:rPr sz="2747" spc="-34" dirty="0">
                <a:latin typeface="Arial MT"/>
                <a:cs typeface="Arial MT"/>
              </a:rPr>
              <a:t> </a:t>
            </a:r>
            <a:r>
              <a:rPr sz="2747" dirty="0">
                <a:latin typeface="Arial MT"/>
                <a:cs typeface="Arial MT"/>
              </a:rPr>
              <a:t>p</a:t>
            </a:r>
            <a:r>
              <a:rPr sz="2747" spc="-27" dirty="0">
                <a:latin typeface="Arial MT"/>
                <a:cs typeface="Arial MT"/>
              </a:rPr>
              <a:t> </a:t>
            </a:r>
            <a:r>
              <a:rPr sz="2747" dirty="0">
                <a:latin typeface="Arial MT"/>
                <a:cs typeface="Arial MT"/>
              </a:rPr>
              <a:t>=</a:t>
            </a:r>
            <a:r>
              <a:rPr sz="2747" spc="-27" dirty="0">
                <a:latin typeface="Arial MT"/>
                <a:cs typeface="Arial MT"/>
              </a:rPr>
              <a:t> </a:t>
            </a:r>
            <a:r>
              <a:rPr sz="2747" spc="-7" dirty="0">
                <a:latin typeface="Arial MT"/>
                <a:cs typeface="Arial MT"/>
              </a:rPr>
              <a:t>1/18</a:t>
            </a:r>
            <a:endParaRPr sz="2747" dirty="0">
              <a:latin typeface="Arial MT"/>
              <a:cs typeface="Arial MT"/>
            </a:endParaRPr>
          </a:p>
        </p:txBody>
      </p:sp>
      <p:sp>
        <p:nvSpPr>
          <p:cNvPr id="7" name="object 7"/>
          <p:cNvSpPr txBox="1"/>
          <p:nvPr/>
        </p:nvSpPr>
        <p:spPr>
          <a:xfrm>
            <a:off x="7296110" y="5357253"/>
            <a:ext cx="5645881" cy="2115354"/>
          </a:xfrm>
          <a:prstGeom prst="rect">
            <a:avLst/>
          </a:prstGeom>
        </p:spPr>
        <p:txBody>
          <a:bodyPr vert="horz" wrap="square" lIns="0" tIns="104679" rIns="0" bIns="0" rtlCol="0">
            <a:spAutoFit/>
          </a:bodyPr>
          <a:lstStyle/>
          <a:p>
            <a:pPr marL="366366" indent="-314028">
              <a:spcBef>
                <a:spcPts val="824"/>
              </a:spcBef>
              <a:buFont typeface="Times New Roman"/>
              <a:buChar char="•"/>
              <a:tabLst>
                <a:tab pos="365493" algn="l"/>
                <a:tab pos="366366" algn="l"/>
              </a:tabLst>
            </a:pPr>
            <a:r>
              <a:rPr sz="2747" spc="-7" dirty="0">
                <a:latin typeface="Arial MT"/>
                <a:cs typeface="Arial MT"/>
              </a:rPr>
              <a:t>C*(trout)</a:t>
            </a:r>
            <a:r>
              <a:rPr sz="2747" spc="-21" dirty="0">
                <a:latin typeface="Arial MT"/>
                <a:cs typeface="Arial MT"/>
              </a:rPr>
              <a:t> </a:t>
            </a:r>
            <a:r>
              <a:rPr sz="2747" dirty="0">
                <a:latin typeface="Arial MT"/>
                <a:cs typeface="Arial MT"/>
              </a:rPr>
              <a:t>=</a:t>
            </a:r>
            <a:r>
              <a:rPr sz="2747" spc="-14" dirty="0">
                <a:latin typeface="Arial MT"/>
                <a:cs typeface="Arial MT"/>
              </a:rPr>
              <a:t> </a:t>
            </a:r>
            <a:r>
              <a:rPr sz="2747" dirty="0">
                <a:latin typeface="Arial MT"/>
                <a:cs typeface="Arial MT"/>
              </a:rPr>
              <a:t>2</a:t>
            </a:r>
            <a:r>
              <a:rPr sz="2747" spc="-14" dirty="0">
                <a:latin typeface="Arial MT"/>
                <a:cs typeface="Arial MT"/>
              </a:rPr>
              <a:t> </a:t>
            </a:r>
            <a:r>
              <a:rPr sz="2747" dirty="0">
                <a:latin typeface="Arial MT"/>
                <a:cs typeface="Arial MT"/>
              </a:rPr>
              <a:t>*</a:t>
            </a:r>
            <a:r>
              <a:rPr sz="2747" spc="-7" dirty="0">
                <a:latin typeface="Arial MT"/>
                <a:cs typeface="Arial MT"/>
              </a:rPr>
              <a:t> N2/N1</a:t>
            </a:r>
            <a:endParaRPr sz="2747" dirty="0">
              <a:latin typeface="Arial MT"/>
              <a:cs typeface="Arial MT"/>
            </a:endParaRPr>
          </a:p>
          <a:p>
            <a:pPr marL="1311938">
              <a:spcBef>
                <a:spcPts val="687"/>
              </a:spcBef>
            </a:pPr>
            <a:r>
              <a:rPr sz="2747" dirty="0">
                <a:latin typeface="Arial MT"/>
                <a:cs typeface="Arial MT"/>
              </a:rPr>
              <a:t>=</a:t>
            </a:r>
            <a:r>
              <a:rPr sz="2747" spc="-34" dirty="0">
                <a:latin typeface="Arial MT"/>
                <a:cs typeface="Arial MT"/>
              </a:rPr>
              <a:t> </a:t>
            </a:r>
            <a:r>
              <a:rPr sz="2747" dirty="0">
                <a:latin typeface="Arial MT"/>
                <a:cs typeface="Arial MT"/>
              </a:rPr>
              <a:t>2</a:t>
            </a:r>
            <a:r>
              <a:rPr sz="2747" spc="-27" dirty="0">
                <a:latin typeface="Arial MT"/>
                <a:cs typeface="Arial MT"/>
              </a:rPr>
              <a:t> </a:t>
            </a:r>
            <a:r>
              <a:rPr sz="2747" dirty="0">
                <a:latin typeface="Arial MT"/>
                <a:cs typeface="Arial MT"/>
              </a:rPr>
              <a:t>*</a:t>
            </a:r>
            <a:r>
              <a:rPr sz="2747" spc="-27" dirty="0">
                <a:latin typeface="Arial MT"/>
                <a:cs typeface="Arial MT"/>
              </a:rPr>
              <a:t> </a:t>
            </a:r>
            <a:r>
              <a:rPr sz="2747" spc="-7" dirty="0">
                <a:latin typeface="Arial MT"/>
                <a:cs typeface="Arial MT"/>
              </a:rPr>
              <a:t>1/3</a:t>
            </a:r>
            <a:endParaRPr sz="2747" dirty="0">
              <a:latin typeface="Arial MT"/>
              <a:cs typeface="Arial MT"/>
            </a:endParaRPr>
          </a:p>
          <a:p>
            <a:pPr marL="1505589">
              <a:spcBef>
                <a:spcPts val="549"/>
              </a:spcBef>
            </a:pPr>
            <a:r>
              <a:rPr sz="2747" dirty="0">
                <a:latin typeface="Arial MT"/>
                <a:cs typeface="Arial MT"/>
              </a:rPr>
              <a:t>=</a:t>
            </a:r>
            <a:r>
              <a:rPr sz="2747" spc="-62" dirty="0">
                <a:latin typeface="Arial MT"/>
                <a:cs typeface="Arial MT"/>
              </a:rPr>
              <a:t> </a:t>
            </a:r>
            <a:r>
              <a:rPr sz="2747" spc="-7" dirty="0">
                <a:latin typeface="Arial MT"/>
                <a:cs typeface="Arial MT"/>
              </a:rPr>
              <a:t>2/3</a:t>
            </a:r>
            <a:endParaRPr sz="2747" dirty="0">
              <a:latin typeface="Arial MT"/>
              <a:cs typeface="Arial MT"/>
            </a:endParaRPr>
          </a:p>
          <a:p>
            <a:pPr marL="366366" indent="-314028">
              <a:lnSpc>
                <a:spcPts val="2473"/>
              </a:lnSpc>
              <a:spcBef>
                <a:spcPts val="687"/>
              </a:spcBef>
              <a:buFont typeface="Times New Roman"/>
              <a:buChar char="•"/>
              <a:tabLst>
                <a:tab pos="365493" algn="l"/>
                <a:tab pos="366366" algn="l"/>
                <a:tab pos="1011867" algn="l"/>
              </a:tabLst>
            </a:pPr>
            <a:r>
              <a:rPr sz="2747" spc="7" dirty="0">
                <a:latin typeface="Arial MT"/>
                <a:cs typeface="Arial MT"/>
              </a:rPr>
              <a:t>P</a:t>
            </a:r>
            <a:r>
              <a:rPr sz="2679" spc="10" baseline="25641" dirty="0">
                <a:latin typeface="Arial MT"/>
                <a:cs typeface="Arial MT"/>
              </a:rPr>
              <a:t>*	</a:t>
            </a:r>
            <a:r>
              <a:rPr sz="2747" spc="-7" dirty="0">
                <a:latin typeface="Arial MT"/>
                <a:cs typeface="Arial MT"/>
              </a:rPr>
              <a:t>(trout)</a:t>
            </a:r>
            <a:r>
              <a:rPr sz="2747" spc="-21" dirty="0">
                <a:latin typeface="Arial MT"/>
                <a:cs typeface="Arial MT"/>
              </a:rPr>
              <a:t> </a:t>
            </a:r>
            <a:r>
              <a:rPr lang="en-US" sz="2747" spc="-21" dirty="0">
                <a:latin typeface="Arial MT"/>
                <a:cs typeface="Arial MT"/>
              </a:rPr>
              <a:t>= </a:t>
            </a:r>
            <a:r>
              <a:rPr lang="en-US" sz="2747" b="1" spc="-21" dirty="0">
                <a:latin typeface="Arial MT"/>
                <a:cs typeface="Arial MT"/>
              </a:rPr>
              <a:t>c*/N</a:t>
            </a:r>
            <a:r>
              <a:rPr sz="2747" dirty="0">
                <a:latin typeface="Arial MT"/>
                <a:cs typeface="Arial MT"/>
              </a:rPr>
              <a:t>=</a:t>
            </a:r>
            <a:r>
              <a:rPr sz="2747" spc="-14" dirty="0">
                <a:latin typeface="Arial MT"/>
                <a:cs typeface="Arial MT"/>
              </a:rPr>
              <a:t> </a:t>
            </a:r>
            <a:r>
              <a:rPr sz="2747" spc="-7" dirty="0">
                <a:latin typeface="Arial MT"/>
                <a:cs typeface="Arial MT"/>
              </a:rPr>
              <a:t>2/3 </a:t>
            </a:r>
            <a:r>
              <a:rPr sz="2747" dirty="0">
                <a:latin typeface="Arial MT"/>
                <a:cs typeface="Arial MT"/>
              </a:rPr>
              <a:t>/</a:t>
            </a:r>
            <a:r>
              <a:rPr sz="2747" spc="-21" dirty="0">
                <a:latin typeface="Arial MT"/>
                <a:cs typeface="Arial MT"/>
              </a:rPr>
              <a:t> </a:t>
            </a:r>
            <a:r>
              <a:rPr sz="2747" dirty="0">
                <a:latin typeface="Arial MT"/>
                <a:cs typeface="Arial MT"/>
              </a:rPr>
              <a:t>18</a:t>
            </a:r>
            <a:r>
              <a:rPr sz="2747" spc="-7" dirty="0">
                <a:latin typeface="Arial MT"/>
                <a:cs typeface="Arial MT"/>
              </a:rPr>
              <a:t> </a:t>
            </a:r>
            <a:r>
              <a:rPr sz="2747" dirty="0">
                <a:latin typeface="Arial MT"/>
                <a:cs typeface="Arial MT"/>
              </a:rPr>
              <a:t>=</a:t>
            </a:r>
            <a:r>
              <a:rPr sz="2747" spc="-14" dirty="0">
                <a:latin typeface="Arial MT"/>
                <a:cs typeface="Arial MT"/>
              </a:rPr>
              <a:t> </a:t>
            </a:r>
            <a:r>
              <a:rPr sz="2747" spc="-7" dirty="0">
                <a:latin typeface="Arial MT"/>
                <a:cs typeface="Arial MT"/>
              </a:rPr>
              <a:t>1/27</a:t>
            </a:r>
            <a:endParaRPr sz="2747" dirty="0">
              <a:latin typeface="Arial MT"/>
              <a:cs typeface="Arial MT"/>
            </a:endParaRPr>
          </a:p>
          <a:p>
            <a:pPr marL="689117">
              <a:lnSpc>
                <a:spcPts val="1319"/>
              </a:lnSpc>
            </a:pPr>
            <a:r>
              <a:rPr sz="1786" spc="27" dirty="0">
                <a:latin typeface="Arial MT"/>
                <a:cs typeface="Arial MT"/>
              </a:rPr>
              <a:t>GT</a:t>
            </a:r>
            <a:endParaRPr sz="1786" dirty="0">
              <a:latin typeface="Arial MT"/>
              <a:cs typeface="Arial MT"/>
            </a:endParaRPr>
          </a:p>
        </p:txBody>
      </p:sp>
      <p:sp>
        <p:nvSpPr>
          <p:cNvPr id="8" name="object 8"/>
          <p:cNvSpPr txBox="1">
            <a:spLocks noGrp="1"/>
          </p:cNvSpPr>
          <p:nvPr>
            <p:ph type="title"/>
          </p:nvPr>
        </p:nvSpPr>
        <p:spPr>
          <a:xfrm>
            <a:off x="2620458" y="1145678"/>
            <a:ext cx="6765739" cy="694084"/>
          </a:xfrm>
          <a:prstGeom prst="rect">
            <a:avLst/>
          </a:prstGeom>
        </p:spPr>
        <p:txBody>
          <a:bodyPr vert="horz" wrap="square" lIns="0" tIns="17446" rIns="0" bIns="0" rtlCol="0">
            <a:spAutoFit/>
          </a:bodyPr>
          <a:lstStyle/>
          <a:p>
            <a:pPr marL="17446">
              <a:spcBef>
                <a:spcPts val="137"/>
              </a:spcBef>
            </a:pPr>
            <a:r>
              <a:rPr spc="-7" dirty="0"/>
              <a:t>Good</a:t>
            </a:r>
            <a:r>
              <a:rPr spc="-41" dirty="0"/>
              <a:t> </a:t>
            </a:r>
            <a:r>
              <a:rPr spc="-7" dirty="0"/>
              <a:t>Turing</a:t>
            </a:r>
            <a:r>
              <a:rPr spc="-41" dirty="0"/>
              <a:t> </a:t>
            </a:r>
            <a:r>
              <a:rPr spc="-7" dirty="0"/>
              <a:t>calculations</a:t>
            </a:r>
          </a:p>
        </p:txBody>
      </p:sp>
      <p:sp>
        <p:nvSpPr>
          <p:cNvPr id="9" name="object 9"/>
          <p:cNvSpPr txBox="1"/>
          <p:nvPr/>
        </p:nvSpPr>
        <p:spPr>
          <a:xfrm>
            <a:off x="945597" y="3261445"/>
            <a:ext cx="5044644" cy="1626165"/>
          </a:xfrm>
          <a:prstGeom prst="rect">
            <a:avLst/>
          </a:prstGeom>
        </p:spPr>
        <p:txBody>
          <a:bodyPr vert="horz" wrap="square" lIns="0" tIns="105551" rIns="0" bIns="0" rtlCol="0">
            <a:spAutoFit/>
          </a:bodyPr>
          <a:lstStyle/>
          <a:p>
            <a:pPr marL="488488" indent="-471042">
              <a:spcBef>
                <a:spcPts val="831"/>
              </a:spcBef>
              <a:buClr>
                <a:srgbClr val="CC0000"/>
              </a:buClr>
              <a:buFont typeface="Times New Roman"/>
              <a:buChar char="•"/>
              <a:tabLst>
                <a:tab pos="487615" algn="l"/>
                <a:tab pos="488488" algn="l"/>
              </a:tabLst>
            </a:pPr>
            <a:r>
              <a:rPr sz="3297" dirty="0">
                <a:latin typeface="Arial MT"/>
                <a:cs typeface="Arial MT"/>
              </a:rPr>
              <a:t>Unseen</a:t>
            </a:r>
            <a:r>
              <a:rPr sz="3297" spc="-34" dirty="0">
                <a:latin typeface="Arial MT"/>
                <a:cs typeface="Arial MT"/>
              </a:rPr>
              <a:t> </a:t>
            </a:r>
            <a:r>
              <a:rPr sz="3297" dirty="0">
                <a:latin typeface="Arial MT"/>
                <a:cs typeface="Arial MT"/>
              </a:rPr>
              <a:t>(bass</a:t>
            </a:r>
            <a:r>
              <a:rPr sz="3297" spc="-34" dirty="0">
                <a:latin typeface="Arial MT"/>
                <a:cs typeface="Arial MT"/>
              </a:rPr>
              <a:t> </a:t>
            </a:r>
            <a:r>
              <a:rPr sz="3297" dirty="0">
                <a:latin typeface="Arial MT"/>
                <a:cs typeface="Arial MT"/>
              </a:rPr>
              <a:t>or</a:t>
            </a:r>
            <a:r>
              <a:rPr sz="3297" spc="-41" dirty="0">
                <a:latin typeface="Arial MT"/>
                <a:cs typeface="Arial MT"/>
              </a:rPr>
              <a:t> </a:t>
            </a:r>
            <a:r>
              <a:rPr sz="3297" spc="-7" dirty="0">
                <a:latin typeface="Arial MT"/>
                <a:cs typeface="Arial MT"/>
              </a:rPr>
              <a:t>catfish)</a:t>
            </a:r>
            <a:endParaRPr sz="3297">
              <a:latin typeface="Arial MT"/>
              <a:cs typeface="Arial MT"/>
            </a:endParaRPr>
          </a:p>
          <a:p>
            <a:pPr marL="959529" lvl="1" indent="-314028">
              <a:spcBef>
                <a:spcPts val="584"/>
              </a:spcBef>
              <a:buFont typeface="Times New Roman"/>
              <a:buChar char="•"/>
              <a:tabLst>
                <a:tab pos="958657" algn="l"/>
                <a:tab pos="959529" algn="l"/>
              </a:tabLst>
            </a:pPr>
            <a:r>
              <a:rPr sz="2747" dirty="0">
                <a:latin typeface="Arial MT"/>
                <a:cs typeface="Arial MT"/>
              </a:rPr>
              <a:t>c</a:t>
            </a:r>
            <a:r>
              <a:rPr sz="2747" spc="-55" dirty="0">
                <a:latin typeface="Arial MT"/>
                <a:cs typeface="Arial MT"/>
              </a:rPr>
              <a:t> </a:t>
            </a:r>
            <a:r>
              <a:rPr sz="2747" dirty="0">
                <a:latin typeface="Arial MT"/>
                <a:cs typeface="Arial MT"/>
              </a:rPr>
              <a:t>=</a:t>
            </a:r>
            <a:r>
              <a:rPr sz="2747" spc="-41" dirty="0">
                <a:latin typeface="Arial MT"/>
                <a:cs typeface="Arial MT"/>
              </a:rPr>
              <a:t> </a:t>
            </a:r>
            <a:r>
              <a:rPr sz="2747" dirty="0">
                <a:latin typeface="Arial MT"/>
                <a:cs typeface="Arial MT"/>
              </a:rPr>
              <a:t>0:</a:t>
            </a:r>
            <a:endParaRPr sz="2747">
              <a:latin typeface="Arial MT"/>
              <a:cs typeface="Arial MT"/>
            </a:endParaRPr>
          </a:p>
          <a:p>
            <a:pPr marL="959529" lvl="1" indent="-314028">
              <a:spcBef>
                <a:spcPts val="687"/>
              </a:spcBef>
              <a:buFont typeface="Times New Roman"/>
              <a:buChar char="•"/>
              <a:tabLst>
                <a:tab pos="958657" algn="l"/>
                <a:tab pos="959529" algn="l"/>
              </a:tabLst>
            </a:pPr>
            <a:r>
              <a:rPr sz="2747" dirty="0">
                <a:latin typeface="Arial MT"/>
                <a:cs typeface="Arial MT"/>
              </a:rPr>
              <a:t>MLE</a:t>
            </a:r>
            <a:r>
              <a:rPr sz="2747" spc="-21" dirty="0">
                <a:latin typeface="Arial MT"/>
                <a:cs typeface="Arial MT"/>
              </a:rPr>
              <a:t> </a:t>
            </a:r>
            <a:r>
              <a:rPr sz="2747" dirty="0">
                <a:latin typeface="Arial MT"/>
                <a:cs typeface="Arial MT"/>
              </a:rPr>
              <a:t>p</a:t>
            </a:r>
            <a:r>
              <a:rPr sz="2747" spc="-21" dirty="0">
                <a:latin typeface="Arial MT"/>
                <a:cs typeface="Arial MT"/>
              </a:rPr>
              <a:t> </a:t>
            </a:r>
            <a:r>
              <a:rPr sz="2747" dirty="0">
                <a:latin typeface="Arial MT"/>
                <a:cs typeface="Arial MT"/>
              </a:rPr>
              <a:t>=</a:t>
            </a:r>
            <a:r>
              <a:rPr sz="2747" spc="-21" dirty="0">
                <a:latin typeface="Arial MT"/>
                <a:cs typeface="Arial MT"/>
              </a:rPr>
              <a:t> </a:t>
            </a:r>
            <a:r>
              <a:rPr sz="2747" spc="-7" dirty="0">
                <a:latin typeface="Arial MT"/>
                <a:cs typeface="Arial MT"/>
              </a:rPr>
              <a:t>0/18</a:t>
            </a:r>
            <a:r>
              <a:rPr sz="2747" spc="-14" dirty="0">
                <a:latin typeface="Arial MT"/>
                <a:cs typeface="Arial MT"/>
              </a:rPr>
              <a:t> </a:t>
            </a:r>
            <a:r>
              <a:rPr sz="2747" dirty="0">
                <a:latin typeface="Arial MT"/>
                <a:cs typeface="Arial MT"/>
              </a:rPr>
              <a:t>=</a:t>
            </a:r>
            <a:r>
              <a:rPr sz="2747" spc="-21" dirty="0">
                <a:latin typeface="Arial MT"/>
                <a:cs typeface="Arial MT"/>
              </a:rPr>
              <a:t> </a:t>
            </a:r>
            <a:r>
              <a:rPr sz="2747" dirty="0">
                <a:latin typeface="Arial MT"/>
                <a:cs typeface="Arial MT"/>
              </a:rPr>
              <a:t>0</a:t>
            </a:r>
            <a:endParaRPr sz="2747">
              <a:latin typeface="Arial MT"/>
              <a:cs typeface="Arial MT"/>
            </a:endParaRPr>
          </a:p>
        </p:txBody>
      </p:sp>
      <p:sp>
        <p:nvSpPr>
          <p:cNvPr id="10" name="object 10"/>
          <p:cNvSpPr txBox="1"/>
          <p:nvPr/>
        </p:nvSpPr>
        <p:spPr>
          <a:xfrm>
            <a:off x="1538778" y="5444485"/>
            <a:ext cx="4744566" cy="515381"/>
          </a:xfrm>
          <a:prstGeom prst="rect">
            <a:avLst/>
          </a:prstGeom>
        </p:spPr>
        <p:txBody>
          <a:bodyPr vert="horz" wrap="square" lIns="0" tIns="17446" rIns="0" bIns="0" rtlCol="0">
            <a:spAutoFit/>
          </a:bodyPr>
          <a:lstStyle/>
          <a:p>
            <a:pPr marL="366366" indent="-314028">
              <a:lnSpc>
                <a:spcPts val="2473"/>
              </a:lnSpc>
              <a:spcBef>
                <a:spcPts val="137"/>
              </a:spcBef>
              <a:buFont typeface="Times New Roman"/>
              <a:buChar char="•"/>
              <a:tabLst>
                <a:tab pos="365493" algn="l"/>
                <a:tab pos="366366" algn="l"/>
                <a:tab pos="1108693" algn="l"/>
              </a:tabLst>
            </a:pPr>
            <a:r>
              <a:rPr sz="2747" spc="7" dirty="0">
                <a:latin typeface="Arial MT"/>
                <a:cs typeface="Arial MT"/>
              </a:rPr>
              <a:t>P</a:t>
            </a:r>
            <a:r>
              <a:rPr sz="2679" spc="10" baseline="25641" dirty="0">
                <a:latin typeface="Arial MT"/>
                <a:cs typeface="Arial MT"/>
              </a:rPr>
              <a:t>*	</a:t>
            </a:r>
            <a:r>
              <a:rPr sz="2747" dirty="0">
                <a:latin typeface="Arial MT"/>
                <a:cs typeface="Arial MT"/>
              </a:rPr>
              <a:t>(unseen)</a:t>
            </a:r>
            <a:r>
              <a:rPr sz="2747" spc="-27" dirty="0">
                <a:latin typeface="Arial MT"/>
                <a:cs typeface="Arial MT"/>
              </a:rPr>
              <a:t> </a:t>
            </a:r>
            <a:r>
              <a:rPr sz="2747" dirty="0">
                <a:latin typeface="Arial MT"/>
                <a:cs typeface="Arial MT"/>
              </a:rPr>
              <a:t>=</a:t>
            </a:r>
            <a:r>
              <a:rPr sz="2747" spc="-21" dirty="0">
                <a:latin typeface="Arial MT"/>
                <a:cs typeface="Arial MT"/>
              </a:rPr>
              <a:t> </a:t>
            </a:r>
            <a:r>
              <a:rPr sz="2747" dirty="0">
                <a:latin typeface="Arial MT"/>
                <a:cs typeface="Arial MT"/>
              </a:rPr>
              <a:t>N</a:t>
            </a:r>
            <a:r>
              <a:rPr sz="2747" spc="234" dirty="0">
                <a:latin typeface="Arial MT"/>
                <a:cs typeface="Arial MT"/>
              </a:rPr>
              <a:t> </a:t>
            </a:r>
            <a:r>
              <a:rPr sz="2747" spc="-7" dirty="0">
                <a:latin typeface="Arial MT"/>
                <a:cs typeface="Arial MT"/>
              </a:rPr>
              <a:t>/N</a:t>
            </a:r>
            <a:r>
              <a:rPr sz="2747" spc="-21" dirty="0">
                <a:latin typeface="Arial MT"/>
                <a:cs typeface="Arial MT"/>
              </a:rPr>
              <a:t> </a:t>
            </a:r>
            <a:r>
              <a:rPr sz="2747" dirty="0">
                <a:latin typeface="Arial MT"/>
                <a:cs typeface="Arial MT"/>
              </a:rPr>
              <a:t>=</a:t>
            </a:r>
            <a:r>
              <a:rPr sz="2747" spc="-21" dirty="0">
                <a:latin typeface="Arial MT"/>
                <a:cs typeface="Arial MT"/>
              </a:rPr>
              <a:t> </a:t>
            </a:r>
            <a:r>
              <a:rPr sz="2747" spc="-7" dirty="0">
                <a:latin typeface="Arial MT"/>
                <a:cs typeface="Arial MT"/>
              </a:rPr>
              <a:t>3/18</a:t>
            </a:r>
            <a:endParaRPr sz="2747">
              <a:latin typeface="Arial MT"/>
              <a:cs typeface="Arial MT"/>
            </a:endParaRPr>
          </a:p>
          <a:p>
            <a:pPr marL="689117">
              <a:lnSpc>
                <a:spcPts val="1319"/>
              </a:lnSpc>
              <a:tabLst>
                <a:tab pos="3135917" algn="l"/>
              </a:tabLst>
            </a:pPr>
            <a:r>
              <a:rPr sz="1786" spc="27" dirty="0">
                <a:latin typeface="Arial MT"/>
                <a:cs typeface="Arial MT"/>
              </a:rPr>
              <a:t>GT	</a:t>
            </a:r>
            <a:r>
              <a:rPr sz="1786" spc="21" dirty="0">
                <a:latin typeface="Arial MT"/>
                <a:cs typeface="Arial MT"/>
              </a:rPr>
              <a:t>1</a:t>
            </a:r>
            <a:endParaRPr sz="1786">
              <a:latin typeface="Arial MT"/>
              <a:cs typeface="Arial MT"/>
            </a:endParaRPr>
          </a:p>
        </p:txBody>
      </p:sp>
      <p:sp>
        <p:nvSpPr>
          <p:cNvPr id="11" name="object 11"/>
          <p:cNvSpPr txBox="1"/>
          <p:nvPr/>
        </p:nvSpPr>
        <p:spPr>
          <a:xfrm>
            <a:off x="8693409" y="2080344"/>
            <a:ext cx="2475653" cy="510950"/>
          </a:xfrm>
          <a:prstGeom prst="rect">
            <a:avLst/>
          </a:prstGeom>
        </p:spPr>
        <p:txBody>
          <a:bodyPr vert="horz" wrap="square" lIns="0" tIns="24425" rIns="0" bIns="0" rtlCol="0">
            <a:spAutoFit/>
          </a:bodyPr>
          <a:lstStyle/>
          <a:p>
            <a:pPr marL="52338">
              <a:spcBef>
                <a:spcPts val="192"/>
              </a:spcBef>
            </a:pPr>
            <a:r>
              <a:rPr sz="4739" i="1" spc="-30" baseline="-33816" dirty="0">
                <a:latin typeface="Times New Roman"/>
                <a:cs typeface="Times New Roman"/>
              </a:rPr>
              <a:t>c</a:t>
            </a:r>
            <a:r>
              <a:rPr sz="4739" spc="41" baseline="-33816" dirty="0">
                <a:latin typeface="Times New Roman"/>
                <a:cs typeface="Times New Roman"/>
              </a:rPr>
              <a:t>*</a:t>
            </a:r>
            <a:r>
              <a:rPr sz="4739" spc="-433" baseline="-33816" dirty="0">
                <a:latin typeface="Times New Roman"/>
                <a:cs typeface="Times New Roman"/>
              </a:rPr>
              <a:t> </a:t>
            </a:r>
            <a:r>
              <a:rPr sz="4739" spc="41" baseline="-33816" dirty="0">
                <a:latin typeface="Symbol"/>
                <a:cs typeface="Symbol"/>
              </a:rPr>
              <a:t></a:t>
            </a:r>
            <a:r>
              <a:rPr sz="4739" spc="71" baseline="-33816" dirty="0">
                <a:latin typeface="Times New Roman"/>
                <a:cs typeface="Times New Roman"/>
              </a:rPr>
              <a:t> </a:t>
            </a:r>
            <a:r>
              <a:rPr sz="3160" spc="48" dirty="0">
                <a:latin typeface="Times New Roman"/>
                <a:cs typeface="Times New Roman"/>
              </a:rPr>
              <a:t>(</a:t>
            </a:r>
            <a:r>
              <a:rPr sz="3160" i="1" spc="21" dirty="0">
                <a:latin typeface="Times New Roman"/>
                <a:cs typeface="Times New Roman"/>
              </a:rPr>
              <a:t>c</a:t>
            </a:r>
            <a:r>
              <a:rPr sz="3160" i="1" spc="-309" dirty="0">
                <a:latin typeface="Times New Roman"/>
                <a:cs typeface="Times New Roman"/>
              </a:rPr>
              <a:t> </a:t>
            </a:r>
            <a:r>
              <a:rPr sz="3160" spc="213" dirty="0">
                <a:latin typeface="Symbol"/>
                <a:cs typeface="Symbol"/>
              </a:rPr>
              <a:t></a:t>
            </a:r>
            <a:r>
              <a:rPr sz="3160" spc="-144" dirty="0">
                <a:latin typeface="Times New Roman"/>
                <a:cs typeface="Times New Roman"/>
              </a:rPr>
              <a:t>1</a:t>
            </a:r>
            <a:r>
              <a:rPr sz="3160" spc="165" dirty="0">
                <a:latin typeface="Times New Roman"/>
                <a:cs typeface="Times New Roman"/>
              </a:rPr>
              <a:t>)</a:t>
            </a:r>
            <a:r>
              <a:rPr sz="3160" i="1" spc="192" dirty="0">
                <a:latin typeface="Times New Roman"/>
                <a:cs typeface="Times New Roman"/>
              </a:rPr>
              <a:t>N</a:t>
            </a:r>
            <a:r>
              <a:rPr sz="2782" i="1" spc="30" baseline="-24691" dirty="0">
                <a:latin typeface="Times New Roman"/>
                <a:cs typeface="Times New Roman"/>
              </a:rPr>
              <a:t>c</a:t>
            </a:r>
            <a:r>
              <a:rPr sz="2782" spc="-236" baseline="-24691" dirty="0">
                <a:latin typeface="Symbol"/>
                <a:cs typeface="Symbol"/>
              </a:rPr>
              <a:t></a:t>
            </a:r>
            <a:r>
              <a:rPr sz="2782" baseline="-24691" dirty="0">
                <a:latin typeface="Times New Roman"/>
                <a:cs typeface="Times New Roman"/>
              </a:rPr>
              <a:t>1</a:t>
            </a:r>
          </a:p>
        </p:txBody>
      </p:sp>
      <p:sp>
        <p:nvSpPr>
          <p:cNvPr id="12" name="object 12"/>
          <p:cNvSpPr txBox="1"/>
          <p:nvPr/>
        </p:nvSpPr>
        <p:spPr>
          <a:xfrm>
            <a:off x="10106137" y="2651255"/>
            <a:ext cx="307929" cy="510950"/>
          </a:xfrm>
          <a:prstGeom prst="rect">
            <a:avLst/>
          </a:prstGeom>
        </p:spPr>
        <p:txBody>
          <a:bodyPr vert="horz" wrap="square" lIns="0" tIns="24425" rIns="0" bIns="0" rtlCol="0">
            <a:spAutoFit/>
          </a:bodyPr>
          <a:lstStyle/>
          <a:p>
            <a:pPr marL="17446">
              <a:spcBef>
                <a:spcPts val="192"/>
              </a:spcBef>
            </a:pPr>
            <a:r>
              <a:rPr sz="3160" i="1" spc="34" dirty="0">
                <a:latin typeface="Times New Roman"/>
                <a:cs typeface="Times New Roman"/>
              </a:rPr>
              <a:t>N</a:t>
            </a:r>
            <a:endParaRPr sz="3160">
              <a:latin typeface="Times New Roman"/>
              <a:cs typeface="Times New Roman"/>
            </a:endParaRPr>
          </a:p>
        </p:txBody>
      </p:sp>
      <p:sp>
        <p:nvSpPr>
          <p:cNvPr id="13" name="object 13"/>
          <p:cNvSpPr txBox="1"/>
          <p:nvPr/>
        </p:nvSpPr>
        <p:spPr>
          <a:xfrm>
            <a:off x="10398502" y="2925545"/>
            <a:ext cx="140444" cy="302951"/>
          </a:xfrm>
          <a:prstGeom prst="rect">
            <a:avLst/>
          </a:prstGeom>
        </p:spPr>
        <p:txBody>
          <a:bodyPr vert="horz" wrap="square" lIns="0" tIns="17446" rIns="0" bIns="0" rtlCol="0">
            <a:spAutoFit/>
          </a:bodyPr>
          <a:lstStyle/>
          <a:p>
            <a:pPr marL="17446">
              <a:spcBef>
                <a:spcPts val="137"/>
              </a:spcBef>
            </a:pPr>
            <a:r>
              <a:rPr sz="1854" i="1" dirty="0">
                <a:latin typeface="Times New Roman"/>
                <a:cs typeface="Times New Roman"/>
              </a:rPr>
              <a:t>c</a:t>
            </a:r>
            <a:endParaRPr sz="1854">
              <a:latin typeface="Times New Roman"/>
              <a:cs typeface="Times New Roman"/>
            </a:endParaRPr>
          </a:p>
        </p:txBody>
      </p:sp>
      <p:sp>
        <p:nvSpPr>
          <p:cNvPr id="14" name="object 14"/>
          <p:cNvSpPr/>
          <p:nvPr/>
        </p:nvSpPr>
        <p:spPr>
          <a:xfrm>
            <a:off x="9505897" y="2663914"/>
            <a:ext cx="1649563" cy="0"/>
          </a:xfrm>
          <a:custGeom>
            <a:avLst/>
            <a:gdLst/>
            <a:ahLst/>
            <a:cxnLst/>
            <a:rect l="l" t="t" r="r" b="b"/>
            <a:pathLst>
              <a:path w="1200784">
                <a:moveTo>
                  <a:pt x="0" y="0"/>
                </a:moveTo>
                <a:lnTo>
                  <a:pt x="1200328" y="0"/>
                </a:lnTo>
              </a:path>
            </a:pathLst>
          </a:custGeom>
          <a:ln w="14704">
            <a:solidFill>
              <a:srgbClr val="000000"/>
            </a:solidFill>
          </a:ln>
        </p:spPr>
        <p:txBody>
          <a:bodyPr wrap="square" lIns="0" tIns="0" rIns="0" bIns="0" rtlCol="0"/>
          <a:lstStyle/>
          <a:p>
            <a:endParaRPr sz="2473"/>
          </a:p>
        </p:txBody>
      </p:sp>
      <p:sp>
        <p:nvSpPr>
          <p:cNvPr id="15" name="object 15"/>
          <p:cNvSpPr txBox="1"/>
          <p:nvPr/>
        </p:nvSpPr>
        <p:spPr>
          <a:xfrm>
            <a:off x="1373280" y="2790594"/>
            <a:ext cx="355907" cy="324175"/>
          </a:xfrm>
          <a:prstGeom prst="rect">
            <a:avLst/>
          </a:prstGeom>
        </p:spPr>
        <p:txBody>
          <a:bodyPr vert="horz" wrap="square" lIns="0" tIns="17446" rIns="0" bIns="0" rtlCol="0">
            <a:spAutoFit/>
          </a:bodyPr>
          <a:lstStyle/>
          <a:p>
            <a:pPr marL="17446">
              <a:spcBef>
                <a:spcPts val="137"/>
              </a:spcBef>
            </a:pPr>
            <a:r>
              <a:rPr sz="1992" i="1" spc="-34" dirty="0">
                <a:latin typeface="Times New Roman"/>
                <a:cs typeface="Times New Roman"/>
              </a:rPr>
              <a:t>G</a:t>
            </a:r>
            <a:r>
              <a:rPr sz="1992" i="1" spc="-7" dirty="0">
                <a:latin typeface="Times New Roman"/>
                <a:cs typeface="Times New Roman"/>
              </a:rPr>
              <a:t>T</a:t>
            </a:r>
            <a:endParaRPr sz="1992">
              <a:latin typeface="Times New Roman"/>
              <a:cs typeface="Times New Roman"/>
            </a:endParaRPr>
          </a:p>
        </p:txBody>
      </p:sp>
      <p:sp>
        <p:nvSpPr>
          <p:cNvPr id="16" name="object 16"/>
          <p:cNvSpPr txBox="1"/>
          <p:nvPr/>
        </p:nvSpPr>
        <p:spPr>
          <a:xfrm>
            <a:off x="1139245" y="2300922"/>
            <a:ext cx="512926" cy="546976"/>
          </a:xfrm>
          <a:prstGeom prst="rect">
            <a:avLst/>
          </a:prstGeom>
        </p:spPr>
        <p:txBody>
          <a:bodyPr vert="horz" wrap="square" lIns="0" tIns="18319" rIns="0" bIns="0" rtlCol="0">
            <a:spAutoFit/>
          </a:bodyPr>
          <a:lstStyle/>
          <a:p>
            <a:pPr marL="52338">
              <a:spcBef>
                <a:spcPts val="144"/>
              </a:spcBef>
            </a:pPr>
            <a:r>
              <a:rPr sz="5151" i="1" spc="82" baseline="-24444" dirty="0">
                <a:latin typeface="Times New Roman"/>
                <a:cs typeface="Times New Roman"/>
              </a:rPr>
              <a:t>P</a:t>
            </a:r>
            <a:r>
              <a:rPr sz="1992" spc="55" dirty="0">
                <a:latin typeface="Times New Roman"/>
                <a:cs typeface="Times New Roman"/>
              </a:rPr>
              <a:t>*</a:t>
            </a:r>
            <a:endParaRPr sz="1992">
              <a:latin typeface="Times New Roman"/>
              <a:cs typeface="Times New Roman"/>
            </a:endParaRPr>
          </a:p>
        </p:txBody>
      </p:sp>
      <p:sp>
        <p:nvSpPr>
          <p:cNvPr id="17" name="object 17"/>
          <p:cNvSpPr txBox="1"/>
          <p:nvPr/>
        </p:nvSpPr>
        <p:spPr>
          <a:xfrm>
            <a:off x="1727570" y="2496790"/>
            <a:ext cx="5931798" cy="546976"/>
          </a:xfrm>
          <a:prstGeom prst="rect">
            <a:avLst/>
          </a:prstGeom>
        </p:spPr>
        <p:txBody>
          <a:bodyPr vert="horz" wrap="square" lIns="0" tIns="18319" rIns="0" bIns="0" rtlCol="0">
            <a:spAutoFit/>
          </a:bodyPr>
          <a:lstStyle/>
          <a:p>
            <a:pPr marL="52338">
              <a:spcBef>
                <a:spcPts val="144"/>
              </a:spcBef>
            </a:pPr>
            <a:r>
              <a:rPr sz="3434" spc="76" dirty="0">
                <a:latin typeface="Times New Roman"/>
                <a:cs typeface="Times New Roman"/>
              </a:rPr>
              <a:t>(</a:t>
            </a:r>
            <a:r>
              <a:rPr sz="3434" spc="-7" dirty="0">
                <a:latin typeface="Times New Roman"/>
                <a:cs typeface="Times New Roman"/>
              </a:rPr>
              <a:t>t</a:t>
            </a:r>
            <a:r>
              <a:rPr sz="3434" dirty="0">
                <a:latin typeface="Times New Roman"/>
                <a:cs typeface="Times New Roman"/>
              </a:rPr>
              <a:t>h</a:t>
            </a:r>
            <a:r>
              <a:rPr sz="3434" spc="-7" dirty="0">
                <a:latin typeface="Times New Roman"/>
                <a:cs typeface="Times New Roman"/>
              </a:rPr>
              <a:t>i</a:t>
            </a:r>
            <a:r>
              <a:rPr sz="3434" dirty="0">
                <a:latin typeface="Times New Roman"/>
                <a:cs typeface="Times New Roman"/>
              </a:rPr>
              <a:t>ngs</a:t>
            </a:r>
            <a:r>
              <a:rPr sz="3434" spc="-7" dirty="0">
                <a:latin typeface="Times New Roman"/>
                <a:cs typeface="Times New Roman"/>
              </a:rPr>
              <a:t> </a:t>
            </a:r>
            <a:r>
              <a:rPr sz="3434" spc="-34" dirty="0">
                <a:latin typeface="Times New Roman"/>
                <a:cs typeface="Times New Roman"/>
              </a:rPr>
              <a:t>w</a:t>
            </a:r>
            <a:r>
              <a:rPr sz="3434" spc="-7" dirty="0">
                <a:latin typeface="Times New Roman"/>
                <a:cs typeface="Times New Roman"/>
              </a:rPr>
              <a:t>it</a:t>
            </a:r>
            <a:r>
              <a:rPr sz="3434" dirty="0">
                <a:latin typeface="Times New Roman"/>
                <a:cs typeface="Times New Roman"/>
              </a:rPr>
              <a:t>h </a:t>
            </a:r>
            <a:r>
              <a:rPr sz="3434" spc="-27" dirty="0">
                <a:latin typeface="Times New Roman"/>
                <a:cs typeface="Times New Roman"/>
              </a:rPr>
              <a:t>zer</a:t>
            </a:r>
            <a:r>
              <a:rPr sz="3434" dirty="0">
                <a:latin typeface="Times New Roman"/>
                <a:cs typeface="Times New Roman"/>
              </a:rPr>
              <a:t>o </a:t>
            </a:r>
            <a:r>
              <a:rPr sz="3434" spc="-27" dirty="0">
                <a:latin typeface="Times New Roman"/>
                <a:cs typeface="Times New Roman"/>
              </a:rPr>
              <a:t>fre</a:t>
            </a:r>
            <a:r>
              <a:rPr sz="3434" dirty="0">
                <a:latin typeface="Times New Roman"/>
                <a:cs typeface="Times New Roman"/>
              </a:rPr>
              <a:t>qu</a:t>
            </a:r>
            <a:r>
              <a:rPr sz="3434" spc="-27" dirty="0">
                <a:latin typeface="Times New Roman"/>
                <a:cs typeface="Times New Roman"/>
              </a:rPr>
              <a:t>e</a:t>
            </a:r>
            <a:r>
              <a:rPr sz="3434" dirty="0">
                <a:latin typeface="Times New Roman"/>
                <a:cs typeface="Times New Roman"/>
              </a:rPr>
              <a:t>n</a:t>
            </a:r>
            <a:r>
              <a:rPr sz="3434" spc="-27" dirty="0">
                <a:latin typeface="Times New Roman"/>
                <a:cs typeface="Times New Roman"/>
              </a:rPr>
              <a:t>c</a:t>
            </a:r>
            <a:r>
              <a:rPr sz="3434" spc="76" dirty="0">
                <a:latin typeface="Times New Roman"/>
                <a:cs typeface="Times New Roman"/>
              </a:rPr>
              <a:t>y</a:t>
            </a:r>
            <a:r>
              <a:rPr sz="3434" dirty="0">
                <a:latin typeface="Times New Roman"/>
                <a:cs typeface="Times New Roman"/>
              </a:rPr>
              <a:t>)</a:t>
            </a:r>
            <a:r>
              <a:rPr sz="3434" spc="-280" dirty="0">
                <a:latin typeface="Times New Roman"/>
                <a:cs typeface="Times New Roman"/>
              </a:rPr>
              <a:t> </a:t>
            </a:r>
            <a:r>
              <a:rPr sz="3434" dirty="0">
                <a:latin typeface="Symbol"/>
                <a:cs typeface="Symbol"/>
              </a:rPr>
              <a:t></a:t>
            </a:r>
            <a:r>
              <a:rPr sz="3434" spc="268" dirty="0">
                <a:latin typeface="Times New Roman"/>
                <a:cs typeface="Times New Roman"/>
              </a:rPr>
              <a:t> </a:t>
            </a:r>
            <a:r>
              <a:rPr sz="5151" i="1" spc="-21" baseline="33333" dirty="0">
                <a:latin typeface="Times New Roman"/>
                <a:cs typeface="Times New Roman"/>
              </a:rPr>
              <a:t>N</a:t>
            </a:r>
            <a:r>
              <a:rPr sz="2988" spc="-10" baseline="34482" dirty="0">
                <a:latin typeface="Times New Roman"/>
                <a:cs typeface="Times New Roman"/>
              </a:rPr>
              <a:t>1</a:t>
            </a:r>
            <a:endParaRPr sz="2988" baseline="34482" dirty="0">
              <a:latin typeface="Times New Roman"/>
              <a:cs typeface="Times New Roman"/>
            </a:endParaRPr>
          </a:p>
        </p:txBody>
      </p:sp>
      <p:sp>
        <p:nvSpPr>
          <p:cNvPr id="18" name="object 18"/>
          <p:cNvSpPr txBox="1"/>
          <p:nvPr/>
        </p:nvSpPr>
        <p:spPr>
          <a:xfrm>
            <a:off x="7224668" y="2805824"/>
            <a:ext cx="327121" cy="546976"/>
          </a:xfrm>
          <a:prstGeom prst="rect">
            <a:avLst/>
          </a:prstGeom>
        </p:spPr>
        <p:txBody>
          <a:bodyPr vert="horz" wrap="square" lIns="0" tIns="18319" rIns="0" bIns="0" rtlCol="0">
            <a:spAutoFit/>
          </a:bodyPr>
          <a:lstStyle/>
          <a:p>
            <a:pPr marL="17446">
              <a:spcBef>
                <a:spcPts val="144"/>
              </a:spcBef>
            </a:pPr>
            <a:r>
              <a:rPr sz="3434" i="1" dirty="0">
                <a:latin typeface="Times New Roman"/>
                <a:cs typeface="Times New Roman"/>
              </a:rPr>
              <a:t>N</a:t>
            </a:r>
            <a:endParaRPr sz="3434" dirty="0">
              <a:latin typeface="Times New Roman"/>
              <a:cs typeface="Times New Roman"/>
            </a:endParaRPr>
          </a:p>
        </p:txBody>
      </p:sp>
      <p:sp>
        <p:nvSpPr>
          <p:cNvPr id="19" name="object 19"/>
          <p:cNvSpPr/>
          <p:nvPr/>
        </p:nvSpPr>
        <p:spPr>
          <a:xfrm>
            <a:off x="7144249" y="2857575"/>
            <a:ext cx="503331" cy="0"/>
          </a:xfrm>
          <a:custGeom>
            <a:avLst/>
            <a:gdLst/>
            <a:ahLst/>
            <a:cxnLst/>
            <a:rect l="l" t="t" r="r" b="b"/>
            <a:pathLst>
              <a:path w="366395">
                <a:moveTo>
                  <a:pt x="0" y="0"/>
                </a:moveTo>
                <a:lnTo>
                  <a:pt x="366138" y="0"/>
                </a:lnTo>
              </a:path>
            </a:pathLst>
          </a:custGeom>
          <a:ln w="15750">
            <a:solidFill>
              <a:srgbClr val="000000"/>
            </a:solidFill>
          </a:ln>
        </p:spPr>
        <p:txBody>
          <a:bodyPr wrap="square" lIns="0" tIns="0" rIns="0" bIns="0" rtlCol="0"/>
          <a:lstStyle/>
          <a:p>
            <a:endParaRPr sz="2473"/>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491435"/>
            <a:ext cx="8812209" cy="694084"/>
          </a:xfrm>
          <a:prstGeom prst="rect">
            <a:avLst/>
          </a:prstGeom>
        </p:spPr>
        <p:txBody>
          <a:bodyPr vert="horz" wrap="square" lIns="0" tIns="17446" rIns="0" bIns="0" rtlCol="0">
            <a:spAutoFit/>
          </a:bodyPr>
          <a:lstStyle/>
          <a:p>
            <a:pPr marL="17446">
              <a:spcBef>
                <a:spcPts val="137"/>
              </a:spcBef>
            </a:pPr>
            <a:r>
              <a:rPr dirty="0"/>
              <a:t>Ney</a:t>
            </a:r>
            <a:r>
              <a:rPr spc="-21" dirty="0"/>
              <a:t> </a:t>
            </a:r>
            <a:r>
              <a:rPr dirty="0"/>
              <a:t>et</a:t>
            </a:r>
            <a:r>
              <a:rPr spc="-21" dirty="0"/>
              <a:t> </a:t>
            </a:r>
            <a:r>
              <a:rPr spc="-7" dirty="0"/>
              <a:t>al.’s</a:t>
            </a:r>
            <a:r>
              <a:rPr spc="-14" dirty="0"/>
              <a:t> </a:t>
            </a:r>
            <a:r>
              <a:rPr spc="-7" dirty="0"/>
              <a:t>Good</a:t>
            </a:r>
            <a:r>
              <a:rPr spc="-27" dirty="0"/>
              <a:t> </a:t>
            </a:r>
            <a:r>
              <a:rPr spc="-7" dirty="0"/>
              <a:t>Turing</a:t>
            </a:r>
            <a:r>
              <a:rPr spc="-21" dirty="0"/>
              <a:t> </a:t>
            </a:r>
            <a:r>
              <a:rPr spc="-7" dirty="0"/>
              <a:t>Intuition</a:t>
            </a:r>
          </a:p>
        </p:txBody>
      </p:sp>
      <p:sp>
        <p:nvSpPr>
          <p:cNvPr id="7" name="object 7"/>
          <p:cNvSpPr txBox="1"/>
          <p:nvPr/>
        </p:nvSpPr>
        <p:spPr>
          <a:xfrm>
            <a:off x="1154954" y="6861139"/>
            <a:ext cx="282633" cy="313531"/>
          </a:xfrm>
          <a:prstGeom prst="rect">
            <a:avLst/>
          </a:prstGeom>
        </p:spPr>
        <p:txBody>
          <a:bodyPr vert="horz" wrap="square" lIns="0" tIns="17446" rIns="0" bIns="0" rtlCol="0">
            <a:spAutoFit/>
          </a:bodyPr>
          <a:lstStyle/>
          <a:p>
            <a:pPr marL="17446">
              <a:spcBef>
                <a:spcPts val="137"/>
              </a:spcBef>
            </a:pPr>
            <a:r>
              <a:rPr sz="1923" dirty="0">
                <a:latin typeface="Calibri"/>
                <a:cs typeface="Calibri"/>
              </a:rPr>
              <a:t>75</a:t>
            </a:r>
            <a:endParaRPr sz="1923">
              <a:latin typeface="Calibri"/>
              <a:cs typeface="Calibri"/>
            </a:endParaRPr>
          </a:p>
        </p:txBody>
      </p:sp>
      <p:grpSp>
        <p:nvGrpSpPr>
          <p:cNvPr id="8" name="object 8"/>
          <p:cNvGrpSpPr/>
          <p:nvPr/>
        </p:nvGrpSpPr>
        <p:grpSpPr>
          <a:xfrm>
            <a:off x="2087033" y="2098691"/>
            <a:ext cx="7863994" cy="536479"/>
            <a:chOff x="1519237" y="2584998"/>
            <a:chExt cx="5724525" cy="390525"/>
          </a:xfrm>
        </p:grpSpPr>
        <p:sp>
          <p:nvSpPr>
            <p:cNvPr id="9" name="object 9"/>
            <p:cNvSpPr/>
            <p:nvPr/>
          </p:nvSpPr>
          <p:spPr>
            <a:xfrm>
              <a:off x="1752599" y="2589761"/>
              <a:ext cx="5486400" cy="381000"/>
            </a:xfrm>
            <a:custGeom>
              <a:avLst/>
              <a:gdLst/>
              <a:ahLst/>
              <a:cxnLst/>
              <a:rect l="l" t="t" r="r" b="b"/>
              <a:pathLst>
                <a:path w="5486400" h="381000">
                  <a:moveTo>
                    <a:pt x="0" y="381000"/>
                  </a:moveTo>
                  <a:lnTo>
                    <a:pt x="5486398" y="381000"/>
                  </a:lnTo>
                  <a:lnTo>
                    <a:pt x="5486398" y="0"/>
                  </a:lnTo>
                  <a:lnTo>
                    <a:pt x="0" y="0"/>
                  </a:lnTo>
                  <a:lnTo>
                    <a:pt x="0" y="381000"/>
                  </a:lnTo>
                  <a:close/>
                </a:path>
              </a:pathLst>
            </a:custGeom>
            <a:solidFill>
              <a:srgbClr val="D81E00"/>
            </a:solidFill>
          </p:spPr>
          <p:txBody>
            <a:bodyPr wrap="square" lIns="0" tIns="0" rIns="0" bIns="0" rtlCol="0"/>
            <a:lstStyle/>
            <a:p>
              <a:endParaRPr sz="2473"/>
            </a:p>
          </p:txBody>
        </p:sp>
        <p:sp>
          <p:nvSpPr>
            <p:cNvPr id="10" name="object 10"/>
            <p:cNvSpPr/>
            <p:nvPr/>
          </p:nvSpPr>
          <p:spPr>
            <a:xfrm>
              <a:off x="1523999" y="2589761"/>
              <a:ext cx="5715000" cy="381000"/>
            </a:xfrm>
            <a:custGeom>
              <a:avLst/>
              <a:gdLst/>
              <a:ahLst/>
              <a:cxnLst/>
              <a:rect l="l" t="t" r="r" b="b"/>
              <a:pathLst>
                <a:path w="5715000" h="381000">
                  <a:moveTo>
                    <a:pt x="0" y="0"/>
                  </a:moveTo>
                  <a:lnTo>
                    <a:pt x="5714998" y="0"/>
                  </a:lnTo>
                  <a:lnTo>
                    <a:pt x="5714998" y="381000"/>
                  </a:lnTo>
                  <a:lnTo>
                    <a:pt x="0" y="381000"/>
                  </a:lnTo>
                  <a:lnTo>
                    <a:pt x="0" y="0"/>
                  </a:lnTo>
                  <a:close/>
                </a:path>
              </a:pathLst>
            </a:custGeom>
            <a:ln w="9524">
              <a:solidFill>
                <a:srgbClr val="000000"/>
              </a:solidFill>
            </a:ln>
          </p:spPr>
          <p:txBody>
            <a:bodyPr wrap="square" lIns="0" tIns="0" rIns="0" bIns="0" rtlCol="0"/>
            <a:lstStyle/>
            <a:p>
              <a:endParaRPr sz="2473"/>
            </a:p>
          </p:txBody>
        </p:sp>
        <p:sp>
          <p:nvSpPr>
            <p:cNvPr id="11" name="object 11"/>
            <p:cNvSpPr/>
            <p:nvPr/>
          </p:nvSpPr>
          <p:spPr>
            <a:xfrm>
              <a:off x="1523999" y="2589761"/>
              <a:ext cx="228600" cy="381000"/>
            </a:xfrm>
            <a:custGeom>
              <a:avLst/>
              <a:gdLst/>
              <a:ahLst/>
              <a:cxnLst/>
              <a:rect l="l" t="t" r="r" b="b"/>
              <a:pathLst>
                <a:path w="228600" h="381000">
                  <a:moveTo>
                    <a:pt x="228600" y="0"/>
                  </a:moveTo>
                  <a:lnTo>
                    <a:pt x="0" y="0"/>
                  </a:lnTo>
                  <a:lnTo>
                    <a:pt x="0" y="381000"/>
                  </a:lnTo>
                  <a:lnTo>
                    <a:pt x="228600" y="381000"/>
                  </a:lnTo>
                  <a:lnTo>
                    <a:pt x="228600" y="0"/>
                  </a:lnTo>
                  <a:close/>
                </a:path>
              </a:pathLst>
            </a:custGeom>
            <a:solidFill>
              <a:srgbClr val="4180FF"/>
            </a:solidFill>
          </p:spPr>
          <p:txBody>
            <a:bodyPr wrap="square" lIns="0" tIns="0" rIns="0" bIns="0" rtlCol="0"/>
            <a:lstStyle/>
            <a:p>
              <a:endParaRPr sz="2473"/>
            </a:p>
          </p:txBody>
        </p:sp>
        <p:sp>
          <p:nvSpPr>
            <p:cNvPr id="12" name="object 12"/>
            <p:cNvSpPr/>
            <p:nvPr/>
          </p:nvSpPr>
          <p:spPr>
            <a:xfrm>
              <a:off x="1523999" y="2589761"/>
              <a:ext cx="228600" cy="381000"/>
            </a:xfrm>
            <a:custGeom>
              <a:avLst/>
              <a:gdLst/>
              <a:ahLst/>
              <a:cxnLst/>
              <a:rect l="l" t="t" r="r" b="b"/>
              <a:pathLst>
                <a:path w="228600" h="381000">
                  <a:moveTo>
                    <a:pt x="0" y="0"/>
                  </a:moveTo>
                  <a:lnTo>
                    <a:pt x="228599" y="0"/>
                  </a:lnTo>
                  <a:lnTo>
                    <a:pt x="228599" y="381000"/>
                  </a:lnTo>
                  <a:lnTo>
                    <a:pt x="0" y="381000"/>
                  </a:lnTo>
                  <a:lnTo>
                    <a:pt x="0" y="0"/>
                  </a:lnTo>
                  <a:close/>
                </a:path>
              </a:pathLst>
            </a:custGeom>
            <a:ln w="9524">
              <a:solidFill>
                <a:srgbClr val="000000"/>
              </a:solidFill>
            </a:ln>
          </p:spPr>
          <p:txBody>
            <a:bodyPr wrap="square" lIns="0" tIns="0" rIns="0" bIns="0" rtlCol="0"/>
            <a:lstStyle/>
            <a:p>
              <a:endParaRPr sz="2473"/>
            </a:p>
          </p:txBody>
        </p:sp>
      </p:grpSp>
      <p:graphicFrame>
        <p:nvGraphicFramePr>
          <p:cNvPr id="13" name="object 13"/>
          <p:cNvGraphicFramePr>
            <a:graphicFrameLocks noGrp="1"/>
          </p:cNvGraphicFramePr>
          <p:nvPr/>
        </p:nvGraphicFramePr>
        <p:xfrm>
          <a:off x="4075930" y="4087588"/>
          <a:ext cx="7850909" cy="523394"/>
        </p:xfrm>
        <a:graphic>
          <a:graphicData uri="http://schemas.openxmlformats.org/drawingml/2006/table">
            <a:tbl>
              <a:tblPr firstRow="1" bandRow="1">
                <a:tableStyleId>{2D5ABB26-0587-4C30-8999-92F81FD0307C}</a:tableStyleId>
              </a:tblPr>
              <a:tblGrid>
                <a:gridCol w="628073">
                  <a:extLst>
                    <a:ext uri="{9D8B030D-6E8A-4147-A177-3AD203B41FA5}">
                      <a16:colId xmlns:a16="http://schemas.microsoft.com/office/drawing/2014/main" val="20000"/>
                    </a:ext>
                  </a:extLst>
                </a:gridCol>
                <a:gridCol w="314036">
                  <a:extLst>
                    <a:ext uri="{9D8B030D-6E8A-4147-A177-3AD203B41FA5}">
                      <a16:colId xmlns:a16="http://schemas.microsoft.com/office/drawing/2014/main" val="20001"/>
                    </a:ext>
                  </a:extLst>
                </a:gridCol>
                <a:gridCol w="6908800">
                  <a:extLst>
                    <a:ext uri="{9D8B030D-6E8A-4147-A177-3AD203B41FA5}">
                      <a16:colId xmlns:a16="http://schemas.microsoft.com/office/drawing/2014/main" val="20002"/>
                    </a:ext>
                  </a:extLst>
                </a:gridCol>
              </a:tblGrid>
              <a:tr h="523394">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D81E00"/>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8F00"/>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D81E00"/>
                    </a:solidFill>
                  </a:tcPr>
                </a:tc>
                <a:extLst>
                  <a:ext uri="{0D108BD9-81ED-4DB2-BD59-A6C34878D82A}">
                    <a16:rowId xmlns:a16="http://schemas.microsoft.com/office/drawing/2014/main" val="10000"/>
                  </a:ext>
                </a:extLst>
              </a:tr>
            </a:tbl>
          </a:graphicData>
        </a:graphic>
      </p:graphicFrame>
      <p:graphicFrame>
        <p:nvGraphicFramePr>
          <p:cNvPr id="14" name="object 14"/>
          <p:cNvGraphicFramePr>
            <a:graphicFrameLocks noGrp="1"/>
          </p:cNvGraphicFramePr>
          <p:nvPr/>
        </p:nvGraphicFramePr>
        <p:xfrm>
          <a:off x="3029142" y="3040800"/>
          <a:ext cx="7850908" cy="523394"/>
        </p:xfrm>
        <a:graphic>
          <a:graphicData uri="http://schemas.openxmlformats.org/drawingml/2006/table">
            <a:tbl>
              <a:tblPr firstRow="1" bandRow="1">
                <a:tableStyleId>{2D5ABB26-0587-4C30-8999-92F81FD0307C}</a:tableStyleId>
              </a:tblPr>
              <a:tblGrid>
                <a:gridCol w="314036">
                  <a:extLst>
                    <a:ext uri="{9D8B030D-6E8A-4147-A177-3AD203B41FA5}">
                      <a16:colId xmlns:a16="http://schemas.microsoft.com/office/drawing/2014/main" val="20000"/>
                    </a:ext>
                  </a:extLst>
                </a:gridCol>
                <a:gridCol w="314036">
                  <a:extLst>
                    <a:ext uri="{9D8B030D-6E8A-4147-A177-3AD203B41FA5}">
                      <a16:colId xmlns:a16="http://schemas.microsoft.com/office/drawing/2014/main" val="20001"/>
                    </a:ext>
                  </a:extLst>
                </a:gridCol>
                <a:gridCol w="7222836">
                  <a:extLst>
                    <a:ext uri="{9D8B030D-6E8A-4147-A177-3AD203B41FA5}">
                      <a16:colId xmlns:a16="http://schemas.microsoft.com/office/drawing/2014/main" val="20002"/>
                    </a:ext>
                  </a:extLst>
                </a:gridCol>
              </a:tblGrid>
              <a:tr h="523394">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D81E00"/>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B00"/>
                    </a:solidFill>
                  </a:tcPr>
                </a:tc>
                <a:tc>
                  <a:txBody>
                    <a:bodyPr/>
                    <a:lstStyle/>
                    <a:p>
                      <a:pPr>
                        <a:lnSpc>
                          <a:spcPct val="100000"/>
                        </a:lnSpc>
                      </a:pPr>
                      <a:endParaRPr sz="2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D81E00"/>
                    </a:solidFill>
                  </a:tcPr>
                </a:tc>
                <a:extLst>
                  <a:ext uri="{0D108BD9-81ED-4DB2-BD59-A6C34878D82A}">
                    <a16:rowId xmlns:a16="http://schemas.microsoft.com/office/drawing/2014/main" val="10000"/>
                  </a:ext>
                </a:extLst>
              </a:tr>
            </a:tbl>
          </a:graphicData>
        </a:graphic>
      </p:graphicFrame>
      <p:sp>
        <p:nvSpPr>
          <p:cNvPr id="15" name="object 15"/>
          <p:cNvSpPr txBox="1"/>
          <p:nvPr/>
        </p:nvSpPr>
        <p:spPr>
          <a:xfrm>
            <a:off x="1154954" y="5290957"/>
            <a:ext cx="3264234" cy="524999"/>
          </a:xfrm>
          <a:prstGeom prst="rect">
            <a:avLst/>
          </a:prstGeom>
        </p:spPr>
        <p:txBody>
          <a:bodyPr vert="horz" wrap="square" lIns="0" tIns="17446" rIns="0" bIns="0" rtlCol="0">
            <a:spAutoFit/>
          </a:bodyPr>
          <a:lstStyle/>
          <a:p>
            <a:pPr marL="17446">
              <a:spcBef>
                <a:spcPts val="137"/>
              </a:spcBef>
            </a:pPr>
            <a:r>
              <a:rPr sz="3297" spc="-110" dirty="0">
                <a:latin typeface="Lucida Sans Unicode"/>
                <a:cs typeface="Lucida Sans Unicode"/>
              </a:rPr>
              <a:t>Held-out</a:t>
            </a:r>
            <a:r>
              <a:rPr sz="3297" spc="-96" dirty="0">
                <a:latin typeface="Lucida Sans Unicode"/>
                <a:cs typeface="Lucida Sans Unicode"/>
              </a:rPr>
              <a:t> </a:t>
            </a:r>
            <a:r>
              <a:rPr sz="3297" dirty="0">
                <a:latin typeface="Lucida Sans Unicode"/>
                <a:cs typeface="Lucida Sans Unicode"/>
              </a:rPr>
              <a:t>words:</a:t>
            </a:r>
            <a:endParaRPr sz="3297">
              <a:latin typeface="Lucida Sans Unicode"/>
              <a:cs typeface="Lucida Sans Unicode"/>
            </a:endParaRPr>
          </a:p>
        </p:txBody>
      </p:sp>
      <p:sp>
        <p:nvSpPr>
          <p:cNvPr id="16" name="object 16"/>
          <p:cNvSpPr txBox="1"/>
          <p:nvPr/>
        </p:nvSpPr>
        <p:spPr>
          <a:xfrm>
            <a:off x="3143852" y="1313163"/>
            <a:ext cx="9852891" cy="603013"/>
          </a:xfrm>
          <a:prstGeom prst="rect">
            <a:avLst/>
          </a:prstGeom>
        </p:spPr>
        <p:txBody>
          <a:bodyPr vert="horz" wrap="square" lIns="0" tIns="38381" rIns="0" bIns="0" rtlCol="0">
            <a:spAutoFit/>
          </a:bodyPr>
          <a:lstStyle/>
          <a:p>
            <a:pPr marL="17446" marR="6978">
              <a:lnSpc>
                <a:spcPts val="2198"/>
              </a:lnSpc>
              <a:spcBef>
                <a:spcPts val="301"/>
              </a:spcBef>
            </a:pPr>
            <a:r>
              <a:rPr sz="1923" spc="-7" dirty="0">
                <a:solidFill>
                  <a:srgbClr val="28817A"/>
                </a:solidFill>
                <a:latin typeface="Calibri"/>
                <a:cs typeface="Calibri"/>
              </a:rPr>
              <a:t>H.</a:t>
            </a:r>
            <a:r>
              <a:rPr sz="1923" spc="7" dirty="0">
                <a:solidFill>
                  <a:srgbClr val="28817A"/>
                </a:solidFill>
                <a:latin typeface="Calibri"/>
                <a:cs typeface="Calibri"/>
              </a:rPr>
              <a:t> </a:t>
            </a:r>
            <a:r>
              <a:rPr sz="1923" spc="-7" dirty="0">
                <a:solidFill>
                  <a:srgbClr val="28817A"/>
                </a:solidFill>
                <a:latin typeface="Calibri"/>
                <a:cs typeface="Calibri"/>
              </a:rPr>
              <a:t>Ney,</a:t>
            </a:r>
            <a:r>
              <a:rPr sz="1923" spc="7" dirty="0">
                <a:solidFill>
                  <a:srgbClr val="28817A"/>
                </a:solidFill>
                <a:latin typeface="Calibri"/>
                <a:cs typeface="Calibri"/>
              </a:rPr>
              <a:t> </a:t>
            </a:r>
            <a:r>
              <a:rPr sz="1923" dirty="0">
                <a:solidFill>
                  <a:srgbClr val="28817A"/>
                </a:solidFill>
                <a:latin typeface="Calibri"/>
                <a:cs typeface="Calibri"/>
              </a:rPr>
              <a:t>U.</a:t>
            </a:r>
            <a:r>
              <a:rPr sz="1923" spc="7" dirty="0">
                <a:solidFill>
                  <a:srgbClr val="28817A"/>
                </a:solidFill>
                <a:latin typeface="Calibri"/>
                <a:cs typeface="Calibri"/>
              </a:rPr>
              <a:t> </a:t>
            </a:r>
            <a:r>
              <a:rPr sz="1923" dirty="0">
                <a:solidFill>
                  <a:srgbClr val="28817A"/>
                </a:solidFill>
                <a:latin typeface="Calibri"/>
                <a:cs typeface="Calibri"/>
              </a:rPr>
              <a:t>Essen,</a:t>
            </a:r>
            <a:r>
              <a:rPr sz="1923" spc="7" dirty="0">
                <a:solidFill>
                  <a:srgbClr val="28817A"/>
                </a:solidFill>
                <a:latin typeface="Calibri"/>
                <a:cs typeface="Calibri"/>
              </a:rPr>
              <a:t> </a:t>
            </a:r>
            <a:r>
              <a:rPr sz="1923" dirty="0">
                <a:solidFill>
                  <a:srgbClr val="28817A"/>
                </a:solidFill>
                <a:latin typeface="Calibri"/>
                <a:cs typeface="Calibri"/>
              </a:rPr>
              <a:t>and</a:t>
            </a:r>
            <a:r>
              <a:rPr sz="1923" spc="14" dirty="0">
                <a:solidFill>
                  <a:srgbClr val="28817A"/>
                </a:solidFill>
                <a:latin typeface="Calibri"/>
                <a:cs typeface="Calibri"/>
              </a:rPr>
              <a:t> </a:t>
            </a:r>
            <a:r>
              <a:rPr sz="1923" dirty="0">
                <a:solidFill>
                  <a:srgbClr val="28817A"/>
                </a:solidFill>
                <a:latin typeface="Calibri"/>
                <a:cs typeface="Calibri"/>
              </a:rPr>
              <a:t>R. </a:t>
            </a:r>
            <a:r>
              <a:rPr sz="1923" spc="-7" dirty="0">
                <a:solidFill>
                  <a:srgbClr val="28817A"/>
                </a:solidFill>
                <a:latin typeface="Calibri"/>
                <a:cs typeface="Calibri"/>
              </a:rPr>
              <a:t>Kneser,</a:t>
            </a:r>
            <a:r>
              <a:rPr sz="1923" spc="7" dirty="0">
                <a:solidFill>
                  <a:srgbClr val="28817A"/>
                </a:solidFill>
                <a:latin typeface="Calibri"/>
                <a:cs typeface="Calibri"/>
              </a:rPr>
              <a:t> </a:t>
            </a:r>
            <a:r>
              <a:rPr sz="1923" spc="-7" dirty="0">
                <a:solidFill>
                  <a:srgbClr val="28817A"/>
                </a:solidFill>
                <a:latin typeface="Calibri"/>
                <a:cs typeface="Calibri"/>
              </a:rPr>
              <a:t>1995.</a:t>
            </a:r>
            <a:r>
              <a:rPr sz="1923" spc="7" dirty="0">
                <a:solidFill>
                  <a:srgbClr val="28817A"/>
                </a:solidFill>
                <a:latin typeface="Calibri"/>
                <a:cs typeface="Calibri"/>
              </a:rPr>
              <a:t> </a:t>
            </a:r>
            <a:r>
              <a:rPr sz="1923" dirty="0">
                <a:solidFill>
                  <a:srgbClr val="28817A"/>
                </a:solidFill>
                <a:latin typeface="Calibri"/>
                <a:cs typeface="Calibri"/>
              </a:rPr>
              <a:t>On</a:t>
            </a:r>
            <a:r>
              <a:rPr sz="1923" spc="14" dirty="0">
                <a:solidFill>
                  <a:srgbClr val="28817A"/>
                </a:solidFill>
                <a:latin typeface="Calibri"/>
                <a:cs typeface="Calibri"/>
              </a:rPr>
              <a:t> </a:t>
            </a:r>
            <a:r>
              <a:rPr sz="1923" dirty="0">
                <a:solidFill>
                  <a:srgbClr val="28817A"/>
                </a:solidFill>
                <a:latin typeface="Calibri"/>
                <a:cs typeface="Calibri"/>
              </a:rPr>
              <a:t>the</a:t>
            </a:r>
            <a:r>
              <a:rPr sz="1923" spc="7" dirty="0">
                <a:solidFill>
                  <a:srgbClr val="28817A"/>
                </a:solidFill>
                <a:latin typeface="Calibri"/>
                <a:cs typeface="Calibri"/>
              </a:rPr>
              <a:t> </a:t>
            </a:r>
            <a:r>
              <a:rPr sz="1923" spc="-7" dirty="0">
                <a:solidFill>
                  <a:srgbClr val="28817A"/>
                </a:solidFill>
                <a:latin typeface="Calibri"/>
                <a:cs typeface="Calibri"/>
              </a:rPr>
              <a:t>estimation</a:t>
            </a:r>
            <a:r>
              <a:rPr sz="1923" spc="7" dirty="0">
                <a:solidFill>
                  <a:srgbClr val="28817A"/>
                </a:solidFill>
                <a:latin typeface="Calibri"/>
                <a:cs typeface="Calibri"/>
              </a:rPr>
              <a:t> </a:t>
            </a:r>
            <a:r>
              <a:rPr sz="1923" spc="-7" dirty="0">
                <a:solidFill>
                  <a:srgbClr val="28817A"/>
                </a:solidFill>
                <a:latin typeface="Calibri"/>
                <a:cs typeface="Calibri"/>
              </a:rPr>
              <a:t>of</a:t>
            </a:r>
            <a:r>
              <a:rPr sz="1923" spc="7" dirty="0">
                <a:solidFill>
                  <a:srgbClr val="28817A"/>
                </a:solidFill>
                <a:latin typeface="Calibri"/>
                <a:cs typeface="Calibri"/>
              </a:rPr>
              <a:t> </a:t>
            </a:r>
            <a:r>
              <a:rPr sz="1923" dirty="0">
                <a:solidFill>
                  <a:srgbClr val="28817A"/>
                </a:solidFill>
                <a:latin typeface="Calibri"/>
                <a:cs typeface="Calibri"/>
              </a:rPr>
              <a:t>'small'</a:t>
            </a:r>
            <a:r>
              <a:rPr sz="1923" spc="14" dirty="0">
                <a:solidFill>
                  <a:srgbClr val="28817A"/>
                </a:solidFill>
                <a:latin typeface="Calibri"/>
                <a:cs typeface="Calibri"/>
              </a:rPr>
              <a:t> </a:t>
            </a:r>
            <a:r>
              <a:rPr sz="1923" spc="-7" dirty="0">
                <a:solidFill>
                  <a:srgbClr val="28817A"/>
                </a:solidFill>
                <a:latin typeface="Calibri"/>
                <a:cs typeface="Calibri"/>
              </a:rPr>
              <a:t>probabilities</a:t>
            </a:r>
            <a:r>
              <a:rPr sz="1923" spc="7" dirty="0">
                <a:solidFill>
                  <a:srgbClr val="28817A"/>
                </a:solidFill>
                <a:latin typeface="Calibri"/>
                <a:cs typeface="Calibri"/>
              </a:rPr>
              <a:t> </a:t>
            </a:r>
            <a:r>
              <a:rPr sz="1923" dirty="0">
                <a:solidFill>
                  <a:srgbClr val="28817A"/>
                </a:solidFill>
                <a:latin typeface="Calibri"/>
                <a:cs typeface="Calibri"/>
              </a:rPr>
              <a:t>by</a:t>
            </a:r>
            <a:r>
              <a:rPr sz="1923" spc="7" dirty="0">
                <a:solidFill>
                  <a:srgbClr val="28817A"/>
                </a:solidFill>
                <a:latin typeface="Calibri"/>
                <a:cs typeface="Calibri"/>
              </a:rPr>
              <a:t> </a:t>
            </a:r>
            <a:r>
              <a:rPr sz="1923" spc="-124" dirty="0">
                <a:solidFill>
                  <a:srgbClr val="28817A"/>
                </a:solidFill>
                <a:latin typeface="Calibri"/>
                <a:cs typeface="Calibri"/>
              </a:rPr>
              <a:t>leaving-­‐one-­‐out. </a:t>
            </a:r>
            <a:r>
              <a:rPr sz="1923" spc="-412" dirty="0">
                <a:solidFill>
                  <a:srgbClr val="28817A"/>
                </a:solidFill>
                <a:latin typeface="Calibri"/>
                <a:cs typeface="Calibri"/>
              </a:rPr>
              <a:t> </a:t>
            </a:r>
            <a:r>
              <a:rPr sz="1923" dirty="0">
                <a:solidFill>
                  <a:srgbClr val="28817A"/>
                </a:solidFill>
                <a:latin typeface="Calibri"/>
                <a:cs typeface="Calibri"/>
              </a:rPr>
              <a:t>IEEE</a:t>
            </a:r>
            <a:r>
              <a:rPr sz="1923" spc="-7" dirty="0">
                <a:solidFill>
                  <a:srgbClr val="28817A"/>
                </a:solidFill>
                <a:latin typeface="Calibri"/>
                <a:cs typeface="Calibri"/>
              </a:rPr>
              <a:t> </a:t>
            </a:r>
            <a:r>
              <a:rPr sz="1923" dirty="0">
                <a:solidFill>
                  <a:srgbClr val="28817A"/>
                </a:solidFill>
                <a:latin typeface="Calibri"/>
                <a:cs typeface="Calibri"/>
              </a:rPr>
              <a:t>Trans. PAMI. </a:t>
            </a:r>
            <a:r>
              <a:rPr sz="1923" spc="-76" dirty="0">
                <a:solidFill>
                  <a:srgbClr val="28817A"/>
                </a:solidFill>
                <a:latin typeface="Calibri"/>
                <a:cs typeface="Calibri"/>
              </a:rPr>
              <a:t>17:12,1202-­‐1212</a:t>
            </a:r>
            <a:endParaRPr sz="1923">
              <a:latin typeface="Calibri"/>
              <a:cs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p:nvPr/>
        </p:nvSpPr>
        <p:spPr>
          <a:xfrm>
            <a:off x="2620457" y="575179"/>
            <a:ext cx="6268515" cy="1020430"/>
          </a:xfrm>
          <a:prstGeom prst="rect">
            <a:avLst/>
          </a:prstGeom>
        </p:spPr>
        <p:txBody>
          <a:bodyPr vert="horz" wrap="square" lIns="0" tIns="45361" rIns="0" bIns="0" rtlCol="0">
            <a:spAutoFit/>
          </a:bodyPr>
          <a:lstStyle/>
          <a:p>
            <a:pPr marL="17446" marR="6978">
              <a:lnSpc>
                <a:spcPts val="3846"/>
              </a:lnSpc>
              <a:spcBef>
                <a:spcPts val="357"/>
              </a:spcBef>
            </a:pPr>
            <a:r>
              <a:rPr sz="3297" b="1" spc="-7" dirty="0">
                <a:latin typeface="Arial"/>
                <a:cs typeface="Arial"/>
              </a:rPr>
              <a:t>Ney </a:t>
            </a:r>
            <a:r>
              <a:rPr sz="3297" b="1" i="1" dirty="0">
                <a:latin typeface="Arial"/>
                <a:cs typeface="Arial"/>
              </a:rPr>
              <a:t>et </a:t>
            </a:r>
            <a:r>
              <a:rPr sz="3297" b="1" i="1" spc="-7" dirty="0">
                <a:latin typeface="Arial"/>
                <a:cs typeface="Arial"/>
              </a:rPr>
              <a:t>al. </a:t>
            </a:r>
            <a:r>
              <a:rPr sz="3297" b="1" spc="-7" dirty="0">
                <a:latin typeface="Arial"/>
                <a:cs typeface="Arial"/>
              </a:rPr>
              <a:t>Good Turing Intuition </a:t>
            </a:r>
            <a:r>
              <a:rPr sz="3297" b="1" spc="-900" dirty="0">
                <a:latin typeface="Arial"/>
                <a:cs typeface="Arial"/>
              </a:rPr>
              <a:t> </a:t>
            </a:r>
            <a:r>
              <a:rPr sz="3297" b="1" spc="-7" dirty="0">
                <a:solidFill>
                  <a:srgbClr val="7CD7CF"/>
                </a:solidFill>
                <a:latin typeface="Arial"/>
                <a:cs typeface="Arial"/>
              </a:rPr>
              <a:t>(slide from </a:t>
            </a:r>
            <a:r>
              <a:rPr sz="3297" b="1" dirty="0">
                <a:solidFill>
                  <a:srgbClr val="7CD7CF"/>
                </a:solidFill>
                <a:latin typeface="Arial"/>
                <a:cs typeface="Arial"/>
              </a:rPr>
              <a:t>Dan</a:t>
            </a:r>
            <a:r>
              <a:rPr sz="3297" b="1" spc="-7" dirty="0">
                <a:solidFill>
                  <a:srgbClr val="7CD7CF"/>
                </a:solidFill>
                <a:latin typeface="Arial"/>
                <a:cs typeface="Arial"/>
              </a:rPr>
              <a:t> Klein)</a:t>
            </a:r>
            <a:endParaRPr sz="3297">
              <a:latin typeface="Arial"/>
              <a:cs typeface="Arial"/>
            </a:endParaRPr>
          </a:p>
        </p:txBody>
      </p:sp>
      <p:sp>
        <p:nvSpPr>
          <p:cNvPr id="7" name="object 7"/>
          <p:cNvSpPr txBox="1"/>
          <p:nvPr/>
        </p:nvSpPr>
        <p:spPr>
          <a:xfrm>
            <a:off x="1498600" y="2194677"/>
            <a:ext cx="7570021" cy="4358523"/>
          </a:xfrm>
          <a:prstGeom prst="rect">
            <a:avLst/>
          </a:prstGeom>
        </p:spPr>
        <p:txBody>
          <a:bodyPr vert="horz" wrap="square" lIns="0" tIns="45361" rIns="0" bIns="0" rtlCol="0">
            <a:spAutoFit/>
          </a:bodyPr>
          <a:lstStyle/>
          <a:p>
            <a:pPr marL="523380" indent="-471042">
              <a:spcBef>
                <a:spcPts val="357"/>
              </a:spcBef>
              <a:buClr>
                <a:srgbClr val="CC0000"/>
              </a:buClr>
              <a:buFont typeface="Times New Roman"/>
              <a:buChar char="•"/>
              <a:tabLst>
                <a:tab pos="522507" algn="l"/>
                <a:tab pos="523380" algn="l"/>
              </a:tabLst>
            </a:pPr>
            <a:r>
              <a:rPr sz="2473" spc="-7" dirty="0">
                <a:latin typeface="Calibri"/>
                <a:cs typeface="Calibri"/>
              </a:rPr>
              <a:t>Intuition</a:t>
            </a:r>
            <a:r>
              <a:rPr sz="2473" spc="7" dirty="0">
                <a:latin typeface="Calibri"/>
                <a:cs typeface="Calibri"/>
              </a:rPr>
              <a:t> </a:t>
            </a:r>
            <a:r>
              <a:rPr sz="2473" spc="-7" dirty="0">
                <a:latin typeface="Calibri"/>
                <a:cs typeface="Calibri"/>
              </a:rPr>
              <a:t>from</a:t>
            </a:r>
            <a:r>
              <a:rPr sz="2473" spc="14" dirty="0">
                <a:latin typeface="Calibri"/>
                <a:cs typeface="Calibri"/>
              </a:rPr>
              <a:t> </a:t>
            </a:r>
            <a:r>
              <a:rPr sz="2473" spc="-185" dirty="0">
                <a:latin typeface="Calibri"/>
                <a:cs typeface="Calibri"/>
              </a:rPr>
              <a:t>leave-­‐one-­‐out</a:t>
            </a:r>
            <a:r>
              <a:rPr sz="2473" spc="14" dirty="0">
                <a:latin typeface="Calibri"/>
                <a:cs typeface="Calibri"/>
              </a:rPr>
              <a:t> </a:t>
            </a:r>
            <a:r>
              <a:rPr sz="2473" spc="-7" dirty="0">
                <a:latin typeface="Calibri"/>
                <a:cs typeface="Calibri"/>
              </a:rPr>
              <a:t>validation</a:t>
            </a:r>
            <a:endParaRPr sz="2473" dirty="0">
              <a:latin typeface="Calibri"/>
              <a:cs typeface="Calibri"/>
            </a:endParaRPr>
          </a:p>
          <a:p>
            <a:pPr marL="994421" lvl="1" indent="-314028">
              <a:spcBef>
                <a:spcPts val="199"/>
              </a:spcBef>
              <a:buFont typeface="Times New Roman"/>
              <a:buChar char="•"/>
              <a:tabLst>
                <a:tab pos="993549" algn="l"/>
                <a:tab pos="994421" algn="l"/>
              </a:tabLst>
            </a:pPr>
            <a:r>
              <a:rPr sz="2198" spc="-7" dirty="0">
                <a:latin typeface="Calibri"/>
                <a:cs typeface="Calibri"/>
              </a:rPr>
              <a:t>Take</a:t>
            </a:r>
            <a:r>
              <a:rPr sz="2198" dirty="0">
                <a:latin typeface="Calibri"/>
                <a:cs typeface="Calibri"/>
              </a:rPr>
              <a:t> </a:t>
            </a:r>
            <a:r>
              <a:rPr sz="2198" spc="-7" dirty="0">
                <a:latin typeface="Calibri"/>
                <a:cs typeface="Calibri"/>
              </a:rPr>
              <a:t>each</a:t>
            </a:r>
            <a:r>
              <a:rPr sz="2198" dirty="0">
                <a:latin typeface="Calibri"/>
                <a:cs typeface="Calibri"/>
              </a:rPr>
              <a:t> </a:t>
            </a:r>
            <a:r>
              <a:rPr sz="2198" spc="-7" dirty="0">
                <a:latin typeface="Calibri"/>
                <a:cs typeface="Calibri"/>
              </a:rPr>
              <a:t>of</a:t>
            </a:r>
            <a:r>
              <a:rPr sz="2198" dirty="0">
                <a:latin typeface="Calibri"/>
                <a:cs typeface="Calibri"/>
              </a:rPr>
              <a:t> the</a:t>
            </a:r>
            <a:r>
              <a:rPr sz="2198" spc="-7" dirty="0">
                <a:latin typeface="Calibri"/>
                <a:cs typeface="Calibri"/>
              </a:rPr>
              <a:t> </a:t>
            </a:r>
            <a:r>
              <a:rPr sz="2198" i="1" dirty="0">
                <a:latin typeface="Calibri"/>
                <a:cs typeface="Calibri"/>
              </a:rPr>
              <a:t>c </a:t>
            </a:r>
            <a:r>
              <a:rPr sz="2198" spc="-7" dirty="0">
                <a:latin typeface="Calibri"/>
                <a:cs typeface="Calibri"/>
              </a:rPr>
              <a:t>training</a:t>
            </a:r>
            <a:r>
              <a:rPr sz="2198" dirty="0">
                <a:latin typeface="Calibri"/>
                <a:cs typeface="Calibri"/>
              </a:rPr>
              <a:t> </a:t>
            </a:r>
            <a:r>
              <a:rPr sz="2198" spc="-7" dirty="0">
                <a:latin typeface="Calibri"/>
                <a:cs typeface="Calibri"/>
              </a:rPr>
              <a:t>words</a:t>
            </a:r>
            <a:r>
              <a:rPr sz="2198" dirty="0">
                <a:latin typeface="Calibri"/>
                <a:cs typeface="Calibri"/>
              </a:rPr>
              <a:t> </a:t>
            </a:r>
            <a:r>
              <a:rPr sz="2198" spc="-7" dirty="0">
                <a:latin typeface="Calibri"/>
                <a:cs typeface="Calibri"/>
              </a:rPr>
              <a:t>out</a:t>
            </a:r>
            <a:r>
              <a:rPr sz="2198" dirty="0">
                <a:latin typeface="Calibri"/>
                <a:cs typeface="Calibri"/>
              </a:rPr>
              <a:t> in </a:t>
            </a:r>
            <a:r>
              <a:rPr sz="2198" spc="-7" dirty="0">
                <a:latin typeface="Calibri"/>
                <a:cs typeface="Calibri"/>
              </a:rPr>
              <a:t>turn</a:t>
            </a:r>
            <a:endParaRPr sz="2198" dirty="0">
              <a:latin typeface="Calibri"/>
              <a:cs typeface="Calibri"/>
            </a:endParaRPr>
          </a:p>
          <a:p>
            <a:pPr marL="994421" lvl="1" indent="-314028">
              <a:spcBef>
                <a:spcPts val="247"/>
              </a:spcBef>
              <a:buFont typeface="Times New Roman"/>
              <a:buChar char="•"/>
              <a:tabLst>
                <a:tab pos="993549" algn="l"/>
                <a:tab pos="994421" algn="l"/>
              </a:tabLst>
            </a:pPr>
            <a:r>
              <a:rPr sz="2198" i="1" dirty="0">
                <a:latin typeface="Calibri"/>
                <a:cs typeface="Calibri"/>
              </a:rPr>
              <a:t>c </a:t>
            </a:r>
            <a:r>
              <a:rPr sz="2198" dirty="0">
                <a:latin typeface="Calibri"/>
                <a:cs typeface="Calibri"/>
              </a:rPr>
              <a:t>t</a:t>
            </a:r>
            <a:r>
              <a:rPr sz="2198" spc="-7" dirty="0">
                <a:latin typeface="Calibri"/>
                <a:cs typeface="Calibri"/>
              </a:rPr>
              <a:t>r</a:t>
            </a:r>
            <a:r>
              <a:rPr sz="2198" dirty="0">
                <a:latin typeface="Calibri"/>
                <a:cs typeface="Calibri"/>
              </a:rPr>
              <a:t>aining sets </a:t>
            </a:r>
            <a:r>
              <a:rPr sz="2198" spc="-7" dirty="0">
                <a:latin typeface="Calibri"/>
                <a:cs typeface="Calibri"/>
              </a:rPr>
              <a:t>o</a:t>
            </a:r>
            <a:r>
              <a:rPr sz="2198" dirty="0">
                <a:latin typeface="Calibri"/>
                <a:cs typeface="Calibri"/>
              </a:rPr>
              <a:t>f size</a:t>
            </a:r>
            <a:r>
              <a:rPr sz="2198" spc="-7" dirty="0">
                <a:latin typeface="Calibri"/>
                <a:cs typeface="Calibri"/>
              </a:rPr>
              <a:t> </a:t>
            </a:r>
            <a:r>
              <a:rPr sz="2198" i="1" dirty="0">
                <a:latin typeface="Calibri"/>
                <a:cs typeface="Calibri"/>
              </a:rPr>
              <a:t>c</a:t>
            </a:r>
            <a:r>
              <a:rPr sz="2198" spc="-7" dirty="0">
                <a:latin typeface="Calibri"/>
                <a:cs typeface="Calibri"/>
              </a:rPr>
              <a:t>–1</a:t>
            </a:r>
            <a:r>
              <a:rPr sz="2198" dirty="0">
                <a:latin typeface="Calibri"/>
                <a:cs typeface="Calibri"/>
              </a:rPr>
              <a:t>, held</a:t>
            </a:r>
            <a:r>
              <a:rPr sz="2198" spc="-453" dirty="0">
                <a:latin typeface="Calibri"/>
                <a:cs typeface="Calibri"/>
              </a:rPr>
              <a:t>-­‐</a:t>
            </a:r>
            <a:r>
              <a:rPr sz="2198" spc="-7" dirty="0">
                <a:latin typeface="Calibri"/>
                <a:cs typeface="Calibri"/>
              </a:rPr>
              <a:t>o</a:t>
            </a:r>
            <a:r>
              <a:rPr sz="2198" dirty="0">
                <a:latin typeface="Calibri"/>
                <a:cs typeface="Calibri"/>
              </a:rPr>
              <a:t>ut </a:t>
            </a:r>
            <a:r>
              <a:rPr sz="2198" spc="-7" dirty="0">
                <a:latin typeface="Calibri"/>
                <a:cs typeface="Calibri"/>
              </a:rPr>
              <a:t>o</a:t>
            </a:r>
            <a:r>
              <a:rPr sz="2198" dirty="0">
                <a:latin typeface="Calibri"/>
                <a:cs typeface="Calibri"/>
              </a:rPr>
              <a:t>f size</a:t>
            </a:r>
            <a:r>
              <a:rPr sz="2198" spc="-7" dirty="0">
                <a:latin typeface="Calibri"/>
                <a:cs typeface="Calibri"/>
              </a:rPr>
              <a:t> </a:t>
            </a:r>
            <a:r>
              <a:rPr sz="2198" dirty="0">
                <a:latin typeface="Calibri"/>
                <a:cs typeface="Calibri"/>
              </a:rPr>
              <a:t>1</a:t>
            </a:r>
          </a:p>
          <a:p>
            <a:pPr marL="994421" lvl="1" indent="-314028">
              <a:spcBef>
                <a:spcPts val="247"/>
              </a:spcBef>
              <a:buFont typeface="Times New Roman"/>
              <a:buChar char="•"/>
              <a:tabLst>
                <a:tab pos="993549" algn="l"/>
                <a:tab pos="994421" algn="l"/>
              </a:tabLst>
            </a:pPr>
            <a:r>
              <a:rPr sz="2198" spc="-7" dirty="0">
                <a:latin typeface="Calibri"/>
                <a:cs typeface="Calibri"/>
              </a:rPr>
              <a:t>What</a:t>
            </a:r>
            <a:r>
              <a:rPr sz="2198" dirty="0">
                <a:latin typeface="Calibri"/>
                <a:cs typeface="Calibri"/>
              </a:rPr>
              <a:t> </a:t>
            </a:r>
            <a:r>
              <a:rPr sz="2198" spc="-7" dirty="0">
                <a:latin typeface="Calibri"/>
                <a:cs typeface="Calibri"/>
              </a:rPr>
              <a:t>fraction</a:t>
            </a:r>
            <a:r>
              <a:rPr sz="2198" dirty="0">
                <a:latin typeface="Calibri"/>
                <a:cs typeface="Calibri"/>
              </a:rPr>
              <a:t> </a:t>
            </a:r>
            <a:r>
              <a:rPr sz="2198" spc="-7" dirty="0">
                <a:latin typeface="Calibri"/>
                <a:cs typeface="Calibri"/>
              </a:rPr>
              <a:t>of</a:t>
            </a:r>
            <a:r>
              <a:rPr sz="2198" dirty="0">
                <a:latin typeface="Calibri"/>
                <a:cs typeface="Calibri"/>
              </a:rPr>
              <a:t> </a:t>
            </a:r>
            <a:r>
              <a:rPr sz="2198" spc="-137" dirty="0">
                <a:latin typeface="Calibri"/>
                <a:cs typeface="Calibri"/>
              </a:rPr>
              <a:t>held-­‐out</a:t>
            </a:r>
            <a:r>
              <a:rPr sz="2198" dirty="0">
                <a:latin typeface="Calibri"/>
                <a:cs typeface="Calibri"/>
              </a:rPr>
              <a:t> </a:t>
            </a:r>
            <a:r>
              <a:rPr sz="2198" spc="-7" dirty="0">
                <a:latin typeface="Calibri"/>
                <a:cs typeface="Calibri"/>
              </a:rPr>
              <a:t>words</a:t>
            </a:r>
            <a:r>
              <a:rPr sz="2198" dirty="0">
                <a:latin typeface="Calibri"/>
                <a:cs typeface="Calibri"/>
              </a:rPr>
              <a:t> </a:t>
            </a:r>
            <a:r>
              <a:rPr sz="2198" spc="-7" dirty="0">
                <a:latin typeface="Calibri"/>
                <a:cs typeface="Calibri"/>
              </a:rPr>
              <a:t>are</a:t>
            </a:r>
            <a:r>
              <a:rPr sz="2198" spc="7" dirty="0">
                <a:latin typeface="Calibri"/>
                <a:cs typeface="Calibri"/>
              </a:rPr>
              <a:t> </a:t>
            </a:r>
            <a:r>
              <a:rPr sz="2198" dirty="0">
                <a:latin typeface="Calibri"/>
                <a:cs typeface="Calibri"/>
              </a:rPr>
              <a:t>unseen in </a:t>
            </a:r>
            <a:r>
              <a:rPr sz="2198" spc="-7" dirty="0">
                <a:latin typeface="Calibri"/>
                <a:cs typeface="Calibri"/>
              </a:rPr>
              <a:t>training?</a:t>
            </a:r>
            <a:endParaRPr sz="2198" dirty="0">
              <a:latin typeface="Calibri"/>
              <a:cs typeface="Calibri"/>
            </a:endParaRPr>
          </a:p>
          <a:p>
            <a:pPr marL="1465463" lvl="2" indent="-314028">
              <a:spcBef>
                <a:spcPts val="247"/>
              </a:spcBef>
              <a:buClr>
                <a:srgbClr val="CC0000"/>
              </a:buClr>
              <a:buFont typeface="Times New Roman"/>
              <a:buChar char="•"/>
              <a:tabLst>
                <a:tab pos="1464591" algn="l"/>
                <a:tab pos="1465463" algn="l"/>
              </a:tabLst>
            </a:pPr>
            <a:r>
              <a:rPr sz="2198" i="1" dirty="0">
                <a:latin typeface="Calibri"/>
                <a:cs typeface="Calibri"/>
              </a:rPr>
              <a:t>N</a:t>
            </a:r>
            <a:r>
              <a:rPr sz="2164" baseline="-21164" dirty="0">
                <a:latin typeface="Calibri"/>
                <a:cs typeface="Calibri"/>
              </a:rPr>
              <a:t>1</a:t>
            </a:r>
            <a:r>
              <a:rPr sz="2198" dirty="0">
                <a:latin typeface="Calibri"/>
                <a:cs typeface="Calibri"/>
              </a:rPr>
              <a:t>/</a:t>
            </a:r>
            <a:r>
              <a:rPr sz="2198" i="1" dirty="0">
                <a:latin typeface="Calibri"/>
                <a:cs typeface="Calibri"/>
              </a:rPr>
              <a:t>c</a:t>
            </a:r>
            <a:endParaRPr sz="2198" dirty="0">
              <a:latin typeface="Calibri"/>
              <a:cs typeface="Calibri"/>
            </a:endParaRPr>
          </a:p>
          <a:p>
            <a:pPr marL="994421" marR="722264" lvl="1" indent="-314028">
              <a:lnSpc>
                <a:spcPts val="2500"/>
              </a:lnSpc>
              <a:spcBef>
                <a:spcPts val="446"/>
              </a:spcBef>
              <a:buFont typeface="Times New Roman"/>
              <a:buChar char="•"/>
              <a:tabLst>
                <a:tab pos="993549" algn="l"/>
                <a:tab pos="994421" algn="l"/>
              </a:tabLst>
            </a:pPr>
            <a:r>
              <a:rPr sz="2198" spc="-7" dirty="0">
                <a:latin typeface="Calibri"/>
                <a:cs typeface="Calibri"/>
              </a:rPr>
              <a:t>W</a:t>
            </a:r>
            <a:r>
              <a:rPr sz="2198" dirty="0">
                <a:latin typeface="Calibri"/>
                <a:cs typeface="Calibri"/>
              </a:rPr>
              <a:t>hat f</a:t>
            </a:r>
            <a:r>
              <a:rPr sz="2198" spc="-7" dirty="0">
                <a:latin typeface="Calibri"/>
                <a:cs typeface="Calibri"/>
              </a:rPr>
              <a:t>r</a:t>
            </a:r>
            <a:r>
              <a:rPr sz="2198" dirty="0">
                <a:latin typeface="Calibri"/>
                <a:cs typeface="Calibri"/>
              </a:rPr>
              <a:t>a</a:t>
            </a:r>
            <a:r>
              <a:rPr sz="2198" spc="-7" dirty="0">
                <a:latin typeface="Calibri"/>
                <a:cs typeface="Calibri"/>
              </a:rPr>
              <a:t>c</a:t>
            </a:r>
            <a:r>
              <a:rPr sz="2198" spc="-14" dirty="0">
                <a:latin typeface="Calibri"/>
                <a:cs typeface="Calibri"/>
              </a:rPr>
              <a:t>ti</a:t>
            </a:r>
            <a:r>
              <a:rPr sz="2198" spc="-7" dirty="0">
                <a:latin typeface="Calibri"/>
                <a:cs typeface="Calibri"/>
              </a:rPr>
              <a:t>o</a:t>
            </a:r>
            <a:r>
              <a:rPr sz="2198" dirty="0">
                <a:latin typeface="Calibri"/>
                <a:cs typeface="Calibri"/>
              </a:rPr>
              <a:t>n </a:t>
            </a:r>
            <a:r>
              <a:rPr sz="2198" spc="-7" dirty="0">
                <a:latin typeface="Calibri"/>
                <a:cs typeface="Calibri"/>
              </a:rPr>
              <a:t>o</a:t>
            </a:r>
            <a:r>
              <a:rPr sz="2198" dirty="0">
                <a:latin typeface="Calibri"/>
                <a:cs typeface="Calibri"/>
              </a:rPr>
              <a:t>f held</a:t>
            </a:r>
            <a:r>
              <a:rPr sz="2198" spc="-453" dirty="0">
                <a:latin typeface="Calibri"/>
                <a:cs typeface="Calibri"/>
              </a:rPr>
              <a:t>-­‐</a:t>
            </a:r>
            <a:r>
              <a:rPr sz="2198" spc="-7" dirty="0">
                <a:latin typeface="Calibri"/>
                <a:cs typeface="Calibri"/>
              </a:rPr>
              <a:t>o</a:t>
            </a:r>
            <a:r>
              <a:rPr sz="2198" dirty="0">
                <a:latin typeface="Calibri"/>
                <a:cs typeface="Calibri"/>
              </a:rPr>
              <a:t>ut </a:t>
            </a:r>
            <a:r>
              <a:rPr sz="2198" spc="-7" dirty="0">
                <a:latin typeface="Calibri"/>
                <a:cs typeface="Calibri"/>
              </a:rPr>
              <a:t>wor</a:t>
            </a:r>
            <a:r>
              <a:rPr sz="2198" dirty="0">
                <a:latin typeface="Calibri"/>
                <a:cs typeface="Calibri"/>
              </a:rPr>
              <a:t>ds a</a:t>
            </a:r>
            <a:r>
              <a:rPr sz="2198" spc="-7" dirty="0">
                <a:latin typeface="Calibri"/>
                <a:cs typeface="Calibri"/>
              </a:rPr>
              <a:t>r</a:t>
            </a:r>
            <a:r>
              <a:rPr sz="2198" dirty="0">
                <a:latin typeface="Calibri"/>
                <a:cs typeface="Calibri"/>
              </a:rPr>
              <a:t>e seen </a:t>
            </a:r>
            <a:r>
              <a:rPr sz="2198" i="1" dirty="0">
                <a:latin typeface="Calibri"/>
                <a:cs typeface="Calibri"/>
              </a:rPr>
              <a:t>k </a:t>
            </a:r>
            <a:r>
              <a:rPr sz="2198" spc="-7" dirty="0">
                <a:latin typeface="Calibri"/>
                <a:cs typeface="Calibri"/>
              </a:rPr>
              <a:t>tim</a:t>
            </a:r>
            <a:r>
              <a:rPr sz="2198" spc="-14" dirty="0">
                <a:latin typeface="Calibri"/>
                <a:cs typeface="Calibri"/>
              </a:rPr>
              <a:t>e</a:t>
            </a:r>
            <a:r>
              <a:rPr sz="2198" dirty="0">
                <a:latin typeface="Calibri"/>
                <a:cs typeface="Calibri"/>
              </a:rPr>
              <a:t>s</a:t>
            </a:r>
            <a:r>
              <a:rPr sz="2198" spc="-7" dirty="0">
                <a:latin typeface="Calibri"/>
                <a:cs typeface="Calibri"/>
              </a:rPr>
              <a:t> in  training?</a:t>
            </a:r>
            <a:endParaRPr sz="2198" dirty="0">
              <a:latin typeface="Calibri"/>
              <a:cs typeface="Calibri"/>
            </a:endParaRPr>
          </a:p>
          <a:p>
            <a:pPr marL="1465463" lvl="2" indent="-314028">
              <a:spcBef>
                <a:spcPts val="157"/>
              </a:spcBef>
              <a:buClr>
                <a:srgbClr val="CC0000"/>
              </a:buClr>
              <a:buFont typeface="Times New Roman"/>
              <a:buChar char="•"/>
              <a:tabLst>
                <a:tab pos="1464591" algn="l"/>
                <a:tab pos="1465463" algn="l"/>
              </a:tabLst>
            </a:pPr>
            <a:r>
              <a:rPr sz="2198" dirty="0">
                <a:latin typeface="Calibri"/>
                <a:cs typeface="Calibri"/>
              </a:rPr>
              <a:t>(</a:t>
            </a:r>
            <a:r>
              <a:rPr sz="2198" i="1" dirty="0">
                <a:latin typeface="Calibri"/>
                <a:cs typeface="Calibri"/>
              </a:rPr>
              <a:t>k</a:t>
            </a:r>
            <a:r>
              <a:rPr sz="2198" dirty="0">
                <a:latin typeface="Calibri"/>
                <a:cs typeface="Calibri"/>
              </a:rPr>
              <a:t>+1)</a:t>
            </a:r>
            <a:r>
              <a:rPr sz="2198" i="1" dirty="0">
                <a:latin typeface="Calibri"/>
                <a:cs typeface="Calibri"/>
              </a:rPr>
              <a:t>N</a:t>
            </a:r>
            <a:r>
              <a:rPr sz="2164" i="1" baseline="-21164" dirty="0">
                <a:latin typeface="Calibri"/>
                <a:cs typeface="Calibri"/>
              </a:rPr>
              <a:t>k</a:t>
            </a:r>
            <a:r>
              <a:rPr sz="2164" baseline="-21164" dirty="0">
                <a:latin typeface="Calibri"/>
                <a:cs typeface="Calibri"/>
              </a:rPr>
              <a:t>+1</a:t>
            </a:r>
            <a:r>
              <a:rPr sz="2198" dirty="0">
                <a:latin typeface="Calibri"/>
                <a:cs typeface="Calibri"/>
              </a:rPr>
              <a:t>/</a:t>
            </a:r>
            <a:r>
              <a:rPr sz="2198" i="1" dirty="0">
                <a:latin typeface="Calibri"/>
                <a:cs typeface="Calibri"/>
              </a:rPr>
              <a:t>c</a:t>
            </a:r>
            <a:endParaRPr sz="2198" dirty="0">
              <a:latin typeface="Calibri"/>
              <a:cs typeface="Calibri"/>
            </a:endParaRPr>
          </a:p>
          <a:p>
            <a:pPr marL="994421" marR="111654" lvl="1" indent="-314028">
              <a:lnSpc>
                <a:spcPts val="2363"/>
              </a:lnSpc>
              <a:spcBef>
                <a:spcPts val="556"/>
              </a:spcBef>
              <a:buFont typeface="Times New Roman"/>
              <a:buChar char="•"/>
              <a:tabLst>
                <a:tab pos="993549" algn="l"/>
                <a:tab pos="994421" algn="l"/>
              </a:tabLst>
            </a:pPr>
            <a:r>
              <a:rPr sz="2198" dirty="0">
                <a:latin typeface="Calibri"/>
                <a:cs typeface="Calibri"/>
              </a:rPr>
              <a:t>So in the </a:t>
            </a:r>
            <a:r>
              <a:rPr sz="2198" spc="-7" dirty="0">
                <a:latin typeface="Calibri"/>
                <a:cs typeface="Calibri"/>
              </a:rPr>
              <a:t>future we </a:t>
            </a:r>
            <a:r>
              <a:rPr sz="2198" dirty="0">
                <a:latin typeface="Calibri"/>
                <a:cs typeface="Calibri"/>
              </a:rPr>
              <a:t>expect (</a:t>
            </a:r>
            <a:r>
              <a:rPr sz="2198" i="1" dirty="0">
                <a:latin typeface="Calibri"/>
                <a:cs typeface="Calibri"/>
              </a:rPr>
              <a:t>k</a:t>
            </a:r>
            <a:r>
              <a:rPr sz="2198" dirty="0">
                <a:latin typeface="Calibri"/>
                <a:cs typeface="Calibri"/>
              </a:rPr>
              <a:t>+1)</a:t>
            </a:r>
            <a:r>
              <a:rPr sz="2198" i="1" dirty="0">
                <a:latin typeface="Calibri"/>
                <a:cs typeface="Calibri"/>
              </a:rPr>
              <a:t>N</a:t>
            </a:r>
            <a:r>
              <a:rPr sz="2164" i="1" baseline="-21164" dirty="0">
                <a:latin typeface="Calibri"/>
                <a:cs typeface="Calibri"/>
              </a:rPr>
              <a:t>k</a:t>
            </a:r>
            <a:r>
              <a:rPr sz="2164" baseline="-21164" dirty="0">
                <a:latin typeface="Calibri"/>
                <a:cs typeface="Calibri"/>
              </a:rPr>
              <a:t>+1</a:t>
            </a:r>
            <a:r>
              <a:rPr sz="2198" dirty="0">
                <a:latin typeface="Calibri"/>
                <a:cs typeface="Calibri"/>
              </a:rPr>
              <a:t>/</a:t>
            </a:r>
            <a:r>
              <a:rPr sz="2198" i="1" dirty="0">
                <a:latin typeface="Calibri"/>
                <a:cs typeface="Calibri"/>
              </a:rPr>
              <a:t>c </a:t>
            </a:r>
            <a:r>
              <a:rPr sz="2198" spc="-7" dirty="0">
                <a:latin typeface="Calibri"/>
                <a:cs typeface="Calibri"/>
              </a:rPr>
              <a:t>of </a:t>
            </a:r>
            <a:r>
              <a:rPr sz="2198" dirty="0">
                <a:latin typeface="Calibri"/>
                <a:cs typeface="Calibri"/>
              </a:rPr>
              <a:t>the </a:t>
            </a:r>
            <a:r>
              <a:rPr sz="2198" spc="-7" dirty="0">
                <a:latin typeface="Calibri"/>
                <a:cs typeface="Calibri"/>
              </a:rPr>
              <a:t>words </a:t>
            </a:r>
            <a:r>
              <a:rPr sz="2198" dirty="0">
                <a:latin typeface="Calibri"/>
                <a:cs typeface="Calibri"/>
              </a:rPr>
              <a:t>to be </a:t>
            </a:r>
            <a:r>
              <a:rPr sz="2198" spc="-481" dirty="0">
                <a:latin typeface="Calibri"/>
                <a:cs typeface="Calibri"/>
              </a:rPr>
              <a:t> </a:t>
            </a:r>
            <a:r>
              <a:rPr sz="2198" spc="-7" dirty="0">
                <a:latin typeface="Calibri"/>
                <a:cs typeface="Calibri"/>
              </a:rPr>
              <a:t>those with</a:t>
            </a:r>
            <a:r>
              <a:rPr sz="2198" dirty="0">
                <a:latin typeface="Calibri"/>
                <a:cs typeface="Calibri"/>
              </a:rPr>
              <a:t> </a:t>
            </a:r>
            <a:r>
              <a:rPr sz="2198" spc="-7" dirty="0">
                <a:latin typeface="Calibri"/>
                <a:cs typeface="Calibri"/>
              </a:rPr>
              <a:t>training</a:t>
            </a:r>
            <a:r>
              <a:rPr sz="2198" dirty="0">
                <a:latin typeface="Calibri"/>
                <a:cs typeface="Calibri"/>
              </a:rPr>
              <a:t> </a:t>
            </a:r>
            <a:r>
              <a:rPr sz="2198" spc="-7" dirty="0">
                <a:latin typeface="Calibri"/>
                <a:cs typeface="Calibri"/>
              </a:rPr>
              <a:t>count </a:t>
            </a:r>
            <a:r>
              <a:rPr sz="2198" i="1" dirty="0">
                <a:latin typeface="Calibri"/>
                <a:cs typeface="Calibri"/>
              </a:rPr>
              <a:t>k</a:t>
            </a:r>
            <a:endParaRPr sz="2198" dirty="0">
              <a:latin typeface="Calibri"/>
              <a:cs typeface="Calibri"/>
            </a:endParaRPr>
          </a:p>
          <a:p>
            <a:pPr marL="994421" lvl="1" indent="-314028">
              <a:spcBef>
                <a:spcPts val="185"/>
              </a:spcBef>
              <a:buFont typeface="Times New Roman"/>
              <a:buChar char="•"/>
              <a:tabLst>
                <a:tab pos="993549" algn="l"/>
                <a:tab pos="994421" algn="l"/>
              </a:tabLst>
            </a:pPr>
            <a:r>
              <a:rPr sz="2198" spc="-7" dirty="0">
                <a:latin typeface="Calibri"/>
                <a:cs typeface="Calibri"/>
              </a:rPr>
              <a:t>There</a:t>
            </a:r>
            <a:r>
              <a:rPr sz="2198" dirty="0">
                <a:latin typeface="Calibri"/>
                <a:cs typeface="Calibri"/>
              </a:rPr>
              <a:t> </a:t>
            </a:r>
            <a:r>
              <a:rPr sz="2198" spc="-7" dirty="0">
                <a:latin typeface="Calibri"/>
                <a:cs typeface="Calibri"/>
              </a:rPr>
              <a:t>are</a:t>
            </a:r>
            <a:r>
              <a:rPr sz="2198" dirty="0">
                <a:latin typeface="Calibri"/>
                <a:cs typeface="Calibri"/>
              </a:rPr>
              <a:t> </a:t>
            </a:r>
            <a:r>
              <a:rPr sz="2198" i="1" dirty="0">
                <a:latin typeface="Calibri"/>
                <a:cs typeface="Calibri"/>
              </a:rPr>
              <a:t>N</a:t>
            </a:r>
            <a:r>
              <a:rPr sz="2164" i="1" baseline="-21164" dirty="0">
                <a:latin typeface="Calibri"/>
                <a:cs typeface="Calibri"/>
              </a:rPr>
              <a:t>k</a:t>
            </a:r>
            <a:r>
              <a:rPr sz="2164" i="1" spc="257" baseline="-21164" dirty="0">
                <a:latin typeface="Calibri"/>
                <a:cs typeface="Calibri"/>
              </a:rPr>
              <a:t> </a:t>
            </a:r>
            <a:r>
              <a:rPr sz="2198" spc="-7" dirty="0">
                <a:latin typeface="Calibri"/>
                <a:cs typeface="Calibri"/>
              </a:rPr>
              <a:t>words</a:t>
            </a:r>
            <a:r>
              <a:rPr sz="2198" spc="7" dirty="0">
                <a:latin typeface="Calibri"/>
                <a:cs typeface="Calibri"/>
              </a:rPr>
              <a:t> </a:t>
            </a:r>
            <a:r>
              <a:rPr sz="2198" spc="-7" dirty="0">
                <a:latin typeface="Calibri"/>
                <a:cs typeface="Calibri"/>
              </a:rPr>
              <a:t>with</a:t>
            </a:r>
            <a:r>
              <a:rPr sz="2198" dirty="0">
                <a:latin typeface="Calibri"/>
                <a:cs typeface="Calibri"/>
              </a:rPr>
              <a:t> </a:t>
            </a:r>
            <a:r>
              <a:rPr sz="2198" spc="-7" dirty="0">
                <a:latin typeface="Calibri"/>
                <a:cs typeface="Calibri"/>
              </a:rPr>
              <a:t>training</a:t>
            </a:r>
            <a:r>
              <a:rPr sz="2198" dirty="0">
                <a:latin typeface="Calibri"/>
                <a:cs typeface="Calibri"/>
              </a:rPr>
              <a:t> </a:t>
            </a:r>
            <a:r>
              <a:rPr sz="2198" spc="-7" dirty="0">
                <a:latin typeface="Calibri"/>
                <a:cs typeface="Calibri"/>
              </a:rPr>
              <a:t>count</a:t>
            </a:r>
            <a:r>
              <a:rPr sz="2198" dirty="0">
                <a:latin typeface="Calibri"/>
                <a:cs typeface="Calibri"/>
              </a:rPr>
              <a:t> </a:t>
            </a:r>
            <a:r>
              <a:rPr sz="2198" i="1" dirty="0">
                <a:latin typeface="Calibri"/>
                <a:cs typeface="Calibri"/>
              </a:rPr>
              <a:t>k</a:t>
            </a:r>
            <a:endParaRPr sz="2198" dirty="0">
              <a:latin typeface="Calibri"/>
              <a:cs typeface="Calibri"/>
            </a:endParaRPr>
          </a:p>
          <a:p>
            <a:pPr marL="994421" lvl="1" indent="-314028">
              <a:spcBef>
                <a:spcPts val="247"/>
              </a:spcBef>
              <a:buFont typeface="Times New Roman"/>
              <a:buChar char="•"/>
              <a:tabLst>
                <a:tab pos="993549" algn="l"/>
                <a:tab pos="994421" algn="l"/>
              </a:tabLst>
            </a:pPr>
            <a:r>
              <a:rPr sz="2198" spc="-7" dirty="0">
                <a:latin typeface="Calibri"/>
                <a:cs typeface="Calibri"/>
              </a:rPr>
              <a:t>Each</a:t>
            </a:r>
            <a:r>
              <a:rPr sz="2198" dirty="0">
                <a:latin typeface="Calibri"/>
                <a:cs typeface="Calibri"/>
              </a:rPr>
              <a:t> </a:t>
            </a:r>
            <a:r>
              <a:rPr sz="2198" spc="-7" dirty="0">
                <a:latin typeface="Calibri"/>
                <a:cs typeface="Calibri"/>
              </a:rPr>
              <a:t>should</a:t>
            </a:r>
            <a:r>
              <a:rPr sz="2198" spc="7" dirty="0">
                <a:latin typeface="Calibri"/>
                <a:cs typeface="Calibri"/>
              </a:rPr>
              <a:t> </a:t>
            </a:r>
            <a:r>
              <a:rPr sz="2198" spc="-7" dirty="0">
                <a:latin typeface="Calibri"/>
                <a:cs typeface="Calibri"/>
              </a:rPr>
              <a:t>occur</a:t>
            </a:r>
            <a:r>
              <a:rPr sz="2198" spc="7" dirty="0">
                <a:latin typeface="Calibri"/>
                <a:cs typeface="Calibri"/>
              </a:rPr>
              <a:t> </a:t>
            </a:r>
            <a:r>
              <a:rPr sz="2198" spc="-7" dirty="0">
                <a:latin typeface="Calibri"/>
                <a:cs typeface="Calibri"/>
              </a:rPr>
              <a:t>with</a:t>
            </a:r>
            <a:r>
              <a:rPr sz="2198" dirty="0">
                <a:latin typeface="Calibri"/>
                <a:cs typeface="Calibri"/>
              </a:rPr>
              <a:t> </a:t>
            </a:r>
            <a:r>
              <a:rPr sz="2198" spc="-7" dirty="0">
                <a:latin typeface="Calibri"/>
                <a:cs typeface="Calibri"/>
              </a:rPr>
              <a:t>probability:</a:t>
            </a:r>
            <a:endParaRPr sz="2198" dirty="0">
              <a:latin typeface="Calibri"/>
              <a:cs typeface="Calibri"/>
            </a:endParaRPr>
          </a:p>
        </p:txBody>
      </p:sp>
      <p:sp>
        <p:nvSpPr>
          <p:cNvPr id="8" name="object 8"/>
          <p:cNvSpPr txBox="1"/>
          <p:nvPr/>
        </p:nvSpPr>
        <p:spPr>
          <a:xfrm>
            <a:off x="1957492" y="6487558"/>
            <a:ext cx="4557017" cy="751442"/>
          </a:xfrm>
          <a:prstGeom prst="rect">
            <a:avLst/>
          </a:prstGeom>
        </p:spPr>
        <p:txBody>
          <a:bodyPr vert="horz" wrap="square" lIns="0" tIns="48850" rIns="0" bIns="0" rtlCol="0">
            <a:spAutoFit/>
          </a:bodyPr>
          <a:lstStyle/>
          <a:p>
            <a:pPr marL="837408" indent="-314900">
              <a:spcBef>
                <a:spcPts val="385"/>
              </a:spcBef>
              <a:buClr>
                <a:srgbClr val="CC0000"/>
              </a:buClr>
              <a:buFont typeface="Times New Roman"/>
              <a:buChar char="•"/>
              <a:tabLst>
                <a:tab pos="836535" algn="l"/>
                <a:tab pos="837408" algn="l"/>
              </a:tabLst>
            </a:pPr>
            <a:r>
              <a:rPr sz="2198" dirty="0">
                <a:latin typeface="Calibri"/>
                <a:cs typeface="Calibri"/>
              </a:rPr>
              <a:t>(</a:t>
            </a:r>
            <a:r>
              <a:rPr sz="2198" i="1" dirty="0">
                <a:latin typeface="Calibri"/>
                <a:cs typeface="Calibri"/>
              </a:rPr>
              <a:t>k</a:t>
            </a:r>
            <a:r>
              <a:rPr sz="2198" dirty="0">
                <a:latin typeface="Calibri"/>
                <a:cs typeface="Calibri"/>
              </a:rPr>
              <a:t>+1)</a:t>
            </a:r>
            <a:r>
              <a:rPr sz="2198" i="1" dirty="0">
                <a:latin typeface="Calibri"/>
                <a:cs typeface="Calibri"/>
              </a:rPr>
              <a:t>N</a:t>
            </a:r>
            <a:r>
              <a:rPr sz="2164" i="1" baseline="-21164" dirty="0">
                <a:latin typeface="Calibri"/>
                <a:cs typeface="Calibri"/>
              </a:rPr>
              <a:t>k</a:t>
            </a:r>
            <a:r>
              <a:rPr sz="2164" baseline="-21164" dirty="0">
                <a:latin typeface="Calibri"/>
                <a:cs typeface="Calibri"/>
              </a:rPr>
              <a:t>+1</a:t>
            </a:r>
            <a:r>
              <a:rPr sz="2198" dirty="0">
                <a:latin typeface="Calibri"/>
                <a:cs typeface="Calibri"/>
              </a:rPr>
              <a:t>/</a:t>
            </a:r>
            <a:r>
              <a:rPr sz="2198" i="1" dirty="0">
                <a:latin typeface="Calibri"/>
                <a:cs typeface="Calibri"/>
              </a:rPr>
              <a:t>c</a:t>
            </a:r>
            <a:r>
              <a:rPr sz="2198" dirty="0">
                <a:latin typeface="Calibri"/>
                <a:cs typeface="Calibri"/>
              </a:rPr>
              <a:t>/</a:t>
            </a:r>
            <a:r>
              <a:rPr sz="2198" i="1" dirty="0">
                <a:latin typeface="Calibri"/>
                <a:cs typeface="Calibri"/>
              </a:rPr>
              <a:t>N</a:t>
            </a:r>
            <a:r>
              <a:rPr sz="2164" i="1" baseline="-21164" dirty="0">
                <a:latin typeface="Calibri"/>
                <a:cs typeface="Calibri"/>
              </a:rPr>
              <a:t>k</a:t>
            </a:r>
            <a:endParaRPr sz="2164" baseline="-21164">
              <a:latin typeface="Calibri"/>
              <a:cs typeface="Calibri"/>
            </a:endParaRPr>
          </a:p>
          <a:p>
            <a:pPr marL="366366" indent="-314028">
              <a:spcBef>
                <a:spcPts val="247"/>
              </a:spcBef>
              <a:buFont typeface="Times New Roman"/>
              <a:buChar char="•"/>
              <a:tabLst>
                <a:tab pos="365493" algn="l"/>
                <a:tab pos="366366" algn="l"/>
                <a:tab pos="3886094" algn="l"/>
              </a:tabLst>
            </a:pPr>
            <a:r>
              <a:rPr sz="2198" dirty="0">
                <a:latin typeface="Calibri"/>
                <a:cs typeface="Calibri"/>
              </a:rPr>
              <a:t>…</a:t>
            </a:r>
            <a:r>
              <a:rPr sz="2198" spc="-7" dirty="0">
                <a:latin typeface="Calibri"/>
                <a:cs typeface="Calibri"/>
              </a:rPr>
              <a:t>o</a:t>
            </a:r>
            <a:r>
              <a:rPr sz="2198" dirty="0">
                <a:latin typeface="Calibri"/>
                <a:cs typeface="Calibri"/>
              </a:rPr>
              <a:t>r expect</a:t>
            </a:r>
            <a:r>
              <a:rPr sz="2198" spc="-7" dirty="0">
                <a:latin typeface="Calibri"/>
                <a:cs typeface="Calibri"/>
              </a:rPr>
              <a:t>e</a:t>
            </a:r>
            <a:r>
              <a:rPr sz="2198" dirty="0">
                <a:latin typeface="Calibri"/>
                <a:cs typeface="Calibri"/>
              </a:rPr>
              <a:t>d c</a:t>
            </a:r>
            <a:r>
              <a:rPr sz="2198" spc="-7" dirty="0">
                <a:latin typeface="Calibri"/>
                <a:cs typeface="Calibri"/>
              </a:rPr>
              <a:t>o</a:t>
            </a:r>
            <a:r>
              <a:rPr sz="2198" dirty="0">
                <a:latin typeface="Calibri"/>
                <a:cs typeface="Calibri"/>
              </a:rPr>
              <a:t>unt:	</a:t>
            </a:r>
            <a:r>
              <a:rPr sz="2061" i="1" spc="405" dirty="0">
                <a:latin typeface="Times New Roman"/>
                <a:cs typeface="Times New Roman"/>
              </a:rPr>
              <a:t>k</a:t>
            </a:r>
            <a:r>
              <a:rPr sz="2061" spc="378" dirty="0">
                <a:latin typeface="Times New Roman"/>
                <a:cs typeface="Times New Roman"/>
              </a:rPr>
              <a:t>*</a:t>
            </a:r>
            <a:r>
              <a:rPr sz="2061" spc="-76" dirty="0">
                <a:latin typeface="Times New Roman"/>
                <a:cs typeface="Times New Roman"/>
              </a:rPr>
              <a:t> </a:t>
            </a:r>
            <a:r>
              <a:rPr sz="2061" spc="412" dirty="0">
                <a:latin typeface="Symbol"/>
                <a:cs typeface="Symbol"/>
              </a:rPr>
              <a:t></a:t>
            </a:r>
            <a:endParaRPr sz="2061">
              <a:latin typeface="Symbol"/>
              <a:cs typeface="Symbol"/>
            </a:endParaRPr>
          </a:p>
        </p:txBody>
      </p:sp>
      <p:sp>
        <p:nvSpPr>
          <p:cNvPr id="9" name="object 9"/>
          <p:cNvSpPr txBox="1"/>
          <p:nvPr/>
        </p:nvSpPr>
        <p:spPr>
          <a:xfrm>
            <a:off x="6519911" y="6826401"/>
            <a:ext cx="1491673" cy="341802"/>
          </a:xfrm>
          <a:prstGeom prst="rect">
            <a:avLst/>
          </a:prstGeom>
        </p:spPr>
        <p:txBody>
          <a:bodyPr vert="horz" wrap="square" lIns="0" tIns="24425" rIns="0" bIns="0" rtlCol="0">
            <a:spAutoFit/>
          </a:bodyPr>
          <a:lstStyle/>
          <a:p>
            <a:pPr marL="17446">
              <a:spcBef>
                <a:spcPts val="192"/>
              </a:spcBef>
              <a:tabLst>
                <a:tab pos="1473314" algn="l"/>
              </a:tabLst>
            </a:pPr>
            <a:r>
              <a:rPr sz="2061" u="sng" spc="309" dirty="0">
                <a:uFill>
                  <a:solidFill>
                    <a:srgbClr val="000000"/>
                  </a:solidFill>
                </a:uFill>
                <a:latin typeface="Times New Roman"/>
                <a:cs typeface="Times New Roman"/>
              </a:rPr>
              <a:t>(</a:t>
            </a:r>
            <a:r>
              <a:rPr sz="2061" i="1" u="sng" spc="309" dirty="0">
                <a:uFill>
                  <a:solidFill>
                    <a:srgbClr val="000000"/>
                  </a:solidFill>
                </a:uFill>
                <a:latin typeface="Times New Roman"/>
                <a:cs typeface="Times New Roman"/>
              </a:rPr>
              <a:t>k</a:t>
            </a:r>
            <a:r>
              <a:rPr sz="2061" i="1" u="sng" spc="-41" dirty="0">
                <a:uFill>
                  <a:solidFill>
                    <a:srgbClr val="000000"/>
                  </a:solidFill>
                </a:uFill>
                <a:latin typeface="Times New Roman"/>
                <a:cs typeface="Times New Roman"/>
              </a:rPr>
              <a:t> </a:t>
            </a:r>
            <a:r>
              <a:rPr sz="2061" u="sng" spc="419" dirty="0">
                <a:uFill>
                  <a:solidFill>
                    <a:srgbClr val="000000"/>
                  </a:solidFill>
                </a:uFill>
                <a:latin typeface="Symbol"/>
                <a:cs typeface="Symbol"/>
              </a:rPr>
              <a:t></a:t>
            </a:r>
            <a:r>
              <a:rPr sz="2061" u="sng" spc="419" dirty="0">
                <a:uFill>
                  <a:solidFill>
                    <a:srgbClr val="000000"/>
                  </a:solidFill>
                </a:uFill>
                <a:latin typeface="Times New Roman"/>
                <a:cs typeface="Times New Roman"/>
              </a:rPr>
              <a:t>1)</a:t>
            </a:r>
            <a:r>
              <a:rPr sz="2061" i="1" u="sng" spc="419" dirty="0">
                <a:uFill>
                  <a:solidFill>
                    <a:srgbClr val="000000"/>
                  </a:solidFill>
                </a:uFill>
                <a:latin typeface="Times New Roman"/>
                <a:cs typeface="Times New Roman"/>
              </a:rPr>
              <a:t>N	</a:t>
            </a:r>
            <a:endParaRPr sz="2061">
              <a:latin typeface="Times New Roman"/>
              <a:cs typeface="Times New Roman"/>
            </a:endParaRPr>
          </a:p>
        </p:txBody>
      </p:sp>
      <p:sp>
        <p:nvSpPr>
          <p:cNvPr id="10" name="object 10"/>
          <p:cNvSpPr txBox="1"/>
          <p:nvPr/>
        </p:nvSpPr>
        <p:spPr>
          <a:xfrm>
            <a:off x="7642742" y="7006855"/>
            <a:ext cx="335844" cy="206036"/>
          </a:xfrm>
          <a:prstGeom prst="rect">
            <a:avLst/>
          </a:prstGeom>
        </p:spPr>
        <p:txBody>
          <a:bodyPr vert="horz" wrap="square" lIns="0" tIns="15702" rIns="0" bIns="0" rtlCol="0">
            <a:spAutoFit/>
          </a:bodyPr>
          <a:lstStyle/>
          <a:p>
            <a:pPr marL="17446">
              <a:spcBef>
                <a:spcPts val="124"/>
              </a:spcBef>
            </a:pPr>
            <a:r>
              <a:rPr sz="1236" i="1" spc="240" dirty="0">
                <a:latin typeface="Times New Roman"/>
                <a:cs typeface="Times New Roman"/>
              </a:rPr>
              <a:t>k</a:t>
            </a:r>
            <a:r>
              <a:rPr sz="1236" spc="69" dirty="0">
                <a:latin typeface="Symbol"/>
                <a:cs typeface="Symbol"/>
              </a:rPr>
              <a:t></a:t>
            </a:r>
            <a:r>
              <a:rPr sz="1236" spc="192" dirty="0">
                <a:latin typeface="Times New Roman"/>
                <a:cs typeface="Times New Roman"/>
              </a:rPr>
              <a:t>1</a:t>
            </a:r>
            <a:endParaRPr sz="1236">
              <a:latin typeface="Times New Roman"/>
              <a:cs typeface="Times New Roman"/>
            </a:endParaRPr>
          </a:p>
        </p:txBody>
      </p:sp>
      <p:sp>
        <p:nvSpPr>
          <p:cNvPr id="11" name="object 11"/>
          <p:cNvSpPr txBox="1"/>
          <p:nvPr/>
        </p:nvSpPr>
        <p:spPr>
          <a:xfrm>
            <a:off x="7021254" y="7201998"/>
            <a:ext cx="455353" cy="341802"/>
          </a:xfrm>
          <a:prstGeom prst="rect">
            <a:avLst/>
          </a:prstGeom>
        </p:spPr>
        <p:txBody>
          <a:bodyPr vert="horz" wrap="square" lIns="0" tIns="24425" rIns="0" bIns="0" rtlCol="0">
            <a:spAutoFit/>
          </a:bodyPr>
          <a:lstStyle/>
          <a:p>
            <a:pPr marL="52338">
              <a:spcBef>
                <a:spcPts val="192"/>
              </a:spcBef>
            </a:pPr>
            <a:r>
              <a:rPr sz="2061" i="1" spc="412" dirty="0">
                <a:latin typeface="Times New Roman"/>
                <a:cs typeface="Times New Roman"/>
              </a:rPr>
              <a:t>N</a:t>
            </a:r>
            <a:r>
              <a:rPr sz="1854" i="1" spc="618" baseline="-24691" dirty="0">
                <a:latin typeface="Times New Roman"/>
                <a:cs typeface="Times New Roman"/>
              </a:rPr>
              <a:t>k</a:t>
            </a:r>
            <a:endParaRPr sz="1854" baseline="-24691" dirty="0">
              <a:latin typeface="Times New Roman"/>
              <a:cs typeface="Times New Roman"/>
            </a:endParaRPr>
          </a:p>
        </p:txBody>
      </p:sp>
      <p:graphicFrame>
        <p:nvGraphicFramePr>
          <p:cNvPr id="12" name="object 12"/>
          <p:cNvGraphicFramePr>
            <a:graphicFrameLocks noGrp="1"/>
          </p:cNvGraphicFramePr>
          <p:nvPr/>
        </p:nvGraphicFramePr>
        <p:xfrm>
          <a:off x="9833261" y="947224"/>
          <a:ext cx="1046788" cy="6487877"/>
        </p:xfrm>
        <a:graphic>
          <a:graphicData uri="http://schemas.openxmlformats.org/drawingml/2006/table">
            <a:tbl>
              <a:tblPr firstRow="1" bandRow="1">
                <a:tableStyleId>{2D5ABB26-0587-4C30-8999-92F81FD0307C}</a:tableStyleId>
              </a:tblPr>
              <a:tblGrid>
                <a:gridCol w="104679">
                  <a:extLst>
                    <a:ext uri="{9D8B030D-6E8A-4147-A177-3AD203B41FA5}">
                      <a16:colId xmlns:a16="http://schemas.microsoft.com/office/drawing/2014/main" val="20000"/>
                    </a:ext>
                  </a:extLst>
                </a:gridCol>
                <a:gridCol w="837430">
                  <a:extLst>
                    <a:ext uri="{9D8B030D-6E8A-4147-A177-3AD203B41FA5}">
                      <a16:colId xmlns:a16="http://schemas.microsoft.com/office/drawing/2014/main" val="20001"/>
                    </a:ext>
                  </a:extLst>
                </a:gridCol>
                <a:gridCol w="104679">
                  <a:extLst>
                    <a:ext uri="{9D8B030D-6E8A-4147-A177-3AD203B41FA5}">
                      <a16:colId xmlns:a16="http://schemas.microsoft.com/office/drawing/2014/main" val="20002"/>
                    </a:ext>
                  </a:extLst>
                </a:gridCol>
              </a:tblGrid>
              <a:tr h="6049562">
                <a:tc gridSpan="3">
                  <a:txBody>
                    <a:bodyPr/>
                    <a:lstStyle/>
                    <a:p>
                      <a:pPr>
                        <a:lnSpc>
                          <a:spcPct val="100000"/>
                        </a:lnSpc>
                        <a:spcBef>
                          <a:spcPts val="50"/>
                        </a:spcBef>
                      </a:pPr>
                      <a:endParaRPr sz="4700">
                        <a:latin typeface="Times New Roman"/>
                        <a:cs typeface="Times New Roman"/>
                      </a:endParaRPr>
                    </a:p>
                    <a:p>
                      <a:pPr marL="243840">
                        <a:lnSpc>
                          <a:spcPct val="100000"/>
                        </a:lnSpc>
                      </a:pPr>
                      <a:r>
                        <a:rPr sz="2500" dirty="0">
                          <a:latin typeface="Lucida Sans Unicode"/>
                          <a:cs typeface="Lucida Sans Unicode"/>
                        </a:rPr>
                        <a:t>N</a:t>
                      </a:r>
                      <a:r>
                        <a:rPr sz="2500" baseline="-20833" dirty="0">
                          <a:latin typeface="Lucida Sans Unicode"/>
                          <a:cs typeface="Lucida Sans Unicode"/>
                        </a:rPr>
                        <a:t>1</a:t>
                      </a:r>
                      <a:endParaRPr sz="2500" baseline="-20833">
                        <a:latin typeface="Lucida Sans Unicode"/>
                        <a:cs typeface="Lucida Sans Unicode"/>
                      </a:endParaRPr>
                    </a:p>
                    <a:p>
                      <a:pPr>
                        <a:lnSpc>
                          <a:spcPct val="100000"/>
                        </a:lnSpc>
                        <a:spcBef>
                          <a:spcPts val="45"/>
                        </a:spcBef>
                      </a:pPr>
                      <a:endParaRPr sz="2800">
                        <a:latin typeface="Times New Roman"/>
                        <a:cs typeface="Times New Roman"/>
                      </a:endParaRPr>
                    </a:p>
                    <a:p>
                      <a:pPr marL="243840" marR="245110">
                        <a:lnSpc>
                          <a:spcPct val="263900"/>
                        </a:lnSpc>
                      </a:pPr>
                      <a:r>
                        <a:rPr sz="2500" dirty="0">
                          <a:latin typeface="Lucida Sans Unicode"/>
                          <a:cs typeface="Lucida Sans Unicode"/>
                        </a:rPr>
                        <a:t>N</a:t>
                      </a:r>
                      <a:r>
                        <a:rPr sz="2500" baseline="-20833" dirty="0">
                          <a:latin typeface="Lucida Sans Unicode"/>
                          <a:cs typeface="Lucida Sans Unicode"/>
                        </a:rPr>
                        <a:t>2  </a:t>
                      </a:r>
                      <a:r>
                        <a:rPr sz="2500" dirty="0">
                          <a:latin typeface="Lucida Sans Unicode"/>
                          <a:cs typeface="Lucida Sans Unicode"/>
                        </a:rPr>
                        <a:t>N</a:t>
                      </a:r>
                      <a:r>
                        <a:rPr sz="2500" baseline="-20833" dirty="0">
                          <a:latin typeface="Lucida Sans Unicode"/>
                          <a:cs typeface="Lucida Sans Unicode"/>
                        </a:rPr>
                        <a:t>3</a:t>
                      </a:r>
                      <a:endParaRPr sz="2500" baseline="-20833">
                        <a:latin typeface="Lucida Sans Unicode"/>
                        <a:cs typeface="Lucida Sans Unicode"/>
                      </a:endParaRPr>
                    </a:p>
                    <a:p>
                      <a:pPr>
                        <a:lnSpc>
                          <a:spcPct val="100000"/>
                        </a:lnSpc>
                      </a:pPr>
                      <a:endParaRPr sz="3300">
                        <a:latin typeface="Times New Roman"/>
                        <a:cs typeface="Times New Roman"/>
                      </a:endParaRPr>
                    </a:p>
                    <a:p>
                      <a:pPr>
                        <a:lnSpc>
                          <a:spcPct val="100000"/>
                        </a:lnSpc>
                      </a:pPr>
                      <a:endParaRPr sz="3300">
                        <a:latin typeface="Times New Roman"/>
                        <a:cs typeface="Times New Roman"/>
                      </a:endParaRPr>
                    </a:p>
                    <a:p>
                      <a:pPr>
                        <a:lnSpc>
                          <a:spcPct val="100000"/>
                        </a:lnSpc>
                      </a:pPr>
                      <a:endParaRPr sz="3300">
                        <a:latin typeface="Times New Roman"/>
                        <a:cs typeface="Times New Roman"/>
                      </a:endParaRPr>
                    </a:p>
                    <a:p>
                      <a:pPr>
                        <a:lnSpc>
                          <a:spcPct val="100000"/>
                        </a:lnSpc>
                      </a:pPr>
                      <a:endParaRPr sz="4200">
                        <a:latin typeface="Times New Roman"/>
                        <a:cs typeface="Times New Roman"/>
                      </a:endParaRPr>
                    </a:p>
                    <a:p>
                      <a:pPr marL="104139">
                        <a:lnSpc>
                          <a:spcPct val="100000"/>
                        </a:lnSpc>
                      </a:pPr>
                      <a:r>
                        <a:rPr sz="3700" baseline="13888" dirty="0">
                          <a:latin typeface="Lucida Sans Unicode"/>
                          <a:cs typeface="Lucida Sans Unicode"/>
                        </a:rPr>
                        <a:t>N</a:t>
                      </a:r>
                      <a:r>
                        <a:rPr sz="1600" dirty="0">
                          <a:latin typeface="Lucida Sans Unicode"/>
                          <a:cs typeface="Lucida Sans Unicode"/>
                        </a:rPr>
                        <a:t>3511</a:t>
                      </a:r>
                      <a:endParaRPr sz="1600">
                        <a:latin typeface="Lucida Sans Unicode"/>
                        <a:cs typeface="Lucida Sans Unicode"/>
                      </a:endParaRPr>
                    </a:p>
                  </a:txBody>
                  <a:tcPr marL="0" marR="0" marT="8723"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18714">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27940">
                        <a:lnSpc>
                          <a:spcPts val="1730"/>
                        </a:lnSpc>
                        <a:spcBef>
                          <a:spcPts val="570"/>
                        </a:spcBef>
                      </a:pPr>
                      <a:r>
                        <a:rPr sz="3700" baseline="13888" dirty="0">
                          <a:latin typeface="Lucida Sans Unicode"/>
                          <a:cs typeface="Lucida Sans Unicode"/>
                        </a:rPr>
                        <a:t>N</a:t>
                      </a:r>
                      <a:r>
                        <a:rPr sz="1600" dirty="0">
                          <a:latin typeface="Lucida Sans Unicode"/>
                          <a:cs typeface="Lucida Sans Unicode"/>
                        </a:rPr>
                        <a:t>4417</a:t>
                      </a:r>
                      <a:endParaRPr sz="1600">
                        <a:latin typeface="Lucida Sans Unicode"/>
                        <a:cs typeface="Lucida Sans Unicode"/>
                      </a:endParaRPr>
                    </a:p>
                  </a:txBody>
                  <a:tcPr marL="0" marR="0" marT="99445" marB="0">
                    <a:lnL w="9525">
                      <a:solidFill>
                        <a:srgbClr val="000000"/>
                      </a:solidFill>
                      <a:prstDash val="solid"/>
                    </a:lnL>
                    <a:lnR w="9525">
                      <a:solidFill>
                        <a:srgbClr val="000000"/>
                      </a:solidFill>
                      <a:prstDash val="solid"/>
                    </a:lnR>
                    <a:lnT w="9525">
                      <a:solidFill>
                        <a:srgbClr val="000000"/>
                      </a:solidFill>
                      <a:prstDash val="solid"/>
                    </a:lnT>
                    <a:lnB w="12700">
                      <a:solidFill>
                        <a:srgbClr val="000000"/>
                      </a:solidFill>
                      <a:prstDash val="solid"/>
                    </a:lnB>
                    <a:solidFill>
                      <a:srgbClr val="B51826"/>
                    </a:solidFill>
                  </a:tcPr>
                </a:tc>
                <a:tc>
                  <a:txBody>
                    <a:bodyPr/>
                    <a:lstStyle/>
                    <a:p>
                      <a:pPr>
                        <a:lnSpc>
                          <a:spcPct val="100000"/>
                        </a:lnSpc>
                      </a:pPr>
                      <a:endParaRPr sz="2200" dirty="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13" name="object 13"/>
          <p:cNvGrpSpPr/>
          <p:nvPr/>
        </p:nvGrpSpPr>
        <p:grpSpPr>
          <a:xfrm>
            <a:off x="9937940" y="1051903"/>
            <a:ext cx="850515" cy="1583267"/>
            <a:chOff x="7234235" y="1822998"/>
            <a:chExt cx="619125" cy="1152525"/>
          </a:xfrm>
        </p:grpSpPr>
        <p:sp>
          <p:nvSpPr>
            <p:cNvPr id="14" name="object 14"/>
            <p:cNvSpPr/>
            <p:nvPr/>
          </p:nvSpPr>
          <p:spPr>
            <a:xfrm>
              <a:off x="7238998" y="1827761"/>
              <a:ext cx="609600" cy="1143000"/>
            </a:xfrm>
            <a:custGeom>
              <a:avLst/>
              <a:gdLst/>
              <a:ahLst/>
              <a:cxnLst/>
              <a:rect l="l" t="t" r="r" b="b"/>
              <a:pathLst>
                <a:path w="609600" h="1143000">
                  <a:moveTo>
                    <a:pt x="609600" y="0"/>
                  </a:moveTo>
                  <a:lnTo>
                    <a:pt x="0" y="0"/>
                  </a:lnTo>
                  <a:lnTo>
                    <a:pt x="0" y="1142999"/>
                  </a:lnTo>
                  <a:lnTo>
                    <a:pt x="609600" y="1142999"/>
                  </a:lnTo>
                  <a:lnTo>
                    <a:pt x="609600" y="0"/>
                  </a:lnTo>
                  <a:close/>
                </a:path>
              </a:pathLst>
            </a:custGeom>
            <a:solidFill>
              <a:srgbClr val="B51826"/>
            </a:solidFill>
          </p:spPr>
          <p:txBody>
            <a:bodyPr wrap="square" lIns="0" tIns="0" rIns="0" bIns="0" rtlCol="0"/>
            <a:lstStyle/>
            <a:p>
              <a:endParaRPr sz="2473"/>
            </a:p>
          </p:txBody>
        </p:sp>
        <p:sp>
          <p:nvSpPr>
            <p:cNvPr id="15" name="object 15"/>
            <p:cNvSpPr/>
            <p:nvPr/>
          </p:nvSpPr>
          <p:spPr>
            <a:xfrm>
              <a:off x="7238998" y="1827761"/>
              <a:ext cx="609600" cy="1143000"/>
            </a:xfrm>
            <a:custGeom>
              <a:avLst/>
              <a:gdLst/>
              <a:ahLst/>
              <a:cxnLst/>
              <a:rect l="l" t="t" r="r" b="b"/>
              <a:pathLst>
                <a:path w="609600" h="1143000">
                  <a:moveTo>
                    <a:pt x="0" y="0"/>
                  </a:moveTo>
                  <a:lnTo>
                    <a:pt x="609599" y="0"/>
                  </a:lnTo>
                  <a:lnTo>
                    <a:pt x="609599" y="1142999"/>
                  </a:lnTo>
                  <a:lnTo>
                    <a:pt x="0" y="1142999"/>
                  </a:lnTo>
                  <a:lnTo>
                    <a:pt x="0" y="0"/>
                  </a:lnTo>
                  <a:close/>
                </a:path>
              </a:pathLst>
            </a:custGeom>
            <a:ln w="9524">
              <a:solidFill>
                <a:srgbClr val="000000"/>
              </a:solidFill>
            </a:ln>
          </p:spPr>
          <p:txBody>
            <a:bodyPr wrap="square" lIns="0" tIns="0" rIns="0" bIns="0" rtlCol="0"/>
            <a:lstStyle/>
            <a:p>
              <a:endParaRPr sz="2473"/>
            </a:p>
          </p:txBody>
        </p:sp>
      </p:grpSp>
      <p:grpSp>
        <p:nvGrpSpPr>
          <p:cNvPr id="16" name="object 16"/>
          <p:cNvGrpSpPr/>
          <p:nvPr/>
        </p:nvGrpSpPr>
        <p:grpSpPr>
          <a:xfrm>
            <a:off x="9937940" y="2726763"/>
            <a:ext cx="850515" cy="1059873"/>
            <a:chOff x="7234235" y="3042198"/>
            <a:chExt cx="619125" cy="771525"/>
          </a:xfrm>
        </p:grpSpPr>
        <p:sp>
          <p:nvSpPr>
            <p:cNvPr id="17" name="object 17"/>
            <p:cNvSpPr/>
            <p:nvPr/>
          </p:nvSpPr>
          <p:spPr>
            <a:xfrm>
              <a:off x="7238998" y="3046961"/>
              <a:ext cx="609600" cy="762000"/>
            </a:xfrm>
            <a:custGeom>
              <a:avLst/>
              <a:gdLst/>
              <a:ahLst/>
              <a:cxnLst/>
              <a:rect l="l" t="t" r="r" b="b"/>
              <a:pathLst>
                <a:path w="609600" h="762000">
                  <a:moveTo>
                    <a:pt x="609600" y="0"/>
                  </a:moveTo>
                  <a:lnTo>
                    <a:pt x="0" y="0"/>
                  </a:lnTo>
                  <a:lnTo>
                    <a:pt x="0" y="762000"/>
                  </a:lnTo>
                  <a:lnTo>
                    <a:pt x="609600" y="762000"/>
                  </a:lnTo>
                  <a:lnTo>
                    <a:pt x="609600" y="0"/>
                  </a:lnTo>
                  <a:close/>
                </a:path>
              </a:pathLst>
            </a:custGeom>
            <a:solidFill>
              <a:srgbClr val="B51826"/>
            </a:solidFill>
          </p:spPr>
          <p:txBody>
            <a:bodyPr wrap="square" lIns="0" tIns="0" rIns="0" bIns="0" rtlCol="0"/>
            <a:lstStyle/>
            <a:p>
              <a:endParaRPr sz="2473"/>
            </a:p>
          </p:txBody>
        </p:sp>
        <p:sp>
          <p:nvSpPr>
            <p:cNvPr id="18" name="object 18"/>
            <p:cNvSpPr/>
            <p:nvPr/>
          </p:nvSpPr>
          <p:spPr>
            <a:xfrm>
              <a:off x="7238998" y="3046961"/>
              <a:ext cx="609600" cy="762000"/>
            </a:xfrm>
            <a:custGeom>
              <a:avLst/>
              <a:gdLst/>
              <a:ahLst/>
              <a:cxnLst/>
              <a:rect l="l" t="t" r="r" b="b"/>
              <a:pathLst>
                <a:path w="609600" h="762000">
                  <a:moveTo>
                    <a:pt x="0" y="0"/>
                  </a:moveTo>
                  <a:lnTo>
                    <a:pt x="609599" y="0"/>
                  </a:lnTo>
                  <a:lnTo>
                    <a:pt x="609599" y="761999"/>
                  </a:lnTo>
                  <a:lnTo>
                    <a:pt x="0" y="761999"/>
                  </a:lnTo>
                  <a:lnTo>
                    <a:pt x="0" y="0"/>
                  </a:lnTo>
                  <a:close/>
                </a:path>
              </a:pathLst>
            </a:custGeom>
            <a:ln w="9524">
              <a:solidFill>
                <a:srgbClr val="000000"/>
              </a:solidFill>
            </a:ln>
          </p:spPr>
          <p:txBody>
            <a:bodyPr wrap="square" lIns="0" tIns="0" rIns="0" bIns="0" rtlCol="0"/>
            <a:lstStyle/>
            <a:p>
              <a:endParaRPr sz="2473"/>
            </a:p>
          </p:txBody>
        </p:sp>
      </p:grpSp>
      <p:grpSp>
        <p:nvGrpSpPr>
          <p:cNvPr id="19" name="object 19"/>
          <p:cNvGrpSpPr/>
          <p:nvPr/>
        </p:nvGrpSpPr>
        <p:grpSpPr>
          <a:xfrm>
            <a:off x="9937940" y="3878230"/>
            <a:ext cx="850515" cy="745836"/>
            <a:chOff x="7234235" y="3880398"/>
            <a:chExt cx="619125" cy="542925"/>
          </a:xfrm>
        </p:grpSpPr>
        <p:sp>
          <p:nvSpPr>
            <p:cNvPr id="20" name="object 20"/>
            <p:cNvSpPr/>
            <p:nvPr/>
          </p:nvSpPr>
          <p:spPr>
            <a:xfrm>
              <a:off x="7238998" y="3885160"/>
              <a:ext cx="609600" cy="533400"/>
            </a:xfrm>
            <a:custGeom>
              <a:avLst/>
              <a:gdLst/>
              <a:ahLst/>
              <a:cxnLst/>
              <a:rect l="l" t="t" r="r" b="b"/>
              <a:pathLst>
                <a:path w="609600" h="533400">
                  <a:moveTo>
                    <a:pt x="609600" y="0"/>
                  </a:moveTo>
                  <a:lnTo>
                    <a:pt x="0" y="0"/>
                  </a:lnTo>
                  <a:lnTo>
                    <a:pt x="0" y="533400"/>
                  </a:lnTo>
                  <a:lnTo>
                    <a:pt x="609600" y="533400"/>
                  </a:lnTo>
                  <a:lnTo>
                    <a:pt x="609600" y="0"/>
                  </a:lnTo>
                  <a:close/>
                </a:path>
              </a:pathLst>
            </a:custGeom>
            <a:solidFill>
              <a:srgbClr val="B51826"/>
            </a:solidFill>
          </p:spPr>
          <p:txBody>
            <a:bodyPr wrap="square" lIns="0" tIns="0" rIns="0" bIns="0" rtlCol="0"/>
            <a:lstStyle/>
            <a:p>
              <a:endParaRPr sz="2473"/>
            </a:p>
          </p:txBody>
        </p:sp>
        <p:sp>
          <p:nvSpPr>
            <p:cNvPr id="21" name="object 21"/>
            <p:cNvSpPr/>
            <p:nvPr/>
          </p:nvSpPr>
          <p:spPr>
            <a:xfrm>
              <a:off x="7238998" y="3885160"/>
              <a:ext cx="609600" cy="533400"/>
            </a:xfrm>
            <a:custGeom>
              <a:avLst/>
              <a:gdLst/>
              <a:ahLst/>
              <a:cxnLst/>
              <a:rect l="l" t="t" r="r" b="b"/>
              <a:pathLst>
                <a:path w="609600" h="533400">
                  <a:moveTo>
                    <a:pt x="0" y="0"/>
                  </a:moveTo>
                  <a:lnTo>
                    <a:pt x="609599" y="0"/>
                  </a:lnTo>
                  <a:lnTo>
                    <a:pt x="609599" y="533399"/>
                  </a:lnTo>
                  <a:lnTo>
                    <a:pt x="0" y="533399"/>
                  </a:lnTo>
                  <a:lnTo>
                    <a:pt x="0" y="0"/>
                  </a:lnTo>
                  <a:close/>
                </a:path>
              </a:pathLst>
            </a:custGeom>
            <a:ln w="9524">
              <a:solidFill>
                <a:srgbClr val="000000"/>
              </a:solidFill>
            </a:ln>
          </p:spPr>
          <p:txBody>
            <a:bodyPr wrap="square" lIns="0" tIns="0" rIns="0" bIns="0" rtlCol="0"/>
            <a:lstStyle/>
            <a:p>
              <a:endParaRPr sz="2473"/>
            </a:p>
          </p:txBody>
        </p:sp>
      </p:grpSp>
      <p:grpSp>
        <p:nvGrpSpPr>
          <p:cNvPr id="22" name="object 22"/>
          <p:cNvGrpSpPr/>
          <p:nvPr/>
        </p:nvGrpSpPr>
        <p:grpSpPr>
          <a:xfrm>
            <a:off x="9937940" y="6390521"/>
            <a:ext cx="850515" cy="431800"/>
            <a:chOff x="7234235" y="5709198"/>
            <a:chExt cx="619125" cy="314325"/>
          </a:xfrm>
        </p:grpSpPr>
        <p:sp>
          <p:nvSpPr>
            <p:cNvPr id="23" name="object 23"/>
            <p:cNvSpPr/>
            <p:nvPr/>
          </p:nvSpPr>
          <p:spPr>
            <a:xfrm>
              <a:off x="7238998" y="5713961"/>
              <a:ext cx="609600" cy="304800"/>
            </a:xfrm>
            <a:custGeom>
              <a:avLst/>
              <a:gdLst/>
              <a:ahLst/>
              <a:cxnLst/>
              <a:rect l="l" t="t" r="r" b="b"/>
              <a:pathLst>
                <a:path w="609600" h="304800">
                  <a:moveTo>
                    <a:pt x="609600" y="0"/>
                  </a:moveTo>
                  <a:lnTo>
                    <a:pt x="0" y="0"/>
                  </a:lnTo>
                  <a:lnTo>
                    <a:pt x="0" y="304800"/>
                  </a:lnTo>
                  <a:lnTo>
                    <a:pt x="609600" y="304800"/>
                  </a:lnTo>
                  <a:lnTo>
                    <a:pt x="609600" y="0"/>
                  </a:lnTo>
                  <a:close/>
                </a:path>
              </a:pathLst>
            </a:custGeom>
            <a:solidFill>
              <a:srgbClr val="B51826"/>
            </a:solidFill>
          </p:spPr>
          <p:txBody>
            <a:bodyPr wrap="square" lIns="0" tIns="0" rIns="0" bIns="0" rtlCol="0"/>
            <a:lstStyle/>
            <a:p>
              <a:endParaRPr sz="2473"/>
            </a:p>
          </p:txBody>
        </p:sp>
        <p:sp>
          <p:nvSpPr>
            <p:cNvPr id="24" name="object 24"/>
            <p:cNvSpPr/>
            <p:nvPr/>
          </p:nvSpPr>
          <p:spPr>
            <a:xfrm>
              <a:off x="7238998" y="5713961"/>
              <a:ext cx="609600" cy="304800"/>
            </a:xfrm>
            <a:custGeom>
              <a:avLst/>
              <a:gdLst/>
              <a:ahLst/>
              <a:cxnLst/>
              <a:rect l="l" t="t" r="r" b="b"/>
              <a:pathLst>
                <a:path w="609600" h="304800">
                  <a:moveTo>
                    <a:pt x="0" y="0"/>
                  </a:moveTo>
                  <a:lnTo>
                    <a:pt x="609599" y="0"/>
                  </a:lnTo>
                  <a:lnTo>
                    <a:pt x="609599" y="304800"/>
                  </a:lnTo>
                  <a:lnTo>
                    <a:pt x="0" y="304800"/>
                  </a:lnTo>
                  <a:lnTo>
                    <a:pt x="0" y="0"/>
                  </a:lnTo>
                  <a:close/>
                </a:path>
              </a:pathLst>
            </a:custGeom>
            <a:ln w="9524">
              <a:solidFill>
                <a:srgbClr val="000000"/>
              </a:solidFill>
            </a:ln>
          </p:spPr>
          <p:txBody>
            <a:bodyPr wrap="square" lIns="0" tIns="0" rIns="0" bIns="0" rtlCol="0"/>
            <a:lstStyle/>
            <a:p>
              <a:endParaRPr sz="2473"/>
            </a:p>
          </p:txBody>
        </p:sp>
      </p:grpSp>
      <p:sp>
        <p:nvSpPr>
          <p:cNvPr id="25" name="object 25"/>
          <p:cNvSpPr txBox="1"/>
          <p:nvPr/>
        </p:nvSpPr>
        <p:spPr>
          <a:xfrm>
            <a:off x="9839981" y="4822958"/>
            <a:ext cx="718145" cy="1257018"/>
          </a:xfrm>
          <a:prstGeom prst="rect">
            <a:avLst/>
          </a:prstGeom>
        </p:spPr>
        <p:txBody>
          <a:bodyPr vert="vert270" wrap="square" lIns="0" tIns="0" rIns="0" bIns="0" rtlCol="0">
            <a:spAutoFit/>
          </a:bodyPr>
          <a:lstStyle/>
          <a:p>
            <a:pPr marL="17446">
              <a:lnSpc>
                <a:spcPts val="5603"/>
              </a:lnSpc>
            </a:pPr>
            <a:r>
              <a:rPr sz="4945" dirty="0">
                <a:latin typeface="Arial MT"/>
                <a:cs typeface="Arial MT"/>
              </a:rPr>
              <a:t>.</a:t>
            </a:r>
            <a:r>
              <a:rPr sz="4945" spc="-48" dirty="0">
                <a:latin typeface="Arial MT"/>
                <a:cs typeface="Arial MT"/>
              </a:rPr>
              <a:t> </a:t>
            </a:r>
            <a:r>
              <a:rPr sz="4945" dirty="0">
                <a:latin typeface="Arial MT"/>
                <a:cs typeface="Arial MT"/>
              </a:rPr>
              <a:t>.</a:t>
            </a:r>
            <a:r>
              <a:rPr sz="4945" spc="-41" dirty="0">
                <a:latin typeface="Arial MT"/>
                <a:cs typeface="Arial MT"/>
              </a:rPr>
              <a:t> </a:t>
            </a:r>
            <a:r>
              <a:rPr sz="4945" dirty="0">
                <a:latin typeface="Arial MT"/>
                <a:cs typeface="Arial MT"/>
              </a:rPr>
              <a:t>.</a:t>
            </a:r>
            <a:r>
              <a:rPr sz="4945" spc="-48" dirty="0">
                <a:latin typeface="Arial MT"/>
                <a:cs typeface="Arial MT"/>
              </a:rPr>
              <a:t> </a:t>
            </a:r>
            <a:r>
              <a:rPr sz="4945" dirty="0">
                <a:latin typeface="Arial MT"/>
                <a:cs typeface="Arial MT"/>
              </a:rPr>
              <a:t>.</a:t>
            </a:r>
            <a:endParaRPr sz="4945">
              <a:latin typeface="Arial MT"/>
              <a:cs typeface="Arial MT"/>
            </a:endParaRPr>
          </a:p>
        </p:txBody>
      </p:sp>
      <p:graphicFrame>
        <p:nvGraphicFramePr>
          <p:cNvPr id="26" name="object 26"/>
          <p:cNvGraphicFramePr>
            <a:graphicFrameLocks noGrp="1"/>
          </p:cNvGraphicFramePr>
          <p:nvPr/>
        </p:nvGraphicFramePr>
        <p:xfrm>
          <a:off x="12031516" y="947224"/>
          <a:ext cx="1046788" cy="6487877"/>
        </p:xfrm>
        <a:graphic>
          <a:graphicData uri="http://schemas.openxmlformats.org/drawingml/2006/table">
            <a:tbl>
              <a:tblPr firstRow="1" bandRow="1">
                <a:tableStyleId>{2D5ABB26-0587-4C30-8999-92F81FD0307C}</a:tableStyleId>
              </a:tblPr>
              <a:tblGrid>
                <a:gridCol w="104679">
                  <a:extLst>
                    <a:ext uri="{9D8B030D-6E8A-4147-A177-3AD203B41FA5}">
                      <a16:colId xmlns:a16="http://schemas.microsoft.com/office/drawing/2014/main" val="20000"/>
                    </a:ext>
                  </a:extLst>
                </a:gridCol>
                <a:gridCol w="837430">
                  <a:extLst>
                    <a:ext uri="{9D8B030D-6E8A-4147-A177-3AD203B41FA5}">
                      <a16:colId xmlns:a16="http://schemas.microsoft.com/office/drawing/2014/main" val="20001"/>
                    </a:ext>
                  </a:extLst>
                </a:gridCol>
                <a:gridCol w="104679">
                  <a:extLst>
                    <a:ext uri="{9D8B030D-6E8A-4147-A177-3AD203B41FA5}">
                      <a16:colId xmlns:a16="http://schemas.microsoft.com/office/drawing/2014/main" val="20002"/>
                    </a:ext>
                  </a:extLst>
                </a:gridCol>
              </a:tblGrid>
              <a:tr h="6049562">
                <a:tc gridSpan="3">
                  <a:txBody>
                    <a:bodyPr/>
                    <a:lstStyle/>
                    <a:p>
                      <a:pPr>
                        <a:lnSpc>
                          <a:spcPct val="100000"/>
                        </a:lnSpc>
                        <a:spcBef>
                          <a:spcPts val="50"/>
                        </a:spcBef>
                      </a:pPr>
                      <a:endParaRPr sz="4700">
                        <a:latin typeface="Times New Roman"/>
                        <a:cs typeface="Times New Roman"/>
                      </a:endParaRPr>
                    </a:p>
                    <a:p>
                      <a:pPr marL="243840">
                        <a:lnSpc>
                          <a:spcPct val="100000"/>
                        </a:lnSpc>
                      </a:pPr>
                      <a:r>
                        <a:rPr sz="2500" dirty="0">
                          <a:latin typeface="Lucida Sans Unicode"/>
                          <a:cs typeface="Lucida Sans Unicode"/>
                        </a:rPr>
                        <a:t>N</a:t>
                      </a:r>
                      <a:r>
                        <a:rPr sz="2500" baseline="-20833" dirty="0">
                          <a:latin typeface="Lucida Sans Unicode"/>
                          <a:cs typeface="Lucida Sans Unicode"/>
                        </a:rPr>
                        <a:t>0</a:t>
                      </a:r>
                      <a:endParaRPr sz="2500" baseline="-20833">
                        <a:latin typeface="Lucida Sans Unicode"/>
                        <a:cs typeface="Lucida Sans Unicode"/>
                      </a:endParaRPr>
                    </a:p>
                    <a:p>
                      <a:pPr>
                        <a:lnSpc>
                          <a:spcPct val="100000"/>
                        </a:lnSpc>
                        <a:spcBef>
                          <a:spcPts val="45"/>
                        </a:spcBef>
                      </a:pPr>
                      <a:endParaRPr sz="2800">
                        <a:latin typeface="Times New Roman"/>
                        <a:cs typeface="Times New Roman"/>
                      </a:endParaRPr>
                    </a:p>
                    <a:p>
                      <a:pPr marL="243840" marR="245110">
                        <a:lnSpc>
                          <a:spcPct val="263900"/>
                        </a:lnSpc>
                      </a:pPr>
                      <a:r>
                        <a:rPr sz="2500" dirty="0">
                          <a:latin typeface="Lucida Sans Unicode"/>
                          <a:cs typeface="Lucida Sans Unicode"/>
                        </a:rPr>
                        <a:t>N</a:t>
                      </a:r>
                      <a:r>
                        <a:rPr sz="2500" baseline="-20833" dirty="0">
                          <a:latin typeface="Lucida Sans Unicode"/>
                          <a:cs typeface="Lucida Sans Unicode"/>
                        </a:rPr>
                        <a:t>1  </a:t>
                      </a:r>
                      <a:r>
                        <a:rPr sz="2500" dirty="0">
                          <a:latin typeface="Lucida Sans Unicode"/>
                          <a:cs typeface="Lucida Sans Unicode"/>
                        </a:rPr>
                        <a:t>N</a:t>
                      </a:r>
                      <a:r>
                        <a:rPr sz="2500" baseline="-20833" dirty="0">
                          <a:latin typeface="Lucida Sans Unicode"/>
                          <a:cs typeface="Lucida Sans Unicode"/>
                        </a:rPr>
                        <a:t>2</a:t>
                      </a:r>
                      <a:endParaRPr sz="2500" baseline="-20833">
                        <a:latin typeface="Lucida Sans Unicode"/>
                        <a:cs typeface="Lucida Sans Unicode"/>
                      </a:endParaRPr>
                    </a:p>
                    <a:p>
                      <a:pPr>
                        <a:lnSpc>
                          <a:spcPct val="100000"/>
                        </a:lnSpc>
                      </a:pPr>
                      <a:endParaRPr sz="3300">
                        <a:latin typeface="Times New Roman"/>
                        <a:cs typeface="Times New Roman"/>
                      </a:endParaRPr>
                    </a:p>
                    <a:p>
                      <a:pPr>
                        <a:lnSpc>
                          <a:spcPct val="100000"/>
                        </a:lnSpc>
                      </a:pPr>
                      <a:endParaRPr sz="3300">
                        <a:latin typeface="Times New Roman"/>
                        <a:cs typeface="Times New Roman"/>
                      </a:endParaRPr>
                    </a:p>
                    <a:p>
                      <a:pPr>
                        <a:lnSpc>
                          <a:spcPct val="100000"/>
                        </a:lnSpc>
                      </a:pPr>
                      <a:endParaRPr sz="3300">
                        <a:latin typeface="Times New Roman"/>
                        <a:cs typeface="Times New Roman"/>
                      </a:endParaRPr>
                    </a:p>
                    <a:p>
                      <a:pPr>
                        <a:lnSpc>
                          <a:spcPct val="100000"/>
                        </a:lnSpc>
                      </a:pPr>
                      <a:endParaRPr sz="4200">
                        <a:latin typeface="Times New Roman"/>
                        <a:cs typeface="Times New Roman"/>
                      </a:endParaRPr>
                    </a:p>
                    <a:p>
                      <a:pPr marL="104139">
                        <a:lnSpc>
                          <a:spcPct val="100000"/>
                        </a:lnSpc>
                      </a:pPr>
                      <a:r>
                        <a:rPr sz="3700" baseline="13888" dirty="0">
                          <a:latin typeface="Lucida Sans Unicode"/>
                          <a:cs typeface="Lucida Sans Unicode"/>
                        </a:rPr>
                        <a:t>N</a:t>
                      </a:r>
                      <a:r>
                        <a:rPr sz="1600" dirty="0">
                          <a:latin typeface="Lucida Sans Unicode"/>
                          <a:cs typeface="Lucida Sans Unicode"/>
                        </a:rPr>
                        <a:t>3510</a:t>
                      </a:r>
                      <a:endParaRPr sz="1600">
                        <a:latin typeface="Lucida Sans Unicode"/>
                        <a:cs typeface="Lucida Sans Unicode"/>
                      </a:endParaRPr>
                    </a:p>
                  </a:txBody>
                  <a:tcPr marL="0" marR="0" marT="8723"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18714">
                <a:tc>
                  <a:txBody>
                    <a:bodyPr/>
                    <a:lstStyle/>
                    <a:p>
                      <a:pPr>
                        <a:lnSpc>
                          <a:spcPct val="100000"/>
                        </a:lnSpc>
                      </a:pPr>
                      <a:endParaRPr sz="2200">
                        <a:latin typeface="Times New Roman"/>
                        <a:cs typeface="Times New Roman"/>
                      </a:endParaRPr>
                    </a:p>
                  </a:txBody>
                  <a:tcPr marL="0" marR="0" marT="0" marB="0">
                    <a:lnL w="9525">
                      <a:solidFill>
                        <a:srgbClr val="000000"/>
                      </a:solidFill>
                      <a:prstDash val="solid"/>
                    </a:lnL>
                    <a:lnR w="9525">
                      <a:solidFill>
                        <a:srgbClr val="000000"/>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27940">
                        <a:lnSpc>
                          <a:spcPts val="1730"/>
                        </a:lnSpc>
                        <a:spcBef>
                          <a:spcPts val="570"/>
                        </a:spcBef>
                      </a:pPr>
                      <a:r>
                        <a:rPr sz="3700" baseline="13888" dirty="0">
                          <a:latin typeface="Lucida Sans Unicode"/>
                          <a:cs typeface="Lucida Sans Unicode"/>
                        </a:rPr>
                        <a:t>N</a:t>
                      </a:r>
                      <a:r>
                        <a:rPr sz="1600" dirty="0">
                          <a:latin typeface="Lucida Sans Unicode"/>
                          <a:cs typeface="Lucida Sans Unicode"/>
                        </a:rPr>
                        <a:t>4416</a:t>
                      </a:r>
                    </a:p>
                  </a:txBody>
                  <a:tcPr marL="0" marR="0" marT="99445" marB="0">
                    <a:lnL w="9525">
                      <a:solidFill>
                        <a:srgbClr val="000000"/>
                      </a:solidFill>
                      <a:prstDash val="solid"/>
                    </a:lnL>
                    <a:lnR w="9525">
                      <a:solidFill>
                        <a:srgbClr val="000000"/>
                      </a:solidFill>
                      <a:prstDash val="solid"/>
                    </a:lnR>
                    <a:lnT w="9525">
                      <a:solidFill>
                        <a:srgbClr val="000000"/>
                      </a:solidFill>
                      <a:prstDash val="solid"/>
                    </a:lnT>
                    <a:lnB w="12700">
                      <a:solidFill>
                        <a:srgbClr val="000000"/>
                      </a:solidFill>
                      <a:prstDash val="solid"/>
                    </a:lnB>
                    <a:solidFill>
                      <a:srgbClr val="B51826"/>
                    </a:solidFill>
                  </a:tcPr>
                </a:tc>
                <a:tc>
                  <a:txBody>
                    <a:bodyPr/>
                    <a:lstStyle/>
                    <a:p>
                      <a:pPr>
                        <a:lnSpc>
                          <a:spcPct val="100000"/>
                        </a:lnSpc>
                      </a:pPr>
                      <a:endParaRPr sz="2200" dirty="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27" name="object 27"/>
          <p:cNvGrpSpPr/>
          <p:nvPr/>
        </p:nvGrpSpPr>
        <p:grpSpPr>
          <a:xfrm>
            <a:off x="12136194" y="1051903"/>
            <a:ext cx="850515" cy="1583267"/>
            <a:chOff x="8834435" y="1822998"/>
            <a:chExt cx="619125" cy="1152525"/>
          </a:xfrm>
        </p:grpSpPr>
        <p:sp>
          <p:nvSpPr>
            <p:cNvPr id="28" name="object 28"/>
            <p:cNvSpPr/>
            <p:nvPr/>
          </p:nvSpPr>
          <p:spPr>
            <a:xfrm>
              <a:off x="8839198" y="1827761"/>
              <a:ext cx="609600" cy="1143000"/>
            </a:xfrm>
            <a:custGeom>
              <a:avLst/>
              <a:gdLst/>
              <a:ahLst/>
              <a:cxnLst/>
              <a:rect l="l" t="t" r="r" b="b"/>
              <a:pathLst>
                <a:path w="609600" h="1143000">
                  <a:moveTo>
                    <a:pt x="609600" y="0"/>
                  </a:moveTo>
                  <a:lnTo>
                    <a:pt x="0" y="0"/>
                  </a:lnTo>
                  <a:lnTo>
                    <a:pt x="0" y="1142999"/>
                  </a:lnTo>
                  <a:lnTo>
                    <a:pt x="609600" y="1142999"/>
                  </a:lnTo>
                  <a:lnTo>
                    <a:pt x="609600" y="0"/>
                  </a:lnTo>
                  <a:close/>
                </a:path>
              </a:pathLst>
            </a:custGeom>
            <a:solidFill>
              <a:srgbClr val="B51826"/>
            </a:solidFill>
          </p:spPr>
          <p:txBody>
            <a:bodyPr wrap="square" lIns="0" tIns="0" rIns="0" bIns="0" rtlCol="0"/>
            <a:lstStyle/>
            <a:p>
              <a:endParaRPr sz="2473"/>
            </a:p>
          </p:txBody>
        </p:sp>
        <p:sp>
          <p:nvSpPr>
            <p:cNvPr id="29" name="object 29"/>
            <p:cNvSpPr/>
            <p:nvPr/>
          </p:nvSpPr>
          <p:spPr>
            <a:xfrm>
              <a:off x="8839198" y="1827761"/>
              <a:ext cx="609600" cy="1143000"/>
            </a:xfrm>
            <a:custGeom>
              <a:avLst/>
              <a:gdLst/>
              <a:ahLst/>
              <a:cxnLst/>
              <a:rect l="l" t="t" r="r" b="b"/>
              <a:pathLst>
                <a:path w="609600" h="1143000">
                  <a:moveTo>
                    <a:pt x="0" y="0"/>
                  </a:moveTo>
                  <a:lnTo>
                    <a:pt x="609599" y="0"/>
                  </a:lnTo>
                  <a:lnTo>
                    <a:pt x="609599" y="1142999"/>
                  </a:lnTo>
                  <a:lnTo>
                    <a:pt x="0" y="1142999"/>
                  </a:lnTo>
                  <a:lnTo>
                    <a:pt x="0" y="0"/>
                  </a:lnTo>
                  <a:close/>
                </a:path>
              </a:pathLst>
            </a:custGeom>
            <a:ln w="9524">
              <a:solidFill>
                <a:srgbClr val="000000"/>
              </a:solidFill>
            </a:ln>
          </p:spPr>
          <p:txBody>
            <a:bodyPr wrap="square" lIns="0" tIns="0" rIns="0" bIns="0" rtlCol="0"/>
            <a:lstStyle/>
            <a:p>
              <a:endParaRPr sz="2473"/>
            </a:p>
          </p:txBody>
        </p:sp>
      </p:grpSp>
      <p:grpSp>
        <p:nvGrpSpPr>
          <p:cNvPr id="30" name="object 30"/>
          <p:cNvGrpSpPr/>
          <p:nvPr/>
        </p:nvGrpSpPr>
        <p:grpSpPr>
          <a:xfrm>
            <a:off x="12136194" y="2726763"/>
            <a:ext cx="850515" cy="1059873"/>
            <a:chOff x="8834435" y="3042198"/>
            <a:chExt cx="619125" cy="771525"/>
          </a:xfrm>
        </p:grpSpPr>
        <p:sp>
          <p:nvSpPr>
            <p:cNvPr id="31" name="object 31"/>
            <p:cNvSpPr/>
            <p:nvPr/>
          </p:nvSpPr>
          <p:spPr>
            <a:xfrm>
              <a:off x="8839198" y="3046961"/>
              <a:ext cx="609600" cy="762000"/>
            </a:xfrm>
            <a:custGeom>
              <a:avLst/>
              <a:gdLst/>
              <a:ahLst/>
              <a:cxnLst/>
              <a:rect l="l" t="t" r="r" b="b"/>
              <a:pathLst>
                <a:path w="609600" h="762000">
                  <a:moveTo>
                    <a:pt x="609600" y="0"/>
                  </a:moveTo>
                  <a:lnTo>
                    <a:pt x="0" y="0"/>
                  </a:lnTo>
                  <a:lnTo>
                    <a:pt x="0" y="762000"/>
                  </a:lnTo>
                  <a:lnTo>
                    <a:pt x="609600" y="762000"/>
                  </a:lnTo>
                  <a:lnTo>
                    <a:pt x="609600" y="0"/>
                  </a:lnTo>
                  <a:close/>
                </a:path>
              </a:pathLst>
            </a:custGeom>
            <a:solidFill>
              <a:srgbClr val="B51826"/>
            </a:solidFill>
          </p:spPr>
          <p:txBody>
            <a:bodyPr wrap="square" lIns="0" tIns="0" rIns="0" bIns="0" rtlCol="0"/>
            <a:lstStyle/>
            <a:p>
              <a:endParaRPr sz="2473"/>
            </a:p>
          </p:txBody>
        </p:sp>
        <p:sp>
          <p:nvSpPr>
            <p:cNvPr id="32" name="object 32"/>
            <p:cNvSpPr/>
            <p:nvPr/>
          </p:nvSpPr>
          <p:spPr>
            <a:xfrm>
              <a:off x="8839198" y="3046961"/>
              <a:ext cx="609600" cy="762000"/>
            </a:xfrm>
            <a:custGeom>
              <a:avLst/>
              <a:gdLst/>
              <a:ahLst/>
              <a:cxnLst/>
              <a:rect l="l" t="t" r="r" b="b"/>
              <a:pathLst>
                <a:path w="609600" h="762000">
                  <a:moveTo>
                    <a:pt x="0" y="0"/>
                  </a:moveTo>
                  <a:lnTo>
                    <a:pt x="609599" y="0"/>
                  </a:lnTo>
                  <a:lnTo>
                    <a:pt x="609599" y="761999"/>
                  </a:lnTo>
                  <a:lnTo>
                    <a:pt x="0" y="761999"/>
                  </a:lnTo>
                  <a:lnTo>
                    <a:pt x="0" y="0"/>
                  </a:lnTo>
                  <a:close/>
                </a:path>
              </a:pathLst>
            </a:custGeom>
            <a:ln w="9524">
              <a:solidFill>
                <a:srgbClr val="000000"/>
              </a:solidFill>
            </a:ln>
          </p:spPr>
          <p:txBody>
            <a:bodyPr wrap="square" lIns="0" tIns="0" rIns="0" bIns="0" rtlCol="0"/>
            <a:lstStyle/>
            <a:p>
              <a:endParaRPr sz="2473"/>
            </a:p>
          </p:txBody>
        </p:sp>
      </p:grpSp>
      <p:grpSp>
        <p:nvGrpSpPr>
          <p:cNvPr id="33" name="object 33"/>
          <p:cNvGrpSpPr/>
          <p:nvPr/>
        </p:nvGrpSpPr>
        <p:grpSpPr>
          <a:xfrm>
            <a:off x="12136194" y="3878230"/>
            <a:ext cx="850515" cy="745836"/>
            <a:chOff x="8834435" y="3880398"/>
            <a:chExt cx="619125" cy="542925"/>
          </a:xfrm>
        </p:grpSpPr>
        <p:sp>
          <p:nvSpPr>
            <p:cNvPr id="34" name="object 34"/>
            <p:cNvSpPr/>
            <p:nvPr/>
          </p:nvSpPr>
          <p:spPr>
            <a:xfrm>
              <a:off x="8839198" y="3885160"/>
              <a:ext cx="609600" cy="533400"/>
            </a:xfrm>
            <a:custGeom>
              <a:avLst/>
              <a:gdLst/>
              <a:ahLst/>
              <a:cxnLst/>
              <a:rect l="l" t="t" r="r" b="b"/>
              <a:pathLst>
                <a:path w="609600" h="533400">
                  <a:moveTo>
                    <a:pt x="609600" y="0"/>
                  </a:moveTo>
                  <a:lnTo>
                    <a:pt x="0" y="0"/>
                  </a:lnTo>
                  <a:lnTo>
                    <a:pt x="0" y="533400"/>
                  </a:lnTo>
                  <a:lnTo>
                    <a:pt x="609600" y="533400"/>
                  </a:lnTo>
                  <a:lnTo>
                    <a:pt x="609600" y="0"/>
                  </a:lnTo>
                  <a:close/>
                </a:path>
              </a:pathLst>
            </a:custGeom>
            <a:solidFill>
              <a:srgbClr val="B51826"/>
            </a:solidFill>
          </p:spPr>
          <p:txBody>
            <a:bodyPr wrap="square" lIns="0" tIns="0" rIns="0" bIns="0" rtlCol="0"/>
            <a:lstStyle/>
            <a:p>
              <a:endParaRPr sz="2473"/>
            </a:p>
          </p:txBody>
        </p:sp>
        <p:sp>
          <p:nvSpPr>
            <p:cNvPr id="35" name="object 35"/>
            <p:cNvSpPr/>
            <p:nvPr/>
          </p:nvSpPr>
          <p:spPr>
            <a:xfrm>
              <a:off x="8839198" y="3885160"/>
              <a:ext cx="609600" cy="533400"/>
            </a:xfrm>
            <a:custGeom>
              <a:avLst/>
              <a:gdLst/>
              <a:ahLst/>
              <a:cxnLst/>
              <a:rect l="l" t="t" r="r" b="b"/>
              <a:pathLst>
                <a:path w="609600" h="533400">
                  <a:moveTo>
                    <a:pt x="0" y="0"/>
                  </a:moveTo>
                  <a:lnTo>
                    <a:pt x="609599" y="0"/>
                  </a:lnTo>
                  <a:lnTo>
                    <a:pt x="609599" y="533399"/>
                  </a:lnTo>
                  <a:lnTo>
                    <a:pt x="0" y="533399"/>
                  </a:lnTo>
                  <a:lnTo>
                    <a:pt x="0" y="0"/>
                  </a:lnTo>
                  <a:close/>
                </a:path>
              </a:pathLst>
            </a:custGeom>
            <a:ln w="9524">
              <a:solidFill>
                <a:srgbClr val="000000"/>
              </a:solidFill>
            </a:ln>
          </p:spPr>
          <p:txBody>
            <a:bodyPr wrap="square" lIns="0" tIns="0" rIns="0" bIns="0" rtlCol="0"/>
            <a:lstStyle/>
            <a:p>
              <a:endParaRPr sz="2473"/>
            </a:p>
          </p:txBody>
        </p:sp>
      </p:grpSp>
      <p:grpSp>
        <p:nvGrpSpPr>
          <p:cNvPr id="36" name="object 36"/>
          <p:cNvGrpSpPr/>
          <p:nvPr/>
        </p:nvGrpSpPr>
        <p:grpSpPr>
          <a:xfrm>
            <a:off x="12136194" y="6390521"/>
            <a:ext cx="850515" cy="431800"/>
            <a:chOff x="8834435" y="5709198"/>
            <a:chExt cx="619125" cy="314325"/>
          </a:xfrm>
        </p:grpSpPr>
        <p:sp>
          <p:nvSpPr>
            <p:cNvPr id="37" name="object 37"/>
            <p:cNvSpPr/>
            <p:nvPr/>
          </p:nvSpPr>
          <p:spPr>
            <a:xfrm>
              <a:off x="8839198" y="5713961"/>
              <a:ext cx="609600" cy="304800"/>
            </a:xfrm>
            <a:custGeom>
              <a:avLst/>
              <a:gdLst/>
              <a:ahLst/>
              <a:cxnLst/>
              <a:rect l="l" t="t" r="r" b="b"/>
              <a:pathLst>
                <a:path w="609600" h="304800">
                  <a:moveTo>
                    <a:pt x="609600" y="0"/>
                  </a:moveTo>
                  <a:lnTo>
                    <a:pt x="0" y="0"/>
                  </a:lnTo>
                  <a:lnTo>
                    <a:pt x="0" y="304800"/>
                  </a:lnTo>
                  <a:lnTo>
                    <a:pt x="609600" y="304800"/>
                  </a:lnTo>
                  <a:lnTo>
                    <a:pt x="609600" y="0"/>
                  </a:lnTo>
                  <a:close/>
                </a:path>
              </a:pathLst>
            </a:custGeom>
            <a:solidFill>
              <a:srgbClr val="B51826"/>
            </a:solidFill>
          </p:spPr>
          <p:txBody>
            <a:bodyPr wrap="square" lIns="0" tIns="0" rIns="0" bIns="0" rtlCol="0"/>
            <a:lstStyle/>
            <a:p>
              <a:endParaRPr sz="2473"/>
            </a:p>
          </p:txBody>
        </p:sp>
        <p:sp>
          <p:nvSpPr>
            <p:cNvPr id="38" name="object 38"/>
            <p:cNvSpPr/>
            <p:nvPr/>
          </p:nvSpPr>
          <p:spPr>
            <a:xfrm>
              <a:off x="8839198" y="5713961"/>
              <a:ext cx="609600" cy="304800"/>
            </a:xfrm>
            <a:custGeom>
              <a:avLst/>
              <a:gdLst/>
              <a:ahLst/>
              <a:cxnLst/>
              <a:rect l="l" t="t" r="r" b="b"/>
              <a:pathLst>
                <a:path w="609600" h="304800">
                  <a:moveTo>
                    <a:pt x="0" y="0"/>
                  </a:moveTo>
                  <a:lnTo>
                    <a:pt x="609599" y="0"/>
                  </a:lnTo>
                  <a:lnTo>
                    <a:pt x="609599" y="304800"/>
                  </a:lnTo>
                  <a:lnTo>
                    <a:pt x="0" y="304800"/>
                  </a:lnTo>
                  <a:lnTo>
                    <a:pt x="0" y="0"/>
                  </a:lnTo>
                  <a:close/>
                </a:path>
              </a:pathLst>
            </a:custGeom>
            <a:ln w="9524">
              <a:solidFill>
                <a:srgbClr val="000000"/>
              </a:solidFill>
            </a:ln>
          </p:spPr>
          <p:txBody>
            <a:bodyPr wrap="square" lIns="0" tIns="0" rIns="0" bIns="0" rtlCol="0"/>
            <a:lstStyle/>
            <a:p>
              <a:endParaRPr sz="2473"/>
            </a:p>
          </p:txBody>
        </p:sp>
      </p:grpSp>
      <p:sp>
        <p:nvSpPr>
          <p:cNvPr id="39" name="object 39"/>
          <p:cNvSpPr txBox="1"/>
          <p:nvPr/>
        </p:nvSpPr>
        <p:spPr>
          <a:xfrm>
            <a:off x="12038236" y="4803331"/>
            <a:ext cx="718145" cy="1257018"/>
          </a:xfrm>
          <a:prstGeom prst="rect">
            <a:avLst/>
          </a:prstGeom>
        </p:spPr>
        <p:txBody>
          <a:bodyPr vert="vert270" wrap="square" lIns="0" tIns="0" rIns="0" bIns="0" rtlCol="0">
            <a:spAutoFit/>
          </a:bodyPr>
          <a:lstStyle/>
          <a:p>
            <a:pPr marL="17446">
              <a:lnSpc>
                <a:spcPts val="5603"/>
              </a:lnSpc>
            </a:pPr>
            <a:r>
              <a:rPr sz="4945" dirty="0">
                <a:latin typeface="Arial MT"/>
                <a:cs typeface="Arial MT"/>
              </a:rPr>
              <a:t>.</a:t>
            </a:r>
            <a:r>
              <a:rPr sz="4945" spc="-48" dirty="0">
                <a:latin typeface="Arial MT"/>
                <a:cs typeface="Arial MT"/>
              </a:rPr>
              <a:t> </a:t>
            </a:r>
            <a:r>
              <a:rPr sz="4945" dirty="0">
                <a:latin typeface="Arial MT"/>
                <a:cs typeface="Arial MT"/>
              </a:rPr>
              <a:t>.</a:t>
            </a:r>
            <a:r>
              <a:rPr sz="4945" spc="-41" dirty="0">
                <a:latin typeface="Arial MT"/>
                <a:cs typeface="Arial MT"/>
              </a:rPr>
              <a:t> </a:t>
            </a:r>
            <a:r>
              <a:rPr sz="4945" dirty="0">
                <a:latin typeface="Arial MT"/>
                <a:cs typeface="Arial MT"/>
              </a:rPr>
              <a:t>.</a:t>
            </a:r>
            <a:r>
              <a:rPr sz="4945" spc="-48" dirty="0">
                <a:latin typeface="Arial MT"/>
                <a:cs typeface="Arial MT"/>
              </a:rPr>
              <a:t> </a:t>
            </a:r>
            <a:r>
              <a:rPr sz="4945" dirty="0">
                <a:latin typeface="Arial MT"/>
                <a:cs typeface="Arial MT"/>
              </a:rPr>
              <a:t>.</a:t>
            </a:r>
            <a:endParaRPr sz="4945">
              <a:latin typeface="Arial MT"/>
              <a:cs typeface="Arial MT"/>
            </a:endParaRPr>
          </a:p>
        </p:txBody>
      </p:sp>
      <p:sp>
        <p:nvSpPr>
          <p:cNvPr id="40" name="object 40"/>
          <p:cNvSpPr txBox="1"/>
          <p:nvPr/>
        </p:nvSpPr>
        <p:spPr>
          <a:xfrm>
            <a:off x="9905452" y="426483"/>
            <a:ext cx="1070341" cy="398170"/>
          </a:xfrm>
          <a:prstGeom prst="rect">
            <a:avLst/>
          </a:prstGeom>
        </p:spPr>
        <p:txBody>
          <a:bodyPr vert="horz" wrap="square" lIns="0" tIns="17446" rIns="0" bIns="0" rtlCol="0">
            <a:spAutoFit/>
          </a:bodyPr>
          <a:lstStyle/>
          <a:p>
            <a:pPr marL="17446">
              <a:spcBef>
                <a:spcPts val="137"/>
              </a:spcBef>
            </a:pPr>
            <a:r>
              <a:rPr sz="2473" spc="-7" dirty="0">
                <a:latin typeface="Calibri"/>
                <a:cs typeface="Calibri"/>
              </a:rPr>
              <a:t>Training</a:t>
            </a:r>
            <a:endParaRPr sz="2473">
              <a:latin typeface="Calibri"/>
              <a:cs typeface="Calibri"/>
            </a:endParaRPr>
          </a:p>
        </p:txBody>
      </p:sp>
      <p:sp>
        <p:nvSpPr>
          <p:cNvPr id="41" name="object 41"/>
          <p:cNvSpPr txBox="1"/>
          <p:nvPr/>
        </p:nvSpPr>
        <p:spPr>
          <a:xfrm>
            <a:off x="12038830" y="415028"/>
            <a:ext cx="1130531" cy="398170"/>
          </a:xfrm>
          <a:prstGeom prst="rect">
            <a:avLst/>
          </a:prstGeom>
        </p:spPr>
        <p:txBody>
          <a:bodyPr vert="horz" wrap="square" lIns="0" tIns="17446" rIns="0" bIns="0" rtlCol="0">
            <a:spAutoFit/>
          </a:bodyPr>
          <a:lstStyle/>
          <a:p>
            <a:pPr marL="17446">
              <a:spcBef>
                <a:spcPts val="137"/>
              </a:spcBef>
            </a:pPr>
            <a:r>
              <a:rPr sz="2473" spc="-7" dirty="0">
                <a:latin typeface="Calibri"/>
                <a:cs typeface="Calibri"/>
              </a:rPr>
              <a:t>Held</a:t>
            </a:r>
            <a:r>
              <a:rPr sz="2473" spc="-89" dirty="0">
                <a:latin typeface="Calibri"/>
                <a:cs typeface="Calibri"/>
              </a:rPr>
              <a:t> </a:t>
            </a:r>
            <a:r>
              <a:rPr sz="2473" spc="-7" dirty="0">
                <a:latin typeface="Calibri"/>
                <a:cs typeface="Calibri"/>
              </a:rPr>
              <a:t>out</a:t>
            </a:r>
            <a:endParaRPr sz="2473">
              <a:latin typeface="Calibri"/>
              <a:cs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306422" y="272772"/>
            <a:ext cx="7323154" cy="1507638"/>
          </a:xfrm>
          <a:prstGeom prst="rect">
            <a:avLst/>
          </a:prstGeom>
        </p:spPr>
        <p:txBody>
          <a:bodyPr vert="horz" wrap="square" lIns="0" tIns="193656" rIns="0" bIns="0" rtlCol="0">
            <a:spAutoFit/>
          </a:bodyPr>
          <a:lstStyle/>
          <a:p>
            <a:pPr marL="17446">
              <a:spcBef>
                <a:spcPts val="1525"/>
              </a:spcBef>
            </a:pPr>
            <a:r>
              <a:rPr spc="-7" dirty="0"/>
              <a:t>Good-Turing</a:t>
            </a:r>
            <a:r>
              <a:rPr spc="-76" dirty="0"/>
              <a:t> </a:t>
            </a:r>
            <a:r>
              <a:rPr spc="-7" dirty="0"/>
              <a:t>complications</a:t>
            </a:r>
          </a:p>
          <a:p>
            <a:pPr marL="2653535">
              <a:spcBef>
                <a:spcPts val="1044"/>
              </a:spcBef>
            </a:pPr>
            <a:r>
              <a:rPr sz="3297" spc="-7" dirty="0"/>
              <a:t>(slide</a:t>
            </a:r>
            <a:r>
              <a:rPr sz="3297" spc="-21" dirty="0"/>
              <a:t> </a:t>
            </a:r>
            <a:r>
              <a:rPr sz="3297" spc="-7" dirty="0"/>
              <a:t>from</a:t>
            </a:r>
            <a:r>
              <a:rPr sz="3297" spc="-21" dirty="0"/>
              <a:t> </a:t>
            </a:r>
            <a:r>
              <a:rPr sz="3297" dirty="0"/>
              <a:t>Dan</a:t>
            </a:r>
            <a:r>
              <a:rPr sz="3297" spc="-21" dirty="0"/>
              <a:t> </a:t>
            </a:r>
            <a:r>
              <a:rPr sz="3297" spc="-7" dirty="0"/>
              <a:t>Klein)</a:t>
            </a:r>
            <a:endParaRPr sz="3297"/>
          </a:p>
        </p:txBody>
      </p:sp>
      <p:sp>
        <p:nvSpPr>
          <p:cNvPr id="7" name="object 7"/>
          <p:cNvSpPr txBox="1"/>
          <p:nvPr/>
        </p:nvSpPr>
        <p:spPr>
          <a:xfrm>
            <a:off x="914398" y="2563442"/>
            <a:ext cx="6525850" cy="1941783"/>
          </a:xfrm>
          <a:prstGeom prst="rect">
            <a:avLst/>
          </a:prstGeom>
        </p:spPr>
        <p:txBody>
          <a:bodyPr vert="horz" wrap="square" lIns="0" tIns="101189" rIns="0" bIns="0" rtlCol="0">
            <a:spAutoFit/>
          </a:bodyPr>
          <a:lstStyle/>
          <a:p>
            <a:pPr marL="523380" indent="-471042">
              <a:spcBef>
                <a:spcPts val="797"/>
              </a:spcBef>
              <a:buClr>
                <a:srgbClr val="CC0000"/>
              </a:buClr>
              <a:buFont typeface="Times New Roman"/>
              <a:buChar char="•"/>
              <a:tabLst>
                <a:tab pos="522507" algn="l"/>
                <a:tab pos="523380" algn="l"/>
              </a:tabLst>
            </a:pPr>
            <a:r>
              <a:rPr sz="2747" spc="-7" dirty="0">
                <a:latin typeface="Calibri"/>
                <a:cs typeface="Calibri"/>
              </a:rPr>
              <a:t>Problem: what about </a:t>
            </a:r>
            <a:r>
              <a:rPr sz="2747" dirty="0">
                <a:latin typeface="Calibri"/>
                <a:cs typeface="Calibri"/>
              </a:rPr>
              <a:t>“the”?</a:t>
            </a:r>
            <a:r>
              <a:rPr sz="2747" spc="611" dirty="0">
                <a:latin typeface="Calibri"/>
                <a:cs typeface="Calibri"/>
              </a:rPr>
              <a:t> </a:t>
            </a:r>
            <a:r>
              <a:rPr sz="2747" dirty="0">
                <a:latin typeface="Calibri"/>
                <a:cs typeface="Calibri"/>
              </a:rPr>
              <a:t>(say</a:t>
            </a:r>
            <a:r>
              <a:rPr sz="2747" spc="-14" dirty="0">
                <a:latin typeface="Calibri"/>
                <a:cs typeface="Calibri"/>
              </a:rPr>
              <a:t> </a:t>
            </a:r>
            <a:r>
              <a:rPr sz="2747" spc="-7" dirty="0">
                <a:latin typeface="Calibri"/>
                <a:cs typeface="Calibri"/>
              </a:rPr>
              <a:t>c=4417)</a:t>
            </a:r>
            <a:endParaRPr sz="2747" dirty="0">
              <a:latin typeface="Calibri"/>
              <a:cs typeface="Calibri"/>
            </a:endParaRPr>
          </a:p>
          <a:p>
            <a:pPr marL="994421" lvl="1" indent="-314028">
              <a:spcBef>
                <a:spcPts val="659"/>
              </a:spcBef>
              <a:buFont typeface="Times New Roman"/>
              <a:buChar char="•"/>
              <a:tabLst>
                <a:tab pos="993549" algn="l"/>
                <a:tab pos="994421" algn="l"/>
              </a:tabLst>
            </a:pPr>
            <a:r>
              <a:rPr sz="2747" spc="-7" dirty="0">
                <a:latin typeface="Calibri"/>
                <a:cs typeface="Calibri"/>
              </a:rPr>
              <a:t>For</a:t>
            </a:r>
            <a:r>
              <a:rPr sz="2747" spc="-14" dirty="0">
                <a:latin typeface="Calibri"/>
                <a:cs typeface="Calibri"/>
              </a:rPr>
              <a:t> </a:t>
            </a:r>
            <a:r>
              <a:rPr sz="2747" spc="-7" dirty="0">
                <a:latin typeface="Calibri"/>
                <a:cs typeface="Calibri"/>
              </a:rPr>
              <a:t>small </a:t>
            </a:r>
            <a:r>
              <a:rPr sz="2747" dirty="0">
                <a:latin typeface="Calibri"/>
                <a:cs typeface="Calibri"/>
              </a:rPr>
              <a:t>k,</a:t>
            </a:r>
            <a:r>
              <a:rPr sz="2747" spc="-21" dirty="0">
                <a:latin typeface="Calibri"/>
                <a:cs typeface="Calibri"/>
              </a:rPr>
              <a:t> </a:t>
            </a:r>
            <a:r>
              <a:rPr sz="2747" spc="7" dirty="0">
                <a:latin typeface="Calibri"/>
                <a:cs typeface="Calibri"/>
              </a:rPr>
              <a:t>N</a:t>
            </a:r>
            <a:r>
              <a:rPr sz="2679" spc="10" baseline="-21367" dirty="0">
                <a:latin typeface="Calibri"/>
                <a:cs typeface="Calibri"/>
              </a:rPr>
              <a:t>k</a:t>
            </a:r>
            <a:r>
              <a:rPr sz="2679" spc="309" baseline="-21367" dirty="0">
                <a:latin typeface="Calibri"/>
                <a:cs typeface="Calibri"/>
              </a:rPr>
              <a:t> </a:t>
            </a:r>
            <a:r>
              <a:rPr sz="2747" dirty="0">
                <a:latin typeface="Calibri"/>
                <a:cs typeface="Calibri"/>
              </a:rPr>
              <a:t>&gt;</a:t>
            </a:r>
            <a:r>
              <a:rPr sz="2747" spc="-21" dirty="0">
                <a:latin typeface="Calibri"/>
                <a:cs typeface="Calibri"/>
              </a:rPr>
              <a:t> </a:t>
            </a:r>
            <a:r>
              <a:rPr sz="2747" spc="7" dirty="0">
                <a:latin typeface="Calibri"/>
                <a:cs typeface="Calibri"/>
              </a:rPr>
              <a:t>N</a:t>
            </a:r>
            <a:r>
              <a:rPr sz="2679" spc="10" baseline="-21367" dirty="0">
                <a:latin typeface="Calibri"/>
                <a:cs typeface="Calibri"/>
              </a:rPr>
              <a:t>k+1</a:t>
            </a:r>
            <a:endParaRPr sz="2679" baseline="-21367" dirty="0">
              <a:latin typeface="Calibri"/>
              <a:cs typeface="Calibri"/>
            </a:endParaRPr>
          </a:p>
          <a:p>
            <a:pPr marL="994421" marR="565250" lvl="1" indent="-314028">
              <a:lnSpc>
                <a:spcPct val="100800"/>
              </a:lnSpc>
              <a:spcBef>
                <a:spcPts val="522"/>
              </a:spcBef>
              <a:buFont typeface="Times New Roman"/>
              <a:buChar char="•"/>
              <a:tabLst>
                <a:tab pos="993549" algn="l"/>
                <a:tab pos="994421" algn="l"/>
              </a:tabLst>
            </a:pPr>
            <a:r>
              <a:rPr sz="2747" spc="-7" dirty="0">
                <a:latin typeface="Calibri"/>
                <a:cs typeface="Calibri"/>
              </a:rPr>
              <a:t>For large </a:t>
            </a:r>
            <a:r>
              <a:rPr sz="2747" dirty="0">
                <a:latin typeface="Calibri"/>
                <a:cs typeface="Calibri"/>
              </a:rPr>
              <a:t>k, too </a:t>
            </a:r>
            <a:r>
              <a:rPr sz="2747" spc="-7" dirty="0">
                <a:latin typeface="Calibri"/>
                <a:cs typeface="Calibri"/>
              </a:rPr>
              <a:t>jumpy, zeros wreck </a:t>
            </a:r>
            <a:r>
              <a:rPr sz="2747" spc="-604" dirty="0">
                <a:latin typeface="Calibri"/>
                <a:cs typeface="Calibri"/>
              </a:rPr>
              <a:t> </a:t>
            </a:r>
            <a:r>
              <a:rPr sz="2747" spc="-7" dirty="0">
                <a:latin typeface="Calibri"/>
                <a:cs typeface="Calibri"/>
              </a:rPr>
              <a:t>estimates</a:t>
            </a:r>
            <a:endParaRPr sz="2747" dirty="0">
              <a:latin typeface="Calibri"/>
              <a:cs typeface="Calibri"/>
            </a:endParaRPr>
          </a:p>
        </p:txBody>
      </p:sp>
      <p:sp>
        <p:nvSpPr>
          <p:cNvPr id="8" name="object 8"/>
          <p:cNvSpPr txBox="1"/>
          <p:nvPr/>
        </p:nvSpPr>
        <p:spPr>
          <a:xfrm>
            <a:off x="1113957" y="4654425"/>
            <a:ext cx="6967245" cy="3020460"/>
          </a:xfrm>
          <a:prstGeom prst="rect">
            <a:avLst/>
          </a:prstGeom>
        </p:spPr>
        <p:txBody>
          <a:bodyPr vert="horz" wrap="square" lIns="0" tIns="15702" rIns="0" bIns="0" rtlCol="0">
            <a:spAutoFit/>
          </a:bodyPr>
          <a:lstStyle/>
          <a:p>
            <a:pPr marL="366366" marR="41870" indent="-314028">
              <a:lnSpc>
                <a:spcPct val="100299"/>
              </a:lnSpc>
              <a:spcBef>
                <a:spcPts val="124"/>
              </a:spcBef>
              <a:buFont typeface="Times New Roman"/>
              <a:buChar char="•"/>
              <a:tabLst>
                <a:tab pos="365493" algn="l"/>
                <a:tab pos="366366" algn="l"/>
              </a:tabLst>
            </a:pPr>
            <a:r>
              <a:rPr sz="2747" spc="-7" dirty="0">
                <a:latin typeface="Calibri"/>
                <a:cs typeface="Calibri"/>
              </a:rPr>
              <a:t>Simple</a:t>
            </a:r>
            <a:r>
              <a:rPr sz="2747" dirty="0">
                <a:latin typeface="Calibri"/>
                <a:cs typeface="Calibri"/>
              </a:rPr>
              <a:t> </a:t>
            </a:r>
            <a:r>
              <a:rPr sz="2747" spc="-137" dirty="0">
                <a:latin typeface="Calibri"/>
                <a:cs typeface="Calibri"/>
              </a:rPr>
              <a:t>Good-­‐Turing</a:t>
            </a:r>
            <a:r>
              <a:rPr sz="2747" dirty="0">
                <a:latin typeface="Calibri"/>
                <a:cs typeface="Calibri"/>
              </a:rPr>
              <a:t> </a:t>
            </a:r>
            <a:r>
              <a:rPr sz="2747" spc="-7" dirty="0">
                <a:latin typeface="Calibri"/>
                <a:cs typeface="Calibri"/>
              </a:rPr>
              <a:t>[Gale</a:t>
            </a:r>
            <a:r>
              <a:rPr sz="2747" dirty="0">
                <a:latin typeface="Calibri"/>
                <a:cs typeface="Calibri"/>
              </a:rPr>
              <a:t> and </a:t>
            </a:r>
            <a:r>
              <a:rPr sz="2747" spc="7" dirty="0">
                <a:latin typeface="Calibri"/>
                <a:cs typeface="Calibri"/>
              </a:rPr>
              <a:t> </a:t>
            </a:r>
            <a:r>
              <a:rPr sz="2747" spc="-7" dirty="0">
                <a:latin typeface="Calibri"/>
                <a:cs typeface="Calibri"/>
              </a:rPr>
              <a:t>Sampson]:</a:t>
            </a:r>
            <a:r>
              <a:rPr sz="2747" dirty="0">
                <a:latin typeface="Calibri"/>
                <a:cs typeface="Calibri"/>
              </a:rPr>
              <a:t> </a:t>
            </a:r>
            <a:r>
              <a:rPr sz="2747" spc="-7" dirty="0">
                <a:latin typeface="Calibri"/>
                <a:cs typeface="Calibri"/>
              </a:rPr>
              <a:t>replace</a:t>
            </a:r>
            <a:r>
              <a:rPr sz="2747" dirty="0">
                <a:latin typeface="Calibri"/>
                <a:cs typeface="Calibri"/>
              </a:rPr>
              <a:t> </a:t>
            </a:r>
            <a:r>
              <a:rPr sz="2747" spc="-7" dirty="0">
                <a:latin typeface="Calibri"/>
                <a:cs typeface="Calibri"/>
              </a:rPr>
              <a:t>empirical</a:t>
            </a:r>
            <a:r>
              <a:rPr sz="2747" spc="7" dirty="0">
                <a:latin typeface="Calibri"/>
                <a:cs typeface="Calibri"/>
              </a:rPr>
              <a:t> N</a:t>
            </a:r>
            <a:r>
              <a:rPr sz="2679" spc="10" baseline="-21367" dirty="0">
                <a:latin typeface="Calibri"/>
                <a:cs typeface="Calibri"/>
              </a:rPr>
              <a:t>k</a:t>
            </a:r>
            <a:r>
              <a:rPr sz="2679" spc="319" baseline="-21367" dirty="0">
                <a:latin typeface="Calibri"/>
                <a:cs typeface="Calibri"/>
              </a:rPr>
              <a:t> </a:t>
            </a:r>
            <a:r>
              <a:rPr sz="2747" spc="-7" dirty="0">
                <a:latin typeface="Calibri"/>
                <a:cs typeface="Calibri"/>
              </a:rPr>
              <a:t>with</a:t>
            </a:r>
            <a:r>
              <a:rPr sz="2747" dirty="0">
                <a:latin typeface="Calibri"/>
                <a:cs typeface="Calibri"/>
              </a:rPr>
              <a:t> a </a:t>
            </a:r>
            <a:r>
              <a:rPr sz="2747" spc="-596" dirty="0">
                <a:latin typeface="Calibri"/>
                <a:cs typeface="Calibri"/>
              </a:rPr>
              <a:t> </a:t>
            </a:r>
            <a:r>
              <a:rPr sz="2747" dirty="0">
                <a:latin typeface="Calibri"/>
                <a:cs typeface="Calibri"/>
              </a:rPr>
              <a:t>bes</a:t>
            </a:r>
            <a:r>
              <a:rPr sz="2747" spc="-426" dirty="0">
                <a:latin typeface="Calibri"/>
                <a:cs typeface="Calibri"/>
              </a:rPr>
              <a:t>t-­‐</a:t>
            </a:r>
            <a:r>
              <a:rPr sz="2747" spc="-14" dirty="0">
                <a:latin typeface="Calibri"/>
                <a:cs typeface="Calibri"/>
              </a:rPr>
              <a:t>fi</a:t>
            </a:r>
            <a:r>
              <a:rPr sz="2747" dirty="0">
                <a:latin typeface="Calibri"/>
                <a:cs typeface="Calibri"/>
              </a:rPr>
              <a:t>t p</a:t>
            </a:r>
            <a:r>
              <a:rPr sz="2747" spc="-7" dirty="0">
                <a:latin typeface="Calibri"/>
                <a:cs typeface="Calibri"/>
              </a:rPr>
              <a:t>ow</a:t>
            </a:r>
            <a:r>
              <a:rPr sz="2747" dirty="0">
                <a:latin typeface="Calibri"/>
                <a:cs typeface="Calibri"/>
              </a:rPr>
              <a:t>er law</a:t>
            </a:r>
            <a:r>
              <a:rPr sz="2747" spc="-7" dirty="0">
                <a:latin typeface="Calibri"/>
                <a:cs typeface="Calibri"/>
              </a:rPr>
              <a:t> o</a:t>
            </a:r>
            <a:r>
              <a:rPr sz="2747" dirty="0">
                <a:latin typeface="Calibri"/>
                <a:cs typeface="Calibri"/>
              </a:rPr>
              <a:t>nce c</a:t>
            </a:r>
            <a:r>
              <a:rPr sz="2747" spc="-7" dirty="0">
                <a:latin typeface="Calibri"/>
                <a:cs typeface="Calibri"/>
              </a:rPr>
              <a:t>o</a:t>
            </a:r>
            <a:r>
              <a:rPr sz="2747" dirty="0">
                <a:latin typeface="Calibri"/>
                <a:cs typeface="Calibri"/>
              </a:rPr>
              <a:t>unts get  </a:t>
            </a:r>
            <a:r>
              <a:rPr sz="2747" spc="-7" dirty="0">
                <a:latin typeface="Calibri"/>
                <a:cs typeface="Calibri"/>
              </a:rPr>
              <a:t>unreliable</a:t>
            </a:r>
            <a:endParaRPr lang="en-US" sz="2747" spc="-7" dirty="0">
              <a:latin typeface="Calibri"/>
              <a:cs typeface="Calibri"/>
            </a:endParaRPr>
          </a:p>
          <a:p>
            <a:pPr marL="366366" marR="41870" indent="-314028">
              <a:lnSpc>
                <a:spcPct val="100299"/>
              </a:lnSpc>
              <a:spcBef>
                <a:spcPts val="124"/>
              </a:spcBef>
              <a:buFont typeface="Times New Roman"/>
              <a:buChar char="•"/>
              <a:tabLst>
                <a:tab pos="365493" algn="l"/>
                <a:tab pos="366366" algn="l"/>
              </a:tabLst>
            </a:pPr>
            <a:r>
              <a:rPr lang="en-US" sz="2800" b="0" i="0" dirty="0">
                <a:effectLst/>
                <a:latin typeface="Söhne"/>
              </a:rPr>
              <a:t>The best-fit power law is a model that predicts the probability of an event based on its frequency, and it is chosen to fit the observed counts as closely as possible.</a:t>
            </a:r>
            <a:endParaRPr sz="2747" dirty="0">
              <a:latin typeface="Calibri"/>
              <a:cs typeface="Calibri"/>
            </a:endParaRPr>
          </a:p>
        </p:txBody>
      </p:sp>
      <p:grpSp>
        <p:nvGrpSpPr>
          <p:cNvPr id="9" name="object 9"/>
          <p:cNvGrpSpPr/>
          <p:nvPr/>
        </p:nvGrpSpPr>
        <p:grpSpPr>
          <a:xfrm>
            <a:off x="8158402" y="2098691"/>
            <a:ext cx="4723630" cy="1897303"/>
            <a:chOff x="5938836" y="2584998"/>
            <a:chExt cx="3438525" cy="1381125"/>
          </a:xfrm>
        </p:grpSpPr>
        <p:sp>
          <p:nvSpPr>
            <p:cNvPr id="10" name="object 10"/>
            <p:cNvSpPr/>
            <p:nvPr/>
          </p:nvSpPr>
          <p:spPr>
            <a:xfrm>
              <a:off x="5943598" y="2589761"/>
              <a:ext cx="3429000" cy="1371600"/>
            </a:xfrm>
            <a:custGeom>
              <a:avLst/>
              <a:gdLst/>
              <a:ahLst/>
              <a:cxnLst/>
              <a:rect l="l" t="t" r="r" b="b"/>
              <a:pathLst>
                <a:path w="3429000" h="1371600">
                  <a:moveTo>
                    <a:pt x="0" y="0"/>
                  </a:moveTo>
                  <a:lnTo>
                    <a:pt x="3428999" y="0"/>
                  </a:lnTo>
                  <a:lnTo>
                    <a:pt x="3428999" y="1371599"/>
                  </a:lnTo>
                  <a:lnTo>
                    <a:pt x="0" y="1371599"/>
                  </a:lnTo>
                  <a:lnTo>
                    <a:pt x="0" y="0"/>
                  </a:lnTo>
                  <a:close/>
                </a:path>
              </a:pathLst>
            </a:custGeom>
            <a:ln w="9524">
              <a:solidFill>
                <a:srgbClr val="000000"/>
              </a:solidFill>
            </a:ln>
          </p:spPr>
          <p:txBody>
            <a:bodyPr wrap="square" lIns="0" tIns="0" rIns="0" bIns="0" rtlCol="0"/>
            <a:lstStyle/>
            <a:p>
              <a:endParaRPr sz="2473"/>
            </a:p>
          </p:txBody>
        </p:sp>
        <p:sp>
          <p:nvSpPr>
            <p:cNvPr id="11" name="object 11"/>
            <p:cNvSpPr/>
            <p:nvPr/>
          </p:nvSpPr>
          <p:spPr>
            <a:xfrm>
              <a:off x="6019798" y="2818361"/>
              <a:ext cx="381000" cy="1143000"/>
            </a:xfrm>
            <a:custGeom>
              <a:avLst/>
              <a:gdLst/>
              <a:ahLst/>
              <a:cxnLst/>
              <a:rect l="l" t="t" r="r" b="b"/>
              <a:pathLst>
                <a:path w="381000" h="1143000">
                  <a:moveTo>
                    <a:pt x="381000" y="0"/>
                  </a:moveTo>
                  <a:lnTo>
                    <a:pt x="0" y="0"/>
                  </a:lnTo>
                  <a:lnTo>
                    <a:pt x="0" y="1142999"/>
                  </a:lnTo>
                  <a:lnTo>
                    <a:pt x="381000" y="1142999"/>
                  </a:lnTo>
                  <a:lnTo>
                    <a:pt x="381000" y="0"/>
                  </a:lnTo>
                  <a:close/>
                </a:path>
              </a:pathLst>
            </a:custGeom>
            <a:solidFill>
              <a:srgbClr val="B51826"/>
            </a:solidFill>
          </p:spPr>
          <p:txBody>
            <a:bodyPr wrap="square" lIns="0" tIns="0" rIns="0" bIns="0" rtlCol="0"/>
            <a:lstStyle/>
            <a:p>
              <a:endParaRPr sz="2473"/>
            </a:p>
          </p:txBody>
        </p:sp>
        <p:sp>
          <p:nvSpPr>
            <p:cNvPr id="12" name="object 12"/>
            <p:cNvSpPr/>
            <p:nvPr/>
          </p:nvSpPr>
          <p:spPr>
            <a:xfrm>
              <a:off x="6019798" y="2818361"/>
              <a:ext cx="381000" cy="1143000"/>
            </a:xfrm>
            <a:custGeom>
              <a:avLst/>
              <a:gdLst/>
              <a:ahLst/>
              <a:cxnLst/>
              <a:rect l="l" t="t" r="r" b="b"/>
              <a:pathLst>
                <a:path w="381000" h="1143000">
                  <a:moveTo>
                    <a:pt x="0" y="0"/>
                  </a:moveTo>
                  <a:lnTo>
                    <a:pt x="381000" y="0"/>
                  </a:lnTo>
                  <a:lnTo>
                    <a:pt x="381000" y="1142999"/>
                  </a:lnTo>
                  <a:lnTo>
                    <a:pt x="0" y="1142999"/>
                  </a:lnTo>
                  <a:lnTo>
                    <a:pt x="0" y="0"/>
                  </a:lnTo>
                  <a:close/>
                </a:path>
              </a:pathLst>
            </a:custGeom>
            <a:ln w="9524">
              <a:solidFill>
                <a:srgbClr val="000000"/>
              </a:solidFill>
            </a:ln>
          </p:spPr>
          <p:txBody>
            <a:bodyPr wrap="square" lIns="0" tIns="0" rIns="0" bIns="0" rtlCol="0"/>
            <a:lstStyle/>
            <a:p>
              <a:endParaRPr sz="2473"/>
            </a:p>
          </p:txBody>
        </p:sp>
      </p:grpSp>
      <p:sp>
        <p:nvSpPr>
          <p:cNvPr id="13" name="object 13"/>
          <p:cNvSpPr txBox="1"/>
          <p:nvPr/>
        </p:nvSpPr>
        <p:spPr>
          <a:xfrm>
            <a:off x="8325450" y="2998493"/>
            <a:ext cx="266931" cy="398170"/>
          </a:xfrm>
          <a:prstGeom prst="rect">
            <a:avLst/>
          </a:prstGeom>
        </p:spPr>
        <p:txBody>
          <a:bodyPr vert="horz" wrap="square" lIns="0" tIns="17446" rIns="0" bIns="0" rtlCol="0">
            <a:spAutoFit/>
          </a:bodyPr>
          <a:lstStyle/>
          <a:p>
            <a:pPr marL="17446">
              <a:spcBef>
                <a:spcPts val="137"/>
              </a:spcBef>
            </a:pPr>
            <a:r>
              <a:rPr sz="2473" dirty="0">
                <a:latin typeface="Lucida Sans Unicode"/>
                <a:cs typeface="Lucida Sans Unicode"/>
              </a:rPr>
              <a:t>N</a:t>
            </a:r>
            <a:endParaRPr sz="2473">
              <a:latin typeface="Lucida Sans Unicode"/>
              <a:cs typeface="Lucida Sans Unicode"/>
            </a:endParaRPr>
          </a:p>
        </p:txBody>
      </p:sp>
      <p:sp>
        <p:nvSpPr>
          <p:cNvPr id="14" name="object 14"/>
          <p:cNvSpPr txBox="1"/>
          <p:nvPr/>
        </p:nvSpPr>
        <p:spPr>
          <a:xfrm>
            <a:off x="8557451" y="3181680"/>
            <a:ext cx="167486" cy="271212"/>
          </a:xfrm>
          <a:prstGeom prst="rect">
            <a:avLst/>
          </a:prstGeom>
        </p:spPr>
        <p:txBody>
          <a:bodyPr vert="horz" wrap="square" lIns="0" tIns="17446" rIns="0" bIns="0" rtlCol="0">
            <a:spAutoFit/>
          </a:bodyPr>
          <a:lstStyle/>
          <a:p>
            <a:pPr marL="17446">
              <a:spcBef>
                <a:spcPts val="137"/>
              </a:spcBef>
            </a:pPr>
            <a:r>
              <a:rPr sz="1648" dirty="0">
                <a:latin typeface="Lucida Sans Unicode"/>
                <a:cs typeface="Lucida Sans Unicode"/>
              </a:rPr>
              <a:t>1</a:t>
            </a:r>
            <a:endParaRPr sz="1648">
              <a:latin typeface="Lucida Sans Unicode"/>
              <a:cs typeface="Lucida Sans Unicode"/>
            </a:endParaRPr>
          </a:p>
        </p:txBody>
      </p:sp>
      <p:grpSp>
        <p:nvGrpSpPr>
          <p:cNvPr id="15" name="object 15"/>
          <p:cNvGrpSpPr/>
          <p:nvPr/>
        </p:nvGrpSpPr>
        <p:grpSpPr>
          <a:xfrm>
            <a:off x="8891152" y="3250158"/>
            <a:ext cx="536479" cy="745836"/>
            <a:chOff x="6472235" y="3423198"/>
            <a:chExt cx="390525" cy="542925"/>
          </a:xfrm>
        </p:grpSpPr>
        <p:sp>
          <p:nvSpPr>
            <p:cNvPr id="16" name="object 16"/>
            <p:cNvSpPr/>
            <p:nvPr/>
          </p:nvSpPr>
          <p:spPr>
            <a:xfrm>
              <a:off x="6476998" y="3427961"/>
              <a:ext cx="381000" cy="533400"/>
            </a:xfrm>
            <a:custGeom>
              <a:avLst/>
              <a:gdLst/>
              <a:ahLst/>
              <a:cxnLst/>
              <a:rect l="l" t="t" r="r" b="b"/>
              <a:pathLst>
                <a:path w="381000" h="533400">
                  <a:moveTo>
                    <a:pt x="381000" y="0"/>
                  </a:moveTo>
                  <a:lnTo>
                    <a:pt x="0" y="0"/>
                  </a:lnTo>
                  <a:lnTo>
                    <a:pt x="0" y="533400"/>
                  </a:lnTo>
                  <a:lnTo>
                    <a:pt x="381000" y="533400"/>
                  </a:lnTo>
                  <a:lnTo>
                    <a:pt x="381000" y="0"/>
                  </a:lnTo>
                  <a:close/>
                </a:path>
              </a:pathLst>
            </a:custGeom>
            <a:solidFill>
              <a:srgbClr val="B51826"/>
            </a:solidFill>
          </p:spPr>
          <p:txBody>
            <a:bodyPr wrap="square" lIns="0" tIns="0" rIns="0" bIns="0" rtlCol="0"/>
            <a:lstStyle/>
            <a:p>
              <a:endParaRPr sz="2473"/>
            </a:p>
          </p:txBody>
        </p:sp>
        <p:sp>
          <p:nvSpPr>
            <p:cNvPr id="17" name="object 17"/>
            <p:cNvSpPr/>
            <p:nvPr/>
          </p:nvSpPr>
          <p:spPr>
            <a:xfrm>
              <a:off x="6476998" y="3427961"/>
              <a:ext cx="381000" cy="533400"/>
            </a:xfrm>
            <a:custGeom>
              <a:avLst/>
              <a:gdLst/>
              <a:ahLst/>
              <a:cxnLst/>
              <a:rect l="l" t="t" r="r" b="b"/>
              <a:pathLst>
                <a:path w="381000" h="533400">
                  <a:moveTo>
                    <a:pt x="0" y="0"/>
                  </a:moveTo>
                  <a:lnTo>
                    <a:pt x="381000" y="0"/>
                  </a:lnTo>
                  <a:lnTo>
                    <a:pt x="381000" y="533399"/>
                  </a:lnTo>
                  <a:lnTo>
                    <a:pt x="0" y="533399"/>
                  </a:lnTo>
                  <a:lnTo>
                    <a:pt x="0" y="0"/>
                  </a:lnTo>
                  <a:close/>
                </a:path>
              </a:pathLst>
            </a:custGeom>
            <a:ln w="9524">
              <a:solidFill>
                <a:srgbClr val="000000"/>
              </a:solidFill>
            </a:ln>
          </p:spPr>
          <p:txBody>
            <a:bodyPr wrap="square" lIns="0" tIns="0" rIns="0" bIns="0" rtlCol="0"/>
            <a:lstStyle/>
            <a:p>
              <a:endParaRPr sz="2473"/>
            </a:p>
          </p:txBody>
        </p:sp>
      </p:grpSp>
      <p:sp>
        <p:nvSpPr>
          <p:cNvPr id="18" name="object 18"/>
          <p:cNvSpPr txBox="1"/>
          <p:nvPr/>
        </p:nvSpPr>
        <p:spPr>
          <a:xfrm>
            <a:off x="8918630" y="3417208"/>
            <a:ext cx="469310" cy="398170"/>
          </a:xfrm>
          <a:prstGeom prst="rect">
            <a:avLst/>
          </a:prstGeom>
        </p:spPr>
        <p:txBody>
          <a:bodyPr vert="horz" wrap="square" lIns="0" tIns="17446" rIns="0" bIns="0" rtlCol="0">
            <a:spAutoFit/>
          </a:bodyPr>
          <a:lstStyle/>
          <a:p>
            <a:pPr marL="52338">
              <a:spcBef>
                <a:spcPts val="137"/>
              </a:spcBef>
            </a:pPr>
            <a:r>
              <a:rPr sz="2473" dirty="0">
                <a:latin typeface="Lucida Sans Unicode"/>
                <a:cs typeface="Lucida Sans Unicode"/>
              </a:rPr>
              <a:t>N</a:t>
            </a:r>
            <a:r>
              <a:rPr sz="2473" baseline="-20833" dirty="0">
                <a:latin typeface="Lucida Sans Unicode"/>
                <a:cs typeface="Lucida Sans Unicode"/>
              </a:rPr>
              <a:t>2</a:t>
            </a:r>
            <a:endParaRPr sz="2473" baseline="-20833">
              <a:latin typeface="Lucida Sans Unicode"/>
              <a:cs typeface="Lucida Sans Unicode"/>
            </a:endParaRPr>
          </a:p>
        </p:txBody>
      </p:sp>
      <p:grpSp>
        <p:nvGrpSpPr>
          <p:cNvPr id="19" name="object 19"/>
          <p:cNvGrpSpPr/>
          <p:nvPr/>
        </p:nvGrpSpPr>
        <p:grpSpPr>
          <a:xfrm>
            <a:off x="9519224" y="3564194"/>
            <a:ext cx="536479" cy="431800"/>
            <a:chOff x="6929435" y="3651798"/>
            <a:chExt cx="390525" cy="314325"/>
          </a:xfrm>
        </p:grpSpPr>
        <p:sp>
          <p:nvSpPr>
            <p:cNvPr id="20" name="object 20"/>
            <p:cNvSpPr/>
            <p:nvPr/>
          </p:nvSpPr>
          <p:spPr>
            <a:xfrm>
              <a:off x="6934198" y="3656561"/>
              <a:ext cx="381000" cy="304800"/>
            </a:xfrm>
            <a:custGeom>
              <a:avLst/>
              <a:gdLst/>
              <a:ahLst/>
              <a:cxnLst/>
              <a:rect l="l" t="t" r="r" b="b"/>
              <a:pathLst>
                <a:path w="381000" h="304800">
                  <a:moveTo>
                    <a:pt x="381000" y="0"/>
                  </a:moveTo>
                  <a:lnTo>
                    <a:pt x="0" y="0"/>
                  </a:lnTo>
                  <a:lnTo>
                    <a:pt x="0" y="304800"/>
                  </a:lnTo>
                  <a:lnTo>
                    <a:pt x="381000" y="304800"/>
                  </a:lnTo>
                  <a:lnTo>
                    <a:pt x="381000" y="0"/>
                  </a:lnTo>
                  <a:close/>
                </a:path>
              </a:pathLst>
            </a:custGeom>
            <a:solidFill>
              <a:srgbClr val="B51826"/>
            </a:solidFill>
          </p:spPr>
          <p:txBody>
            <a:bodyPr wrap="square" lIns="0" tIns="0" rIns="0" bIns="0" rtlCol="0"/>
            <a:lstStyle/>
            <a:p>
              <a:endParaRPr sz="2473"/>
            </a:p>
          </p:txBody>
        </p:sp>
        <p:sp>
          <p:nvSpPr>
            <p:cNvPr id="21" name="object 21"/>
            <p:cNvSpPr/>
            <p:nvPr/>
          </p:nvSpPr>
          <p:spPr>
            <a:xfrm>
              <a:off x="6934198" y="3656561"/>
              <a:ext cx="381000" cy="304800"/>
            </a:xfrm>
            <a:custGeom>
              <a:avLst/>
              <a:gdLst/>
              <a:ahLst/>
              <a:cxnLst/>
              <a:rect l="l" t="t" r="r" b="b"/>
              <a:pathLst>
                <a:path w="381000" h="304800">
                  <a:moveTo>
                    <a:pt x="0" y="0"/>
                  </a:moveTo>
                  <a:lnTo>
                    <a:pt x="381000" y="0"/>
                  </a:lnTo>
                  <a:lnTo>
                    <a:pt x="381000" y="304800"/>
                  </a:lnTo>
                  <a:lnTo>
                    <a:pt x="0" y="304800"/>
                  </a:lnTo>
                  <a:lnTo>
                    <a:pt x="0" y="0"/>
                  </a:lnTo>
                  <a:close/>
                </a:path>
              </a:pathLst>
            </a:custGeom>
            <a:ln w="9524">
              <a:solidFill>
                <a:srgbClr val="000000"/>
              </a:solidFill>
            </a:ln>
          </p:spPr>
          <p:txBody>
            <a:bodyPr wrap="square" lIns="0" tIns="0" rIns="0" bIns="0" rtlCol="0"/>
            <a:lstStyle/>
            <a:p>
              <a:endParaRPr sz="2473"/>
            </a:p>
          </p:txBody>
        </p:sp>
      </p:grpSp>
      <p:sp>
        <p:nvSpPr>
          <p:cNvPr id="22" name="object 22"/>
          <p:cNvSpPr txBox="1"/>
          <p:nvPr/>
        </p:nvSpPr>
        <p:spPr>
          <a:xfrm>
            <a:off x="9581596" y="3574226"/>
            <a:ext cx="266931" cy="398170"/>
          </a:xfrm>
          <a:prstGeom prst="rect">
            <a:avLst/>
          </a:prstGeom>
        </p:spPr>
        <p:txBody>
          <a:bodyPr vert="horz" wrap="square" lIns="0" tIns="17446" rIns="0" bIns="0" rtlCol="0">
            <a:spAutoFit/>
          </a:bodyPr>
          <a:lstStyle/>
          <a:p>
            <a:pPr marL="17446">
              <a:spcBef>
                <a:spcPts val="137"/>
              </a:spcBef>
            </a:pPr>
            <a:r>
              <a:rPr sz="2473" dirty="0">
                <a:latin typeface="Lucida Sans Unicode"/>
                <a:cs typeface="Lucida Sans Unicode"/>
              </a:rPr>
              <a:t>N</a:t>
            </a:r>
            <a:endParaRPr sz="2473">
              <a:latin typeface="Lucida Sans Unicode"/>
              <a:cs typeface="Lucida Sans Unicode"/>
            </a:endParaRPr>
          </a:p>
        </p:txBody>
      </p:sp>
      <p:sp>
        <p:nvSpPr>
          <p:cNvPr id="23" name="object 23"/>
          <p:cNvSpPr txBox="1"/>
          <p:nvPr/>
        </p:nvSpPr>
        <p:spPr>
          <a:xfrm>
            <a:off x="9813597" y="3757414"/>
            <a:ext cx="167486" cy="271212"/>
          </a:xfrm>
          <a:prstGeom prst="rect">
            <a:avLst/>
          </a:prstGeom>
        </p:spPr>
        <p:txBody>
          <a:bodyPr vert="horz" wrap="square" lIns="0" tIns="17446" rIns="0" bIns="0" rtlCol="0">
            <a:spAutoFit/>
          </a:bodyPr>
          <a:lstStyle/>
          <a:p>
            <a:pPr marL="17446">
              <a:spcBef>
                <a:spcPts val="137"/>
              </a:spcBef>
            </a:pPr>
            <a:r>
              <a:rPr sz="1648" dirty="0">
                <a:latin typeface="Lucida Sans Unicode"/>
                <a:cs typeface="Lucida Sans Unicode"/>
              </a:rPr>
              <a:t>3</a:t>
            </a:r>
            <a:endParaRPr sz="1648">
              <a:latin typeface="Lucida Sans Unicode"/>
              <a:cs typeface="Lucida Sans Unicode"/>
            </a:endParaRPr>
          </a:p>
        </p:txBody>
      </p:sp>
      <p:grpSp>
        <p:nvGrpSpPr>
          <p:cNvPr id="24" name="object 24"/>
          <p:cNvGrpSpPr/>
          <p:nvPr/>
        </p:nvGrpSpPr>
        <p:grpSpPr>
          <a:xfrm>
            <a:off x="10147297" y="3773552"/>
            <a:ext cx="2525376" cy="222442"/>
            <a:chOff x="7386635" y="3804198"/>
            <a:chExt cx="1838325" cy="161925"/>
          </a:xfrm>
        </p:grpSpPr>
        <p:sp>
          <p:nvSpPr>
            <p:cNvPr id="25" name="object 25"/>
            <p:cNvSpPr/>
            <p:nvPr/>
          </p:nvSpPr>
          <p:spPr>
            <a:xfrm>
              <a:off x="7391398" y="3808960"/>
              <a:ext cx="381000" cy="152400"/>
            </a:xfrm>
            <a:custGeom>
              <a:avLst/>
              <a:gdLst/>
              <a:ahLst/>
              <a:cxnLst/>
              <a:rect l="l" t="t" r="r" b="b"/>
              <a:pathLst>
                <a:path w="381000" h="152400">
                  <a:moveTo>
                    <a:pt x="381000" y="0"/>
                  </a:moveTo>
                  <a:lnTo>
                    <a:pt x="0" y="0"/>
                  </a:lnTo>
                  <a:lnTo>
                    <a:pt x="0" y="152400"/>
                  </a:lnTo>
                  <a:lnTo>
                    <a:pt x="381000" y="152400"/>
                  </a:lnTo>
                  <a:lnTo>
                    <a:pt x="381000" y="0"/>
                  </a:lnTo>
                  <a:close/>
                </a:path>
              </a:pathLst>
            </a:custGeom>
            <a:solidFill>
              <a:srgbClr val="B51826"/>
            </a:solidFill>
          </p:spPr>
          <p:txBody>
            <a:bodyPr wrap="square" lIns="0" tIns="0" rIns="0" bIns="0" rtlCol="0"/>
            <a:lstStyle/>
            <a:p>
              <a:endParaRPr sz="2473"/>
            </a:p>
          </p:txBody>
        </p:sp>
        <p:sp>
          <p:nvSpPr>
            <p:cNvPr id="26" name="object 26"/>
            <p:cNvSpPr/>
            <p:nvPr/>
          </p:nvSpPr>
          <p:spPr>
            <a:xfrm>
              <a:off x="7391398" y="3808960"/>
              <a:ext cx="381000" cy="152400"/>
            </a:xfrm>
            <a:custGeom>
              <a:avLst/>
              <a:gdLst/>
              <a:ahLst/>
              <a:cxnLst/>
              <a:rect l="l" t="t" r="r" b="b"/>
              <a:pathLst>
                <a:path w="381000" h="152400">
                  <a:moveTo>
                    <a:pt x="0" y="0"/>
                  </a:moveTo>
                  <a:lnTo>
                    <a:pt x="381000" y="0"/>
                  </a:lnTo>
                  <a:lnTo>
                    <a:pt x="381000" y="152399"/>
                  </a:lnTo>
                  <a:lnTo>
                    <a:pt x="0" y="152399"/>
                  </a:lnTo>
                  <a:lnTo>
                    <a:pt x="0" y="0"/>
                  </a:lnTo>
                  <a:close/>
                </a:path>
              </a:pathLst>
            </a:custGeom>
            <a:ln w="9524">
              <a:solidFill>
                <a:srgbClr val="000000"/>
              </a:solidFill>
            </a:ln>
          </p:spPr>
          <p:txBody>
            <a:bodyPr wrap="square" lIns="0" tIns="0" rIns="0" bIns="0" rtlCol="0"/>
            <a:lstStyle/>
            <a:p>
              <a:endParaRPr sz="2473"/>
            </a:p>
          </p:txBody>
        </p:sp>
        <p:sp>
          <p:nvSpPr>
            <p:cNvPr id="27" name="object 27"/>
            <p:cNvSpPr/>
            <p:nvPr/>
          </p:nvSpPr>
          <p:spPr>
            <a:xfrm>
              <a:off x="8229598" y="3885160"/>
              <a:ext cx="381000" cy="76200"/>
            </a:xfrm>
            <a:custGeom>
              <a:avLst/>
              <a:gdLst/>
              <a:ahLst/>
              <a:cxnLst/>
              <a:rect l="l" t="t" r="r" b="b"/>
              <a:pathLst>
                <a:path w="381000" h="76200">
                  <a:moveTo>
                    <a:pt x="381000" y="0"/>
                  </a:moveTo>
                  <a:lnTo>
                    <a:pt x="0" y="0"/>
                  </a:lnTo>
                  <a:lnTo>
                    <a:pt x="0" y="76200"/>
                  </a:lnTo>
                  <a:lnTo>
                    <a:pt x="381000" y="76200"/>
                  </a:lnTo>
                  <a:lnTo>
                    <a:pt x="381000" y="0"/>
                  </a:lnTo>
                  <a:close/>
                </a:path>
              </a:pathLst>
            </a:custGeom>
            <a:solidFill>
              <a:srgbClr val="B51826"/>
            </a:solidFill>
          </p:spPr>
          <p:txBody>
            <a:bodyPr wrap="square" lIns="0" tIns="0" rIns="0" bIns="0" rtlCol="0"/>
            <a:lstStyle/>
            <a:p>
              <a:endParaRPr sz="2473"/>
            </a:p>
          </p:txBody>
        </p:sp>
        <p:sp>
          <p:nvSpPr>
            <p:cNvPr id="28" name="object 28"/>
            <p:cNvSpPr/>
            <p:nvPr/>
          </p:nvSpPr>
          <p:spPr>
            <a:xfrm>
              <a:off x="8229598" y="3885160"/>
              <a:ext cx="381000" cy="76200"/>
            </a:xfrm>
            <a:custGeom>
              <a:avLst/>
              <a:gdLst/>
              <a:ahLst/>
              <a:cxnLst/>
              <a:rect l="l" t="t" r="r" b="b"/>
              <a:pathLst>
                <a:path w="381000" h="76200">
                  <a:moveTo>
                    <a:pt x="0" y="0"/>
                  </a:moveTo>
                  <a:lnTo>
                    <a:pt x="381000" y="0"/>
                  </a:lnTo>
                  <a:lnTo>
                    <a:pt x="381000" y="76200"/>
                  </a:lnTo>
                  <a:lnTo>
                    <a:pt x="0" y="76200"/>
                  </a:lnTo>
                  <a:lnTo>
                    <a:pt x="0" y="0"/>
                  </a:lnTo>
                  <a:close/>
                </a:path>
              </a:pathLst>
            </a:custGeom>
            <a:ln w="9524">
              <a:solidFill>
                <a:srgbClr val="000000"/>
              </a:solidFill>
            </a:ln>
          </p:spPr>
          <p:txBody>
            <a:bodyPr wrap="square" lIns="0" tIns="0" rIns="0" bIns="0" rtlCol="0"/>
            <a:lstStyle/>
            <a:p>
              <a:endParaRPr sz="2473"/>
            </a:p>
          </p:txBody>
        </p:sp>
        <p:sp>
          <p:nvSpPr>
            <p:cNvPr id="29" name="object 29"/>
            <p:cNvSpPr/>
            <p:nvPr/>
          </p:nvSpPr>
          <p:spPr>
            <a:xfrm>
              <a:off x="8839198" y="3885160"/>
              <a:ext cx="381000" cy="76200"/>
            </a:xfrm>
            <a:custGeom>
              <a:avLst/>
              <a:gdLst/>
              <a:ahLst/>
              <a:cxnLst/>
              <a:rect l="l" t="t" r="r" b="b"/>
              <a:pathLst>
                <a:path w="381000" h="76200">
                  <a:moveTo>
                    <a:pt x="381000" y="0"/>
                  </a:moveTo>
                  <a:lnTo>
                    <a:pt x="0" y="0"/>
                  </a:lnTo>
                  <a:lnTo>
                    <a:pt x="0" y="76200"/>
                  </a:lnTo>
                  <a:lnTo>
                    <a:pt x="381000" y="76200"/>
                  </a:lnTo>
                  <a:lnTo>
                    <a:pt x="381000" y="0"/>
                  </a:lnTo>
                  <a:close/>
                </a:path>
              </a:pathLst>
            </a:custGeom>
            <a:solidFill>
              <a:srgbClr val="B51826"/>
            </a:solidFill>
          </p:spPr>
          <p:txBody>
            <a:bodyPr wrap="square" lIns="0" tIns="0" rIns="0" bIns="0" rtlCol="0"/>
            <a:lstStyle/>
            <a:p>
              <a:endParaRPr sz="2473"/>
            </a:p>
          </p:txBody>
        </p:sp>
        <p:sp>
          <p:nvSpPr>
            <p:cNvPr id="30" name="object 30"/>
            <p:cNvSpPr/>
            <p:nvPr/>
          </p:nvSpPr>
          <p:spPr>
            <a:xfrm>
              <a:off x="8839198" y="3885160"/>
              <a:ext cx="381000" cy="76200"/>
            </a:xfrm>
            <a:custGeom>
              <a:avLst/>
              <a:gdLst/>
              <a:ahLst/>
              <a:cxnLst/>
              <a:rect l="l" t="t" r="r" b="b"/>
              <a:pathLst>
                <a:path w="381000" h="76200">
                  <a:moveTo>
                    <a:pt x="0" y="0"/>
                  </a:moveTo>
                  <a:lnTo>
                    <a:pt x="381000" y="0"/>
                  </a:lnTo>
                  <a:lnTo>
                    <a:pt x="381000" y="76200"/>
                  </a:lnTo>
                  <a:lnTo>
                    <a:pt x="0" y="76200"/>
                  </a:lnTo>
                  <a:lnTo>
                    <a:pt x="0" y="0"/>
                  </a:lnTo>
                  <a:close/>
                </a:path>
              </a:pathLst>
            </a:custGeom>
            <a:ln w="9524">
              <a:solidFill>
                <a:srgbClr val="000000"/>
              </a:solidFill>
            </a:ln>
          </p:spPr>
          <p:txBody>
            <a:bodyPr wrap="square" lIns="0" tIns="0" rIns="0" bIns="0" rtlCol="0"/>
            <a:lstStyle/>
            <a:p>
              <a:endParaRPr sz="2473"/>
            </a:p>
          </p:txBody>
        </p:sp>
      </p:grpSp>
      <p:graphicFrame>
        <p:nvGraphicFramePr>
          <p:cNvPr id="31" name="object 31"/>
          <p:cNvGraphicFramePr>
            <a:graphicFrameLocks noGrp="1"/>
          </p:cNvGraphicFramePr>
          <p:nvPr/>
        </p:nvGraphicFramePr>
        <p:xfrm>
          <a:off x="8158401" y="5134376"/>
          <a:ext cx="4710546" cy="1884215"/>
        </p:xfrm>
        <a:graphic>
          <a:graphicData uri="http://schemas.openxmlformats.org/drawingml/2006/table">
            <a:tbl>
              <a:tblPr firstRow="1" bandRow="1">
                <a:tableStyleId>{2D5ABB26-0587-4C30-8999-92F81FD0307C}</a:tableStyleId>
              </a:tblPr>
              <a:tblGrid>
                <a:gridCol w="104679">
                  <a:extLst>
                    <a:ext uri="{9D8B030D-6E8A-4147-A177-3AD203B41FA5}">
                      <a16:colId xmlns:a16="http://schemas.microsoft.com/office/drawing/2014/main" val="20000"/>
                    </a:ext>
                  </a:extLst>
                </a:gridCol>
                <a:gridCol w="523394">
                  <a:extLst>
                    <a:ext uri="{9D8B030D-6E8A-4147-A177-3AD203B41FA5}">
                      <a16:colId xmlns:a16="http://schemas.microsoft.com/office/drawing/2014/main" val="20001"/>
                    </a:ext>
                  </a:extLst>
                </a:gridCol>
                <a:gridCol w="104679">
                  <a:extLst>
                    <a:ext uri="{9D8B030D-6E8A-4147-A177-3AD203B41FA5}">
                      <a16:colId xmlns:a16="http://schemas.microsoft.com/office/drawing/2014/main" val="20002"/>
                    </a:ext>
                  </a:extLst>
                </a:gridCol>
                <a:gridCol w="523394">
                  <a:extLst>
                    <a:ext uri="{9D8B030D-6E8A-4147-A177-3AD203B41FA5}">
                      <a16:colId xmlns:a16="http://schemas.microsoft.com/office/drawing/2014/main" val="20003"/>
                    </a:ext>
                  </a:extLst>
                </a:gridCol>
                <a:gridCol w="3454400">
                  <a:extLst>
                    <a:ext uri="{9D8B030D-6E8A-4147-A177-3AD203B41FA5}">
                      <a16:colId xmlns:a16="http://schemas.microsoft.com/office/drawing/2014/main" val="20004"/>
                    </a:ext>
                  </a:extLst>
                </a:gridCol>
              </a:tblGrid>
              <a:tr h="314035">
                <a:tc gridSpan="5">
                  <a:txBody>
                    <a:bodyPr/>
                    <a:lstStyle/>
                    <a:p>
                      <a:pPr>
                        <a:lnSpc>
                          <a:spcPct val="100000"/>
                        </a:lnSpc>
                      </a:pPr>
                      <a:endParaRPr sz="18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837430">
                <a:tc rowSpan="2">
                  <a:txBody>
                    <a:bodyPr/>
                    <a:lstStyle/>
                    <a:p>
                      <a:pPr>
                        <a:lnSpc>
                          <a:spcPct val="100000"/>
                        </a:lnSpc>
                      </a:pPr>
                      <a:endParaRPr sz="27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tc rowSpan="2">
                  <a:txBody>
                    <a:bodyPr/>
                    <a:lstStyle/>
                    <a:p>
                      <a:pPr>
                        <a:lnSpc>
                          <a:spcPct val="100000"/>
                        </a:lnSpc>
                        <a:spcBef>
                          <a:spcPts val="25"/>
                        </a:spcBef>
                      </a:pPr>
                      <a:endParaRPr sz="4100">
                        <a:latin typeface="Times New Roman"/>
                        <a:cs typeface="Times New Roman"/>
                      </a:endParaRPr>
                    </a:p>
                    <a:p>
                      <a:pPr marL="52705">
                        <a:lnSpc>
                          <a:spcPct val="100000"/>
                        </a:lnSpc>
                      </a:pPr>
                      <a:r>
                        <a:rPr sz="2500" dirty="0">
                          <a:latin typeface="Lucida Sans Unicode"/>
                          <a:cs typeface="Lucida Sans Unicode"/>
                        </a:rPr>
                        <a:t>N</a:t>
                      </a:r>
                      <a:r>
                        <a:rPr sz="2500" baseline="-20833" dirty="0">
                          <a:latin typeface="Lucida Sans Unicode"/>
                          <a:cs typeface="Lucida Sans Unicode"/>
                        </a:rPr>
                        <a:t>1</a:t>
                      </a:r>
                      <a:endParaRPr sz="2500" baseline="-20833">
                        <a:latin typeface="Lucida Sans Unicode"/>
                        <a:cs typeface="Lucida Sans Unicode"/>
                      </a:endParaRPr>
                    </a:p>
                  </a:txBody>
                  <a:tcPr marL="0" marR="0" marT="4362" marB="0">
                    <a:lnL w="9525">
                      <a:solidFill>
                        <a:srgbClr val="000000"/>
                      </a:solidFill>
                      <a:prstDash val="solid"/>
                    </a:lnL>
                    <a:lnR w="9525">
                      <a:solidFill>
                        <a:srgbClr val="000000"/>
                      </a:solidFill>
                      <a:prstDash val="solid"/>
                    </a:lnR>
                    <a:lnT w="9525">
                      <a:solidFill>
                        <a:srgbClr val="000000"/>
                      </a:solidFill>
                      <a:prstDash val="solid"/>
                    </a:lnT>
                    <a:lnB w="12700">
                      <a:solidFill>
                        <a:srgbClr val="000000"/>
                      </a:solidFill>
                      <a:prstDash val="solid"/>
                    </a:lnB>
                    <a:solidFill>
                      <a:srgbClr val="B51826"/>
                    </a:solidFill>
                  </a:tcPr>
                </a:tc>
                <a:tc gridSpan="3">
                  <a:txBody>
                    <a:bodyPr/>
                    <a:lstStyle/>
                    <a:p>
                      <a:pPr>
                        <a:lnSpc>
                          <a:spcPct val="100000"/>
                        </a:lnSpc>
                      </a:pPr>
                      <a:endParaRPr sz="2700">
                        <a:latin typeface="Times New Roman"/>
                        <a:cs typeface="Times New Roman"/>
                      </a:endParaRPr>
                    </a:p>
                  </a:txBody>
                  <a:tcPr marL="0" marR="0" marT="0" marB="0">
                    <a:lnL w="9525">
                      <a:solidFill>
                        <a:srgbClr val="000000"/>
                      </a:solidFill>
                      <a:prstDash val="solid"/>
                    </a:lnL>
                    <a:lnR w="9525">
                      <a:solidFill>
                        <a:srgbClr val="000000"/>
                      </a:solidFill>
                      <a:prstDash val="solid"/>
                    </a:lnR>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732750">
                <a:tc vMerge="1">
                  <a:txBody>
                    <a:bodyPr/>
                    <a:lstStyle/>
                    <a:p>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tc vMerge="1">
                  <a:txBody>
                    <a:bodyPr/>
                    <a:lstStyle/>
                    <a:p>
                      <a:endParaRPr/>
                    </a:p>
                  </a:txBody>
                  <a:tcPr marL="0" marR="0" marT="3175" marB="0">
                    <a:lnL w="9525">
                      <a:solidFill>
                        <a:srgbClr val="000000"/>
                      </a:solidFill>
                      <a:prstDash val="solid"/>
                    </a:lnL>
                    <a:lnR w="9525">
                      <a:solidFill>
                        <a:srgbClr val="000000"/>
                      </a:solidFill>
                      <a:prstDash val="solid"/>
                    </a:lnR>
                    <a:lnT w="9525">
                      <a:solidFill>
                        <a:srgbClr val="000000"/>
                      </a:solidFill>
                      <a:prstDash val="solid"/>
                    </a:lnT>
                    <a:lnB w="12700">
                      <a:solidFill>
                        <a:srgbClr val="000000"/>
                      </a:solidFill>
                      <a:prstDash val="solid"/>
                    </a:lnB>
                    <a:solidFill>
                      <a:srgbClr val="B51826"/>
                    </a:solidFill>
                  </a:tcPr>
                </a:tc>
                <a:tc>
                  <a:txBody>
                    <a:bodyPr/>
                    <a:lstStyle/>
                    <a:p>
                      <a:pPr>
                        <a:lnSpc>
                          <a:spcPct val="100000"/>
                        </a:lnSpc>
                      </a:pPr>
                      <a:endParaRPr sz="27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tc>
                  <a:txBody>
                    <a:bodyPr/>
                    <a:lstStyle/>
                    <a:p>
                      <a:pPr marL="53340">
                        <a:lnSpc>
                          <a:spcPct val="100000"/>
                        </a:lnSpc>
                        <a:spcBef>
                          <a:spcPts val="1020"/>
                        </a:spcBef>
                      </a:pPr>
                      <a:r>
                        <a:rPr sz="2500" dirty="0">
                          <a:latin typeface="Lucida Sans Unicode"/>
                          <a:cs typeface="Lucida Sans Unicode"/>
                        </a:rPr>
                        <a:t>N</a:t>
                      </a:r>
                      <a:r>
                        <a:rPr sz="2500" baseline="-20833" dirty="0">
                          <a:latin typeface="Lucida Sans Unicode"/>
                          <a:cs typeface="Lucida Sans Unicode"/>
                        </a:rPr>
                        <a:t>2</a:t>
                      </a:r>
                      <a:endParaRPr sz="2500" baseline="-20833">
                        <a:latin typeface="Lucida Sans Unicode"/>
                        <a:cs typeface="Lucida Sans Unicode"/>
                      </a:endParaRPr>
                    </a:p>
                  </a:txBody>
                  <a:tcPr marL="0" marR="0" marT="177954" marB="0">
                    <a:lnL w="9525">
                      <a:solidFill>
                        <a:srgbClr val="000000"/>
                      </a:solidFill>
                      <a:prstDash val="solid"/>
                    </a:lnL>
                    <a:lnR w="9525">
                      <a:solidFill>
                        <a:srgbClr val="000000"/>
                      </a:solidFill>
                      <a:prstDash val="solid"/>
                    </a:lnR>
                    <a:lnT w="9525">
                      <a:solidFill>
                        <a:srgbClr val="000000"/>
                      </a:solidFill>
                      <a:prstDash val="solid"/>
                    </a:lnT>
                    <a:lnB w="12700">
                      <a:solidFill>
                        <a:srgbClr val="000000"/>
                      </a:solidFill>
                      <a:prstDash val="solid"/>
                    </a:lnB>
                    <a:solidFill>
                      <a:srgbClr val="B51826"/>
                    </a:solidFill>
                  </a:tcPr>
                </a:tc>
                <a:tc>
                  <a:txBody>
                    <a:bodyPr/>
                    <a:lstStyle/>
                    <a:p>
                      <a:pPr>
                        <a:lnSpc>
                          <a:spcPct val="100000"/>
                        </a:lnSpc>
                      </a:pPr>
                      <a:endParaRPr sz="27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32" name="object 32"/>
          <p:cNvGrpSpPr/>
          <p:nvPr/>
        </p:nvGrpSpPr>
        <p:grpSpPr>
          <a:xfrm>
            <a:off x="9519224" y="6586793"/>
            <a:ext cx="3255510" cy="436162"/>
            <a:chOff x="6929435" y="5852073"/>
            <a:chExt cx="2369820" cy="317500"/>
          </a:xfrm>
        </p:grpSpPr>
        <p:sp>
          <p:nvSpPr>
            <p:cNvPr id="33" name="object 33"/>
            <p:cNvSpPr/>
            <p:nvPr/>
          </p:nvSpPr>
          <p:spPr>
            <a:xfrm>
              <a:off x="6934198" y="5856836"/>
              <a:ext cx="2360295" cy="307975"/>
            </a:xfrm>
            <a:custGeom>
              <a:avLst/>
              <a:gdLst/>
              <a:ahLst/>
              <a:cxnLst/>
              <a:rect l="l" t="t" r="r" b="b"/>
              <a:pathLst>
                <a:path w="2360295" h="307975">
                  <a:moveTo>
                    <a:pt x="0" y="0"/>
                  </a:moveTo>
                  <a:lnTo>
                    <a:pt x="13548" y="290512"/>
                  </a:lnTo>
                  <a:lnTo>
                    <a:pt x="233974" y="294419"/>
                  </a:lnTo>
                  <a:lnTo>
                    <a:pt x="753827" y="300358"/>
                  </a:lnTo>
                  <a:lnTo>
                    <a:pt x="1570520" y="306428"/>
                  </a:lnTo>
                  <a:lnTo>
                    <a:pt x="2036823" y="307938"/>
                  </a:lnTo>
                  <a:lnTo>
                    <a:pt x="2241666" y="307375"/>
                  </a:lnTo>
                  <a:lnTo>
                    <a:pt x="2319636" y="306367"/>
                  </a:lnTo>
                  <a:lnTo>
                    <a:pt x="2349518" y="305387"/>
                  </a:lnTo>
                  <a:lnTo>
                    <a:pt x="2357222" y="304799"/>
                  </a:lnTo>
                  <a:lnTo>
                    <a:pt x="2360168" y="304073"/>
                  </a:lnTo>
                  <a:lnTo>
                    <a:pt x="2357242" y="303320"/>
                  </a:lnTo>
                  <a:lnTo>
                    <a:pt x="2348706" y="302537"/>
                  </a:lnTo>
                  <a:lnTo>
                    <a:pt x="2315856" y="300874"/>
                  </a:lnTo>
                  <a:lnTo>
                    <a:pt x="2231070" y="298094"/>
                  </a:lnTo>
                  <a:lnTo>
                    <a:pt x="1535002" y="280412"/>
                  </a:lnTo>
                  <a:lnTo>
                    <a:pt x="1272863" y="272522"/>
                  </a:lnTo>
                  <a:lnTo>
                    <a:pt x="1079816" y="265661"/>
                  </a:lnTo>
                  <a:lnTo>
                    <a:pt x="956748" y="260598"/>
                  </a:lnTo>
                  <a:lnTo>
                    <a:pt x="840634" y="255117"/>
                  </a:lnTo>
                  <a:lnTo>
                    <a:pt x="733573" y="249199"/>
                  </a:lnTo>
                  <a:lnTo>
                    <a:pt x="684093" y="246068"/>
                  </a:lnTo>
                  <a:lnTo>
                    <a:pt x="637664" y="242820"/>
                  </a:lnTo>
                  <a:lnTo>
                    <a:pt x="594548" y="239452"/>
                  </a:lnTo>
                  <a:lnTo>
                    <a:pt x="555007" y="235961"/>
                  </a:lnTo>
                  <a:lnTo>
                    <a:pt x="487701" y="228600"/>
                  </a:lnTo>
                  <a:lnTo>
                    <a:pt x="396222" y="214036"/>
                  </a:lnTo>
                  <a:lnTo>
                    <a:pt x="317514" y="196232"/>
                  </a:lnTo>
                  <a:lnTo>
                    <a:pt x="250518" y="175914"/>
                  </a:lnTo>
                  <a:lnTo>
                    <a:pt x="194177" y="153811"/>
                  </a:lnTo>
                  <a:lnTo>
                    <a:pt x="147432" y="130649"/>
                  </a:lnTo>
                  <a:lnTo>
                    <a:pt x="109224" y="107156"/>
                  </a:lnTo>
                  <a:lnTo>
                    <a:pt x="78496" y="84060"/>
                  </a:lnTo>
                  <a:lnTo>
                    <a:pt x="35244" y="41969"/>
                  </a:lnTo>
                  <a:lnTo>
                    <a:pt x="9207" y="10197"/>
                  </a:lnTo>
                  <a:lnTo>
                    <a:pt x="0" y="0"/>
                  </a:lnTo>
                  <a:close/>
                </a:path>
              </a:pathLst>
            </a:custGeom>
            <a:solidFill>
              <a:srgbClr val="B51826"/>
            </a:solidFill>
          </p:spPr>
          <p:txBody>
            <a:bodyPr wrap="square" lIns="0" tIns="0" rIns="0" bIns="0" rtlCol="0"/>
            <a:lstStyle/>
            <a:p>
              <a:endParaRPr sz="2473"/>
            </a:p>
          </p:txBody>
        </p:sp>
        <p:sp>
          <p:nvSpPr>
            <p:cNvPr id="34" name="object 34"/>
            <p:cNvSpPr/>
            <p:nvPr/>
          </p:nvSpPr>
          <p:spPr>
            <a:xfrm>
              <a:off x="6934198" y="5856836"/>
              <a:ext cx="2360295" cy="307975"/>
            </a:xfrm>
            <a:custGeom>
              <a:avLst/>
              <a:gdLst/>
              <a:ahLst/>
              <a:cxnLst/>
              <a:rect l="l" t="t" r="r" b="b"/>
              <a:pathLst>
                <a:path w="2360295" h="307975">
                  <a:moveTo>
                    <a:pt x="0" y="0"/>
                  </a:moveTo>
                  <a:lnTo>
                    <a:pt x="9207" y="10197"/>
                  </a:lnTo>
                  <a:lnTo>
                    <a:pt x="20603" y="24429"/>
                  </a:lnTo>
                  <a:lnTo>
                    <a:pt x="35244" y="41969"/>
                  </a:lnTo>
                  <a:lnTo>
                    <a:pt x="78496" y="84060"/>
                  </a:lnTo>
                  <a:lnTo>
                    <a:pt x="109224" y="107156"/>
                  </a:lnTo>
                  <a:lnTo>
                    <a:pt x="147432" y="130649"/>
                  </a:lnTo>
                  <a:lnTo>
                    <a:pt x="194177" y="153811"/>
                  </a:lnTo>
                  <a:lnTo>
                    <a:pt x="250518" y="175914"/>
                  </a:lnTo>
                  <a:lnTo>
                    <a:pt x="317513" y="196232"/>
                  </a:lnTo>
                  <a:lnTo>
                    <a:pt x="396221" y="214036"/>
                  </a:lnTo>
                  <a:lnTo>
                    <a:pt x="487701" y="228599"/>
                  </a:lnTo>
                  <a:lnTo>
                    <a:pt x="555007" y="235961"/>
                  </a:lnTo>
                  <a:lnTo>
                    <a:pt x="594548" y="239452"/>
                  </a:lnTo>
                  <a:lnTo>
                    <a:pt x="637664" y="242820"/>
                  </a:lnTo>
                  <a:lnTo>
                    <a:pt x="684093" y="246068"/>
                  </a:lnTo>
                  <a:lnTo>
                    <a:pt x="733573" y="249198"/>
                  </a:lnTo>
                  <a:lnTo>
                    <a:pt x="785840" y="252214"/>
                  </a:lnTo>
                  <a:lnTo>
                    <a:pt x="840634" y="255117"/>
                  </a:lnTo>
                  <a:lnTo>
                    <a:pt x="897691" y="257911"/>
                  </a:lnTo>
                  <a:lnTo>
                    <a:pt x="956748" y="260597"/>
                  </a:lnTo>
                  <a:lnTo>
                    <a:pt x="1017544" y="263180"/>
                  </a:lnTo>
                  <a:lnTo>
                    <a:pt x="1079816" y="265661"/>
                  </a:lnTo>
                  <a:lnTo>
                    <a:pt x="1143301" y="268044"/>
                  </a:lnTo>
                  <a:lnTo>
                    <a:pt x="1207738" y="270330"/>
                  </a:lnTo>
                  <a:lnTo>
                    <a:pt x="1272863" y="272522"/>
                  </a:lnTo>
                  <a:lnTo>
                    <a:pt x="1338414" y="274624"/>
                  </a:lnTo>
                  <a:lnTo>
                    <a:pt x="1404129" y="276638"/>
                  </a:lnTo>
                  <a:lnTo>
                    <a:pt x="1469746" y="278566"/>
                  </a:lnTo>
                  <a:lnTo>
                    <a:pt x="1535002" y="280412"/>
                  </a:lnTo>
                  <a:lnTo>
                    <a:pt x="1599634" y="282178"/>
                  </a:lnTo>
                  <a:lnTo>
                    <a:pt x="1663380" y="283866"/>
                  </a:lnTo>
                  <a:lnTo>
                    <a:pt x="1725978" y="285479"/>
                  </a:lnTo>
                  <a:lnTo>
                    <a:pt x="1787166" y="287021"/>
                  </a:lnTo>
                  <a:lnTo>
                    <a:pt x="1846680" y="288493"/>
                  </a:lnTo>
                  <a:lnTo>
                    <a:pt x="1904259" y="289898"/>
                  </a:lnTo>
                  <a:lnTo>
                    <a:pt x="1959639" y="291239"/>
                  </a:lnTo>
                  <a:lnTo>
                    <a:pt x="2012559" y="292519"/>
                  </a:lnTo>
                  <a:lnTo>
                    <a:pt x="2062757" y="293741"/>
                  </a:lnTo>
                  <a:lnTo>
                    <a:pt x="2109969" y="294906"/>
                  </a:lnTo>
                  <a:lnTo>
                    <a:pt x="2153933" y="296019"/>
                  </a:lnTo>
                  <a:lnTo>
                    <a:pt x="2194388" y="297080"/>
                  </a:lnTo>
                  <a:lnTo>
                    <a:pt x="2263716" y="299062"/>
                  </a:lnTo>
                  <a:lnTo>
                    <a:pt x="2315855" y="300874"/>
                  </a:lnTo>
                  <a:lnTo>
                    <a:pt x="2357241" y="303319"/>
                  </a:lnTo>
                  <a:lnTo>
                    <a:pt x="2360167" y="304073"/>
                  </a:lnTo>
                  <a:lnTo>
                    <a:pt x="2357221" y="304799"/>
                  </a:lnTo>
                  <a:lnTo>
                    <a:pt x="2297862" y="306763"/>
                  </a:lnTo>
                  <a:lnTo>
                    <a:pt x="2241664" y="307375"/>
                  </a:lnTo>
                  <a:lnTo>
                    <a:pt x="2169949" y="307759"/>
                  </a:lnTo>
                  <a:lnTo>
                    <a:pt x="2128778" y="307870"/>
                  </a:lnTo>
                  <a:lnTo>
                    <a:pt x="2084335" y="307929"/>
                  </a:lnTo>
                  <a:lnTo>
                    <a:pt x="2036822" y="307938"/>
                  </a:lnTo>
                  <a:lnTo>
                    <a:pt x="1986442" y="307899"/>
                  </a:lnTo>
                  <a:lnTo>
                    <a:pt x="1933398" y="307814"/>
                  </a:lnTo>
                  <a:lnTo>
                    <a:pt x="1877892" y="307685"/>
                  </a:lnTo>
                  <a:lnTo>
                    <a:pt x="1820126" y="307512"/>
                  </a:lnTo>
                  <a:lnTo>
                    <a:pt x="1760304" y="307298"/>
                  </a:lnTo>
                  <a:lnTo>
                    <a:pt x="1698627" y="307045"/>
                  </a:lnTo>
                  <a:lnTo>
                    <a:pt x="1635297" y="306755"/>
                  </a:lnTo>
                  <a:lnTo>
                    <a:pt x="1570519" y="306428"/>
                  </a:lnTo>
                  <a:lnTo>
                    <a:pt x="1504493" y="306068"/>
                  </a:lnTo>
                  <a:lnTo>
                    <a:pt x="1437423" y="305675"/>
                  </a:lnTo>
                  <a:lnTo>
                    <a:pt x="1369511" y="305251"/>
                  </a:lnTo>
                  <a:lnTo>
                    <a:pt x="1300959" y="304799"/>
                  </a:lnTo>
                  <a:lnTo>
                    <a:pt x="1231970" y="304320"/>
                  </a:lnTo>
                  <a:lnTo>
                    <a:pt x="1162747" y="303816"/>
                  </a:lnTo>
                  <a:lnTo>
                    <a:pt x="1093492" y="303288"/>
                  </a:lnTo>
                  <a:lnTo>
                    <a:pt x="1024408" y="302738"/>
                  </a:lnTo>
                  <a:lnTo>
                    <a:pt x="955697" y="302169"/>
                  </a:lnTo>
                  <a:lnTo>
                    <a:pt x="887561" y="301581"/>
                  </a:lnTo>
                  <a:lnTo>
                    <a:pt x="820203" y="300977"/>
                  </a:lnTo>
                  <a:lnTo>
                    <a:pt x="753826" y="300358"/>
                  </a:lnTo>
                  <a:lnTo>
                    <a:pt x="688632" y="299726"/>
                  </a:lnTo>
                  <a:lnTo>
                    <a:pt x="624824" y="299084"/>
                  </a:lnTo>
                  <a:lnTo>
                    <a:pt x="562604" y="298431"/>
                  </a:lnTo>
                  <a:lnTo>
                    <a:pt x="502174" y="297771"/>
                  </a:lnTo>
                  <a:lnTo>
                    <a:pt x="443738" y="297105"/>
                  </a:lnTo>
                  <a:lnTo>
                    <a:pt x="387497" y="296436"/>
                  </a:lnTo>
                  <a:lnTo>
                    <a:pt x="333654" y="295763"/>
                  </a:lnTo>
                  <a:lnTo>
                    <a:pt x="282412" y="295090"/>
                  </a:lnTo>
                  <a:lnTo>
                    <a:pt x="233973" y="294419"/>
                  </a:lnTo>
                  <a:lnTo>
                    <a:pt x="188540" y="293750"/>
                  </a:lnTo>
                  <a:lnTo>
                    <a:pt x="146315" y="293086"/>
                  </a:lnTo>
                  <a:lnTo>
                    <a:pt x="107501" y="292428"/>
                  </a:lnTo>
                  <a:lnTo>
                    <a:pt x="40914" y="291140"/>
                  </a:lnTo>
                  <a:lnTo>
                    <a:pt x="13547" y="290512"/>
                  </a:lnTo>
                  <a:lnTo>
                    <a:pt x="0" y="0"/>
                  </a:lnTo>
                  <a:close/>
                </a:path>
              </a:pathLst>
            </a:custGeom>
            <a:ln w="9524">
              <a:solidFill>
                <a:srgbClr val="000000"/>
              </a:solidFill>
            </a:ln>
          </p:spPr>
          <p:txBody>
            <a:bodyPr wrap="square" lIns="0" tIns="0" rIns="0" bIns="0" rtlCol="0"/>
            <a:lstStyle/>
            <a:p>
              <a:endParaRPr sz="2473"/>
            </a:p>
          </p:txBody>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014829"/>
            <a:ext cx="8625532" cy="694084"/>
          </a:xfrm>
          <a:prstGeom prst="rect">
            <a:avLst/>
          </a:prstGeom>
        </p:spPr>
        <p:txBody>
          <a:bodyPr vert="horz" wrap="square" lIns="0" tIns="17446" rIns="0" bIns="0" rtlCol="0">
            <a:spAutoFit/>
          </a:bodyPr>
          <a:lstStyle/>
          <a:p>
            <a:pPr marL="17446">
              <a:spcBef>
                <a:spcPts val="137"/>
              </a:spcBef>
            </a:pPr>
            <a:r>
              <a:rPr spc="-7" dirty="0"/>
              <a:t>Resulting</a:t>
            </a:r>
            <a:r>
              <a:rPr spc="-34" dirty="0"/>
              <a:t> </a:t>
            </a:r>
            <a:r>
              <a:rPr spc="-7" dirty="0"/>
              <a:t>Good-Turing</a:t>
            </a:r>
            <a:r>
              <a:rPr spc="-34" dirty="0"/>
              <a:t> </a:t>
            </a:r>
            <a:r>
              <a:rPr spc="-7" dirty="0"/>
              <a:t>numbers</a:t>
            </a:r>
          </a:p>
        </p:txBody>
      </p:sp>
      <p:sp>
        <p:nvSpPr>
          <p:cNvPr id="7" name="object 7"/>
          <p:cNvSpPr txBox="1"/>
          <p:nvPr/>
        </p:nvSpPr>
        <p:spPr>
          <a:xfrm>
            <a:off x="1257972" y="2642614"/>
            <a:ext cx="6062646" cy="2244415"/>
          </a:xfrm>
          <a:prstGeom prst="rect">
            <a:avLst/>
          </a:prstGeom>
        </p:spPr>
        <p:txBody>
          <a:bodyPr vert="horz" wrap="square" lIns="0" tIns="48850" rIns="0" bIns="0" rtlCol="0">
            <a:spAutoFit/>
          </a:bodyPr>
          <a:lstStyle/>
          <a:p>
            <a:pPr marL="523380" indent="-471042">
              <a:spcBef>
                <a:spcPts val="385"/>
              </a:spcBef>
              <a:buClr>
                <a:srgbClr val="CC0000"/>
              </a:buClr>
              <a:buFont typeface="Times New Roman"/>
              <a:buChar char="•"/>
              <a:tabLst>
                <a:tab pos="522507" algn="l"/>
                <a:tab pos="523380" algn="l"/>
              </a:tabLst>
            </a:pPr>
            <a:r>
              <a:rPr sz="2747" spc="-7" dirty="0">
                <a:latin typeface="Calibri"/>
                <a:cs typeface="Calibri"/>
              </a:rPr>
              <a:t>Numbers</a:t>
            </a:r>
            <a:r>
              <a:rPr sz="2747" spc="-14" dirty="0">
                <a:latin typeface="Calibri"/>
                <a:cs typeface="Calibri"/>
              </a:rPr>
              <a:t> </a:t>
            </a:r>
            <a:r>
              <a:rPr sz="2747" spc="-7" dirty="0">
                <a:latin typeface="Calibri"/>
                <a:cs typeface="Calibri"/>
              </a:rPr>
              <a:t>from Church </a:t>
            </a:r>
            <a:r>
              <a:rPr sz="2747" dirty="0">
                <a:latin typeface="Calibri"/>
                <a:cs typeface="Calibri"/>
              </a:rPr>
              <a:t>and</a:t>
            </a:r>
            <a:r>
              <a:rPr sz="2747" spc="-7" dirty="0">
                <a:latin typeface="Calibri"/>
                <a:cs typeface="Calibri"/>
              </a:rPr>
              <a:t> </a:t>
            </a:r>
            <a:r>
              <a:rPr sz="2747" dirty="0">
                <a:latin typeface="Calibri"/>
                <a:cs typeface="Calibri"/>
              </a:rPr>
              <a:t>Gale</a:t>
            </a:r>
            <a:r>
              <a:rPr sz="2747" spc="-7" dirty="0">
                <a:latin typeface="Calibri"/>
                <a:cs typeface="Calibri"/>
              </a:rPr>
              <a:t> (1991)</a:t>
            </a:r>
            <a:endParaRPr sz="2747" dirty="0">
              <a:latin typeface="Calibri"/>
              <a:cs typeface="Calibri"/>
            </a:endParaRPr>
          </a:p>
          <a:p>
            <a:pPr marL="523380" indent="-471042">
              <a:spcBef>
                <a:spcPts val="247"/>
              </a:spcBef>
              <a:buClr>
                <a:srgbClr val="CC0000"/>
              </a:buClr>
              <a:buFont typeface="Times New Roman"/>
              <a:buChar char="•"/>
              <a:tabLst>
                <a:tab pos="522507" algn="l"/>
                <a:tab pos="523380" algn="l"/>
              </a:tabLst>
            </a:pPr>
            <a:r>
              <a:rPr sz="2747" dirty="0">
                <a:latin typeface="Calibri"/>
                <a:cs typeface="Calibri"/>
              </a:rPr>
              <a:t>22</a:t>
            </a:r>
            <a:r>
              <a:rPr sz="2747" spc="-21" dirty="0">
                <a:latin typeface="Calibri"/>
                <a:cs typeface="Calibri"/>
              </a:rPr>
              <a:t> </a:t>
            </a:r>
            <a:r>
              <a:rPr sz="2747" spc="-7" dirty="0">
                <a:latin typeface="Calibri"/>
                <a:cs typeface="Calibri"/>
              </a:rPr>
              <a:t>million</a:t>
            </a:r>
            <a:r>
              <a:rPr sz="2747" spc="-14" dirty="0">
                <a:latin typeface="Calibri"/>
                <a:cs typeface="Calibri"/>
              </a:rPr>
              <a:t> </a:t>
            </a:r>
            <a:r>
              <a:rPr sz="2747" spc="-7" dirty="0">
                <a:latin typeface="Calibri"/>
                <a:cs typeface="Calibri"/>
              </a:rPr>
              <a:t>words</a:t>
            </a:r>
            <a:r>
              <a:rPr sz="2747" spc="-14" dirty="0">
                <a:latin typeface="Calibri"/>
                <a:cs typeface="Calibri"/>
              </a:rPr>
              <a:t> </a:t>
            </a:r>
            <a:r>
              <a:rPr sz="2747" dirty="0">
                <a:latin typeface="Calibri"/>
                <a:cs typeface="Calibri"/>
              </a:rPr>
              <a:t>of</a:t>
            </a:r>
            <a:r>
              <a:rPr sz="2747" spc="-21" dirty="0">
                <a:latin typeface="Calibri"/>
                <a:cs typeface="Calibri"/>
              </a:rPr>
              <a:t> </a:t>
            </a:r>
            <a:r>
              <a:rPr sz="2747" dirty="0">
                <a:latin typeface="Calibri"/>
                <a:cs typeface="Calibri"/>
              </a:rPr>
              <a:t>AP</a:t>
            </a:r>
            <a:r>
              <a:rPr sz="2747" spc="-7" dirty="0">
                <a:latin typeface="Calibri"/>
                <a:cs typeface="Calibri"/>
              </a:rPr>
              <a:t> </a:t>
            </a:r>
            <a:r>
              <a:rPr sz="2747" dirty="0">
                <a:latin typeface="Calibri"/>
                <a:cs typeface="Calibri"/>
              </a:rPr>
              <a:t>Newswire</a:t>
            </a:r>
          </a:p>
          <a:p>
            <a:pPr marL="1443656">
              <a:spcBef>
                <a:spcPts val="2816"/>
              </a:spcBef>
            </a:pPr>
            <a:r>
              <a:rPr sz="4327" i="1" spc="-30" baseline="-34391" dirty="0">
                <a:latin typeface="Times New Roman"/>
                <a:cs typeface="Times New Roman"/>
              </a:rPr>
              <a:t>c</a:t>
            </a:r>
            <a:r>
              <a:rPr sz="4327" spc="21" baseline="-34391" dirty="0">
                <a:latin typeface="Times New Roman"/>
                <a:cs typeface="Times New Roman"/>
              </a:rPr>
              <a:t>*</a:t>
            </a:r>
            <a:r>
              <a:rPr sz="4327" spc="-401" baseline="-34391" dirty="0">
                <a:latin typeface="Times New Roman"/>
                <a:cs typeface="Times New Roman"/>
              </a:rPr>
              <a:t> </a:t>
            </a:r>
            <a:r>
              <a:rPr sz="4327" spc="30" baseline="-34391" dirty="0">
                <a:latin typeface="Symbol"/>
                <a:cs typeface="Symbol"/>
              </a:rPr>
              <a:t></a:t>
            </a:r>
            <a:r>
              <a:rPr sz="4327" spc="60" baseline="-34391" dirty="0">
                <a:latin typeface="Times New Roman"/>
                <a:cs typeface="Times New Roman"/>
              </a:rPr>
              <a:t> </a:t>
            </a:r>
            <a:r>
              <a:rPr sz="2885" spc="34" dirty="0">
                <a:latin typeface="Times New Roman"/>
                <a:cs typeface="Times New Roman"/>
              </a:rPr>
              <a:t>(</a:t>
            </a:r>
            <a:r>
              <a:rPr sz="2885" i="1" spc="14" dirty="0">
                <a:latin typeface="Times New Roman"/>
                <a:cs typeface="Times New Roman"/>
              </a:rPr>
              <a:t>c</a:t>
            </a:r>
            <a:r>
              <a:rPr sz="2885" i="1" spc="-288" dirty="0">
                <a:latin typeface="Times New Roman"/>
                <a:cs typeface="Times New Roman"/>
              </a:rPr>
              <a:t> </a:t>
            </a:r>
            <a:r>
              <a:rPr sz="2885" spc="185" dirty="0">
                <a:latin typeface="Symbol"/>
                <a:cs typeface="Symbol"/>
              </a:rPr>
              <a:t></a:t>
            </a:r>
            <a:r>
              <a:rPr sz="2885" spc="-144" dirty="0">
                <a:latin typeface="Times New Roman"/>
                <a:cs typeface="Times New Roman"/>
              </a:rPr>
              <a:t>1</a:t>
            </a:r>
            <a:r>
              <a:rPr sz="2885" spc="144" dirty="0">
                <a:latin typeface="Times New Roman"/>
                <a:cs typeface="Times New Roman"/>
              </a:rPr>
              <a:t>)</a:t>
            </a:r>
            <a:r>
              <a:rPr sz="2885" i="1" spc="157" dirty="0">
                <a:latin typeface="Times New Roman"/>
                <a:cs typeface="Times New Roman"/>
              </a:rPr>
              <a:t>N</a:t>
            </a:r>
            <a:r>
              <a:rPr sz="2473" i="1" spc="41" baseline="-25462" dirty="0">
                <a:latin typeface="Times New Roman"/>
                <a:cs typeface="Times New Roman"/>
              </a:rPr>
              <a:t>c</a:t>
            </a:r>
            <a:r>
              <a:rPr sz="2473" spc="-185" baseline="-25462" dirty="0">
                <a:latin typeface="Symbol"/>
                <a:cs typeface="Symbol"/>
              </a:rPr>
              <a:t></a:t>
            </a:r>
            <a:r>
              <a:rPr sz="2473" spc="30" baseline="-25462" dirty="0">
                <a:latin typeface="Times New Roman"/>
                <a:cs typeface="Times New Roman"/>
              </a:rPr>
              <a:t>1</a:t>
            </a:r>
            <a:endParaRPr sz="2473" baseline="-25462" dirty="0">
              <a:latin typeface="Times New Roman"/>
              <a:cs typeface="Times New Roman"/>
            </a:endParaRPr>
          </a:p>
          <a:p>
            <a:pPr marR="295710" algn="ctr">
              <a:spcBef>
                <a:spcPts val="625"/>
              </a:spcBef>
            </a:pPr>
            <a:r>
              <a:rPr sz="2885" i="1" spc="89" dirty="0">
                <a:latin typeface="Times New Roman"/>
                <a:cs typeface="Times New Roman"/>
              </a:rPr>
              <a:t>N</a:t>
            </a:r>
            <a:r>
              <a:rPr sz="2473" i="1" spc="133" baseline="-25462" dirty="0">
                <a:latin typeface="Times New Roman"/>
                <a:cs typeface="Times New Roman"/>
              </a:rPr>
              <a:t>c</a:t>
            </a:r>
            <a:endParaRPr sz="2473" baseline="-25462" dirty="0">
              <a:latin typeface="Times New Roman"/>
              <a:cs typeface="Times New Roman"/>
            </a:endParaRPr>
          </a:p>
        </p:txBody>
      </p:sp>
      <p:graphicFrame>
        <p:nvGraphicFramePr>
          <p:cNvPr id="8" name="object 8"/>
          <p:cNvGraphicFramePr>
            <a:graphicFrameLocks noGrp="1"/>
          </p:cNvGraphicFramePr>
          <p:nvPr/>
        </p:nvGraphicFramePr>
        <p:xfrm>
          <a:off x="8564033" y="1980927"/>
          <a:ext cx="3769309" cy="4857083"/>
        </p:xfrm>
        <a:graphic>
          <a:graphicData uri="http://schemas.openxmlformats.org/drawingml/2006/table">
            <a:tbl>
              <a:tblPr firstRow="1" bandRow="1">
                <a:tableStyleId>{2D5ABB26-0587-4C30-8999-92F81FD0307C}</a:tableStyleId>
              </a:tblPr>
              <a:tblGrid>
                <a:gridCol w="1216019">
                  <a:extLst>
                    <a:ext uri="{9D8B030D-6E8A-4147-A177-3AD203B41FA5}">
                      <a16:colId xmlns:a16="http://schemas.microsoft.com/office/drawing/2014/main" val="20000"/>
                    </a:ext>
                  </a:extLst>
                </a:gridCol>
                <a:gridCol w="2553290">
                  <a:extLst>
                    <a:ext uri="{9D8B030D-6E8A-4147-A177-3AD203B41FA5}">
                      <a16:colId xmlns:a16="http://schemas.microsoft.com/office/drawing/2014/main" val="20001"/>
                    </a:ext>
                  </a:extLst>
                </a:gridCol>
              </a:tblGrid>
              <a:tr h="523393">
                <a:tc>
                  <a:txBody>
                    <a:bodyPr/>
                    <a:lstStyle/>
                    <a:p>
                      <a:pPr marL="91440">
                        <a:lnSpc>
                          <a:spcPct val="100000"/>
                        </a:lnSpc>
                        <a:spcBef>
                          <a:spcPts val="90"/>
                        </a:spcBef>
                      </a:pPr>
                      <a:r>
                        <a:rPr sz="2500" spc="-5" dirty="0">
                          <a:latin typeface="Calibri"/>
                          <a:cs typeface="Calibri"/>
                        </a:rPr>
                        <a:t>Count</a:t>
                      </a:r>
                      <a:r>
                        <a:rPr sz="2500" spc="-35" dirty="0">
                          <a:latin typeface="Calibri"/>
                          <a:cs typeface="Calibri"/>
                        </a:rPr>
                        <a:t> </a:t>
                      </a:r>
                      <a:r>
                        <a:rPr sz="2500" dirty="0">
                          <a:latin typeface="Calibri"/>
                          <a:cs typeface="Calibri"/>
                        </a:rPr>
                        <a:t>c</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Good</a:t>
                      </a:r>
                      <a:r>
                        <a:rPr sz="2500" spc="-20" dirty="0">
                          <a:latin typeface="Calibri"/>
                          <a:cs typeface="Calibri"/>
                        </a:rPr>
                        <a:t> </a:t>
                      </a:r>
                      <a:r>
                        <a:rPr sz="2500" spc="-5" dirty="0">
                          <a:latin typeface="Calibri"/>
                          <a:cs typeface="Calibri"/>
                        </a:rPr>
                        <a:t>Turing</a:t>
                      </a:r>
                      <a:r>
                        <a:rPr sz="2500" spc="-20" dirty="0">
                          <a:latin typeface="Calibri"/>
                          <a:cs typeface="Calibri"/>
                        </a:rPr>
                        <a:t> </a:t>
                      </a:r>
                      <a:r>
                        <a:rPr sz="2500" dirty="0">
                          <a:latin typeface="Calibri"/>
                          <a:cs typeface="Calibri"/>
                        </a:rPr>
                        <a:t>c*</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33369">
                <a:tc>
                  <a:txBody>
                    <a:bodyPr/>
                    <a:lstStyle/>
                    <a:p>
                      <a:pPr marL="91440">
                        <a:lnSpc>
                          <a:spcPct val="100000"/>
                        </a:lnSpc>
                        <a:spcBef>
                          <a:spcPts val="90"/>
                        </a:spcBef>
                      </a:pPr>
                      <a:r>
                        <a:rPr sz="2500" dirty="0">
                          <a:latin typeface="Calibri"/>
                          <a:cs typeface="Calibri"/>
                        </a:rPr>
                        <a:t>0</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.0000270</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33369">
                <a:tc>
                  <a:txBody>
                    <a:bodyPr/>
                    <a:lstStyle/>
                    <a:p>
                      <a:pPr marL="91440">
                        <a:lnSpc>
                          <a:spcPct val="100000"/>
                        </a:lnSpc>
                        <a:spcBef>
                          <a:spcPts val="90"/>
                        </a:spcBef>
                      </a:pPr>
                      <a:r>
                        <a:rPr sz="2500" dirty="0">
                          <a:latin typeface="Calibri"/>
                          <a:cs typeface="Calibri"/>
                        </a:rPr>
                        <a:t>1</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0.446</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33369">
                <a:tc>
                  <a:txBody>
                    <a:bodyPr/>
                    <a:lstStyle/>
                    <a:p>
                      <a:pPr marL="91440">
                        <a:lnSpc>
                          <a:spcPct val="100000"/>
                        </a:lnSpc>
                        <a:spcBef>
                          <a:spcPts val="90"/>
                        </a:spcBef>
                      </a:pPr>
                      <a:r>
                        <a:rPr sz="2500" dirty="0">
                          <a:latin typeface="Calibri"/>
                          <a:cs typeface="Calibri"/>
                        </a:rPr>
                        <a:t>2</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1.26</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33369">
                <a:tc>
                  <a:txBody>
                    <a:bodyPr/>
                    <a:lstStyle/>
                    <a:p>
                      <a:pPr marL="91440">
                        <a:lnSpc>
                          <a:spcPct val="100000"/>
                        </a:lnSpc>
                        <a:spcBef>
                          <a:spcPts val="90"/>
                        </a:spcBef>
                      </a:pPr>
                      <a:r>
                        <a:rPr sz="2500" dirty="0">
                          <a:latin typeface="Calibri"/>
                          <a:cs typeface="Calibri"/>
                        </a:rPr>
                        <a:t>3</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2.24</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33369">
                <a:tc>
                  <a:txBody>
                    <a:bodyPr/>
                    <a:lstStyle/>
                    <a:p>
                      <a:pPr marL="91440">
                        <a:lnSpc>
                          <a:spcPct val="100000"/>
                        </a:lnSpc>
                        <a:spcBef>
                          <a:spcPts val="90"/>
                        </a:spcBef>
                      </a:pPr>
                      <a:r>
                        <a:rPr sz="2500" dirty="0">
                          <a:latin typeface="Calibri"/>
                          <a:cs typeface="Calibri"/>
                        </a:rPr>
                        <a:t>4</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3.24</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433369">
                <a:tc>
                  <a:txBody>
                    <a:bodyPr/>
                    <a:lstStyle/>
                    <a:p>
                      <a:pPr marL="91440">
                        <a:lnSpc>
                          <a:spcPct val="100000"/>
                        </a:lnSpc>
                        <a:spcBef>
                          <a:spcPts val="90"/>
                        </a:spcBef>
                      </a:pPr>
                      <a:r>
                        <a:rPr sz="2500" dirty="0">
                          <a:latin typeface="Calibri"/>
                          <a:cs typeface="Calibri"/>
                        </a:rPr>
                        <a:t>5</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4.22</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433369">
                <a:tc>
                  <a:txBody>
                    <a:bodyPr/>
                    <a:lstStyle/>
                    <a:p>
                      <a:pPr marL="91440">
                        <a:lnSpc>
                          <a:spcPct val="100000"/>
                        </a:lnSpc>
                        <a:spcBef>
                          <a:spcPts val="90"/>
                        </a:spcBef>
                      </a:pPr>
                      <a:r>
                        <a:rPr sz="2500" dirty="0">
                          <a:latin typeface="Calibri"/>
                          <a:cs typeface="Calibri"/>
                        </a:rPr>
                        <a:t>6</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5.19</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433369">
                <a:tc>
                  <a:txBody>
                    <a:bodyPr/>
                    <a:lstStyle/>
                    <a:p>
                      <a:pPr marL="91440">
                        <a:lnSpc>
                          <a:spcPct val="100000"/>
                        </a:lnSpc>
                        <a:spcBef>
                          <a:spcPts val="90"/>
                        </a:spcBef>
                      </a:pPr>
                      <a:r>
                        <a:rPr sz="2500" dirty="0">
                          <a:latin typeface="Calibri"/>
                          <a:cs typeface="Calibri"/>
                        </a:rPr>
                        <a:t>7</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6.21</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433369">
                <a:tc>
                  <a:txBody>
                    <a:bodyPr/>
                    <a:lstStyle/>
                    <a:p>
                      <a:pPr marL="91440">
                        <a:lnSpc>
                          <a:spcPct val="100000"/>
                        </a:lnSpc>
                        <a:spcBef>
                          <a:spcPts val="90"/>
                        </a:spcBef>
                      </a:pPr>
                      <a:r>
                        <a:rPr sz="2500" dirty="0">
                          <a:latin typeface="Calibri"/>
                          <a:cs typeface="Calibri"/>
                        </a:rPr>
                        <a:t>8</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7.24</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433369">
                <a:tc>
                  <a:txBody>
                    <a:bodyPr/>
                    <a:lstStyle/>
                    <a:p>
                      <a:pPr marL="91440">
                        <a:lnSpc>
                          <a:spcPct val="100000"/>
                        </a:lnSpc>
                        <a:spcBef>
                          <a:spcPts val="90"/>
                        </a:spcBef>
                      </a:pPr>
                      <a:r>
                        <a:rPr sz="2500" dirty="0">
                          <a:latin typeface="Calibri"/>
                          <a:cs typeface="Calibri"/>
                        </a:rPr>
                        <a:t>9</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8.25</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sp>
        <p:nvSpPr>
          <p:cNvPr id="9" name="object 9"/>
          <p:cNvSpPr/>
          <p:nvPr/>
        </p:nvSpPr>
        <p:spPr>
          <a:xfrm>
            <a:off x="3403600" y="4419600"/>
            <a:ext cx="1500396" cy="0"/>
          </a:xfrm>
          <a:custGeom>
            <a:avLst/>
            <a:gdLst/>
            <a:ahLst/>
            <a:cxnLst/>
            <a:rect l="l" t="t" r="r" b="b"/>
            <a:pathLst>
              <a:path w="1092200">
                <a:moveTo>
                  <a:pt x="0" y="0"/>
                </a:moveTo>
                <a:lnTo>
                  <a:pt x="1091702" y="0"/>
                </a:lnTo>
              </a:path>
            </a:pathLst>
          </a:custGeom>
          <a:ln w="13373">
            <a:solidFill>
              <a:srgbClr val="000000"/>
            </a:solidFill>
          </a:ln>
        </p:spPr>
        <p:txBody>
          <a:bodyPr wrap="square" lIns="0" tIns="0" rIns="0" bIns="0" rtlCol="0"/>
          <a:lstStyle/>
          <a:p>
            <a:endParaRPr sz="2473"/>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57494" y="1438778"/>
            <a:ext cx="3857413" cy="1870338"/>
          </a:xfrm>
          <a:prstGeom prst="rect">
            <a:avLst/>
          </a:prstGeom>
        </p:spPr>
        <p:txBody>
          <a:bodyPr vert="horz" wrap="square" lIns="0" tIns="48850" rIns="0" bIns="0" rtlCol="0">
            <a:spAutoFit/>
          </a:bodyPr>
          <a:lstStyle/>
          <a:p>
            <a:pPr marL="99442" marR="6978" indent="-82868">
              <a:lnSpc>
                <a:spcPts val="7143"/>
              </a:lnSpc>
              <a:spcBef>
                <a:spcPts val="385"/>
              </a:spcBef>
            </a:pPr>
            <a:r>
              <a:rPr sz="6044" b="1" spc="405" dirty="0">
                <a:latin typeface="Trebuchet MS"/>
                <a:cs typeface="Trebuchet MS"/>
              </a:rPr>
              <a:t>Language  </a:t>
            </a:r>
            <a:r>
              <a:rPr sz="6044" b="1" spc="453" dirty="0">
                <a:latin typeface="Trebuchet MS"/>
                <a:cs typeface="Trebuchet MS"/>
              </a:rPr>
              <a:t>Modeling</a:t>
            </a:r>
            <a:endParaRPr sz="6044">
              <a:latin typeface="Trebuchet MS"/>
              <a:cs typeface="Trebuchet MS"/>
            </a:endParaRPr>
          </a:p>
        </p:txBody>
      </p:sp>
      <p:sp>
        <p:nvSpPr>
          <p:cNvPr id="3" name="object 3"/>
          <p:cNvSpPr txBox="1">
            <a:spLocks noGrp="1"/>
          </p:cNvSpPr>
          <p:nvPr>
            <p:ph type="subTitle" idx="4"/>
          </p:nvPr>
        </p:nvSpPr>
        <p:spPr>
          <a:xfrm>
            <a:off x="584200" y="3886200"/>
            <a:ext cx="15968070" cy="1568328"/>
          </a:xfrm>
          <a:prstGeom prst="rect">
            <a:avLst/>
          </a:prstGeom>
        </p:spPr>
        <p:txBody>
          <a:bodyPr vert="horz" wrap="square" lIns="0" tIns="191910" rIns="0" bIns="0" rtlCol="0">
            <a:spAutoFit/>
          </a:bodyPr>
          <a:lstStyle/>
          <a:p>
            <a:pPr marL="6044163" marR="6978" indent="227670">
              <a:lnSpc>
                <a:spcPts val="5220"/>
              </a:lnSpc>
              <a:spcBef>
                <a:spcPts val="330"/>
              </a:spcBef>
            </a:pPr>
            <a:r>
              <a:rPr spc="-7" dirty="0"/>
              <a:t>Advanced: </a:t>
            </a:r>
            <a:endParaRPr lang="en-US" spc="-7" dirty="0"/>
          </a:p>
          <a:p>
            <a:pPr marL="6044163" marR="6978" indent="227670">
              <a:lnSpc>
                <a:spcPts val="5220"/>
              </a:lnSpc>
              <a:spcBef>
                <a:spcPts val="330"/>
              </a:spcBef>
            </a:pPr>
            <a:r>
              <a:rPr dirty="0"/>
              <a:t>Good </a:t>
            </a:r>
            <a:r>
              <a:rPr spc="7" dirty="0"/>
              <a:t> </a:t>
            </a:r>
            <a:r>
              <a:rPr spc="-7" dirty="0"/>
              <a:t>Turing</a:t>
            </a:r>
            <a:r>
              <a:rPr spc="-62" dirty="0"/>
              <a:t> </a:t>
            </a:r>
            <a:r>
              <a:rPr spc="-7" dirty="0"/>
              <a:t>Smoothing</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57494" y="1438778"/>
            <a:ext cx="3857413" cy="1870338"/>
          </a:xfrm>
          <a:prstGeom prst="rect">
            <a:avLst/>
          </a:prstGeom>
        </p:spPr>
        <p:txBody>
          <a:bodyPr vert="horz" wrap="square" lIns="0" tIns="48850" rIns="0" bIns="0" rtlCol="0">
            <a:spAutoFit/>
          </a:bodyPr>
          <a:lstStyle/>
          <a:p>
            <a:pPr marL="99442" marR="6978" indent="-82868">
              <a:lnSpc>
                <a:spcPts val="7143"/>
              </a:lnSpc>
              <a:spcBef>
                <a:spcPts val="385"/>
              </a:spcBef>
            </a:pPr>
            <a:r>
              <a:rPr sz="6044" b="1" spc="405" dirty="0">
                <a:latin typeface="Trebuchet MS"/>
                <a:cs typeface="Trebuchet MS"/>
              </a:rPr>
              <a:t>Language  </a:t>
            </a:r>
            <a:r>
              <a:rPr sz="6044" b="1" spc="453" dirty="0">
                <a:latin typeface="Trebuchet MS"/>
                <a:cs typeface="Trebuchet MS"/>
              </a:rPr>
              <a:t>Modeling</a:t>
            </a:r>
            <a:endParaRPr sz="6044">
              <a:latin typeface="Trebuchet MS"/>
              <a:cs typeface="Trebuchet MS"/>
            </a:endParaRPr>
          </a:p>
        </p:txBody>
      </p:sp>
      <p:sp>
        <p:nvSpPr>
          <p:cNvPr id="3" name="object 3"/>
          <p:cNvSpPr txBox="1">
            <a:spLocks noGrp="1"/>
          </p:cNvSpPr>
          <p:nvPr>
            <p:ph type="subTitle" idx="4"/>
          </p:nvPr>
        </p:nvSpPr>
        <p:spPr>
          <a:xfrm>
            <a:off x="30480" y="3647781"/>
            <a:ext cx="15968070" cy="1631007"/>
          </a:xfrm>
          <a:prstGeom prst="rect">
            <a:avLst/>
          </a:prstGeom>
        </p:spPr>
        <p:txBody>
          <a:bodyPr vert="horz" wrap="square" lIns="0" tIns="17446" rIns="0" bIns="0" rtlCol="0">
            <a:spAutoFit/>
          </a:bodyPr>
          <a:lstStyle/>
          <a:p>
            <a:pPr marL="5467572" marR="6978" indent="1666092">
              <a:lnSpc>
                <a:spcPct val="122400"/>
              </a:lnSpc>
              <a:spcBef>
                <a:spcPts val="137"/>
              </a:spcBef>
            </a:pPr>
            <a:r>
              <a:rPr spc="-7" dirty="0"/>
              <a:t>Advanced: </a:t>
            </a:r>
            <a:endParaRPr lang="en-US" spc="-7" dirty="0"/>
          </a:p>
          <a:p>
            <a:pPr marL="5467572" marR="6978" indent="1666092">
              <a:lnSpc>
                <a:spcPct val="122400"/>
              </a:lnSpc>
              <a:spcBef>
                <a:spcPts val="137"/>
              </a:spcBef>
            </a:pPr>
            <a:r>
              <a:rPr spc="-117" dirty="0" err="1"/>
              <a:t>Kneser</a:t>
            </a:r>
            <a:r>
              <a:rPr spc="-117" dirty="0"/>
              <a:t>-Ney</a:t>
            </a:r>
            <a:r>
              <a:rPr spc="-76" dirty="0"/>
              <a:t> </a:t>
            </a:r>
            <a:r>
              <a:rPr spc="-7" dirty="0"/>
              <a:t>Smoothing</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014829"/>
            <a:ext cx="8625532" cy="694084"/>
          </a:xfrm>
          <a:prstGeom prst="rect">
            <a:avLst/>
          </a:prstGeom>
        </p:spPr>
        <p:txBody>
          <a:bodyPr vert="horz" wrap="square" lIns="0" tIns="17446" rIns="0" bIns="0" rtlCol="0">
            <a:spAutoFit/>
          </a:bodyPr>
          <a:lstStyle/>
          <a:p>
            <a:pPr marL="17446">
              <a:spcBef>
                <a:spcPts val="137"/>
              </a:spcBef>
            </a:pPr>
            <a:r>
              <a:rPr spc="-7" dirty="0"/>
              <a:t>Resulting</a:t>
            </a:r>
            <a:r>
              <a:rPr spc="-34" dirty="0"/>
              <a:t> </a:t>
            </a:r>
            <a:r>
              <a:rPr spc="-7" dirty="0"/>
              <a:t>Good-Turing</a:t>
            </a:r>
            <a:r>
              <a:rPr spc="-34" dirty="0"/>
              <a:t> </a:t>
            </a:r>
            <a:r>
              <a:rPr spc="-7" dirty="0"/>
              <a:t>numbers</a:t>
            </a:r>
          </a:p>
        </p:txBody>
      </p:sp>
      <p:sp>
        <p:nvSpPr>
          <p:cNvPr id="7" name="object 7"/>
          <p:cNvSpPr txBox="1"/>
          <p:nvPr/>
        </p:nvSpPr>
        <p:spPr>
          <a:xfrm>
            <a:off x="1346200" y="2486560"/>
            <a:ext cx="6080093" cy="2923640"/>
          </a:xfrm>
          <a:prstGeom prst="rect">
            <a:avLst/>
          </a:prstGeom>
        </p:spPr>
        <p:txBody>
          <a:bodyPr vert="horz" wrap="square" lIns="0" tIns="48850" rIns="0" bIns="0" rtlCol="0">
            <a:spAutoFit/>
          </a:bodyPr>
          <a:lstStyle/>
          <a:p>
            <a:pPr marL="540826" indent="-471042">
              <a:spcBef>
                <a:spcPts val="385"/>
              </a:spcBef>
              <a:buClr>
                <a:srgbClr val="CC0000"/>
              </a:buClr>
              <a:buFont typeface="Times New Roman"/>
              <a:buChar char="•"/>
              <a:tabLst>
                <a:tab pos="539953" algn="l"/>
                <a:tab pos="540826" algn="l"/>
              </a:tabLst>
            </a:pPr>
            <a:r>
              <a:rPr sz="2747" spc="-7" dirty="0">
                <a:latin typeface="Calibri"/>
                <a:cs typeface="Calibri"/>
              </a:rPr>
              <a:t>Numbers</a:t>
            </a:r>
            <a:r>
              <a:rPr sz="2747" spc="-14" dirty="0">
                <a:latin typeface="Calibri"/>
                <a:cs typeface="Calibri"/>
              </a:rPr>
              <a:t> </a:t>
            </a:r>
            <a:r>
              <a:rPr sz="2747" spc="-7" dirty="0">
                <a:latin typeface="Calibri"/>
                <a:cs typeface="Calibri"/>
              </a:rPr>
              <a:t>from Church </a:t>
            </a:r>
            <a:r>
              <a:rPr sz="2747" dirty="0">
                <a:latin typeface="Calibri"/>
                <a:cs typeface="Calibri"/>
              </a:rPr>
              <a:t>and</a:t>
            </a:r>
            <a:r>
              <a:rPr sz="2747" spc="-7" dirty="0">
                <a:latin typeface="Calibri"/>
                <a:cs typeface="Calibri"/>
              </a:rPr>
              <a:t> </a:t>
            </a:r>
            <a:r>
              <a:rPr sz="2747" dirty="0">
                <a:latin typeface="Calibri"/>
                <a:cs typeface="Calibri"/>
              </a:rPr>
              <a:t>Gale</a:t>
            </a:r>
            <a:r>
              <a:rPr sz="2747" spc="-7" dirty="0">
                <a:latin typeface="Calibri"/>
                <a:cs typeface="Calibri"/>
              </a:rPr>
              <a:t> (1991)</a:t>
            </a:r>
            <a:endParaRPr sz="2747" dirty="0">
              <a:latin typeface="Calibri"/>
              <a:cs typeface="Calibri"/>
            </a:endParaRPr>
          </a:p>
          <a:p>
            <a:pPr marL="540826" indent="-471042">
              <a:spcBef>
                <a:spcPts val="247"/>
              </a:spcBef>
              <a:buClr>
                <a:srgbClr val="CC0000"/>
              </a:buClr>
              <a:buFont typeface="Times New Roman"/>
              <a:buChar char="•"/>
              <a:tabLst>
                <a:tab pos="539953" algn="l"/>
                <a:tab pos="540826" algn="l"/>
              </a:tabLst>
            </a:pPr>
            <a:r>
              <a:rPr sz="2747" dirty="0">
                <a:latin typeface="Calibri"/>
                <a:cs typeface="Calibri"/>
              </a:rPr>
              <a:t>22</a:t>
            </a:r>
            <a:r>
              <a:rPr sz="2747" spc="-21" dirty="0">
                <a:latin typeface="Calibri"/>
                <a:cs typeface="Calibri"/>
              </a:rPr>
              <a:t> </a:t>
            </a:r>
            <a:r>
              <a:rPr sz="2747" spc="-7" dirty="0">
                <a:latin typeface="Calibri"/>
                <a:cs typeface="Calibri"/>
              </a:rPr>
              <a:t>million</a:t>
            </a:r>
            <a:r>
              <a:rPr sz="2747" spc="-14" dirty="0">
                <a:latin typeface="Calibri"/>
                <a:cs typeface="Calibri"/>
              </a:rPr>
              <a:t> </a:t>
            </a:r>
            <a:r>
              <a:rPr sz="2747" spc="-7" dirty="0">
                <a:latin typeface="Calibri"/>
                <a:cs typeface="Calibri"/>
              </a:rPr>
              <a:t>words</a:t>
            </a:r>
            <a:r>
              <a:rPr sz="2747" spc="-14" dirty="0">
                <a:latin typeface="Calibri"/>
                <a:cs typeface="Calibri"/>
              </a:rPr>
              <a:t> </a:t>
            </a:r>
            <a:r>
              <a:rPr sz="2747" dirty="0">
                <a:latin typeface="Calibri"/>
                <a:cs typeface="Calibri"/>
              </a:rPr>
              <a:t>of</a:t>
            </a:r>
            <a:r>
              <a:rPr sz="2747" spc="-21" dirty="0">
                <a:latin typeface="Calibri"/>
                <a:cs typeface="Calibri"/>
              </a:rPr>
              <a:t> </a:t>
            </a:r>
            <a:r>
              <a:rPr sz="2747" dirty="0">
                <a:latin typeface="Calibri"/>
                <a:cs typeface="Calibri"/>
              </a:rPr>
              <a:t>AP</a:t>
            </a:r>
            <a:r>
              <a:rPr sz="2747" spc="-7" dirty="0">
                <a:latin typeface="Calibri"/>
                <a:cs typeface="Calibri"/>
              </a:rPr>
              <a:t> </a:t>
            </a:r>
            <a:r>
              <a:rPr sz="2747" dirty="0">
                <a:latin typeface="Calibri"/>
                <a:cs typeface="Calibri"/>
              </a:rPr>
              <a:t>Newswire</a:t>
            </a:r>
          </a:p>
          <a:p>
            <a:pPr marL="1461102">
              <a:spcBef>
                <a:spcPts val="2816"/>
              </a:spcBef>
            </a:pPr>
            <a:r>
              <a:rPr sz="4327" i="1" spc="-30" baseline="-34391" dirty="0">
                <a:latin typeface="Times New Roman"/>
                <a:cs typeface="Times New Roman"/>
              </a:rPr>
              <a:t>c</a:t>
            </a:r>
            <a:r>
              <a:rPr sz="4327" spc="21" baseline="-34391" dirty="0">
                <a:latin typeface="Times New Roman"/>
                <a:cs typeface="Times New Roman"/>
              </a:rPr>
              <a:t>*</a:t>
            </a:r>
            <a:r>
              <a:rPr sz="4327" spc="-401" baseline="-34391" dirty="0">
                <a:latin typeface="Times New Roman"/>
                <a:cs typeface="Times New Roman"/>
              </a:rPr>
              <a:t> </a:t>
            </a:r>
            <a:r>
              <a:rPr sz="4327" spc="30" baseline="-34391" dirty="0">
                <a:latin typeface="Symbol"/>
                <a:cs typeface="Symbol"/>
              </a:rPr>
              <a:t></a:t>
            </a:r>
            <a:r>
              <a:rPr sz="4327" spc="60" baseline="-34391" dirty="0">
                <a:latin typeface="Times New Roman"/>
                <a:cs typeface="Times New Roman"/>
              </a:rPr>
              <a:t> </a:t>
            </a:r>
            <a:r>
              <a:rPr sz="2885" spc="34" dirty="0">
                <a:latin typeface="Times New Roman"/>
                <a:cs typeface="Times New Roman"/>
              </a:rPr>
              <a:t>(</a:t>
            </a:r>
            <a:r>
              <a:rPr sz="2885" i="1" spc="14" dirty="0">
                <a:latin typeface="Times New Roman"/>
                <a:cs typeface="Times New Roman"/>
              </a:rPr>
              <a:t>c</a:t>
            </a:r>
            <a:r>
              <a:rPr sz="2885" i="1" spc="-288" dirty="0">
                <a:latin typeface="Times New Roman"/>
                <a:cs typeface="Times New Roman"/>
              </a:rPr>
              <a:t> </a:t>
            </a:r>
            <a:r>
              <a:rPr sz="2885" spc="185" dirty="0">
                <a:latin typeface="Symbol"/>
                <a:cs typeface="Symbol"/>
              </a:rPr>
              <a:t></a:t>
            </a:r>
            <a:r>
              <a:rPr sz="2885" spc="-144" dirty="0">
                <a:latin typeface="Times New Roman"/>
                <a:cs typeface="Times New Roman"/>
              </a:rPr>
              <a:t>1</a:t>
            </a:r>
            <a:r>
              <a:rPr sz="2885" spc="144" dirty="0">
                <a:latin typeface="Times New Roman"/>
                <a:cs typeface="Times New Roman"/>
              </a:rPr>
              <a:t>)</a:t>
            </a:r>
            <a:r>
              <a:rPr sz="2885" i="1" spc="157" dirty="0">
                <a:latin typeface="Times New Roman"/>
                <a:cs typeface="Times New Roman"/>
              </a:rPr>
              <a:t>N</a:t>
            </a:r>
            <a:r>
              <a:rPr sz="2473" i="1" spc="41" baseline="-25462" dirty="0">
                <a:latin typeface="Times New Roman"/>
                <a:cs typeface="Times New Roman"/>
              </a:rPr>
              <a:t>c</a:t>
            </a:r>
            <a:r>
              <a:rPr sz="2473" spc="-185" baseline="-25462" dirty="0">
                <a:latin typeface="Symbol"/>
                <a:cs typeface="Symbol"/>
              </a:rPr>
              <a:t></a:t>
            </a:r>
            <a:r>
              <a:rPr sz="2473" spc="30" baseline="-25462" dirty="0">
                <a:latin typeface="Times New Roman"/>
                <a:cs typeface="Times New Roman"/>
              </a:rPr>
              <a:t>1</a:t>
            </a:r>
            <a:endParaRPr sz="2473" baseline="-25462" dirty="0">
              <a:latin typeface="Times New Roman"/>
              <a:cs typeface="Times New Roman"/>
            </a:endParaRPr>
          </a:p>
          <a:p>
            <a:pPr marR="278264" algn="ctr">
              <a:spcBef>
                <a:spcPts val="625"/>
              </a:spcBef>
            </a:pPr>
            <a:r>
              <a:rPr sz="2885" i="1" spc="89" dirty="0">
                <a:latin typeface="Times New Roman"/>
                <a:cs typeface="Times New Roman"/>
              </a:rPr>
              <a:t>N</a:t>
            </a:r>
            <a:r>
              <a:rPr sz="2473" i="1" spc="133" baseline="-25462" dirty="0">
                <a:latin typeface="Times New Roman"/>
                <a:cs typeface="Times New Roman"/>
              </a:rPr>
              <a:t>c</a:t>
            </a:r>
            <a:endParaRPr sz="2473" baseline="-25462" dirty="0">
              <a:latin typeface="Times New Roman"/>
              <a:cs typeface="Times New Roman"/>
            </a:endParaRPr>
          </a:p>
          <a:p>
            <a:pPr marL="540826" indent="-471042">
              <a:spcBef>
                <a:spcPts val="1999"/>
              </a:spcBef>
              <a:buClr>
                <a:srgbClr val="CC0000"/>
              </a:buClr>
              <a:buFont typeface="Times New Roman"/>
              <a:buChar char="•"/>
              <a:tabLst>
                <a:tab pos="539953" algn="l"/>
                <a:tab pos="540826" algn="l"/>
              </a:tabLst>
            </a:pPr>
            <a:r>
              <a:rPr sz="2747" dirty="0">
                <a:latin typeface="Calibri"/>
                <a:cs typeface="Calibri"/>
              </a:rPr>
              <a:t>It su</a:t>
            </a:r>
            <a:r>
              <a:rPr sz="2747" spc="-7" dirty="0">
                <a:latin typeface="Calibri"/>
                <a:cs typeface="Calibri"/>
              </a:rPr>
              <a:t>r</a:t>
            </a:r>
            <a:r>
              <a:rPr sz="2747" dirty="0">
                <a:latin typeface="Calibri"/>
                <a:cs typeface="Calibri"/>
              </a:rPr>
              <a:t>e l</a:t>
            </a:r>
            <a:r>
              <a:rPr sz="2747" spc="-7" dirty="0">
                <a:latin typeface="Calibri"/>
                <a:cs typeface="Calibri"/>
              </a:rPr>
              <a:t>oo</a:t>
            </a:r>
            <a:r>
              <a:rPr sz="2747" dirty="0">
                <a:latin typeface="Calibri"/>
                <a:cs typeface="Calibri"/>
              </a:rPr>
              <a:t>ks like c*</a:t>
            </a:r>
            <a:r>
              <a:rPr sz="2747" spc="-7" dirty="0">
                <a:latin typeface="Calibri"/>
                <a:cs typeface="Calibri"/>
              </a:rPr>
              <a:t> </a:t>
            </a:r>
            <a:r>
              <a:rPr sz="2747" dirty="0">
                <a:latin typeface="Calibri"/>
                <a:cs typeface="Calibri"/>
              </a:rPr>
              <a:t>=</a:t>
            </a:r>
            <a:r>
              <a:rPr sz="2747" spc="-7" dirty="0">
                <a:latin typeface="Calibri"/>
                <a:cs typeface="Calibri"/>
              </a:rPr>
              <a:t> </a:t>
            </a:r>
            <a:r>
              <a:rPr sz="2747" dirty="0">
                <a:latin typeface="Calibri"/>
                <a:cs typeface="Calibri"/>
              </a:rPr>
              <a:t>(c </a:t>
            </a:r>
            <a:r>
              <a:rPr sz="2747" spc="-562" dirty="0">
                <a:latin typeface="Calibri"/>
                <a:cs typeface="Calibri"/>
              </a:rPr>
              <a:t>-­‐</a:t>
            </a:r>
            <a:r>
              <a:rPr sz="2747" dirty="0">
                <a:latin typeface="Calibri"/>
                <a:cs typeface="Calibri"/>
              </a:rPr>
              <a:t> </a:t>
            </a:r>
            <a:r>
              <a:rPr sz="2747" spc="-7" dirty="0">
                <a:latin typeface="Calibri"/>
                <a:cs typeface="Calibri"/>
              </a:rPr>
              <a:t>.75</a:t>
            </a:r>
            <a:r>
              <a:rPr sz="2747" dirty="0">
                <a:latin typeface="Calibri"/>
                <a:cs typeface="Calibri"/>
              </a:rPr>
              <a:t>)</a:t>
            </a:r>
          </a:p>
        </p:txBody>
      </p:sp>
      <p:graphicFrame>
        <p:nvGraphicFramePr>
          <p:cNvPr id="8" name="object 8"/>
          <p:cNvGraphicFramePr>
            <a:graphicFrameLocks noGrp="1"/>
          </p:cNvGraphicFramePr>
          <p:nvPr/>
        </p:nvGraphicFramePr>
        <p:xfrm>
          <a:off x="8564033" y="1980927"/>
          <a:ext cx="3769309" cy="4857083"/>
        </p:xfrm>
        <a:graphic>
          <a:graphicData uri="http://schemas.openxmlformats.org/drawingml/2006/table">
            <a:tbl>
              <a:tblPr firstRow="1" bandRow="1">
                <a:tableStyleId>{2D5ABB26-0587-4C30-8999-92F81FD0307C}</a:tableStyleId>
              </a:tblPr>
              <a:tblGrid>
                <a:gridCol w="1216019">
                  <a:extLst>
                    <a:ext uri="{9D8B030D-6E8A-4147-A177-3AD203B41FA5}">
                      <a16:colId xmlns:a16="http://schemas.microsoft.com/office/drawing/2014/main" val="20000"/>
                    </a:ext>
                  </a:extLst>
                </a:gridCol>
                <a:gridCol w="2553290">
                  <a:extLst>
                    <a:ext uri="{9D8B030D-6E8A-4147-A177-3AD203B41FA5}">
                      <a16:colId xmlns:a16="http://schemas.microsoft.com/office/drawing/2014/main" val="20001"/>
                    </a:ext>
                  </a:extLst>
                </a:gridCol>
              </a:tblGrid>
              <a:tr h="523393">
                <a:tc>
                  <a:txBody>
                    <a:bodyPr/>
                    <a:lstStyle/>
                    <a:p>
                      <a:pPr marL="91440">
                        <a:lnSpc>
                          <a:spcPct val="100000"/>
                        </a:lnSpc>
                        <a:spcBef>
                          <a:spcPts val="90"/>
                        </a:spcBef>
                      </a:pPr>
                      <a:r>
                        <a:rPr sz="2500" spc="-5" dirty="0">
                          <a:latin typeface="Calibri"/>
                          <a:cs typeface="Calibri"/>
                        </a:rPr>
                        <a:t>Count</a:t>
                      </a:r>
                      <a:r>
                        <a:rPr sz="2500" spc="-35" dirty="0">
                          <a:latin typeface="Calibri"/>
                          <a:cs typeface="Calibri"/>
                        </a:rPr>
                        <a:t> </a:t>
                      </a:r>
                      <a:r>
                        <a:rPr sz="2500" dirty="0">
                          <a:latin typeface="Calibri"/>
                          <a:cs typeface="Calibri"/>
                        </a:rPr>
                        <a:t>c</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Good</a:t>
                      </a:r>
                      <a:r>
                        <a:rPr sz="2500" spc="-20" dirty="0">
                          <a:latin typeface="Calibri"/>
                          <a:cs typeface="Calibri"/>
                        </a:rPr>
                        <a:t> </a:t>
                      </a:r>
                      <a:r>
                        <a:rPr sz="2500" spc="-5" dirty="0">
                          <a:latin typeface="Calibri"/>
                          <a:cs typeface="Calibri"/>
                        </a:rPr>
                        <a:t>Turing</a:t>
                      </a:r>
                      <a:r>
                        <a:rPr sz="2500" spc="-20" dirty="0">
                          <a:latin typeface="Calibri"/>
                          <a:cs typeface="Calibri"/>
                        </a:rPr>
                        <a:t> </a:t>
                      </a:r>
                      <a:r>
                        <a:rPr sz="2500" dirty="0">
                          <a:latin typeface="Calibri"/>
                          <a:cs typeface="Calibri"/>
                        </a:rPr>
                        <a:t>c*</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33369">
                <a:tc>
                  <a:txBody>
                    <a:bodyPr/>
                    <a:lstStyle/>
                    <a:p>
                      <a:pPr marL="91440">
                        <a:lnSpc>
                          <a:spcPct val="100000"/>
                        </a:lnSpc>
                        <a:spcBef>
                          <a:spcPts val="90"/>
                        </a:spcBef>
                      </a:pPr>
                      <a:r>
                        <a:rPr sz="2500" dirty="0">
                          <a:latin typeface="Calibri"/>
                          <a:cs typeface="Calibri"/>
                        </a:rPr>
                        <a:t>0</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.0000270</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33369">
                <a:tc>
                  <a:txBody>
                    <a:bodyPr/>
                    <a:lstStyle/>
                    <a:p>
                      <a:pPr marL="91440">
                        <a:lnSpc>
                          <a:spcPct val="100000"/>
                        </a:lnSpc>
                        <a:spcBef>
                          <a:spcPts val="90"/>
                        </a:spcBef>
                      </a:pPr>
                      <a:r>
                        <a:rPr sz="2500" dirty="0">
                          <a:latin typeface="Calibri"/>
                          <a:cs typeface="Calibri"/>
                        </a:rPr>
                        <a:t>1</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0.446</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33369">
                <a:tc>
                  <a:txBody>
                    <a:bodyPr/>
                    <a:lstStyle/>
                    <a:p>
                      <a:pPr marL="91440">
                        <a:lnSpc>
                          <a:spcPct val="100000"/>
                        </a:lnSpc>
                        <a:spcBef>
                          <a:spcPts val="90"/>
                        </a:spcBef>
                      </a:pPr>
                      <a:r>
                        <a:rPr sz="2500" dirty="0">
                          <a:latin typeface="Calibri"/>
                          <a:cs typeface="Calibri"/>
                        </a:rPr>
                        <a:t>2</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1.26</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33369">
                <a:tc>
                  <a:txBody>
                    <a:bodyPr/>
                    <a:lstStyle/>
                    <a:p>
                      <a:pPr marL="91440">
                        <a:lnSpc>
                          <a:spcPct val="100000"/>
                        </a:lnSpc>
                        <a:spcBef>
                          <a:spcPts val="90"/>
                        </a:spcBef>
                      </a:pPr>
                      <a:r>
                        <a:rPr sz="2500" dirty="0">
                          <a:latin typeface="Calibri"/>
                          <a:cs typeface="Calibri"/>
                        </a:rPr>
                        <a:t>3</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2.24</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33369">
                <a:tc>
                  <a:txBody>
                    <a:bodyPr/>
                    <a:lstStyle/>
                    <a:p>
                      <a:pPr marL="91440">
                        <a:lnSpc>
                          <a:spcPct val="100000"/>
                        </a:lnSpc>
                        <a:spcBef>
                          <a:spcPts val="90"/>
                        </a:spcBef>
                      </a:pPr>
                      <a:r>
                        <a:rPr sz="2500" dirty="0">
                          <a:latin typeface="Calibri"/>
                          <a:cs typeface="Calibri"/>
                        </a:rPr>
                        <a:t>4</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3.24</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433369">
                <a:tc>
                  <a:txBody>
                    <a:bodyPr/>
                    <a:lstStyle/>
                    <a:p>
                      <a:pPr marL="91440">
                        <a:lnSpc>
                          <a:spcPct val="100000"/>
                        </a:lnSpc>
                        <a:spcBef>
                          <a:spcPts val="90"/>
                        </a:spcBef>
                      </a:pPr>
                      <a:r>
                        <a:rPr sz="2500" dirty="0">
                          <a:latin typeface="Calibri"/>
                          <a:cs typeface="Calibri"/>
                        </a:rPr>
                        <a:t>5</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4.22</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433369">
                <a:tc>
                  <a:txBody>
                    <a:bodyPr/>
                    <a:lstStyle/>
                    <a:p>
                      <a:pPr marL="91440">
                        <a:lnSpc>
                          <a:spcPct val="100000"/>
                        </a:lnSpc>
                        <a:spcBef>
                          <a:spcPts val="90"/>
                        </a:spcBef>
                      </a:pPr>
                      <a:r>
                        <a:rPr sz="2500" dirty="0">
                          <a:latin typeface="Calibri"/>
                          <a:cs typeface="Calibri"/>
                        </a:rPr>
                        <a:t>6</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5.19</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433369">
                <a:tc>
                  <a:txBody>
                    <a:bodyPr/>
                    <a:lstStyle/>
                    <a:p>
                      <a:pPr marL="91440">
                        <a:lnSpc>
                          <a:spcPct val="100000"/>
                        </a:lnSpc>
                        <a:spcBef>
                          <a:spcPts val="90"/>
                        </a:spcBef>
                      </a:pPr>
                      <a:r>
                        <a:rPr sz="2500" dirty="0">
                          <a:latin typeface="Calibri"/>
                          <a:cs typeface="Calibri"/>
                        </a:rPr>
                        <a:t>7</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6.21</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433369">
                <a:tc>
                  <a:txBody>
                    <a:bodyPr/>
                    <a:lstStyle/>
                    <a:p>
                      <a:pPr marL="91440">
                        <a:lnSpc>
                          <a:spcPct val="100000"/>
                        </a:lnSpc>
                        <a:spcBef>
                          <a:spcPts val="90"/>
                        </a:spcBef>
                      </a:pPr>
                      <a:r>
                        <a:rPr sz="2500" dirty="0">
                          <a:latin typeface="Calibri"/>
                          <a:cs typeface="Calibri"/>
                        </a:rPr>
                        <a:t>8</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7.24</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433369">
                <a:tc>
                  <a:txBody>
                    <a:bodyPr/>
                    <a:lstStyle/>
                    <a:p>
                      <a:pPr marL="91440">
                        <a:lnSpc>
                          <a:spcPct val="100000"/>
                        </a:lnSpc>
                        <a:spcBef>
                          <a:spcPts val="90"/>
                        </a:spcBef>
                      </a:pPr>
                      <a:r>
                        <a:rPr sz="2500" dirty="0">
                          <a:latin typeface="Calibri"/>
                          <a:cs typeface="Calibri"/>
                        </a:rPr>
                        <a:t>9</a:t>
                      </a:r>
                      <a:endParaRPr sz="2500">
                        <a:latin typeface="Calibri"/>
                        <a:cs typeface="Calibri"/>
                      </a:endParaRPr>
                    </a:p>
                  </a:txBody>
                  <a:tcPr marL="0" marR="0" marT="15702"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90"/>
                        </a:spcBef>
                      </a:pPr>
                      <a:r>
                        <a:rPr sz="2500" spc="-5" dirty="0">
                          <a:latin typeface="Calibri"/>
                          <a:cs typeface="Calibri"/>
                        </a:rPr>
                        <a:t>8.25</a:t>
                      </a:r>
                      <a:endParaRPr sz="2500">
                        <a:latin typeface="Calibri"/>
                        <a:cs typeface="Calibri"/>
                      </a:endParaRPr>
                    </a:p>
                  </a:txBody>
                  <a:tcPr marL="0" marR="0" marT="1570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sp>
        <p:nvSpPr>
          <p:cNvPr id="9" name="object 9"/>
          <p:cNvSpPr/>
          <p:nvPr/>
        </p:nvSpPr>
        <p:spPr>
          <a:xfrm>
            <a:off x="3479800" y="4267200"/>
            <a:ext cx="1500396" cy="0"/>
          </a:xfrm>
          <a:custGeom>
            <a:avLst/>
            <a:gdLst/>
            <a:ahLst/>
            <a:cxnLst/>
            <a:rect l="l" t="t" r="r" b="b"/>
            <a:pathLst>
              <a:path w="1092200">
                <a:moveTo>
                  <a:pt x="0" y="0"/>
                </a:moveTo>
                <a:lnTo>
                  <a:pt x="1091702" y="0"/>
                </a:lnTo>
              </a:path>
            </a:pathLst>
          </a:custGeom>
          <a:ln w="13373">
            <a:solidFill>
              <a:srgbClr val="000000"/>
            </a:solidFill>
          </a:ln>
        </p:spPr>
        <p:txBody>
          <a:bodyPr wrap="square" lIns="0" tIns="0" rIns="0" bIns="0" rtlCol="0"/>
          <a:lstStyle/>
          <a:p>
            <a:endParaRPr sz="2473"/>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9339091" cy="694084"/>
          </a:xfrm>
          <a:prstGeom prst="rect">
            <a:avLst/>
          </a:prstGeom>
        </p:spPr>
        <p:txBody>
          <a:bodyPr vert="horz" wrap="square" lIns="0" tIns="17446" rIns="0" bIns="0" rtlCol="0">
            <a:spAutoFit/>
          </a:bodyPr>
          <a:lstStyle/>
          <a:p>
            <a:pPr marL="17446">
              <a:spcBef>
                <a:spcPts val="137"/>
              </a:spcBef>
            </a:pPr>
            <a:r>
              <a:rPr spc="-7" dirty="0"/>
              <a:t>Absolute</a:t>
            </a:r>
            <a:r>
              <a:rPr spc="-21" dirty="0"/>
              <a:t> </a:t>
            </a:r>
            <a:r>
              <a:rPr spc="-7" dirty="0"/>
              <a:t>Discounting</a:t>
            </a:r>
          </a:p>
        </p:txBody>
      </p:sp>
      <p:sp>
        <p:nvSpPr>
          <p:cNvPr id="7" name="object 7"/>
          <p:cNvSpPr txBox="1"/>
          <p:nvPr/>
        </p:nvSpPr>
        <p:spPr>
          <a:xfrm>
            <a:off x="1154955" y="2370601"/>
            <a:ext cx="10882232" cy="524999"/>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297" spc="-7" dirty="0">
                <a:latin typeface="Calibri"/>
                <a:cs typeface="Calibri"/>
              </a:rPr>
              <a:t>Save</a:t>
            </a:r>
            <a:r>
              <a:rPr sz="3297" dirty="0">
                <a:latin typeface="Calibri"/>
                <a:cs typeface="Calibri"/>
              </a:rPr>
              <a:t> </a:t>
            </a:r>
            <a:r>
              <a:rPr sz="3297" spc="-7" dirty="0">
                <a:latin typeface="Calibri"/>
                <a:cs typeface="Calibri"/>
              </a:rPr>
              <a:t>ourselves</a:t>
            </a:r>
            <a:r>
              <a:rPr sz="3297" spc="7" dirty="0">
                <a:latin typeface="Calibri"/>
                <a:cs typeface="Calibri"/>
              </a:rPr>
              <a:t> </a:t>
            </a:r>
            <a:r>
              <a:rPr sz="3297" spc="-7" dirty="0">
                <a:latin typeface="Calibri"/>
                <a:cs typeface="Calibri"/>
              </a:rPr>
              <a:t>some</a:t>
            </a:r>
            <a:r>
              <a:rPr sz="3297" dirty="0">
                <a:latin typeface="Calibri"/>
                <a:cs typeface="Calibri"/>
              </a:rPr>
              <a:t> </a:t>
            </a:r>
            <a:r>
              <a:rPr sz="3297" spc="-14" dirty="0">
                <a:latin typeface="Calibri"/>
                <a:cs typeface="Calibri"/>
              </a:rPr>
              <a:t>time</a:t>
            </a:r>
            <a:r>
              <a:rPr sz="3297" spc="7" dirty="0">
                <a:latin typeface="Calibri"/>
                <a:cs typeface="Calibri"/>
              </a:rPr>
              <a:t> </a:t>
            </a:r>
            <a:r>
              <a:rPr sz="3297" dirty="0">
                <a:latin typeface="Calibri"/>
                <a:cs typeface="Calibri"/>
              </a:rPr>
              <a:t>and</a:t>
            </a:r>
            <a:r>
              <a:rPr sz="3297" spc="7" dirty="0">
                <a:latin typeface="Calibri"/>
                <a:cs typeface="Calibri"/>
              </a:rPr>
              <a:t> </a:t>
            </a:r>
            <a:r>
              <a:rPr sz="3297" dirty="0">
                <a:latin typeface="Calibri"/>
                <a:cs typeface="Calibri"/>
              </a:rPr>
              <a:t>just </a:t>
            </a:r>
            <a:r>
              <a:rPr sz="3297" spc="-7" dirty="0">
                <a:latin typeface="Calibri"/>
                <a:cs typeface="Calibri"/>
              </a:rPr>
              <a:t>subtract</a:t>
            </a:r>
            <a:r>
              <a:rPr sz="3297" spc="7" dirty="0">
                <a:latin typeface="Calibri"/>
                <a:cs typeface="Calibri"/>
              </a:rPr>
              <a:t> </a:t>
            </a:r>
            <a:r>
              <a:rPr sz="3297" spc="-7" dirty="0">
                <a:latin typeface="Calibri"/>
                <a:cs typeface="Calibri"/>
              </a:rPr>
              <a:t>0.75</a:t>
            </a:r>
            <a:r>
              <a:rPr sz="3297" spc="7" dirty="0">
                <a:latin typeface="Calibri"/>
                <a:cs typeface="Calibri"/>
              </a:rPr>
              <a:t> </a:t>
            </a:r>
            <a:r>
              <a:rPr sz="3297" spc="-7" dirty="0">
                <a:latin typeface="Calibri"/>
                <a:cs typeface="Calibri"/>
              </a:rPr>
              <a:t>(or</a:t>
            </a:r>
            <a:r>
              <a:rPr sz="3297" dirty="0">
                <a:latin typeface="Calibri"/>
                <a:cs typeface="Calibri"/>
              </a:rPr>
              <a:t> </a:t>
            </a:r>
            <a:r>
              <a:rPr sz="3297" spc="-7" dirty="0">
                <a:latin typeface="Calibri"/>
                <a:cs typeface="Calibri"/>
              </a:rPr>
              <a:t>some</a:t>
            </a:r>
            <a:r>
              <a:rPr sz="3297" spc="7" dirty="0">
                <a:latin typeface="Calibri"/>
                <a:cs typeface="Calibri"/>
              </a:rPr>
              <a:t> </a:t>
            </a:r>
            <a:r>
              <a:rPr sz="3297" spc="-7" dirty="0">
                <a:latin typeface="Calibri"/>
                <a:cs typeface="Calibri"/>
              </a:rPr>
              <a:t>d)!</a:t>
            </a:r>
            <a:endParaRPr sz="3297" dirty="0">
              <a:latin typeface="Calibri"/>
              <a:cs typeface="Calibri"/>
            </a:endParaRPr>
          </a:p>
        </p:txBody>
      </p:sp>
      <p:sp>
        <p:nvSpPr>
          <p:cNvPr id="8" name="object 8"/>
          <p:cNvSpPr txBox="1"/>
          <p:nvPr/>
        </p:nvSpPr>
        <p:spPr>
          <a:xfrm>
            <a:off x="1132926" y="5123014"/>
            <a:ext cx="11475412" cy="2274352"/>
          </a:xfrm>
          <a:prstGeom prst="rect">
            <a:avLst/>
          </a:prstGeom>
        </p:spPr>
        <p:txBody>
          <a:bodyPr vert="horz" wrap="square" lIns="0" tIns="109040" rIns="0" bIns="0" rtlCol="0">
            <a:spAutoFit/>
          </a:bodyPr>
          <a:lstStyle/>
          <a:p>
            <a:pPr marL="488488" indent="-471042">
              <a:spcBef>
                <a:spcPts val="859"/>
              </a:spcBef>
              <a:buClr>
                <a:srgbClr val="CC0000"/>
              </a:buClr>
              <a:buFont typeface="Times New Roman"/>
              <a:buChar char="•"/>
              <a:tabLst>
                <a:tab pos="487615" algn="l"/>
                <a:tab pos="488488" algn="l"/>
              </a:tabLst>
            </a:pPr>
            <a:r>
              <a:rPr sz="3297" spc="-7" dirty="0">
                <a:latin typeface="Calibri"/>
                <a:cs typeface="Calibri"/>
              </a:rPr>
              <a:t>(Maybe</a:t>
            </a:r>
            <a:r>
              <a:rPr sz="3297" dirty="0">
                <a:latin typeface="Calibri"/>
                <a:cs typeface="Calibri"/>
              </a:rPr>
              <a:t> keeping a </a:t>
            </a:r>
            <a:r>
              <a:rPr sz="3297" spc="-7" dirty="0">
                <a:latin typeface="Calibri"/>
                <a:cs typeface="Calibri"/>
              </a:rPr>
              <a:t>couple</a:t>
            </a:r>
            <a:r>
              <a:rPr sz="3297" dirty="0">
                <a:latin typeface="Calibri"/>
                <a:cs typeface="Calibri"/>
              </a:rPr>
              <a:t> </a:t>
            </a:r>
            <a:r>
              <a:rPr sz="3297" spc="-7" dirty="0">
                <a:latin typeface="Calibri"/>
                <a:cs typeface="Calibri"/>
              </a:rPr>
              <a:t>extra</a:t>
            </a:r>
            <a:r>
              <a:rPr sz="3297" dirty="0">
                <a:latin typeface="Calibri"/>
                <a:cs typeface="Calibri"/>
              </a:rPr>
              <a:t> values </a:t>
            </a:r>
            <a:r>
              <a:rPr sz="3297" spc="-7" dirty="0">
                <a:latin typeface="Calibri"/>
                <a:cs typeface="Calibri"/>
              </a:rPr>
              <a:t>of</a:t>
            </a:r>
            <a:r>
              <a:rPr sz="3297" spc="7" dirty="0">
                <a:latin typeface="Calibri"/>
                <a:cs typeface="Calibri"/>
              </a:rPr>
              <a:t> </a:t>
            </a:r>
            <a:r>
              <a:rPr sz="3297" dirty="0">
                <a:latin typeface="Calibri"/>
                <a:cs typeface="Calibri"/>
              </a:rPr>
              <a:t>d </a:t>
            </a:r>
            <a:r>
              <a:rPr sz="3297" spc="-7" dirty="0">
                <a:latin typeface="Calibri"/>
                <a:cs typeface="Calibri"/>
              </a:rPr>
              <a:t>for</a:t>
            </a:r>
            <a:r>
              <a:rPr sz="3297" dirty="0">
                <a:latin typeface="Calibri"/>
                <a:cs typeface="Calibri"/>
              </a:rPr>
              <a:t> </a:t>
            </a:r>
            <a:r>
              <a:rPr sz="3297" spc="-7" dirty="0">
                <a:latin typeface="Calibri"/>
                <a:cs typeface="Calibri"/>
              </a:rPr>
              <a:t>counts</a:t>
            </a:r>
            <a:r>
              <a:rPr sz="3297" dirty="0">
                <a:latin typeface="Calibri"/>
                <a:cs typeface="Calibri"/>
              </a:rPr>
              <a:t> 1 and </a:t>
            </a:r>
            <a:r>
              <a:rPr sz="3297" spc="-7" dirty="0">
                <a:latin typeface="Calibri"/>
                <a:cs typeface="Calibri"/>
              </a:rPr>
              <a:t>2)</a:t>
            </a:r>
            <a:endParaRPr sz="3297" dirty="0">
              <a:latin typeface="Calibri"/>
              <a:cs typeface="Calibri"/>
            </a:endParaRPr>
          </a:p>
          <a:p>
            <a:pPr marL="360346" indent="-342900">
              <a:spcBef>
                <a:spcPts val="3111"/>
              </a:spcBef>
              <a:buFont typeface="Arial" panose="020B0604020202020204" pitchFamily="34" charset="0"/>
              <a:buChar char="•"/>
            </a:pPr>
            <a:r>
              <a:rPr lang="en-US" sz="2800" dirty="0">
                <a:latin typeface="Calibri"/>
                <a:cs typeface="Calibri"/>
              </a:rPr>
              <a:t>d=0.75 for c&gt;2, smaller d for c&lt;2</a:t>
            </a:r>
          </a:p>
          <a:p>
            <a:pPr marL="360346" indent="-342900">
              <a:spcBef>
                <a:spcPts val="3111"/>
              </a:spcBef>
              <a:buFont typeface="Arial" panose="020B0604020202020204" pitchFamily="34" charset="0"/>
              <a:buChar char="•"/>
            </a:pPr>
            <a:r>
              <a:rPr lang="en-US" sz="2800" dirty="0">
                <a:latin typeface="Calibri"/>
                <a:cs typeface="Calibri"/>
              </a:rPr>
              <a:t>P(</a:t>
            </a:r>
            <a:r>
              <a:rPr lang="en-US" sz="2800" dirty="0" err="1">
                <a:latin typeface="Calibri"/>
                <a:cs typeface="Calibri"/>
              </a:rPr>
              <a:t>Francisco|san</a:t>
            </a:r>
            <a:r>
              <a:rPr lang="en-US" sz="2800" dirty="0">
                <a:latin typeface="Calibri"/>
                <a:cs typeface="Calibri"/>
              </a:rPr>
              <a:t>)= (c(</a:t>
            </a:r>
            <a:r>
              <a:rPr lang="en-US" sz="2800" dirty="0" err="1">
                <a:latin typeface="Calibri"/>
                <a:cs typeface="Calibri"/>
              </a:rPr>
              <a:t>san</a:t>
            </a:r>
            <a:r>
              <a:rPr lang="en-US" sz="2800" dirty="0">
                <a:latin typeface="Calibri"/>
                <a:cs typeface="Calibri"/>
              </a:rPr>
              <a:t> </a:t>
            </a:r>
            <a:r>
              <a:rPr lang="en-US" sz="2800" dirty="0" err="1">
                <a:latin typeface="Calibri"/>
                <a:cs typeface="Calibri"/>
              </a:rPr>
              <a:t>francisco</a:t>
            </a:r>
            <a:r>
              <a:rPr lang="en-US" sz="2800" dirty="0">
                <a:latin typeface="Calibri"/>
                <a:cs typeface="Calibri"/>
              </a:rPr>
              <a:t>) – 0.75)/c(</a:t>
            </a:r>
            <a:r>
              <a:rPr lang="en-US" sz="2800" dirty="0" err="1">
                <a:latin typeface="Calibri"/>
                <a:cs typeface="Calibri"/>
              </a:rPr>
              <a:t>san</a:t>
            </a:r>
            <a:r>
              <a:rPr lang="en-US" sz="2800" dirty="0">
                <a:latin typeface="Calibri"/>
                <a:cs typeface="Calibri"/>
              </a:rPr>
              <a:t>)</a:t>
            </a:r>
            <a:endParaRPr sz="2800" dirty="0">
              <a:latin typeface="Calibri"/>
              <a:cs typeface="Calibri"/>
            </a:endParaRPr>
          </a:p>
        </p:txBody>
      </p:sp>
      <p:sp>
        <p:nvSpPr>
          <p:cNvPr id="9" name="object 9"/>
          <p:cNvSpPr txBox="1"/>
          <p:nvPr/>
        </p:nvSpPr>
        <p:spPr>
          <a:xfrm>
            <a:off x="1209262" y="3785865"/>
            <a:ext cx="4682630" cy="658940"/>
          </a:xfrm>
          <a:prstGeom prst="rect">
            <a:avLst/>
          </a:prstGeom>
        </p:spPr>
        <p:txBody>
          <a:bodyPr vert="horz" wrap="square" lIns="0" tIns="24425" rIns="0" bIns="0" rtlCol="0">
            <a:spAutoFit/>
          </a:bodyPr>
          <a:lstStyle/>
          <a:p>
            <a:pPr marL="52338">
              <a:spcBef>
                <a:spcPts val="192"/>
              </a:spcBef>
            </a:pPr>
            <a:r>
              <a:rPr sz="6182" i="1" spc="-824" baseline="13888" dirty="0">
                <a:latin typeface="Times New Roman"/>
                <a:cs typeface="Times New Roman"/>
              </a:rPr>
              <a:t>P</a:t>
            </a:r>
            <a:r>
              <a:rPr sz="2404" spc="-27" dirty="0">
                <a:latin typeface="Times New Roman"/>
                <a:cs typeface="Times New Roman"/>
              </a:rPr>
              <a:t>A</a:t>
            </a:r>
            <a:r>
              <a:rPr sz="2404" dirty="0">
                <a:latin typeface="Times New Roman"/>
                <a:cs typeface="Times New Roman"/>
              </a:rPr>
              <a:t>b</a:t>
            </a:r>
            <a:r>
              <a:rPr sz="2404" spc="-7" dirty="0">
                <a:latin typeface="Times New Roman"/>
                <a:cs typeface="Times New Roman"/>
              </a:rPr>
              <a:t>s</a:t>
            </a:r>
            <a:r>
              <a:rPr sz="2404" dirty="0">
                <a:latin typeface="Times New Roman"/>
                <a:cs typeface="Times New Roman"/>
              </a:rPr>
              <a:t>o</a:t>
            </a:r>
            <a:r>
              <a:rPr sz="2404" spc="-14" dirty="0">
                <a:latin typeface="Times New Roman"/>
                <a:cs typeface="Times New Roman"/>
              </a:rPr>
              <a:t>l</a:t>
            </a:r>
            <a:r>
              <a:rPr sz="2404" dirty="0">
                <a:latin typeface="Times New Roman"/>
                <a:cs typeface="Times New Roman"/>
              </a:rPr>
              <a:t>u</a:t>
            </a:r>
            <a:r>
              <a:rPr sz="2404" spc="-14" dirty="0">
                <a:latin typeface="Times New Roman"/>
                <a:cs typeface="Times New Roman"/>
              </a:rPr>
              <a:t>t</a:t>
            </a:r>
            <a:r>
              <a:rPr sz="2404" spc="-21" dirty="0">
                <a:latin typeface="Times New Roman"/>
                <a:cs typeface="Times New Roman"/>
              </a:rPr>
              <a:t>e</a:t>
            </a:r>
            <a:r>
              <a:rPr sz="2404" spc="-27" dirty="0">
                <a:latin typeface="Times New Roman"/>
                <a:cs typeface="Times New Roman"/>
              </a:rPr>
              <a:t>D</a:t>
            </a:r>
            <a:r>
              <a:rPr sz="2404" spc="-14" dirty="0">
                <a:latin typeface="Times New Roman"/>
                <a:cs typeface="Times New Roman"/>
              </a:rPr>
              <a:t>i</a:t>
            </a:r>
            <a:r>
              <a:rPr sz="2404" spc="-7" dirty="0">
                <a:latin typeface="Times New Roman"/>
                <a:cs typeface="Times New Roman"/>
              </a:rPr>
              <a:t>s</a:t>
            </a:r>
            <a:r>
              <a:rPr sz="2404" spc="-21" dirty="0">
                <a:latin typeface="Times New Roman"/>
                <a:cs typeface="Times New Roman"/>
              </a:rPr>
              <a:t>c</a:t>
            </a:r>
            <a:r>
              <a:rPr sz="2404" dirty="0">
                <a:latin typeface="Times New Roman"/>
                <a:cs typeface="Times New Roman"/>
              </a:rPr>
              <a:t>oun</a:t>
            </a:r>
            <a:r>
              <a:rPr sz="2404" spc="-14" dirty="0">
                <a:latin typeface="Times New Roman"/>
                <a:cs typeface="Times New Roman"/>
              </a:rPr>
              <a:t>ti</a:t>
            </a:r>
            <a:r>
              <a:rPr sz="2404" dirty="0">
                <a:latin typeface="Times New Roman"/>
                <a:cs typeface="Times New Roman"/>
              </a:rPr>
              <a:t>ng</a:t>
            </a:r>
            <a:r>
              <a:rPr sz="2404" spc="-199" dirty="0">
                <a:latin typeface="Times New Roman"/>
                <a:cs typeface="Times New Roman"/>
              </a:rPr>
              <a:t> </a:t>
            </a:r>
            <a:r>
              <a:rPr sz="6182" spc="165" baseline="13888" dirty="0">
                <a:latin typeface="Times New Roman"/>
                <a:cs typeface="Times New Roman"/>
              </a:rPr>
              <a:t>(</a:t>
            </a:r>
            <a:r>
              <a:rPr sz="6182" i="1" spc="-71" baseline="13888" dirty="0">
                <a:latin typeface="Times New Roman"/>
                <a:cs typeface="Times New Roman"/>
              </a:rPr>
              <a:t>w</a:t>
            </a:r>
            <a:r>
              <a:rPr sz="2404" i="1" dirty="0">
                <a:latin typeface="Times New Roman"/>
                <a:cs typeface="Times New Roman"/>
              </a:rPr>
              <a:t>i </a:t>
            </a:r>
            <a:r>
              <a:rPr sz="2404" i="1" spc="-69" dirty="0">
                <a:latin typeface="Times New Roman"/>
                <a:cs typeface="Times New Roman"/>
              </a:rPr>
              <a:t> </a:t>
            </a:r>
            <a:r>
              <a:rPr sz="6182" spc="10" baseline="13888" dirty="0">
                <a:latin typeface="Times New Roman"/>
                <a:cs typeface="Times New Roman"/>
              </a:rPr>
              <a:t>|</a:t>
            </a:r>
            <a:r>
              <a:rPr sz="6182" spc="-474" baseline="13888" dirty="0">
                <a:latin typeface="Times New Roman"/>
                <a:cs typeface="Times New Roman"/>
              </a:rPr>
              <a:t> </a:t>
            </a:r>
            <a:r>
              <a:rPr sz="6182" i="1" spc="-71" baseline="13888" dirty="0">
                <a:latin typeface="Times New Roman"/>
                <a:cs typeface="Times New Roman"/>
              </a:rPr>
              <a:t>w</a:t>
            </a:r>
            <a:r>
              <a:rPr sz="2404" i="1" spc="34" dirty="0">
                <a:latin typeface="Times New Roman"/>
                <a:cs typeface="Times New Roman"/>
              </a:rPr>
              <a:t>i</a:t>
            </a:r>
            <a:r>
              <a:rPr sz="2404" spc="-206" dirty="0">
                <a:latin typeface="Symbol"/>
                <a:cs typeface="Symbol"/>
              </a:rPr>
              <a:t></a:t>
            </a:r>
            <a:r>
              <a:rPr sz="2404" dirty="0">
                <a:latin typeface="Times New Roman"/>
                <a:cs typeface="Times New Roman"/>
              </a:rPr>
              <a:t>1</a:t>
            </a:r>
            <a:endParaRPr sz="2404">
              <a:latin typeface="Times New Roman"/>
              <a:cs typeface="Times New Roman"/>
            </a:endParaRPr>
          </a:p>
        </p:txBody>
      </p:sp>
      <p:sp>
        <p:nvSpPr>
          <p:cNvPr id="10" name="object 10"/>
          <p:cNvSpPr txBox="1"/>
          <p:nvPr/>
        </p:nvSpPr>
        <p:spPr>
          <a:xfrm>
            <a:off x="5849637" y="3353193"/>
            <a:ext cx="6758701" cy="678209"/>
          </a:xfrm>
          <a:prstGeom prst="rect">
            <a:avLst/>
          </a:prstGeom>
        </p:spPr>
        <p:txBody>
          <a:bodyPr vert="horz" wrap="square" lIns="0" tIns="22680" rIns="0" bIns="0" rtlCol="0">
            <a:spAutoFit/>
          </a:bodyPr>
          <a:lstStyle/>
          <a:p>
            <a:pPr marL="52338">
              <a:spcBef>
                <a:spcPts val="179"/>
              </a:spcBef>
            </a:pPr>
            <a:r>
              <a:rPr sz="6182" spc="21" baseline="-34259" dirty="0">
                <a:latin typeface="Times New Roman"/>
                <a:cs typeface="Times New Roman"/>
              </a:rPr>
              <a:t>)</a:t>
            </a:r>
            <a:r>
              <a:rPr sz="6182" spc="-484" baseline="-34259" dirty="0">
                <a:latin typeface="Times New Roman"/>
                <a:cs typeface="Times New Roman"/>
              </a:rPr>
              <a:t> </a:t>
            </a:r>
            <a:r>
              <a:rPr sz="6182" spc="41" baseline="-34259" dirty="0">
                <a:latin typeface="Symbol"/>
                <a:cs typeface="Symbol"/>
              </a:rPr>
              <a:t></a:t>
            </a:r>
            <a:r>
              <a:rPr sz="6182" spc="185" baseline="-34259" dirty="0">
                <a:latin typeface="Times New Roman"/>
                <a:cs typeface="Times New Roman"/>
              </a:rPr>
              <a:t> </a:t>
            </a:r>
            <a:r>
              <a:rPr lang="en-US" sz="6182" spc="185" baseline="-34259" dirty="0">
                <a:latin typeface="Times New Roman"/>
                <a:cs typeface="Times New Roman"/>
              </a:rPr>
              <a:t>max(</a:t>
            </a:r>
            <a:r>
              <a:rPr sz="4121" i="1" spc="76" dirty="0">
                <a:latin typeface="Times New Roman"/>
                <a:cs typeface="Times New Roman"/>
              </a:rPr>
              <a:t>c</a:t>
            </a:r>
            <a:r>
              <a:rPr sz="4121" spc="110" dirty="0">
                <a:latin typeface="Times New Roman"/>
                <a:cs typeface="Times New Roman"/>
              </a:rPr>
              <a:t>(</a:t>
            </a:r>
            <a:r>
              <a:rPr sz="4121" i="1" spc="-48" dirty="0">
                <a:latin typeface="Times New Roman"/>
                <a:cs typeface="Times New Roman"/>
              </a:rPr>
              <a:t>w</a:t>
            </a:r>
            <a:r>
              <a:rPr sz="3606" i="1" spc="51" baseline="-23809" dirty="0">
                <a:latin typeface="Times New Roman"/>
                <a:cs typeface="Times New Roman"/>
              </a:rPr>
              <a:t>i</a:t>
            </a:r>
            <a:r>
              <a:rPr sz="3606" spc="-309" baseline="-23809" dirty="0">
                <a:latin typeface="Symbol"/>
                <a:cs typeface="Symbol"/>
              </a:rPr>
              <a:t></a:t>
            </a:r>
            <a:r>
              <a:rPr sz="3606" spc="-71" baseline="-23809" dirty="0">
                <a:latin typeface="Times New Roman"/>
                <a:cs typeface="Times New Roman"/>
              </a:rPr>
              <a:t>1</a:t>
            </a:r>
            <a:r>
              <a:rPr sz="4121" spc="7" dirty="0">
                <a:latin typeface="Times New Roman"/>
                <a:cs typeface="Times New Roman"/>
              </a:rPr>
              <a:t>,</a:t>
            </a:r>
            <a:r>
              <a:rPr sz="4121" spc="-460" dirty="0">
                <a:latin typeface="Times New Roman"/>
                <a:cs typeface="Times New Roman"/>
              </a:rPr>
              <a:t> </a:t>
            </a:r>
            <a:r>
              <a:rPr sz="4121" i="1" spc="-48" dirty="0">
                <a:latin typeface="Times New Roman"/>
                <a:cs typeface="Times New Roman"/>
              </a:rPr>
              <a:t>w</a:t>
            </a:r>
            <a:r>
              <a:rPr sz="3606" i="1" baseline="-23809" dirty="0">
                <a:latin typeface="Times New Roman"/>
                <a:cs typeface="Times New Roman"/>
              </a:rPr>
              <a:t>i</a:t>
            </a:r>
            <a:r>
              <a:rPr sz="3606" i="1" spc="-165" baseline="-23809" dirty="0">
                <a:latin typeface="Times New Roman"/>
                <a:cs typeface="Times New Roman"/>
              </a:rPr>
              <a:t> </a:t>
            </a:r>
            <a:r>
              <a:rPr sz="4121" spc="14" dirty="0">
                <a:latin typeface="Times New Roman"/>
                <a:cs typeface="Times New Roman"/>
              </a:rPr>
              <a:t>)</a:t>
            </a:r>
            <a:r>
              <a:rPr sz="4121" spc="-536" dirty="0">
                <a:latin typeface="Times New Roman"/>
                <a:cs typeface="Times New Roman"/>
              </a:rPr>
              <a:t> </a:t>
            </a:r>
            <a:r>
              <a:rPr sz="4121" spc="27" dirty="0">
                <a:latin typeface="Symbol"/>
                <a:cs typeface="Symbol"/>
              </a:rPr>
              <a:t></a:t>
            </a:r>
            <a:r>
              <a:rPr sz="4121" spc="-357" dirty="0">
                <a:latin typeface="Times New Roman"/>
                <a:cs typeface="Times New Roman"/>
              </a:rPr>
              <a:t> </a:t>
            </a:r>
            <a:r>
              <a:rPr sz="4121" i="1" spc="21" dirty="0">
                <a:latin typeface="Times New Roman"/>
                <a:cs typeface="Times New Roman"/>
              </a:rPr>
              <a:t>d</a:t>
            </a:r>
            <a:r>
              <a:rPr lang="en-US" sz="4121" i="1" spc="21" dirty="0">
                <a:latin typeface="Times New Roman"/>
                <a:cs typeface="Times New Roman"/>
              </a:rPr>
              <a:t>, 0)</a:t>
            </a:r>
            <a:endParaRPr sz="6182" baseline="-34259" dirty="0">
              <a:latin typeface="Times New Roman"/>
              <a:cs typeface="Times New Roman"/>
            </a:endParaRPr>
          </a:p>
        </p:txBody>
      </p:sp>
      <p:sp>
        <p:nvSpPr>
          <p:cNvPr id="11" name="object 11"/>
          <p:cNvSpPr txBox="1"/>
          <p:nvPr/>
        </p:nvSpPr>
        <p:spPr>
          <a:xfrm>
            <a:off x="8954007" y="4345558"/>
            <a:ext cx="420460" cy="388471"/>
          </a:xfrm>
          <a:prstGeom prst="rect">
            <a:avLst/>
          </a:prstGeom>
        </p:spPr>
        <p:txBody>
          <a:bodyPr vert="horz" wrap="square" lIns="0" tIns="18319" rIns="0" bIns="0" rtlCol="0">
            <a:spAutoFit/>
          </a:bodyPr>
          <a:lstStyle/>
          <a:p>
            <a:pPr marL="17446">
              <a:spcBef>
                <a:spcPts val="144"/>
              </a:spcBef>
            </a:pPr>
            <a:r>
              <a:rPr sz="2404" i="1" spc="34" dirty="0">
                <a:latin typeface="Times New Roman"/>
                <a:cs typeface="Times New Roman"/>
              </a:rPr>
              <a:t>i</a:t>
            </a:r>
            <a:r>
              <a:rPr sz="2404" spc="-206" dirty="0">
                <a:latin typeface="Symbol"/>
                <a:cs typeface="Symbol"/>
              </a:rPr>
              <a:t></a:t>
            </a:r>
            <a:r>
              <a:rPr sz="2404" dirty="0">
                <a:latin typeface="Times New Roman"/>
                <a:cs typeface="Times New Roman"/>
              </a:rPr>
              <a:t>1</a:t>
            </a:r>
            <a:endParaRPr sz="2404">
              <a:latin typeface="Times New Roman"/>
              <a:cs typeface="Times New Roman"/>
            </a:endParaRPr>
          </a:p>
        </p:txBody>
      </p:sp>
      <p:sp>
        <p:nvSpPr>
          <p:cNvPr id="12" name="object 12"/>
          <p:cNvSpPr txBox="1"/>
          <p:nvPr/>
        </p:nvSpPr>
        <p:spPr>
          <a:xfrm>
            <a:off x="8250042" y="4031402"/>
            <a:ext cx="1407930" cy="658811"/>
          </a:xfrm>
          <a:prstGeom prst="rect">
            <a:avLst/>
          </a:prstGeom>
        </p:spPr>
        <p:txBody>
          <a:bodyPr vert="horz" wrap="square" lIns="0" tIns="24425" rIns="0" bIns="0" rtlCol="0">
            <a:spAutoFit/>
          </a:bodyPr>
          <a:lstStyle/>
          <a:p>
            <a:pPr marL="17446">
              <a:spcBef>
                <a:spcPts val="192"/>
              </a:spcBef>
              <a:tabLst>
                <a:tab pos="1213369" algn="l"/>
              </a:tabLst>
            </a:pPr>
            <a:r>
              <a:rPr sz="4121" i="1" spc="76" dirty="0">
                <a:latin typeface="Times New Roman"/>
                <a:cs typeface="Times New Roman"/>
              </a:rPr>
              <a:t>c</a:t>
            </a:r>
            <a:r>
              <a:rPr sz="4121" spc="110" dirty="0">
                <a:latin typeface="Times New Roman"/>
                <a:cs typeface="Times New Roman"/>
              </a:rPr>
              <a:t>(</a:t>
            </a:r>
            <a:r>
              <a:rPr sz="4121" i="1" spc="34" dirty="0">
                <a:latin typeface="Times New Roman"/>
                <a:cs typeface="Times New Roman"/>
              </a:rPr>
              <a:t>w</a:t>
            </a:r>
            <a:r>
              <a:rPr sz="4121" i="1" dirty="0">
                <a:latin typeface="Times New Roman"/>
                <a:cs typeface="Times New Roman"/>
              </a:rPr>
              <a:t>	</a:t>
            </a:r>
            <a:r>
              <a:rPr sz="4121" spc="14" dirty="0">
                <a:latin typeface="Times New Roman"/>
                <a:cs typeface="Times New Roman"/>
              </a:rPr>
              <a:t>)</a:t>
            </a:r>
            <a:endParaRPr sz="4121" dirty="0">
              <a:latin typeface="Times New Roman"/>
              <a:cs typeface="Times New Roman"/>
            </a:endParaRPr>
          </a:p>
        </p:txBody>
      </p:sp>
      <p:sp>
        <p:nvSpPr>
          <p:cNvPr id="13" name="object 13"/>
          <p:cNvSpPr/>
          <p:nvPr/>
        </p:nvSpPr>
        <p:spPr>
          <a:xfrm>
            <a:off x="7671048" y="4080102"/>
            <a:ext cx="2817604" cy="0"/>
          </a:xfrm>
          <a:custGeom>
            <a:avLst/>
            <a:gdLst/>
            <a:ahLst/>
            <a:cxnLst/>
            <a:rect l="l" t="t" r="r" b="b"/>
            <a:pathLst>
              <a:path w="2051050">
                <a:moveTo>
                  <a:pt x="0" y="0"/>
                </a:moveTo>
                <a:lnTo>
                  <a:pt x="2050466" y="0"/>
                </a:lnTo>
              </a:path>
            </a:pathLst>
          </a:custGeom>
          <a:ln w="19101">
            <a:solidFill>
              <a:srgbClr val="000000"/>
            </a:solidFill>
          </a:ln>
        </p:spPr>
        <p:txBody>
          <a:bodyPr wrap="square" lIns="0" tIns="0" rIns="0" bIns="0" rtlCol="0"/>
          <a:lstStyle/>
          <a:p>
            <a:endParaRPr sz="2473"/>
          </a:p>
        </p:txBody>
      </p:sp>
      <p:sp>
        <p:nvSpPr>
          <p:cNvPr id="16" name="object 16"/>
          <p:cNvSpPr txBox="1"/>
          <p:nvPr/>
        </p:nvSpPr>
        <p:spPr>
          <a:xfrm>
            <a:off x="5760823" y="2988023"/>
            <a:ext cx="2896113" cy="398170"/>
          </a:xfrm>
          <a:prstGeom prst="rect">
            <a:avLst/>
          </a:prstGeom>
        </p:spPr>
        <p:txBody>
          <a:bodyPr vert="horz" wrap="square" lIns="0" tIns="17446" rIns="0" bIns="0" rtlCol="0">
            <a:spAutoFit/>
          </a:bodyPr>
          <a:lstStyle/>
          <a:p>
            <a:pPr marL="17446">
              <a:spcBef>
                <a:spcPts val="137"/>
              </a:spcBef>
            </a:pPr>
            <a:r>
              <a:rPr sz="2473" dirty="0">
                <a:solidFill>
                  <a:srgbClr val="FF0000"/>
                </a:solidFill>
                <a:latin typeface="Lucida Sans Unicode"/>
                <a:cs typeface="Lucida Sans Unicode"/>
              </a:rPr>
              <a:t>discounted</a:t>
            </a:r>
            <a:r>
              <a:rPr sz="2473" spc="-96" dirty="0">
                <a:solidFill>
                  <a:srgbClr val="FF0000"/>
                </a:solidFill>
                <a:latin typeface="Lucida Sans Unicode"/>
                <a:cs typeface="Lucida Sans Unicode"/>
              </a:rPr>
              <a:t> </a:t>
            </a:r>
            <a:r>
              <a:rPr sz="2473" spc="-7" dirty="0">
                <a:solidFill>
                  <a:srgbClr val="FF0000"/>
                </a:solidFill>
                <a:latin typeface="Lucida Sans Unicode"/>
                <a:cs typeface="Lucida Sans Unicode"/>
              </a:rPr>
              <a:t>bigram</a:t>
            </a:r>
            <a:endParaRPr sz="2473">
              <a:latin typeface="Lucida Sans Unicode"/>
              <a:cs typeface="Lucida Sans Unicode"/>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145678"/>
            <a:ext cx="9339091" cy="694084"/>
          </a:xfrm>
          <a:prstGeom prst="rect">
            <a:avLst/>
          </a:prstGeom>
        </p:spPr>
        <p:txBody>
          <a:bodyPr vert="horz" wrap="square" lIns="0" tIns="17446" rIns="0" bIns="0" rtlCol="0">
            <a:spAutoFit/>
          </a:bodyPr>
          <a:lstStyle/>
          <a:p>
            <a:pPr marL="17446">
              <a:spcBef>
                <a:spcPts val="137"/>
              </a:spcBef>
            </a:pPr>
            <a:r>
              <a:rPr spc="-7" dirty="0"/>
              <a:t>Absolute</a:t>
            </a:r>
            <a:r>
              <a:rPr spc="-21" dirty="0"/>
              <a:t> </a:t>
            </a:r>
            <a:r>
              <a:rPr spc="-7" dirty="0"/>
              <a:t>Discounting</a:t>
            </a:r>
            <a:r>
              <a:rPr spc="-21" dirty="0"/>
              <a:t> </a:t>
            </a:r>
            <a:r>
              <a:rPr spc="-7" dirty="0"/>
              <a:t>Interpolation</a:t>
            </a:r>
          </a:p>
        </p:txBody>
      </p:sp>
      <p:sp>
        <p:nvSpPr>
          <p:cNvPr id="7" name="object 7"/>
          <p:cNvSpPr txBox="1"/>
          <p:nvPr/>
        </p:nvSpPr>
        <p:spPr>
          <a:xfrm>
            <a:off x="1154955" y="2370601"/>
            <a:ext cx="10882232" cy="524999"/>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3297" spc="-7" dirty="0">
                <a:latin typeface="Calibri"/>
                <a:cs typeface="Calibri"/>
              </a:rPr>
              <a:t>Save</a:t>
            </a:r>
            <a:r>
              <a:rPr sz="3297" dirty="0">
                <a:latin typeface="Calibri"/>
                <a:cs typeface="Calibri"/>
              </a:rPr>
              <a:t> </a:t>
            </a:r>
            <a:r>
              <a:rPr sz="3297" spc="-7" dirty="0">
                <a:latin typeface="Calibri"/>
                <a:cs typeface="Calibri"/>
              </a:rPr>
              <a:t>ourselves</a:t>
            </a:r>
            <a:r>
              <a:rPr sz="3297" spc="7" dirty="0">
                <a:latin typeface="Calibri"/>
                <a:cs typeface="Calibri"/>
              </a:rPr>
              <a:t> </a:t>
            </a:r>
            <a:r>
              <a:rPr sz="3297" spc="-7" dirty="0">
                <a:latin typeface="Calibri"/>
                <a:cs typeface="Calibri"/>
              </a:rPr>
              <a:t>some</a:t>
            </a:r>
            <a:r>
              <a:rPr sz="3297" dirty="0">
                <a:latin typeface="Calibri"/>
                <a:cs typeface="Calibri"/>
              </a:rPr>
              <a:t> </a:t>
            </a:r>
            <a:r>
              <a:rPr sz="3297" spc="-14" dirty="0">
                <a:latin typeface="Calibri"/>
                <a:cs typeface="Calibri"/>
              </a:rPr>
              <a:t>time</a:t>
            </a:r>
            <a:r>
              <a:rPr sz="3297" spc="7" dirty="0">
                <a:latin typeface="Calibri"/>
                <a:cs typeface="Calibri"/>
              </a:rPr>
              <a:t> </a:t>
            </a:r>
            <a:r>
              <a:rPr sz="3297" dirty="0">
                <a:latin typeface="Calibri"/>
                <a:cs typeface="Calibri"/>
              </a:rPr>
              <a:t>and</a:t>
            </a:r>
            <a:r>
              <a:rPr sz="3297" spc="7" dirty="0">
                <a:latin typeface="Calibri"/>
                <a:cs typeface="Calibri"/>
              </a:rPr>
              <a:t> </a:t>
            </a:r>
            <a:r>
              <a:rPr sz="3297" dirty="0">
                <a:latin typeface="Calibri"/>
                <a:cs typeface="Calibri"/>
              </a:rPr>
              <a:t>just </a:t>
            </a:r>
            <a:r>
              <a:rPr sz="3297" spc="-7" dirty="0">
                <a:latin typeface="Calibri"/>
                <a:cs typeface="Calibri"/>
              </a:rPr>
              <a:t>subtract</a:t>
            </a:r>
            <a:r>
              <a:rPr sz="3297" spc="7" dirty="0">
                <a:latin typeface="Calibri"/>
                <a:cs typeface="Calibri"/>
              </a:rPr>
              <a:t> </a:t>
            </a:r>
            <a:r>
              <a:rPr sz="3297" spc="-7" dirty="0">
                <a:latin typeface="Calibri"/>
                <a:cs typeface="Calibri"/>
              </a:rPr>
              <a:t>0.75</a:t>
            </a:r>
            <a:r>
              <a:rPr sz="3297" spc="7" dirty="0">
                <a:latin typeface="Calibri"/>
                <a:cs typeface="Calibri"/>
              </a:rPr>
              <a:t> </a:t>
            </a:r>
            <a:r>
              <a:rPr sz="3297" spc="-7" dirty="0">
                <a:latin typeface="Calibri"/>
                <a:cs typeface="Calibri"/>
              </a:rPr>
              <a:t>(or</a:t>
            </a:r>
            <a:r>
              <a:rPr sz="3297" dirty="0">
                <a:latin typeface="Calibri"/>
                <a:cs typeface="Calibri"/>
              </a:rPr>
              <a:t> </a:t>
            </a:r>
            <a:r>
              <a:rPr sz="3297" spc="-7" dirty="0">
                <a:latin typeface="Calibri"/>
                <a:cs typeface="Calibri"/>
              </a:rPr>
              <a:t>some</a:t>
            </a:r>
            <a:r>
              <a:rPr sz="3297" spc="7" dirty="0">
                <a:latin typeface="Calibri"/>
                <a:cs typeface="Calibri"/>
              </a:rPr>
              <a:t> </a:t>
            </a:r>
            <a:r>
              <a:rPr sz="3297" spc="-7" dirty="0">
                <a:latin typeface="Calibri"/>
                <a:cs typeface="Calibri"/>
              </a:rPr>
              <a:t>d)!</a:t>
            </a:r>
            <a:endParaRPr sz="3297" dirty="0">
              <a:latin typeface="Calibri"/>
              <a:cs typeface="Calibri"/>
            </a:endParaRPr>
          </a:p>
        </p:txBody>
      </p:sp>
      <p:sp>
        <p:nvSpPr>
          <p:cNvPr id="8" name="object 8"/>
          <p:cNvSpPr txBox="1"/>
          <p:nvPr/>
        </p:nvSpPr>
        <p:spPr>
          <a:xfrm>
            <a:off x="1154955" y="5177205"/>
            <a:ext cx="11475412" cy="3787073"/>
          </a:xfrm>
          <a:prstGeom prst="rect">
            <a:avLst/>
          </a:prstGeom>
        </p:spPr>
        <p:txBody>
          <a:bodyPr vert="horz" wrap="square" lIns="0" tIns="109040" rIns="0" bIns="0" rtlCol="0">
            <a:spAutoFit/>
          </a:bodyPr>
          <a:lstStyle/>
          <a:p>
            <a:pPr marL="488488" indent="-471042">
              <a:spcBef>
                <a:spcPts val="859"/>
              </a:spcBef>
              <a:buClr>
                <a:srgbClr val="CC0000"/>
              </a:buClr>
              <a:buFont typeface="Times New Roman"/>
              <a:buChar char="•"/>
              <a:tabLst>
                <a:tab pos="487615" algn="l"/>
                <a:tab pos="488488" algn="l"/>
              </a:tabLst>
            </a:pPr>
            <a:r>
              <a:rPr sz="3846" spc="-7" dirty="0">
                <a:latin typeface="Calibri"/>
                <a:cs typeface="Calibri"/>
              </a:rPr>
              <a:t>But</a:t>
            </a:r>
            <a:r>
              <a:rPr sz="3846" dirty="0">
                <a:latin typeface="Calibri"/>
                <a:cs typeface="Calibri"/>
              </a:rPr>
              <a:t> </a:t>
            </a:r>
            <a:r>
              <a:rPr sz="3846" spc="-7" dirty="0">
                <a:latin typeface="Calibri"/>
                <a:cs typeface="Calibri"/>
              </a:rPr>
              <a:t>should</a:t>
            </a:r>
            <a:r>
              <a:rPr sz="3846" spc="7" dirty="0">
                <a:latin typeface="Calibri"/>
                <a:cs typeface="Calibri"/>
              </a:rPr>
              <a:t> </a:t>
            </a:r>
            <a:r>
              <a:rPr sz="3846" spc="-7" dirty="0">
                <a:latin typeface="Calibri"/>
                <a:cs typeface="Calibri"/>
              </a:rPr>
              <a:t>we</a:t>
            </a:r>
            <a:r>
              <a:rPr sz="3846" spc="7" dirty="0">
                <a:latin typeface="Calibri"/>
                <a:cs typeface="Calibri"/>
              </a:rPr>
              <a:t> </a:t>
            </a:r>
            <a:r>
              <a:rPr sz="3846" spc="-7" dirty="0">
                <a:latin typeface="Calibri"/>
                <a:cs typeface="Calibri"/>
              </a:rPr>
              <a:t>really</a:t>
            </a:r>
            <a:r>
              <a:rPr sz="3846" spc="7" dirty="0">
                <a:latin typeface="Calibri"/>
                <a:cs typeface="Calibri"/>
              </a:rPr>
              <a:t> </a:t>
            </a:r>
            <a:r>
              <a:rPr sz="3846" dirty="0">
                <a:latin typeface="Calibri"/>
                <a:cs typeface="Calibri"/>
              </a:rPr>
              <a:t>just use</a:t>
            </a:r>
            <a:r>
              <a:rPr sz="3846" spc="7" dirty="0">
                <a:latin typeface="Calibri"/>
                <a:cs typeface="Calibri"/>
              </a:rPr>
              <a:t> </a:t>
            </a:r>
            <a:r>
              <a:rPr sz="3846" dirty="0">
                <a:latin typeface="Calibri"/>
                <a:cs typeface="Calibri"/>
              </a:rPr>
              <a:t>the</a:t>
            </a:r>
            <a:r>
              <a:rPr sz="3846" spc="7" dirty="0">
                <a:latin typeface="Calibri"/>
                <a:cs typeface="Calibri"/>
              </a:rPr>
              <a:t> </a:t>
            </a:r>
            <a:r>
              <a:rPr sz="3846" spc="-7" dirty="0">
                <a:latin typeface="Calibri"/>
                <a:cs typeface="Calibri"/>
              </a:rPr>
              <a:t>regular</a:t>
            </a:r>
            <a:r>
              <a:rPr sz="3846" dirty="0">
                <a:latin typeface="Calibri"/>
                <a:cs typeface="Calibri"/>
              </a:rPr>
              <a:t> </a:t>
            </a:r>
            <a:r>
              <a:rPr sz="3846" spc="-7" dirty="0">
                <a:latin typeface="Calibri"/>
                <a:cs typeface="Calibri"/>
              </a:rPr>
              <a:t>unigram P(w)?</a:t>
            </a:r>
            <a:endParaRPr lang="en-US" sz="3846" spc="-7" dirty="0">
              <a:latin typeface="Calibri"/>
              <a:cs typeface="Calibri"/>
            </a:endParaRPr>
          </a:p>
          <a:p>
            <a:pPr marL="488488" indent="-471042">
              <a:spcBef>
                <a:spcPts val="859"/>
              </a:spcBef>
              <a:buClr>
                <a:srgbClr val="CC0000"/>
              </a:buClr>
              <a:buFont typeface="Times New Roman"/>
              <a:buChar char="•"/>
              <a:tabLst>
                <a:tab pos="487615" algn="l"/>
                <a:tab pos="488488" algn="l"/>
              </a:tabLst>
            </a:pPr>
            <a:r>
              <a:rPr lang="en-US" sz="3846" spc="-7" dirty="0">
                <a:latin typeface="Calibri"/>
                <a:cs typeface="Calibri"/>
              </a:rPr>
              <a:t>Use continuation probability</a:t>
            </a:r>
          </a:p>
          <a:p>
            <a:pPr marL="945688" lvl="1" indent="-471042">
              <a:spcBef>
                <a:spcPts val="859"/>
              </a:spcBef>
              <a:buClr>
                <a:srgbClr val="CC0000"/>
              </a:buClr>
              <a:buFont typeface="Times New Roman"/>
              <a:buChar char="•"/>
              <a:tabLst>
                <a:tab pos="487615" algn="l"/>
                <a:tab pos="488488" algn="l"/>
              </a:tabLst>
            </a:pPr>
            <a:r>
              <a:rPr lang="en-US" sz="2800" dirty="0"/>
              <a:t>Because of discounting you can estimate lambda directly don’t need held out dataset for it</a:t>
            </a:r>
            <a:endParaRPr lang="en-PK" sz="2800" dirty="0"/>
          </a:p>
          <a:p>
            <a:pPr marL="945688" lvl="1" indent="-471042">
              <a:spcBef>
                <a:spcPts val="859"/>
              </a:spcBef>
              <a:buClr>
                <a:srgbClr val="CC0000"/>
              </a:buClr>
              <a:buFont typeface="Times New Roman"/>
              <a:buChar char="•"/>
              <a:tabLst>
                <a:tab pos="487615" algn="l"/>
                <a:tab pos="488488" algn="l"/>
              </a:tabLst>
            </a:pPr>
            <a:r>
              <a:rPr lang="en-US" sz="3846" spc="-7" dirty="0">
                <a:latin typeface="Calibri"/>
                <a:cs typeface="Calibri"/>
              </a:rPr>
              <a:t> </a:t>
            </a:r>
            <a:endParaRPr sz="3846" dirty="0">
              <a:latin typeface="Calibri"/>
              <a:cs typeface="Calibri"/>
            </a:endParaRPr>
          </a:p>
          <a:p>
            <a:pPr marL="17446">
              <a:spcBef>
                <a:spcPts val="3111"/>
              </a:spcBef>
            </a:pPr>
            <a:r>
              <a:rPr sz="1923" dirty="0">
                <a:latin typeface="Calibri"/>
                <a:cs typeface="Calibri"/>
              </a:rPr>
              <a:t>82</a:t>
            </a:r>
          </a:p>
        </p:txBody>
      </p:sp>
      <p:sp>
        <p:nvSpPr>
          <p:cNvPr id="9" name="object 9"/>
          <p:cNvSpPr txBox="1"/>
          <p:nvPr/>
        </p:nvSpPr>
        <p:spPr>
          <a:xfrm>
            <a:off x="1209262" y="3785865"/>
            <a:ext cx="4682630" cy="658940"/>
          </a:xfrm>
          <a:prstGeom prst="rect">
            <a:avLst/>
          </a:prstGeom>
        </p:spPr>
        <p:txBody>
          <a:bodyPr vert="horz" wrap="square" lIns="0" tIns="24425" rIns="0" bIns="0" rtlCol="0">
            <a:spAutoFit/>
          </a:bodyPr>
          <a:lstStyle/>
          <a:p>
            <a:pPr marL="52338">
              <a:spcBef>
                <a:spcPts val="192"/>
              </a:spcBef>
            </a:pPr>
            <a:r>
              <a:rPr sz="6182" i="1" spc="-824" baseline="13888" dirty="0">
                <a:latin typeface="Times New Roman"/>
                <a:cs typeface="Times New Roman"/>
              </a:rPr>
              <a:t>P</a:t>
            </a:r>
            <a:r>
              <a:rPr sz="2404" spc="-27" dirty="0">
                <a:latin typeface="Times New Roman"/>
                <a:cs typeface="Times New Roman"/>
              </a:rPr>
              <a:t>A</a:t>
            </a:r>
            <a:r>
              <a:rPr sz="2404" dirty="0">
                <a:latin typeface="Times New Roman"/>
                <a:cs typeface="Times New Roman"/>
              </a:rPr>
              <a:t>b</a:t>
            </a:r>
            <a:r>
              <a:rPr sz="2404" spc="-7" dirty="0">
                <a:latin typeface="Times New Roman"/>
                <a:cs typeface="Times New Roman"/>
              </a:rPr>
              <a:t>s</a:t>
            </a:r>
            <a:r>
              <a:rPr sz="2404" dirty="0">
                <a:latin typeface="Times New Roman"/>
                <a:cs typeface="Times New Roman"/>
              </a:rPr>
              <a:t>o</a:t>
            </a:r>
            <a:r>
              <a:rPr sz="2404" spc="-14" dirty="0">
                <a:latin typeface="Times New Roman"/>
                <a:cs typeface="Times New Roman"/>
              </a:rPr>
              <a:t>l</a:t>
            </a:r>
            <a:r>
              <a:rPr sz="2404" dirty="0">
                <a:latin typeface="Times New Roman"/>
                <a:cs typeface="Times New Roman"/>
              </a:rPr>
              <a:t>u</a:t>
            </a:r>
            <a:r>
              <a:rPr sz="2404" spc="-14" dirty="0">
                <a:latin typeface="Times New Roman"/>
                <a:cs typeface="Times New Roman"/>
              </a:rPr>
              <a:t>t</a:t>
            </a:r>
            <a:r>
              <a:rPr sz="2404" spc="-21" dirty="0">
                <a:latin typeface="Times New Roman"/>
                <a:cs typeface="Times New Roman"/>
              </a:rPr>
              <a:t>e</a:t>
            </a:r>
            <a:r>
              <a:rPr sz="2404" spc="-27" dirty="0">
                <a:latin typeface="Times New Roman"/>
                <a:cs typeface="Times New Roman"/>
              </a:rPr>
              <a:t>D</a:t>
            </a:r>
            <a:r>
              <a:rPr sz="2404" spc="-14" dirty="0">
                <a:latin typeface="Times New Roman"/>
                <a:cs typeface="Times New Roman"/>
              </a:rPr>
              <a:t>i</a:t>
            </a:r>
            <a:r>
              <a:rPr sz="2404" spc="-7" dirty="0">
                <a:latin typeface="Times New Roman"/>
                <a:cs typeface="Times New Roman"/>
              </a:rPr>
              <a:t>s</a:t>
            </a:r>
            <a:r>
              <a:rPr sz="2404" spc="-21" dirty="0">
                <a:latin typeface="Times New Roman"/>
                <a:cs typeface="Times New Roman"/>
              </a:rPr>
              <a:t>c</a:t>
            </a:r>
            <a:r>
              <a:rPr sz="2404" dirty="0">
                <a:latin typeface="Times New Roman"/>
                <a:cs typeface="Times New Roman"/>
              </a:rPr>
              <a:t>oun</a:t>
            </a:r>
            <a:r>
              <a:rPr sz="2404" spc="-14" dirty="0">
                <a:latin typeface="Times New Roman"/>
                <a:cs typeface="Times New Roman"/>
              </a:rPr>
              <a:t>ti</a:t>
            </a:r>
            <a:r>
              <a:rPr sz="2404" dirty="0">
                <a:latin typeface="Times New Roman"/>
                <a:cs typeface="Times New Roman"/>
              </a:rPr>
              <a:t>ng</a:t>
            </a:r>
            <a:r>
              <a:rPr sz="2404" spc="-199" dirty="0">
                <a:latin typeface="Times New Roman"/>
                <a:cs typeface="Times New Roman"/>
              </a:rPr>
              <a:t> </a:t>
            </a:r>
            <a:r>
              <a:rPr sz="6182" spc="165" baseline="13888" dirty="0">
                <a:latin typeface="Times New Roman"/>
                <a:cs typeface="Times New Roman"/>
              </a:rPr>
              <a:t>(</a:t>
            </a:r>
            <a:r>
              <a:rPr sz="6182" i="1" spc="-71" baseline="13888" dirty="0">
                <a:latin typeface="Times New Roman"/>
                <a:cs typeface="Times New Roman"/>
              </a:rPr>
              <a:t>w</a:t>
            </a:r>
            <a:r>
              <a:rPr sz="2404" i="1" dirty="0">
                <a:latin typeface="Times New Roman"/>
                <a:cs typeface="Times New Roman"/>
              </a:rPr>
              <a:t>i </a:t>
            </a:r>
            <a:r>
              <a:rPr sz="2404" i="1" spc="-69" dirty="0">
                <a:latin typeface="Times New Roman"/>
                <a:cs typeface="Times New Roman"/>
              </a:rPr>
              <a:t> </a:t>
            </a:r>
            <a:r>
              <a:rPr sz="6182" spc="10" baseline="13888" dirty="0">
                <a:latin typeface="Times New Roman"/>
                <a:cs typeface="Times New Roman"/>
              </a:rPr>
              <a:t>|</a:t>
            </a:r>
            <a:r>
              <a:rPr sz="6182" spc="-474" baseline="13888" dirty="0">
                <a:latin typeface="Times New Roman"/>
                <a:cs typeface="Times New Roman"/>
              </a:rPr>
              <a:t> </a:t>
            </a:r>
            <a:r>
              <a:rPr sz="6182" i="1" spc="-71" baseline="13888" dirty="0">
                <a:latin typeface="Times New Roman"/>
                <a:cs typeface="Times New Roman"/>
              </a:rPr>
              <a:t>w</a:t>
            </a:r>
            <a:r>
              <a:rPr sz="2404" i="1" spc="34" dirty="0">
                <a:latin typeface="Times New Roman"/>
                <a:cs typeface="Times New Roman"/>
              </a:rPr>
              <a:t>i</a:t>
            </a:r>
            <a:r>
              <a:rPr sz="2404" spc="-206" dirty="0">
                <a:latin typeface="Symbol"/>
                <a:cs typeface="Symbol"/>
              </a:rPr>
              <a:t></a:t>
            </a:r>
            <a:r>
              <a:rPr sz="2404" dirty="0">
                <a:latin typeface="Times New Roman"/>
                <a:cs typeface="Times New Roman"/>
              </a:rPr>
              <a:t>1</a:t>
            </a:r>
            <a:endParaRPr sz="2404">
              <a:latin typeface="Times New Roman"/>
              <a:cs typeface="Times New Roman"/>
            </a:endParaRPr>
          </a:p>
        </p:txBody>
      </p:sp>
      <p:sp>
        <p:nvSpPr>
          <p:cNvPr id="10" name="object 10"/>
          <p:cNvSpPr txBox="1"/>
          <p:nvPr/>
        </p:nvSpPr>
        <p:spPr>
          <a:xfrm>
            <a:off x="5822967" y="3317965"/>
            <a:ext cx="4932988" cy="678209"/>
          </a:xfrm>
          <a:prstGeom prst="rect">
            <a:avLst/>
          </a:prstGeom>
        </p:spPr>
        <p:txBody>
          <a:bodyPr vert="horz" wrap="square" lIns="0" tIns="22680" rIns="0" bIns="0" rtlCol="0">
            <a:spAutoFit/>
          </a:bodyPr>
          <a:lstStyle/>
          <a:p>
            <a:pPr marL="52338">
              <a:spcBef>
                <a:spcPts val="179"/>
              </a:spcBef>
            </a:pPr>
            <a:r>
              <a:rPr sz="6182" spc="21" baseline="-34259" dirty="0">
                <a:latin typeface="Times New Roman"/>
                <a:cs typeface="Times New Roman"/>
              </a:rPr>
              <a:t>)</a:t>
            </a:r>
            <a:r>
              <a:rPr sz="6182" spc="-484" baseline="-34259" dirty="0">
                <a:latin typeface="Times New Roman"/>
                <a:cs typeface="Times New Roman"/>
              </a:rPr>
              <a:t> </a:t>
            </a:r>
            <a:r>
              <a:rPr sz="6182" spc="41" baseline="-34259" dirty="0">
                <a:latin typeface="Symbol"/>
                <a:cs typeface="Symbol"/>
              </a:rPr>
              <a:t></a:t>
            </a:r>
            <a:r>
              <a:rPr sz="6182" spc="185" baseline="-34259" dirty="0">
                <a:latin typeface="Times New Roman"/>
                <a:cs typeface="Times New Roman"/>
              </a:rPr>
              <a:t> </a:t>
            </a:r>
            <a:r>
              <a:rPr sz="4121" i="1" spc="76" dirty="0">
                <a:latin typeface="Times New Roman"/>
                <a:cs typeface="Times New Roman"/>
              </a:rPr>
              <a:t>c</a:t>
            </a:r>
            <a:r>
              <a:rPr sz="4121" spc="110" dirty="0">
                <a:latin typeface="Times New Roman"/>
                <a:cs typeface="Times New Roman"/>
              </a:rPr>
              <a:t>(</a:t>
            </a:r>
            <a:r>
              <a:rPr sz="4121" i="1" spc="-48" dirty="0">
                <a:latin typeface="Times New Roman"/>
                <a:cs typeface="Times New Roman"/>
              </a:rPr>
              <a:t>w</a:t>
            </a:r>
            <a:r>
              <a:rPr sz="3606" i="1" spc="51" baseline="-23809" dirty="0">
                <a:latin typeface="Times New Roman"/>
                <a:cs typeface="Times New Roman"/>
              </a:rPr>
              <a:t>i</a:t>
            </a:r>
            <a:r>
              <a:rPr sz="3606" spc="-309" baseline="-23809" dirty="0">
                <a:latin typeface="Symbol"/>
                <a:cs typeface="Symbol"/>
              </a:rPr>
              <a:t></a:t>
            </a:r>
            <a:r>
              <a:rPr sz="3606" spc="-71" baseline="-23809" dirty="0">
                <a:latin typeface="Times New Roman"/>
                <a:cs typeface="Times New Roman"/>
              </a:rPr>
              <a:t>1</a:t>
            </a:r>
            <a:r>
              <a:rPr sz="4121" spc="7" dirty="0">
                <a:latin typeface="Times New Roman"/>
                <a:cs typeface="Times New Roman"/>
              </a:rPr>
              <a:t>,</a:t>
            </a:r>
            <a:r>
              <a:rPr sz="4121" spc="-460" dirty="0">
                <a:latin typeface="Times New Roman"/>
                <a:cs typeface="Times New Roman"/>
              </a:rPr>
              <a:t> </a:t>
            </a:r>
            <a:r>
              <a:rPr sz="4121" i="1" spc="-48" dirty="0">
                <a:latin typeface="Times New Roman"/>
                <a:cs typeface="Times New Roman"/>
              </a:rPr>
              <a:t>w</a:t>
            </a:r>
            <a:r>
              <a:rPr sz="3606" i="1" baseline="-23809" dirty="0">
                <a:latin typeface="Times New Roman"/>
                <a:cs typeface="Times New Roman"/>
              </a:rPr>
              <a:t>i</a:t>
            </a:r>
            <a:r>
              <a:rPr sz="3606" i="1" spc="-165" baseline="-23809" dirty="0">
                <a:latin typeface="Times New Roman"/>
                <a:cs typeface="Times New Roman"/>
              </a:rPr>
              <a:t> </a:t>
            </a:r>
            <a:r>
              <a:rPr sz="4121" spc="14" dirty="0">
                <a:latin typeface="Times New Roman"/>
                <a:cs typeface="Times New Roman"/>
              </a:rPr>
              <a:t>)</a:t>
            </a:r>
            <a:r>
              <a:rPr sz="4121" spc="-536" dirty="0">
                <a:latin typeface="Times New Roman"/>
                <a:cs typeface="Times New Roman"/>
              </a:rPr>
              <a:t> </a:t>
            </a:r>
            <a:r>
              <a:rPr sz="4121" spc="27" dirty="0">
                <a:latin typeface="Symbol"/>
                <a:cs typeface="Symbol"/>
              </a:rPr>
              <a:t></a:t>
            </a:r>
            <a:r>
              <a:rPr sz="4121" spc="-357" dirty="0">
                <a:latin typeface="Times New Roman"/>
                <a:cs typeface="Times New Roman"/>
              </a:rPr>
              <a:t> </a:t>
            </a:r>
            <a:r>
              <a:rPr sz="4121" i="1" spc="21" dirty="0">
                <a:latin typeface="Times New Roman"/>
                <a:cs typeface="Times New Roman"/>
              </a:rPr>
              <a:t>d</a:t>
            </a:r>
            <a:r>
              <a:rPr sz="4121" i="1" spc="117" dirty="0">
                <a:latin typeface="Times New Roman"/>
                <a:cs typeface="Times New Roman"/>
              </a:rPr>
              <a:t> </a:t>
            </a:r>
            <a:r>
              <a:rPr sz="6182" spc="41" baseline="-34259" dirty="0">
                <a:latin typeface="Symbol"/>
                <a:cs typeface="Symbol"/>
              </a:rPr>
              <a:t></a:t>
            </a:r>
            <a:r>
              <a:rPr sz="6182" spc="-536" baseline="-34259" dirty="0">
                <a:latin typeface="Times New Roman"/>
                <a:cs typeface="Times New Roman"/>
              </a:rPr>
              <a:t> </a:t>
            </a:r>
            <a:r>
              <a:rPr sz="6388" spc="319" baseline="-33154" dirty="0">
                <a:latin typeface="Symbol"/>
                <a:cs typeface="Symbol"/>
              </a:rPr>
              <a:t></a:t>
            </a:r>
            <a:r>
              <a:rPr sz="6182" spc="165" baseline="-34259" dirty="0">
                <a:latin typeface="Times New Roman"/>
                <a:cs typeface="Times New Roman"/>
              </a:rPr>
              <a:t>(</a:t>
            </a:r>
            <a:r>
              <a:rPr sz="6182" i="1" spc="51" baseline="-34259" dirty="0">
                <a:latin typeface="Times New Roman"/>
                <a:cs typeface="Times New Roman"/>
              </a:rPr>
              <a:t>w</a:t>
            </a:r>
            <a:endParaRPr sz="6182" baseline="-34259">
              <a:latin typeface="Times New Roman"/>
              <a:cs typeface="Times New Roman"/>
            </a:endParaRPr>
          </a:p>
        </p:txBody>
      </p:sp>
      <p:sp>
        <p:nvSpPr>
          <p:cNvPr id="11" name="object 11"/>
          <p:cNvSpPr txBox="1"/>
          <p:nvPr/>
        </p:nvSpPr>
        <p:spPr>
          <a:xfrm>
            <a:off x="8039812" y="4432195"/>
            <a:ext cx="420460" cy="388471"/>
          </a:xfrm>
          <a:prstGeom prst="rect">
            <a:avLst/>
          </a:prstGeom>
        </p:spPr>
        <p:txBody>
          <a:bodyPr vert="horz" wrap="square" lIns="0" tIns="18319" rIns="0" bIns="0" rtlCol="0">
            <a:spAutoFit/>
          </a:bodyPr>
          <a:lstStyle/>
          <a:p>
            <a:pPr marL="17446">
              <a:spcBef>
                <a:spcPts val="144"/>
              </a:spcBef>
            </a:pPr>
            <a:r>
              <a:rPr sz="2404" i="1" spc="34" dirty="0">
                <a:latin typeface="Times New Roman"/>
                <a:cs typeface="Times New Roman"/>
              </a:rPr>
              <a:t>i</a:t>
            </a:r>
            <a:r>
              <a:rPr sz="2404" spc="-206" dirty="0">
                <a:latin typeface="Symbol"/>
                <a:cs typeface="Symbol"/>
              </a:rPr>
              <a:t></a:t>
            </a:r>
            <a:r>
              <a:rPr sz="2404" dirty="0">
                <a:latin typeface="Times New Roman"/>
                <a:cs typeface="Times New Roman"/>
              </a:rPr>
              <a:t>1</a:t>
            </a:r>
            <a:endParaRPr sz="2404">
              <a:latin typeface="Times New Roman"/>
              <a:cs typeface="Times New Roman"/>
            </a:endParaRPr>
          </a:p>
        </p:txBody>
      </p:sp>
      <p:sp>
        <p:nvSpPr>
          <p:cNvPr id="12" name="object 12"/>
          <p:cNvSpPr txBox="1"/>
          <p:nvPr/>
        </p:nvSpPr>
        <p:spPr>
          <a:xfrm>
            <a:off x="7264191" y="4075887"/>
            <a:ext cx="1407930" cy="658811"/>
          </a:xfrm>
          <a:prstGeom prst="rect">
            <a:avLst/>
          </a:prstGeom>
        </p:spPr>
        <p:txBody>
          <a:bodyPr vert="horz" wrap="square" lIns="0" tIns="24425" rIns="0" bIns="0" rtlCol="0">
            <a:spAutoFit/>
          </a:bodyPr>
          <a:lstStyle/>
          <a:p>
            <a:pPr marL="17446">
              <a:spcBef>
                <a:spcPts val="192"/>
              </a:spcBef>
              <a:tabLst>
                <a:tab pos="1213369" algn="l"/>
              </a:tabLst>
            </a:pPr>
            <a:r>
              <a:rPr sz="4121" i="1" spc="76" dirty="0">
                <a:latin typeface="Times New Roman"/>
                <a:cs typeface="Times New Roman"/>
              </a:rPr>
              <a:t>c</a:t>
            </a:r>
            <a:r>
              <a:rPr sz="4121" spc="110" dirty="0">
                <a:latin typeface="Times New Roman"/>
                <a:cs typeface="Times New Roman"/>
              </a:rPr>
              <a:t>(</a:t>
            </a:r>
            <a:r>
              <a:rPr sz="4121" i="1" spc="34" dirty="0">
                <a:latin typeface="Times New Roman"/>
                <a:cs typeface="Times New Roman"/>
              </a:rPr>
              <a:t>w</a:t>
            </a:r>
            <a:r>
              <a:rPr sz="4121" i="1" dirty="0">
                <a:latin typeface="Times New Roman"/>
                <a:cs typeface="Times New Roman"/>
              </a:rPr>
              <a:t>	</a:t>
            </a:r>
            <a:r>
              <a:rPr sz="4121" spc="14" dirty="0">
                <a:latin typeface="Times New Roman"/>
                <a:cs typeface="Times New Roman"/>
              </a:rPr>
              <a:t>)</a:t>
            </a:r>
            <a:endParaRPr sz="4121">
              <a:latin typeface="Times New Roman"/>
              <a:cs typeface="Times New Roman"/>
            </a:endParaRPr>
          </a:p>
        </p:txBody>
      </p:sp>
      <p:sp>
        <p:nvSpPr>
          <p:cNvPr id="13" name="object 13"/>
          <p:cNvSpPr/>
          <p:nvPr/>
        </p:nvSpPr>
        <p:spPr>
          <a:xfrm>
            <a:off x="6551560" y="4087117"/>
            <a:ext cx="2817604" cy="0"/>
          </a:xfrm>
          <a:custGeom>
            <a:avLst/>
            <a:gdLst/>
            <a:ahLst/>
            <a:cxnLst/>
            <a:rect l="l" t="t" r="r" b="b"/>
            <a:pathLst>
              <a:path w="2051050">
                <a:moveTo>
                  <a:pt x="0" y="0"/>
                </a:moveTo>
                <a:lnTo>
                  <a:pt x="2050466" y="0"/>
                </a:lnTo>
              </a:path>
            </a:pathLst>
          </a:custGeom>
          <a:ln w="19101">
            <a:solidFill>
              <a:srgbClr val="000000"/>
            </a:solidFill>
          </a:ln>
        </p:spPr>
        <p:txBody>
          <a:bodyPr wrap="square" lIns="0" tIns="0" rIns="0" bIns="0" rtlCol="0"/>
          <a:lstStyle/>
          <a:p>
            <a:endParaRPr sz="2473"/>
          </a:p>
        </p:txBody>
      </p:sp>
      <p:sp>
        <p:nvSpPr>
          <p:cNvPr id="14" name="object 14"/>
          <p:cNvSpPr txBox="1"/>
          <p:nvPr/>
        </p:nvSpPr>
        <p:spPr>
          <a:xfrm>
            <a:off x="10675820" y="4009595"/>
            <a:ext cx="420460" cy="388471"/>
          </a:xfrm>
          <a:prstGeom prst="rect">
            <a:avLst/>
          </a:prstGeom>
        </p:spPr>
        <p:txBody>
          <a:bodyPr vert="horz" wrap="square" lIns="0" tIns="18319" rIns="0" bIns="0" rtlCol="0">
            <a:spAutoFit/>
          </a:bodyPr>
          <a:lstStyle/>
          <a:p>
            <a:pPr marL="17446">
              <a:spcBef>
                <a:spcPts val="144"/>
              </a:spcBef>
            </a:pPr>
            <a:r>
              <a:rPr sz="2404" i="1" spc="34" dirty="0">
                <a:latin typeface="Times New Roman"/>
                <a:cs typeface="Times New Roman"/>
              </a:rPr>
              <a:t>i</a:t>
            </a:r>
            <a:r>
              <a:rPr sz="2404" spc="-206" dirty="0">
                <a:latin typeface="Symbol"/>
                <a:cs typeface="Symbol"/>
              </a:rPr>
              <a:t></a:t>
            </a:r>
            <a:r>
              <a:rPr sz="2404" dirty="0">
                <a:latin typeface="Times New Roman"/>
                <a:cs typeface="Times New Roman"/>
              </a:rPr>
              <a:t>1</a:t>
            </a:r>
            <a:endParaRPr sz="2404">
              <a:latin typeface="Times New Roman"/>
              <a:cs typeface="Times New Roman"/>
            </a:endParaRPr>
          </a:p>
        </p:txBody>
      </p:sp>
      <p:sp>
        <p:nvSpPr>
          <p:cNvPr id="15" name="object 15"/>
          <p:cNvSpPr txBox="1"/>
          <p:nvPr/>
        </p:nvSpPr>
        <p:spPr>
          <a:xfrm>
            <a:off x="11096754" y="3653285"/>
            <a:ext cx="1728945" cy="1436910"/>
          </a:xfrm>
          <a:prstGeom prst="rect">
            <a:avLst/>
          </a:prstGeom>
        </p:spPr>
        <p:txBody>
          <a:bodyPr vert="horz" wrap="square" lIns="0" tIns="24425" rIns="0" bIns="0" rtlCol="0">
            <a:spAutoFit/>
          </a:bodyPr>
          <a:lstStyle/>
          <a:p>
            <a:pPr marL="17446">
              <a:spcBef>
                <a:spcPts val="192"/>
              </a:spcBef>
            </a:pPr>
            <a:r>
              <a:rPr sz="4121" spc="103" dirty="0">
                <a:latin typeface="Times New Roman"/>
                <a:cs typeface="Times New Roman"/>
              </a:rPr>
              <a:t>)</a:t>
            </a:r>
            <a:r>
              <a:rPr sz="4121" i="1" spc="103" dirty="0">
                <a:latin typeface="Times New Roman"/>
                <a:cs typeface="Times New Roman"/>
              </a:rPr>
              <a:t>P</a:t>
            </a:r>
            <a:r>
              <a:rPr sz="4121" spc="103" dirty="0">
                <a:latin typeface="Times New Roman"/>
                <a:cs typeface="Times New Roman"/>
              </a:rPr>
              <a:t>(</a:t>
            </a:r>
            <a:r>
              <a:rPr sz="4121" i="1" spc="103" dirty="0">
                <a:latin typeface="Times New Roman"/>
                <a:cs typeface="Times New Roman"/>
              </a:rPr>
              <a:t>w</a:t>
            </a:r>
            <a:r>
              <a:rPr sz="4121" spc="103" dirty="0">
                <a:latin typeface="Times New Roman"/>
                <a:cs typeface="Times New Roman"/>
              </a:rPr>
              <a:t>)</a:t>
            </a:r>
            <a:endParaRPr sz="4121">
              <a:latin typeface="Times New Roman"/>
              <a:cs typeface="Times New Roman"/>
            </a:endParaRPr>
          </a:p>
          <a:p>
            <a:pPr marL="438767">
              <a:spcBef>
                <a:spcPts val="3070"/>
              </a:spcBef>
            </a:pPr>
            <a:r>
              <a:rPr sz="2473" dirty="0">
                <a:solidFill>
                  <a:srgbClr val="FF0000"/>
                </a:solidFill>
                <a:latin typeface="Lucida Sans Unicode"/>
                <a:cs typeface="Lucida Sans Unicode"/>
              </a:rPr>
              <a:t>unigram</a:t>
            </a:r>
            <a:endParaRPr sz="2473">
              <a:latin typeface="Lucida Sans Unicode"/>
              <a:cs typeface="Lucida Sans Unicode"/>
            </a:endParaRPr>
          </a:p>
        </p:txBody>
      </p:sp>
      <p:sp>
        <p:nvSpPr>
          <p:cNvPr id="16" name="object 16"/>
          <p:cNvSpPr txBox="1"/>
          <p:nvPr/>
        </p:nvSpPr>
        <p:spPr>
          <a:xfrm>
            <a:off x="5760823" y="2988023"/>
            <a:ext cx="2896113" cy="398170"/>
          </a:xfrm>
          <a:prstGeom prst="rect">
            <a:avLst/>
          </a:prstGeom>
        </p:spPr>
        <p:txBody>
          <a:bodyPr vert="horz" wrap="square" lIns="0" tIns="17446" rIns="0" bIns="0" rtlCol="0">
            <a:spAutoFit/>
          </a:bodyPr>
          <a:lstStyle/>
          <a:p>
            <a:pPr marL="17446">
              <a:spcBef>
                <a:spcPts val="137"/>
              </a:spcBef>
            </a:pPr>
            <a:r>
              <a:rPr sz="2473" dirty="0">
                <a:solidFill>
                  <a:srgbClr val="FF0000"/>
                </a:solidFill>
                <a:latin typeface="Lucida Sans Unicode"/>
                <a:cs typeface="Lucida Sans Unicode"/>
              </a:rPr>
              <a:t>discounted</a:t>
            </a:r>
            <a:r>
              <a:rPr sz="2473" spc="-96" dirty="0">
                <a:solidFill>
                  <a:srgbClr val="FF0000"/>
                </a:solidFill>
                <a:latin typeface="Lucida Sans Unicode"/>
                <a:cs typeface="Lucida Sans Unicode"/>
              </a:rPr>
              <a:t> </a:t>
            </a:r>
            <a:r>
              <a:rPr sz="2473" spc="-7" dirty="0">
                <a:solidFill>
                  <a:srgbClr val="FF0000"/>
                </a:solidFill>
                <a:latin typeface="Lucida Sans Unicode"/>
                <a:cs typeface="Lucida Sans Unicode"/>
              </a:rPr>
              <a:t>bigram</a:t>
            </a:r>
            <a:endParaRPr sz="2473">
              <a:latin typeface="Lucida Sans Unicode"/>
              <a:cs typeface="Lucida Sans Unicode"/>
            </a:endParaRPr>
          </a:p>
        </p:txBody>
      </p:sp>
      <p:sp>
        <p:nvSpPr>
          <p:cNvPr id="17" name="object 17"/>
          <p:cNvSpPr txBox="1"/>
          <p:nvPr/>
        </p:nvSpPr>
        <p:spPr>
          <a:xfrm>
            <a:off x="9738614" y="3092703"/>
            <a:ext cx="2425059" cy="313531"/>
          </a:xfrm>
          <a:prstGeom prst="rect">
            <a:avLst/>
          </a:prstGeom>
        </p:spPr>
        <p:txBody>
          <a:bodyPr vert="horz" wrap="square" lIns="0" tIns="17446" rIns="0" bIns="0" rtlCol="0">
            <a:spAutoFit/>
          </a:bodyPr>
          <a:lstStyle/>
          <a:p>
            <a:pPr marL="17446">
              <a:spcBef>
                <a:spcPts val="137"/>
              </a:spcBef>
            </a:pPr>
            <a:r>
              <a:rPr sz="1923" spc="-7" dirty="0">
                <a:solidFill>
                  <a:srgbClr val="FF0000"/>
                </a:solidFill>
                <a:latin typeface="Lucida Sans Unicode"/>
                <a:cs typeface="Lucida Sans Unicode"/>
              </a:rPr>
              <a:t>Interpolation</a:t>
            </a:r>
            <a:r>
              <a:rPr sz="1923" spc="-48" dirty="0">
                <a:solidFill>
                  <a:srgbClr val="FF0000"/>
                </a:solidFill>
                <a:latin typeface="Lucida Sans Unicode"/>
                <a:cs typeface="Lucida Sans Unicode"/>
              </a:rPr>
              <a:t> </a:t>
            </a:r>
            <a:r>
              <a:rPr sz="1923" dirty="0">
                <a:solidFill>
                  <a:srgbClr val="FF0000"/>
                </a:solidFill>
                <a:latin typeface="Lucida Sans Unicode"/>
                <a:cs typeface="Lucida Sans Unicode"/>
              </a:rPr>
              <a:t>weight</a:t>
            </a:r>
            <a:endParaRPr sz="1923">
              <a:latin typeface="Lucida Sans Unicode"/>
              <a:cs typeface="Lucida Sans Unicode"/>
            </a:endParaRPr>
          </a:p>
        </p:txBody>
      </p:sp>
      <p:grpSp>
        <p:nvGrpSpPr>
          <p:cNvPr id="18" name="object 18"/>
          <p:cNvGrpSpPr/>
          <p:nvPr/>
        </p:nvGrpSpPr>
        <p:grpSpPr>
          <a:xfrm>
            <a:off x="10467877" y="3459514"/>
            <a:ext cx="321014" cy="425694"/>
            <a:chOff x="7619998" y="3575598"/>
            <a:chExt cx="233679" cy="309880"/>
          </a:xfrm>
        </p:grpSpPr>
        <p:sp>
          <p:nvSpPr>
            <p:cNvPr id="19" name="object 19"/>
            <p:cNvSpPr/>
            <p:nvPr/>
          </p:nvSpPr>
          <p:spPr>
            <a:xfrm>
              <a:off x="7635121" y="3580361"/>
              <a:ext cx="213995" cy="285115"/>
            </a:xfrm>
            <a:custGeom>
              <a:avLst/>
              <a:gdLst/>
              <a:ahLst/>
              <a:cxnLst/>
              <a:rect l="l" t="t" r="r" b="b"/>
              <a:pathLst>
                <a:path w="213995" h="285114">
                  <a:moveTo>
                    <a:pt x="213476" y="0"/>
                  </a:moveTo>
                  <a:lnTo>
                    <a:pt x="0" y="284636"/>
                  </a:lnTo>
                </a:path>
              </a:pathLst>
            </a:custGeom>
            <a:ln w="9524">
              <a:solidFill>
                <a:srgbClr val="000000"/>
              </a:solidFill>
            </a:ln>
          </p:spPr>
          <p:txBody>
            <a:bodyPr wrap="square" lIns="0" tIns="0" rIns="0" bIns="0" rtlCol="0"/>
            <a:lstStyle/>
            <a:p>
              <a:endParaRPr sz="2473"/>
            </a:p>
          </p:txBody>
        </p:sp>
        <p:pic>
          <p:nvPicPr>
            <p:cNvPr id="20" name="object 20"/>
            <p:cNvPicPr/>
            <p:nvPr/>
          </p:nvPicPr>
          <p:blipFill>
            <a:blip r:embed="rId3" cstate="print"/>
            <a:stretch>
              <a:fillRect/>
            </a:stretch>
          </p:blipFill>
          <p:spPr>
            <a:xfrm>
              <a:off x="7619998" y="3763944"/>
              <a:ext cx="110830" cy="121216"/>
            </a:xfrm>
            <a:prstGeom prst="rect">
              <a:avLst/>
            </a:prstGeom>
          </p:spPr>
        </p:pic>
      </p:grpSp>
      <p:pic>
        <p:nvPicPr>
          <p:cNvPr id="21" name="object 21"/>
          <p:cNvPicPr/>
          <p:nvPr/>
        </p:nvPicPr>
        <p:blipFill>
          <a:blip r:embed="rId4" cstate="print"/>
          <a:stretch>
            <a:fillRect/>
          </a:stretch>
        </p:blipFill>
        <p:spPr>
          <a:xfrm>
            <a:off x="11724024" y="4408167"/>
            <a:ext cx="320575" cy="320578"/>
          </a:xfrm>
          <a:prstGeom prst="rect">
            <a:avLst/>
          </a:prstGeom>
        </p:spPr>
      </p:pic>
    </p:spTree>
    <p:extLst>
      <p:ext uri="{BB962C8B-B14F-4D97-AF65-F5344CB8AC3E}">
        <p14:creationId xmlns:p14="http://schemas.microsoft.com/office/powerpoint/2010/main" val="407976482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p:nvPr/>
        </p:nvSpPr>
        <p:spPr>
          <a:xfrm>
            <a:off x="1346200" y="1828800"/>
            <a:ext cx="11716173" cy="4963636"/>
          </a:xfrm>
          <a:prstGeom prst="rect">
            <a:avLst/>
          </a:prstGeom>
        </p:spPr>
        <p:txBody>
          <a:bodyPr vert="horz" wrap="square" lIns="0" tIns="101189" rIns="0" bIns="0" rtlCol="0">
            <a:spAutoFit/>
          </a:bodyPr>
          <a:lstStyle/>
          <a:p>
            <a:pPr marL="505934" indent="-471042">
              <a:spcBef>
                <a:spcPts val="797"/>
              </a:spcBef>
              <a:buClr>
                <a:srgbClr val="CC0000"/>
              </a:buClr>
              <a:buFont typeface="Times New Roman"/>
              <a:buChar char="•"/>
              <a:tabLst>
                <a:tab pos="505061" algn="l"/>
                <a:tab pos="505934" algn="l"/>
              </a:tabLst>
            </a:pPr>
            <a:r>
              <a:rPr lang="en-US" sz="3297" spc="-27" dirty="0">
                <a:latin typeface="Calibri"/>
                <a:cs typeface="Calibri"/>
              </a:rPr>
              <a:t>     </a:t>
            </a:r>
            <a:r>
              <a:rPr sz="3297" spc="-27" dirty="0">
                <a:latin typeface="Calibri"/>
                <a:cs typeface="Calibri"/>
              </a:rPr>
              <a:t>Better</a:t>
            </a:r>
            <a:r>
              <a:rPr sz="3297" dirty="0">
                <a:latin typeface="Calibri"/>
                <a:cs typeface="Calibri"/>
              </a:rPr>
              <a:t> </a:t>
            </a:r>
            <a:r>
              <a:rPr sz="3297" spc="-7" dirty="0">
                <a:latin typeface="Calibri"/>
                <a:cs typeface="Calibri"/>
              </a:rPr>
              <a:t>estimate</a:t>
            </a:r>
            <a:r>
              <a:rPr sz="3297" dirty="0">
                <a:latin typeface="Calibri"/>
                <a:cs typeface="Calibri"/>
              </a:rPr>
              <a:t> </a:t>
            </a:r>
            <a:r>
              <a:rPr sz="3297" spc="-7" dirty="0">
                <a:latin typeface="Calibri"/>
                <a:cs typeface="Calibri"/>
              </a:rPr>
              <a:t>for</a:t>
            </a:r>
            <a:r>
              <a:rPr sz="3297" dirty="0">
                <a:latin typeface="Calibri"/>
                <a:cs typeface="Calibri"/>
              </a:rPr>
              <a:t> </a:t>
            </a:r>
            <a:r>
              <a:rPr sz="3297" spc="-7" dirty="0">
                <a:latin typeface="Calibri"/>
                <a:cs typeface="Calibri"/>
              </a:rPr>
              <a:t>probabilities</a:t>
            </a:r>
            <a:r>
              <a:rPr sz="3297" spc="7" dirty="0">
                <a:latin typeface="Calibri"/>
                <a:cs typeface="Calibri"/>
              </a:rPr>
              <a:t> </a:t>
            </a:r>
            <a:r>
              <a:rPr sz="3297" spc="-7" dirty="0">
                <a:latin typeface="Calibri"/>
                <a:cs typeface="Calibri"/>
              </a:rPr>
              <a:t>of</a:t>
            </a:r>
            <a:r>
              <a:rPr sz="3297" spc="7" dirty="0">
                <a:latin typeface="Calibri"/>
                <a:cs typeface="Calibri"/>
              </a:rPr>
              <a:t> </a:t>
            </a:r>
            <a:r>
              <a:rPr sz="3297" spc="-157" dirty="0">
                <a:latin typeface="Calibri"/>
                <a:cs typeface="Calibri"/>
              </a:rPr>
              <a:t>lower-­‐order</a:t>
            </a:r>
            <a:r>
              <a:rPr sz="3297" dirty="0">
                <a:latin typeface="Calibri"/>
                <a:cs typeface="Calibri"/>
              </a:rPr>
              <a:t> </a:t>
            </a:r>
            <a:r>
              <a:rPr sz="3297" spc="-7" dirty="0">
                <a:latin typeface="Calibri"/>
                <a:cs typeface="Calibri"/>
              </a:rPr>
              <a:t>unigrams!</a:t>
            </a:r>
            <a:endParaRPr sz="3297" dirty="0">
              <a:latin typeface="Calibri"/>
              <a:cs typeface="Calibri"/>
            </a:endParaRPr>
          </a:p>
          <a:p>
            <a:pPr marL="976975" lvl="1" indent="-314028">
              <a:spcBef>
                <a:spcPts val="549"/>
              </a:spcBef>
              <a:buFont typeface="Times New Roman"/>
              <a:buChar char="•"/>
              <a:tabLst>
                <a:tab pos="976103" algn="l"/>
                <a:tab pos="976975" algn="l"/>
                <a:tab pos="7989391" algn="l"/>
                <a:tab pos="9522894" algn="l"/>
              </a:tabLst>
            </a:pPr>
            <a:r>
              <a:rPr sz="2747" spc="-7" dirty="0">
                <a:latin typeface="Calibri"/>
                <a:cs typeface="Calibri"/>
              </a:rPr>
              <a:t>Shannon</a:t>
            </a:r>
            <a:r>
              <a:rPr sz="2747" spc="14" dirty="0">
                <a:latin typeface="Calibri"/>
                <a:cs typeface="Calibri"/>
              </a:rPr>
              <a:t> </a:t>
            </a:r>
            <a:r>
              <a:rPr sz="2747" spc="-7" dirty="0">
                <a:latin typeface="Calibri"/>
                <a:cs typeface="Calibri"/>
              </a:rPr>
              <a:t>game:</a:t>
            </a:r>
            <a:r>
              <a:rPr sz="2747" spc="639" dirty="0">
                <a:latin typeface="Calibri"/>
                <a:cs typeface="Calibri"/>
              </a:rPr>
              <a:t> </a:t>
            </a:r>
            <a:r>
              <a:rPr sz="2747" i="1" dirty="0">
                <a:latin typeface="Calibri"/>
                <a:cs typeface="Calibri"/>
              </a:rPr>
              <a:t>I</a:t>
            </a:r>
            <a:r>
              <a:rPr sz="2747" i="1" spc="14" dirty="0">
                <a:latin typeface="Calibri"/>
                <a:cs typeface="Calibri"/>
              </a:rPr>
              <a:t> </a:t>
            </a:r>
            <a:r>
              <a:rPr sz="2747" i="1" dirty="0">
                <a:latin typeface="Calibri"/>
                <a:cs typeface="Calibri"/>
              </a:rPr>
              <a:t>can’t</a:t>
            </a:r>
            <a:r>
              <a:rPr sz="2747" i="1" spc="14" dirty="0">
                <a:latin typeface="Calibri"/>
                <a:cs typeface="Calibri"/>
              </a:rPr>
              <a:t> </a:t>
            </a:r>
            <a:r>
              <a:rPr sz="2747" i="1" spc="-7" dirty="0">
                <a:latin typeface="Calibri"/>
                <a:cs typeface="Calibri"/>
              </a:rPr>
              <a:t>see</a:t>
            </a:r>
            <a:r>
              <a:rPr sz="2747" i="1" spc="14" dirty="0">
                <a:latin typeface="Calibri"/>
                <a:cs typeface="Calibri"/>
              </a:rPr>
              <a:t> </a:t>
            </a:r>
            <a:r>
              <a:rPr sz="2747" i="1" spc="-7" dirty="0">
                <a:latin typeface="Calibri"/>
                <a:cs typeface="Calibri"/>
              </a:rPr>
              <a:t>without</a:t>
            </a:r>
            <a:r>
              <a:rPr sz="2747" i="1" spc="14" dirty="0">
                <a:latin typeface="Calibri"/>
                <a:cs typeface="Calibri"/>
              </a:rPr>
              <a:t> </a:t>
            </a:r>
            <a:r>
              <a:rPr sz="2747" i="1" dirty="0">
                <a:latin typeface="Calibri"/>
                <a:cs typeface="Calibri"/>
              </a:rPr>
              <a:t>my</a:t>
            </a:r>
            <a:r>
              <a:rPr sz="2747" i="1" spc="21" dirty="0">
                <a:latin typeface="Calibri"/>
                <a:cs typeface="Calibri"/>
              </a:rPr>
              <a:t> </a:t>
            </a:r>
            <a:r>
              <a:rPr sz="2747" i="1" spc="-7" dirty="0">
                <a:latin typeface="Calibri"/>
                <a:cs typeface="Calibri"/>
              </a:rPr>
              <a:t>reading</a:t>
            </a:r>
            <a:r>
              <a:rPr sz="4121" i="1" u="heavy" spc="-10" baseline="13888" dirty="0">
                <a:solidFill>
                  <a:srgbClr val="3366FF"/>
                </a:solidFill>
                <a:uFill>
                  <a:solidFill>
                    <a:srgbClr val="000000"/>
                  </a:solidFill>
                </a:uFill>
                <a:latin typeface="Times New Roman"/>
                <a:cs typeface="Times New Roman"/>
              </a:rPr>
              <a:t>	</a:t>
            </a:r>
            <a:r>
              <a:rPr sz="2747" i="1" spc="-7" dirty="0">
                <a:latin typeface="Calibri"/>
                <a:cs typeface="Calibri"/>
              </a:rPr>
              <a:t>Fr</a:t>
            </a:r>
            <a:r>
              <a:rPr lang="en-US" sz="2747" i="1" spc="-7" dirty="0">
                <a:latin typeface="Calibri"/>
                <a:cs typeface="Calibri"/>
              </a:rPr>
              <a:t>ancisco</a:t>
            </a:r>
            <a:r>
              <a:rPr sz="3709" i="1" u="heavy" spc="-679" baseline="15432" dirty="0">
                <a:solidFill>
                  <a:srgbClr val="3366FF"/>
                </a:solidFill>
                <a:uFill>
                  <a:solidFill>
                    <a:srgbClr val="000000"/>
                  </a:solidFill>
                </a:uFill>
                <a:latin typeface="Calibri"/>
                <a:cs typeface="Calibri"/>
              </a:rPr>
              <a:t>	</a:t>
            </a:r>
            <a:r>
              <a:rPr sz="2747" dirty="0">
                <a:latin typeface="Calibri"/>
                <a:cs typeface="Calibri"/>
              </a:rPr>
              <a:t>?</a:t>
            </a:r>
          </a:p>
          <a:p>
            <a:pPr marL="976975" lvl="1" indent="-314028">
              <a:spcBef>
                <a:spcPts val="687"/>
              </a:spcBef>
              <a:buFont typeface="Times New Roman"/>
              <a:buChar char="•"/>
              <a:tabLst>
                <a:tab pos="976103" algn="l"/>
                <a:tab pos="976975" algn="l"/>
              </a:tabLst>
            </a:pPr>
            <a:r>
              <a:rPr sz="2747" spc="-7" dirty="0">
                <a:latin typeface="Calibri"/>
                <a:cs typeface="Calibri"/>
              </a:rPr>
              <a:t>“Francisco”</a:t>
            </a:r>
            <a:r>
              <a:rPr sz="2747" spc="-14" dirty="0">
                <a:latin typeface="Calibri"/>
                <a:cs typeface="Calibri"/>
              </a:rPr>
              <a:t> </a:t>
            </a:r>
            <a:r>
              <a:rPr sz="2747" dirty="0">
                <a:latin typeface="Calibri"/>
                <a:cs typeface="Calibri"/>
              </a:rPr>
              <a:t>is</a:t>
            </a:r>
            <a:r>
              <a:rPr sz="2747" spc="-7" dirty="0">
                <a:latin typeface="Calibri"/>
                <a:cs typeface="Calibri"/>
              </a:rPr>
              <a:t> more common </a:t>
            </a:r>
            <a:r>
              <a:rPr sz="2747" dirty="0">
                <a:latin typeface="Calibri"/>
                <a:cs typeface="Calibri"/>
              </a:rPr>
              <a:t>than</a:t>
            </a:r>
            <a:r>
              <a:rPr sz="2747" spc="-14" dirty="0">
                <a:latin typeface="Calibri"/>
                <a:cs typeface="Calibri"/>
              </a:rPr>
              <a:t> </a:t>
            </a:r>
            <a:r>
              <a:rPr sz="2747" dirty="0">
                <a:latin typeface="Calibri"/>
                <a:cs typeface="Calibri"/>
              </a:rPr>
              <a:t>“glasses”</a:t>
            </a:r>
          </a:p>
          <a:p>
            <a:pPr marL="976975" lvl="1" indent="-314028">
              <a:spcBef>
                <a:spcPts val="687"/>
              </a:spcBef>
              <a:buFont typeface="Times New Roman"/>
              <a:buChar char="•"/>
              <a:tabLst>
                <a:tab pos="976103" algn="l"/>
                <a:tab pos="976975" algn="l"/>
              </a:tabLst>
            </a:pPr>
            <a:r>
              <a:rPr sz="2747" dirty="0">
                <a:latin typeface="Calibri"/>
                <a:cs typeface="Calibri"/>
              </a:rPr>
              <a:t>…</a:t>
            </a:r>
            <a:r>
              <a:rPr sz="2747" spc="-7" dirty="0">
                <a:latin typeface="Calibri"/>
                <a:cs typeface="Calibri"/>
              </a:rPr>
              <a:t> </a:t>
            </a:r>
            <a:r>
              <a:rPr sz="2747" dirty="0">
                <a:latin typeface="Calibri"/>
                <a:cs typeface="Calibri"/>
              </a:rPr>
              <a:t>but </a:t>
            </a:r>
            <a:r>
              <a:rPr sz="2747" spc="-7" dirty="0">
                <a:latin typeface="Calibri"/>
                <a:cs typeface="Calibri"/>
              </a:rPr>
              <a:t>“Francisco” always</a:t>
            </a:r>
            <a:r>
              <a:rPr sz="2747" dirty="0">
                <a:latin typeface="Calibri"/>
                <a:cs typeface="Calibri"/>
              </a:rPr>
              <a:t> </a:t>
            </a:r>
            <a:r>
              <a:rPr sz="2747" spc="-7" dirty="0">
                <a:latin typeface="Calibri"/>
                <a:cs typeface="Calibri"/>
              </a:rPr>
              <a:t>follows </a:t>
            </a:r>
            <a:r>
              <a:rPr sz="2747" dirty="0">
                <a:latin typeface="Calibri"/>
                <a:cs typeface="Calibri"/>
              </a:rPr>
              <a:t>“San”</a:t>
            </a:r>
          </a:p>
          <a:p>
            <a:pPr marL="505934" indent="-471042">
              <a:spcBef>
                <a:spcPts val="817"/>
              </a:spcBef>
              <a:buClr>
                <a:srgbClr val="CC0000"/>
              </a:buClr>
              <a:buFont typeface="Times New Roman"/>
              <a:buChar char="•"/>
              <a:tabLst>
                <a:tab pos="505061" algn="l"/>
                <a:tab pos="505934" algn="l"/>
              </a:tabLst>
            </a:pPr>
            <a:r>
              <a:rPr sz="3297" dirty="0">
                <a:latin typeface="Calibri"/>
                <a:cs typeface="Calibri"/>
              </a:rPr>
              <a:t>The </a:t>
            </a:r>
            <a:r>
              <a:rPr sz="3297" spc="-7" dirty="0">
                <a:latin typeface="Calibri"/>
                <a:cs typeface="Calibri"/>
              </a:rPr>
              <a:t>unigram</a:t>
            </a:r>
            <a:r>
              <a:rPr sz="3297" dirty="0">
                <a:latin typeface="Calibri"/>
                <a:cs typeface="Calibri"/>
              </a:rPr>
              <a:t> is useful</a:t>
            </a:r>
            <a:r>
              <a:rPr sz="3297" spc="7" dirty="0">
                <a:latin typeface="Calibri"/>
                <a:cs typeface="Calibri"/>
              </a:rPr>
              <a:t> </a:t>
            </a:r>
            <a:r>
              <a:rPr sz="3297" spc="-7" dirty="0">
                <a:latin typeface="Calibri"/>
                <a:cs typeface="Calibri"/>
              </a:rPr>
              <a:t>exactly</a:t>
            </a:r>
            <a:r>
              <a:rPr sz="3297" spc="7" dirty="0">
                <a:latin typeface="Calibri"/>
                <a:cs typeface="Calibri"/>
              </a:rPr>
              <a:t> </a:t>
            </a:r>
            <a:r>
              <a:rPr sz="3297" spc="-7" dirty="0">
                <a:latin typeface="Calibri"/>
                <a:cs typeface="Calibri"/>
              </a:rPr>
              <a:t>when</a:t>
            </a:r>
            <a:r>
              <a:rPr sz="3297" dirty="0">
                <a:latin typeface="Calibri"/>
                <a:cs typeface="Calibri"/>
              </a:rPr>
              <a:t> </a:t>
            </a:r>
            <a:r>
              <a:rPr sz="3297" spc="-7" dirty="0">
                <a:latin typeface="Calibri"/>
                <a:cs typeface="Calibri"/>
              </a:rPr>
              <a:t>we</a:t>
            </a:r>
            <a:r>
              <a:rPr sz="3297" spc="7" dirty="0">
                <a:latin typeface="Calibri"/>
                <a:cs typeface="Calibri"/>
              </a:rPr>
              <a:t> </a:t>
            </a:r>
            <a:r>
              <a:rPr sz="3297" spc="-7" dirty="0">
                <a:latin typeface="Calibri"/>
                <a:cs typeface="Calibri"/>
              </a:rPr>
              <a:t>haven’t</a:t>
            </a:r>
            <a:r>
              <a:rPr sz="3297" dirty="0">
                <a:latin typeface="Calibri"/>
                <a:cs typeface="Calibri"/>
              </a:rPr>
              <a:t> seen</a:t>
            </a:r>
            <a:r>
              <a:rPr sz="3297" spc="7" dirty="0">
                <a:latin typeface="Calibri"/>
                <a:cs typeface="Calibri"/>
              </a:rPr>
              <a:t> </a:t>
            </a:r>
            <a:r>
              <a:rPr sz="3297" dirty="0">
                <a:latin typeface="Calibri"/>
                <a:cs typeface="Calibri"/>
              </a:rPr>
              <a:t>this</a:t>
            </a:r>
            <a:r>
              <a:rPr sz="3297" spc="7" dirty="0">
                <a:latin typeface="Calibri"/>
                <a:cs typeface="Calibri"/>
              </a:rPr>
              <a:t> </a:t>
            </a:r>
            <a:r>
              <a:rPr sz="3297" spc="-7" dirty="0">
                <a:latin typeface="Calibri"/>
                <a:cs typeface="Calibri"/>
              </a:rPr>
              <a:t>bigram!</a:t>
            </a:r>
            <a:endParaRPr sz="3297" dirty="0">
              <a:latin typeface="Calibri"/>
              <a:cs typeface="Calibri"/>
            </a:endParaRPr>
          </a:p>
          <a:p>
            <a:pPr marL="505934" indent="-471042">
              <a:spcBef>
                <a:spcPts val="714"/>
              </a:spcBef>
              <a:buClr>
                <a:srgbClr val="CC0000"/>
              </a:buClr>
              <a:buFont typeface="Times New Roman"/>
              <a:buChar char="•"/>
              <a:tabLst>
                <a:tab pos="505061" algn="l"/>
                <a:tab pos="505934" algn="l"/>
                <a:tab pos="2396207" algn="l"/>
              </a:tabLst>
            </a:pPr>
            <a:r>
              <a:rPr sz="3297" spc="-7" dirty="0">
                <a:latin typeface="Calibri"/>
                <a:cs typeface="Calibri"/>
              </a:rPr>
              <a:t>Instead</a:t>
            </a:r>
            <a:r>
              <a:rPr sz="3297" spc="14" dirty="0">
                <a:latin typeface="Calibri"/>
                <a:cs typeface="Calibri"/>
              </a:rPr>
              <a:t> </a:t>
            </a:r>
            <a:r>
              <a:rPr sz="3297" spc="-7" dirty="0">
                <a:latin typeface="Calibri"/>
                <a:cs typeface="Calibri"/>
              </a:rPr>
              <a:t>of	P(w):</a:t>
            </a:r>
            <a:r>
              <a:rPr sz="3297" spc="-21" dirty="0">
                <a:latin typeface="Calibri"/>
                <a:cs typeface="Calibri"/>
              </a:rPr>
              <a:t> </a:t>
            </a:r>
            <a:r>
              <a:rPr sz="3297" spc="-7" dirty="0">
                <a:latin typeface="Calibri"/>
                <a:cs typeface="Calibri"/>
              </a:rPr>
              <a:t>“How</a:t>
            </a:r>
            <a:r>
              <a:rPr sz="3297" spc="-14" dirty="0">
                <a:latin typeface="Calibri"/>
                <a:cs typeface="Calibri"/>
              </a:rPr>
              <a:t> </a:t>
            </a:r>
            <a:r>
              <a:rPr sz="3297" dirty="0">
                <a:latin typeface="Calibri"/>
                <a:cs typeface="Calibri"/>
              </a:rPr>
              <a:t>likely</a:t>
            </a:r>
            <a:r>
              <a:rPr sz="3297" spc="-21" dirty="0">
                <a:latin typeface="Calibri"/>
                <a:cs typeface="Calibri"/>
              </a:rPr>
              <a:t> </a:t>
            </a:r>
            <a:r>
              <a:rPr sz="3297" dirty="0">
                <a:latin typeface="Calibri"/>
                <a:cs typeface="Calibri"/>
              </a:rPr>
              <a:t>is</a:t>
            </a:r>
            <a:r>
              <a:rPr sz="3297" spc="-14" dirty="0">
                <a:latin typeface="Calibri"/>
                <a:cs typeface="Calibri"/>
              </a:rPr>
              <a:t> </a:t>
            </a:r>
            <a:r>
              <a:rPr sz="3297" spc="-7" dirty="0">
                <a:latin typeface="Calibri"/>
                <a:cs typeface="Calibri"/>
              </a:rPr>
              <a:t>w”</a:t>
            </a:r>
            <a:endParaRPr sz="3297" dirty="0">
              <a:latin typeface="Calibri"/>
              <a:cs typeface="Calibri"/>
            </a:endParaRPr>
          </a:p>
          <a:p>
            <a:pPr marL="505934" indent="-471042">
              <a:spcBef>
                <a:spcPts val="852"/>
              </a:spcBef>
              <a:buClr>
                <a:srgbClr val="CC0000"/>
              </a:buClr>
              <a:buFont typeface="Times New Roman"/>
              <a:buChar char="•"/>
              <a:tabLst>
                <a:tab pos="505061" algn="l"/>
                <a:tab pos="505934" algn="l"/>
                <a:tab pos="3019901" algn="l"/>
              </a:tabLst>
            </a:pPr>
            <a:r>
              <a:rPr sz="3297" spc="-7" dirty="0">
                <a:latin typeface="Calibri"/>
                <a:cs typeface="Calibri"/>
              </a:rPr>
              <a:t>P</a:t>
            </a:r>
            <a:r>
              <a:rPr sz="3297" spc="-10" baseline="-20833" dirty="0">
                <a:latin typeface="Calibri"/>
                <a:cs typeface="Calibri"/>
              </a:rPr>
              <a:t>continuation</a:t>
            </a:r>
            <a:r>
              <a:rPr sz="3297" spc="-7" dirty="0">
                <a:latin typeface="Calibri"/>
                <a:cs typeface="Calibri"/>
              </a:rPr>
              <a:t>(w):	“How</a:t>
            </a:r>
            <a:r>
              <a:rPr sz="3297" spc="-14" dirty="0">
                <a:latin typeface="Calibri"/>
                <a:cs typeface="Calibri"/>
              </a:rPr>
              <a:t> </a:t>
            </a:r>
            <a:r>
              <a:rPr sz="3297" dirty="0">
                <a:latin typeface="Calibri"/>
                <a:cs typeface="Calibri"/>
              </a:rPr>
              <a:t>likely</a:t>
            </a:r>
            <a:r>
              <a:rPr sz="3297" spc="-7" dirty="0">
                <a:latin typeface="Calibri"/>
                <a:cs typeface="Calibri"/>
              </a:rPr>
              <a:t> </a:t>
            </a:r>
            <a:r>
              <a:rPr sz="3297" dirty="0">
                <a:latin typeface="Calibri"/>
                <a:cs typeface="Calibri"/>
              </a:rPr>
              <a:t>is</a:t>
            </a:r>
            <a:r>
              <a:rPr sz="3297" spc="-7" dirty="0">
                <a:latin typeface="Calibri"/>
                <a:cs typeface="Calibri"/>
              </a:rPr>
              <a:t> </a:t>
            </a:r>
            <a:r>
              <a:rPr sz="3297" dirty="0">
                <a:latin typeface="Calibri"/>
                <a:cs typeface="Calibri"/>
              </a:rPr>
              <a:t>w</a:t>
            </a:r>
            <a:r>
              <a:rPr sz="3297" spc="-7" dirty="0">
                <a:latin typeface="Calibri"/>
                <a:cs typeface="Calibri"/>
              </a:rPr>
              <a:t> </a:t>
            </a:r>
            <a:r>
              <a:rPr sz="3297" dirty="0">
                <a:latin typeface="Calibri"/>
                <a:cs typeface="Calibri"/>
              </a:rPr>
              <a:t>to</a:t>
            </a:r>
            <a:r>
              <a:rPr sz="3297" spc="-7" dirty="0">
                <a:latin typeface="Calibri"/>
                <a:cs typeface="Calibri"/>
              </a:rPr>
              <a:t> </a:t>
            </a:r>
            <a:r>
              <a:rPr sz="3297" dirty="0">
                <a:latin typeface="Calibri"/>
                <a:cs typeface="Calibri"/>
              </a:rPr>
              <a:t>appear</a:t>
            </a:r>
            <a:r>
              <a:rPr sz="3297" spc="-14" dirty="0">
                <a:latin typeface="Calibri"/>
                <a:cs typeface="Calibri"/>
              </a:rPr>
              <a:t> </a:t>
            </a:r>
            <a:r>
              <a:rPr sz="3297" dirty="0">
                <a:latin typeface="Calibri"/>
                <a:cs typeface="Calibri"/>
              </a:rPr>
              <a:t>as</a:t>
            </a:r>
            <a:r>
              <a:rPr sz="3297" spc="-7" dirty="0">
                <a:latin typeface="Calibri"/>
                <a:cs typeface="Calibri"/>
              </a:rPr>
              <a:t> </a:t>
            </a:r>
            <a:r>
              <a:rPr sz="3297" dirty="0">
                <a:latin typeface="Calibri"/>
                <a:cs typeface="Calibri"/>
              </a:rPr>
              <a:t>a</a:t>
            </a:r>
            <a:r>
              <a:rPr sz="3297" spc="-7" dirty="0">
                <a:latin typeface="Calibri"/>
                <a:cs typeface="Calibri"/>
              </a:rPr>
              <a:t> novel continuation?</a:t>
            </a:r>
            <a:endParaRPr sz="3297" dirty="0">
              <a:latin typeface="Calibri"/>
              <a:cs typeface="Calibri"/>
            </a:endParaRPr>
          </a:p>
          <a:p>
            <a:pPr marL="976975" lvl="1" indent="-314028">
              <a:spcBef>
                <a:spcPts val="584"/>
              </a:spcBef>
              <a:buFont typeface="Times New Roman"/>
              <a:buChar char="•"/>
              <a:tabLst>
                <a:tab pos="976103" algn="l"/>
                <a:tab pos="976975" algn="l"/>
              </a:tabLst>
            </a:pPr>
            <a:r>
              <a:rPr sz="2747" spc="-7" dirty="0">
                <a:latin typeface="Calibri"/>
                <a:cs typeface="Calibri"/>
              </a:rPr>
              <a:t>For</a:t>
            </a:r>
            <a:r>
              <a:rPr sz="2747" spc="7" dirty="0">
                <a:latin typeface="Calibri"/>
                <a:cs typeface="Calibri"/>
              </a:rPr>
              <a:t> </a:t>
            </a:r>
            <a:r>
              <a:rPr sz="2747" spc="-7" dirty="0">
                <a:latin typeface="Calibri"/>
                <a:cs typeface="Calibri"/>
              </a:rPr>
              <a:t>each</a:t>
            </a:r>
            <a:r>
              <a:rPr sz="2747" spc="7" dirty="0">
                <a:latin typeface="Calibri"/>
                <a:cs typeface="Calibri"/>
              </a:rPr>
              <a:t> </a:t>
            </a:r>
            <a:r>
              <a:rPr sz="2747" spc="-7" dirty="0">
                <a:latin typeface="Calibri"/>
                <a:cs typeface="Calibri"/>
              </a:rPr>
              <a:t>word,</a:t>
            </a:r>
            <a:r>
              <a:rPr sz="2747" spc="7" dirty="0">
                <a:latin typeface="Calibri"/>
                <a:cs typeface="Calibri"/>
              </a:rPr>
              <a:t> </a:t>
            </a:r>
            <a:r>
              <a:rPr sz="2747" spc="-7" dirty="0">
                <a:latin typeface="Calibri"/>
                <a:cs typeface="Calibri"/>
              </a:rPr>
              <a:t>count</a:t>
            </a:r>
            <a:r>
              <a:rPr sz="2747" spc="7" dirty="0">
                <a:latin typeface="Calibri"/>
                <a:cs typeface="Calibri"/>
              </a:rPr>
              <a:t> </a:t>
            </a:r>
            <a:r>
              <a:rPr sz="2747" dirty="0">
                <a:latin typeface="Calibri"/>
                <a:cs typeface="Calibri"/>
              </a:rPr>
              <a:t>the</a:t>
            </a:r>
            <a:r>
              <a:rPr sz="2747" spc="7" dirty="0">
                <a:latin typeface="Calibri"/>
                <a:cs typeface="Calibri"/>
              </a:rPr>
              <a:t> </a:t>
            </a:r>
            <a:r>
              <a:rPr sz="2747" spc="-7" dirty="0">
                <a:latin typeface="Calibri"/>
                <a:cs typeface="Calibri"/>
              </a:rPr>
              <a:t>number</a:t>
            </a:r>
            <a:r>
              <a:rPr sz="2747" spc="7" dirty="0">
                <a:latin typeface="Calibri"/>
                <a:cs typeface="Calibri"/>
              </a:rPr>
              <a:t> </a:t>
            </a:r>
            <a:r>
              <a:rPr sz="2747" spc="-7" dirty="0">
                <a:latin typeface="Calibri"/>
                <a:cs typeface="Calibri"/>
              </a:rPr>
              <a:t>of</a:t>
            </a:r>
            <a:r>
              <a:rPr sz="2747" spc="7" dirty="0">
                <a:latin typeface="Calibri"/>
                <a:cs typeface="Calibri"/>
              </a:rPr>
              <a:t> </a:t>
            </a:r>
            <a:r>
              <a:rPr sz="2747" spc="-7" dirty="0">
                <a:latin typeface="Calibri"/>
                <a:cs typeface="Calibri"/>
              </a:rPr>
              <a:t>bigram</a:t>
            </a:r>
            <a:r>
              <a:rPr sz="2747" dirty="0">
                <a:latin typeface="Calibri"/>
                <a:cs typeface="Calibri"/>
              </a:rPr>
              <a:t> </a:t>
            </a:r>
            <a:r>
              <a:rPr sz="2747" spc="-7" dirty="0">
                <a:latin typeface="Calibri"/>
                <a:cs typeface="Calibri"/>
              </a:rPr>
              <a:t>types</a:t>
            </a:r>
            <a:r>
              <a:rPr sz="2747" spc="7" dirty="0">
                <a:latin typeface="Calibri"/>
                <a:cs typeface="Calibri"/>
              </a:rPr>
              <a:t> </a:t>
            </a:r>
            <a:r>
              <a:rPr sz="2747" dirty="0">
                <a:latin typeface="Calibri"/>
                <a:cs typeface="Calibri"/>
              </a:rPr>
              <a:t>it</a:t>
            </a:r>
            <a:r>
              <a:rPr sz="2747" spc="7" dirty="0">
                <a:latin typeface="Calibri"/>
                <a:cs typeface="Calibri"/>
              </a:rPr>
              <a:t> </a:t>
            </a:r>
            <a:r>
              <a:rPr sz="2747" spc="-7" dirty="0">
                <a:latin typeface="Calibri"/>
                <a:cs typeface="Calibri"/>
              </a:rPr>
              <a:t>completes</a:t>
            </a:r>
            <a:endParaRPr sz="2747" dirty="0">
              <a:latin typeface="Calibri"/>
              <a:cs typeface="Calibri"/>
            </a:endParaRPr>
          </a:p>
          <a:p>
            <a:pPr marL="976975" lvl="1" indent="-314028">
              <a:spcBef>
                <a:spcPts val="687"/>
              </a:spcBef>
              <a:buFont typeface="Times New Roman"/>
              <a:buChar char="•"/>
              <a:tabLst>
                <a:tab pos="976103" algn="l"/>
                <a:tab pos="976975" algn="l"/>
              </a:tabLst>
            </a:pPr>
            <a:r>
              <a:rPr sz="2747" spc="-7" dirty="0">
                <a:latin typeface="Calibri"/>
                <a:cs typeface="Calibri"/>
              </a:rPr>
              <a:t>Every</a:t>
            </a:r>
            <a:r>
              <a:rPr sz="2747" dirty="0">
                <a:latin typeface="Calibri"/>
                <a:cs typeface="Calibri"/>
              </a:rPr>
              <a:t> </a:t>
            </a:r>
            <a:r>
              <a:rPr sz="2747" spc="-7" dirty="0">
                <a:latin typeface="Calibri"/>
                <a:cs typeface="Calibri"/>
              </a:rPr>
              <a:t>bigram</a:t>
            </a:r>
            <a:r>
              <a:rPr sz="2747" dirty="0">
                <a:latin typeface="Calibri"/>
                <a:cs typeface="Calibri"/>
              </a:rPr>
              <a:t> </a:t>
            </a:r>
            <a:r>
              <a:rPr sz="2747" spc="-7" dirty="0">
                <a:latin typeface="Calibri"/>
                <a:cs typeface="Calibri"/>
              </a:rPr>
              <a:t>type</a:t>
            </a:r>
            <a:r>
              <a:rPr sz="2747" dirty="0">
                <a:latin typeface="Calibri"/>
                <a:cs typeface="Calibri"/>
              </a:rPr>
              <a:t> </a:t>
            </a:r>
            <a:r>
              <a:rPr sz="2747" spc="-7" dirty="0">
                <a:latin typeface="Calibri"/>
                <a:cs typeface="Calibri"/>
              </a:rPr>
              <a:t>was</a:t>
            </a:r>
            <a:r>
              <a:rPr sz="2747" spc="7" dirty="0">
                <a:latin typeface="Calibri"/>
                <a:cs typeface="Calibri"/>
              </a:rPr>
              <a:t> </a:t>
            </a:r>
            <a:r>
              <a:rPr sz="2747" dirty="0">
                <a:latin typeface="Calibri"/>
                <a:cs typeface="Calibri"/>
              </a:rPr>
              <a:t>a </a:t>
            </a:r>
            <a:r>
              <a:rPr sz="2747" spc="-7" dirty="0">
                <a:latin typeface="Calibri"/>
                <a:cs typeface="Calibri"/>
              </a:rPr>
              <a:t>novel</a:t>
            </a:r>
            <a:r>
              <a:rPr sz="2747" spc="7" dirty="0">
                <a:latin typeface="Calibri"/>
                <a:cs typeface="Calibri"/>
              </a:rPr>
              <a:t> </a:t>
            </a:r>
            <a:r>
              <a:rPr sz="2747" spc="-7" dirty="0">
                <a:latin typeface="Calibri"/>
                <a:cs typeface="Calibri"/>
              </a:rPr>
              <a:t>continuation</a:t>
            </a:r>
            <a:r>
              <a:rPr sz="2747" spc="7" dirty="0">
                <a:latin typeface="Calibri"/>
                <a:cs typeface="Calibri"/>
              </a:rPr>
              <a:t> </a:t>
            </a:r>
            <a:r>
              <a:rPr sz="2747" dirty="0">
                <a:latin typeface="Calibri"/>
                <a:cs typeface="Calibri"/>
              </a:rPr>
              <a:t>the </a:t>
            </a:r>
            <a:r>
              <a:rPr sz="2747" spc="-7" dirty="0">
                <a:latin typeface="Calibri"/>
                <a:cs typeface="Calibri"/>
              </a:rPr>
              <a:t>first</a:t>
            </a:r>
            <a:r>
              <a:rPr sz="2747" spc="7" dirty="0">
                <a:latin typeface="Calibri"/>
                <a:cs typeface="Calibri"/>
              </a:rPr>
              <a:t> </a:t>
            </a:r>
            <a:r>
              <a:rPr sz="2747" spc="-14" dirty="0">
                <a:latin typeface="Calibri"/>
                <a:cs typeface="Calibri"/>
              </a:rPr>
              <a:t>time</a:t>
            </a:r>
            <a:r>
              <a:rPr sz="2747" dirty="0">
                <a:latin typeface="Calibri"/>
                <a:cs typeface="Calibri"/>
              </a:rPr>
              <a:t> it</a:t>
            </a:r>
            <a:r>
              <a:rPr sz="2747" spc="7" dirty="0">
                <a:latin typeface="Calibri"/>
                <a:cs typeface="Calibri"/>
              </a:rPr>
              <a:t> </a:t>
            </a:r>
            <a:r>
              <a:rPr sz="2747" spc="-7" dirty="0">
                <a:latin typeface="Calibri"/>
                <a:cs typeface="Calibri"/>
              </a:rPr>
              <a:t>was</a:t>
            </a:r>
            <a:r>
              <a:rPr sz="2747" spc="7" dirty="0">
                <a:latin typeface="Calibri"/>
                <a:cs typeface="Calibri"/>
              </a:rPr>
              <a:t> </a:t>
            </a:r>
            <a:r>
              <a:rPr sz="2747" dirty="0">
                <a:latin typeface="Calibri"/>
                <a:cs typeface="Calibri"/>
              </a:rPr>
              <a:t>seen</a:t>
            </a:r>
          </a:p>
        </p:txBody>
      </p:sp>
      <p:sp>
        <p:nvSpPr>
          <p:cNvPr id="7" name="object 7"/>
          <p:cNvSpPr txBox="1">
            <a:spLocks noGrp="1"/>
          </p:cNvSpPr>
          <p:nvPr>
            <p:ph type="title"/>
          </p:nvPr>
        </p:nvSpPr>
        <p:spPr>
          <a:xfrm>
            <a:off x="2620458" y="1014829"/>
            <a:ext cx="6518872" cy="694084"/>
          </a:xfrm>
          <a:prstGeom prst="rect">
            <a:avLst/>
          </a:prstGeom>
        </p:spPr>
        <p:txBody>
          <a:bodyPr vert="horz" wrap="square" lIns="0" tIns="17446" rIns="0" bIns="0" rtlCol="0">
            <a:spAutoFit/>
          </a:bodyPr>
          <a:lstStyle/>
          <a:p>
            <a:pPr marL="17446">
              <a:spcBef>
                <a:spcPts val="137"/>
              </a:spcBef>
            </a:pPr>
            <a:r>
              <a:rPr spc="-7" dirty="0"/>
              <a:t>Kneser-Ney</a:t>
            </a:r>
            <a:r>
              <a:rPr spc="-27" dirty="0"/>
              <a:t> </a:t>
            </a:r>
            <a:r>
              <a:rPr spc="-7" dirty="0"/>
              <a:t>Smoothing</a:t>
            </a:r>
            <a:r>
              <a:rPr spc="-27" dirty="0"/>
              <a:t> </a:t>
            </a:r>
            <a:r>
              <a:rPr dirty="0"/>
              <a:t>I</a:t>
            </a:r>
          </a:p>
        </p:txBody>
      </p:sp>
      <p:sp>
        <p:nvSpPr>
          <p:cNvPr id="8" name="object 8"/>
          <p:cNvSpPr txBox="1"/>
          <p:nvPr/>
        </p:nvSpPr>
        <p:spPr>
          <a:xfrm>
            <a:off x="3362942" y="6875005"/>
            <a:ext cx="2842900" cy="494077"/>
          </a:xfrm>
          <a:prstGeom prst="rect">
            <a:avLst/>
          </a:prstGeom>
        </p:spPr>
        <p:txBody>
          <a:bodyPr vert="horz" wrap="square" lIns="0" tIns="18319" rIns="0" bIns="0" rtlCol="0">
            <a:spAutoFit/>
          </a:bodyPr>
          <a:lstStyle/>
          <a:p>
            <a:pPr marL="52338">
              <a:spcBef>
                <a:spcPts val="144"/>
              </a:spcBef>
            </a:pPr>
            <a:r>
              <a:rPr sz="4636" i="1" spc="-721" baseline="13580" dirty="0">
                <a:latin typeface="Times New Roman"/>
                <a:cs typeface="Times New Roman"/>
              </a:rPr>
              <a:t>P</a:t>
            </a:r>
            <a:r>
              <a:rPr sz="1786" i="1" spc="-7" dirty="0">
                <a:latin typeface="Times New Roman"/>
                <a:cs typeface="Times New Roman"/>
              </a:rPr>
              <a:t>C</a:t>
            </a:r>
            <a:r>
              <a:rPr sz="1786" i="1" spc="-21" dirty="0">
                <a:latin typeface="Times New Roman"/>
                <a:cs typeface="Times New Roman"/>
              </a:rPr>
              <a:t>O</a:t>
            </a:r>
            <a:r>
              <a:rPr sz="1786" i="1" spc="-7" dirty="0">
                <a:latin typeface="Times New Roman"/>
                <a:cs typeface="Times New Roman"/>
              </a:rPr>
              <a:t>NT</a:t>
            </a:r>
            <a:r>
              <a:rPr sz="1786" i="1" spc="-21" dirty="0">
                <a:latin typeface="Times New Roman"/>
                <a:cs typeface="Times New Roman"/>
              </a:rPr>
              <a:t>I</a:t>
            </a:r>
            <a:r>
              <a:rPr sz="1786" i="1" spc="-7" dirty="0">
                <a:latin typeface="Times New Roman"/>
                <a:cs typeface="Times New Roman"/>
              </a:rPr>
              <a:t>N</a:t>
            </a:r>
            <a:r>
              <a:rPr sz="1786" i="1" spc="-21" dirty="0">
                <a:latin typeface="Times New Roman"/>
                <a:cs typeface="Times New Roman"/>
              </a:rPr>
              <a:t>U</a:t>
            </a:r>
            <a:r>
              <a:rPr sz="1786" i="1" spc="-14" dirty="0">
                <a:latin typeface="Times New Roman"/>
                <a:cs typeface="Times New Roman"/>
              </a:rPr>
              <a:t>A</a:t>
            </a:r>
            <a:r>
              <a:rPr sz="1786" i="1" spc="-7" dirty="0">
                <a:latin typeface="Times New Roman"/>
                <a:cs typeface="Times New Roman"/>
              </a:rPr>
              <a:t>T</a:t>
            </a:r>
            <a:r>
              <a:rPr sz="1786" i="1" spc="-21" dirty="0">
                <a:latin typeface="Times New Roman"/>
                <a:cs typeface="Times New Roman"/>
              </a:rPr>
              <a:t>IO</a:t>
            </a:r>
            <a:r>
              <a:rPr sz="1786" i="1" dirty="0">
                <a:latin typeface="Times New Roman"/>
                <a:cs typeface="Times New Roman"/>
              </a:rPr>
              <a:t>N</a:t>
            </a:r>
            <a:r>
              <a:rPr sz="1786" i="1" spc="7" dirty="0">
                <a:latin typeface="Times New Roman"/>
                <a:cs typeface="Times New Roman"/>
              </a:rPr>
              <a:t> </a:t>
            </a:r>
            <a:r>
              <a:rPr sz="4636" spc="103" baseline="13580" dirty="0">
                <a:latin typeface="Times New Roman"/>
                <a:cs typeface="Times New Roman"/>
              </a:rPr>
              <a:t>(</a:t>
            </a:r>
            <a:r>
              <a:rPr sz="4636" i="1" spc="133" baseline="13580" dirty="0">
                <a:latin typeface="Times New Roman"/>
                <a:cs typeface="Times New Roman"/>
              </a:rPr>
              <a:t>w</a:t>
            </a:r>
            <a:r>
              <a:rPr sz="4636" baseline="13580" dirty="0">
                <a:latin typeface="Times New Roman"/>
                <a:cs typeface="Times New Roman"/>
              </a:rPr>
              <a:t>)</a:t>
            </a:r>
            <a:r>
              <a:rPr sz="4636" spc="-628" baseline="13580" dirty="0">
                <a:latin typeface="Times New Roman"/>
                <a:cs typeface="Times New Roman"/>
              </a:rPr>
              <a:t> </a:t>
            </a:r>
            <a:r>
              <a:rPr sz="4636" baseline="13580" dirty="0">
                <a:latin typeface="Symbol"/>
                <a:cs typeface="Symbol"/>
              </a:rPr>
              <a:t></a:t>
            </a:r>
            <a:endParaRPr sz="4636" baseline="13580">
              <a:latin typeface="Symbol"/>
              <a:cs typeface="Symbol"/>
            </a:endParaRPr>
          </a:p>
        </p:txBody>
      </p:sp>
      <p:sp>
        <p:nvSpPr>
          <p:cNvPr id="9" name="object 9"/>
          <p:cNvSpPr txBox="1"/>
          <p:nvPr/>
        </p:nvSpPr>
        <p:spPr>
          <a:xfrm>
            <a:off x="6363328" y="6776523"/>
            <a:ext cx="3245915" cy="494141"/>
          </a:xfrm>
          <a:prstGeom prst="rect">
            <a:avLst/>
          </a:prstGeom>
        </p:spPr>
        <p:txBody>
          <a:bodyPr vert="horz" wrap="square" lIns="0" tIns="18319" rIns="0" bIns="0" rtlCol="0">
            <a:spAutoFit/>
          </a:bodyPr>
          <a:lstStyle/>
          <a:p>
            <a:pPr marL="52338">
              <a:spcBef>
                <a:spcPts val="144"/>
              </a:spcBef>
            </a:pPr>
            <a:r>
              <a:rPr sz="3091" dirty="0">
                <a:latin typeface="Times New Roman"/>
                <a:cs typeface="Times New Roman"/>
              </a:rPr>
              <a:t>{</a:t>
            </a:r>
            <a:r>
              <a:rPr sz="3091" i="1" spc="-62" dirty="0">
                <a:latin typeface="Times New Roman"/>
                <a:cs typeface="Times New Roman"/>
              </a:rPr>
              <a:t>w</a:t>
            </a:r>
            <a:r>
              <a:rPr sz="2679" i="1" spc="30" baseline="-23504" dirty="0">
                <a:latin typeface="Times New Roman"/>
                <a:cs typeface="Times New Roman"/>
              </a:rPr>
              <a:t>i</a:t>
            </a:r>
            <a:r>
              <a:rPr sz="2679" spc="-236" baseline="-23504" dirty="0">
                <a:latin typeface="Symbol"/>
                <a:cs typeface="Symbol"/>
              </a:rPr>
              <a:t></a:t>
            </a:r>
            <a:r>
              <a:rPr sz="2679" baseline="-23504" dirty="0">
                <a:latin typeface="Times New Roman"/>
                <a:cs typeface="Times New Roman"/>
              </a:rPr>
              <a:t>1</a:t>
            </a:r>
            <a:r>
              <a:rPr sz="2679" spc="330" baseline="-23504" dirty="0">
                <a:latin typeface="Times New Roman"/>
                <a:cs typeface="Times New Roman"/>
              </a:rPr>
              <a:t> </a:t>
            </a:r>
            <a:r>
              <a:rPr sz="3091" dirty="0">
                <a:latin typeface="Times New Roman"/>
                <a:cs typeface="Times New Roman"/>
              </a:rPr>
              <a:t>:</a:t>
            </a:r>
            <a:r>
              <a:rPr sz="3091" spc="-330" dirty="0">
                <a:latin typeface="Times New Roman"/>
                <a:cs typeface="Times New Roman"/>
              </a:rPr>
              <a:t> </a:t>
            </a:r>
            <a:r>
              <a:rPr sz="3091" i="1" spc="41" dirty="0">
                <a:latin typeface="Times New Roman"/>
                <a:cs typeface="Times New Roman"/>
              </a:rPr>
              <a:t>c</a:t>
            </a:r>
            <a:r>
              <a:rPr sz="3091" spc="69" dirty="0">
                <a:latin typeface="Times New Roman"/>
                <a:cs typeface="Times New Roman"/>
              </a:rPr>
              <a:t>(</a:t>
            </a:r>
            <a:r>
              <a:rPr sz="3091" i="1" spc="-62" dirty="0">
                <a:latin typeface="Times New Roman"/>
                <a:cs typeface="Times New Roman"/>
              </a:rPr>
              <a:t>w</a:t>
            </a:r>
            <a:r>
              <a:rPr sz="2679" i="1" spc="30" baseline="-23504" dirty="0">
                <a:latin typeface="Times New Roman"/>
                <a:cs typeface="Times New Roman"/>
              </a:rPr>
              <a:t>i</a:t>
            </a:r>
            <a:r>
              <a:rPr sz="2679" spc="-236" baseline="-23504" dirty="0">
                <a:latin typeface="Symbol"/>
                <a:cs typeface="Symbol"/>
              </a:rPr>
              <a:t></a:t>
            </a:r>
            <a:r>
              <a:rPr sz="2679" spc="-51" baseline="-23504" dirty="0">
                <a:latin typeface="Times New Roman"/>
                <a:cs typeface="Times New Roman"/>
              </a:rPr>
              <a:t>1</a:t>
            </a:r>
            <a:r>
              <a:rPr sz="3091" dirty="0">
                <a:latin typeface="Times New Roman"/>
                <a:cs typeface="Times New Roman"/>
              </a:rPr>
              <a:t>,</a:t>
            </a:r>
            <a:r>
              <a:rPr sz="3091" spc="-349" dirty="0">
                <a:latin typeface="Times New Roman"/>
                <a:cs typeface="Times New Roman"/>
              </a:rPr>
              <a:t> </a:t>
            </a:r>
            <a:r>
              <a:rPr sz="3091" i="1" spc="89" dirty="0">
                <a:latin typeface="Times New Roman"/>
                <a:cs typeface="Times New Roman"/>
              </a:rPr>
              <a:t>w</a:t>
            </a:r>
            <a:r>
              <a:rPr sz="3091" dirty="0">
                <a:latin typeface="Times New Roman"/>
                <a:cs typeface="Times New Roman"/>
              </a:rPr>
              <a:t>)</a:t>
            </a:r>
            <a:r>
              <a:rPr sz="3091" spc="-268" dirty="0">
                <a:latin typeface="Times New Roman"/>
                <a:cs typeface="Times New Roman"/>
              </a:rPr>
              <a:t> </a:t>
            </a:r>
            <a:r>
              <a:rPr sz="3091" dirty="0">
                <a:latin typeface="Symbol"/>
                <a:cs typeface="Symbol"/>
              </a:rPr>
              <a:t></a:t>
            </a:r>
            <a:r>
              <a:rPr sz="3091" spc="-144" dirty="0">
                <a:latin typeface="Times New Roman"/>
                <a:cs typeface="Times New Roman"/>
              </a:rPr>
              <a:t> </a:t>
            </a:r>
            <a:r>
              <a:rPr sz="3091" spc="-21" dirty="0">
                <a:latin typeface="Times New Roman"/>
                <a:cs typeface="Times New Roman"/>
              </a:rPr>
              <a:t>0</a:t>
            </a:r>
            <a:r>
              <a:rPr sz="3091" dirty="0">
                <a:latin typeface="Times New Roman"/>
                <a:cs typeface="Times New Roman"/>
              </a:rPr>
              <a:t>}</a:t>
            </a:r>
            <a:endParaRPr sz="3091">
              <a:latin typeface="Times New Roman"/>
              <a:cs typeface="Times New Roman"/>
            </a:endParaRPr>
          </a:p>
        </p:txBody>
      </p:sp>
      <p:sp>
        <p:nvSpPr>
          <p:cNvPr id="10" name="object 10"/>
          <p:cNvSpPr/>
          <p:nvPr/>
        </p:nvSpPr>
        <p:spPr>
          <a:xfrm>
            <a:off x="6388522" y="6861675"/>
            <a:ext cx="0" cy="471927"/>
          </a:xfrm>
          <a:custGeom>
            <a:avLst/>
            <a:gdLst/>
            <a:ahLst/>
            <a:cxnLst/>
            <a:rect l="l" t="t" r="r" b="b"/>
            <a:pathLst>
              <a:path h="343535">
                <a:moveTo>
                  <a:pt x="0" y="0"/>
                </a:moveTo>
                <a:lnTo>
                  <a:pt x="0" y="343505"/>
                </a:lnTo>
              </a:path>
            </a:pathLst>
          </a:custGeom>
          <a:ln w="14167">
            <a:solidFill>
              <a:srgbClr val="000000"/>
            </a:solidFill>
          </a:ln>
        </p:spPr>
        <p:txBody>
          <a:bodyPr wrap="square" lIns="0" tIns="0" rIns="0" bIns="0" rtlCol="0"/>
          <a:lstStyle/>
          <a:p>
            <a:endParaRPr sz="2473"/>
          </a:p>
        </p:txBody>
      </p:sp>
      <p:sp>
        <p:nvSpPr>
          <p:cNvPr id="11" name="object 11"/>
          <p:cNvSpPr/>
          <p:nvPr/>
        </p:nvSpPr>
        <p:spPr>
          <a:xfrm>
            <a:off x="9582515" y="6861675"/>
            <a:ext cx="0" cy="471927"/>
          </a:xfrm>
          <a:custGeom>
            <a:avLst/>
            <a:gdLst/>
            <a:ahLst/>
            <a:cxnLst/>
            <a:rect l="l" t="t" r="r" b="b"/>
            <a:pathLst>
              <a:path h="343535">
                <a:moveTo>
                  <a:pt x="0" y="0"/>
                </a:moveTo>
                <a:lnTo>
                  <a:pt x="0" y="343505"/>
                </a:lnTo>
              </a:path>
            </a:pathLst>
          </a:custGeom>
          <a:ln w="14167">
            <a:solidFill>
              <a:srgbClr val="000000"/>
            </a:solidFill>
          </a:ln>
        </p:spPr>
        <p:txBody>
          <a:bodyPr wrap="square" lIns="0" tIns="0" rIns="0" bIns="0" rtlCol="0"/>
          <a:lstStyle/>
          <a:p>
            <a:endParaRPr sz="2473"/>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7" y="1014829"/>
            <a:ext cx="6673273" cy="694084"/>
          </a:xfrm>
          <a:prstGeom prst="rect">
            <a:avLst/>
          </a:prstGeom>
        </p:spPr>
        <p:txBody>
          <a:bodyPr vert="horz" wrap="square" lIns="0" tIns="17446" rIns="0" bIns="0" rtlCol="0">
            <a:spAutoFit/>
          </a:bodyPr>
          <a:lstStyle/>
          <a:p>
            <a:pPr marL="17446">
              <a:spcBef>
                <a:spcPts val="137"/>
              </a:spcBef>
            </a:pPr>
            <a:r>
              <a:rPr spc="-7" dirty="0"/>
              <a:t>Kneser-Ney</a:t>
            </a:r>
            <a:r>
              <a:rPr spc="-21" dirty="0"/>
              <a:t> </a:t>
            </a:r>
            <a:r>
              <a:rPr spc="-7" dirty="0"/>
              <a:t>Smoothing</a:t>
            </a:r>
            <a:r>
              <a:rPr spc="-27" dirty="0"/>
              <a:t> </a:t>
            </a:r>
            <a:r>
              <a:rPr spc="-7" dirty="0"/>
              <a:t>II</a:t>
            </a:r>
          </a:p>
        </p:txBody>
      </p:sp>
      <p:sp>
        <p:nvSpPr>
          <p:cNvPr id="7" name="object 7"/>
          <p:cNvSpPr txBox="1"/>
          <p:nvPr/>
        </p:nvSpPr>
        <p:spPr>
          <a:xfrm>
            <a:off x="1643972" y="2202085"/>
            <a:ext cx="8508641" cy="440361"/>
          </a:xfrm>
          <a:prstGeom prst="rect">
            <a:avLst/>
          </a:prstGeom>
        </p:spPr>
        <p:txBody>
          <a:bodyPr vert="horz" wrap="square" lIns="0" tIns="17446" rIns="0" bIns="0" rtlCol="0">
            <a:spAutoFit/>
          </a:bodyPr>
          <a:lstStyle/>
          <a:p>
            <a:pPr marL="488488" indent="-471042">
              <a:spcBef>
                <a:spcPts val="137"/>
              </a:spcBef>
              <a:buClr>
                <a:srgbClr val="CC0000"/>
              </a:buClr>
              <a:buFont typeface="Times New Roman"/>
              <a:buChar char="•"/>
              <a:tabLst>
                <a:tab pos="487615" algn="l"/>
                <a:tab pos="488488" algn="l"/>
              </a:tabLst>
            </a:pPr>
            <a:r>
              <a:rPr sz="2747" spc="-7" dirty="0">
                <a:latin typeface="Calibri"/>
                <a:cs typeface="Calibri"/>
              </a:rPr>
              <a:t>How many</a:t>
            </a:r>
            <a:r>
              <a:rPr sz="2747" dirty="0">
                <a:latin typeface="Calibri"/>
                <a:cs typeface="Calibri"/>
              </a:rPr>
              <a:t> </a:t>
            </a:r>
            <a:r>
              <a:rPr sz="2747" spc="-7" dirty="0">
                <a:latin typeface="Calibri"/>
                <a:cs typeface="Calibri"/>
              </a:rPr>
              <a:t>times does</a:t>
            </a:r>
            <a:r>
              <a:rPr sz="2747" dirty="0">
                <a:latin typeface="Calibri"/>
                <a:cs typeface="Calibri"/>
              </a:rPr>
              <a:t> w</a:t>
            </a:r>
            <a:r>
              <a:rPr sz="2747" spc="-7" dirty="0">
                <a:latin typeface="Calibri"/>
                <a:cs typeface="Calibri"/>
              </a:rPr>
              <a:t> </a:t>
            </a:r>
            <a:r>
              <a:rPr sz="2747" dirty="0">
                <a:latin typeface="Calibri"/>
                <a:cs typeface="Calibri"/>
              </a:rPr>
              <a:t>appear</a:t>
            </a:r>
            <a:r>
              <a:rPr sz="2747" spc="-7" dirty="0">
                <a:latin typeface="Calibri"/>
                <a:cs typeface="Calibri"/>
              </a:rPr>
              <a:t> </a:t>
            </a:r>
            <a:r>
              <a:rPr sz="2747" dirty="0">
                <a:latin typeface="Calibri"/>
                <a:cs typeface="Calibri"/>
              </a:rPr>
              <a:t>as a</a:t>
            </a:r>
            <a:r>
              <a:rPr sz="2747" spc="-7" dirty="0">
                <a:latin typeface="Calibri"/>
                <a:cs typeface="Calibri"/>
              </a:rPr>
              <a:t> novel</a:t>
            </a:r>
            <a:r>
              <a:rPr sz="2747" dirty="0">
                <a:latin typeface="Calibri"/>
                <a:cs typeface="Calibri"/>
              </a:rPr>
              <a:t> </a:t>
            </a:r>
            <a:r>
              <a:rPr sz="2747" spc="-7" dirty="0">
                <a:latin typeface="Calibri"/>
                <a:cs typeface="Calibri"/>
              </a:rPr>
              <a:t>continuation:</a:t>
            </a:r>
            <a:endParaRPr sz="2747" dirty="0">
              <a:latin typeface="Calibri"/>
              <a:cs typeface="Calibri"/>
            </a:endParaRPr>
          </a:p>
        </p:txBody>
      </p:sp>
      <p:sp>
        <p:nvSpPr>
          <p:cNvPr id="8" name="object 8"/>
          <p:cNvSpPr txBox="1"/>
          <p:nvPr/>
        </p:nvSpPr>
        <p:spPr>
          <a:xfrm>
            <a:off x="1346866" y="3647500"/>
            <a:ext cx="8200711" cy="1300019"/>
          </a:xfrm>
          <a:prstGeom prst="rect">
            <a:avLst/>
          </a:prstGeom>
        </p:spPr>
        <p:txBody>
          <a:bodyPr vert="horz" wrap="square" lIns="0" tIns="17446" rIns="0" bIns="0" rtlCol="0">
            <a:spAutoFit/>
          </a:bodyPr>
          <a:lstStyle/>
          <a:p>
            <a:pPr marL="505934" indent="-471042">
              <a:spcBef>
                <a:spcPts val="137"/>
              </a:spcBef>
              <a:buClr>
                <a:srgbClr val="CC0000"/>
              </a:buClr>
              <a:buFont typeface="Times New Roman"/>
              <a:buChar char="•"/>
              <a:tabLst>
                <a:tab pos="505061" algn="l"/>
                <a:tab pos="505934" algn="l"/>
              </a:tabLst>
            </a:pPr>
            <a:r>
              <a:rPr sz="2747" spc="-7" dirty="0">
                <a:latin typeface="Calibri"/>
                <a:cs typeface="Calibri"/>
              </a:rPr>
              <a:t>Normalized</a:t>
            </a:r>
            <a:r>
              <a:rPr sz="2747" dirty="0">
                <a:latin typeface="Calibri"/>
                <a:cs typeface="Calibri"/>
              </a:rPr>
              <a:t> by the total </a:t>
            </a:r>
            <a:r>
              <a:rPr sz="2747" spc="-7" dirty="0">
                <a:latin typeface="Calibri"/>
                <a:cs typeface="Calibri"/>
              </a:rPr>
              <a:t>number</a:t>
            </a:r>
            <a:r>
              <a:rPr sz="2747" spc="7" dirty="0">
                <a:latin typeface="Calibri"/>
                <a:cs typeface="Calibri"/>
              </a:rPr>
              <a:t> </a:t>
            </a:r>
            <a:r>
              <a:rPr sz="2747" spc="-7" dirty="0">
                <a:latin typeface="Calibri"/>
                <a:cs typeface="Calibri"/>
              </a:rPr>
              <a:t>of</a:t>
            </a:r>
            <a:r>
              <a:rPr sz="2747" dirty="0">
                <a:latin typeface="Calibri"/>
                <a:cs typeface="Calibri"/>
              </a:rPr>
              <a:t> </a:t>
            </a:r>
            <a:r>
              <a:rPr sz="2747" spc="-7" dirty="0">
                <a:latin typeface="Calibri"/>
                <a:cs typeface="Calibri"/>
              </a:rPr>
              <a:t>word</a:t>
            </a:r>
            <a:r>
              <a:rPr sz="2747" dirty="0">
                <a:latin typeface="Calibri"/>
                <a:cs typeface="Calibri"/>
              </a:rPr>
              <a:t> </a:t>
            </a:r>
            <a:r>
              <a:rPr sz="2747" spc="-7" dirty="0">
                <a:latin typeface="Calibri"/>
                <a:cs typeface="Calibri"/>
              </a:rPr>
              <a:t>bigram types</a:t>
            </a:r>
            <a:endParaRPr sz="2747">
              <a:latin typeface="Calibri"/>
              <a:cs typeface="Calibri"/>
            </a:endParaRPr>
          </a:p>
          <a:p>
            <a:pPr marL="858343" algn="ctr">
              <a:spcBef>
                <a:spcPts val="2486"/>
              </a:spcBef>
            </a:pPr>
            <a:r>
              <a:rPr sz="3503" spc="-14" dirty="0">
                <a:latin typeface="Times New Roman"/>
                <a:cs typeface="Times New Roman"/>
              </a:rPr>
              <a:t>{</a:t>
            </a:r>
            <a:r>
              <a:rPr sz="3503" spc="76" dirty="0">
                <a:latin typeface="Times New Roman"/>
                <a:cs typeface="Times New Roman"/>
              </a:rPr>
              <a:t>(</a:t>
            </a:r>
            <a:r>
              <a:rPr sz="3503" i="1" spc="254" dirty="0">
                <a:latin typeface="Times New Roman"/>
                <a:cs typeface="Times New Roman"/>
              </a:rPr>
              <a:t>w</a:t>
            </a:r>
            <a:r>
              <a:rPr sz="2988" i="1" spc="133" baseline="-24904" dirty="0">
                <a:latin typeface="Times New Roman"/>
                <a:cs typeface="Times New Roman"/>
              </a:rPr>
              <a:t>j</a:t>
            </a:r>
            <a:r>
              <a:rPr sz="2988" spc="-236" baseline="-24904" dirty="0">
                <a:latin typeface="Symbol"/>
                <a:cs typeface="Symbol"/>
              </a:rPr>
              <a:t></a:t>
            </a:r>
            <a:r>
              <a:rPr sz="2988" spc="-41" baseline="-24904" dirty="0">
                <a:latin typeface="Times New Roman"/>
                <a:cs typeface="Times New Roman"/>
              </a:rPr>
              <a:t>1</a:t>
            </a:r>
            <a:r>
              <a:rPr sz="3503" spc="-7" dirty="0">
                <a:latin typeface="Times New Roman"/>
                <a:cs typeface="Times New Roman"/>
              </a:rPr>
              <a:t>,</a:t>
            </a:r>
            <a:r>
              <a:rPr sz="3503" spc="-398" dirty="0">
                <a:latin typeface="Times New Roman"/>
                <a:cs typeface="Times New Roman"/>
              </a:rPr>
              <a:t> </a:t>
            </a:r>
            <a:r>
              <a:rPr sz="3503" i="1" spc="254" dirty="0">
                <a:latin typeface="Times New Roman"/>
                <a:cs typeface="Times New Roman"/>
              </a:rPr>
              <a:t>w</a:t>
            </a:r>
            <a:r>
              <a:rPr sz="2988" i="1" spc="10" baseline="-24904" dirty="0">
                <a:latin typeface="Times New Roman"/>
                <a:cs typeface="Times New Roman"/>
              </a:rPr>
              <a:t>j</a:t>
            </a:r>
            <a:r>
              <a:rPr sz="2988" i="1" spc="-51" baseline="-24904" dirty="0">
                <a:latin typeface="Times New Roman"/>
                <a:cs typeface="Times New Roman"/>
              </a:rPr>
              <a:t> </a:t>
            </a:r>
            <a:r>
              <a:rPr sz="3503" spc="-7" dirty="0">
                <a:latin typeface="Times New Roman"/>
                <a:cs typeface="Times New Roman"/>
              </a:rPr>
              <a:t>)</a:t>
            </a:r>
            <a:r>
              <a:rPr sz="3503" spc="-378" dirty="0">
                <a:latin typeface="Times New Roman"/>
                <a:cs typeface="Times New Roman"/>
              </a:rPr>
              <a:t> </a:t>
            </a:r>
            <a:r>
              <a:rPr sz="3503" spc="-7" dirty="0">
                <a:latin typeface="Times New Roman"/>
                <a:cs typeface="Times New Roman"/>
              </a:rPr>
              <a:t>:</a:t>
            </a:r>
            <a:r>
              <a:rPr sz="3503" spc="-378" dirty="0">
                <a:latin typeface="Times New Roman"/>
                <a:cs typeface="Times New Roman"/>
              </a:rPr>
              <a:t> </a:t>
            </a:r>
            <a:r>
              <a:rPr sz="3503" i="1" spc="41" dirty="0">
                <a:latin typeface="Times New Roman"/>
                <a:cs typeface="Times New Roman"/>
              </a:rPr>
              <a:t>c</a:t>
            </a:r>
            <a:r>
              <a:rPr sz="3503" spc="76" dirty="0">
                <a:latin typeface="Times New Roman"/>
                <a:cs typeface="Times New Roman"/>
              </a:rPr>
              <a:t>(</a:t>
            </a:r>
            <a:r>
              <a:rPr sz="3503" i="1" spc="254" dirty="0">
                <a:latin typeface="Times New Roman"/>
                <a:cs typeface="Times New Roman"/>
              </a:rPr>
              <a:t>w</a:t>
            </a:r>
            <a:r>
              <a:rPr sz="2988" i="1" spc="133" baseline="-24904" dirty="0">
                <a:latin typeface="Times New Roman"/>
                <a:cs typeface="Times New Roman"/>
              </a:rPr>
              <a:t>j</a:t>
            </a:r>
            <a:r>
              <a:rPr sz="2988" spc="-236" baseline="-24904" dirty="0">
                <a:latin typeface="Symbol"/>
                <a:cs typeface="Symbol"/>
              </a:rPr>
              <a:t></a:t>
            </a:r>
            <a:r>
              <a:rPr sz="2988" spc="-41" baseline="-24904" dirty="0">
                <a:latin typeface="Times New Roman"/>
                <a:cs typeface="Times New Roman"/>
              </a:rPr>
              <a:t>1</a:t>
            </a:r>
            <a:r>
              <a:rPr sz="3503" spc="-7" dirty="0">
                <a:latin typeface="Times New Roman"/>
                <a:cs typeface="Times New Roman"/>
              </a:rPr>
              <a:t>,</a:t>
            </a:r>
            <a:r>
              <a:rPr sz="3503" spc="-398" dirty="0">
                <a:latin typeface="Times New Roman"/>
                <a:cs typeface="Times New Roman"/>
              </a:rPr>
              <a:t> </a:t>
            </a:r>
            <a:r>
              <a:rPr sz="3503" i="1" spc="254" dirty="0">
                <a:latin typeface="Times New Roman"/>
                <a:cs typeface="Times New Roman"/>
              </a:rPr>
              <a:t>w</a:t>
            </a:r>
            <a:r>
              <a:rPr sz="2988" i="1" spc="10" baseline="-24904" dirty="0">
                <a:latin typeface="Times New Roman"/>
                <a:cs typeface="Times New Roman"/>
              </a:rPr>
              <a:t>j</a:t>
            </a:r>
            <a:r>
              <a:rPr sz="2988" i="1" spc="-51" baseline="-24904" dirty="0">
                <a:latin typeface="Times New Roman"/>
                <a:cs typeface="Times New Roman"/>
              </a:rPr>
              <a:t> </a:t>
            </a:r>
            <a:r>
              <a:rPr sz="3503" spc="-7" dirty="0">
                <a:latin typeface="Times New Roman"/>
                <a:cs typeface="Times New Roman"/>
              </a:rPr>
              <a:t>)</a:t>
            </a:r>
            <a:r>
              <a:rPr sz="3503" spc="-302" dirty="0">
                <a:latin typeface="Times New Roman"/>
                <a:cs typeface="Times New Roman"/>
              </a:rPr>
              <a:t> </a:t>
            </a:r>
            <a:r>
              <a:rPr sz="3503" spc="-7" dirty="0">
                <a:latin typeface="Symbol"/>
                <a:cs typeface="Symbol"/>
              </a:rPr>
              <a:t></a:t>
            </a:r>
            <a:r>
              <a:rPr sz="3503" spc="-165" dirty="0">
                <a:latin typeface="Times New Roman"/>
                <a:cs typeface="Times New Roman"/>
              </a:rPr>
              <a:t> </a:t>
            </a:r>
            <a:r>
              <a:rPr sz="3503" spc="-27" dirty="0">
                <a:latin typeface="Times New Roman"/>
                <a:cs typeface="Times New Roman"/>
              </a:rPr>
              <a:t>0</a:t>
            </a:r>
            <a:r>
              <a:rPr sz="3503" spc="-7" dirty="0">
                <a:latin typeface="Times New Roman"/>
                <a:cs typeface="Times New Roman"/>
              </a:rPr>
              <a:t>}</a:t>
            </a:r>
            <a:endParaRPr sz="3503">
              <a:latin typeface="Times New Roman"/>
              <a:cs typeface="Times New Roman"/>
            </a:endParaRPr>
          </a:p>
        </p:txBody>
      </p:sp>
      <p:sp>
        <p:nvSpPr>
          <p:cNvPr id="9" name="object 9"/>
          <p:cNvSpPr txBox="1"/>
          <p:nvPr/>
        </p:nvSpPr>
        <p:spPr>
          <a:xfrm>
            <a:off x="2034971" y="5771115"/>
            <a:ext cx="348057" cy="636018"/>
          </a:xfrm>
          <a:prstGeom prst="rect">
            <a:avLst/>
          </a:prstGeom>
        </p:spPr>
        <p:txBody>
          <a:bodyPr vert="horz" wrap="square" lIns="0" tIns="22680" rIns="0" bIns="0" rtlCol="0">
            <a:spAutoFit/>
          </a:bodyPr>
          <a:lstStyle/>
          <a:p>
            <a:pPr marL="17446">
              <a:spcBef>
                <a:spcPts val="179"/>
              </a:spcBef>
            </a:pPr>
            <a:r>
              <a:rPr sz="3984" i="1" spc="27" dirty="0">
                <a:latin typeface="Times New Roman"/>
                <a:cs typeface="Times New Roman"/>
              </a:rPr>
              <a:t>P</a:t>
            </a:r>
            <a:endParaRPr sz="3984">
              <a:latin typeface="Times New Roman"/>
              <a:cs typeface="Times New Roman"/>
            </a:endParaRPr>
          </a:p>
        </p:txBody>
      </p:sp>
      <p:sp>
        <p:nvSpPr>
          <p:cNvPr id="10" name="object 10"/>
          <p:cNvSpPr txBox="1"/>
          <p:nvPr/>
        </p:nvSpPr>
        <p:spPr>
          <a:xfrm>
            <a:off x="2268292" y="6114904"/>
            <a:ext cx="2155511" cy="376065"/>
          </a:xfrm>
          <a:prstGeom prst="rect">
            <a:avLst/>
          </a:prstGeom>
        </p:spPr>
        <p:txBody>
          <a:bodyPr vert="horz" wrap="square" lIns="0" tIns="16574" rIns="0" bIns="0" rtlCol="0">
            <a:spAutoFit/>
          </a:bodyPr>
          <a:lstStyle/>
          <a:p>
            <a:pPr marL="17446">
              <a:spcBef>
                <a:spcPts val="131"/>
              </a:spcBef>
            </a:pPr>
            <a:r>
              <a:rPr sz="2335" i="1" spc="-21" dirty="0">
                <a:latin typeface="Times New Roman"/>
                <a:cs typeface="Times New Roman"/>
              </a:rPr>
              <a:t>CONTINUATION</a:t>
            </a:r>
            <a:endParaRPr sz="2335">
              <a:latin typeface="Times New Roman"/>
              <a:cs typeface="Times New Roman"/>
            </a:endParaRPr>
          </a:p>
        </p:txBody>
      </p:sp>
      <p:sp>
        <p:nvSpPr>
          <p:cNvPr id="11" name="object 11"/>
          <p:cNvSpPr txBox="1"/>
          <p:nvPr/>
        </p:nvSpPr>
        <p:spPr>
          <a:xfrm>
            <a:off x="4464183" y="5771115"/>
            <a:ext cx="1113957" cy="636018"/>
          </a:xfrm>
          <a:prstGeom prst="rect">
            <a:avLst/>
          </a:prstGeom>
        </p:spPr>
        <p:txBody>
          <a:bodyPr vert="horz" wrap="square" lIns="0" tIns="22680" rIns="0" bIns="0" rtlCol="0">
            <a:spAutoFit/>
          </a:bodyPr>
          <a:lstStyle/>
          <a:p>
            <a:pPr marL="17446">
              <a:spcBef>
                <a:spcPts val="179"/>
              </a:spcBef>
            </a:pPr>
            <a:r>
              <a:rPr sz="3984" spc="103" dirty="0">
                <a:latin typeface="Times New Roman"/>
                <a:cs typeface="Times New Roman"/>
              </a:rPr>
              <a:t>(</a:t>
            </a:r>
            <a:r>
              <a:rPr sz="3984" i="1" spc="151" dirty="0">
                <a:latin typeface="Times New Roman"/>
                <a:cs typeface="Times New Roman"/>
              </a:rPr>
              <a:t>w</a:t>
            </a:r>
            <a:r>
              <a:rPr sz="3984" spc="14" dirty="0">
                <a:latin typeface="Times New Roman"/>
                <a:cs typeface="Times New Roman"/>
              </a:rPr>
              <a:t>)</a:t>
            </a:r>
            <a:r>
              <a:rPr sz="3984" spc="-315" dirty="0">
                <a:latin typeface="Times New Roman"/>
                <a:cs typeface="Times New Roman"/>
              </a:rPr>
              <a:t> </a:t>
            </a:r>
            <a:r>
              <a:rPr sz="3984" spc="21" dirty="0">
                <a:latin typeface="Symbol"/>
                <a:cs typeface="Symbol"/>
              </a:rPr>
              <a:t></a:t>
            </a:r>
            <a:endParaRPr sz="3984">
              <a:latin typeface="Symbol"/>
              <a:cs typeface="Symbol"/>
            </a:endParaRPr>
          </a:p>
        </p:txBody>
      </p:sp>
      <p:sp>
        <p:nvSpPr>
          <p:cNvPr id="12" name="object 12"/>
          <p:cNvSpPr txBox="1"/>
          <p:nvPr/>
        </p:nvSpPr>
        <p:spPr>
          <a:xfrm>
            <a:off x="6373193" y="5412667"/>
            <a:ext cx="4193258" cy="636018"/>
          </a:xfrm>
          <a:prstGeom prst="rect">
            <a:avLst/>
          </a:prstGeom>
        </p:spPr>
        <p:txBody>
          <a:bodyPr vert="horz" wrap="square" lIns="0" tIns="22680" rIns="0" bIns="0" rtlCol="0">
            <a:spAutoFit/>
          </a:bodyPr>
          <a:lstStyle/>
          <a:p>
            <a:pPr marL="52338">
              <a:spcBef>
                <a:spcPts val="179"/>
              </a:spcBef>
            </a:pPr>
            <a:r>
              <a:rPr sz="3984" spc="27" dirty="0">
                <a:latin typeface="Times New Roman"/>
                <a:cs typeface="Times New Roman"/>
              </a:rPr>
              <a:t>{</a:t>
            </a:r>
            <a:r>
              <a:rPr sz="3984" i="1" spc="-48" dirty="0">
                <a:latin typeface="Times New Roman"/>
                <a:cs typeface="Times New Roman"/>
              </a:rPr>
              <a:t>w</a:t>
            </a:r>
            <a:r>
              <a:rPr sz="3503" i="1" spc="41" baseline="-24509" dirty="0">
                <a:latin typeface="Times New Roman"/>
                <a:cs typeface="Times New Roman"/>
              </a:rPr>
              <a:t>i</a:t>
            </a:r>
            <a:r>
              <a:rPr sz="3503" spc="-309" baseline="-24509" dirty="0">
                <a:latin typeface="Symbol"/>
                <a:cs typeface="Symbol"/>
              </a:rPr>
              <a:t></a:t>
            </a:r>
            <a:r>
              <a:rPr sz="3503" spc="-10" baseline="-24509" dirty="0">
                <a:latin typeface="Times New Roman"/>
                <a:cs typeface="Times New Roman"/>
              </a:rPr>
              <a:t>1</a:t>
            </a:r>
            <a:r>
              <a:rPr sz="3503" spc="422" baseline="-24509" dirty="0">
                <a:latin typeface="Times New Roman"/>
                <a:cs typeface="Times New Roman"/>
              </a:rPr>
              <a:t> </a:t>
            </a:r>
            <a:r>
              <a:rPr sz="3984" spc="7" dirty="0">
                <a:latin typeface="Times New Roman"/>
                <a:cs typeface="Times New Roman"/>
              </a:rPr>
              <a:t>:</a:t>
            </a:r>
            <a:r>
              <a:rPr sz="3984" spc="-419" dirty="0">
                <a:latin typeface="Times New Roman"/>
                <a:cs typeface="Times New Roman"/>
              </a:rPr>
              <a:t> </a:t>
            </a:r>
            <a:r>
              <a:rPr sz="3984" i="1" spc="76" dirty="0">
                <a:latin typeface="Times New Roman"/>
                <a:cs typeface="Times New Roman"/>
              </a:rPr>
              <a:t>c</a:t>
            </a:r>
            <a:r>
              <a:rPr sz="3984" spc="103" dirty="0">
                <a:latin typeface="Times New Roman"/>
                <a:cs typeface="Times New Roman"/>
              </a:rPr>
              <a:t>(</a:t>
            </a:r>
            <a:r>
              <a:rPr sz="3984" i="1" spc="-48" dirty="0">
                <a:latin typeface="Times New Roman"/>
                <a:cs typeface="Times New Roman"/>
              </a:rPr>
              <a:t>w</a:t>
            </a:r>
            <a:r>
              <a:rPr sz="3503" i="1" spc="41" baseline="-24509" dirty="0">
                <a:latin typeface="Times New Roman"/>
                <a:cs typeface="Times New Roman"/>
              </a:rPr>
              <a:t>i</a:t>
            </a:r>
            <a:r>
              <a:rPr sz="3503" spc="-309" baseline="-24509" dirty="0">
                <a:latin typeface="Symbol"/>
                <a:cs typeface="Symbol"/>
              </a:rPr>
              <a:t></a:t>
            </a:r>
            <a:r>
              <a:rPr sz="3503" spc="-82" baseline="-24509" dirty="0">
                <a:latin typeface="Times New Roman"/>
                <a:cs typeface="Times New Roman"/>
              </a:rPr>
              <a:t>1</a:t>
            </a:r>
            <a:r>
              <a:rPr sz="3984" spc="7" dirty="0">
                <a:latin typeface="Times New Roman"/>
                <a:cs typeface="Times New Roman"/>
              </a:rPr>
              <a:t>,</a:t>
            </a:r>
            <a:r>
              <a:rPr sz="3984" spc="-440" dirty="0">
                <a:latin typeface="Times New Roman"/>
                <a:cs typeface="Times New Roman"/>
              </a:rPr>
              <a:t> </a:t>
            </a:r>
            <a:r>
              <a:rPr sz="3984" i="1" spc="151" dirty="0">
                <a:latin typeface="Times New Roman"/>
                <a:cs typeface="Times New Roman"/>
              </a:rPr>
              <a:t>w</a:t>
            </a:r>
            <a:r>
              <a:rPr sz="3984" spc="14" dirty="0">
                <a:latin typeface="Times New Roman"/>
                <a:cs typeface="Times New Roman"/>
              </a:rPr>
              <a:t>)</a:t>
            </a:r>
            <a:r>
              <a:rPr sz="3984" spc="-337" dirty="0">
                <a:latin typeface="Times New Roman"/>
                <a:cs typeface="Times New Roman"/>
              </a:rPr>
              <a:t> </a:t>
            </a:r>
            <a:r>
              <a:rPr sz="3984" spc="21" dirty="0">
                <a:latin typeface="Symbol"/>
                <a:cs typeface="Symbol"/>
              </a:rPr>
              <a:t></a:t>
            </a:r>
            <a:r>
              <a:rPr sz="3984" spc="-179" dirty="0">
                <a:latin typeface="Times New Roman"/>
                <a:cs typeface="Times New Roman"/>
              </a:rPr>
              <a:t> </a:t>
            </a:r>
            <a:r>
              <a:rPr sz="3984" spc="-7" dirty="0">
                <a:latin typeface="Times New Roman"/>
                <a:cs typeface="Times New Roman"/>
              </a:rPr>
              <a:t>0</a:t>
            </a:r>
            <a:r>
              <a:rPr sz="3984" spc="21" dirty="0">
                <a:latin typeface="Times New Roman"/>
                <a:cs typeface="Times New Roman"/>
              </a:rPr>
              <a:t>}</a:t>
            </a:r>
            <a:endParaRPr sz="3984" dirty="0">
              <a:latin typeface="Times New Roman"/>
              <a:cs typeface="Times New Roman"/>
            </a:endParaRPr>
          </a:p>
        </p:txBody>
      </p:sp>
      <p:sp>
        <p:nvSpPr>
          <p:cNvPr id="13" name="object 13"/>
          <p:cNvSpPr/>
          <p:nvPr/>
        </p:nvSpPr>
        <p:spPr>
          <a:xfrm>
            <a:off x="6390200" y="5518061"/>
            <a:ext cx="4157493" cy="613243"/>
          </a:xfrm>
          <a:custGeom>
            <a:avLst/>
            <a:gdLst/>
            <a:ahLst/>
            <a:cxnLst/>
            <a:rect l="l" t="t" r="r" b="b"/>
            <a:pathLst>
              <a:path w="3026409" h="446404">
                <a:moveTo>
                  <a:pt x="0" y="0"/>
                </a:moveTo>
                <a:lnTo>
                  <a:pt x="0" y="446197"/>
                </a:lnTo>
              </a:path>
              <a:path w="3026409" h="446404">
                <a:moveTo>
                  <a:pt x="3026142" y="0"/>
                </a:moveTo>
                <a:lnTo>
                  <a:pt x="3026142" y="446197"/>
                </a:lnTo>
              </a:path>
            </a:pathLst>
          </a:custGeom>
          <a:ln w="18435">
            <a:solidFill>
              <a:srgbClr val="000000"/>
            </a:solidFill>
          </a:ln>
        </p:spPr>
        <p:txBody>
          <a:bodyPr wrap="square" lIns="0" tIns="0" rIns="0" bIns="0" rtlCol="0"/>
          <a:lstStyle/>
          <a:p>
            <a:endParaRPr sz="2473"/>
          </a:p>
        </p:txBody>
      </p:sp>
      <p:sp>
        <p:nvSpPr>
          <p:cNvPr id="14" name="object 14"/>
          <p:cNvSpPr txBox="1"/>
          <p:nvPr/>
        </p:nvSpPr>
        <p:spPr>
          <a:xfrm>
            <a:off x="5710560" y="6178863"/>
            <a:ext cx="5517444" cy="636018"/>
          </a:xfrm>
          <a:prstGeom prst="rect">
            <a:avLst/>
          </a:prstGeom>
        </p:spPr>
        <p:txBody>
          <a:bodyPr vert="horz" wrap="square" lIns="0" tIns="22680" rIns="0" bIns="0" rtlCol="0">
            <a:spAutoFit/>
          </a:bodyPr>
          <a:lstStyle/>
          <a:p>
            <a:pPr marL="52338">
              <a:spcBef>
                <a:spcPts val="179"/>
              </a:spcBef>
            </a:pPr>
            <a:r>
              <a:rPr sz="3984" spc="14" dirty="0">
                <a:latin typeface="Times New Roman"/>
                <a:cs typeface="Times New Roman"/>
              </a:rPr>
              <a:t>{</a:t>
            </a:r>
            <a:r>
              <a:rPr sz="3984" spc="103" dirty="0">
                <a:latin typeface="Times New Roman"/>
                <a:cs typeface="Times New Roman"/>
              </a:rPr>
              <a:t>(</a:t>
            </a:r>
            <a:r>
              <a:rPr sz="3984" i="1" spc="330" dirty="0">
                <a:latin typeface="Times New Roman"/>
                <a:cs typeface="Times New Roman"/>
              </a:rPr>
              <a:t>w</a:t>
            </a:r>
            <a:r>
              <a:rPr sz="3503" i="1" spc="133" baseline="-24509" dirty="0">
                <a:latin typeface="Times New Roman"/>
                <a:cs typeface="Times New Roman"/>
              </a:rPr>
              <a:t>j</a:t>
            </a:r>
            <a:r>
              <a:rPr sz="3503" spc="-309" baseline="-24509" dirty="0">
                <a:latin typeface="Symbol"/>
                <a:cs typeface="Symbol"/>
              </a:rPr>
              <a:t></a:t>
            </a:r>
            <a:r>
              <a:rPr sz="3503" spc="-82" baseline="-24509" dirty="0">
                <a:latin typeface="Times New Roman"/>
                <a:cs typeface="Times New Roman"/>
              </a:rPr>
              <a:t>1</a:t>
            </a:r>
            <a:r>
              <a:rPr sz="3984" spc="7" dirty="0">
                <a:latin typeface="Times New Roman"/>
                <a:cs typeface="Times New Roman"/>
              </a:rPr>
              <a:t>,</a:t>
            </a:r>
            <a:r>
              <a:rPr sz="3984" spc="-440" dirty="0">
                <a:latin typeface="Times New Roman"/>
                <a:cs typeface="Times New Roman"/>
              </a:rPr>
              <a:t> </a:t>
            </a:r>
            <a:r>
              <a:rPr sz="3984" i="1" spc="330" dirty="0">
                <a:latin typeface="Times New Roman"/>
                <a:cs typeface="Times New Roman"/>
              </a:rPr>
              <a:t>w</a:t>
            </a:r>
            <a:r>
              <a:rPr sz="3503" i="1" spc="-10" baseline="-24509" dirty="0">
                <a:latin typeface="Times New Roman"/>
                <a:cs typeface="Times New Roman"/>
              </a:rPr>
              <a:t>j</a:t>
            </a:r>
            <a:r>
              <a:rPr sz="3503" i="1" spc="-71" baseline="-24509" dirty="0">
                <a:latin typeface="Times New Roman"/>
                <a:cs typeface="Times New Roman"/>
              </a:rPr>
              <a:t> </a:t>
            </a:r>
            <a:r>
              <a:rPr sz="3984" spc="14" dirty="0">
                <a:latin typeface="Times New Roman"/>
                <a:cs typeface="Times New Roman"/>
              </a:rPr>
              <a:t>)</a:t>
            </a:r>
            <a:r>
              <a:rPr sz="3984" spc="-419" dirty="0">
                <a:latin typeface="Times New Roman"/>
                <a:cs typeface="Times New Roman"/>
              </a:rPr>
              <a:t> </a:t>
            </a:r>
            <a:r>
              <a:rPr sz="3984" spc="7" dirty="0">
                <a:latin typeface="Times New Roman"/>
                <a:cs typeface="Times New Roman"/>
              </a:rPr>
              <a:t>:</a:t>
            </a:r>
            <a:r>
              <a:rPr sz="3984" spc="-419" dirty="0">
                <a:latin typeface="Times New Roman"/>
                <a:cs typeface="Times New Roman"/>
              </a:rPr>
              <a:t> </a:t>
            </a:r>
            <a:r>
              <a:rPr sz="3984" i="1" spc="76" dirty="0">
                <a:latin typeface="Times New Roman"/>
                <a:cs typeface="Times New Roman"/>
              </a:rPr>
              <a:t>c</a:t>
            </a:r>
            <a:r>
              <a:rPr sz="3984" spc="103" dirty="0">
                <a:latin typeface="Times New Roman"/>
                <a:cs typeface="Times New Roman"/>
              </a:rPr>
              <a:t>(</a:t>
            </a:r>
            <a:r>
              <a:rPr sz="3984" i="1" spc="330" dirty="0">
                <a:latin typeface="Times New Roman"/>
                <a:cs typeface="Times New Roman"/>
              </a:rPr>
              <a:t>w</a:t>
            </a:r>
            <a:r>
              <a:rPr sz="3503" i="1" spc="133" baseline="-24509" dirty="0">
                <a:latin typeface="Times New Roman"/>
                <a:cs typeface="Times New Roman"/>
              </a:rPr>
              <a:t>j</a:t>
            </a:r>
            <a:r>
              <a:rPr sz="3503" spc="-309" baseline="-24509" dirty="0">
                <a:latin typeface="Symbol"/>
                <a:cs typeface="Symbol"/>
              </a:rPr>
              <a:t></a:t>
            </a:r>
            <a:r>
              <a:rPr sz="3503" spc="-82" baseline="-24509" dirty="0">
                <a:latin typeface="Times New Roman"/>
                <a:cs typeface="Times New Roman"/>
              </a:rPr>
              <a:t>1</a:t>
            </a:r>
            <a:r>
              <a:rPr sz="3984" spc="7" dirty="0">
                <a:latin typeface="Times New Roman"/>
                <a:cs typeface="Times New Roman"/>
              </a:rPr>
              <a:t>,</a:t>
            </a:r>
            <a:r>
              <a:rPr sz="3984" spc="-440" dirty="0">
                <a:latin typeface="Times New Roman"/>
                <a:cs typeface="Times New Roman"/>
              </a:rPr>
              <a:t> </a:t>
            </a:r>
            <a:r>
              <a:rPr sz="3984" i="1" spc="330" dirty="0">
                <a:latin typeface="Times New Roman"/>
                <a:cs typeface="Times New Roman"/>
              </a:rPr>
              <a:t>w</a:t>
            </a:r>
            <a:r>
              <a:rPr sz="3503" i="1" spc="-10" baseline="-24509" dirty="0">
                <a:latin typeface="Times New Roman"/>
                <a:cs typeface="Times New Roman"/>
              </a:rPr>
              <a:t>j</a:t>
            </a:r>
            <a:r>
              <a:rPr sz="3503" i="1" spc="-71" baseline="-24509" dirty="0">
                <a:latin typeface="Times New Roman"/>
                <a:cs typeface="Times New Roman"/>
              </a:rPr>
              <a:t> </a:t>
            </a:r>
            <a:r>
              <a:rPr sz="3984" spc="14" dirty="0">
                <a:latin typeface="Times New Roman"/>
                <a:cs typeface="Times New Roman"/>
              </a:rPr>
              <a:t>)</a:t>
            </a:r>
            <a:r>
              <a:rPr sz="3984" spc="-337" dirty="0">
                <a:latin typeface="Times New Roman"/>
                <a:cs typeface="Times New Roman"/>
              </a:rPr>
              <a:t> </a:t>
            </a:r>
            <a:r>
              <a:rPr sz="3984" spc="21" dirty="0">
                <a:latin typeface="Symbol"/>
                <a:cs typeface="Symbol"/>
              </a:rPr>
              <a:t></a:t>
            </a:r>
            <a:r>
              <a:rPr sz="3984" spc="-179" dirty="0">
                <a:latin typeface="Times New Roman"/>
                <a:cs typeface="Times New Roman"/>
              </a:rPr>
              <a:t> </a:t>
            </a:r>
            <a:r>
              <a:rPr sz="3984" spc="-7" dirty="0">
                <a:latin typeface="Times New Roman"/>
                <a:cs typeface="Times New Roman"/>
              </a:rPr>
              <a:t>0</a:t>
            </a:r>
            <a:r>
              <a:rPr sz="3984" spc="21" dirty="0">
                <a:latin typeface="Times New Roman"/>
                <a:cs typeface="Times New Roman"/>
              </a:rPr>
              <a:t>}</a:t>
            </a:r>
            <a:endParaRPr sz="3984">
              <a:latin typeface="Times New Roman"/>
              <a:cs typeface="Times New Roman"/>
            </a:endParaRPr>
          </a:p>
        </p:txBody>
      </p:sp>
      <p:sp>
        <p:nvSpPr>
          <p:cNvPr id="15" name="object 15"/>
          <p:cNvSpPr/>
          <p:nvPr/>
        </p:nvSpPr>
        <p:spPr>
          <a:xfrm>
            <a:off x="5674903" y="6190315"/>
            <a:ext cx="5587230" cy="747581"/>
          </a:xfrm>
          <a:custGeom>
            <a:avLst/>
            <a:gdLst/>
            <a:ahLst/>
            <a:cxnLst/>
            <a:rect l="l" t="t" r="r" b="b"/>
            <a:pathLst>
              <a:path w="4067175" h="544195">
                <a:moveTo>
                  <a:pt x="38336" y="39284"/>
                </a:moveTo>
                <a:lnTo>
                  <a:pt x="38336" y="543681"/>
                </a:lnTo>
              </a:path>
              <a:path w="4067175" h="544195">
                <a:moveTo>
                  <a:pt x="4028225" y="39284"/>
                </a:moveTo>
                <a:lnTo>
                  <a:pt x="4028225" y="543681"/>
                </a:lnTo>
              </a:path>
              <a:path w="4067175" h="544195">
                <a:moveTo>
                  <a:pt x="0" y="0"/>
                </a:moveTo>
                <a:lnTo>
                  <a:pt x="4066561" y="0"/>
                </a:lnTo>
              </a:path>
            </a:pathLst>
          </a:custGeom>
          <a:ln w="18435">
            <a:solidFill>
              <a:srgbClr val="000000"/>
            </a:solidFill>
          </a:ln>
        </p:spPr>
        <p:txBody>
          <a:bodyPr wrap="square" lIns="0" tIns="0" rIns="0" bIns="0" rtlCol="0"/>
          <a:lstStyle/>
          <a:p>
            <a:endParaRPr sz="2473"/>
          </a:p>
        </p:txBody>
      </p:sp>
      <p:sp>
        <p:nvSpPr>
          <p:cNvPr id="16" name="object 16"/>
          <p:cNvSpPr txBox="1"/>
          <p:nvPr/>
        </p:nvSpPr>
        <p:spPr>
          <a:xfrm>
            <a:off x="2944227" y="2814341"/>
            <a:ext cx="2842900" cy="494077"/>
          </a:xfrm>
          <a:prstGeom prst="rect">
            <a:avLst/>
          </a:prstGeom>
        </p:spPr>
        <p:txBody>
          <a:bodyPr vert="horz" wrap="square" lIns="0" tIns="18319" rIns="0" bIns="0" rtlCol="0">
            <a:spAutoFit/>
          </a:bodyPr>
          <a:lstStyle/>
          <a:p>
            <a:pPr marL="52338">
              <a:spcBef>
                <a:spcPts val="144"/>
              </a:spcBef>
            </a:pPr>
            <a:r>
              <a:rPr sz="4636" i="1" spc="-721" baseline="13580" dirty="0">
                <a:latin typeface="Times New Roman"/>
                <a:cs typeface="Times New Roman"/>
              </a:rPr>
              <a:t>P</a:t>
            </a:r>
            <a:r>
              <a:rPr sz="1786" i="1" spc="-7" dirty="0">
                <a:latin typeface="Times New Roman"/>
                <a:cs typeface="Times New Roman"/>
              </a:rPr>
              <a:t>C</a:t>
            </a:r>
            <a:r>
              <a:rPr sz="1786" i="1" spc="-21" dirty="0">
                <a:latin typeface="Times New Roman"/>
                <a:cs typeface="Times New Roman"/>
              </a:rPr>
              <a:t>O</a:t>
            </a:r>
            <a:r>
              <a:rPr sz="1786" i="1" spc="-7" dirty="0">
                <a:latin typeface="Times New Roman"/>
                <a:cs typeface="Times New Roman"/>
              </a:rPr>
              <a:t>NT</a:t>
            </a:r>
            <a:r>
              <a:rPr sz="1786" i="1" spc="-21" dirty="0">
                <a:latin typeface="Times New Roman"/>
                <a:cs typeface="Times New Roman"/>
              </a:rPr>
              <a:t>I</a:t>
            </a:r>
            <a:r>
              <a:rPr sz="1786" i="1" spc="-7" dirty="0">
                <a:latin typeface="Times New Roman"/>
                <a:cs typeface="Times New Roman"/>
              </a:rPr>
              <a:t>N</a:t>
            </a:r>
            <a:r>
              <a:rPr sz="1786" i="1" spc="-21" dirty="0">
                <a:latin typeface="Times New Roman"/>
                <a:cs typeface="Times New Roman"/>
              </a:rPr>
              <a:t>U</a:t>
            </a:r>
            <a:r>
              <a:rPr sz="1786" i="1" spc="-14" dirty="0">
                <a:latin typeface="Times New Roman"/>
                <a:cs typeface="Times New Roman"/>
              </a:rPr>
              <a:t>A</a:t>
            </a:r>
            <a:r>
              <a:rPr sz="1786" i="1" spc="-7" dirty="0">
                <a:latin typeface="Times New Roman"/>
                <a:cs typeface="Times New Roman"/>
              </a:rPr>
              <a:t>T</a:t>
            </a:r>
            <a:r>
              <a:rPr sz="1786" i="1" spc="-21" dirty="0">
                <a:latin typeface="Times New Roman"/>
                <a:cs typeface="Times New Roman"/>
              </a:rPr>
              <a:t>IO</a:t>
            </a:r>
            <a:r>
              <a:rPr sz="1786" i="1" dirty="0">
                <a:latin typeface="Times New Roman"/>
                <a:cs typeface="Times New Roman"/>
              </a:rPr>
              <a:t>N</a:t>
            </a:r>
            <a:r>
              <a:rPr sz="1786" i="1" spc="7" dirty="0">
                <a:latin typeface="Times New Roman"/>
                <a:cs typeface="Times New Roman"/>
              </a:rPr>
              <a:t> </a:t>
            </a:r>
            <a:r>
              <a:rPr sz="4636" spc="103" baseline="13580" dirty="0">
                <a:latin typeface="Times New Roman"/>
                <a:cs typeface="Times New Roman"/>
              </a:rPr>
              <a:t>(</a:t>
            </a:r>
            <a:r>
              <a:rPr sz="4636" i="1" spc="133" baseline="13580" dirty="0">
                <a:latin typeface="Times New Roman"/>
                <a:cs typeface="Times New Roman"/>
              </a:rPr>
              <a:t>w</a:t>
            </a:r>
            <a:r>
              <a:rPr sz="4636" baseline="13580" dirty="0">
                <a:latin typeface="Times New Roman"/>
                <a:cs typeface="Times New Roman"/>
              </a:rPr>
              <a:t>)</a:t>
            </a:r>
            <a:r>
              <a:rPr sz="4636" spc="-628" baseline="13580" dirty="0">
                <a:latin typeface="Times New Roman"/>
                <a:cs typeface="Times New Roman"/>
              </a:rPr>
              <a:t> </a:t>
            </a:r>
            <a:r>
              <a:rPr sz="4636" baseline="13580" dirty="0">
                <a:latin typeface="Symbol"/>
                <a:cs typeface="Symbol"/>
              </a:rPr>
              <a:t></a:t>
            </a:r>
            <a:endParaRPr sz="4636" baseline="13580">
              <a:latin typeface="Symbol"/>
              <a:cs typeface="Symbol"/>
            </a:endParaRPr>
          </a:p>
        </p:txBody>
      </p:sp>
      <p:sp>
        <p:nvSpPr>
          <p:cNvPr id="17" name="object 17"/>
          <p:cNvSpPr txBox="1"/>
          <p:nvPr/>
        </p:nvSpPr>
        <p:spPr>
          <a:xfrm>
            <a:off x="5944613" y="2715859"/>
            <a:ext cx="3245915" cy="494141"/>
          </a:xfrm>
          <a:prstGeom prst="rect">
            <a:avLst/>
          </a:prstGeom>
        </p:spPr>
        <p:txBody>
          <a:bodyPr vert="horz" wrap="square" lIns="0" tIns="18319" rIns="0" bIns="0" rtlCol="0">
            <a:spAutoFit/>
          </a:bodyPr>
          <a:lstStyle/>
          <a:p>
            <a:pPr marL="52338">
              <a:spcBef>
                <a:spcPts val="144"/>
              </a:spcBef>
            </a:pPr>
            <a:r>
              <a:rPr sz="3091" dirty="0">
                <a:latin typeface="Times New Roman"/>
                <a:cs typeface="Times New Roman"/>
              </a:rPr>
              <a:t>{</a:t>
            </a:r>
            <a:r>
              <a:rPr sz="3091" i="1" spc="-62" dirty="0">
                <a:latin typeface="Times New Roman"/>
                <a:cs typeface="Times New Roman"/>
              </a:rPr>
              <a:t>w</a:t>
            </a:r>
            <a:r>
              <a:rPr sz="2679" i="1" spc="30" baseline="-23504" dirty="0">
                <a:latin typeface="Times New Roman"/>
                <a:cs typeface="Times New Roman"/>
              </a:rPr>
              <a:t>i</a:t>
            </a:r>
            <a:r>
              <a:rPr sz="2679" spc="-236" baseline="-23504" dirty="0">
                <a:latin typeface="Symbol"/>
                <a:cs typeface="Symbol"/>
              </a:rPr>
              <a:t></a:t>
            </a:r>
            <a:r>
              <a:rPr sz="2679" baseline="-23504" dirty="0">
                <a:latin typeface="Times New Roman"/>
                <a:cs typeface="Times New Roman"/>
              </a:rPr>
              <a:t>1</a:t>
            </a:r>
            <a:r>
              <a:rPr sz="2679" spc="330" baseline="-23504" dirty="0">
                <a:latin typeface="Times New Roman"/>
                <a:cs typeface="Times New Roman"/>
              </a:rPr>
              <a:t> </a:t>
            </a:r>
            <a:r>
              <a:rPr sz="3091" dirty="0">
                <a:latin typeface="Times New Roman"/>
                <a:cs typeface="Times New Roman"/>
              </a:rPr>
              <a:t>:</a:t>
            </a:r>
            <a:r>
              <a:rPr sz="3091" spc="-330" dirty="0">
                <a:latin typeface="Times New Roman"/>
                <a:cs typeface="Times New Roman"/>
              </a:rPr>
              <a:t> </a:t>
            </a:r>
            <a:r>
              <a:rPr sz="3091" i="1" spc="41" dirty="0">
                <a:latin typeface="Times New Roman"/>
                <a:cs typeface="Times New Roman"/>
              </a:rPr>
              <a:t>c</a:t>
            </a:r>
            <a:r>
              <a:rPr sz="3091" spc="69" dirty="0">
                <a:latin typeface="Times New Roman"/>
                <a:cs typeface="Times New Roman"/>
              </a:rPr>
              <a:t>(</a:t>
            </a:r>
            <a:r>
              <a:rPr sz="3091" i="1" spc="-62" dirty="0">
                <a:latin typeface="Times New Roman"/>
                <a:cs typeface="Times New Roman"/>
              </a:rPr>
              <a:t>w</a:t>
            </a:r>
            <a:r>
              <a:rPr sz="2679" i="1" spc="30" baseline="-23504" dirty="0">
                <a:latin typeface="Times New Roman"/>
                <a:cs typeface="Times New Roman"/>
              </a:rPr>
              <a:t>i</a:t>
            </a:r>
            <a:r>
              <a:rPr sz="2679" spc="-236" baseline="-23504" dirty="0">
                <a:latin typeface="Symbol"/>
                <a:cs typeface="Symbol"/>
              </a:rPr>
              <a:t></a:t>
            </a:r>
            <a:r>
              <a:rPr sz="2679" spc="-51" baseline="-23504" dirty="0">
                <a:latin typeface="Times New Roman"/>
                <a:cs typeface="Times New Roman"/>
              </a:rPr>
              <a:t>1</a:t>
            </a:r>
            <a:r>
              <a:rPr sz="3091" dirty="0">
                <a:latin typeface="Times New Roman"/>
                <a:cs typeface="Times New Roman"/>
              </a:rPr>
              <a:t>,</a:t>
            </a:r>
            <a:r>
              <a:rPr sz="3091" spc="-349" dirty="0">
                <a:latin typeface="Times New Roman"/>
                <a:cs typeface="Times New Roman"/>
              </a:rPr>
              <a:t> </a:t>
            </a:r>
            <a:r>
              <a:rPr sz="3091" i="1" spc="89" dirty="0">
                <a:latin typeface="Times New Roman"/>
                <a:cs typeface="Times New Roman"/>
              </a:rPr>
              <a:t>w</a:t>
            </a:r>
            <a:r>
              <a:rPr sz="3091" dirty="0">
                <a:latin typeface="Times New Roman"/>
                <a:cs typeface="Times New Roman"/>
              </a:rPr>
              <a:t>)</a:t>
            </a:r>
            <a:r>
              <a:rPr sz="3091" spc="-268" dirty="0">
                <a:latin typeface="Times New Roman"/>
                <a:cs typeface="Times New Roman"/>
              </a:rPr>
              <a:t> </a:t>
            </a:r>
            <a:r>
              <a:rPr sz="3091" dirty="0">
                <a:latin typeface="Symbol"/>
                <a:cs typeface="Symbol"/>
              </a:rPr>
              <a:t></a:t>
            </a:r>
            <a:r>
              <a:rPr sz="3091" spc="-144" dirty="0">
                <a:latin typeface="Times New Roman"/>
                <a:cs typeface="Times New Roman"/>
              </a:rPr>
              <a:t> </a:t>
            </a:r>
            <a:r>
              <a:rPr sz="3091" spc="-21" dirty="0">
                <a:latin typeface="Times New Roman"/>
                <a:cs typeface="Times New Roman"/>
              </a:rPr>
              <a:t>0</a:t>
            </a:r>
            <a:r>
              <a:rPr sz="3091" dirty="0">
                <a:latin typeface="Times New Roman"/>
                <a:cs typeface="Times New Roman"/>
              </a:rPr>
              <a:t>}</a:t>
            </a:r>
            <a:endParaRPr sz="3091">
              <a:latin typeface="Times New Roman"/>
              <a:cs typeface="Times New Roman"/>
            </a:endParaRPr>
          </a:p>
        </p:txBody>
      </p:sp>
      <p:sp>
        <p:nvSpPr>
          <p:cNvPr id="18" name="object 18"/>
          <p:cNvSpPr/>
          <p:nvPr/>
        </p:nvSpPr>
        <p:spPr>
          <a:xfrm>
            <a:off x="5969807" y="2801013"/>
            <a:ext cx="0" cy="471927"/>
          </a:xfrm>
          <a:custGeom>
            <a:avLst/>
            <a:gdLst/>
            <a:ahLst/>
            <a:cxnLst/>
            <a:rect l="l" t="t" r="r" b="b"/>
            <a:pathLst>
              <a:path h="343535">
                <a:moveTo>
                  <a:pt x="0" y="0"/>
                </a:moveTo>
                <a:lnTo>
                  <a:pt x="0" y="343505"/>
                </a:lnTo>
              </a:path>
            </a:pathLst>
          </a:custGeom>
          <a:ln w="14167">
            <a:solidFill>
              <a:srgbClr val="000000"/>
            </a:solidFill>
          </a:ln>
        </p:spPr>
        <p:txBody>
          <a:bodyPr wrap="square" lIns="0" tIns="0" rIns="0" bIns="0" rtlCol="0"/>
          <a:lstStyle/>
          <a:p>
            <a:endParaRPr sz="2473"/>
          </a:p>
        </p:txBody>
      </p:sp>
      <p:sp>
        <p:nvSpPr>
          <p:cNvPr id="19" name="object 19"/>
          <p:cNvSpPr/>
          <p:nvPr/>
        </p:nvSpPr>
        <p:spPr>
          <a:xfrm>
            <a:off x="9163800" y="2801013"/>
            <a:ext cx="0" cy="471927"/>
          </a:xfrm>
          <a:custGeom>
            <a:avLst/>
            <a:gdLst/>
            <a:ahLst/>
            <a:cxnLst/>
            <a:rect l="l" t="t" r="r" b="b"/>
            <a:pathLst>
              <a:path h="343535">
                <a:moveTo>
                  <a:pt x="0" y="0"/>
                </a:moveTo>
                <a:lnTo>
                  <a:pt x="0" y="343505"/>
                </a:lnTo>
              </a:path>
            </a:pathLst>
          </a:custGeom>
          <a:ln w="14167">
            <a:solidFill>
              <a:srgbClr val="000000"/>
            </a:solidFill>
          </a:ln>
        </p:spPr>
        <p:txBody>
          <a:bodyPr wrap="square" lIns="0" tIns="0" rIns="0" bIns="0" rtlCol="0"/>
          <a:lstStyle/>
          <a:p>
            <a:endParaRPr sz="2473"/>
          </a:p>
        </p:txBody>
      </p:sp>
      <p:sp>
        <p:nvSpPr>
          <p:cNvPr id="20" name="object 20"/>
          <p:cNvSpPr/>
          <p:nvPr/>
        </p:nvSpPr>
        <p:spPr>
          <a:xfrm>
            <a:off x="3496766" y="4441150"/>
            <a:ext cx="0" cy="602774"/>
          </a:xfrm>
          <a:custGeom>
            <a:avLst/>
            <a:gdLst/>
            <a:ahLst/>
            <a:cxnLst/>
            <a:rect l="l" t="t" r="r" b="b"/>
            <a:pathLst>
              <a:path h="438785">
                <a:moveTo>
                  <a:pt x="0" y="0"/>
                </a:moveTo>
                <a:lnTo>
                  <a:pt x="0" y="438546"/>
                </a:lnTo>
              </a:path>
            </a:pathLst>
          </a:custGeom>
          <a:ln w="16006">
            <a:solidFill>
              <a:srgbClr val="000000"/>
            </a:solidFill>
          </a:ln>
        </p:spPr>
        <p:txBody>
          <a:bodyPr wrap="square" lIns="0" tIns="0" rIns="0" bIns="0" rtlCol="0"/>
          <a:lstStyle/>
          <a:p>
            <a:endParaRPr sz="2473"/>
          </a:p>
        </p:txBody>
      </p:sp>
      <p:sp>
        <p:nvSpPr>
          <p:cNvPr id="21" name="object 21"/>
          <p:cNvSpPr/>
          <p:nvPr/>
        </p:nvSpPr>
        <p:spPr>
          <a:xfrm>
            <a:off x="8254519" y="4441150"/>
            <a:ext cx="0" cy="602774"/>
          </a:xfrm>
          <a:custGeom>
            <a:avLst/>
            <a:gdLst/>
            <a:ahLst/>
            <a:cxnLst/>
            <a:rect l="l" t="t" r="r" b="b"/>
            <a:pathLst>
              <a:path h="438785">
                <a:moveTo>
                  <a:pt x="0" y="0"/>
                </a:moveTo>
                <a:lnTo>
                  <a:pt x="0" y="438546"/>
                </a:lnTo>
              </a:path>
            </a:pathLst>
          </a:custGeom>
          <a:ln w="16006">
            <a:solidFill>
              <a:srgbClr val="000000"/>
            </a:solidFill>
          </a:ln>
        </p:spPr>
        <p:txBody>
          <a:bodyPr wrap="square" lIns="0" tIns="0" rIns="0" bIns="0" rtlCol="0"/>
          <a:lstStyle/>
          <a:p>
            <a:endParaRPr sz="2473"/>
          </a:p>
        </p:txBody>
      </p:sp>
      <p:sp>
        <p:nvSpPr>
          <p:cNvPr id="22" name="object 12">
            <a:extLst>
              <a:ext uri="{FF2B5EF4-FFF2-40B4-BE49-F238E27FC236}">
                <a16:creationId xmlns:a16="http://schemas.microsoft.com/office/drawing/2014/main" id="{687C0176-2C6D-780D-B70F-8574097B451D}"/>
              </a:ext>
            </a:extLst>
          </p:cNvPr>
          <p:cNvSpPr txBox="1"/>
          <p:nvPr/>
        </p:nvSpPr>
        <p:spPr>
          <a:xfrm>
            <a:off x="10583458" y="5412667"/>
            <a:ext cx="2606073" cy="576899"/>
          </a:xfrm>
          <a:prstGeom prst="rect">
            <a:avLst/>
          </a:prstGeom>
        </p:spPr>
        <p:txBody>
          <a:bodyPr vert="horz" wrap="square" lIns="0" tIns="22680" rIns="0" bIns="0" rtlCol="0">
            <a:spAutoFit/>
          </a:bodyPr>
          <a:lstStyle/>
          <a:p>
            <a:pPr marL="52338">
              <a:spcBef>
                <a:spcPts val="179"/>
              </a:spcBef>
            </a:pPr>
            <a:r>
              <a:rPr lang="en-US" spc="27" dirty="0">
                <a:latin typeface="Times New Roman"/>
                <a:cs typeface="Times New Roman"/>
              </a:rPr>
              <a:t>Francisco is a continuation of how many words?</a:t>
            </a:r>
            <a:endParaRPr dirty="0">
              <a:latin typeface="Times New Roman"/>
              <a:cs typeface="Times New Roman"/>
            </a:endParaRPr>
          </a:p>
        </p:txBody>
      </p:sp>
      <p:sp>
        <p:nvSpPr>
          <p:cNvPr id="23" name="object 12">
            <a:extLst>
              <a:ext uri="{FF2B5EF4-FFF2-40B4-BE49-F238E27FC236}">
                <a16:creationId xmlns:a16="http://schemas.microsoft.com/office/drawing/2014/main" id="{E48B7840-CD53-39A1-64DC-9175A4BAACA3}"/>
              </a:ext>
            </a:extLst>
          </p:cNvPr>
          <p:cNvSpPr txBox="1"/>
          <p:nvPr/>
        </p:nvSpPr>
        <p:spPr>
          <a:xfrm>
            <a:off x="11381916" y="6360997"/>
            <a:ext cx="2606073" cy="576899"/>
          </a:xfrm>
          <a:prstGeom prst="rect">
            <a:avLst/>
          </a:prstGeom>
        </p:spPr>
        <p:txBody>
          <a:bodyPr vert="horz" wrap="square" lIns="0" tIns="22680" rIns="0" bIns="0" rtlCol="0">
            <a:spAutoFit/>
          </a:bodyPr>
          <a:lstStyle/>
          <a:p>
            <a:pPr marL="52338">
              <a:spcBef>
                <a:spcPts val="179"/>
              </a:spcBef>
            </a:pPr>
            <a:r>
              <a:rPr lang="en-US" spc="27" dirty="0">
                <a:latin typeface="Times New Roman"/>
                <a:cs typeface="Times New Roman"/>
              </a:rPr>
              <a:t>Count of all non-zero bigrams</a:t>
            </a:r>
            <a:endParaRPr dirty="0">
              <a:latin typeface="Times New Roman"/>
              <a:cs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8" y="1014829"/>
            <a:ext cx="6828546" cy="694084"/>
          </a:xfrm>
          <a:prstGeom prst="rect">
            <a:avLst/>
          </a:prstGeom>
        </p:spPr>
        <p:txBody>
          <a:bodyPr vert="horz" wrap="square" lIns="0" tIns="17446" rIns="0" bIns="0" rtlCol="0">
            <a:spAutoFit/>
          </a:bodyPr>
          <a:lstStyle/>
          <a:p>
            <a:pPr marL="17446">
              <a:spcBef>
                <a:spcPts val="137"/>
              </a:spcBef>
            </a:pPr>
            <a:r>
              <a:rPr spc="-7" dirty="0"/>
              <a:t>Kneser-Ney</a:t>
            </a:r>
            <a:r>
              <a:rPr spc="-21" dirty="0"/>
              <a:t> </a:t>
            </a:r>
            <a:r>
              <a:rPr spc="-7" dirty="0"/>
              <a:t>Smoothing</a:t>
            </a:r>
            <a:r>
              <a:rPr spc="-27" dirty="0"/>
              <a:t> </a:t>
            </a:r>
            <a:r>
              <a:rPr spc="-7" dirty="0"/>
              <a:t>III</a:t>
            </a:r>
          </a:p>
        </p:txBody>
      </p:sp>
      <p:sp>
        <p:nvSpPr>
          <p:cNvPr id="7" name="object 7"/>
          <p:cNvSpPr txBox="1"/>
          <p:nvPr/>
        </p:nvSpPr>
        <p:spPr>
          <a:xfrm>
            <a:off x="2426703" y="4714428"/>
            <a:ext cx="3040919" cy="536397"/>
          </a:xfrm>
          <a:prstGeom prst="rect">
            <a:avLst/>
          </a:prstGeom>
        </p:spPr>
        <p:txBody>
          <a:bodyPr vert="horz" wrap="square" lIns="0" tIns="18319" rIns="0" bIns="0" rtlCol="0">
            <a:spAutoFit/>
          </a:bodyPr>
          <a:lstStyle/>
          <a:p>
            <a:pPr marL="52338">
              <a:spcBef>
                <a:spcPts val="144"/>
              </a:spcBef>
            </a:pPr>
            <a:r>
              <a:rPr sz="5048" i="1" spc="-793" baseline="13605" dirty="0">
                <a:latin typeface="Times New Roman"/>
                <a:cs typeface="Times New Roman"/>
              </a:rPr>
              <a:t>P</a:t>
            </a:r>
            <a:r>
              <a:rPr sz="1923" i="1" spc="7" dirty="0">
                <a:latin typeface="Times New Roman"/>
                <a:cs typeface="Times New Roman"/>
              </a:rPr>
              <a:t>C</a:t>
            </a:r>
            <a:r>
              <a:rPr sz="1923" i="1" spc="-7" dirty="0">
                <a:latin typeface="Times New Roman"/>
                <a:cs typeface="Times New Roman"/>
              </a:rPr>
              <a:t>O</a:t>
            </a:r>
            <a:r>
              <a:rPr sz="1923" i="1" spc="7" dirty="0">
                <a:latin typeface="Times New Roman"/>
                <a:cs typeface="Times New Roman"/>
              </a:rPr>
              <a:t>NT</a:t>
            </a:r>
            <a:r>
              <a:rPr sz="1923" i="1" spc="-14" dirty="0">
                <a:latin typeface="Times New Roman"/>
                <a:cs typeface="Times New Roman"/>
              </a:rPr>
              <a:t>I</a:t>
            </a:r>
            <a:r>
              <a:rPr sz="1923" i="1" spc="7" dirty="0">
                <a:latin typeface="Times New Roman"/>
                <a:cs typeface="Times New Roman"/>
              </a:rPr>
              <a:t>N</a:t>
            </a:r>
            <a:r>
              <a:rPr sz="1923" i="1" spc="-7" dirty="0">
                <a:latin typeface="Times New Roman"/>
                <a:cs typeface="Times New Roman"/>
              </a:rPr>
              <a:t>UA</a:t>
            </a:r>
            <a:r>
              <a:rPr sz="1923" i="1" spc="7" dirty="0">
                <a:latin typeface="Times New Roman"/>
                <a:cs typeface="Times New Roman"/>
              </a:rPr>
              <a:t>T</a:t>
            </a:r>
            <a:r>
              <a:rPr sz="1923" i="1" spc="-7" dirty="0">
                <a:latin typeface="Times New Roman"/>
                <a:cs typeface="Times New Roman"/>
              </a:rPr>
              <a:t>IO</a:t>
            </a:r>
            <a:r>
              <a:rPr sz="1923" i="1" spc="14" dirty="0">
                <a:latin typeface="Times New Roman"/>
                <a:cs typeface="Times New Roman"/>
              </a:rPr>
              <a:t>N </a:t>
            </a:r>
            <a:r>
              <a:rPr sz="5048" spc="113" baseline="13605" dirty="0">
                <a:latin typeface="Times New Roman"/>
                <a:cs typeface="Times New Roman"/>
              </a:rPr>
              <a:t>(</a:t>
            </a:r>
            <a:r>
              <a:rPr sz="5048" i="1" spc="154" baseline="13605" dirty="0">
                <a:latin typeface="Times New Roman"/>
                <a:cs typeface="Times New Roman"/>
              </a:rPr>
              <a:t>w</a:t>
            </a:r>
            <a:r>
              <a:rPr sz="5048" baseline="13605" dirty="0">
                <a:latin typeface="Times New Roman"/>
                <a:cs typeface="Times New Roman"/>
              </a:rPr>
              <a:t>)</a:t>
            </a:r>
            <a:r>
              <a:rPr sz="5048" spc="-412" baseline="13605" dirty="0">
                <a:latin typeface="Times New Roman"/>
                <a:cs typeface="Times New Roman"/>
              </a:rPr>
              <a:t> </a:t>
            </a:r>
            <a:r>
              <a:rPr sz="5048" baseline="13605" dirty="0">
                <a:latin typeface="Symbol"/>
                <a:cs typeface="Symbol"/>
              </a:rPr>
              <a:t></a:t>
            </a:r>
            <a:endParaRPr sz="5048" baseline="13605">
              <a:latin typeface="Symbol"/>
              <a:cs typeface="Symbol"/>
            </a:endParaRPr>
          </a:p>
        </p:txBody>
      </p:sp>
      <p:sp>
        <p:nvSpPr>
          <p:cNvPr id="8" name="object 8"/>
          <p:cNvSpPr/>
          <p:nvPr/>
        </p:nvSpPr>
        <p:spPr>
          <a:xfrm>
            <a:off x="5965247" y="4398314"/>
            <a:ext cx="3480570" cy="513798"/>
          </a:xfrm>
          <a:custGeom>
            <a:avLst/>
            <a:gdLst/>
            <a:ahLst/>
            <a:cxnLst/>
            <a:rect l="l" t="t" r="r" b="b"/>
            <a:pathLst>
              <a:path w="2533650" h="374014">
                <a:moveTo>
                  <a:pt x="0" y="0"/>
                </a:moveTo>
                <a:lnTo>
                  <a:pt x="0" y="373558"/>
                </a:lnTo>
              </a:path>
              <a:path w="2533650" h="374014">
                <a:moveTo>
                  <a:pt x="2533283" y="0"/>
                </a:moveTo>
                <a:lnTo>
                  <a:pt x="2533283" y="373558"/>
                </a:lnTo>
              </a:path>
            </a:pathLst>
          </a:custGeom>
          <a:ln w="15433">
            <a:solidFill>
              <a:srgbClr val="000000"/>
            </a:solidFill>
          </a:ln>
        </p:spPr>
        <p:txBody>
          <a:bodyPr wrap="square" lIns="0" tIns="0" rIns="0" bIns="0" rtlCol="0"/>
          <a:lstStyle/>
          <a:p>
            <a:endParaRPr sz="2473"/>
          </a:p>
        </p:txBody>
      </p:sp>
      <p:sp>
        <p:nvSpPr>
          <p:cNvPr id="9" name="object 9"/>
          <p:cNvSpPr/>
          <p:nvPr/>
        </p:nvSpPr>
        <p:spPr>
          <a:xfrm>
            <a:off x="6025517" y="5050934"/>
            <a:ext cx="0" cy="513798"/>
          </a:xfrm>
          <a:custGeom>
            <a:avLst/>
            <a:gdLst/>
            <a:ahLst/>
            <a:cxnLst/>
            <a:rect l="l" t="t" r="r" b="b"/>
            <a:pathLst>
              <a:path h="374014">
                <a:moveTo>
                  <a:pt x="0" y="0"/>
                </a:moveTo>
                <a:lnTo>
                  <a:pt x="0" y="373558"/>
                </a:lnTo>
              </a:path>
            </a:pathLst>
          </a:custGeom>
          <a:ln w="15436">
            <a:solidFill>
              <a:srgbClr val="000000"/>
            </a:solidFill>
          </a:ln>
        </p:spPr>
        <p:txBody>
          <a:bodyPr wrap="square" lIns="0" tIns="0" rIns="0" bIns="0" rtlCol="0"/>
          <a:lstStyle/>
          <a:p>
            <a:endParaRPr sz="2473"/>
          </a:p>
        </p:txBody>
      </p:sp>
      <p:sp>
        <p:nvSpPr>
          <p:cNvPr id="10" name="object 10"/>
          <p:cNvSpPr/>
          <p:nvPr/>
        </p:nvSpPr>
        <p:spPr>
          <a:xfrm>
            <a:off x="9854930" y="5050934"/>
            <a:ext cx="0" cy="513798"/>
          </a:xfrm>
          <a:custGeom>
            <a:avLst/>
            <a:gdLst/>
            <a:ahLst/>
            <a:cxnLst/>
            <a:rect l="l" t="t" r="r" b="b"/>
            <a:pathLst>
              <a:path h="374014">
                <a:moveTo>
                  <a:pt x="0" y="0"/>
                </a:moveTo>
                <a:lnTo>
                  <a:pt x="0" y="373558"/>
                </a:lnTo>
              </a:path>
            </a:pathLst>
          </a:custGeom>
          <a:ln w="15436">
            <a:solidFill>
              <a:srgbClr val="000000"/>
            </a:solidFill>
          </a:ln>
        </p:spPr>
        <p:txBody>
          <a:bodyPr wrap="square" lIns="0" tIns="0" rIns="0" bIns="0" rtlCol="0"/>
          <a:lstStyle/>
          <a:p>
            <a:endParaRPr sz="2473"/>
          </a:p>
        </p:txBody>
      </p:sp>
      <p:sp>
        <p:nvSpPr>
          <p:cNvPr id="11" name="object 11"/>
          <p:cNvSpPr txBox="1"/>
          <p:nvPr/>
        </p:nvSpPr>
        <p:spPr>
          <a:xfrm>
            <a:off x="1364312" y="5484452"/>
            <a:ext cx="11052335" cy="1425683"/>
          </a:xfrm>
          <a:prstGeom prst="rect">
            <a:avLst/>
          </a:prstGeom>
        </p:spPr>
        <p:txBody>
          <a:bodyPr vert="horz" wrap="square" lIns="0" tIns="134338" rIns="0" bIns="0" rtlCol="0">
            <a:spAutoFit/>
          </a:bodyPr>
          <a:lstStyle/>
          <a:p>
            <a:pPr marR="2268851" algn="ctr">
              <a:spcBef>
                <a:spcPts val="1058"/>
              </a:spcBef>
            </a:pPr>
            <a:r>
              <a:rPr sz="1923" i="1" spc="14" dirty="0">
                <a:latin typeface="Times New Roman"/>
                <a:cs typeface="Times New Roman"/>
              </a:rPr>
              <a:t>w</a:t>
            </a:r>
            <a:r>
              <a:rPr sz="1923" i="1" spc="-309" dirty="0">
                <a:latin typeface="Times New Roman"/>
                <a:cs typeface="Times New Roman"/>
              </a:rPr>
              <a:t> </a:t>
            </a:r>
            <a:r>
              <a:rPr sz="1923" dirty="0">
                <a:latin typeface="Times New Roman"/>
                <a:cs typeface="Times New Roman"/>
              </a:rPr>
              <a:t>'</a:t>
            </a:r>
            <a:endParaRPr sz="1923">
              <a:latin typeface="Times New Roman"/>
              <a:cs typeface="Times New Roman"/>
            </a:endParaRPr>
          </a:p>
          <a:p>
            <a:pPr marL="488488" marR="6978" indent="-471042">
              <a:lnSpc>
                <a:spcPct val="100800"/>
              </a:lnSpc>
              <a:spcBef>
                <a:spcPts val="1236"/>
              </a:spcBef>
              <a:buClr>
                <a:srgbClr val="CC0000"/>
              </a:buClr>
              <a:buFont typeface="Times New Roman"/>
              <a:buChar char="•"/>
              <a:tabLst>
                <a:tab pos="487615" algn="l"/>
                <a:tab pos="488488" algn="l"/>
              </a:tabLst>
            </a:pPr>
            <a:r>
              <a:rPr sz="2747" dirty="0">
                <a:latin typeface="Calibri"/>
                <a:cs typeface="Calibri"/>
              </a:rPr>
              <a:t>A</a:t>
            </a:r>
            <a:r>
              <a:rPr sz="2747" spc="7" dirty="0">
                <a:latin typeface="Calibri"/>
                <a:cs typeface="Calibri"/>
              </a:rPr>
              <a:t> </a:t>
            </a:r>
            <a:r>
              <a:rPr sz="2747" spc="-7" dirty="0">
                <a:latin typeface="Calibri"/>
                <a:cs typeface="Calibri"/>
              </a:rPr>
              <a:t>frequent</a:t>
            </a:r>
            <a:r>
              <a:rPr sz="2747" spc="14" dirty="0">
                <a:latin typeface="Calibri"/>
                <a:cs typeface="Calibri"/>
              </a:rPr>
              <a:t> </a:t>
            </a:r>
            <a:r>
              <a:rPr sz="2747" spc="-7" dirty="0">
                <a:latin typeface="Calibri"/>
                <a:cs typeface="Calibri"/>
              </a:rPr>
              <a:t>word</a:t>
            </a:r>
            <a:r>
              <a:rPr sz="2747" spc="7" dirty="0">
                <a:latin typeface="Calibri"/>
                <a:cs typeface="Calibri"/>
              </a:rPr>
              <a:t> </a:t>
            </a:r>
            <a:r>
              <a:rPr sz="2747" spc="-7" dirty="0">
                <a:latin typeface="Calibri"/>
                <a:cs typeface="Calibri"/>
              </a:rPr>
              <a:t>(Francisco)</a:t>
            </a:r>
            <a:r>
              <a:rPr sz="2747" spc="14" dirty="0">
                <a:latin typeface="Calibri"/>
                <a:cs typeface="Calibri"/>
              </a:rPr>
              <a:t> </a:t>
            </a:r>
            <a:r>
              <a:rPr sz="2747" spc="-7" dirty="0">
                <a:latin typeface="Calibri"/>
                <a:cs typeface="Calibri"/>
              </a:rPr>
              <a:t>occurring</a:t>
            </a:r>
            <a:r>
              <a:rPr sz="2747" spc="7" dirty="0">
                <a:latin typeface="Calibri"/>
                <a:cs typeface="Calibri"/>
              </a:rPr>
              <a:t> </a:t>
            </a:r>
            <a:r>
              <a:rPr sz="2747" dirty="0">
                <a:latin typeface="Calibri"/>
                <a:cs typeface="Calibri"/>
              </a:rPr>
              <a:t>in</a:t>
            </a:r>
            <a:r>
              <a:rPr sz="2747" spc="14" dirty="0">
                <a:latin typeface="Calibri"/>
                <a:cs typeface="Calibri"/>
              </a:rPr>
              <a:t> </a:t>
            </a:r>
            <a:r>
              <a:rPr sz="2747" spc="-7" dirty="0">
                <a:latin typeface="Calibri"/>
                <a:cs typeface="Calibri"/>
              </a:rPr>
              <a:t>only</a:t>
            </a:r>
            <a:r>
              <a:rPr sz="2747" spc="7" dirty="0">
                <a:latin typeface="Calibri"/>
                <a:cs typeface="Calibri"/>
              </a:rPr>
              <a:t> </a:t>
            </a:r>
            <a:r>
              <a:rPr sz="2747" spc="-7" dirty="0">
                <a:latin typeface="Calibri"/>
                <a:cs typeface="Calibri"/>
              </a:rPr>
              <a:t>one</a:t>
            </a:r>
            <a:r>
              <a:rPr sz="2747" spc="14" dirty="0">
                <a:latin typeface="Calibri"/>
                <a:cs typeface="Calibri"/>
              </a:rPr>
              <a:t> </a:t>
            </a:r>
            <a:r>
              <a:rPr sz="2747" spc="-7" dirty="0">
                <a:latin typeface="Calibri"/>
                <a:cs typeface="Calibri"/>
              </a:rPr>
              <a:t>context</a:t>
            </a:r>
            <a:r>
              <a:rPr sz="2747" spc="14" dirty="0">
                <a:latin typeface="Calibri"/>
                <a:cs typeface="Calibri"/>
              </a:rPr>
              <a:t> </a:t>
            </a:r>
            <a:r>
              <a:rPr sz="2747" dirty="0">
                <a:latin typeface="Calibri"/>
                <a:cs typeface="Calibri"/>
              </a:rPr>
              <a:t>(San)</a:t>
            </a:r>
            <a:r>
              <a:rPr sz="2747" spc="7" dirty="0">
                <a:latin typeface="Calibri"/>
                <a:cs typeface="Calibri"/>
              </a:rPr>
              <a:t> </a:t>
            </a:r>
            <a:r>
              <a:rPr sz="2747" spc="-7" dirty="0">
                <a:latin typeface="Calibri"/>
                <a:cs typeface="Calibri"/>
              </a:rPr>
              <a:t>will</a:t>
            </a:r>
            <a:r>
              <a:rPr sz="2747" spc="14" dirty="0">
                <a:latin typeface="Calibri"/>
                <a:cs typeface="Calibri"/>
              </a:rPr>
              <a:t> </a:t>
            </a:r>
            <a:r>
              <a:rPr sz="2747" spc="-7" dirty="0">
                <a:latin typeface="Calibri"/>
                <a:cs typeface="Calibri"/>
              </a:rPr>
              <a:t>have</a:t>
            </a:r>
            <a:r>
              <a:rPr sz="2747" spc="7" dirty="0">
                <a:latin typeface="Calibri"/>
                <a:cs typeface="Calibri"/>
              </a:rPr>
              <a:t> </a:t>
            </a:r>
            <a:r>
              <a:rPr sz="2747" dirty="0">
                <a:latin typeface="Calibri"/>
                <a:cs typeface="Calibri"/>
              </a:rPr>
              <a:t>a </a:t>
            </a:r>
            <a:r>
              <a:rPr sz="2747" spc="-596" dirty="0">
                <a:latin typeface="Calibri"/>
                <a:cs typeface="Calibri"/>
              </a:rPr>
              <a:t> </a:t>
            </a:r>
            <a:r>
              <a:rPr sz="2747" spc="-7" dirty="0">
                <a:latin typeface="Calibri"/>
                <a:cs typeface="Calibri"/>
              </a:rPr>
              <a:t>low continuation</a:t>
            </a:r>
            <a:r>
              <a:rPr sz="2747" dirty="0">
                <a:latin typeface="Calibri"/>
                <a:cs typeface="Calibri"/>
              </a:rPr>
              <a:t> </a:t>
            </a:r>
            <a:r>
              <a:rPr sz="2747" spc="-7" dirty="0">
                <a:latin typeface="Calibri"/>
                <a:cs typeface="Calibri"/>
              </a:rPr>
              <a:t>probability</a:t>
            </a:r>
            <a:endParaRPr sz="2747">
              <a:latin typeface="Calibri"/>
              <a:cs typeface="Calibri"/>
            </a:endParaRPr>
          </a:p>
        </p:txBody>
      </p:sp>
      <p:sp>
        <p:nvSpPr>
          <p:cNvPr id="12" name="object 12"/>
          <p:cNvSpPr txBox="1"/>
          <p:nvPr/>
        </p:nvSpPr>
        <p:spPr>
          <a:xfrm>
            <a:off x="5470366" y="4745665"/>
            <a:ext cx="4409594" cy="794523"/>
          </a:xfrm>
          <a:prstGeom prst="rect">
            <a:avLst/>
          </a:prstGeom>
        </p:spPr>
        <p:txBody>
          <a:bodyPr vert="horz" wrap="square" lIns="0" tIns="22680" rIns="0" bIns="0" rtlCol="0">
            <a:spAutoFit/>
          </a:bodyPr>
          <a:lstStyle/>
          <a:p>
            <a:pPr marL="52338">
              <a:spcBef>
                <a:spcPts val="179"/>
              </a:spcBef>
            </a:pPr>
            <a:r>
              <a:rPr sz="7521" spc="907" baseline="-6088" dirty="0">
                <a:latin typeface="Symbol"/>
                <a:cs typeface="Symbol"/>
              </a:rPr>
              <a:t></a:t>
            </a:r>
            <a:r>
              <a:rPr sz="3366" dirty="0">
                <a:latin typeface="Times New Roman"/>
                <a:cs typeface="Times New Roman"/>
              </a:rPr>
              <a:t>{</a:t>
            </a:r>
            <a:r>
              <a:rPr sz="3366" i="1" dirty="0">
                <a:latin typeface="Times New Roman"/>
                <a:cs typeface="Times New Roman"/>
              </a:rPr>
              <a:t>w</a:t>
            </a:r>
            <a:r>
              <a:rPr sz="3366" i="1" spc="-536" dirty="0">
                <a:latin typeface="Times New Roman"/>
                <a:cs typeface="Times New Roman"/>
              </a:rPr>
              <a:t> </a:t>
            </a:r>
            <a:r>
              <a:rPr sz="3366" spc="7" dirty="0">
                <a:latin typeface="Times New Roman"/>
                <a:cs typeface="Times New Roman"/>
              </a:rPr>
              <a:t>'</a:t>
            </a:r>
            <a:r>
              <a:rPr sz="2885" i="1" spc="51" baseline="-23809" dirty="0">
                <a:latin typeface="Times New Roman"/>
                <a:cs typeface="Times New Roman"/>
              </a:rPr>
              <a:t>i</a:t>
            </a:r>
            <a:r>
              <a:rPr sz="2885" spc="-236" baseline="-23809" dirty="0">
                <a:latin typeface="Symbol"/>
                <a:cs typeface="Symbol"/>
              </a:rPr>
              <a:t></a:t>
            </a:r>
            <a:r>
              <a:rPr sz="2885" spc="21" baseline="-23809" dirty="0">
                <a:latin typeface="Times New Roman"/>
                <a:cs typeface="Times New Roman"/>
              </a:rPr>
              <a:t>1</a:t>
            </a:r>
            <a:r>
              <a:rPr sz="2885" baseline="-23809" dirty="0">
                <a:latin typeface="Times New Roman"/>
                <a:cs typeface="Times New Roman"/>
              </a:rPr>
              <a:t> </a:t>
            </a:r>
            <a:r>
              <a:rPr sz="2885" spc="-349" baseline="-23809" dirty="0">
                <a:latin typeface="Times New Roman"/>
                <a:cs typeface="Times New Roman"/>
              </a:rPr>
              <a:t> </a:t>
            </a:r>
            <a:r>
              <a:rPr sz="3366" dirty="0">
                <a:latin typeface="Times New Roman"/>
                <a:cs typeface="Times New Roman"/>
              </a:rPr>
              <a:t>:</a:t>
            </a:r>
            <a:r>
              <a:rPr sz="3366" spc="-357" dirty="0">
                <a:latin typeface="Times New Roman"/>
                <a:cs typeface="Times New Roman"/>
              </a:rPr>
              <a:t> </a:t>
            </a:r>
            <a:r>
              <a:rPr sz="3366" i="1" spc="48" dirty="0">
                <a:latin typeface="Times New Roman"/>
                <a:cs typeface="Times New Roman"/>
              </a:rPr>
              <a:t>c</a:t>
            </a:r>
            <a:r>
              <a:rPr sz="3366" spc="76" dirty="0">
                <a:latin typeface="Times New Roman"/>
                <a:cs typeface="Times New Roman"/>
              </a:rPr>
              <a:t>(</a:t>
            </a:r>
            <a:r>
              <a:rPr sz="3366" i="1" dirty="0">
                <a:latin typeface="Times New Roman"/>
                <a:cs typeface="Times New Roman"/>
              </a:rPr>
              <a:t>w</a:t>
            </a:r>
            <a:r>
              <a:rPr sz="3366" i="1" spc="-536" dirty="0">
                <a:latin typeface="Times New Roman"/>
                <a:cs typeface="Times New Roman"/>
              </a:rPr>
              <a:t> </a:t>
            </a:r>
            <a:r>
              <a:rPr sz="3366" spc="7" dirty="0">
                <a:latin typeface="Times New Roman"/>
                <a:cs typeface="Times New Roman"/>
              </a:rPr>
              <a:t>'</a:t>
            </a:r>
            <a:r>
              <a:rPr sz="2885" i="1" spc="51" baseline="-23809" dirty="0">
                <a:latin typeface="Times New Roman"/>
                <a:cs typeface="Times New Roman"/>
              </a:rPr>
              <a:t>i</a:t>
            </a:r>
            <a:r>
              <a:rPr sz="2885" spc="-236" baseline="-23809" dirty="0">
                <a:latin typeface="Symbol"/>
                <a:cs typeface="Symbol"/>
              </a:rPr>
              <a:t></a:t>
            </a:r>
            <a:r>
              <a:rPr sz="2885" spc="-41" baseline="-23809" dirty="0">
                <a:latin typeface="Times New Roman"/>
                <a:cs typeface="Times New Roman"/>
              </a:rPr>
              <a:t>1</a:t>
            </a:r>
            <a:r>
              <a:rPr sz="3366" dirty="0">
                <a:latin typeface="Times New Roman"/>
                <a:cs typeface="Times New Roman"/>
              </a:rPr>
              <a:t>,</a:t>
            </a:r>
            <a:r>
              <a:rPr sz="3366" spc="-378" dirty="0">
                <a:latin typeface="Times New Roman"/>
                <a:cs typeface="Times New Roman"/>
              </a:rPr>
              <a:t> </a:t>
            </a:r>
            <a:r>
              <a:rPr sz="3366" i="1" dirty="0">
                <a:latin typeface="Times New Roman"/>
                <a:cs typeface="Times New Roman"/>
              </a:rPr>
              <a:t>w</a:t>
            </a:r>
            <a:r>
              <a:rPr sz="3366" i="1" spc="-536" dirty="0">
                <a:latin typeface="Times New Roman"/>
                <a:cs typeface="Times New Roman"/>
              </a:rPr>
              <a:t> </a:t>
            </a:r>
            <a:r>
              <a:rPr sz="3366" spc="-34" dirty="0">
                <a:latin typeface="Times New Roman"/>
                <a:cs typeface="Times New Roman"/>
              </a:rPr>
              <a:t>'</a:t>
            </a:r>
            <a:r>
              <a:rPr sz="3366" dirty="0">
                <a:latin typeface="Times New Roman"/>
                <a:cs typeface="Times New Roman"/>
              </a:rPr>
              <a:t>)</a:t>
            </a:r>
            <a:r>
              <a:rPr sz="3366" spc="-288" dirty="0">
                <a:latin typeface="Times New Roman"/>
                <a:cs typeface="Times New Roman"/>
              </a:rPr>
              <a:t> </a:t>
            </a:r>
            <a:r>
              <a:rPr sz="3366" dirty="0">
                <a:latin typeface="Symbol"/>
                <a:cs typeface="Symbol"/>
              </a:rPr>
              <a:t></a:t>
            </a:r>
            <a:r>
              <a:rPr sz="3366" spc="-157" dirty="0">
                <a:latin typeface="Times New Roman"/>
                <a:cs typeface="Times New Roman"/>
              </a:rPr>
              <a:t> </a:t>
            </a:r>
            <a:r>
              <a:rPr sz="3366" spc="-21" dirty="0">
                <a:latin typeface="Times New Roman"/>
                <a:cs typeface="Times New Roman"/>
              </a:rPr>
              <a:t>0</a:t>
            </a:r>
            <a:r>
              <a:rPr sz="3366" dirty="0">
                <a:latin typeface="Times New Roman"/>
                <a:cs typeface="Times New Roman"/>
              </a:rPr>
              <a:t>}</a:t>
            </a:r>
            <a:endParaRPr sz="3366">
              <a:latin typeface="Times New Roman"/>
              <a:cs typeface="Times New Roman"/>
            </a:endParaRPr>
          </a:p>
        </p:txBody>
      </p:sp>
      <p:sp>
        <p:nvSpPr>
          <p:cNvPr id="13" name="object 13"/>
          <p:cNvSpPr/>
          <p:nvPr/>
        </p:nvSpPr>
        <p:spPr>
          <a:xfrm>
            <a:off x="5511544" y="4961128"/>
            <a:ext cx="4387786" cy="0"/>
          </a:xfrm>
          <a:custGeom>
            <a:avLst/>
            <a:gdLst/>
            <a:ahLst/>
            <a:cxnLst/>
            <a:rect l="l" t="t" r="r" b="b"/>
            <a:pathLst>
              <a:path w="3194050">
                <a:moveTo>
                  <a:pt x="0" y="0"/>
                </a:moveTo>
                <a:lnTo>
                  <a:pt x="3193821" y="0"/>
                </a:lnTo>
              </a:path>
            </a:pathLst>
          </a:custGeom>
          <a:ln w="15429">
            <a:solidFill>
              <a:srgbClr val="000000"/>
            </a:solidFill>
          </a:ln>
        </p:spPr>
        <p:txBody>
          <a:bodyPr wrap="square" lIns="0" tIns="0" rIns="0" bIns="0" rtlCol="0"/>
          <a:lstStyle/>
          <a:p>
            <a:endParaRPr sz="2473"/>
          </a:p>
        </p:txBody>
      </p:sp>
      <p:sp>
        <p:nvSpPr>
          <p:cNvPr id="14" name="object 14"/>
          <p:cNvSpPr txBox="1">
            <a:spLocks noGrp="1"/>
          </p:cNvSpPr>
          <p:nvPr>
            <p:ph type="body" idx="1"/>
          </p:nvPr>
        </p:nvSpPr>
        <p:spPr>
          <a:xfrm>
            <a:off x="1778340" y="2045914"/>
            <a:ext cx="15105113" cy="2817807"/>
          </a:xfrm>
          <a:prstGeom prst="rect">
            <a:avLst/>
          </a:prstGeom>
        </p:spPr>
        <p:txBody>
          <a:bodyPr vert="horz" wrap="square" lIns="0" tIns="17446" rIns="0" bIns="0" rtlCol="0">
            <a:spAutoFit/>
          </a:bodyPr>
          <a:lstStyle/>
          <a:p>
            <a:pPr marL="558272" indent="-471042">
              <a:spcBef>
                <a:spcPts val="137"/>
              </a:spcBef>
              <a:buClr>
                <a:srgbClr val="CC0000"/>
              </a:buClr>
              <a:buFont typeface="Times New Roman"/>
              <a:buChar char="•"/>
              <a:tabLst>
                <a:tab pos="557399" algn="l"/>
                <a:tab pos="558272" algn="l"/>
              </a:tabLst>
            </a:pPr>
            <a:r>
              <a:rPr spc="-7" dirty="0"/>
              <a:t>Alternative</a:t>
            </a:r>
            <a:r>
              <a:rPr dirty="0"/>
              <a:t> </a:t>
            </a:r>
            <a:r>
              <a:rPr spc="-7" dirty="0"/>
              <a:t>metaphor:</a:t>
            </a:r>
            <a:r>
              <a:rPr spc="7" dirty="0"/>
              <a:t> </a:t>
            </a:r>
            <a:r>
              <a:rPr dirty="0"/>
              <a:t>The</a:t>
            </a:r>
            <a:r>
              <a:rPr spc="7" dirty="0"/>
              <a:t> </a:t>
            </a:r>
            <a:r>
              <a:rPr spc="-7" dirty="0"/>
              <a:t>number</a:t>
            </a:r>
            <a:r>
              <a:rPr dirty="0"/>
              <a:t> </a:t>
            </a:r>
            <a:r>
              <a:rPr spc="-7" dirty="0"/>
              <a:t>of</a:t>
            </a:r>
            <a:r>
              <a:rPr spc="631" dirty="0"/>
              <a:t> </a:t>
            </a:r>
            <a:r>
              <a:rPr dirty="0"/>
              <a:t># </a:t>
            </a:r>
            <a:r>
              <a:rPr spc="-7" dirty="0"/>
              <a:t>of</a:t>
            </a:r>
            <a:r>
              <a:rPr spc="7" dirty="0"/>
              <a:t> </a:t>
            </a:r>
            <a:r>
              <a:rPr spc="-7" dirty="0"/>
              <a:t>word</a:t>
            </a:r>
            <a:r>
              <a:rPr dirty="0"/>
              <a:t> </a:t>
            </a:r>
            <a:r>
              <a:rPr spc="-7" dirty="0"/>
              <a:t>types</a:t>
            </a:r>
            <a:r>
              <a:rPr spc="7" dirty="0"/>
              <a:t> </a:t>
            </a:r>
            <a:r>
              <a:rPr dirty="0"/>
              <a:t>seen</a:t>
            </a:r>
            <a:r>
              <a:rPr spc="7" dirty="0"/>
              <a:t> </a:t>
            </a:r>
            <a:r>
              <a:rPr dirty="0"/>
              <a:t>to</a:t>
            </a:r>
            <a:r>
              <a:rPr spc="7" dirty="0"/>
              <a:t> </a:t>
            </a:r>
            <a:r>
              <a:rPr spc="-7" dirty="0"/>
              <a:t>precede</a:t>
            </a:r>
            <a:r>
              <a:rPr dirty="0"/>
              <a:t> w</a:t>
            </a:r>
          </a:p>
          <a:p>
            <a:pPr marL="2937905">
              <a:spcBef>
                <a:spcPts val="2500"/>
              </a:spcBef>
            </a:pPr>
            <a:r>
              <a:rPr sz="3503" spc="-7" dirty="0">
                <a:latin typeface="Times New Roman"/>
                <a:cs typeface="Times New Roman"/>
              </a:rPr>
              <a:t>|</a:t>
            </a:r>
            <a:r>
              <a:rPr sz="3503" spc="-426" dirty="0">
                <a:latin typeface="Times New Roman"/>
                <a:cs typeface="Times New Roman"/>
              </a:rPr>
              <a:t> </a:t>
            </a:r>
            <a:r>
              <a:rPr sz="3503" spc="-14" dirty="0">
                <a:latin typeface="Times New Roman"/>
                <a:cs typeface="Times New Roman"/>
              </a:rPr>
              <a:t>{</a:t>
            </a:r>
            <a:r>
              <a:rPr sz="3503" i="1" spc="-82" dirty="0">
                <a:latin typeface="Times New Roman"/>
                <a:cs typeface="Times New Roman"/>
              </a:rPr>
              <a:t>w</a:t>
            </a:r>
            <a:r>
              <a:rPr sz="2988" i="1" spc="41" baseline="-24904" dirty="0">
                <a:latin typeface="Times New Roman"/>
                <a:cs typeface="Times New Roman"/>
              </a:rPr>
              <a:t>i</a:t>
            </a:r>
            <a:r>
              <a:rPr sz="2988" spc="-246" baseline="-24904" dirty="0">
                <a:latin typeface="Symbol"/>
                <a:cs typeface="Symbol"/>
              </a:rPr>
              <a:t></a:t>
            </a:r>
            <a:r>
              <a:rPr sz="2988" spc="10" baseline="-24904" dirty="0">
                <a:latin typeface="Times New Roman"/>
                <a:cs typeface="Times New Roman"/>
              </a:rPr>
              <a:t>1</a:t>
            </a:r>
            <a:r>
              <a:rPr sz="2988" baseline="-24904" dirty="0">
                <a:latin typeface="Times New Roman"/>
                <a:cs typeface="Times New Roman"/>
              </a:rPr>
              <a:t> </a:t>
            </a:r>
            <a:r>
              <a:rPr sz="2988" spc="-371" baseline="-24904" dirty="0">
                <a:latin typeface="Times New Roman"/>
                <a:cs typeface="Times New Roman"/>
              </a:rPr>
              <a:t> </a:t>
            </a:r>
            <a:r>
              <a:rPr sz="3503" spc="-7" dirty="0">
                <a:latin typeface="Times New Roman"/>
                <a:cs typeface="Times New Roman"/>
              </a:rPr>
              <a:t>:</a:t>
            </a:r>
            <a:r>
              <a:rPr sz="3503" spc="-378" dirty="0">
                <a:latin typeface="Times New Roman"/>
                <a:cs typeface="Times New Roman"/>
              </a:rPr>
              <a:t> </a:t>
            </a:r>
            <a:r>
              <a:rPr sz="3503" i="1" spc="34" dirty="0">
                <a:latin typeface="Times New Roman"/>
                <a:cs typeface="Times New Roman"/>
              </a:rPr>
              <a:t>c</a:t>
            </a:r>
            <a:r>
              <a:rPr sz="3503" spc="76" dirty="0">
                <a:latin typeface="Times New Roman"/>
                <a:cs typeface="Times New Roman"/>
              </a:rPr>
              <a:t>(</a:t>
            </a:r>
            <a:r>
              <a:rPr sz="3503" i="1" spc="-82" dirty="0">
                <a:latin typeface="Times New Roman"/>
                <a:cs typeface="Times New Roman"/>
              </a:rPr>
              <a:t>w</a:t>
            </a:r>
            <a:r>
              <a:rPr sz="2988" i="1" spc="41" baseline="-24904" dirty="0">
                <a:latin typeface="Times New Roman"/>
                <a:cs typeface="Times New Roman"/>
              </a:rPr>
              <a:t>i</a:t>
            </a:r>
            <a:r>
              <a:rPr sz="2988" spc="-246" baseline="-24904" dirty="0">
                <a:latin typeface="Symbol"/>
                <a:cs typeface="Symbol"/>
              </a:rPr>
              <a:t></a:t>
            </a:r>
            <a:r>
              <a:rPr sz="2988" spc="-51" baseline="-24904" dirty="0">
                <a:latin typeface="Times New Roman"/>
                <a:cs typeface="Times New Roman"/>
              </a:rPr>
              <a:t>1</a:t>
            </a:r>
            <a:r>
              <a:rPr sz="3503" spc="-7" dirty="0">
                <a:latin typeface="Times New Roman"/>
                <a:cs typeface="Times New Roman"/>
              </a:rPr>
              <a:t>,</a:t>
            </a:r>
            <a:r>
              <a:rPr sz="3503" spc="-398" dirty="0">
                <a:latin typeface="Times New Roman"/>
                <a:cs typeface="Times New Roman"/>
              </a:rPr>
              <a:t> </a:t>
            </a:r>
            <a:r>
              <a:rPr sz="3503" i="1" spc="89" dirty="0">
                <a:latin typeface="Times New Roman"/>
                <a:cs typeface="Times New Roman"/>
              </a:rPr>
              <a:t>w</a:t>
            </a:r>
            <a:r>
              <a:rPr sz="3503" spc="-7" dirty="0">
                <a:latin typeface="Times New Roman"/>
                <a:cs typeface="Times New Roman"/>
              </a:rPr>
              <a:t>)</a:t>
            </a:r>
            <a:r>
              <a:rPr sz="3503" spc="-309" dirty="0">
                <a:latin typeface="Times New Roman"/>
                <a:cs typeface="Times New Roman"/>
              </a:rPr>
              <a:t> </a:t>
            </a:r>
            <a:r>
              <a:rPr sz="3503" spc="-14" dirty="0">
                <a:latin typeface="Symbol"/>
                <a:cs typeface="Symbol"/>
              </a:rPr>
              <a:t></a:t>
            </a:r>
            <a:r>
              <a:rPr sz="3503" spc="-172" dirty="0">
                <a:latin typeface="Times New Roman"/>
                <a:cs typeface="Times New Roman"/>
              </a:rPr>
              <a:t> </a:t>
            </a:r>
            <a:r>
              <a:rPr sz="3503" spc="-34" dirty="0">
                <a:latin typeface="Times New Roman"/>
                <a:cs typeface="Times New Roman"/>
              </a:rPr>
              <a:t>0</a:t>
            </a:r>
            <a:r>
              <a:rPr sz="3503" spc="-14" dirty="0">
                <a:latin typeface="Times New Roman"/>
                <a:cs typeface="Times New Roman"/>
              </a:rPr>
              <a:t>}</a:t>
            </a:r>
            <a:r>
              <a:rPr sz="3503" spc="-364" dirty="0">
                <a:latin typeface="Times New Roman"/>
                <a:cs typeface="Times New Roman"/>
              </a:rPr>
              <a:t> </a:t>
            </a:r>
            <a:r>
              <a:rPr sz="3503" spc="-7" dirty="0">
                <a:latin typeface="Times New Roman"/>
                <a:cs typeface="Times New Roman"/>
              </a:rPr>
              <a:t>|</a:t>
            </a:r>
            <a:endParaRPr sz="3503">
              <a:latin typeface="Times New Roman"/>
              <a:cs typeface="Times New Roman"/>
            </a:endParaRPr>
          </a:p>
          <a:p>
            <a:pPr marL="558272" indent="-471042">
              <a:spcBef>
                <a:spcPts val="1786"/>
              </a:spcBef>
              <a:buClr>
                <a:srgbClr val="CC0000"/>
              </a:buClr>
              <a:buFont typeface="Times New Roman"/>
              <a:buChar char="•"/>
              <a:tabLst>
                <a:tab pos="557399" algn="l"/>
                <a:tab pos="558272" algn="l"/>
              </a:tabLst>
            </a:pPr>
            <a:r>
              <a:rPr spc="-7" dirty="0"/>
              <a:t>normalized</a:t>
            </a:r>
            <a:r>
              <a:rPr dirty="0"/>
              <a:t> by the #</a:t>
            </a:r>
            <a:r>
              <a:rPr spc="-7" dirty="0"/>
              <a:t> of</a:t>
            </a:r>
            <a:r>
              <a:rPr dirty="0"/>
              <a:t> </a:t>
            </a:r>
            <a:r>
              <a:rPr spc="-7" dirty="0"/>
              <a:t>words</a:t>
            </a:r>
            <a:r>
              <a:rPr dirty="0"/>
              <a:t> </a:t>
            </a:r>
            <a:r>
              <a:rPr spc="-7" dirty="0"/>
              <a:t>preceding</a:t>
            </a:r>
            <a:r>
              <a:rPr dirty="0"/>
              <a:t> all </a:t>
            </a:r>
            <a:r>
              <a:rPr spc="-7" dirty="0"/>
              <a:t>words:</a:t>
            </a:r>
          </a:p>
          <a:p>
            <a:pPr marL="4699948">
              <a:spcBef>
                <a:spcPts val="2727"/>
              </a:spcBef>
            </a:pPr>
            <a:r>
              <a:rPr sz="3366" dirty="0">
                <a:latin typeface="Times New Roman"/>
                <a:cs typeface="Times New Roman"/>
              </a:rPr>
              <a:t>{</a:t>
            </a:r>
            <a:r>
              <a:rPr sz="3366" i="1" spc="-69" dirty="0">
                <a:latin typeface="Times New Roman"/>
                <a:cs typeface="Times New Roman"/>
              </a:rPr>
              <a:t>w</a:t>
            </a:r>
            <a:r>
              <a:rPr sz="2885" i="1" spc="51" baseline="-23809" dirty="0">
                <a:latin typeface="Times New Roman"/>
                <a:cs typeface="Times New Roman"/>
              </a:rPr>
              <a:t>i</a:t>
            </a:r>
            <a:r>
              <a:rPr sz="2885" spc="-236" baseline="-23809" dirty="0">
                <a:latin typeface="Symbol"/>
                <a:cs typeface="Symbol"/>
              </a:rPr>
              <a:t></a:t>
            </a:r>
            <a:r>
              <a:rPr sz="2885" spc="21" baseline="-23809" dirty="0">
                <a:latin typeface="Times New Roman"/>
                <a:cs typeface="Times New Roman"/>
              </a:rPr>
              <a:t>1</a:t>
            </a:r>
            <a:r>
              <a:rPr sz="2885" baseline="-23809" dirty="0">
                <a:latin typeface="Times New Roman"/>
                <a:cs typeface="Times New Roman"/>
              </a:rPr>
              <a:t> </a:t>
            </a:r>
            <a:r>
              <a:rPr sz="2885" spc="-349" baseline="-23809" dirty="0">
                <a:latin typeface="Times New Roman"/>
                <a:cs typeface="Times New Roman"/>
              </a:rPr>
              <a:t> </a:t>
            </a:r>
            <a:r>
              <a:rPr sz="3366" dirty="0">
                <a:latin typeface="Times New Roman"/>
                <a:cs typeface="Times New Roman"/>
              </a:rPr>
              <a:t>:</a:t>
            </a:r>
            <a:r>
              <a:rPr sz="3366" spc="-357" dirty="0">
                <a:latin typeface="Times New Roman"/>
                <a:cs typeface="Times New Roman"/>
              </a:rPr>
              <a:t> </a:t>
            </a:r>
            <a:r>
              <a:rPr sz="3366" i="1" spc="48" dirty="0">
                <a:latin typeface="Times New Roman"/>
                <a:cs typeface="Times New Roman"/>
              </a:rPr>
              <a:t>c</a:t>
            </a:r>
            <a:r>
              <a:rPr sz="3366" spc="76" dirty="0">
                <a:latin typeface="Times New Roman"/>
                <a:cs typeface="Times New Roman"/>
              </a:rPr>
              <a:t>(</a:t>
            </a:r>
            <a:r>
              <a:rPr sz="3366" i="1" spc="-69" dirty="0">
                <a:latin typeface="Times New Roman"/>
                <a:cs typeface="Times New Roman"/>
              </a:rPr>
              <a:t>w</a:t>
            </a:r>
            <a:r>
              <a:rPr sz="2885" i="1" spc="51" baseline="-23809" dirty="0">
                <a:latin typeface="Times New Roman"/>
                <a:cs typeface="Times New Roman"/>
              </a:rPr>
              <a:t>i</a:t>
            </a:r>
            <a:r>
              <a:rPr sz="2885" spc="-236" baseline="-23809" dirty="0">
                <a:latin typeface="Symbol"/>
                <a:cs typeface="Symbol"/>
              </a:rPr>
              <a:t></a:t>
            </a:r>
            <a:r>
              <a:rPr sz="2885" spc="-41" baseline="-23809" dirty="0">
                <a:latin typeface="Times New Roman"/>
                <a:cs typeface="Times New Roman"/>
              </a:rPr>
              <a:t>1</a:t>
            </a:r>
            <a:r>
              <a:rPr sz="3366" dirty="0">
                <a:latin typeface="Times New Roman"/>
                <a:cs typeface="Times New Roman"/>
              </a:rPr>
              <a:t>,</a:t>
            </a:r>
            <a:r>
              <a:rPr sz="3366" spc="-378" dirty="0">
                <a:latin typeface="Times New Roman"/>
                <a:cs typeface="Times New Roman"/>
              </a:rPr>
              <a:t> </a:t>
            </a:r>
            <a:r>
              <a:rPr sz="3366" i="1" spc="103" dirty="0">
                <a:latin typeface="Times New Roman"/>
                <a:cs typeface="Times New Roman"/>
              </a:rPr>
              <a:t>w</a:t>
            </a:r>
            <a:r>
              <a:rPr sz="3366" dirty="0">
                <a:latin typeface="Times New Roman"/>
                <a:cs typeface="Times New Roman"/>
              </a:rPr>
              <a:t>)</a:t>
            </a:r>
            <a:r>
              <a:rPr sz="3366" spc="-288" dirty="0">
                <a:latin typeface="Times New Roman"/>
                <a:cs typeface="Times New Roman"/>
              </a:rPr>
              <a:t> </a:t>
            </a:r>
            <a:r>
              <a:rPr sz="3366" dirty="0">
                <a:latin typeface="Symbol"/>
                <a:cs typeface="Symbol"/>
              </a:rPr>
              <a:t></a:t>
            </a:r>
            <a:r>
              <a:rPr sz="3366" spc="-157" dirty="0">
                <a:latin typeface="Times New Roman"/>
                <a:cs typeface="Times New Roman"/>
              </a:rPr>
              <a:t> </a:t>
            </a:r>
            <a:r>
              <a:rPr sz="3366" spc="-21" dirty="0">
                <a:latin typeface="Times New Roman"/>
                <a:cs typeface="Times New Roman"/>
              </a:rPr>
              <a:t>0</a:t>
            </a:r>
            <a:r>
              <a:rPr sz="3366" dirty="0">
                <a:latin typeface="Times New Roman"/>
                <a:cs typeface="Times New Roman"/>
              </a:rPr>
              <a:t>}</a:t>
            </a:r>
            <a:endParaRPr sz="3366">
              <a:latin typeface="Times New Roman"/>
              <a:cs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2620457" y="1145678"/>
            <a:ext cx="6891354" cy="694084"/>
          </a:xfrm>
          <a:prstGeom prst="rect">
            <a:avLst/>
          </a:prstGeom>
        </p:spPr>
        <p:txBody>
          <a:bodyPr vert="horz" wrap="square" lIns="0" tIns="17446" rIns="0" bIns="0" rtlCol="0">
            <a:spAutoFit/>
          </a:bodyPr>
          <a:lstStyle/>
          <a:p>
            <a:pPr marL="17446">
              <a:spcBef>
                <a:spcPts val="137"/>
              </a:spcBef>
            </a:pPr>
            <a:r>
              <a:rPr spc="-7" dirty="0"/>
              <a:t>Kneser-Ney</a:t>
            </a:r>
            <a:r>
              <a:rPr spc="-21" dirty="0"/>
              <a:t> </a:t>
            </a:r>
            <a:r>
              <a:rPr spc="-7" dirty="0"/>
              <a:t>Smoothing</a:t>
            </a:r>
            <a:r>
              <a:rPr spc="-27" dirty="0"/>
              <a:t> </a:t>
            </a:r>
            <a:r>
              <a:rPr spc="-7" dirty="0"/>
              <a:t>IV</a:t>
            </a:r>
          </a:p>
        </p:txBody>
      </p:sp>
      <p:sp>
        <p:nvSpPr>
          <p:cNvPr id="7" name="object 7"/>
          <p:cNvSpPr txBox="1"/>
          <p:nvPr/>
        </p:nvSpPr>
        <p:spPr>
          <a:xfrm>
            <a:off x="1154954" y="6861139"/>
            <a:ext cx="282633" cy="313531"/>
          </a:xfrm>
          <a:prstGeom prst="rect">
            <a:avLst/>
          </a:prstGeom>
        </p:spPr>
        <p:txBody>
          <a:bodyPr vert="horz" wrap="square" lIns="0" tIns="17446" rIns="0" bIns="0" rtlCol="0">
            <a:spAutoFit/>
          </a:bodyPr>
          <a:lstStyle/>
          <a:p>
            <a:pPr marL="17446">
              <a:spcBef>
                <a:spcPts val="137"/>
              </a:spcBef>
            </a:pPr>
            <a:r>
              <a:rPr sz="1923" dirty="0">
                <a:latin typeface="Calibri"/>
                <a:cs typeface="Calibri"/>
              </a:rPr>
              <a:t>86</a:t>
            </a:r>
            <a:endParaRPr sz="1923">
              <a:latin typeface="Calibri"/>
              <a:cs typeface="Calibri"/>
            </a:endParaRPr>
          </a:p>
        </p:txBody>
      </p:sp>
      <p:sp>
        <p:nvSpPr>
          <p:cNvPr id="8" name="object 8"/>
          <p:cNvSpPr txBox="1"/>
          <p:nvPr/>
        </p:nvSpPr>
        <p:spPr>
          <a:xfrm>
            <a:off x="1451676" y="2964111"/>
            <a:ext cx="380333" cy="330342"/>
          </a:xfrm>
          <a:prstGeom prst="rect">
            <a:avLst/>
          </a:prstGeom>
        </p:spPr>
        <p:txBody>
          <a:bodyPr vert="horz" wrap="square" lIns="0" tIns="23553" rIns="0" bIns="0" rtlCol="0">
            <a:spAutoFit/>
          </a:bodyPr>
          <a:lstStyle/>
          <a:p>
            <a:pPr marL="17446">
              <a:spcBef>
                <a:spcPts val="185"/>
              </a:spcBef>
            </a:pPr>
            <a:r>
              <a:rPr sz="1992" i="1" spc="21" dirty="0">
                <a:latin typeface="Times New Roman"/>
                <a:cs typeface="Times New Roman"/>
              </a:rPr>
              <a:t>K</a:t>
            </a:r>
            <a:r>
              <a:rPr sz="1992" i="1" spc="27" dirty="0">
                <a:latin typeface="Times New Roman"/>
                <a:cs typeface="Times New Roman"/>
              </a:rPr>
              <a:t>N</a:t>
            </a:r>
            <a:endParaRPr sz="1992">
              <a:latin typeface="Times New Roman"/>
              <a:cs typeface="Times New Roman"/>
            </a:endParaRPr>
          </a:p>
        </p:txBody>
      </p:sp>
      <p:sp>
        <p:nvSpPr>
          <p:cNvPr id="9" name="object 9"/>
          <p:cNvSpPr txBox="1"/>
          <p:nvPr/>
        </p:nvSpPr>
        <p:spPr>
          <a:xfrm>
            <a:off x="2313764" y="2964111"/>
            <a:ext cx="107296" cy="330342"/>
          </a:xfrm>
          <a:prstGeom prst="rect">
            <a:avLst/>
          </a:prstGeom>
        </p:spPr>
        <p:txBody>
          <a:bodyPr vert="horz" wrap="square" lIns="0" tIns="23553" rIns="0" bIns="0" rtlCol="0">
            <a:spAutoFit/>
          </a:bodyPr>
          <a:lstStyle/>
          <a:p>
            <a:pPr marL="17446">
              <a:spcBef>
                <a:spcPts val="185"/>
              </a:spcBef>
            </a:pPr>
            <a:r>
              <a:rPr sz="1992" i="1" spc="7" dirty="0">
                <a:latin typeface="Times New Roman"/>
                <a:cs typeface="Times New Roman"/>
              </a:rPr>
              <a:t>i</a:t>
            </a:r>
            <a:endParaRPr sz="1992">
              <a:latin typeface="Times New Roman"/>
              <a:cs typeface="Times New Roman"/>
            </a:endParaRPr>
          </a:p>
        </p:txBody>
      </p:sp>
      <p:sp>
        <p:nvSpPr>
          <p:cNvPr id="10" name="object 10"/>
          <p:cNvSpPr txBox="1"/>
          <p:nvPr/>
        </p:nvSpPr>
        <p:spPr>
          <a:xfrm>
            <a:off x="1237031" y="2663134"/>
            <a:ext cx="1771688" cy="559316"/>
          </a:xfrm>
          <a:prstGeom prst="rect">
            <a:avLst/>
          </a:prstGeom>
        </p:spPr>
        <p:txBody>
          <a:bodyPr vert="horz" wrap="square" lIns="0" tIns="20062" rIns="0" bIns="0" rtlCol="0">
            <a:spAutoFit/>
          </a:bodyPr>
          <a:lstStyle/>
          <a:p>
            <a:pPr marL="17446">
              <a:spcBef>
                <a:spcPts val="157"/>
              </a:spcBef>
              <a:tabLst>
                <a:tab pos="643757" algn="l"/>
                <a:tab pos="1287514" algn="l"/>
              </a:tabLst>
            </a:pPr>
            <a:r>
              <a:rPr sz="3503" i="1" spc="14" dirty="0">
                <a:latin typeface="Times New Roman"/>
                <a:cs typeface="Times New Roman"/>
              </a:rPr>
              <a:t>P	</a:t>
            </a:r>
            <a:r>
              <a:rPr sz="3503" spc="89" dirty="0">
                <a:latin typeface="Times New Roman"/>
                <a:cs typeface="Times New Roman"/>
              </a:rPr>
              <a:t>(</a:t>
            </a:r>
            <a:r>
              <a:rPr sz="3503" i="1" spc="14" dirty="0">
                <a:latin typeface="Times New Roman"/>
                <a:cs typeface="Times New Roman"/>
              </a:rPr>
              <a:t>w</a:t>
            </a:r>
            <a:r>
              <a:rPr sz="3503" i="1" dirty="0">
                <a:latin typeface="Times New Roman"/>
                <a:cs typeface="Times New Roman"/>
              </a:rPr>
              <a:t>	</a:t>
            </a:r>
            <a:r>
              <a:rPr sz="3503" dirty="0">
                <a:latin typeface="Times New Roman"/>
                <a:cs typeface="Times New Roman"/>
              </a:rPr>
              <a:t>|</a:t>
            </a:r>
            <a:r>
              <a:rPr sz="3503" spc="-275" dirty="0">
                <a:latin typeface="Times New Roman"/>
                <a:cs typeface="Times New Roman"/>
              </a:rPr>
              <a:t> </a:t>
            </a:r>
            <a:r>
              <a:rPr sz="3503" i="1" spc="14" dirty="0">
                <a:latin typeface="Times New Roman"/>
                <a:cs typeface="Times New Roman"/>
              </a:rPr>
              <a:t>w</a:t>
            </a:r>
            <a:endParaRPr sz="3503">
              <a:latin typeface="Times New Roman"/>
              <a:cs typeface="Times New Roman"/>
            </a:endParaRPr>
          </a:p>
        </p:txBody>
      </p:sp>
      <p:sp>
        <p:nvSpPr>
          <p:cNvPr id="11" name="object 11"/>
          <p:cNvSpPr txBox="1"/>
          <p:nvPr/>
        </p:nvSpPr>
        <p:spPr>
          <a:xfrm>
            <a:off x="2964704" y="2964111"/>
            <a:ext cx="361142" cy="330342"/>
          </a:xfrm>
          <a:prstGeom prst="rect">
            <a:avLst/>
          </a:prstGeom>
        </p:spPr>
        <p:txBody>
          <a:bodyPr vert="horz" wrap="square" lIns="0" tIns="23553" rIns="0" bIns="0" rtlCol="0">
            <a:spAutoFit/>
          </a:bodyPr>
          <a:lstStyle/>
          <a:p>
            <a:pPr marL="17446">
              <a:spcBef>
                <a:spcPts val="185"/>
              </a:spcBef>
            </a:pPr>
            <a:r>
              <a:rPr sz="1992" i="1" spc="34" dirty="0">
                <a:latin typeface="Times New Roman"/>
                <a:cs typeface="Times New Roman"/>
              </a:rPr>
              <a:t>i</a:t>
            </a:r>
            <a:r>
              <a:rPr sz="1992" spc="-157" dirty="0">
                <a:latin typeface="Symbol"/>
                <a:cs typeface="Symbol"/>
              </a:rPr>
              <a:t></a:t>
            </a:r>
            <a:r>
              <a:rPr sz="1992" spc="21" dirty="0">
                <a:latin typeface="Times New Roman"/>
                <a:cs typeface="Times New Roman"/>
              </a:rPr>
              <a:t>1</a:t>
            </a:r>
            <a:endParaRPr sz="1992">
              <a:latin typeface="Times New Roman"/>
              <a:cs typeface="Times New Roman"/>
            </a:endParaRPr>
          </a:p>
        </p:txBody>
      </p:sp>
      <p:sp>
        <p:nvSpPr>
          <p:cNvPr id="12" name="object 12"/>
          <p:cNvSpPr txBox="1"/>
          <p:nvPr/>
        </p:nvSpPr>
        <p:spPr>
          <a:xfrm>
            <a:off x="3285610" y="2379870"/>
            <a:ext cx="5629974" cy="576889"/>
          </a:xfrm>
          <a:prstGeom prst="rect">
            <a:avLst/>
          </a:prstGeom>
        </p:spPr>
        <p:txBody>
          <a:bodyPr vert="horz" wrap="square" lIns="0" tIns="16574" rIns="0" bIns="0" rtlCol="0">
            <a:spAutoFit/>
          </a:bodyPr>
          <a:lstStyle/>
          <a:p>
            <a:pPr marL="52338">
              <a:spcBef>
                <a:spcPts val="131"/>
              </a:spcBef>
            </a:pPr>
            <a:r>
              <a:rPr sz="5254" spc="10" baseline="-33769" dirty="0">
                <a:latin typeface="Times New Roman"/>
                <a:cs typeface="Times New Roman"/>
              </a:rPr>
              <a:t>)</a:t>
            </a:r>
            <a:r>
              <a:rPr sz="5254" spc="-422" baseline="-33769" dirty="0">
                <a:latin typeface="Times New Roman"/>
                <a:cs typeface="Times New Roman"/>
              </a:rPr>
              <a:t> </a:t>
            </a:r>
            <a:r>
              <a:rPr sz="5254" spc="10" baseline="-33769" dirty="0">
                <a:latin typeface="Symbol"/>
                <a:cs typeface="Symbol"/>
              </a:rPr>
              <a:t></a:t>
            </a:r>
            <a:r>
              <a:rPr sz="5254" spc="174" baseline="-33769" dirty="0">
                <a:latin typeface="Times New Roman"/>
                <a:cs typeface="Times New Roman"/>
              </a:rPr>
              <a:t> </a:t>
            </a:r>
            <a:r>
              <a:rPr sz="3503" spc="7" dirty="0">
                <a:latin typeface="Times New Roman"/>
                <a:cs typeface="Times New Roman"/>
              </a:rPr>
              <a:t>m</a:t>
            </a:r>
            <a:r>
              <a:rPr sz="3503" spc="-21" dirty="0">
                <a:latin typeface="Times New Roman"/>
                <a:cs typeface="Times New Roman"/>
              </a:rPr>
              <a:t>a</a:t>
            </a:r>
            <a:r>
              <a:rPr sz="3503" spc="7" dirty="0">
                <a:latin typeface="Times New Roman"/>
                <a:cs typeface="Times New Roman"/>
              </a:rPr>
              <a:t>x</a:t>
            </a:r>
            <a:r>
              <a:rPr sz="3503" spc="41" dirty="0">
                <a:latin typeface="Times New Roman"/>
                <a:cs typeface="Times New Roman"/>
              </a:rPr>
              <a:t>(</a:t>
            </a:r>
            <a:r>
              <a:rPr sz="3503" i="1" spc="55" dirty="0">
                <a:latin typeface="Times New Roman"/>
                <a:cs typeface="Times New Roman"/>
              </a:rPr>
              <a:t>c</a:t>
            </a:r>
            <a:r>
              <a:rPr sz="3503" spc="89" dirty="0">
                <a:latin typeface="Times New Roman"/>
                <a:cs typeface="Times New Roman"/>
              </a:rPr>
              <a:t>(</a:t>
            </a:r>
            <a:r>
              <a:rPr sz="3503" i="1" spc="-55" dirty="0">
                <a:latin typeface="Times New Roman"/>
                <a:cs typeface="Times New Roman"/>
              </a:rPr>
              <a:t>w</a:t>
            </a:r>
            <a:r>
              <a:rPr sz="2988" i="1" spc="51" baseline="-24904" dirty="0">
                <a:latin typeface="Times New Roman"/>
                <a:cs typeface="Times New Roman"/>
              </a:rPr>
              <a:t>i</a:t>
            </a:r>
            <a:r>
              <a:rPr sz="2988" spc="-236" baseline="-24904" dirty="0">
                <a:latin typeface="Symbol"/>
                <a:cs typeface="Symbol"/>
              </a:rPr>
              <a:t></a:t>
            </a:r>
            <a:r>
              <a:rPr sz="2988" spc="-30" baseline="-24904" dirty="0">
                <a:latin typeface="Times New Roman"/>
                <a:cs typeface="Times New Roman"/>
              </a:rPr>
              <a:t>1</a:t>
            </a:r>
            <a:r>
              <a:rPr sz="3503" dirty="0">
                <a:latin typeface="Times New Roman"/>
                <a:cs typeface="Times New Roman"/>
              </a:rPr>
              <a:t>,</a:t>
            </a:r>
            <a:r>
              <a:rPr sz="3503" spc="-392" dirty="0">
                <a:latin typeface="Times New Roman"/>
                <a:cs typeface="Times New Roman"/>
              </a:rPr>
              <a:t> </a:t>
            </a:r>
            <a:r>
              <a:rPr sz="3503" i="1" spc="-55" dirty="0">
                <a:latin typeface="Times New Roman"/>
                <a:cs typeface="Times New Roman"/>
              </a:rPr>
              <a:t>w</a:t>
            </a:r>
            <a:r>
              <a:rPr sz="2988" i="1" spc="10" baseline="-24904" dirty="0">
                <a:latin typeface="Times New Roman"/>
                <a:cs typeface="Times New Roman"/>
              </a:rPr>
              <a:t>i</a:t>
            </a:r>
            <a:r>
              <a:rPr sz="2988" i="1" spc="-122" baseline="-24904" dirty="0">
                <a:latin typeface="Times New Roman"/>
                <a:cs typeface="Times New Roman"/>
              </a:rPr>
              <a:t> </a:t>
            </a:r>
            <a:r>
              <a:rPr sz="3503" spc="7" dirty="0">
                <a:latin typeface="Times New Roman"/>
                <a:cs typeface="Times New Roman"/>
              </a:rPr>
              <a:t>)</a:t>
            </a:r>
            <a:r>
              <a:rPr sz="3503" spc="-453" dirty="0">
                <a:latin typeface="Times New Roman"/>
                <a:cs typeface="Times New Roman"/>
              </a:rPr>
              <a:t> </a:t>
            </a:r>
            <a:r>
              <a:rPr sz="3503" spc="7" dirty="0">
                <a:latin typeface="Symbol"/>
                <a:cs typeface="Symbol"/>
              </a:rPr>
              <a:t></a:t>
            </a:r>
            <a:r>
              <a:rPr sz="3503" spc="-309" dirty="0">
                <a:latin typeface="Times New Roman"/>
                <a:cs typeface="Times New Roman"/>
              </a:rPr>
              <a:t> </a:t>
            </a:r>
            <a:r>
              <a:rPr sz="3503" i="1" spc="7" dirty="0">
                <a:latin typeface="Times New Roman"/>
                <a:cs typeface="Times New Roman"/>
              </a:rPr>
              <a:t>d</a:t>
            </a:r>
            <a:r>
              <a:rPr sz="3503" dirty="0">
                <a:latin typeface="Times New Roman"/>
                <a:cs typeface="Times New Roman"/>
              </a:rPr>
              <a:t>,</a:t>
            </a:r>
            <a:r>
              <a:rPr sz="3503" spc="-419" dirty="0">
                <a:latin typeface="Times New Roman"/>
                <a:cs typeface="Times New Roman"/>
              </a:rPr>
              <a:t> </a:t>
            </a:r>
            <a:r>
              <a:rPr sz="3503" spc="117" dirty="0">
                <a:latin typeface="Times New Roman"/>
                <a:cs typeface="Times New Roman"/>
              </a:rPr>
              <a:t>0</a:t>
            </a:r>
            <a:r>
              <a:rPr sz="3503" spc="7" dirty="0">
                <a:latin typeface="Times New Roman"/>
                <a:cs typeface="Times New Roman"/>
              </a:rPr>
              <a:t>)</a:t>
            </a:r>
            <a:r>
              <a:rPr sz="3503" spc="-199" dirty="0">
                <a:latin typeface="Times New Roman"/>
                <a:cs typeface="Times New Roman"/>
              </a:rPr>
              <a:t> </a:t>
            </a:r>
            <a:r>
              <a:rPr sz="5254" spc="10" baseline="-33769" dirty="0">
                <a:latin typeface="Symbol"/>
                <a:cs typeface="Symbol"/>
              </a:rPr>
              <a:t></a:t>
            </a:r>
            <a:r>
              <a:rPr sz="5254" spc="-463" baseline="-33769" dirty="0">
                <a:latin typeface="Times New Roman"/>
                <a:cs typeface="Times New Roman"/>
              </a:rPr>
              <a:t> </a:t>
            </a:r>
            <a:r>
              <a:rPr sz="5460" spc="227" baseline="-32494" dirty="0">
                <a:latin typeface="Symbol"/>
                <a:cs typeface="Symbol"/>
              </a:rPr>
              <a:t></a:t>
            </a:r>
            <a:r>
              <a:rPr sz="5254" spc="133" baseline="-33769" dirty="0">
                <a:latin typeface="Times New Roman"/>
                <a:cs typeface="Times New Roman"/>
              </a:rPr>
              <a:t>(</a:t>
            </a:r>
            <a:r>
              <a:rPr sz="5254" i="1" spc="21" baseline="-33769" dirty="0">
                <a:latin typeface="Times New Roman"/>
                <a:cs typeface="Times New Roman"/>
              </a:rPr>
              <a:t>w</a:t>
            </a:r>
            <a:endParaRPr sz="5254" baseline="-33769">
              <a:latin typeface="Times New Roman"/>
              <a:cs typeface="Times New Roman"/>
            </a:endParaRPr>
          </a:p>
        </p:txBody>
      </p:sp>
      <p:sp>
        <p:nvSpPr>
          <p:cNvPr id="13" name="object 13"/>
          <p:cNvSpPr txBox="1"/>
          <p:nvPr/>
        </p:nvSpPr>
        <p:spPr>
          <a:xfrm>
            <a:off x="5886932" y="3321081"/>
            <a:ext cx="361142" cy="330342"/>
          </a:xfrm>
          <a:prstGeom prst="rect">
            <a:avLst/>
          </a:prstGeom>
        </p:spPr>
        <p:txBody>
          <a:bodyPr vert="horz" wrap="square" lIns="0" tIns="23553" rIns="0" bIns="0" rtlCol="0">
            <a:spAutoFit/>
          </a:bodyPr>
          <a:lstStyle/>
          <a:p>
            <a:pPr marL="17446">
              <a:spcBef>
                <a:spcPts val="185"/>
              </a:spcBef>
            </a:pPr>
            <a:r>
              <a:rPr sz="1992" i="1" spc="34" dirty="0">
                <a:latin typeface="Times New Roman"/>
                <a:cs typeface="Times New Roman"/>
              </a:rPr>
              <a:t>i</a:t>
            </a:r>
            <a:r>
              <a:rPr sz="1992" spc="-157" dirty="0">
                <a:latin typeface="Symbol"/>
                <a:cs typeface="Symbol"/>
              </a:rPr>
              <a:t></a:t>
            </a:r>
            <a:r>
              <a:rPr sz="1992" spc="21" dirty="0">
                <a:latin typeface="Times New Roman"/>
                <a:cs typeface="Times New Roman"/>
              </a:rPr>
              <a:t>1</a:t>
            </a:r>
            <a:endParaRPr sz="1992">
              <a:latin typeface="Times New Roman"/>
              <a:cs typeface="Times New Roman"/>
            </a:endParaRPr>
          </a:p>
        </p:txBody>
      </p:sp>
      <p:sp>
        <p:nvSpPr>
          <p:cNvPr id="14" name="object 14"/>
          <p:cNvSpPr txBox="1"/>
          <p:nvPr/>
        </p:nvSpPr>
        <p:spPr>
          <a:xfrm>
            <a:off x="5231327" y="3020106"/>
            <a:ext cx="1195955" cy="559316"/>
          </a:xfrm>
          <a:prstGeom prst="rect">
            <a:avLst/>
          </a:prstGeom>
        </p:spPr>
        <p:txBody>
          <a:bodyPr vert="horz" wrap="square" lIns="0" tIns="20062" rIns="0" bIns="0" rtlCol="0">
            <a:spAutoFit/>
          </a:bodyPr>
          <a:lstStyle/>
          <a:p>
            <a:pPr marL="17446">
              <a:spcBef>
                <a:spcPts val="157"/>
              </a:spcBef>
              <a:tabLst>
                <a:tab pos="1028441" algn="l"/>
              </a:tabLst>
            </a:pPr>
            <a:r>
              <a:rPr sz="3503" i="1" spc="55" dirty="0">
                <a:latin typeface="Times New Roman"/>
                <a:cs typeface="Times New Roman"/>
              </a:rPr>
              <a:t>c</a:t>
            </a:r>
            <a:r>
              <a:rPr sz="3503" spc="89" dirty="0">
                <a:latin typeface="Times New Roman"/>
                <a:cs typeface="Times New Roman"/>
              </a:rPr>
              <a:t>(</a:t>
            </a:r>
            <a:r>
              <a:rPr sz="3503" i="1" spc="14" dirty="0">
                <a:latin typeface="Times New Roman"/>
                <a:cs typeface="Times New Roman"/>
              </a:rPr>
              <a:t>w</a:t>
            </a:r>
            <a:r>
              <a:rPr sz="3503" i="1" dirty="0">
                <a:latin typeface="Times New Roman"/>
                <a:cs typeface="Times New Roman"/>
              </a:rPr>
              <a:t>	</a:t>
            </a:r>
            <a:r>
              <a:rPr sz="3503" spc="7" dirty="0">
                <a:latin typeface="Times New Roman"/>
                <a:cs typeface="Times New Roman"/>
              </a:rPr>
              <a:t>)</a:t>
            </a:r>
            <a:endParaRPr sz="3503">
              <a:latin typeface="Times New Roman"/>
              <a:cs typeface="Times New Roman"/>
            </a:endParaRPr>
          </a:p>
        </p:txBody>
      </p:sp>
      <p:sp>
        <p:nvSpPr>
          <p:cNvPr id="15" name="object 15"/>
          <p:cNvSpPr/>
          <p:nvPr/>
        </p:nvSpPr>
        <p:spPr>
          <a:xfrm>
            <a:off x="3909564" y="3032301"/>
            <a:ext cx="3825137" cy="0"/>
          </a:xfrm>
          <a:custGeom>
            <a:avLst/>
            <a:gdLst/>
            <a:ahLst/>
            <a:cxnLst/>
            <a:rect l="l" t="t" r="r" b="b"/>
            <a:pathLst>
              <a:path w="2784475">
                <a:moveTo>
                  <a:pt x="0" y="0"/>
                </a:moveTo>
                <a:lnTo>
                  <a:pt x="2784480" y="0"/>
                </a:lnTo>
              </a:path>
            </a:pathLst>
          </a:custGeom>
          <a:ln w="16134">
            <a:solidFill>
              <a:srgbClr val="000000"/>
            </a:solidFill>
          </a:ln>
        </p:spPr>
        <p:txBody>
          <a:bodyPr wrap="square" lIns="0" tIns="0" rIns="0" bIns="0" rtlCol="0"/>
          <a:lstStyle/>
          <a:p>
            <a:endParaRPr sz="2473"/>
          </a:p>
        </p:txBody>
      </p:sp>
      <p:sp>
        <p:nvSpPr>
          <p:cNvPr id="16" name="object 16"/>
          <p:cNvSpPr txBox="1"/>
          <p:nvPr/>
        </p:nvSpPr>
        <p:spPr>
          <a:xfrm>
            <a:off x="9192959" y="2663134"/>
            <a:ext cx="467565" cy="559316"/>
          </a:xfrm>
          <a:prstGeom prst="rect">
            <a:avLst/>
          </a:prstGeom>
        </p:spPr>
        <p:txBody>
          <a:bodyPr vert="horz" wrap="square" lIns="0" tIns="20062" rIns="0" bIns="0" rtlCol="0">
            <a:spAutoFit/>
          </a:bodyPr>
          <a:lstStyle/>
          <a:p>
            <a:pPr marL="17446">
              <a:spcBef>
                <a:spcPts val="157"/>
              </a:spcBef>
            </a:pPr>
            <a:r>
              <a:rPr sz="3503" spc="76" dirty="0">
                <a:latin typeface="Times New Roman"/>
                <a:cs typeface="Times New Roman"/>
              </a:rPr>
              <a:t>)</a:t>
            </a:r>
            <a:r>
              <a:rPr sz="3503" i="1" spc="14" dirty="0">
                <a:latin typeface="Times New Roman"/>
                <a:cs typeface="Times New Roman"/>
              </a:rPr>
              <a:t>P</a:t>
            </a:r>
            <a:endParaRPr sz="3503">
              <a:latin typeface="Times New Roman"/>
              <a:cs typeface="Times New Roman"/>
            </a:endParaRPr>
          </a:p>
        </p:txBody>
      </p:sp>
      <p:sp>
        <p:nvSpPr>
          <p:cNvPr id="17" name="object 17"/>
          <p:cNvSpPr txBox="1"/>
          <p:nvPr/>
        </p:nvSpPr>
        <p:spPr>
          <a:xfrm>
            <a:off x="8837158" y="2964111"/>
            <a:ext cx="2609119" cy="330342"/>
          </a:xfrm>
          <a:prstGeom prst="rect">
            <a:avLst/>
          </a:prstGeom>
        </p:spPr>
        <p:txBody>
          <a:bodyPr vert="horz" wrap="square" lIns="0" tIns="23553" rIns="0" bIns="0" rtlCol="0">
            <a:spAutoFit/>
          </a:bodyPr>
          <a:lstStyle/>
          <a:p>
            <a:pPr marL="17446">
              <a:spcBef>
                <a:spcPts val="185"/>
              </a:spcBef>
              <a:tabLst>
                <a:tab pos="735348" algn="l"/>
              </a:tabLst>
            </a:pPr>
            <a:r>
              <a:rPr sz="1992" i="1" spc="-34" dirty="0">
                <a:latin typeface="Times New Roman"/>
                <a:cs typeface="Times New Roman"/>
              </a:rPr>
              <a:t>i</a:t>
            </a:r>
            <a:r>
              <a:rPr sz="1992" spc="-34" dirty="0">
                <a:latin typeface="Symbol"/>
                <a:cs typeface="Symbol"/>
              </a:rPr>
              <a:t></a:t>
            </a:r>
            <a:r>
              <a:rPr sz="1992" spc="-34" dirty="0">
                <a:latin typeface="Times New Roman"/>
                <a:cs typeface="Times New Roman"/>
              </a:rPr>
              <a:t>1	</a:t>
            </a:r>
            <a:r>
              <a:rPr sz="1992" i="1" spc="7" dirty="0">
                <a:latin typeface="Times New Roman"/>
                <a:cs typeface="Times New Roman"/>
              </a:rPr>
              <a:t>CONTINUATION</a:t>
            </a:r>
            <a:endParaRPr sz="1992">
              <a:latin typeface="Times New Roman"/>
              <a:cs typeface="Times New Roman"/>
            </a:endParaRPr>
          </a:p>
        </p:txBody>
      </p:sp>
      <p:sp>
        <p:nvSpPr>
          <p:cNvPr id="18" name="object 18"/>
          <p:cNvSpPr txBox="1"/>
          <p:nvPr/>
        </p:nvSpPr>
        <p:spPr>
          <a:xfrm>
            <a:off x="11927372" y="2964111"/>
            <a:ext cx="107296" cy="330342"/>
          </a:xfrm>
          <a:prstGeom prst="rect">
            <a:avLst/>
          </a:prstGeom>
        </p:spPr>
        <p:txBody>
          <a:bodyPr vert="horz" wrap="square" lIns="0" tIns="23553" rIns="0" bIns="0" rtlCol="0">
            <a:spAutoFit/>
          </a:bodyPr>
          <a:lstStyle/>
          <a:p>
            <a:pPr marL="17446">
              <a:spcBef>
                <a:spcPts val="185"/>
              </a:spcBef>
            </a:pPr>
            <a:r>
              <a:rPr sz="1992" i="1" spc="7" dirty="0">
                <a:latin typeface="Times New Roman"/>
                <a:cs typeface="Times New Roman"/>
              </a:rPr>
              <a:t>i</a:t>
            </a:r>
            <a:endParaRPr sz="1992">
              <a:latin typeface="Times New Roman"/>
              <a:cs typeface="Times New Roman"/>
            </a:endParaRPr>
          </a:p>
        </p:txBody>
      </p:sp>
      <p:sp>
        <p:nvSpPr>
          <p:cNvPr id="19" name="object 19"/>
          <p:cNvSpPr txBox="1"/>
          <p:nvPr/>
        </p:nvSpPr>
        <p:spPr>
          <a:xfrm>
            <a:off x="11477080" y="2663134"/>
            <a:ext cx="759794" cy="559316"/>
          </a:xfrm>
          <a:prstGeom prst="rect">
            <a:avLst/>
          </a:prstGeom>
        </p:spPr>
        <p:txBody>
          <a:bodyPr vert="horz" wrap="square" lIns="0" tIns="20062" rIns="0" bIns="0" rtlCol="0">
            <a:spAutoFit/>
          </a:bodyPr>
          <a:lstStyle/>
          <a:p>
            <a:pPr marL="17446">
              <a:spcBef>
                <a:spcPts val="157"/>
              </a:spcBef>
            </a:pPr>
            <a:r>
              <a:rPr sz="3503" spc="48" dirty="0">
                <a:latin typeface="Times New Roman"/>
                <a:cs typeface="Times New Roman"/>
              </a:rPr>
              <a:t>(</a:t>
            </a:r>
            <a:r>
              <a:rPr sz="3503" i="1" spc="48" dirty="0">
                <a:latin typeface="Times New Roman"/>
                <a:cs typeface="Times New Roman"/>
              </a:rPr>
              <a:t>w</a:t>
            </a:r>
            <a:r>
              <a:rPr sz="3503" i="1" spc="-69" dirty="0">
                <a:latin typeface="Times New Roman"/>
                <a:cs typeface="Times New Roman"/>
              </a:rPr>
              <a:t> </a:t>
            </a:r>
            <a:r>
              <a:rPr sz="3503" spc="7" dirty="0">
                <a:latin typeface="Times New Roman"/>
                <a:cs typeface="Times New Roman"/>
              </a:rPr>
              <a:t>)</a:t>
            </a:r>
            <a:endParaRPr sz="3503">
              <a:latin typeface="Times New Roman"/>
              <a:cs typeface="Times New Roman"/>
            </a:endParaRPr>
          </a:p>
        </p:txBody>
      </p:sp>
      <p:sp>
        <p:nvSpPr>
          <p:cNvPr id="20" name="object 20"/>
          <p:cNvSpPr txBox="1"/>
          <p:nvPr/>
        </p:nvSpPr>
        <p:spPr>
          <a:xfrm>
            <a:off x="4927066" y="4696507"/>
            <a:ext cx="261697" cy="566438"/>
          </a:xfrm>
          <a:prstGeom prst="rect">
            <a:avLst/>
          </a:prstGeom>
        </p:spPr>
        <p:txBody>
          <a:bodyPr vert="horz" wrap="square" lIns="0" tIns="16574" rIns="0" bIns="0" rtlCol="0">
            <a:spAutoFit/>
          </a:bodyPr>
          <a:lstStyle/>
          <a:p>
            <a:pPr marL="17446">
              <a:spcBef>
                <a:spcPts val="131"/>
              </a:spcBef>
            </a:pPr>
            <a:r>
              <a:rPr sz="3572" i="1" spc="-7" dirty="0">
                <a:latin typeface="Times New Roman"/>
                <a:cs typeface="Times New Roman"/>
              </a:rPr>
              <a:t>d</a:t>
            </a:r>
            <a:endParaRPr sz="3572">
              <a:latin typeface="Times New Roman"/>
              <a:cs typeface="Times New Roman"/>
            </a:endParaRPr>
          </a:p>
        </p:txBody>
      </p:sp>
      <p:sp>
        <p:nvSpPr>
          <p:cNvPr id="21" name="object 21"/>
          <p:cNvSpPr txBox="1"/>
          <p:nvPr/>
        </p:nvSpPr>
        <p:spPr>
          <a:xfrm>
            <a:off x="5132471" y="5633491"/>
            <a:ext cx="364631" cy="334754"/>
          </a:xfrm>
          <a:prstGeom prst="rect">
            <a:avLst/>
          </a:prstGeom>
        </p:spPr>
        <p:txBody>
          <a:bodyPr vert="horz" wrap="square" lIns="0" tIns="17446" rIns="0" bIns="0" rtlCol="0">
            <a:spAutoFit/>
          </a:bodyPr>
          <a:lstStyle/>
          <a:p>
            <a:pPr marL="17446">
              <a:spcBef>
                <a:spcPts val="137"/>
              </a:spcBef>
            </a:pPr>
            <a:r>
              <a:rPr sz="2061" i="1" spc="27" dirty="0">
                <a:latin typeface="Times New Roman"/>
                <a:cs typeface="Times New Roman"/>
              </a:rPr>
              <a:t>i</a:t>
            </a:r>
            <a:r>
              <a:rPr sz="2061" spc="-179" dirty="0">
                <a:latin typeface="Symbol"/>
                <a:cs typeface="Symbol"/>
              </a:rPr>
              <a:t></a:t>
            </a:r>
            <a:r>
              <a:rPr sz="2061" dirty="0">
                <a:latin typeface="Times New Roman"/>
                <a:cs typeface="Times New Roman"/>
              </a:rPr>
              <a:t>1</a:t>
            </a:r>
            <a:endParaRPr sz="2061">
              <a:latin typeface="Times New Roman"/>
              <a:cs typeface="Times New Roman"/>
            </a:endParaRPr>
          </a:p>
        </p:txBody>
      </p:sp>
      <p:sp>
        <p:nvSpPr>
          <p:cNvPr id="22" name="object 22"/>
          <p:cNvSpPr txBox="1"/>
          <p:nvPr/>
        </p:nvSpPr>
        <p:spPr>
          <a:xfrm>
            <a:off x="4469036" y="5329415"/>
            <a:ext cx="1209911" cy="566438"/>
          </a:xfrm>
          <a:prstGeom prst="rect">
            <a:avLst/>
          </a:prstGeom>
        </p:spPr>
        <p:txBody>
          <a:bodyPr vert="horz" wrap="square" lIns="0" tIns="16574" rIns="0" bIns="0" rtlCol="0">
            <a:spAutoFit/>
          </a:bodyPr>
          <a:lstStyle/>
          <a:p>
            <a:pPr marL="17446">
              <a:spcBef>
                <a:spcPts val="131"/>
              </a:spcBef>
              <a:tabLst>
                <a:tab pos="1040653" algn="l"/>
              </a:tabLst>
            </a:pPr>
            <a:r>
              <a:rPr sz="3572" i="1" spc="41" dirty="0">
                <a:latin typeface="Times New Roman"/>
                <a:cs typeface="Times New Roman"/>
              </a:rPr>
              <a:t>c</a:t>
            </a:r>
            <a:r>
              <a:rPr sz="3572" spc="76" dirty="0">
                <a:latin typeface="Times New Roman"/>
                <a:cs typeface="Times New Roman"/>
              </a:rPr>
              <a:t>(</a:t>
            </a:r>
            <a:r>
              <a:rPr sz="3572" i="1" spc="-7" dirty="0">
                <a:latin typeface="Times New Roman"/>
                <a:cs typeface="Times New Roman"/>
              </a:rPr>
              <a:t>w</a:t>
            </a:r>
            <a:r>
              <a:rPr sz="3572" i="1" dirty="0">
                <a:latin typeface="Times New Roman"/>
                <a:cs typeface="Times New Roman"/>
              </a:rPr>
              <a:t>	</a:t>
            </a:r>
            <a:r>
              <a:rPr sz="3572" spc="-7" dirty="0">
                <a:latin typeface="Times New Roman"/>
                <a:cs typeface="Times New Roman"/>
              </a:rPr>
              <a:t>)</a:t>
            </a:r>
            <a:endParaRPr sz="3572">
              <a:latin typeface="Times New Roman"/>
              <a:cs typeface="Times New Roman"/>
            </a:endParaRPr>
          </a:p>
        </p:txBody>
      </p:sp>
      <p:sp>
        <p:nvSpPr>
          <p:cNvPr id="23" name="object 23"/>
          <p:cNvSpPr/>
          <p:nvPr/>
        </p:nvSpPr>
        <p:spPr>
          <a:xfrm>
            <a:off x="4462872" y="5341555"/>
            <a:ext cx="1208168" cy="0"/>
          </a:xfrm>
          <a:custGeom>
            <a:avLst/>
            <a:gdLst/>
            <a:ahLst/>
            <a:cxnLst/>
            <a:rect l="l" t="t" r="r" b="b"/>
            <a:pathLst>
              <a:path w="879475">
                <a:moveTo>
                  <a:pt x="0" y="0"/>
                </a:moveTo>
                <a:lnTo>
                  <a:pt x="879092" y="0"/>
                </a:lnTo>
              </a:path>
            </a:pathLst>
          </a:custGeom>
          <a:ln w="16301">
            <a:solidFill>
              <a:srgbClr val="000000"/>
            </a:solidFill>
          </a:ln>
        </p:spPr>
        <p:txBody>
          <a:bodyPr wrap="square" lIns="0" tIns="0" rIns="0" bIns="0" rtlCol="0"/>
          <a:lstStyle/>
          <a:p>
            <a:endParaRPr sz="2473"/>
          </a:p>
        </p:txBody>
      </p:sp>
      <p:sp>
        <p:nvSpPr>
          <p:cNvPr id="24" name="object 24"/>
          <p:cNvSpPr txBox="1"/>
          <p:nvPr/>
        </p:nvSpPr>
        <p:spPr>
          <a:xfrm>
            <a:off x="7224301" y="5272841"/>
            <a:ext cx="364631" cy="334754"/>
          </a:xfrm>
          <a:prstGeom prst="rect">
            <a:avLst/>
          </a:prstGeom>
        </p:spPr>
        <p:txBody>
          <a:bodyPr vert="horz" wrap="square" lIns="0" tIns="17446" rIns="0" bIns="0" rtlCol="0">
            <a:spAutoFit/>
          </a:bodyPr>
          <a:lstStyle/>
          <a:p>
            <a:pPr marL="17446">
              <a:spcBef>
                <a:spcPts val="137"/>
              </a:spcBef>
            </a:pPr>
            <a:r>
              <a:rPr sz="2061" i="1" spc="27" dirty="0">
                <a:latin typeface="Times New Roman"/>
                <a:cs typeface="Times New Roman"/>
              </a:rPr>
              <a:t>i</a:t>
            </a:r>
            <a:r>
              <a:rPr sz="2061" spc="-179" dirty="0">
                <a:latin typeface="Symbol"/>
                <a:cs typeface="Symbol"/>
              </a:rPr>
              <a:t></a:t>
            </a:r>
            <a:r>
              <a:rPr sz="2061" dirty="0">
                <a:latin typeface="Times New Roman"/>
                <a:cs typeface="Times New Roman"/>
              </a:rPr>
              <a:t>1</a:t>
            </a:r>
            <a:endParaRPr sz="2061">
              <a:latin typeface="Times New Roman"/>
              <a:cs typeface="Times New Roman"/>
            </a:endParaRPr>
          </a:p>
        </p:txBody>
      </p:sp>
      <p:sp>
        <p:nvSpPr>
          <p:cNvPr id="25" name="object 25"/>
          <p:cNvSpPr txBox="1"/>
          <p:nvPr/>
        </p:nvSpPr>
        <p:spPr>
          <a:xfrm>
            <a:off x="2721512" y="4954789"/>
            <a:ext cx="6398491" cy="582174"/>
          </a:xfrm>
          <a:prstGeom prst="rect">
            <a:avLst/>
          </a:prstGeom>
        </p:spPr>
        <p:txBody>
          <a:bodyPr vert="horz" wrap="square" lIns="0" tIns="21808" rIns="0" bIns="0" rtlCol="0">
            <a:spAutoFit/>
          </a:bodyPr>
          <a:lstStyle/>
          <a:p>
            <a:pPr marL="69784">
              <a:spcBef>
                <a:spcPts val="172"/>
              </a:spcBef>
              <a:tabLst>
                <a:tab pos="3062644" algn="l"/>
                <a:tab pos="4843878" algn="l"/>
              </a:tabLst>
            </a:pPr>
            <a:r>
              <a:rPr sz="3640" spc="179" dirty="0">
                <a:latin typeface="Symbol"/>
                <a:cs typeface="Symbol"/>
              </a:rPr>
              <a:t></a:t>
            </a:r>
            <a:r>
              <a:rPr sz="3572" spc="76" dirty="0">
                <a:latin typeface="Times New Roman"/>
                <a:cs typeface="Times New Roman"/>
              </a:rPr>
              <a:t>(</a:t>
            </a:r>
            <a:r>
              <a:rPr sz="3572" i="1" spc="-76" dirty="0">
                <a:latin typeface="Times New Roman"/>
                <a:cs typeface="Times New Roman"/>
              </a:rPr>
              <a:t>w</a:t>
            </a:r>
            <a:r>
              <a:rPr sz="3091" i="1" spc="41" baseline="-24074" dirty="0">
                <a:latin typeface="Times New Roman"/>
                <a:cs typeface="Times New Roman"/>
              </a:rPr>
              <a:t>i</a:t>
            </a:r>
            <a:r>
              <a:rPr sz="3091" spc="-268" baseline="-24074" dirty="0">
                <a:latin typeface="Symbol"/>
                <a:cs typeface="Symbol"/>
              </a:rPr>
              <a:t></a:t>
            </a:r>
            <a:r>
              <a:rPr sz="3091" baseline="-24074" dirty="0">
                <a:latin typeface="Times New Roman"/>
                <a:cs typeface="Times New Roman"/>
              </a:rPr>
              <a:t>1</a:t>
            </a:r>
            <a:r>
              <a:rPr sz="3091" spc="-412" baseline="-24074" dirty="0">
                <a:latin typeface="Times New Roman"/>
                <a:cs typeface="Times New Roman"/>
              </a:rPr>
              <a:t> </a:t>
            </a:r>
            <a:r>
              <a:rPr sz="3572" spc="-7" dirty="0">
                <a:latin typeface="Times New Roman"/>
                <a:cs typeface="Times New Roman"/>
              </a:rPr>
              <a:t>)</a:t>
            </a:r>
            <a:r>
              <a:rPr sz="3572" spc="-288" dirty="0">
                <a:latin typeface="Times New Roman"/>
                <a:cs typeface="Times New Roman"/>
              </a:rPr>
              <a:t> </a:t>
            </a:r>
            <a:r>
              <a:rPr sz="3572" spc="-7" dirty="0">
                <a:latin typeface="Symbol"/>
                <a:cs typeface="Symbol"/>
              </a:rPr>
              <a:t></a:t>
            </a:r>
            <a:r>
              <a:rPr sz="3572" dirty="0">
                <a:latin typeface="Times New Roman"/>
                <a:cs typeface="Times New Roman"/>
              </a:rPr>
              <a:t>	</a:t>
            </a:r>
            <a:r>
              <a:rPr sz="3572" spc="-7" dirty="0">
                <a:latin typeface="Times New Roman"/>
                <a:cs typeface="Times New Roman"/>
              </a:rPr>
              <a:t>{</a:t>
            </a:r>
            <a:r>
              <a:rPr sz="3572" i="1" spc="-7" dirty="0">
                <a:latin typeface="Times New Roman"/>
                <a:cs typeface="Times New Roman"/>
              </a:rPr>
              <a:t>w</a:t>
            </a:r>
            <a:r>
              <a:rPr sz="3572" i="1" spc="-254" dirty="0">
                <a:latin typeface="Times New Roman"/>
                <a:cs typeface="Times New Roman"/>
              </a:rPr>
              <a:t> </a:t>
            </a:r>
            <a:r>
              <a:rPr sz="3572" spc="-7" dirty="0">
                <a:latin typeface="Times New Roman"/>
                <a:cs typeface="Times New Roman"/>
              </a:rPr>
              <a:t>:</a:t>
            </a:r>
            <a:r>
              <a:rPr sz="3572" spc="-385" dirty="0">
                <a:latin typeface="Times New Roman"/>
                <a:cs typeface="Times New Roman"/>
              </a:rPr>
              <a:t> </a:t>
            </a:r>
            <a:r>
              <a:rPr sz="3572" i="1" spc="41" dirty="0">
                <a:latin typeface="Times New Roman"/>
                <a:cs typeface="Times New Roman"/>
              </a:rPr>
              <a:t>c</a:t>
            </a:r>
            <a:r>
              <a:rPr sz="3572" spc="76" dirty="0">
                <a:latin typeface="Times New Roman"/>
                <a:cs typeface="Times New Roman"/>
              </a:rPr>
              <a:t>(</a:t>
            </a:r>
            <a:r>
              <a:rPr sz="3572" i="1" spc="-7" dirty="0">
                <a:latin typeface="Times New Roman"/>
                <a:cs typeface="Times New Roman"/>
              </a:rPr>
              <a:t>w</a:t>
            </a:r>
            <a:r>
              <a:rPr sz="3572" i="1" dirty="0">
                <a:latin typeface="Times New Roman"/>
                <a:cs typeface="Times New Roman"/>
              </a:rPr>
              <a:t>	</a:t>
            </a:r>
            <a:r>
              <a:rPr sz="3572" spc="-7" dirty="0">
                <a:latin typeface="Times New Roman"/>
                <a:cs typeface="Times New Roman"/>
              </a:rPr>
              <a:t>,</a:t>
            </a:r>
            <a:r>
              <a:rPr sz="3572" spc="-405" dirty="0">
                <a:latin typeface="Times New Roman"/>
                <a:cs typeface="Times New Roman"/>
              </a:rPr>
              <a:t> </a:t>
            </a:r>
            <a:r>
              <a:rPr sz="3572" i="1" spc="103" dirty="0">
                <a:latin typeface="Times New Roman"/>
                <a:cs typeface="Times New Roman"/>
              </a:rPr>
              <a:t>w</a:t>
            </a:r>
            <a:r>
              <a:rPr sz="3572" spc="-7" dirty="0">
                <a:latin typeface="Times New Roman"/>
                <a:cs typeface="Times New Roman"/>
              </a:rPr>
              <a:t>)</a:t>
            </a:r>
            <a:r>
              <a:rPr sz="3572" spc="-309" dirty="0">
                <a:latin typeface="Times New Roman"/>
                <a:cs typeface="Times New Roman"/>
              </a:rPr>
              <a:t> </a:t>
            </a:r>
            <a:r>
              <a:rPr sz="3572" spc="-7" dirty="0">
                <a:latin typeface="Symbol"/>
                <a:cs typeface="Symbol"/>
              </a:rPr>
              <a:t></a:t>
            </a:r>
            <a:r>
              <a:rPr sz="3572" spc="-172" dirty="0">
                <a:latin typeface="Times New Roman"/>
                <a:cs typeface="Times New Roman"/>
              </a:rPr>
              <a:t> </a:t>
            </a:r>
            <a:r>
              <a:rPr sz="3572" spc="-27" dirty="0">
                <a:latin typeface="Times New Roman"/>
                <a:cs typeface="Times New Roman"/>
              </a:rPr>
              <a:t>0</a:t>
            </a:r>
            <a:r>
              <a:rPr sz="3572" spc="-7" dirty="0">
                <a:latin typeface="Times New Roman"/>
                <a:cs typeface="Times New Roman"/>
              </a:rPr>
              <a:t>}</a:t>
            </a:r>
            <a:endParaRPr sz="3572">
              <a:latin typeface="Times New Roman"/>
              <a:cs typeface="Times New Roman"/>
            </a:endParaRPr>
          </a:p>
        </p:txBody>
      </p:sp>
      <p:sp>
        <p:nvSpPr>
          <p:cNvPr id="26" name="object 26"/>
          <p:cNvSpPr/>
          <p:nvPr/>
        </p:nvSpPr>
        <p:spPr>
          <a:xfrm>
            <a:off x="5753738" y="5063996"/>
            <a:ext cx="0" cy="542585"/>
          </a:xfrm>
          <a:custGeom>
            <a:avLst/>
            <a:gdLst/>
            <a:ahLst/>
            <a:cxnLst/>
            <a:rect l="l" t="t" r="r" b="b"/>
            <a:pathLst>
              <a:path h="394970">
                <a:moveTo>
                  <a:pt x="0" y="0"/>
                </a:moveTo>
                <a:lnTo>
                  <a:pt x="0" y="394657"/>
                </a:lnTo>
              </a:path>
            </a:pathLst>
          </a:custGeom>
          <a:ln w="16327">
            <a:solidFill>
              <a:srgbClr val="000000"/>
            </a:solidFill>
          </a:ln>
        </p:spPr>
        <p:txBody>
          <a:bodyPr wrap="square" lIns="0" tIns="0" rIns="0" bIns="0" rtlCol="0"/>
          <a:lstStyle/>
          <a:p>
            <a:endParaRPr sz="2473"/>
          </a:p>
        </p:txBody>
      </p:sp>
      <p:sp>
        <p:nvSpPr>
          <p:cNvPr id="27" name="object 27"/>
          <p:cNvSpPr/>
          <p:nvPr/>
        </p:nvSpPr>
        <p:spPr>
          <a:xfrm>
            <a:off x="9096888" y="5063996"/>
            <a:ext cx="0" cy="542585"/>
          </a:xfrm>
          <a:custGeom>
            <a:avLst/>
            <a:gdLst/>
            <a:ahLst/>
            <a:cxnLst/>
            <a:rect l="l" t="t" r="r" b="b"/>
            <a:pathLst>
              <a:path h="394970">
                <a:moveTo>
                  <a:pt x="0" y="0"/>
                </a:moveTo>
                <a:lnTo>
                  <a:pt x="0" y="394657"/>
                </a:lnTo>
              </a:path>
            </a:pathLst>
          </a:custGeom>
          <a:ln w="16327">
            <a:solidFill>
              <a:srgbClr val="000000"/>
            </a:solidFill>
          </a:ln>
        </p:spPr>
        <p:txBody>
          <a:bodyPr wrap="square" lIns="0" tIns="0" rIns="0" bIns="0" rtlCol="0"/>
          <a:lstStyle/>
          <a:p>
            <a:endParaRPr sz="2473"/>
          </a:p>
        </p:txBody>
      </p:sp>
      <p:sp>
        <p:nvSpPr>
          <p:cNvPr id="28" name="object 28"/>
          <p:cNvSpPr txBox="1"/>
          <p:nvPr/>
        </p:nvSpPr>
        <p:spPr>
          <a:xfrm>
            <a:off x="1364313" y="4034811"/>
            <a:ext cx="8485088" cy="398170"/>
          </a:xfrm>
          <a:prstGeom prst="rect">
            <a:avLst/>
          </a:prstGeom>
        </p:spPr>
        <p:txBody>
          <a:bodyPr vert="horz" wrap="square" lIns="0" tIns="17446" rIns="0" bIns="0" rtlCol="0">
            <a:spAutoFit/>
          </a:bodyPr>
          <a:lstStyle/>
          <a:p>
            <a:pPr marL="17446">
              <a:spcBef>
                <a:spcPts val="137"/>
              </a:spcBef>
            </a:pPr>
            <a:r>
              <a:rPr sz="2473" dirty="0">
                <a:latin typeface="Calibri"/>
                <a:cs typeface="Calibri"/>
              </a:rPr>
              <a:t>λ</a:t>
            </a:r>
            <a:r>
              <a:rPr sz="2473" spc="14" dirty="0">
                <a:latin typeface="Calibri"/>
                <a:cs typeface="Calibri"/>
              </a:rPr>
              <a:t> </a:t>
            </a:r>
            <a:r>
              <a:rPr sz="2473" dirty="0">
                <a:latin typeface="Calibri"/>
                <a:cs typeface="Calibri"/>
              </a:rPr>
              <a:t>is</a:t>
            </a:r>
            <a:r>
              <a:rPr sz="2473" spc="14" dirty="0">
                <a:latin typeface="Calibri"/>
                <a:cs typeface="Calibri"/>
              </a:rPr>
              <a:t> </a:t>
            </a:r>
            <a:r>
              <a:rPr sz="2473" dirty="0">
                <a:latin typeface="Calibri"/>
                <a:cs typeface="Calibri"/>
              </a:rPr>
              <a:t>a</a:t>
            </a:r>
            <a:r>
              <a:rPr sz="2473" spc="14" dirty="0">
                <a:latin typeface="Calibri"/>
                <a:cs typeface="Calibri"/>
              </a:rPr>
              <a:t> </a:t>
            </a:r>
            <a:r>
              <a:rPr sz="2473" spc="-7" dirty="0">
                <a:latin typeface="Calibri"/>
                <a:cs typeface="Calibri"/>
              </a:rPr>
              <a:t>normalizing</a:t>
            </a:r>
            <a:r>
              <a:rPr sz="2473" spc="14" dirty="0">
                <a:latin typeface="Calibri"/>
                <a:cs typeface="Calibri"/>
              </a:rPr>
              <a:t> </a:t>
            </a:r>
            <a:r>
              <a:rPr sz="2473" spc="-7" dirty="0">
                <a:latin typeface="Calibri"/>
                <a:cs typeface="Calibri"/>
              </a:rPr>
              <a:t>constant;</a:t>
            </a:r>
            <a:r>
              <a:rPr sz="2473" spc="7" dirty="0">
                <a:latin typeface="Calibri"/>
                <a:cs typeface="Calibri"/>
              </a:rPr>
              <a:t> </a:t>
            </a:r>
            <a:r>
              <a:rPr sz="2473" dirty="0">
                <a:latin typeface="Calibri"/>
                <a:cs typeface="Calibri"/>
              </a:rPr>
              <a:t>the</a:t>
            </a:r>
            <a:r>
              <a:rPr sz="2473" spc="14" dirty="0">
                <a:latin typeface="Calibri"/>
                <a:cs typeface="Calibri"/>
              </a:rPr>
              <a:t> </a:t>
            </a:r>
            <a:r>
              <a:rPr sz="2473" spc="-7" dirty="0">
                <a:latin typeface="Calibri"/>
                <a:cs typeface="Calibri"/>
              </a:rPr>
              <a:t>probability</a:t>
            </a:r>
            <a:r>
              <a:rPr sz="2473" spc="7" dirty="0">
                <a:latin typeface="Calibri"/>
                <a:cs typeface="Calibri"/>
              </a:rPr>
              <a:t> </a:t>
            </a:r>
            <a:r>
              <a:rPr sz="2473" spc="-7" dirty="0">
                <a:latin typeface="Calibri"/>
                <a:cs typeface="Calibri"/>
              </a:rPr>
              <a:t>mass</a:t>
            </a:r>
            <a:r>
              <a:rPr sz="2473" spc="21" dirty="0">
                <a:latin typeface="Calibri"/>
                <a:cs typeface="Calibri"/>
              </a:rPr>
              <a:t> </a:t>
            </a:r>
            <a:r>
              <a:rPr sz="2473" spc="-7" dirty="0">
                <a:latin typeface="Calibri"/>
                <a:cs typeface="Calibri"/>
              </a:rPr>
              <a:t>we’ve</a:t>
            </a:r>
            <a:r>
              <a:rPr sz="2473" spc="14" dirty="0">
                <a:latin typeface="Calibri"/>
                <a:cs typeface="Calibri"/>
              </a:rPr>
              <a:t> </a:t>
            </a:r>
            <a:r>
              <a:rPr sz="2473" spc="-7" dirty="0">
                <a:latin typeface="Calibri"/>
                <a:cs typeface="Calibri"/>
              </a:rPr>
              <a:t>discounted</a:t>
            </a:r>
            <a:endParaRPr sz="2473">
              <a:latin typeface="Calibri"/>
              <a:cs typeface="Calibri"/>
            </a:endParaRPr>
          </a:p>
        </p:txBody>
      </p:sp>
      <p:sp>
        <p:nvSpPr>
          <p:cNvPr id="29" name="object 29"/>
          <p:cNvSpPr txBox="1"/>
          <p:nvPr/>
        </p:nvSpPr>
        <p:spPr>
          <a:xfrm>
            <a:off x="1678349" y="6442424"/>
            <a:ext cx="3334892" cy="355850"/>
          </a:xfrm>
          <a:prstGeom prst="rect">
            <a:avLst/>
          </a:prstGeom>
        </p:spPr>
        <p:txBody>
          <a:bodyPr vert="horz" wrap="square" lIns="0" tIns="17446" rIns="0" bIns="0" rtlCol="0">
            <a:spAutoFit/>
          </a:bodyPr>
          <a:lstStyle/>
          <a:p>
            <a:pPr marL="17446">
              <a:spcBef>
                <a:spcPts val="137"/>
              </a:spcBef>
            </a:pPr>
            <a:r>
              <a:rPr sz="2198" spc="-7" dirty="0">
                <a:solidFill>
                  <a:srgbClr val="FF0000"/>
                </a:solidFill>
                <a:latin typeface="Lucida Sans Unicode"/>
                <a:cs typeface="Lucida Sans Unicode"/>
              </a:rPr>
              <a:t>the</a:t>
            </a:r>
            <a:r>
              <a:rPr sz="2198" spc="-41" dirty="0">
                <a:solidFill>
                  <a:srgbClr val="FF0000"/>
                </a:solidFill>
                <a:latin typeface="Lucida Sans Unicode"/>
                <a:cs typeface="Lucida Sans Unicode"/>
              </a:rPr>
              <a:t> </a:t>
            </a:r>
            <a:r>
              <a:rPr sz="2198" spc="-7" dirty="0">
                <a:solidFill>
                  <a:srgbClr val="FF0000"/>
                </a:solidFill>
                <a:latin typeface="Lucida Sans Unicode"/>
                <a:cs typeface="Lucida Sans Unicode"/>
              </a:rPr>
              <a:t>normalized</a:t>
            </a:r>
            <a:r>
              <a:rPr sz="2198" spc="-27" dirty="0">
                <a:solidFill>
                  <a:srgbClr val="FF0000"/>
                </a:solidFill>
                <a:latin typeface="Lucida Sans Unicode"/>
                <a:cs typeface="Lucida Sans Unicode"/>
              </a:rPr>
              <a:t> </a:t>
            </a:r>
            <a:r>
              <a:rPr sz="2198" dirty="0">
                <a:solidFill>
                  <a:srgbClr val="FF0000"/>
                </a:solidFill>
                <a:latin typeface="Lucida Sans Unicode"/>
                <a:cs typeface="Lucida Sans Unicode"/>
              </a:rPr>
              <a:t>discount</a:t>
            </a:r>
            <a:endParaRPr sz="2198">
              <a:latin typeface="Lucida Sans Unicode"/>
              <a:cs typeface="Lucida Sans Unicode"/>
            </a:endParaRPr>
          </a:p>
        </p:txBody>
      </p:sp>
      <p:sp>
        <p:nvSpPr>
          <p:cNvPr id="30" name="object 30"/>
          <p:cNvSpPr txBox="1"/>
          <p:nvPr/>
        </p:nvSpPr>
        <p:spPr>
          <a:xfrm>
            <a:off x="6354002" y="6233065"/>
            <a:ext cx="5542742" cy="903436"/>
          </a:xfrm>
          <a:prstGeom prst="rect">
            <a:avLst/>
          </a:prstGeom>
        </p:spPr>
        <p:txBody>
          <a:bodyPr vert="horz" wrap="square" lIns="0" tIns="17446" rIns="0" bIns="0" rtlCol="0">
            <a:spAutoFit/>
          </a:bodyPr>
          <a:lstStyle/>
          <a:p>
            <a:pPr marL="52338">
              <a:lnSpc>
                <a:spcPts val="2251"/>
              </a:lnSpc>
              <a:spcBef>
                <a:spcPts val="137"/>
              </a:spcBef>
            </a:pPr>
            <a:r>
              <a:rPr sz="1923" dirty="0">
                <a:solidFill>
                  <a:srgbClr val="FF0000"/>
                </a:solidFill>
                <a:latin typeface="Lucida Sans Unicode"/>
                <a:cs typeface="Lucida Sans Unicode"/>
              </a:rPr>
              <a:t>The</a:t>
            </a:r>
            <a:r>
              <a:rPr sz="1923" spc="-14" dirty="0">
                <a:solidFill>
                  <a:srgbClr val="FF0000"/>
                </a:solidFill>
                <a:latin typeface="Lucida Sans Unicode"/>
                <a:cs typeface="Lucida Sans Unicode"/>
              </a:rPr>
              <a:t> </a:t>
            </a:r>
            <a:r>
              <a:rPr sz="1923" dirty="0">
                <a:solidFill>
                  <a:srgbClr val="FF0000"/>
                </a:solidFill>
                <a:latin typeface="Lucida Sans Unicode"/>
                <a:cs typeface="Lucida Sans Unicode"/>
              </a:rPr>
              <a:t>number</a:t>
            </a:r>
            <a:r>
              <a:rPr sz="1923" spc="-14" dirty="0">
                <a:solidFill>
                  <a:srgbClr val="FF0000"/>
                </a:solidFill>
                <a:latin typeface="Lucida Sans Unicode"/>
                <a:cs typeface="Lucida Sans Unicode"/>
              </a:rPr>
              <a:t> </a:t>
            </a:r>
            <a:r>
              <a:rPr sz="1923" dirty="0">
                <a:solidFill>
                  <a:srgbClr val="FF0000"/>
                </a:solidFill>
                <a:latin typeface="Lucida Sans Unicode"/>
                <a:cs typeface="Lucida Sans Unicode"/>
              </a:rPr>
              <a:t>of</a:t>
            </a:r>
            <a:r>
              <a:rPr sz="1923" spc="-7" dirty="0">
                <a:solidFill>
                  <a:srgbClr val="FF0000"/>
                </a:solidFill>
                <a:latin typeface="Lucida Sans Unicode"/>
                <a:cs typeface="Lucida Sans Unicode"/>
              </a:rPr>
              <a:t> </a:t>
            </a:r>
            <a:r>
              <a:rPr sz="1923" dirty="0">
                <a:solidFill>
                  <a:srgbClr val="FF0000"/>
                </a:solidFill>
                <a:latin typeface="Lucida Sans Unicode"/>
                <a:cs typeface="Lucida Sans Unicode"/>
              </a:rPr>
              <a:t>word</a:t>
            </a:r>
            <a:r>
              <a:rPr sz="1923" spc="-14" dirty="0">
                <a:solidFill>
                  <a:srgbClr val="FF0000"/>
                </a:solidFill>
                <a:latin typeface="Lucida Sans Unicode"/>
                <a:cs typeface="Lucida Sans Unicode"/>
              </a:rPr>
              <a:t> </a:t>
            </a:r>
            <a:r>
              <a:rPr sz="1923" dirty="0">
                <a:solidFill>
                  <a:srgbClr val="FF0000"/>
                </a:solidFill>
                <a:latin typeface="Lucida Sans Unicode"/>
                <a:cs typeface="Lucida Sans Unicode"/>
              </a:rPr>
              <a:t>types</a:t>
            </a:r>
            <a:r>
              <a:rPr sz="1923" spc="-14" dirty="0">
                <a:solidFill>
                  <a:srgbClr val="FF0000"/>
                </a:solidFill>
                <a:latin typeface="Lucida Sans Unicode"/>
                <a:cs typeface="Lucida Sans Unicode"/>
              </a:rPr>
              <a:t> </a:t>
            </a:r>
            <a:r>
              <a:rPr sz="1923" spc="-7" dirty="0">
                <a:solidFill>
                  <a:srgbClr val="FF0000"/>
                </a:solidFill>
                <a:latin typeface="Lucida Sans Unicode"/>
                <a:cs typeface="Lucida Sans Unicode"/>
              </a:rPr>
              <a:t>that</a:t>
            </a:r>
            <a:r>
              <a:rPr sz="1923" spc="-14" dirty="0">
                <a:solidFill>
                  <a:srgbClr val="FF0000"/>
                </a:solidFill>
                <a:latin typeface="Lucida Sans Unicode"/>
                <a:cs typeface="Lucida Sans Unicode"/>
              </a:rPr>
              <a:t> </a:t>
            </a:r>
            <a:r>
              <a:rPr sz="1923" spc="-7" dirty="0">
                <a:solidFill>
                  <a:srgbClr val="FF0000"/>
                </a:solidFill>
                <a:latin typeface="Lucida Sans Unicode"/>
                <a:cs typeface="Lucida Sans Unicode"/>
              </a:rPr>
              <a:t>can</a:t>
            </a:r>
            <a:r>
              <a:rPr sz="1923" spc="-14" dirty="0">
                <a:solidFill>
                  <a:srgbClr val="FF0000"/>
                </a:solidFill>
                <a:latin typeface="Lucida Sans Unicode"/>
                <a:cs typeface="Lucida Sans Unicode"/>
              </a:rPr>
              <a:t> </a:t>
            </a:r>
            <a:r>
              <a:rPr sz="1923" dirty="0">
                <a:solidFill>
                  <a:srgbClr val="FF0000"/>
                </a:solidFill>
                <a:latin typeface="Lucida Sans Unicode"/>
                <a:cs typeface="Lucida Sans Unicode"/>
              </a:rPr>
              <a:t>follow</a:t>
            </a:r>
            <a:r>
              <a:rPr sz="1923" spc="-14" dirty="0">
                <a:solidFill>
                  <a:srgbClr val="FF0000"/>
                </a:solidFill>
                <a:latin typeface="Lucida Sans Unicode"/>
                <a:cs typeface="Lucida Sans Unicode"/>
              </a:rPr>
              <a:t> </a:t>
            </a:r>
            <a:r>
              <a:rPr sz="1923" spc="-69" dirty="0">
                <a:solidFill>
                  <a:srgbClr val="FF0000"/>
                </a:solidFill>
                <a:latin typeface="Lucida Sans Unicode"/>
                <a:cs typeface="Lucida Sans Unicode"/>
              </a:rPr>
              <a:t>w</a:t>
            </a:r>
            <a:r>
              <a:rPr sz="1854" spc="-103" baseline="-21604" dirty="0">
                <a:solidFill>
                  <a:srgbClr val="FF2600"/>
                </a:solidFill>
                <a:latin typeface="Lucida Sans Unicode"/>
                <a:cs typeface="Lucida Sans Unicode"/>
              </a:rPr>
              <a:t>i-1</a:t>
            </a:r>
            <a:endParaRPr sz="1854" baseline="-21604" dirty="0">
              <a:latin typeface="Lucida Sans Unicode"/>
              <a:cs typeface="Lucida Sans Unicode"/>
            </a:endParaRPr>
          </a:p>
          <a:p>
            <a:pPr marL="52338">
              <a:lnSpc>
                <a:spcPts val="2251"/>
              </a:lnSpc>
            </a:pPr>
            <a:r>
              <a:rPr sz="1923" dirty="0">
                <a:solidFill>
                  <a:srgbClr val="FF0000"/>
                </a:solidFill>
                <a:latin typeface="Lucida Sans Unicode"/>
                <a:cs typeface="Lucida Sans Unicode"/>
              </a:rPr>
              <a:t>= # of word types we discounted</a:t>
            </a:r>
          </a:p>
          <a:p>
            <a:pPr marL="52338">
              <a:spcBef>
                <a:spcPts val="27"/>
              </a:spcBef>
            </a:pPr>
            <a:r>
              <a:rPr sz="1923" dirty="0">
                <a:solidFill>
                  <a:srgbClr val="FF0000"/>
                </a:solidFill>
                <a:latin typeface="Lucida Sans Unicode"/>
                <a:cs typeface="Lucida Sans Unicode"/>
              </a:rPr>
              <a:t>= # of times we applied normalized discount</a:t>
            </a:r>
          </a:p>
        </p:txBody>
      </p:sp>
      <p:grpSp>
        <p:nvGrpSpPr>
          <p:cNvPr id="31" name="object 31"/>
          <p:cNvGrpSpPr/>
          <p:nvPr/>
        </p:nvGrpSpPr>
        <p:grpSpPr>
          <a:xfrm>
            <a:off x="3866572" y="5768991"/>
            <a:ext cx="425694" cy="530373"/>
            <a:chOff x="2814637" y="5256761"/>
            <a:chExt cx="309880" cy="386080"/>
          </a:xfrm>
        </p:grpSpPr>
        <p:sp>
          <p:nvSpPr>
            <p:cNvPr id="32" name="object 32"/>
            <p:cNvSpPr/>
            <p:nvPr/>
          </p:nvSpPr>
          <p:spPr>
            <a:xfrm>
              <a:off x="2819399" y="5276443"/>
              <a:ext cx="289560" cy="361315"/>
            </a:xfrm>
            <a:custGeom>
              <a:avLst/>
              <a:gdLst/>
              <a:ahLst/>
              <a:cxnLst/>
              <a:rect l="l" t="t" r="r" b="b"/>
              <a:pathLst>
                <a:path w="289560" h="361314">
                  <a:moveTo>
                    <a:pt x="0" y="361318"/>
                  </a:moveTo>
                  <a:lnTo>
                    <a:pt x="289054" y="0"/>
                  </a:lnTo>
                </a:path>
              </a:pathLst>
            </a:custGeom>
            <a:ln w="9524">
              <a:solidFill>
                <a:srgbClr val="000000"/>
              </a:solidFill>
            </a:ln>
          </p:spPr>
          <p:txBody>
            <a:bodyPr wrap="square" lIns="0" tIns="0" rIns="0" bIns="0" rtlCol="0"/>
            <a:lstStyle/>
            <a:p>
              <a:endParaRPr sz="2473"/>
            </a:p>
          </p:txBody>
        </p:sp>
        <p:pic>
          <p:nvPicPr>
            <p:cNvPr id="33" name="object 33"/>
            <p:cNvPicPr/>
            <p:nvPr/>
          </p:nvPicPr>
          <p:blipFill>
            <a:blip r:embed="rId3" cstate="print"/>
            <a:stretch>
              <a:fillRect/>
            </a:stretch>
          </p:blipFill>
          <p:spPr>
            <a:xfrm>
              <a:off x="3011769" y="5256761"/>
              <a:ext cx="112430" cy="120539"/>
            </a:xfrm>
            <a:prstGeom prst="rect">
              <a:avLst/>
            </a:prstGeom>
          </p:spPr>
        </p:pic>
      </p:grpSp>
      <p:grpSp>
        <p:nvGrpSpPr>
          <p:cNvPr id="34" name="object 34"/>
          <p:cNvGrpSpPr/>
          <p:nvPr/>
        </p:nvGrpSpPr>
        <p:grpSpPr>
          <a:xfrm>
            <a:off x="6961290" y="5768991"/>
            <a:ext cx="163997" cy="530373"/>
            <a:chOff x="5067410" y="5256761"/>
            <a:chExt cx="119380" cy="386080"/>
          </a:xfrm>
        </p:grpSpPr>
        <p:sp>
          <p:nvSpPr>
            <p:cNvPr id="35" name="object 35"/>
            <p:cNvSpPr/>
            <p:nvPr/>
          </p:nvSpPr>
          <p:spPr>
            <a:xfrm>
              <a:off x="5110341" y="5281476"/>
              <a:ext cx="71755" cy="356870"/>
            </a:xfrm>
            <a:custGeom>
              <a:avLst/>
              <a:gdLst/>
              <a:ahLst/>
              <a:cxnLst/>
              <a:rect l="l" t="t" r="r" b="b"/>
              <a:pathLst>
                <a:path w="71754" h="356870">
                  <a:moveTo>
                    <a:pt x="71256" y="356284"/>
                  </a:moveTo>
                  <a:lnTo>
                    <a:pt x="0" y="0"/>
                  </a:lnTo>
                </a:path>
              </a:pathLst>
            </a:custGeom>
            <a:ln w="9524">
              <a:solidFill>
                <a:srgbClr val="000000"/>
              </a:solidFill>
            </a:ln>
          </p:spPr>
          <p:txBody>
            <a:bodyPr wrap="square" lIns="0" tIns="0" rIns="0" bIns="0" rtlCol="0"/>
            <a:lstStyle/>
            <a:p>
              <a:endParaRPr sz="2473"/>
            </a:p>
          </p:txBody>
        </p:sp>
        <p:pic>
          <p:nvPicPr>
            <p:cNvPr id="36" name="object 36"/>
            <p:cNvPicPr/>
            <p:nvPr/>
          </p:nvPicPr>
          <p:blipFill>
            <a:blip r:embed="rId4" cstate="print"/>
            <a:stretch>
              <a:fillRect/>
            </a:stretch>
          </p:blipFill>
          <p:spPr>
            <a:xfrm>
              <a:off x="5067410" y="5256761"/>
              <a:ext cx="115618" cy="122441"/>
            </a:xfrm>
            <a:prstGeom prst="rect">
              <a:avLst/>
            </a:prstGeom>
          </p:spPr>
        </p:pic>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8039" y="402983"/>
            <a:ext cx="1018001" cy="250116"/>
          </a:xfrm>
          <a:prstGeom prst="rect">
            <a:avLst/>
          </a:prstGeom>
        </p:spPr>
        <p:txBody>
          <a:bodyPr vert="horz" wrap="square" lIns="0" tIns="17446" rIns="0" bIns="0" rtlCol="0">
            <a:spAutoFit/>
          </a:bodyPr>
          <a:lstStyle/>
          <a:p>
            <a:pPr marL="17446">
              <a:spcBef>
                <a:spcPts val="137"/>
              </a:spcBef>
            </a:pPr>
            <a:r>
              <a:rPr sz="1511" dirty="0">
                <a:solidFill>
                  <a:srgbClr val="A4001D"/>
                </a:solidFill>
                <a:latin typeface="Calibri"/>
                <a:cs typeface="Calibri"/>
              </a:rPr>
              <a:t>Dan</a:t>
            </a:r>
            <a:r>
              <a:rPr sz="1511" spc="-69" dirty="0">
                <a:solidFill>
                  <a:srgbClr val="A4001D"/>
                </a:solidFill>
                <a:latin typeface="Calibri"/>
                <a:cs typeface="Calibri"/>
              </a:rPr>
              <a:t> </a:t>
            </a:r>
            <a:r>
              <a:rPr sz="1511" spc="-7" dirty="0">
                <a:solidFill>
                  <a:srgbClr val="A4001D"/>
                </a:solidFill>
                <a:latin typeface="Calibri"/>
                <a:cs typeface="Calibri"/>
              </a:rPr>
              <a:t>Jurafsky</a:t>
            </a:r>
            <a:endParaRPr sz="1511">
              <a:latin typeface="Calibri"/>
              <a:cs typeface="Calibri"/>
            </a:endParaRPr>
          </a:p>
        </p:txBody>
      </p:sp>
      <p:grpSp>
        <p:nvGrpSpPr>
          <p:cNvPr id="3" name="object 3"/>
          <p:cNvGrpSpPr/>
          <p:nvPr/>
        </p:nvGrpSpPr>
        <p:grpSpPr>
          <a:xfrm>
            <a:off x="621527" y="345321"/>
            <a:ext cx="75891" cy="7078903"/>
            <a:chOff x="452435" y="1308648"/>
            <a:chExt cx="55244" cy="5153025"/>
          </a:xfrm>
        </p:grpSpPr>
        <p:sp>
          <p:nvSpPr>
            <p:cNvPr id="4" name="object 4"/>
            <p:cNvSpPr/>
            <p:nvPr/>
          </p:nvSpPr>
          <p:spPr>
            <a:xfrm>
              <a:off x="457197" y="1313411"/>
              <a:ext cx="45720" cy="5143500"/>
            </a:xfrm>
            <a:custGeom>
              <a:avLst/>
              <a:gdLst/>
              <a:ahLst/>
              <a:cxnLst/>
              <a:rect l="l" t="t" r="r" b="b"/>
              <a:pathLst>
                <a:path w="45720" h="5143500">
                  <a:moveTo>
                    <a:pt x="45719" y="0"/>
                  </a:moveTo>
                  <a:lnTo>
                    <a:pt x="0" y="0"/>
                  </a:lnTo>
                  <a:lnTo>
                    <a:pt x="0" y="5143500"/>
                  </a:lnTo>
                  <a:lnTo>
                    <a:pt x="45719" y="5143500"/>
                  </a:lnTo>
                  <a:lnTo>
                    <a:pt x="45719" y="0"/>
                  </a:lnTo>
                  <a:close/>
                </a:path>
              </a:pathLst>
            </a:custGeom>
            <a:solidFill>
              <a:srgbClr val="B51904"/>
            </a:solidFill>
          </p:spPr>
          <p:txBody>
            <a:bodyPr wrap="square" lIns="0" tIns="0" rIns="0" bIns="0" rtlCol="0"/>
            <a:lstStyle/>
            <a:p>
              <a:endParaRPr sz="2473"/>
            </a:p>
          </p:txBody>
        </p:sp>
        <p:sp>
          <p:nvSpPr>
            <p:cNvPr id="5" name="object 5"/>
            <p:cNvSpPr/>
            <p:nvPr/>
          </p:nvSpPr>
          <p:spPr>
            <a:xfrm>
              <a:off x="457197" y="1313411"/>
              <a:ext cx="45720" cy="5143500"/>
            </a:xfrm>
            <a:custGeom>
              <a:avLst/>
              <a:gdLst/>
              <a:ahLst/>
              <a:cxnLst/>
              <a:rect l="l" t="t" r="r" b="b"/>
              <a:pathLst>
                <a:path w="45720" h="5143500">
                  <a:moveTo>
                    <a:pt x="45719" y="0"/>
                  </a:moveTo>
                  <a:lnTo>
                    <a:pt x="45719" y="5143499"/>
                  </a:lnTo>
                  <a:lnTo>
                    <a:pt x="0" y="5143499"/>
                  </a:lnTo>
                  <a:lnTo>
                    <a:pt x="0" y="0"/>
                  </a:lnTo>
                  <a:lnTo>
                    <a:pt x="45719" y="0"/>
                  </a:lnTo>
                  <a:close/>
                </a:path>
              </a:pathLst>
            </a:custGeom>
            <a:ln w="9524">
              <a:solidFill>
                <a:srgbClr val="B51826"/>
              </a:solidFill>
            </a:ln>
          </p:spPr>
          <p:txBody>
            <a:bodyPr wrap="square" lIns="0" tIns="0" rIns="0" bIns="0" rtlCol="0"/>
            <a:lstStyle/>
            <a:p>
              <a:endParaRPr sz="2473"/>
            </a:p>
          </p:txBody>
        </p:sp>
      </p:grpSp>
      <p:sp>
        <p:nvSpPr>
          <p:cNvPr id="6" name="object 6"/>
          <p:cNvSpPr txBox="1">
            <a:spLocks noGrp="1"/>
          </p:cNvSpPr>
          <p:nvPr>
            <p:ph type="title"/>
          </p:nvPr>
        </p:nvSpPr>
        <p:spPr>
          <a:xfrm>
            <a:off x="1589006" y="475732"/>
            <a:ext cx="15803745" cy="1375979"/>
          </a:xfrm>
          <a:prstGeom prst="rect">
            <a:avLst/>
          </a:prstGeom>
        </p:spPr>
        <p:txBody>
          <a:bodyPr vert="horz" wrap="square" lIns="0" tIns="41872" rIns="0" bIns="0" rtlCol="0">
            <a:spAutoFit/>
          </a:bodyPr>
          <a:lstStyle/>
          <a:p>
            <a:pPr marL="1480292" marR="6978">
              <a:lnSpc>
                <a:spcPts val="5220"/>
              </a:lnSpc>
              <a:spcBef>
                <a:spcPts val="330"/>
              </a:spcBef>
            </a:pPr>
            <a:r>
              <a:rPr spc="-7" dirty="0"/>
              <a:t>Kneser-Ney</a:t>
            </a:r>
            <a:r>
              <a:rPr dirty="0"/>
              <a:t> </a:t>
            </a:r>
            <a:r>
              <a:rPr spc="-7" dirty="0"/>
              <a:t>Smoothing: </a:t>
            </a:r>
            <a:br>
              <a:rPr lang="en-US" spc="-7" dirty="0"/>
            </a:br>
            <a:r>
              <a:rPr spc="-7" dirty="0"/>
              <a:t>Recursive </a:t>
            </a:r>
            <a:r>
              <a:rPr spc="-1202" dirty="0"/>
              <a:t> </a:t>
            </a:r>
            <a:r>
              <a:rPr spc="-7" dirty="0"/>
              <a:t>formulation</a:t>
            </a:r>
          </a:p>
        </p:txBody>
      </p:sp>
      <p:sp>
        <p:nvSpPr>
          <p:cNvPr id="7" name="object 7"/>
          <p:cNvSpPr txBox="1"/>
          <p:nvPr/>
        </p:nvSpPr>
        <p:spPr>
          <a:xfrm>
            <a:off x="1154954" y="6547102"/>
            <a:ext cx="10198330" cy="633169"/>
          </a:xfrm>
          <a:prstGeom prst="rect">
            <a:avLst/>
          </a:prstGeom>
        </p:spPr>
        <p:txBody>
          <a:bodyPr vert="horz" wrap="square" lIns="0" tIns="17446" rIns="0" bIns="0" rtlCol="0">
            <a:spAutoFit/>
          </a:bodyPr>
          <a:lstStyle/>
          <a:p>
            <a:pPr marL="17446">
              <a:lnSpc>
                <a:spcPts val="2720"/>
              </a:lnSpc>
              <a:spcBef>
                <a:spcPts val="137"/>
              </a:spcBef>
            </a:pPr>
            <a:r>
              <a:rPr sz="2473" spc="-7" dirty="0">
                <a:latin typeface="Lucida Sans Unicode"/>
                <a:cs typeface="Lucida Sans Unicode"/>
              </a:rPr>
              <a:t>Continuation</a:t>
            </a:r>
            <a:r>
              <a:rPr sz="2473" dirty="0">
                <a:latin typeface="Lucida Sans Unicode"/>
                <a:cs typeface="Lucida Sans Unicode"/>
              </a:rPr>
              <a:t> count</a:t>
            </a:r>
            <a:r>
              <a:rPr sz="2473" spc="-7" dirty="0">
                <a:latin typeface="Lucida Sans Unicode"/>
                <a:cs typeface="Lucida Sans Unicode"/>
              </a:rPr>
              <a:t> </a:t>
            </a:r>
            <a:r>
              <a:rPr sz="2473" spc="-405" dirty="0">
                <a:latin typeface="Lucida Sans Unicode"/>
                <a:cs typeface="Lucida Sans Unicode"/>
              </a:rPr>
              <a:t>=</a:t>
            </a:r>
            <a:r>
              <a:rPr sz="2473" dirty="0">
                <a:latin typeface="Lucida Sans Unicode"/>
                <a:cs typeface="Lucida Sans Unicode"/>
              </a:rPr>
              <a:t> </a:t>
            </a:r>
            <a:r>
              <a:rPr sz="2473" spc="-7" dirty="0">
                <a:latin typeface="Lucida Sans Unicode"/>
                <a:cs typeface="Lucida Sans Unicode"/>
              </a:rPr>
              <a:t>Number</a:t>
            </a:r>
            <a:r>
              <a:rPr sz="2473" dirty="0">
                <a:latin typeface="Lucida Sans Unicode"/>
                <a:cs typeface="Lucida Sans Unicode"/>
              </a:rPr>
              <a:t> of unique</a:t>
            </a:r>
            <a:r>
              <a:rPr sz="2473" spc="-7" dirty="0">
                <a:latin typeface="Lucida Sans Unicode"/>
                <a:cs typeface="Lucida Sans Unicode"/>
              </a:rPr>
              <a:t> single</a:t>
            </a:r>
            <a:r>
              <a:rPr sz="2473" dirty="0">
                <a:latin typeface="Lucida Sans Unicode"/>
                <a:cs typeface="Lucida Sans Unicode"/>
              </a:rPr>
              <a:t> word contexts</a:t>
            </a:r>
            <a:r>
              <a:rPr sz="2473" spc="-7" dirty="0">
                <a:latin typeface="Lucida Sans Unicode"/>
                <a:cs typeface="Lucida Sans Unicode"/>
              </a:rPr>
              <a:t> </a:t>
            </a:r>
            <a:r>
              <a:rPr sz="2473" dirty="0">
                <a:latin typeface="Lucida Sans Unicode"/>
                <a:cs typeface="Lucida Sans Unicode"/>
              </a:rPr>
              <a:t>for</a:t>
            </a:r>
            <a:r>
              <a:rPr sz="2473" spc="-7" dirty="0">
                <a:latin typeface="Lucida Sans Unicode"/>
                <a:cs typeface="Lucida Sans Unicode"/>
              </a:rPr>
              <a:t> </a:t>
            </a:r>
            <a:r>
              <a:rPr sz="2473" dirty="0">
                <a:latin typeface="Wingdings"/>
                <a:cs typeface="Wingdings"/>
              </a:rPr>
              <a:t></a:t>
            </a:r>
            <a:endParaRPr sz="2473">
              <a:latin typeface="Wingdings"/>
              <a:cs typeface="Wingdings"/>
            </a:endParaRPr>
          </a:p>
          <a:p>
            <a:pPr marL="17446">
              <a:lnSpc>
                <a:spcPts val="2061"/>
              </a:lnSpc>
            </a:pPr>
            <a:r>
              <a:rPr sz="1923" dirty="0">
                <a:latin typeface="Calibri"/>
                <a:cs typeface="Calibri"/>
              </a:rPr>
              <a:t>87</a:t>
            </a:r>
            <a:endParaRPr sz="1923">
              <a:latin typeface="Calibri"/>
              <a:cs typeface="Calibri"/>
            </a:endParaRPr>
          </a:p>
        </p:txBody>
      </p:sp>
      <p:sp>
        <p:nvSpPr>
          <p:cNvPr id="8" name="object 8"/>
          <p:cNvSpPr txBox="1"/>
          <p:nvPr/>
        </p:nvSpPr>
        <p:spPr>
          <a:xfrm>
            <a:off x="2477874" y="2835316"/>
            <a:ext cx="419587" cy="386709"/>
          </a:xfrm>
          <a:prstGeom prst="rect">
            <a:avLst/>
          </a:prstGeom>
        </p:spPr>
        <p:txBody>
          <a:bodyPr vert="horz" wrap="square" lIns="0" tIns="16574" rIns="0" bIns="0" rtlCol="0">
            <a:spAutoFit/>
          </a:bodyPr>
          <a:lstStyle/>
          <a:p>
            <a:pPr marL="17446">
              <a:spcBef>
                <a:spcPts val="131"/>
              </a:spcBef>
            </a:pPr>
            <a:r>
              <a:rPr sz="2404" i="1" spc="34" dirty="0">
                <a:latin typeface="Times New Roman"/>
                <a:cs typeface="Times New Roman"/>
              </a:rPr>
              <a:t>i</a:t>
            </a:r>
            <a:r>
              <a:rPr sz="2404" spc="-206" dirty="0">
                <a:latin typeface="Symbol"/>
                <a:cs typeface="Symbol"/>
              </a:rPr>
              <a:t></a:t>
            </a:r>
            <a:r>
              <a:rPr sz="2404" spc="-7" dirty="0">
                <a:latin typeface="Times New Roman"/>
                <a:cs typeface="Times New Roman"/>
              </a:rPr>
              <a:t>1</a:t>
            </a:r>
            <a:endParaRPr sz="2404">
              <a:latin typeface="Times New Roman"/>
              <a:cs typeface="Times New Roman"/>
            </a:endParaRPr>
          </a:p>
        </p:txBody>
      </p:sp>
      <p:sp>
        <p:nvSpPr>
          <p:cNvPr id="9" name="object 9"/>
          <p:cNvSpPr txBox="1"/>
          <p:nvPr/>
        </p:nvSpPr>
        <p:spPr>
          <a:xfrm>
            <a:off x="622039" y="3004373"/>
            <a:ext cx="3112449" cy="559252"/>
          </a:xfrm>
          <a:prstGeom prst="rect">
            <a:avLst/>
          </a:prstGeom>
        </p:spPr>
        <p:txBody>
          <a:bodyPr vert="horz" wrap="square" lIns="0" tIns="20062" rIns="0" bIns="0" rtlCol="0">
            <a:spAutoFit/>
          </a:bodyPr>
          <a:lstStyle/>
          <a:p>
            <a:pPr marL="52338">
              <a:spcBef>
                <a:spcPts val="157"/>
              </a:spcBef>
            </a:pPr>
            <a:r>
              <a:rPr sz="5254" i="1" spc="-679" baseline="14161" dirty="0">
                <a:latin typeface="Times New Roman"/>
                <a:cs typeface="Times New Roman"/>
              </a:rPr>
              <a:t>P</a:t>
            </a:r>
            <a:r>
              <a:rPr sz="2404" i="1" spc="-14" dirty="0">
                <a:latin typeface="Times New Roman"/>
                <a:cs typeface="Times New Roman"/>
              </a:rPr>
              <a:t>K</a:t>
            </a:r>
            <a:r>
              <a:rPr sz="2404" i="1" spc="-7" dirty="0">
                <a:latin typeface="Times New Roman"/>
                <a:cs typeface="Times New Roman"/>
              </a:rPr>
              <a:t>N</a:t>
            </a:r>
            <a:r>
              <a:rPr sz="2404" i="1" spc="-55" dirty="0">
                <a:latin typeface="Times New Roman"/>
                <a:cs typeface="Times New Roman"/>
              </a:rPr>
              <a:t> </a:t>
            </a:r>
            <a:r>
              <a:rPr sz="5254" spc="133" baseline="14161" dirty="0">
                <a:latin typeface="Times New Roman"/>
                <a:cs typeface="Times New Roman"/>
              </a:rPr>
              <a:t>(</a:t>
            </a:r>
            <a:r>
              <a:rPr sz="5254" i="1" spc="-113" baseline="14161" dirty="0">
                <a:latin typeface="Times New Roman"/>
                <a:cs typeface="Times New Roman"/>
              </a:rPr>
              <a:t>w</a:t>
            </a:r>
            <a:r>
              <a:rPr sz="2404" i="1" spc="-7" dirty="0">
                <a:latin typeface="Times New Roman"/>
                <a:cs typeface="Times New Roman"/>
              </a:rPr>
              <a:t>i</a:t>
            </a:r>
            <a:r>
              <a:rPr sz="2404" i="1" dirty="0">
                <a:latin typeface="Times New Roman"/>
                <a:cs typeface="Times New Roman"/>
              </a:rPr>
              <a:t> </a:t>
            </a:r>
            <a:r>
              <a:rPr sz="2404" i="1" spc="-254" dirty="0">
                <a:latin typeface="Times New Roman"/>
                <a:cs typeface="Times New Roman"/>
              </a:rPr>
              <a:t> </a:t>
            </a:r>
            <a:r>
              <a:rPr sz="5254" baseline="14161" dirty="0">
                <a:latin typeface="Times New Roman"/>
                <a:cs typeface="Times New Roman"/>
              </a:rPr>
              <a:t>|</a:t>
            </a:r>
            <a:r>
              <a:rPr sz="5254" spc="-412" baseline="14161" dirty="0">
                <a:latin typeface="Times New Roman"/>
                <a:cs typeface="Times New Roman"/>
              </a:rPr>
              <a:t> </a:t>
            </a:r>
            <a:r>
              <a:rPr sz="5254" i="1" spc="-113" baseline="14161" dirty="0">
                <a:latin typeface="Times New Roman"/>
                <a:cs typeface="Times New Roman"/>
              </a:rPr>
              <a:t>w</a:t>
            </a:r>
            <a:r>
              <a:rPr sz="2404" i="1" spc="34" dirty="0">
                <a:latin typeface="Times New Roman"/>
                <a:cs typeface="Times New Roman"/>
              </a:rPr>
              <a:t>i</a:t>
            </a:r>
            <a:r>
              <a:rPr sz="2404" spc="27" dirty="0">
                <a:latin typeface="Symbol"/>
                <a:cs typeface="Symbol"/>
              </a:rPr>
              <a:t></a:t>
            </a:r>
            <a:r>
              <a:rPr sz="2404" i="1" spc="14" dirty="0">
                <a:latin typeface="Times New Roman"/>
                <a:cs typeface="Times New Roman"/>
              </a:rPr>
              <a:t>n</a:t>
            </a:r>
            <a:r>
              <a:rPr sz="2404" spc="-206" dirty="0">
                <a:latin typeface="Symbol"/>
                <a:cs typeface="Symbol"/>
              </a:rPr>
              <a:t></a:t>
            </a:r>
            <a:r>
              <a:rPr sz="2404" spc="199" dirty="0">
                <a:latin typeface="Times New Roman"/>
                <a:cs typeface="Times New Roman"/>
              </a:rPr>
              <a:t>1</a:t>
            </a:r>
            <a:r>
              <a:rPr sz="5254" spc="10" baseline="14161" dirty="0">
                <a:latin typeface="Times New Roman"/>
                <a:cs typeface="Times New Roman"/>
              </a:rPr>
              <a:t>)</a:t>
            </a:r>
            <a:r>
              <a:rPr sz="5254" spc="-422" baseline="14161" dirty="0">
                <a:latin typeface="Times New Roman"/>
                <a:cs typeface="Times New Roman"/>
              </a:rPr>
              <a:t> </a:t>
            </a:r>
            <a:r>
              <a:rPr sz="5254" spc="10" baseline="14161" dirty="0">
                <a:latin typeface="Symbol"/>
                <a:cs typeface="Symbol"/>
              </a:rPr>
              <a:t></a:t>
            </a:r>
            <a:endParaRPr sz="5254" baseline="14161">
              <a:latin typeface="Symbol"/>
              <a:cs typeface="Symbol"/>
            </a:endParaRPr>
          </a:p>
        </p:txBody>
      </p:sp>
      <p:sp>
        <p:nvSpPr>
          <p:cNvPr id="10" name="object 10"/>
          <p:cNvSpPr txBox="1"/>
          <p:nvPr/>
        </p:nvSpPr>
        <p:spPr>
          <a:xfrm>
            <a:off x="4912407" y="2878454"/>
            <a:ext cx="1670499" cy="386709"/>
          </a:xfrm>
          <a:prstGeom prst="rect">
            <a:avLst/>
          </a:prstGeom>
        </p:spPr>
        <p:txBody>
          <a:bodyPr vert="horz" wrap="square" lIns="0" tIns="16574" rIns="0" bIns="0" rtlCol="0">
            <a:spAutoFit/>
          </a:bodyPr>
          <a:lstStyle/>
          <a:p>
            <a:pPr marL="17446">
              <a:spcBef>
                <a:spcPts val="131"/>
              </a:spcBef>
              <a:tabLst>
                <a:tab pos="941211" algn="l"/>
              </a:tabLst>
            </a:pPr>
            <a:r>
              <a:rPr sz="2404" i="1" spc="-14" dirty="0">
                <a:latin typeface="Times New Roman"/>
                <a:cs typeface="Times New Roman"/>
              </a:rPr>
              <a:t>K</a:t>
            </a:r>
            <a:r>
              <a:rPr sz="2404" i="1" spc="-7" dirty="0">
                <a:latin typeface="Times New Roman"/>
                <a:cs typeface="Times New Roman"/>
              </a:rPr>
              <a:t>N</a:t>
            </a:r>
            <a:r>
              <a:rPr sz="2404" i="1" dirty="0">
                <a:latin typeface="Times New Roman"/>
                <a:cs typeface="Times New Roman"/>
              </a:rPr>
              <a:t>	</a:t>
            </a:r>
            <a:r>
              <a:rPr sz="2404" i="1" spc="34" dirty="0">
                <a:latin typeface="Times New Roman"/>
                <a:cs typeface="Times New Roman"/>
              </a:rPr>
              <a:t>i</a:t>
            </a:r>
            <a:r>
              <a:rPr sz="2404" spc="27" dirty="0">
                <a:latin typeface="Symbol"/>
                <a:cs typeface="Symbol"/>
              </a:rPr>
              <a:t></a:t>
            </a:r>
            <a:r>
              <a:rPr sz="2404" i="1" spc="14" dirty="0">
                <a:latin typeface="Times New Roman"/>
                <a:cs typeface="Times New Roman"/>
              </a:rPr>
              <a:t>n</a:t>
            </a:r>
            <a:r>
              <a:rPr sz="2404" spc="-206" dirty="0">
                <a:latin typeface="Symbol"/>
                <a:cs typeface="Symbol"/>
              </a:rPr>
              <a:t></a:t>
            </a:r>
            <a:r>
              <a:rPr sz="2404" spc="-7" dirty="0">
                <a:latin typeface="Times New Roman"/>
                <a:cs typeface="Times New Roman"/>
              </a:rPr>
              <a:t>1</a:t>
            </a:r>
            <a:endParaRPr sz="2404">
              <a:latin typeface="Times New Roman"/>
              <a:cs typeface="Times New Roman"/>
            </a:endParaRPr>
          </a:p>
        </p:txBody>
      </p:sp>
      <p:sp>
        <p:nvSpPr>
          <p:cNvPr id="11" name="object 11"/>
          <p:cNvSpPr txBox="1"/>
          <p:nvPr/>
        </p:nvSpPr>
        <p:spPr>
          <a:xfrm>
            <a:off x="3737873" y="2623117"/>
            <a:ext cx="4208960" cy="559316"/>
          </a:xfrm>
          <a:prstGeom prst="rect">
            <a:avLst/>
          </a:prstGeom>
        </p:spPr>
        <p:txBody>
          <a:bodyPr vert="horz" wrap="square" lIns="0" tIns="20062" rIns="0" bIns="0" rtlCol="0">
            <a:spAutoFit/>
          </a:bodyPr>
          <a:lstStyle/>
          <a:p>
            <a:pPr marL="69784">
              <a:spcBef>
                <a:spcPts val="157"/>
              </a:spcBef>
              <a:tabLst>
                <a:tab pos="1666964" algn="l"/>
                <a:tab pos="2852419" algn="l"/>
              </a:tabLst>
            </a:pPr>
            <a:r>
              <a:rPr sz="3503" spc="7" dirty="0">
                <a:latin typeface="Times New Roman"/>
                <a:cs typeface="Times New Roman"/>
              </a:rPr>
              <a:t>m</a:t>
            </a:r>
            <a:r>
              <a:rPr sz="3503" spc="-21" dirty="0">
                <a:latin typeface="Times New Roman"/>
                <a:cs typeface="Times New Roman"/>
              </a:rPr>
              <a:t>a</a:t>
            </a:r>
            <a:r>
              <a:rPr sz="3503" spc="7" dirty="0">
                <a:latin typeface="Times New Roman"/>
                <a:cs typeface="Times New Roman"/>
              </a:rPr>
              <a:t>x</a:t>
            </a:r>
            <a:r>
              <a:rPr sz="3503" spc="41" dirty="0">
                <a:latin typeface="Times New Roman"/>
                <a:cs typeface="Times New Roman"/>
              </a:rPr>
              <a:t>(</a:t>
            </a:r>
            <a:r>
              <a:rPr sz="3503" i="1" spc="7" dirty="0">
                <a:latin typeface="Times New Roman"/>
                <a:cs typeface="Times New Roman"/>
              </a:rPr>
              <a:t>c</a:t>
            </a:r>
            <a:r>
              <a:rPr sz="3503" i="1" dirty="0">
                <a:latin typeface="Times New Roman"/>
                <a:cs typeface="Times New Roman"/>
              </a:rPr>
              <a:t>	</a:t>
            </a:r>
            <a:r>
              <a:rPr sz="3503" spc="89" dirty="0">
                <a:latin typeface="Times New Roman"/>
                <a:cs typeface="Times New Roman"/>
              </a:rPr>
              <a:t>(</a:t>
            </a:r>
            <a:r>
              <a:rPr sz="3503" i="1" spc="103" dirty="0">
                <a:latin typeface="Times New Roman"/>
                <a:cs typeface="Times New Roman"/>
              </a:rPr>
              <a:t>w</a:t>
            </a:r>
            <a:r>
              <a:rPr sz="3606" i="1" spc="-10" baseline="36507" dirty="0">
                <a:latin typeface="Times New Roman"/>
                <a:cs typeface="Times New Roman"/>
              </a:rPr>
              <a:t>i</a:t>
            </a:r>
            <a:r>
              <a:rPr sz="3606" i="1" baseline="36507" dirty="0">
                <a:latin typeface="Times New Roman"/>
                <a:cs typeface="Times New Roman"/>
              </a:rPr>
              <a:t>	</a:t>
            </a:r>
            <a:r>
              <a:rPr sz="3503" spc="7" dirty="0">
                <a:latin typeface="Times New Roman"/>
                <a:cs typeface="Times New Roman"/>
              </a:rPr>
              <a:t>)</a:t>
            </a:r>
            <a:r>
              <a:rPr sz="3503" spc="-453" dirty="0">
                <a:latin typeface="Times New Roman"/>
                <a:cs typeface="Times New Roman"/>
              </a:rPr>
              <a:t> </a:t>
            </a:r>
            <a:r>
              <a:rPr sz="3503" spc="7" dirty="0">
                <a:latin typeface="Symbol"/>
                <a:cs typeface="Symbol"/>
              </a:rPr>
              <a:t></a:t>
            </a:r>
            <a:r>
              <a:rPr sz="3503" spc="-309" dirty="0">
                <a:latin typeface="Times New Roman"/>
                <a:cs typeface="Times New Roman"/>
              </a:rPr>
              <a:t> </a:t>
            </a:r>
            <a:r>
              <a:rPr sz="3503" i="1" spc="7" dirty="0">
                <a:latin typeface="Times New Roman"/>
                <a:cs typeface="Times New Roman"/>
              </a:rPr>
              <a:t>d</a:t>
            </a:r>
            <a:r>
              <a:rPr sz="3503" dirty="0">
                <a:latin typeface="Times New Roman"/>
                <a:cs typeface="Times New Roman"/>
              </a:rPr>
              <a:t>,</a:t>
            </a:r>
            <a:r>
              <a:rPr sz="3503" spc="-419" dirty="0">
                <a:latin typeface="Times New Roman"/>
                <a:cs typeface="Times New Roman"/>
              </a:rPr>
              <a:t> </a:t>
            </a:r>
            <a:r>
              <a:rPr sz="3503" spc="117" dirty="0">
                <a:latin typeface="Times New Roman"/>
                <a:cs typeface="Times New Roman"/>
              </a:rPr>
              <a:t>0</a:t>
            </a:r>
            <a:r>
              <a:rPr sz="3503" spc="7" dirty="0">
                <a:latin typeface="Times New Roman"/>
                <a:cs typeface="Times New Roman"/>
              </a:rPr>
              <a:t>)</a:t>
            </a:r>
            <a:endParaRPr sz="3503">
              <a:latin typeface="Times New Roman"/>
              <a:cs typeface="Times New Roman"/>
            </a:endParaRPr>
          </a:p>
        </p:txBody>
      </p:sp>
      <p:sp>
        <p:nvSpPr>
          <p:cNvPr id="12" name="object 12"/>
          <p:cNvSpPr txBox="1"/>
          <p:nvPr/>
        </p:nvSpPr>
        <p:spPr>
          <a:xfrm>
            <a:off x="4826083" y="3264376"/>
            <a:ext cx="233783" cy="559316"/>
          </a:xfrm>
          <a:prstGeom prst="rect">
            <a:avLst/>
          </a:prstGeom>
        </p:spPr>
        <p:txBody>
          <a:bodyPr vert="horz" wrap="square" lIns="0" tIns="20062" rIns="0" bIns="0" rtlCol="0">
            <a:spAutoFit/>
          </a:bodyPr>
          <a:lstStyle/>
          <a:p>
            <a:pPr marL="17446">
              <a:spcBef>
                <a:spcPts val="157"/>
              </a:spcBef>
            </a:pPr>
            <a:r>
              <a:rPr sz="3503" i="1" spc="7" dirty="0">
                <a:latin typeface="Times New Roman"/>
                <a:cs typeface="Times New Roman"/>
              </a:rPr>
              <a:t>c</a:t>
            </a:r>
            <a:endParaRPr sz="3503">
              <a:latin typeface="Times New Roman"/>
              <a:cs typeface="Times New Roman"/>
            </a:endParaRPr>
          </a:p>
        </p:txBody>
      </p:sp>
      <p:sp>
        <p:nvSpPr>
          <p:cNvPr id="13" name="object 13"/>
          <p:cNvSpPr txBox="1"/>
          <p:nvPr/>
        </p:nvSpPr>
        <p:spPr>
          <a:xfrm>
            <a:off x="5026727" y="3519712"/>
            <a:ext cx="1670499" cy="386709"/>
          </a:xfrm>
          <a:prstGeom prst="rect">
            <a:avLst/>
          </a:prstGeom>
        </p:spPr>
        <p:txBody>
          <a:bodyPr vert="horz" wrap="square" lIns="0" tIns="16574" rIns="0" bIns="0" rtlCol="0">
            <a:spAutoFit/>
          </a:bodyPr>
          <a:lstStyle/>
          <a:p>
            <a:pPr marL="17446">
              <a:spcBef>
                <a:spcPts val="131"/>
              </a:spcBef>
              <a:tabLst>
                <a:tab pos="941211" algn="l"/>
              </a:tabLst>
            </a:pPr>
            <a:r>
              <a:rPr sz="2404" i="1" spc="-14" dirty="0">
                <a:latin typeface="Times New Roman"/>
                <a:cs typeface="Times New Roman"/>
              </a:rPr>
              <a:t>K</a:t>
            </a:r>
            <a:r>
              <a:rPr sz="2404" i="1" spc="-7" dirty="0">
                <a:latin typeface="Times New Roman"/>
                <a:cs typeface="Times New Roman"/>
              </a:rPr>
              <a:t>N</a:t>
            </a:r>
            <a:r>
              <a:rPr sz="2404" i="1" dirty="0">
                <a:latin typeface="Times New Roman"/>
                <a:cs typeface="Times New Roman"/>
              </a:rPr>
              <a:t>	</a:t>
            </a:r>
            <a:r>
              <a:rPr sz="2404" i="1" spc="34" dirty="0">
                <a:latin typeface="Times New Roman"/>
                <a:cs typeface="Times New Roman"/>
              </a:rPr>
              <a:t>i</a:t>
            </a:r>
            <a:r>
              <a:rPr sz="2404" spc="27" dirty="0">
                <a:latin typeface="Symbol"/>
                <a:cs typeface="Symbol"/>
              </a:rPr>
              <a:t></a:t>
            </a:r>
            <a:r>
              <a:rPr sz="2404" i="1" spc="14" dirty="0">
                <a:latin typeface="Times New Roman"/>
                <a:cs typeface="Times New Roman"/>
              </a:rPr>
              <a:t>n</a:t>
            </a:r>
            <a:r>
              <a:rPr sz="2404" spc="-206" dirty="0">
                <a:latin typeface="Symbol"/>
                <a:cs typeface="Symbol"/>
              </a:rPr>
              <a:t></a:t>
            </a:r>
            <a:r>
              <a:rPr sz="2404" spc="-7" dirty="0">
                <a:latin typeface="Times New Roman"/>
                <a:cs typeface="Times New Roman"/>
              </a:rPr>
              <a:t>1</a:t>
            </a:r>
            <a:endParaRPr sz="2404">
              <a:latin typeface="Times New Roman"/>
              <a:cs typeface="Times New Roman"/>
            </a:endParaRPr>
          </a:p>
        </p:txBody>
      </p:sp>
      <p:sp>
        <p:nvSpPr>
          <p:cNvPr id="14" name="object 14"/>
          <p:cNvSpPr txBox="1"/>
          <p:nvPr/>
        </p:nvSpPr>
        <p:spPr>
          <a:xfrm>
            <a:off x="5467774" y="3063838"/>
            <a:ext cx="959556" cy="559252"/>
          </a:xfrm>
          <a:prstGeom prst="rect">
            <a:avLst/>
          </a:prstGeom>
        </p:spPr>
        <p:txBody>
          <a:bodyPr vert="horz" wrap="square" lIns="0" tIns="20062" rIns="0" bIns="0" rtlCol="0">
            <a:spAutoFit/>
          </a:bodyPr>
          <a:lstStyle/>
          <a:p>
            <a:pPr marL="52338">
              <a:spcBef>
                <a:spcPts val="157"/>
              </a:spcBef>
            </a:pPr>
            <a:r>
              <a:rPr sz="5254" baseline="-25054" dirty="0">
                <a:latin typeface="Times New Roman"/>
                <a:cs typeface="Times New Roman"/>
              </a:rPr>
              <a:t>(</a:t>
            </a:r>
            <a:r>
              <a:rPr sz="5254" i="1" baseline="-25054" dirty="0">
                <a:latin typeface="Times New Roman"/>
                <a:cs typeface="Times New Roman"/>
              </a:rPr>
              <a:t>w</a:t>
            </a:r>
            <a:r>
              <a:rPr sz="2404" i="1" dirty="0">
                <a:latin typeface="Times New Roman"/>
                <a:cs typeface="Times New Roman"/>
              </a:rPr>
              <a:t>i</a:t>
            </a:r>
            <a:r>
              <a:rPr sz="2404" dirty="0">
                <a:latin typeface="Symbol"/>
                <a:cs typeface="Symbol"/>
              </a:rPr>
              <a:t></a:t>
            </a:r>
            <a:r>
              <a:rPr sz="2404" dirty="0">
                <a:latin typeface="Times New Roman"/>
                <a:cs typeface="Times New Roman"/>
              </a:rPr>
              <a:t>1</a:t>
            </a:r>
            <a:endParaRPr sz="2404">
              <a:latin typeface="Times New Roman"/>
              <a:cs typeface="Times New Roman"/>
            </a:endParaRPr>
          </a:p>
        </p:txBody>
      </p:sp>
      <p:sp>
        <p:nvSpPr>
          <p:cNvPr id="15" name="object 15"/>
          <p:cNvSpPr txBox="1"/>
          <p:nvPr/>
        </p:nvSpPr>
        <p:spPr>
          <a:xfrm>
            <a:off x="6687854" y="3264376"/>
            <a:ext cx="184060" cy="559316"/>
          </a:xfrm>
          <a:prstGeom prst="rect">
            <a:avLst/>
          </a:prstGeom>
        </p:spPr>
        <p:txBody>
          <a:bodyPr vert="horz" wrap="square" lIns="0" tIns="20062" rIns="0" bIns="0" rtlCol="0">
            <a:spAutoFit/>
          </a:bodyPr>
          <a:lstStyle/>
          <a:p>
            <a:pPr marL="17446">
              <a:spcBef>
                <a:spcPts val="157"/>
              </a:spcBef>
            </a:pPr>
            <a:r>
              <a:rPr sz="3503" spc="7" dirty="0">
                <a:latin typeface="Times New Roman"/>
                <a:cs typeface="Times New Roman"/>
              </a:rPr>
              <a:t>)</a:t>
            </a:r>
            <a:endParaRPr sz="3503">
              <a:latin typeface="Times New Roman"/>
              <a:cs typeface="Times New Roman"/>
            </a:endParaRPr>
          </a:p>
        </p:txBody>
      </p:sp>
      <p:sp>
        <p:nvSpPr>
          <p:cNvPr id="16" name="object 16"/>
          <p:cNvSpPr/>
          <p:nvPr/>
        </p:nvSpPr>
        <p:spPr>
          <a:xfrm>
            <a:off x="3781995" y="3261417"/>
            <a:ext cx="4121727" cy="0"/>
          </a:xfrm>
          <a:custGeom>
            <a:avLst/>
            <a:gdLst/>
            <a:ahLst/>
            <a:cxnLst/>
            <a:rect l="l" t="t" r="r" b="b"/>
            <a:pathLst>
              <a:path w="3000375">
                <a:moveTo>
                  <a:pt x="0" y="0"/>
                </a:moveTo>
                <a:lnTo>
                  <a:pt x="3000081" y="0"/>
                </a:lnTo>
              </a:path>
            </a:pathLst>
          </a:custGeom>
          <a:ln w="16125">
            <a:solidFill>
              <a:srgbClr val="000000"/>
            </a:solidFill>
          </a:ln>
        </p:spPr>
        <p:txBody>
          <a:bodyPr wrap="square" lIns="0" tIns="0" rIns="0" bIns="0" rtlCol="0"/>
          <a:lstStyle/>
          <a:p>
            <a:endParaRPr sz="2473"/>
          </a:p>
        </p:txBody>
      </p:sp>
      <p:sp>
        <p:nvSpPr>
          <p:cNvPr id="17" name="object 17"/>
          <p:cNvSpPr txBox="1"/>
          <p:nvPr/>
        </p:nvSpPr>
        <p:spPr>
          <a:xfrm>
            <a:off x="7910524" y="2878653"/>
            <a:ext cx="4816097" cy="708720"/>
          </a:xfrm>
          <a:prstGeom prst="rect">
            <a:avLst/>
          </a:prstGeom>
        </p:spPr>
        <p:txBody>
          <a:bodyPr vert="horz" wrap="square" lIns="0" tIns="16574" rIns="0" bIns="0" rtlCol="0">
            <a:spAutoFit/>
          </a:bodyPr>
          <a:lstStyle/>
          <a:p>
            <a:pPr marL="69784">
              <a:lnSpc>
                <a:spcPts val="2692"/>
              </a:lnSpc>
              <a:spcBef>
                <a:spcPts val="131"/>
              </a:spcBef>
              <a:tabLst>
                <a:tab pos="1846658" algn="l"/>
                <a:tab pos="3826778" algn="l"/>
                <a:tab pos="4596146" algn="l"/>
              </a:tabLst>
            </a:pPr>
            <a:r>
              <a:rPr sz="3503" spc="7" dirty="0">
                <a:latin typeface="Symbol"/>
                <a:cs typeface="Symbol"/>
              </a:rPr>
              <a:t></a:t>
            </a:r>
            <a:r>
              <a:rPr sz="3503" spc="-309" dirty="0">
                <a:latin typeface="Times New Roman"/>
                <a:cs typeface="Times New Roman"/>
              </a:rPr>
              <a:t> </a:t>
            </a:r>
            <a:r>
              <a:rPr sz="3640" spc="27" dirty="0">
                <a:latin typeface="Symbol"/>
                <a:cs typeface="Symbol"/>
              </a:rPr>
              <a:t></a:t>
            </a:r>
            <a:r>
              <a:rPr sz="3503" spc="27" dirty="0">
                <a:latin typeface="Times New Roman"/>
                <a:cs typeface="Times New Roman"/>
              </a:rPr>
              <a:t>(</a:t>
            </a:r>
            <a:r>
              <a:rPr sz="3503" i="1" spc="27" dirty="0">
                <a:latin typeface="Times New Roman"/>
                <a:cs typeface="Times New Roman"/>
              </a:rPr>
              <a:t>w</a:t>
            </a:r>
            <a:r>
              <a:rPr sz="3606" i="1" spc="41" baseline="36507" dirty="0">
                <a:latin typeface="Times New Roman"/>
                <a:cs typeface="Times New Roman"/>
              </a:rPr>
              <a:t>i</a:t>
            </a:r>
            <a:r>
              <a:rPr sz="3606" spc="41" baseline="36507" dirty="0">
                <a:latin typeface="Symbol"/>
                <a:cs typeface="Symbol"/>
              </a:rPr>
              <a:t></a:t>
            </a:r>
            <a:r>
              <a:rPr sz="3606" spc="41" baseline="36507" dirty="0">
                <a:latin typeface="Times New Roman"/>
                <a:cs typeface="Times New Roman"/>
              </a:rPr>
              <a:t>1	</a:t>
            </a:r>
            <a:r>
              <a:rPr sz="3503" spc="41" dirty="0">
                <a:latin typeface="Times New Roman"/>
                <a:cs typeface="Times New Roman"/>
              </a:rPr>
              <a:t>)</a:t>
            </a:r>
            <a:r>
              <a:rPr sz="3503" i="1" spc="41" dirty="0">
                <a:latin typeface="Times New Roman"/>
                <a:cs typeface="Times New Roman"/>
              </a:rPr>
              <a:t>P	</a:t>
            </a:r>
            <a:r>
              <a:rPr sz="3606" i="1" spc="-92" baseline="36507" dirty="0">
                <a:latin typeface="Times New Roman"/>
                <a:cs typeface="Times New Roman"/>
              </a:rPr>
              <a:t>i</a:t>
            </a:r>
            <a:r>
              <a:rPr sz="3606" spc="-92" baseline="36507" dirty="0">
                <a:latin typeface="Symbol"/>
                <a:cs typeface="Symbol"/>
              </a:rPr>
              <a:t></a:t>
            </a:r>
            <a:r>
              <a:rPr sz="3606" spc="-92" baseline="36507" dirty="0">
                <a:latin typeface="Times New Roman"/>
                <a:cs typeface="Times New Roman"/>
              </a:rPr>
              <a:t>1	</a:t>
            </a:r>
            <a:r>
              <a:rPr sz="3503" spc="7" dirty="0">
                <a:latin typeface="Times New Roman"/>
                <a:cs typeface="Times New Roman"/>
              </a:rPr>
              <a:t>)</a:t>
            </a:r>
            <a:endParaRPr sz="3503">
              <a:latin typeface="Times New Roman"/>
              <a:cs typeface="Times New Roman"/>
            </a:endParaRPr>
          </a:p>
          <a:p>
            <a:pPr marL="1109565">
              <a:lnSpc>
                <a:spcPts val="2526"/>
              </a:lnSpc>
              <a:tabLst>
                <a:tab pos="2220002" algn="l"/>
              </a:tabLst>
            </a:pPr>
            <a:r>
              <a:rPr sz="2404" i="1" spc="34" dirty="0">
                <a:latin typeface="Times New Roman"/>
                <a:cs typeface="Times New Roman"/>
              </a:rPr>
              <a:t>i</a:t>
            </a:r>
            <a:r>
              <a:rPr sz="2404" spc="27" dirty="0">
                <a:latin typeface="Symbol"/>
                <a:cs typeface="Symbol"/>
              </a:rPr>
              <a:t></a:t>
            </a:r>
            <a:r>
              <a:rPr sz="2404" i="1" spc="14" dirty="0">
                <a:latin typeface="Times New Roman"/>
                <a:cs typeface="Times New Roman"/>
              </a:rPr>
              <a:t>n</a:t>
            </a:r>
            <a:r>
              <a:rPr sz="2404" spc="-206" dirty="0">
                <a:latin typeface="Symbol"/>
                <a:cs typeface="Symbol"/>
              </a:rPr>
              <a:t></a:t>
            </a:r>
            <a:r>
              <a:rPr sz="2404" spc="-7" dirty="0">
                <a:latin typeface="Times New Roman"/>
                <a:cs typeface="Times New Roman"/>
              </a:rPr>
              <a:t>1</a:t>
            </a:r>
            <a:r>
              <a:rPr sz="2404" dirty="0">
                <a:latin typeface="Times New Roman"/>
                <a:cs typeface="Times New Roman"/>
              </a:rPr>
              <a:t>	</a:t>
            </a:r>
            <a:r>
              <a:rPr sz="2404" i="1" spc="-14" dirty="0">
                <a:latin typeface="Times New Roman"/>
                <a:cs typeface="Times New Roman"/>
              </a:rPr>
              <a:t>K</a:t>
            </a:r>
            <a:r>
              <a:rPr sz="2404" i="1" spc="-7" dirty="0">
                <a:latin typeface="Times New Roman"/>
                <a:cs typeface="Times New Roman"/>
              </a:rPr>
              <a:t>N</a:t>
            </a:r>
            <a:r>
              <a:rPr sz="2404" i="1" spc="-55" dirty="0">
                <a:latin typeface="Times New Roman"/>
                <a:cs typeface="Times New Roman"/>
              </a:rPr>
              <a:t> </a:t>
            </a:r>
            <a:r>
              <a:rPr sz="5254" spc="133" baseline="14161" dirty="0">
                <a:latin typeface="Times New Roman"/>
                <a:cs typeface="Times New Roman"/>
              </a:rPr>
              <a:t>(</a:t>
            </a:r>
            <a:r>
              <a:rPr sz="5254" i="1" spc="-113" baseline="14161" dirty="0">
                <a:latin typeface="Times New Roman"/>
                <a:cs typeface="Times New Roman"/>
              </a:rPr>
              <a:t>w</a:t>
            </a:r>
            <a:r>
              <a:rPr sz="2404" i="1" spc="-7" dirty="0">
                <a:latin typeface="Times New Roman"/>
                <a:cs typeface="Times New Roman"/>
              </a:rPr>
              <a:t>i</a:t>
            </a:r>
            <a:r>
              <a:rPr sz="2404" i="1" dirty="0">
                <a:latin typeface="Times New Roman"/>
                <a:cs typeface="Times New Roman"/>
              </a:rPr>
              <a:t> </a:t>
            </a:r>
            <a:r>
              <a:rPr sz="2404" i="1" spc="-254" dirty="0">
                <a:latin typeface="Times New Roman"/>
                <a:cs typeface="Times New Roman"/>
              </a:rPr>
              <a:t> </a:t>
            </a:r>
            <a:r>
              <a:rPr sz="5254" baseline="14161" dirty="0">
                <a:latin typeface="Times New Roman"/>
                <a:cs typeface="Times New Roman"/>
              </a:rPr>
              <a:t>|</a:t>
            </a:r>
            <a:r>
              <a:rPr sz="5254" spc="-412" baseline="14161" dirty="0">
                <a:latin typeface="Times New Roman"/>
                <a:cs typeface="Times New Roman"/>
              </a:rPr>
              <a:t> </a:t>
            </a:r>
            <a:r>
              <a:rPr sz="5254" i="1" spc="-113" baseline="14161" dirty="0">
                <a:latin typeface="Times New Roman"/>
                <a:cs typeface="Times New Roman"/>
              </a:rPr>
              <a:t>w</a:t>
            </a:r>
            <a:r>
              <a:rPr sz="2404" i="1" spc="34" dirty="0">
                <a:latin typeface="Times New Roman"/>
                <a:cs typeface="Times New Roman"/>
              </a:rPr>
              <a:t>i</a:t>
            </a:r>
            <a:r>
              <a:rPr sz="2404" spc="27" dirty="0">
                <a:latin typeface="Symbol"/>
                <a:cs typeface="Symbol"/>
              </a:rPr>
              <a:t></a:t>
            </a:r>
            <a:r>
              <a:rPr sz="2404" i="1" spc="14" dirty="0">
                <a:latin typeface="Times New Roman"/>
                <a:cs typeface="Times New Roman"/>
              </a:rPr>
              <a:t>n</a:t>
            </a:r>
            <a:r>
              <a:rPr sz="2404" spc="27" dirty="0">
                <a:latin typeface="Symbol"/>
                <a:cs typeface="Symbol"/>
              </a:rPr>
              <a:t></a:t>
            </a:r>
            <a:r>
              <a:rPr sz="2404" spc="-7" dirty="0">
                <a:latin typeface="Times New Roman"/>
                <a:cs typeface="Times New Roman"/>
              </a:rPr>
              <a:t>2</a:t>
            </a:r>
            <a:endParaRPr sz="2404">
              <a:latin typeface="Times New Roman"/>
              <a:cs typeface="Times New Roman"/>
            </a:endParaRPr>
          </a:p>
        </p:txBody>
      </p:sp>
      <p:sp>
        <p:nvSpPr>
          <p:cNvPr id="18" name="object 18"/>
          <p:cNvSpPr txBox="1"/>
          <p:nvPr/>
        </p:nvSpPr>
        <p:spPr>
          <a:xfrm>
            <a:off x="2374649" y="4810196"/>
            <a:ext cx="1805709" cy="559316"/>
          </a:xfrm>
          <a:prstGeom prst="rect">
            <a:avLst/>
          </a:prstGeom>
        </p:spPr>
        <p:txBody>
          <a:bodyPr vert="horz" wrap="square" lIns="0" tIns="20062" rIns="0" bIns="0" rtlCol="0">
            <a:spAutoFit/>
          </a:bodyPr>
          <a:lstStyle/>
          <a:p>
            <a:pPr marL="52338">
              <a:spcBef>
                <a:spcPts val="157"/>
              </a:spcBef>
            </a:pPr>
            <a:r>
              <a:rPr sz="5254" i="1" spc="30" baseline="2178" dirty="0">
                <a:latin typeface="Times New Roman"/>
                <a:cs typeface="Times New Roman"/>
              </a:rPr>
              <a:t>c</a:t>
            </a:r>
            <a:r>
              <a:rPr sz="2988" i="1" spc="30" baseline="-21072" dirty="0">
                <a:latin typeface="Times New Roman"/>
                <a:cs typeface="Times New Roman"/>
              </a:rPr>
              <a:t>K</a:t>
            </a:r>
            <a:r>
              <a:rPr sz="2988" i="1" spc="41" baseline="-21072" dirty="0">
                <a:latin typeface="Times New Roman"/>
                <a:cs typeface="Times New Roman"/>
              </a:rPr>
              <a:t>N</a:t>
            </a:r>
            <a:r>
              <a:rPr sz="2988" i="1" spc="30" baseline="-21072" dirty="0">
                <a:latin typeface="Times New Roman"/>
                <a:cs typeface="Times New Roman"/>
              </a:rPr>
              <a:t> </a:t>
            </a:r>
            <a:r>
              <a:rPr sz="5254" spc="-236" baseline="2178" dirty="0">
                <a:latin typeface="Times New Roman"/>
                <a:cs typeface="Times New Roman"/>
              </a:rPr>
              <a:t>(</a:t>
            </a:r>
            <a:r>
              <a:rPr sz="5254" spc="-206" baseline="2178" dirty="0">
                <a:latin typeface="Symbol"/>
                <a:cs typeface="Symbol"/>
              </a:rPr>
              <a:t></a:t>
            </a:r>
            <a:r>
              <a:rPr sz="5254" spc="10" baseline="2178" dirty="0">
                <a:latin typeface="Times New Roman"/>
                <a:cs typeface="Times New Roman"/>
              </a:rPr>
              <a:t>)</a:t>
            </a:r>
            <a:r>
              <a:rPr sz="5254" spc="-422" baseline="2178" dirty="0">
                <a:latin typeface="Times New Roman"/>
                <a:cs typeface="Times New Roman"/>
              </a:rPr>
              <a:t> </a:t>
            </a:r>
            <a:r>
              <a:rPr sz="5254" spc="10" baseline="2178" dirty="0">
                <a:latin typeface="Symbol"/>
                <a:cs typeface="Symbol"/>
              </a:rPr>
              <a:t></a:t>
            </a:r>
            <a:r>
              <a:rPr sz="5254" spc="-381" baseline="2178" dirty="0">
                <a:latin typeface="Times New Roman"/>
                <a:cs typeface="Times New Roman"/>
              </a:rPr>
              <a:t> </a:t>
            </a:r>
            <a:r>
              <a:rPr sz="3503" spc="7" dirty="0">
                <a:latin typeface="Symbol"/>
                <a:cs typeface="Symbol"/>
              </a:rPr>
              <a:t></a:t>
            </a:r>
            <a:endParaRPr sz="3503">
              <a:latin typeface="Symbol"/>
              <a:cs typeface="Symbol"/>
            </a:endParaRPr>
          </a:p>
        </p:txBody>
      </p:sp>
      <p:sp>
        <p:nvSpPr>
          <p:cNvPr id="19" name="object 19"/>
          <p:cNvSpPr txBox="1"/>
          <p:nvPr/>
        </p:nvSpPr>
        <p:spPr>
          <a:xfrm>
            <a:off x="5071622" y="4481250"/>
            <a:ext cx="5484296" cy="559316"/>
          </a:xfrm>
          <a:prstGeom prst="rect">
            <a:avLst/>
          </a:prstGeom>
        </p:spPr>
        <p:txBody>
          <a:bodyPr vert="horz" wrap="square" lIns="0" tIns="20062" rIns="0" bIns="0" rtlCol="0">
            <a:spAutoFit/>
          </a:bodyPr>
          <a:lstStyle/>
          <a:p>
            <a:pPr marL="17446">
              <a:spcBef>
                <a:spcPts val="157"/>
              </a:spcBef>
              <a:tabLst>
                <a:tab pos="1842297" algn="l"/>
              </a:tabLst>
            </a:pPr>
            <a:r>
              <a:rPr sz="3503" i="1" spc="-14" dirty="0">
                <a:latin typeface="Times New Roman"/>
                <a:cs typeface="Times New Roman"/>
              </a:rPr>
              <a:t>count</a:t>
            </a:r>
            <a:r>
              <a:rPr sz="3503" spc="-14" dirty="0">
                <a:latin typeface="Times New Roman"/>
                <a:cs typeface="Times New Roman"/>
              </a:rPr>
              <a:t>(</a:t>
            </a:r>
            <a:r>
              <a:rPr sz="3503" spc="-14" dirty="0">
                <a:latin typeface="Symbol"/>
                <a:cs typeface="Symbol"/>
              </a:rPr>
              <a:t></a:t>
            </a:r>
            <a:r>
              <a:rPr sz="3503" spc="-14" dirty="0">
                <a:latin typeface="Times New Roman"/>
                <a:cs typeface="Times New Roman"/>
              </a:rPr>
              <a:t>)	</a:t>
            </a:r>
            <a:r>
              <a:rPr sz="3503" dirty="0">
                <a:latin typeface="Times New Roman"/>
                <a:cs typeface="Times New Roman"/>
              </a:rPr>
              <a:t>for</a:t>
            </a:r>
            <a:r>
              <a:rPr sz="3503" spc="-48" dirty="0">
                <a:latin typeface="Times New Roman"/>
                <a:cs typeface="Times New Roman"/>
              </a:rPr>
              <a:t> </a:t>
            </a:r>
            <a:r>
              <a:rPr sz="3503" spc="7" dirty="0">
                <a:latin typeface="Times New Roman"/>
                <a:cs typeface="Times New Roman"/>
              </a:rPr>
              <a:t>the</a:t>
            </a:r>
            <a:r>
              <a:rPr sz="3503" spc="-41" dirty="0">
                <a:latin typeface="Times New Roman"/>
                <a:cs typeface="Times New Roman"/>
              </a:rPr>
              <a:t> </a:t>
            </a:r>
            <a:r>
              <a:rPr sz="3503" dirty="0">
                <a:latin typeface="Times New Roman"/>
                <a:cs typeface="Times New Roman"/>
              </a:rPr>
              <a:t>highest</a:t>
            </a:r>
            <a:r>
              <a:rPr sz="3503" spc="-34" dirty="0">
                <a:latin typeface="Times New Roman"/>
                <a:cs typeface="Times New Roman"/>
              </a:rPr>
              <a:t> </a:t>
            </a:r>
            <a:r>
              <a:rPr sz="3503" spc="-7" dirty="0">
                <a:latin typeface="Times New Roman"/>
                <a:cs typeface="Times New Roman"/>
              </a:rPr>
              <a:t>order</a:t>
            </a:r>
            <a:endParaRPr sz="3503">
              <a:latin typeface="Times New Roman"/>
              <a:cs typeface="Times New Roman"/>
            </a:endParaRPr>
          </a:p>
        </p:txBody>
      </p:sp>
      <p:sp>
        <p:nvSpPr>
          <p:cNvPr id="20" name="object 20"/>
          <p:cNvSpPr txBox="1"/>
          <p:nvPr/>
        </p:nvSpPr>
        <p:spPr>
          <a:xfrm>
            <a:off x="3853842" y="4308610"/>
            <a:ext cx="326249" cy="559316"/>
          </a:xfrm>
          <a:prstGeom prst="rect">
            <a:avLst/>
          </a:prstGeom>
        </p:spPr>
        <p:txBody>
          <a:bodyPr vert="horz" wrap="square" lIns="0" tIns="20062" rIns="0" bIns="0" rtlCol="0">
            <a:spAutoFit/>
          </a:bodyPr>
          <a:lstStyle/>
          <a:p>
            <a:pPr marL="52338">
              <a:spcBef>
                <a:spcPts val="157"/>
              </a:spcBef>
            </a:pPr>
            <a:r>
              <a:rPr sz="5254" spc="-1802" baseline="-19607" dirty="0">
                <a:latin typeface="Symbol"/>
                <a:cs typeface="Symbol"/>
              </a:rPr>
              <a:t></a:t>
            </a:r>
            <a:r>
              <a:rPr sz="3503" spc="-1202" dirty="0">
                <a:latin typeface="Symbol"/>
                <a:cs typeface="Symbol"/>
              </a:rPr>
              <a:t></a:t>
            </a:r>
            <a:endParaRPr sz="3503">
              <a:latin typeface="Symbol"/>
              <a:cs typeface="Symbol"/>
            </a:endParaRPr>
          </a:p>
        </p:txBody>
      </p:sp>
      <p:sp>
        <p:nvSpPr>
          <p:cNvPr id="21" name="object 21"/>
          <p:cNvSpPr txBox="1"/>
          <p:nvPr/>
        </p:nvSpPr>
        <p:spPr>
          <a:xfrm>
            <a:off x="3836396" y="5158973"/>
            <a:ext cx="7471448" cy="559316"/>
          </a:xfrm>
          <a:prstGeom prst="rect">
            <a:avLst/>
          </a:prstGeom>
        </p:spPr>
        <p:txBody>
          <a:bodyPr vert="horz" wrap="square" lIns="0" tIns="20062" rIns="0" bIns="0" rtlCol="0">
            <a:spAutoFit/>
          </a:bodyPr>
          <a:lstStyle/>
          <a:p>
            <a:pPr marL="69784">
              <a:spcBef>
                <a:spcPts val="157"/>
              </a:spcBef>
              <a:tabLst>
                <a:tab pos="534720" algn="l"/>
                <a:tab pos="4730479" algn="l"/>
              </a:tabLst>
            </a:pPr>
            <a:r>
              <a:rPr sz="5254" spc="-1802" baseline="-19607" dirty="0">
                <a:latin typeface="Symbol"/>
                <a:cs typeface="Symbol"/>
              </a:rPr>
              <a:t></a:t>
            </a:r>
            <a:r>
              <a:rPr sz="5254" spc="-1802" baseline="-8714" dirty="0">
                <a:latin typeface="Symbol"/>
                <a:cs typeface="Symbol"/>
              </a:rPr>
              <a:t></a:t>
            </a:r>
            <a:r>
              <a:rPr sz="5254" spc="-1802" baseline="-8714" dirty="0">
                <a:latin typeface="Times New Roman"/>
                <a:cs typeface="Times New Roman"/>
              </a:rPr>
              <a:t>	</a:t>
            </a:r>
            <a:r>
              <a:rPr sz="3503" i="1" spc="-7" dirty="0">
                <a:latin typeface="Times New Roman"/>
                <a:cs typeface="Times New Roman"/>
              </a:rPr>
              <a:t>continuationcount</a:t>
            </a:r>
            <a:r>
              <a:rPr sz="3503" spc="-7" dirty="0">
                <a:latin typeface="Times New Roman"/>
                <a:cs typeface="Times New Roman"/>
              </a:rPr>
              <a:t>(</a:t>
            </a:r>
            <a:r>
              <a:rPr sz="3503" spc="-7" dirty="0">
                <a:latin typeface="Symbol"/>
                <a:cs typeface="Symbol"/>
              </a:rPr>
              <a:t></a:t>
            </a:r>
            <a:r>
              <a:rPr sz="3503" spc="-7" dirty="0">
                <a:latin typeface="Times New Roman"/>
                <a:cs typeface="Times New Roman"/>
              </a:rPr>
              <a:t>)	</a:t>
            </a:r>
            <a:r>
              <a:rPr sz="3503" dirty="0">
                <a:latin typeface="Times New Roman"/>
                <a:cs typeface="Times New Roman"/>
              </a:rPr>
              <a:t>for</a:t>
            </a:r>
            <a:r>
              <a:rPr sz="3503" spc="-55" dirty="0">
                <a:latin typeface="Times New Roman"/>
                <a:cs typeface="Times New Roman"/>
              </a:rPr>
              <a:t> </a:t>
            </a:r>
            <a:r>
              <a:rPr sz="3503" spc="-7" dirty="0">
                <a:latin typeface="Times New Roman"/>
                <a:cs typeface="Times New Roman"/>
              </a:rPr>
              <a:t>lower</a:t>
            </a:r>
            <a:r>
              <a:rPr sz="3503" spc="-55" dirty="0">
                <a:latin typeface="Times New Roman"/>
                <a:cs typeface="Times New Roman"/>
              </a:rPr>
              <a:t> </a:t>
            </a:r>
            <a:r>
              <a:rPr sz="3503" spc="-7" dirty="0">
                <a:latin typeface="Times New Roman"/>
                <a:cs typeface="Times New Roman"/>
              </a:rPr>
              <a:t>order</a:t>
            </a:r>
            <a:endParaRPr sz="3503">
              <a:latin typeface="Times New Roman"/>
              <a:cs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57494" y="1438778"/>
            <a:ext cx="3857413" cy="1870338"/>
          </a:xfrm>
          <a:prstGeom prst="rect">
            <a:avLst/>
          </a:prstGeom>
        </p:spPr>
        <p:txBody>
          <a:bodyPr vert="horz" wrap="square" lIns="0" tIns="48850" rIns="0" bIns="0" rtlCol="0">
            <a:spAutoFit/>
          </a:bodyPr>
          <a:lstStyle/>
          <a:p>
            <a:pPr marL="99442" marR="6978" indent="-82868">
              <a:lnSpc>
                <a:spcPts val="7143"/>
              </a:lnSpc>
              <a:spcBef>
                <a:spcPts val="385"/>
              </a:spcBef>
            </a:pPr>
            <a:r>
              <a:rPr sz="6044" b="1" spc="405" dirty="0">
                <a:latin typeface="Trebuchet MS"/>
                <a:cs typeface="Trebuchet MS"/>
              </a:rPr>
              <a:t>Language  </a:t>
            </a:r>
            <a:r>
              <a:rPr sz="6044" b="1" spc="453" dirty="0">
                <a:latin typeface="Trebuchet MS"/>
                <a:cs typeface="Trebuchet MS"/>
              </a:rPr>
              <a:t>Modeling</a:t>
            </a:r>
            <a:endParaRPr sz="6044">
              <a:latin typeface="Trebuchet MS"/>
              <a:cs typeface="Trebuchet MS"/>
            </a:endParaRPr>
          </a:p>
        </p:txBody>
      </p:sp>
      <p:sp>
        <p:nvSpPr>
          <p:cNvPr id="3" name="object 3"/>
          <p:cNvSpPr txBox="1">
            <a:spLocks noGrp="1"/>
          </p:cNvSpPr>
          <p:nvPr>
            <p:ph type="subTitle" idx="4"/>
          </p:nvPr>
        </p:nvSpPr>
        <p:spPr>
          <a:xfrm>
            <a:off x="0" y="4191000"/>
            <a:ext cx="15968070" cy="1631007"/>
          </a:xfrm>
          <a:prstGeom prst="rect">
            <a:avLst/>
          </a:prstGeom>
        </p:spPr>
        <p:txBody>
          <a:bodyPr vert="horz" wrap="square" lIns="0" tIns="17446" rIns="0" bIns="0" rtlCol="0">
            <a:spAutoFit/>
          </a:bodyPr>
          <a:lstStyle/>
          <a:p>
            <a:pPr marL="5467572" marR="6978" indent="1666092">
              <a:lnSpc>
                <a:spcPct val="122400"/>
              </a:lnSpc>
              <a:spcBef>
                <a:spcPts val="137"/>
              </a:spcBef>
            </a:pPr>
            <a:r>
              <a:rPr spc="-7" dirty="0"/>
              <a:t>Advanced: </a:t>
            </a:r>
            <a:r>
              <a:rPr dirty="0"/>
              <a:t> </a:t>
            </a:r>
            <a:endParaRPr lang="en-US" dirty="0"/>
          </a:p>
          <a:p>
            <a:pPr marL="5467572" marR="6978" indent="1666092">
              <a:lnSpc>
                <a:spcPct val="122400"/>
              </a:lnSpc>
              <a:spcBef>
                <a:spcPts val="137"/>
              </a:spcBef>
            </a:pPr>
            <a:r>
              <a:rPr spc="-117" dirty="0" err="1"/>
              <a:t>Kneser</a:t>
            </a:r>
            <a:r>
              <a:rPr spc="-117" dirty="0"/>
              <a:t>-Ney</a:t>
            </a:r>
            <a:r>
              <a:rPr spc="-76" dirty="0"/>
              <a:t> </a:t>
            </a:r>
            <a:r>
              <a:rPr spc="-7" dirty="0"/>
              <a:t>Smoothing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EF8E1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13109</TotalTime>
  <Words>7728</Words>
  <Application>Microsoft Office PowerPoint</Application>
  <PresentationFormat>Custom</PresentationFormat>
  <Paragraphs>1152</Paragraphs>
  <Slides>105</Slides>
  <Notes>58</Notes>
  <HiddenSlides>1</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105</vt:i4>
      </vt:variant>
    </vt:vector>
  </HeadingPairs>
  <TitlesOfParts>
    <vt:vector size="119" baseType="lpstr">
      <vt:lpstr>Arial</vt:lpstr>
      <vt:lpstr>Arial</vt:lpstr>
      <vt:lpstr>Arial MT</vt:lpstr>
      <vt:lpstr>Calibri</vt:lpstr>
      <vt:lpstr>Cambria Math</vt:lpstr>
      <vt:lpstr>Courier New</vt:lpstr>
      <vt:lpstr>Lucida Sans Unicode</vt:lpstr>
      <vt:lpstr>PT Serif</vt:lpstr>
      <vt:lpstr>Söhne</vt:lpstr>
      <vt:lpstr>Symbol</vt:lpstr>
      <vt:lpstr>Times New Roman</vt:lpstr>
      <vt:lpstr>Trebuchet MS</vt:lpstr>
      <vt:lpstr>Wingdings</vt:lpstr>
      <vt:lpstr>Office Theme</vt:lpstr>
      <vt:lpstr>PowerPoint Presentation</vt:lpstr>
      <vt:lpstr>Probabilistic Language Models</vt:lpstr>
      <vt:lpstr>Probabilistic Language Modeling</vt:lpstr>
      <vt:lpstr>How to compute P(W)</vt:lpstr>
      <vt:lpstr>Reminder: The Chain Rule</vt:lpstr>
      <vt:lpstr>The Chain Rule applied to compute  joint probability of words in sentence</vt:lpstr>
      <vt:lpstr>How to estimate these probabilities</vt:lpstr>
      <vt:lpstr>Markov Assumption</vt:lpstr>
      <vt:lpstr>P(w1w2 …wn )     P(wi | wi k …wi1)</vt:lpstr>
      <vt:lpstr>Simplest case: Unigram model P(w1w2 …wn )  P(wi )</vt:lpstr>
      <vt:lpstr>Bigram model</vt:lpstr>
      <vt:lpstr>N-­‐gram models</vt:lpstr>
      <vt:lpstr>PowerPoint Presentation</vt:lpstr>
      <vt:lpstr>PowerPoint Presentation</vt:lpstr>
      <vt:lpstr>Estimating bigram probabilities</vt:lpstr>
      <vt:lpstr>An example</vt:lpstr>
      <vt:lpstr>More examples: Berkeley Restaurant Project sentences</vt:lpstr>
      <vt:lpstr>Raw bigram counts</vt:lpstr>
      <vt:lpstr>Raw bigram probabilities</vt:lpstr>
      <vt:lpstr>Bigram estimates of sentence probabilities</vt:lpstr>
      <vt:lpstr>What kinds of knowledge?</vt:lpstr>
      <vt:lpstr>Practical Issues</vt:lpstr>
      <vt:lpstr>Language Modeling Toolkits</vt:lpstr>
      <vt:lpstr>Google N-­‐Gram Release, August 2006</vt:lpstr>
      <vt:lpstr>Google N-­‐Gram Release</vt:lpstr>
      <vt:lpstr>Google Book N-­‐grams</vt:lpstr>
      <vt:lpstr>PowerPoint Presentation</vt:lpstr>
      <vt:lpstr>PowerPoint Presentation</vt:lpstr>
      <vt:lpstr>Types of Evaluation</vt:lpstr>
      <vt:lpstr>Evaluation: How good is our model?</vt:lpstr>
      <vt:lpstr>Extrinsic evaluation of N-­‐gram models</vt:lpstr>
      <vt:lpstr>Difficulty of extrinsic (in-­‐vivo) evaluation of   N-­‐gram models</vt:lpstr>
      <vt:lpstr>Intuition of Perplexity</vt:lpstr>
      <vt:lpstr>Perplexity</vt:lpstr>
      <vt:lpstr>Perplexity as branching factor</vt:lpstr>
      <vt:lpstr>The Shannon Game intuition for perplexity</vt:lpstr>
      <vt:lpstr>PowerPoint Presentation</vt:lpstr>
      <vt:lpstr>Lower perplexity = better model</vt:lpstr>
      <vt:lpstr>PowerPoint Presentation</vt:lpstr>
      <vt:lpstr>PowerPoint Presentation</vt:lpstr>
      <vt:lpstr>The Shannon Visualization Method</vt:lpstr>
      <vt:lpstr>The Shannon Visualization Method</vt:lpstr>
      <vt:lpstr>Approximating Shakespeare</vt:lpstr>
      <vt:lpstr>Shakespeare as corpus</vt:lpstr>
      <vt:lpstr>The wall street journal is not shakespeare  (no oﬀense)</vt:lpstr>
      <vt:lpstr>The perils of overﬁtting</vt:lpstr>
      <vt:lpstr>Zeros</vt:lpstr>
      <vt:lpstr>Zero probability bigrams</vt:lpstr>
      <vt:lpstr>Unknown words:  Open versus closed  vocabulary tasks</vt:lpstr>
      <vt:lpstr>Closed  vocabulary System</vt:lpstr>
      <vt:lpstr> Open Vocabulary System</vt:lpstr>
      <vt:lpstr> Open Vocabulary System: First Approach</vt:lpstr>
      <vt:lpstr> Open Vocabulary System: Second Approach</vt:lpstr>
      <vt:lpstr>Unknown Words</vt:lpstr>
      <vt:lpstr>Unknown words:  Open versus closed  vocabulary tasks</vt:lpstr>
      <vt:lpstr>PowerPoint Presentation</vt:lpstr>
      <vt:lpstr>PowerPoint Presentation</vt:lpstr>
      <vt:lpstr>The intuition of smoothing (from Dan Klein)</vt:lpstr>
      <vt:lpstr>Add-­‐one estimation</vt:lpstr>
      <vt:lpstr>Maximum Likelihood Estimates</vt:lpstr>
      <vt:lpstr>Raw bigram counts</vt:lpstr>
      <vt:lpstr>Raw bigram probabilities</vt:lpstr>
      <vt:lpstr>Berkeley Restaurant Corpus: Laplace  smoothed bigram counts</vt:lpstr>
      <vt:lpstr>Laplace-smoothed bigrams</vt:lpstr>
      <vt:lpstr>Reconstituted counts</vt:lpstr>
      <vt:lpstr>Compare with raw bigram counts</vt:lpstr>
      <vt:lpstr>Add-­‐1 estimation is a blunt instrument</vt:lpstr>
      <vt:lpstr>PowerPoint Presentation</vt:lpstr>
      <vt:lpstr>PowerPoint Presentation</vt:lpstr>
      <vt:lpstr>Backoff and Interpolation</vt:lpstr>
      <vt:lpstr>Interpolation</vt:lpstr>
      <vt:lpstr>Interpolation</vt:lpstr>
      <vt:lpstr>Linear Interpolation</vt:lpstr>
      <vt:lpstr>Linear Interpolation</vt:lpstr>
      <vt:lpstr>How to set the lambdas?</vt:lpstr>
      <vt:lpstr>Stupid Backoff</vt:lpstr>
      <vt:lpstr>Smoothing for Web-­‐scale N-­‐grams</vt:lpstr>
      <vt:lpstr>Huge web-­‐scale n-­‐grams</vt:lpstr>
      <vt:lpstr>N-­‐gram Smoothing Summary</vt:lpstr>
      <vt:lpstr>Advanced Language Modeling</vt:lpstr>
      <vt:lpstr>PowerPoint Presentation</vt:lpstr>
      <vt:lpstr>PowerPoint Presentation</vt:lpstr>
      <vt:lpstr>Reminder: Add-1 (Laplace) Smoothing</vt:lpstr>
      <vt:lpstr>More general formulations: Add-k</vt:lpstr>
      <vt:lpstr>More general formulations: Add-k</vt:lpstr>
      <vt:lpstr>Unigram prior smoothing</vt:lpstr>
      <vt:lpstr>Advanced smoothing algorithms</vt:lpstr>
      <vt:lpstr>Notation: Nc = Frequency of frequency c</vt:lpstr>
      <vt:lpstr>Good-Turing smoothing intuition</vt:lpstr>
      <vt:lpstr>Good Turing calculations</vt:lpstr>
      <vt:lpstr>Ney et al.’s Good Turing Intuition</vt:lpstr>
      <vt:lpstr>PowerPoint Presentation</vt:lpstr>
      <vt:lpstr>Good-Turing complications (slide from Dan Klein)</vt:lpstr>
      <vt:lpstr>Resulting Good-Turing numbers</vt:lpstr>
      <vt:lpstr>PowerPoint Presentation</vt:lpstr>
      <vt:lpstr>PowerPoint Presentation</vt:lpstr>
      <vt:lpstr>Resulting Good-Turing numbers</vt:lpstr>
      <vt:lpstr>Absolute Discounting</vt:lpstr>
      <vt:lpstr>Absolute Discounting Interpolation</vt:lpstr>
      <vt:lpstr>Kneser-Ney Smoothing I</vt:lpstr>
      <vt:lpstr>Kneser-Ney Smoothing II</vt:lpstr>
      <vt:lpstr>Kneser-Ney Smoothing III</vt:lpstr>
      <vt:lpstr>Kneser-Ney Smoothing IV</vt:lpstr>
      <vt:lpstr>Kneser-Ney Smoothing:  Recursive  formulation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hajra waheed</cp:lastModifiedBy>
  <cp:revision>38</cp:revision>
  <dcterms:created xsi:type="dcterms:W3CDTF">2023-02-07T06:20:16Z</dcterms:created>
  <dcterms:modified xsi:type="dcterms:W3CDTF">2024-01-31T09:23:13Z</dcterms:modified>
</cp:coreProperties>
</file>