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63" r:id="rId5"/>
    <p:sldId id="264" r:id="rId6"/>
    <p:sldId id="265" r:id="rId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9" d="100"/>
          <a:sy n="109" d="100"/>
        </p:scale>
        <p:origin x="1674"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C61A6371-3702-4776-8E1C-1D1857660A72}" type="datetimeFigureOut">
              <a:rPr lang="en-US" smtClean="0"/>
              <a:pPr/>
              <a:t>12/10/2020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0D85D0B-8501-4198-A081-1CF0136165D4}"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C61A6371-3702-4776-8E1C-1D1857660A72}" type="datetimeFigureOut">
              <a:rPr lang="en-US" smtClean="0"/>
              <a:pPr/>
              <a:t>12/10/2020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0D85D0B-8501-4198-A081-1CF0136165D4}"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61A6371-3702-4776-8E1C-1D1857660A72}" type="datetimeFigureOut">
              <a:rPr lang="en-US" smtClean="0"/>
              <a:pPr/>
              <a:t>12/10/2020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0D85D0B-8501-4198-A081-1CF0136165D4}"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C61A6371-3702-4776-8E1C-1D1857660A72}" type="datetimeFigureOut">
              <a:rPr lang="en-US" smtClean="0"/>
              <a:pPr/>
              <a:t>12/10/2020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0D85D0B-8501-4198-A081-1CF0136165D4}"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C61A6371-3702-4776-8E1C-1D1857660A72}" type="datetimeFigureOut">
              <a:rPr lang="en-US" smtClean="0"/>
              <a:pPr/>
              <a:t>12/10/2020</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0D85D0B-8501-4198-A081-1CF0136165D4}"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C61A6371-3702-4776-8E1C-1D1857660A72}" type="datetimeFigureOut">
              <a:rPr lang="en-US" smtClean="0"/>
              <a:pPr/>
              <a:t>12/10/2020</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0D85D0B-8501-4198-A081-1CF0136165D4}"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61A6371-3702-4776-8E1C-1D1857660A72}" type="datetimeFigureOut">
              <a:rPr lang="en-US" smtClean="0"/>
              <a:pPr/>
              <a:t>12/10/2020</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80D85D0B-8501-4198-A081-1CF0136165D4}"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61A6371-3702-4776-8E1C-1D1857660A72}" type="datetimeFigureOut">
              <a:rPr lang="en-US" smtClean="0"/>
              <a:pPr/>
              <a:t>12/10/2020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0D85D0B-8501-4198-A081-1CF0136165D4}"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61A6371-3702-4776-8E1C-1D1857660A72}" type="datetimeFigureOut">
              <a:rPr lang="en-US" smtClean="0"/>
              <a:pPr/>
              <a:t>12/10/2020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0D85D0B-8501-4198-A081-1CF0136165D4}"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C61A6371-3702-4776-8E1C-1D1857660A72}" type="datetimeFigureOut">
              <a:rPr lang="en-US" smtClean="0"/>
              <a:pPr/>
              <a:t>12/10/2020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0D85D0B-8501-4198-A081-1CF0136165D4}"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C61A6371-3702-4776-8E1C-1D1857660A72}" type="datetimeFigureOut">
              <a:rPr lang="en-US" smtClean="0"/>
              <a:pPr/>
              <a:t>12/10/2020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0D85D0B-8501-4198-A081-1CF0136165D4}"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1A6371-3702-4776-8E1C-1D1857660A72}" type="datetimeFigureOut">
              <a:rPr lang="en-US" smtClean="0"/>
              <a:pPr/>
              <a:t>12/10/2020</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D85D0B-8501-4198-A081-1CF0136165D4}"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alpha val="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5 Paragraph Essay</a:t>
            </a:r>
            <a:endParaRPr lang="en-US" dirty="0"/>
          </a:p>
        </p:txBody>
      </p:sp>
      <p:sp>
        <p:nvSpPr>
          <p:cNvPr id="3" name="Subtitle 2"/>
          <p:cNvSpPr>
            <a:spLocks noGrp="1"/>
          </p:cNvSpPr>
          <p:nvPr>
            <p:ph type="subTitle" idx="1"/>
          </p:nvPr>
        </p:nvSpPr>
        <p:spPr/>
        <p:txBody>
          <a:bodyPr/>
          <a:lstStyle/>
          <a:p>
            <a:r>
              <a:rPr lang="en-GB" dirty="0">
                <a:solidFill>
                  <a:schemeClr val="tx1"/>
                </a:solidFill>
              </a:rPr>
              <a:t>Effects of Afghan War on Pakistan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3575050" y="969521"/>
            <a:ext cx="5111750" cy="5411807"/>
          </a:xfrm>
          <a:noFill/>
          <a:ln>
            <a:solidFill>
              <a:schemeClr val="tx2">
                <a:lumMod val="20000"/>
                <a:lumOff val="80000"/>
              </a:schemeClr>
            </a:solidFill>
          </a:ln>
        </p:spPr>
        <p:txBody>
          <a:bodyPr>
            <a:noAutofit/>
          </a:bodyPr>
          <a:lstStyle/>
          <a:p>
            <a:pPr marL="0" indent="0" algn="just">
              <a:buNone/>
            </a:pPr>
            <a:r>
              <a:rPr lang="en-US" sz="2600" b="1" dirty="0">
                <a:solidFill>
                  <a:srgbClr val="00B050"/>
                </a:solidFill>
              </a:rPr>
              <a:t>Was the Afghan War actually a victory for Pakistan or did it have grave underlying consequences?</a:t>
            </a:r>
            <a:r>
              <a:rPr lang="en-US" sz="2600" dirty="0"/>
              <a:t> This war was the part of a proxy war in the “Cold War” conflict. Wars being massive encounters often bring major changes.</a:t>
            </a:r>
            <a:r>
              <a:rPr lang="en-US" sz="2600" b="1" dirty="0">
                <a:solidFill>
                  <a:srgbClr val="00B050"/>
                </a:solidFill>
              </a:rPr>
              <a:t> </a:t>
            </a:r>
            <a:r>
              <a:rPr lang="en-US" sz="2600" b="1" dirty="0">
                <a:solidFill>
                  <a:srgbClr val="FF0000"/>
                </a:solidFill>
              </a:rPr>
              <a:t>The Afghan War had serious aftershocks, it  resulted in military aid, brought millions of Afghan refugees and led to an increase in religious extremism in Pakistan.</a:t>
            </a:r>
            <a:r>
              <a:rPr lang="en-US" sz="2600" b="1" dirty="0">
                <a:solidFill>
                  <a:srgbClr val="00B050"/>
                </a:solidFill>
              </a:rPr>
              <a:t> </a:t>
            </a:r>
            <a:endParaRPr lang="en-GB" sz="2600" b="1" dirty="0">
              <a:solidFill>
                <a:srgbClr val="0070C0"/>
              </a:solidFill>
            </a:endParaRPr>
          </a:p>
        </p:txBody>
      </p:sp>
      <p:sp>
        <p:nvSpPr>
          <p:cNvPr id="10" name="Text Placeholder 9"/>
          <p:cNvSpPr>
            <a:spLocks noGrp="1"/>
          </p:cNvSpPr>
          <p:nvPr>
            <p:ph type="body" sz="half" idx="2"/>
          </p:nvPr>
        </p:nvSpPr>
        <p:spPr>
          <a:xfrm>
            <a:off x="500034" y="969521"/>
            <a:ext cx="3008313" cy="5411807"/>
          </a:xfrm>
          <a:solidFill>
            <a:schemeClr val="tx2">
              <a:lumMod val="20000"/>
              <a:lumOff val="80000"/>
            </a:schemeClr>
          </a:solidFill>
        </p:spPr>
        <p:txBody>
          <a:bodyPr>
            <a:normAutofit fontScale="92500"/>
          </a:bodyPr>
          <a:lstStyle/>
          <a:p>
            <a:r>
              <a:rPr lang="en-GB" sz="2000" b="1" dirty="0"/>
              <a:t>Reader’s Hook</a:t>
            </a:r>
            <a:r>
              <a:rPr lang="en-GB" sz="2000" dirty="0"/>
              <a:t> :  </a:t>
            </a:r>
            <a:r>
              <a:rPr lang="en-GB" sz="2000" b="1" dirty="0">
                <a:solidFill>
                  <a:srgbClr val="00B050"/>
                </a:solidFill>
              </a:rPr>
              <a:t>Question</a:t>
            </a:r>
            <a:r>
              <a:rPr lang="en-GB" sz="2000" dirty="0"/>
              <a:t> </a:t>
            </a:r>
          </a:p>
          <a:p>
            <a:endParaRPr lang="en-GB" sz="2000" dirty="0"/>
          </a:p>
          <a:p>
            <a:r>
              <a:rPr lang="en-GB" sz="2000" b="1" dirty="0"/>
              <a:t>Lead in to thesis statement</a:t>
            </a:r>
          </a:p>
          <a:p>
            <a:endParaRPr lang="en-GB" dirty="0"/>
          </a:p>
          <a:p>
            <a:endParaRPr lang="en-GB" dirty="0"/>
          </a:p>
          <a:p>
            <a:endParaRPr lang="en-GB" dirty="0"/>
          </a:p>
          <a:p>
            <a:r>
              <a:rPr lang="en-GB" sz="2100" b="1" dirty="0">
                <a:solidFill>
                  <a:srgbClr val="FF0000"/>
                </a:solidFill>
              </a:rPr>
              <a:t>Thesis Statement</a:t>
            </a:r>
            <a:r>
              <a:rPr lang="en-GB" sz="2100" dirty="0">
                <a:solidFill>
                  <a:srgbClr val="FF0000"/>
                </a:solidFill>
              </a:rPr>
              <a:t>: </a:t>
            </a:r>
          </a:p>
          <a:p>
            <a:r>
              <a:rPr lang="en-GB" sz="1800" dirty="0"/>
              <a:t>Subject : Afghan War</a:t>
            </a:r>
          </a:p>
          <a:p>
            <a:r>
              <a:rPr lang="en-GB" sz="1800" dirty="0"/>
              <a:t>Perspective:  Effects of Afghan War on Pakistan </a:t>
            </a:r>
          </a:p>
          <a:p>
            <a:endParaRPr lang="en-GB" sz="1800" dirty="0"/>
          </a:p>
          <a:p>
            <a:r>
              <a:rPr lang="en-GB" sz="1800" dirty="0"/>
              <a:t>3 points:  </a:t>
            </a:r>
          </a:p>
          <a:p>
            <a:pPr marL="342900" indent="-342900">
              <a:buFont typeface="Arial" pitchFamily="34" charset="0"/>
              <a:buChar char="•"/>
            </a:pPr>
            <a:r>
              <a:rPr lang="en-GB" sz="1800" dirty="0"/>
              <a:t>Military Aid</a:t>
            </a:r>
          </a:p>
          <a:p>
            <a:pPr marL="342900" indent="-342900">
              <a:buFont typeface="Arial" pitchFamily="34" charset="0"/>
              <a:buChar char="•"/>
            </a:pPr>
            <a:r>
              <a:rPr lang="en-GB" sz="1800" dirty="0"/>
              <a:t>Afghan refugees in Pakistan</a:t>
            </a:r>
          </a:p>
          <a:p>
            <a:pPr marL="342900" indent="-342900">
              <a:buFont typeface="Arial" pitchFamily="34" charset="0"/>
              <a:buChar char="•"/>
            </a:pPr>
            <a:r>
              <a:rPr lang="en-GB" sz="1800" dirty="0"/>
              <a:t>Increase in religious extremism</a:t>
            </a:r>
          </a:p>
          <a:p>
            <a:pPr marL="342900" indent="-342900">
              <a:buAutoNum type="arabicPeriod"/>
            </a:pPr>
            <a:r>
              <a:rPr lang="en-GB" sz="1800" dirty="0"/>
              <a:t> </a:t>
            </a:r>
          </a:p>
        </p:txBody>
      </p:sp>
      <p:sp>
        <p:nvSpPr>
          <p:cNvPr id="2" name="TextBox 1"/>
          <p:cNvSpPr txBox="1"/>
          <p:nvPr/>
        </p:nvSpPr>
        <p:spPr>
          <a:xfrm>
            <a:off x="500034" y="332656"/>
            <a:ext cx="8186766" cy="461665"/>
          </a:xfrm>
          <a:prstGeom prst="rect">
            <a:avLst/>
          </a:prstGeom>
          <a:noFill/>
        </p:spPr>
        <p:txBody>
          <a:bodyPr wrap="square" rtlCol="0">
            <a:spAutoFit/>
          </a:bodyPr>
          <a:lstStyle/>
          <a:p>
            <a:r>
              <a:rPr lang="en-US" sz="2400" b="1" dirty="0"/>
              <a:t>Introductory Paragraph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3575050" y="969521"/>
            <a:ext cx="5111750" cy="5411807"/>
          </a:xfrm>
          <a:noFill/>
          <a:ln>
            <a:solidFill>
              <a:schemeClr val="tx2">
                <a:lumMod val="20000"/>
                <a:lumOff val="80000"/>
              </a:schemeClr>
            </a:solidFill>
          </a:ln>
        </p:spPr>
        <p:txBody>
          <a:bodyPr>
            <a:noAutofit/>
          </a:bodyPr>
          <a:lstStyle/>
          <a:p>
            <a:pPr marL="0" indent="0">
              <a:buNone/>
            </a:pPr>
            <a:r>
              <a:rPr lang="en-US" sz="2670" b="1" dirty="0">
                <a:solidFill>
                  <a:srgbClr val="00B050"/>
                </a:solidFill>
              </a:rPr>
              <a:t>US aided Pakistan with millions of dollars for the Afghan War. </a:t>
            </a:r>
            <a:r>
              <a:rPr lang="en-US" sz="2670" dirty="0"/>
              <a:t>The military regime of Zia was completely supported by the US. This money was poured to train and arm religious militants known as “Mujahedeen”. Thus, these mujahedeen were to be used against Soviet Union to drive out “atheist communism</a:t>
            </a:r>
            <a:r>
              <a:rPr lang="en-US" sz="2670" dirty="0">
                <a:solidFill>
                  <a:srgbClr val="0070C0"/>
                </a:solidFill>
              </a:rPr>
              <a:t>”. Another effect was that it opened a doorway to countless immigrants</a:t>
            </a:r>
            <a:endParaRPr lang="en-GB" sz="2670" b="1" dirty="0">
              <a:solidFill>
                <a:srgbClr val="0070C0"/>
              </a:solidFill>
            </a:endParaRPr>
          </a:p>
        </p:txBody>
      </p:sp>
      <p:sp>
        <p:nvSpPr>
          <p:cNvPr id="10" name="Text Placeholder 9"/>
          <p:cNvSpPr>
            <a:spLocks noGrp="1"/>
          </p:cNvSpPr>
          <p:nvPr>
            <p:ph type="body" sz="half" idx="2"/>
          </p:nvPr>
        </p:nvSpPr>
        <p:spPr>
          <a:xfrm>
            <a:off x="500034" y="969521"/>
            <a:ext cx="3008313" cy="5411807"/>
          </a:xfrm>
          <a:solidFill>
            <a:schemeClr val="tx2">
              <a:lumMod val="20000"/>
              <a:lumOff val="80000"/>
            </a:schemeClr>
          </a:solidFill>
        </p:spPr>
        <p:txBody>
          <a:bodyPr>
            <a:normAutofit/>
          </a:bodyPr>
          <a:lstStyle/>
          <a:p>
            <a:r>
              <a:rPr lang="en-GB" sz="1900" b="1" dirty="0">
                <a:solidFill>
                  <a:srgbClr val="00B050"/>
                </a:solidFill>
              </a:rPr>
              <a:t>Topic Sentence</a:t>
            </a:r>
          </a:p>
          <a:p>
            <a:endParaRPr lang="en-GB" sz="1900" b="1" dirty="0">
              <a:solidFill>
                <a:srgbClr val="00B050"/>
              </a:solidFill>
            </a:endParaRPr>
          </a:p>
          <a:p>
            <a:r>
              <a:rPr lang="en-GB" sz="1900" b="1" dirty="0">
                <a:solidFill>
                  <a:schemeClr val="tx1">
                    <a:lumMod val="85000"/>
                    <a:lumOff val="15000"/>
                  </a:schemeClr>
                </a:solidFill>
              </a:rPr>
              <a:t>Supporting Details</a:t>
            </a:r>
          </a:p>
          <a:p>
            <a:endParaRPr lang="en-GB" sz="1900" b="1" dirty="0">
              <a:solidFill>
                <a:schemeClr val="tx1">
                  <a:lumMod val="85000"/>
                  <a:lumOff val="15000"/>
                </a:schemeClr>
              </a:solidFill>
            </a:endParaRPr>
          </a:p>
          <a:p>
            <a:endParaRPr lang="en-GB" sz="1900" b="1" dirty="0">
              <a:solidFill>
                <a:schemeClr val="tx1">
                  <a:lumMod val="85000"/>
                  <a:lumOff val="15000"/>
                </a:schemeClr>
              </a:solidFill>
            </a:endParaRPr>
          </a:p>
          <a:p>
            <a:endParaRPr lang="en-GB" sz="1900" b="1" dirty="0">
              <a:solidFill>
                <a:schemeClr val="tx1">
                  <a:lumMod val="85000"/>
                  <a:lumOff val="15000"/>
                </a:schemeClr>
              </a:solidFill>
            </a:endParaRPr>
          </a:p>
          <a:p>
            <a:endParaRPr lang="en-GB" sz="1900" b="1" dirty="0">
              <a:solidFill>
                <a:schemeClr val="tx1">
                  <a:lumMod val="85000"/>
                  <a:lumOff val="15000"/>
                </a:schemeClr>
              </a:solidFill>
            </a:endParaRPr>
          </a:p>
          <a:p>
            <a:endParaRPr lang="en-GB" sz="1900" b="1" dirty="0">
              <a:solidFill>
                <a:schemeClr val="tx1">
                  <a:lumMod val="85000"/>
                  <a:lumOff val="15000"/>
                </a:schemeClr>
              </a:solidFill>
            </a:endParaRPr>
          </a:p>
          <a:p>
            <a:endParaRPr lang="en-GB" sz="1900" b="1" dirty="0">
              <a:solidFill>
                <a:schemeClr val="tx1">
                  <a:lumMod val="85000"/>
                  <a:lumOff val="15000"/>
                </a:schemeClr>
              </a:solidFill>
            </a:endParaRPr>
          </a:p>
          <a:p>
            <a:endParaRPr lang="en-GB" sz="1900" b="1" dirty="0">
              <a:solidFill>
                <a:schemeClr val="tx1">
                  <a:lumMod val="85000"/>
                  <a:lumOff val="15000"/>
                </a:schemeClr>
              </a:solidFill>
            </a:endParaRPr>
          </a:p>
          <a:p>
            <a:endParaRPr lang="en-GB" sz="1900" b="1" dirty="0">
              <a:solidFill>
                <a:schemeClr val="tx1">
                  <a:lumMod val="85000"/>
                  <a:lumOff val="15000"/>
                </a:schemeClr>
              </a:solidFill>
            </a:endParaRPr>
          </a:p>
          <a:p>
            <a:r>
              <a:rPr lang="en-GB" sz="1900" b="1" dirty="0">
                <a:solidFill>
                  <a:srgbClr val="002060"/>
                </a:solidFill>
              </a:rPr>
              <a:t>Transitional hook </a:t>
            </a:r>
          </a:p>
        </p:txBody>
      </p:sp>
      <p:sp>
        <p:nvSpPr>
          <p:cNvPr id="2" name="TextBox 1"/>
          <p:cNvSpPr txBox="1"/>
          <p:nvPr/>
        </p:nvSpPr>
        <p:spPr>
          <a:xfrm>
            <a:off x="500034" y="332656"/>
            <a:ext cx="8186766" cy="461665"/>
          </a:xfrm>
          <a:prstGeom prst="rect">
            <a:avLst/>
          </a:prstGeom>
          <a:noFill/>
        </p:spPr>
        <p:txBody>
          <a:bodyPr wrap="square" rtlCol="0">
            <a:spAutoFit/>
          </a:bodyPr>
          <a:lstStyle/>
          <a:p>
            <a:r>
              <a:rPr lang="en-US" sz="2400" b="1" dirty="0"/>
              <a:t>First Paragraph</a:t>
            </a:r>
          </a:p>
        </p:txBody>
      </p:sp>
    </p:spTree>
    <p:extLst>
      <p:ext uri="{BB962C8B-B14F-4D97-AF65-F5344CB8AC3E}">
        <p14:creationId xmlns:p14="http://schemas.microsoft.com/office/powerpoint/2010/main" val="3958496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3575050" y="969521"/>
            <a:ext cx="5111750" cy="5411807"/>
          </a:xfrm>
          <a:noFill/>
          <a:ln>
            <a:solidFill>
              <a:schemeClr val="tx2">
                <a:lumMod val="20000"/>
                <a:lumOff val="80000"/>
              </a:schemeClr>
            </a:solidFill>
          </a:ln>
        </p:spPr>
        <p:txBody>
          <a:bodyPr>
            <a:noAutofit/>
          </a:bodyPr>
          <a:lstStyle/>
          <a:p>
            <a:pPr marL="0" indent="0" algn="just">
              <a:buNone/>
            </a:pPr>
            <a:r>
              <a:rPr lang="en-US" sz="2160" b="1" dirty="0">
                <a:solidFill>
                  <a:srgbClr val="00B050"/>
                </a:solidFill>
              </a:rPr>
              <a:t>Also, migration of Afghan refugees was initially welcomed in Pakistan as was her “moral” support of the Afghan War.</a:t>
            </a:r>
            <a:r>
              <a:rPr lang="en-US" sz="2160" dirty="0"/>
              <a:t> However, it was later realized that these refugees became a burden on Pakistan’s economy. Even long after the 9 year war, Afghan refugees still live in Pakistan in either refugee camps or have fused into Pakistani society through marriage. Furthermore, mismanagement and corruption of NADRA officials is also a reason for the seamless integration of Afghan refugees in Pakistan. </a:t>
            </a:r>
            <a:endParaRPr lang="en-GB" sz="2160" b="1" dirty="0">
              <a:solidFill>
                <a:srgbClr val="002060"/>
              </a:solidFill>
            </a:endParaRPr>
          </a:p>
        </p:txBody>
      </p:sp>
      <p:sp>
        <p:nvSpPr>
          <p:cNvPr id="10" name="Text Placeholder 9"/>
          <p:cNvSpPr>
            <a:spLocks noGrp="1"/>
          </p:cNvSpPr>
          <p:nvPr>
            <p:ph type="body" sz="half" idx="2"/>
          </p:nvPr>
        </p:nvSpPr>
        <p:spPr>
          <a:xfrm>
            <a:off x="500034" y="969521"/>
            <a:ext cx="3008313" cy="5411807"/>
          </a:xfrm>
          <a:solidFill>
            <a:schemeClr val="tx2">
              <a:lumMod val="20000"/>
              <a:lumOff val="80000"/>
            </a:schemeClr>
          </a:solidFill>
        </p:spPr>
        <p:txBody>
          <a:bodyPr>
            <a:normAutofit/>
          </a:bodyPr>
          <a:lstStyle/>
          <a:p>
            <a:r>
              <a:rPr lang="en-GB" sz="1900" b="1" dirty="0">
                <a:solidFill>
                  <a:srgbClr val="00B050"/>
                </a:solidFill>
              </a:rPr>
              <a:t>Topic Sentence</a:t>
            </a:r>
          </a:p>
          <a:p>
            <a:endParaRPr lang="en-GB" sz="1900" b="1" dirty="0">
              <a:solidFill>
                <a:srgbClr val="00B050"/>
              </a:solidFill>
            </a:endParaRPr>
          </a:p>
          <a:p>
            <a:endParaRPr lang="en-GB" sz="1900" b="1" dirty="0">
              <a:solidFill>
                <a:srgbClr val="00B050"/>
              </a:solidFill>
            </a:endParaRPr>
          </a:p>
          <a:p>
            <a:r>
              <a:rPr lang="en-GB" sz="1900" b="1" dirty="0">
                <a:solidFill>
                  <a:schemeClr val="tx1">
                    <a:lumMod val="85000"/>
                    <a:lumOff val="15000"/>
                  </a:schemeClr>
                </a:solidFill>
              </a:rPr>
              <a:t>Supporting Details</a:t>
            </a:r>
          </a:p>
          <a:p>
            <a:endParaRPr lang="en-GB" sz="1900" b="1" dirty="0">
              <a:solidFill>
                <a:schemeClr val="tx1">
                  <a:lumMod val="85000"/>
                  <a:lumOff val="15000"/>
                </a:schemeClr>
              </a:solidFill>
            </a:endParaRPr>
          </a:p>
          <a:p>
            <a:endParaRPr lang="en-GB" sz="1900" b="1" dirty="0">
              <a:solidFill>
                <a:schemeClr val="tx1">
                  <a:lumMod val="85000"/>
                  <a:lumOff val="15000"/>
                </a:schemeClr>
              </a:solidFill>
            </a:endParaRPr>
          </a:p>
          <a:p>
            <a:endParaRPr lang="en-GB" sz="1900" b="1" dirty="0">
              <a:solidFill>
                <a:schemeClr val="tx1">
                  <a:lumMod val="85000"/>
                  <a:lumOff val="15000"/>
                </a:schemeClr>
              </a:solidFill>
            </a:endParaRPr>
          </a:p>
          <a:p>
            <a:endParaRPr lang="en-GB" sz="1900" b="1" dirty="0">
              <a:solidFill>
                <a:schemeClr val="tx1">
                  <a:lumMod val="85000"/>
                  <a:lumOff val="15000"/>
                </a:schemeClr>
              </a:solidFill>
            </a:endParaRPr>
          </a:p>
          <a:p>
            <a:endParaRPr lang="en-GB" sz="1900" b="1" dirty="0">
              <a:solidFill>
                <a:schemeClr val="tx1">
                  <a:lumMod val="85000"/>
                  <a:lumOff val="15000"/>
                </a:schemeClr>
              </a:solidFill>
            </a:endParaRPr>
          </a:p>
          <a:p>
            <a:endParaRPr lang="en-GB" sz="1900" b="1" dirty="0">
              <a:solidFill>
                <a:schemeClr val="tx1">
                  <a:lumMod val="85000"/>
                  <a:lumOff val="15000"/>
                </a:schemeClr>
              </a:solidFill>
            </a:endParaRPr>
          </a:p>
          <a:p>
            <a:endParaRPr lang="en-GB" sz="1900" b="1" dirty="0">
              <a:solidFill>
                <a:schemeClr val="tx1">
                  <a:lumMod val="85000"/>
                  <a:lumOff val="15000"/>
                </a:schemeClr>
              </a:solidFill>
            </a:endParaRPr>
          </a:p>
          <a:p>
            <a:r>
              <a:rPr lang="en-GB" sz="1900" b="1" dirty="0">
                <a:solidFill>
                  <a:srgbClr val="002060"/>
                </a:solidFill>
              </a:rPr>
              <a:t>Transitional hook </a:t>
            </a:r>
          </a:p>
        </p:txBody>
      </p:sp>
      <p:sp>
        <p:nvSpPr>
          <p:cNvPr id="2" name="TextBox 1"/>
          <p:cNvSpPr txBox="1"/>
          <p:nvPr/>
        </p:nvSpPr>
        <p:spPr>
          <a:xfrm>
            <a:off x="500034" y="332656"/>
            <a:ext cx="8186766" cy="461665"/>
          </a:xfrm>
          <a:prstGeom prst="rect">
            <a:avLst/>
          </a:prstGeom>
          <a:noFill/>
        </p:spPr>
        <p:txBody>
          <a:bodyPr wrap="square" rtlCol="0">
            <a:spAutoFit/>
          </a:bodyPr>
          <a:lstStyle/>
          <a:p>
            <a:r>
              <a:rPr lang="en-US" sz="2400" b="1" dirty="0"/>
              <a:t>Second Paragraph</a:t>
            </a:r>
          </a:p>
        </p:txBody>
      </p:sp>
    </p:spTree>
    <p:extLst>
      <p:ext uri="{BB962C8B-B14F-4D97-AF65-F5344CB8AC3E}">
        <p14:creationId xmlns:p14="http://schemas.microsoft.com/office/powerpoint/2010/main" val="30245274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3575050" y="969521"/>
            <a:ext cx="5111750" cy="5411807"/>
          </a:xfrm>
          <a:noFill/>
          <a:ln>
            <a:solidFill>
              <a:schemeClr val="tx2">
                <a:lumMod val="20000"/>
                <a:lumOff val="80000"/>
              </a:schemeClr>
            </a:solidFill>
          </a:ln>
        </p:spPr>
        <p:txBody>
          <a:bodyPr>
            <a:noAutofit/>
          </a:bodyPr>
          <a:lstStyle/>
          <a:p>
            <a:pPr marL="0" indent="0">
              <a:buNone/>
            </a:pPr>
            <a:r>
              <a:rPr lang="en-US" sz="2530" b="1" dirty="0">
                <a:solidFill>
                  <a:srgbClr val="00B050"/>
                </a:solidFill>
              </a:rPr>
              <a:t>This led to </a:t>
            </a:r>
            <a:r>
              <a:rPr lang="en-US" sz="2530" b="1" dirty="0" err="1">
                <a:solidFill>
                  <a:srgbClr val="00B050"/>
                </a:solidFill>
              </a:rPr>
              <a:t>to</a:t>
            </a:r>
            <a:r>
              <a:rPr lang="en-US" sz="2530" b="1" dirty="0">
                <a:solidFill>
                  <a:srgbClr val="00B050"/>
                </a:solidFill>
              </a:rPr>
              <a:t> the Afghan War linked with creating “future terrorists” by instilling an extremist mindset.</a:t>
            </a:r>
            <a:r>
              <a:rPr lang="en-US" sz="2530" dirty="0"/>
              <a:t> Before, Pakistan had trained Afghani teenagers in madrassahs and given them religious and military training to fight the USSR. When the war ended, the same madrassahs now began to instill violent jihadism in young Pakistani minds.</a:t>
            </a:r>
            <a:r>
              <a:rPr lang="en-US" sz="2530" b="1" dirty="0">
                <a:solidFill>
                  <a:srgbClr val="00B050"/>
                </a:solidFill>
              </a:rPr>
              <a:t> </a:t>
            </a:r>
            <a:r>
              <a:rPr lang="en-GB" sz="2530" dirty="0"/>
              <a:t>Later, this violent jihadism would change the </a:t>
            </a:r>
            <a:r>
              <a:rPr lang="en-GB" sz="2530" dirty="0" err="1"/>
              <a:t>mindset</a:t>
            </a:r>
            <a:r>
              <a:rPr lang="en-GB" sz="2530" dirty="0"/>
              <a:t> of the oncoming future Pakistani generation slowly and steadily. </a:t>
            </a:r>
            <a:endParaRPr lang="en-US" sz="2530" b="1" dirty="0">
              <a:solidFill>
                <a:srgbClr val="00B050"/>
              </a:solidFill>
            </a:endParaRPr>
          </a:p>
        </p:txBody>
      </p:sp>
      <p:sp>
        <p:nvSpPr>
          <p:cNvPr id="10" name="Text Placeholder 9"/>
          <p:cNvSpPr>
            <a:spLocks noGrp="1"/>
          </p:cNvSpPr>
          <p:nvPr>
            <p:ph type="body" sz="half" idx="2"/>
          </p:nvPr>
        </p:nvSpPr>
        <p:spPr>
          <a:xfrm>
            <a:off x="500034" y="969521"/>
            <a:ext cx="3008313" cy="5411807"/>
          </a:xfrm>
          <a:solidFill>
            <a:schemeClr val="tx2">
              <a:lumMod val="20000"/>
              <a:lumOff val="80000"/>
            </a:schemeClr>
          </a:solidFill>
        </p:spPr>
        <p:txBody>
          <a:bodyPr>
            <a:normAutofit/>
          </a:bodyPr>
          <a:lstStyle/>
          <a:p>
            <a:r>
              <a:rPr lang="en-GB" sz="1900" b="1" dirty="0">
                <a:solidFill>
                  <a:srgbClr val="00B050"/>
                </a:solidFill>
              </a:rPr>
              <a:t>Topic Sentence</a:t>
            </a:r>
          </a:p>
          <a:p>
            <a:endParaRPr lang="en-GB" sz="1900" b="1" dirty="0">
              <a:solidFill>
                <a:srgbClr val="00B050"/>
              </a:solidFill>
            </a:endParaRPr>
          </a:p>
          <a:p>
            <a:endParaRPr lang="en-GB" sz="1900" b="1" dirty="0">
              <a:solidFill>
                <a:srgbClr val="00B050"/>
              </a:solidFill>
            </a:endParaRPr>
          </a:p>
          <a:p>
            <a:r>
              <a:rPr lang="en-GB" sz="1900" b="1" dirty="0">
                <a:solidFill>
                  <a:schemeClr val="tx1">
                    <a:lumMod val="85000"/>
                    <a:lumOff val="15000"/>
                  </a:schemeClr>
                </a:solidFill>
              </a:rPr>
              <a:t>Supporting Details</a:t>
            </a:r>
          </a:p>
          <a:p>
            <a:endParaRPr lang="en-GB" sz="1900" b="1" dirty="0">
              <a:solidFill>
                <a:schemeClr val="tx1">
                  <a:lumMod val="85000"/>
                  <a:lumOff val="15000"/>
                </a:schemeClr>
              </a:solidFill>
            </a:endParaRPr>
          </a:p>
          <a:p>
            <a:endParaRPr lang="en-GB" sz="1900" b="1" dirty="0">
              <a:solidFill>
                <a:schemeClr val="tx1">
                  <a:lumMod val="85000"/>
                  <a:lumOff val="15000"/>
                </a:schemeClr>
              </a:solidFill>
            </a:endParaRPr>
          </a:p>
          <a:p>
            <a:endParaRPr lang="en-GB" sz="1900" b="1" dirty="0">
              <a:solidFill>
                <a:schemeClr val="tx1">
                  <a:lumMod val="85000"/>
                  <a:lumOff val="15000"/>
                </a:schemeClr>
              </a:solidFill>
            </a:endParaRPr>
          </a:p>
          <a:p>
            <a:endParaRPr lang="en-GB" sz="1900" b="1" dirty="0">
              <a:solidFill>
                <a:schemeClr val="tx1">
                  <a:lumMod val="85000"/>
                  <a:lumOff val="15000"/>
                </a:schemeClr>
              </a:solidFill>
            </a:endParaRPr>
          </a:p>
          <a:p>
            <a:endParaRPr lang="en-GB" sz="1900" b="1" dirty="0">
              <a:solidFill>
                <a:schemeClr val="tx1">
                  <a:lumMod val="85000"/>
                  <a:lumOff val="15000"/>
                </a:schemeClr>
              </a:solidFill>
            </a:endParaRPr>
          </a:p>
          <a:p>
            <a:endParaRPr lang="en-GB" sz="1900" b="1" dirty="0">
              <a:solidFill>
                <a:schemeClr val="tx1">
                  <a:lumMod val="85000"/>
                  <a:lumOff val="15000"/>
                </a:schemeClr>
              </a:solidFill>
            </a:endParaRPr>
          </a:p>
          <a:p>
            <a:endParaRPr lang="en-GB" sz="1900" b="1" dirty="0">
              <a:solidFill>
                <a:schemeClr val="tx1">
                  <a:lumMod val="85000"/>
                  <a:lumOff val="15000"/>
                </a:schemeClr>
              </a:solidFill>
            </a:endParaRPr>
          </a:p>
          <a:p>
            <a:endParaRPr lang="en-GB" sz="1900" b="1" dirty="0">
              <a:solidFill>
                <a:schemeClr val="tx1">
                  <a:lumMod val="85000"/>
                  <a:lumOff val="15000"/>
                </a:schemeClr>
              </a:solidFill>
            </a:endParaRPr>
          </a:p>
          <a:p>
            <a:endParaRPr lang="en-GB" sz="1900" b="1" dirty="0">
              <a:solidFill>
                <a:schemeClr val="tx1">
                  <a:lumMod val="85000"/>
                  <a:lumOff val="15000"/>
                </a:schemeClr>
              </a:solidFill>
            </a:endParaRPr>
          </a:p>
          <a:p>
            <a:endParaRPr lang="en-GB" sz="1900" b="1" dirty="0">
              <a:solidFill>
                <a:schemeClr val="tx1">
                  <a:lumMod val="85000"/>
                  <a:lumOff val="15000"/>
                </a:schemeClr>
              </a:solidFill>
            </a:endParaRPr>
          </a:p>
        </p:txBody>
      </p:sp>
      <p:sp>
        <p:nvSpPr>
          <p:cNvPr id="2" name="TextBox 1"/>
          <p:cNvSpPr txBox="1"/>
          <p:nvPr/>
        </p:nvSpPr>
        <p:spPr>
          <a:xfrm>
            <a:off x="500034" y="332656"/>
            <a:ext cx="8186766" cy="461665"/>
          </a:xfrm>
          <a:prstGeom prst="rect">
            <a:avLst/>
          </a:prstGeom>
          <a:noFill/>
        </p:spPr>
        <p:txBody>
          <a:bodyPr wrap="square" rtlCol="0">
            <a:spAutoFit/>
          </a:bodyPr>
          <a:lstStyle/>
          <a:p>
            <a:r>
              <a:rPr lang="en-US" sz="2400" b="1" dirty="0"/>
              <a:t>Third Paragraph</a:t>
            </a:r>
          </a:p>
        </p:txBody>
      </p:sp>
    </p:spTree>
    <p:extLst>
      <p:ext uri="{BB962C8B-B14F-4D97-AF65-F5344CB8AC3E}">
        <p14:creationId xmlns:p14="http://schemas.microsoft.com/office/powerpoint/2010/main" val="24022832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3575050" y="969521"/>
            <a:ext cx="5111750" cy="5411807"/>
          </a:xfrm>
          <a:noFill/>
          <a:ln>
            <a:solidFill>
              <a:schemeClr val="tx2">
                <a:lumMod val="20000"/>
                <a:lumOff val="80000"/>
              </a:schemeClr>
            </a:solidFill>
          </a:ln>
        </p:spPr>
        <p:txBody>
          <a:bodyPr>
            <a:noAutofit/>
          </a:bodyPr>
          <a:lstStyle/>
          <a:p>
            <a:pPr marL="0" indent="0">
              <a:buNone/>
            </a:pPr>
            <a:r>
              <a:rPr lang="en-US" b="1" dirty="0">
                <a:solidFill>
                  <a:srgbClr val="7030A0"/>
                </a:solidFill>
              </a:rPr>
              <a:t>To conclude, the Afghan War led to religious militancy, influx of Afghans and military aid in Pakistan. </a:t>
            </a:r>
            <a:r>
              <a:rPr lang="en-US" b="1" dirty="0">
                <a:solidFill>
                  <a:schemeClr val="accent6">
                    <a:lumMod val="75000"/>
                  </a:schemeClr>
                </a:solidFill>
              </a:rPr>
              <a:t>Although this war has been seen as a major victory, the aforementioned effects of the Afghan War have played an instrumental role in destabilizing Pakistan.</a:t>
            </a:r>
          </a:p>
        </p:txBody>
      </p:sp>
      <p:sp>
        <p:nvSpPr>
          <p:cNvPr id="10" name="Text Placeholder 9"/>
          <p:cNvSpPr>
            <a:spLocks noGrp="1"/>
          </p:cNvSpPr>
          <p:nvPr>
            <p:ph type="body" sz="half" idx="2"/>
          </p:nvPr>
        </p:nvSpPr>
        <p:spPr>
          <a:xfrm>
            <a:off x="500034" y="969521"/>
            <a:ext cx="3008313" cy="5411807"/>
          </a:xfrm>
          <a:solidFill>
            <a:schemeClr val="tx2">
              <a:lumMod val="20000"/>
              <a:lumOff val="80000"/>
            </a:schemeClr>
          </a:solidFill>
        </p:spPr>
        <p:txBody>
          <a:bodyPr>
            <a:normAutofit/>
          </a:bodyPr>
          <a:lstStyle/>
          <a:p>
            <a:r>
              <a:rPr lang="en-GB" sz="1900" b="1" dirty="0">
                <a:solidFill>
                  <a:srgbClr val="7030A0"/>
                </a:solidFill>
              </a:rPr>
              <a:t>Re – emphasis of  thesis  statement</a:t>
            </a:r>
          </a:p>
          <a:p>
            <a:endParaRPr lang="en-GB" sz="1900" b="1" dirty="0">
              <a:solidFill>
                <a:srgbClr val="7030A0"/>
              </a:solidFill>
            </a:endParaRPr>
          </a:p>
          <a:p>
            <a:endParaRPr lang="en-GB" sz="1900" b="1" dirty="0">
              <a:solidFill>
                <a:srgbClr val="7030A0"/>
              </a:solidFill>
            </a:endParaRPr>
          </a:p>
          <a:p>
            <a:endParaRPr lang="en-GB" sz="1900" b="1" dirty="0">
              <a:solidFill>
                <a:srgbClr val="7030A0"/>
              </a:solidFill>
            </a:endParaRPr>
          </a:p>
          <a:p>
            <a:r>
              <a:rPr lang="en-GB" sz="1900" b="1" dirty="0">
                <a:solidFill>
                  <a:schemeClr val="accent6">
                    <a:lumMod val="75000"/>
                  </a:schemeClr>
                </a:solidFill>
              </a:rPr>
              <a:t>Conclusion</a:t>
            </a:r>
          </a:p>
        </p:txBody>
      </p:sp>
      <p:sp>
        <p:nvSpPr>
          <p:cNvPr id="2" name="TextBox 1"/>
          <p:cNvSpPr txBox="1"/>
          <p:nvPr/>
        </p:nvSpPr>
        <p:spPr>
          <a:xfrm>
            <a:off x="500034" y="332656"/>
            <a:ext cx="8186766" cy="461665"/>
          </a:xfrm>
          <a:prstGeom prst="rect">
            <a:avLst/>
          </a:prstGeom>
          <a:noFill/>
        </p:spPr>
        <p:txBody>
          <a:bodyPr wrap="square" rtlCol="0">
            <a:spAutoFit/>
          </a:bodyPr>
          <a:lstStyle/>
          <a:p>
            <a:r>
              <a:rPr lang="en-US" sz="2400" b="1" dirty="0"/>
              <a:t>Concluding Paragraph</a:t>
            </a:r>
          </a:p>
        </p:txBody>
      </p:sp>
    </p:spTree>
    <p:extLst>
      <p:ext uri="{BB962C8B-B14F-4D97-AF65-F5344CB8AC3E}">
        <p14:creationId xmlns:p14="http://schemas.microsoft.com/office/powerpoint/2010/main" val="42353325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5356</TotalTime>
  <Words>434</Words>
  <Application>Microsoft Office PowerPoint</Application>
  <PresentationFormat>On-screen Show (4:3)</PresentationFormat>
  <Paragraphs>68</Paragraphs>
  <Slides>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5 Paragraph Essay</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Expository Sample</dc:title>
  <dc:creator>TECHUB</dc:creator>
  <cp:lastModifiedBy>Zahida</cp:lastModifiedBy>
  <cp:revision>88</cp:revision>
  <dcterms:created xsi:type="dcterms:W3CDTF">2015-10-24T07:58:51Z</dcterms:created>
  <dcterms:modified xsi:type="dcterms:W3CDTF">2020-12-10T12:00:38Z</dcterms:modified>
</cp:coreProperties>
</file>