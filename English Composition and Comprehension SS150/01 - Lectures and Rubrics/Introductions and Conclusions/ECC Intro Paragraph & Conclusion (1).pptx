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4"/>
  </p:notesMasterIdLst>
  <p:sldIdLst>
    <p:sldId id="258" r:id="rId2"/>
    <p:sldId id="278" r:id="rId3"/>
    <p:sldId id="259" r:id="rId4"/>
    <p:sldId id="269" r:id="rId5"/>
    <p:sldId id="272" r:id="rId6"/>
    <p:sldId id="273" r:id="rId7"/>
    <p:sldId id="274" r:id="rId8"/>
    <p:sldId id="275" r:id="rId9"/>
    <p:sldId id="282" r:id="rId10"/>
    <p:sldId id="276" r:id="rId11"/>
    <p:sldId id="277" r:id="rId12"/>
    <p:sldId id="260" r:id="rId13"/>
    <p:sldId id="270" r:id="rId14"/>
    <p:sldId id="262" r:id="rId15"/>
    <p:sldId id="263" r:id="rId16"/>
    <p:sldId id="265" r:id="rId17"/>
    <p:sldId id="266" r:id="rId18"/>
    <p:sldId id="271" r:id="rId19"/>
    <p:sldId id="281" r:id="rId20"/>
    <p:sldId id="279" r:id="rId21"/>
    <p:sldId id="280" r:id="rId22"/>
    <p:sldId id="283"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9E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2" d="100"/>
          <a:sy n="42" d="100"/>
        </p:scale>
        <p:origin x="1158" y="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E436E5-BC52-492B-95E5-29FFF3145C31}" type="datetimeFigureOut">
              <a:rPr lang="en-US" smtClean="0"/>
              <a:t>12/1/2020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C2CFDC-2C24-49BA-8ED1-24240656E678}" type="slidenum">
              <a:rPr lang="en-US" smtClean="0"/>
              <a:t>‹#›</a:t>
            </a:fld>
            <a:endParaRPr lang="en-US"/>
          </a:p>
        </p:txBody>
      </p:sp>
    </p:spTree>
    <p:extLst>
      <p:ext uri="{BB962C8B-B14F-4D97-AF65-F5344CB8AC3E}">
        <p14:creationId xmlns:p14="http://schemas.microsoft.com/office/powerpoint/2010/main" val="536589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C2CFDC-2C24-49BA-8ED1-24240656E678}" type="slidenum">
              <a:rPr lang="en-US" smtClean="0"/>
              <a:t>3</a:t>
            </a:fld>
            <a:endParaRPr lang="en-US"/>
          </a:p>
        </p:txBody>
      </p:sp>
    </p:spTree>
    <p:extLst>
      <p:ext uri="{BB962C8B-B14F-4D97-AF65-F5344CB8AC3E}">
        <p14:creationId xmlns:p14="http://schemas.microsoft.com/office/powerpoint/2010/main" val="413937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000" y="3200400"/>
            <a:ext cx="7543800" cy="1524000"/>
          </a:xfrm>
        </p:spPr>
        <p:txBody>
          <a:bodyPr>
            <a:noAutofit/>
          </a:bodyPr>
          <a:lstStyle>
            <a:lvl1pPr>
              <a:defRPr sz="8000"/>
            </a:lvl1pPr>
          </a:lstStyle>
          <a:p>
            <a:r>
              <a:rPr lang="en-US"/>
              <a:t>Click to edit Master title style</a:t>
            </a:r>
            <a:endParaRPr lang="en-US" dirty="0"/>
          </a:p>
        </p:txBody>
      </p:sp>
      <p:sp>
        <p:nvSpPr>
          <p:cNvPr id="3" name="Subtitle 2"/>
          <p:cNvSpPr>
            <a:spLocks noGrp="1"/>
          </p:cNvSpPr>
          <p:nvPr>
            <p:ph type="subTitle" idx="1"/>
          </p:nvPr>
        </p:nvSpPr>
        <p:spPr>
          <a:xfrm>
            <a:off x="762000" y="4724400"/>
            <a:ext cx="6858000" cy="990600"/>
          </a:xfrm>
        </p:spPr>
        <p:txBody>
          <a:bodyPr anchor="t" anchorCtr="0">
            <a:normAutofit/>
          </a:bodyPr>
          <a:lstStyle>
            <a:lvl1pPr marL="0" indent="0" algn="l">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14A7BA-1DA3-454F-A63A-73570433A26B}" type="datetimeFigureOut">
              <a:rPr lang="en-US" smtClean="0"/>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64EE9-ADB0-4AA8-AF89-221930694335}" type="slidenum">
              <a:rPr lang="en-US" smtClean="0"/>
              <a:t>‹#›</a:t>
            </a:fld>
            <a:endParaRPr lang="en-US"/>
          </a:p>
        </p:txBody>
      </p:sp>
      <p:sp>
        <p:nvSpPr>
          <p:cNvPr id="7" name="Rectangle 6"/>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14A7BA-1DA3-454F-A63A-73570433A26B}" type="datetimeFigureOut">
              <a:rPr lang="en-US" smtClean="0"/>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64EE9-ADB0-4AA8-AF89-22193069433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000" y="3276600"/>
            <a:ext cx="7543800" cy="1676400"/>
          </a:xfrm>
        </p:spPr>
        <p:txBody>
          <a:bodyPr anchor="b" anchorCtr="0"/>
          <a:lstStyle>
            <a:lvl1pPr algn="l">
              <a:defRPr sz="5400" b="0" cap="all"/>
            </a:lvl1pPr>
          </a:lstStyle>
          <a:p>
            <a:r>
              <a:rPr lang="en-US"/>
              <a:t>Click to edit Master title style</a:t>
            </a:r>
            <a:endParaRPr lang="en-US" dirty="0"/>
          </a:p>
        </p:txBody>
      </p:sp>
      <p:sp>
        <p:nvSpPr>
          <p:cNvPr id="3" name="Text Placeholder 2"/>
          <p:cNvSpPr>
            <a:spLocks noGrp="1"/>
          </p:cNvSpPr>
          <p:nvPr>
            <p:ph type="body" idx="1"/>
          </p:nvPr>
        </p:nvSpPr>
        <p:spPr>
          <a:xfrm>
            <a:off x="762000" y="4953000"/>
            <a:ext cx="6858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14A7BA-1DA3-454F-A63A-73570433A26B}" type="datetimeFigureOut">
              <a:rPr lang="en-US" smtClean="0"/>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64EE9-ADB0-4AA8-AF89-221930694335}" type="slidenum">
              <a:rPr lang="en-US" smtClean="0"/>
              <a:t>‹#›</a:t>
            </a:fld>
            <a:endParaRPr lang="en-US"/>
          </a:p>
        </p:txBody>
      </p:sp>
      <p:sp>
        <p:nvSpPr>
          <p:cNvPr id="8" name="Rectangle 7"/>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F14A7BA-1DA3-454F-A63A-73570433A26B}" type="datetimeFigureOut">
              <a:rPr lang="en-US" smtClean="0"/>
              <a:t>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E64EE9-ADB0-4AA8-AF89-22193069433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89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89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1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1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F14A7BA-1DA3-454F-A63A-73570433A26B}" type="datetimeFigureOut">
              <a:rPr lang="en-US" smtClean="0"/>
              <a:t>12/1/2020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E64EE9-ADB0-4AA8-AF89-221930694335}" type="slidenum">
              <a:rPr lang="en-US" smtClean="0"/>
              <a:t>‹#›</a:t>
            </a:fld>
            <a:endParaRPr lang="en-US"/>
          </a:p>
        </p:txBody>
      </p:sp>
      <p:cxnSp>
        <p:nvCxnSpPr>
          <p:cNvPr id="11" name="Straight Connector 10"/>
          <p:cNvCxnSpPr/>
          <p:nvPr/>
        </p:nvCxnSpPr>
        <p:spPr>
          <a:xfrm>
            <a:off x="7589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6451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14A7BA-1DA3-454F-A63A-73570433A26B}" type="datetimeFigureOut">
              <a:rPr lang="en-US" smtClean="0"/>
              <a:t>12/1/2020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E64EE9-ADB0-4AA8-AF89-22193069433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14A7BA-1DA3-454F-A63A-73570433A26B}" type="datetimeFigureOut">
              <a:rPr lang="en-US" smtClean="0"/>
              <a:t>12/1/2020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E64EE9-ADB0-4AA8-AF89-22193069433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6784848" cy="1600200"/>
          </a:xfrm>
        </p:spPr>
        <p:txBody>
          <a:bodyPr anchor="b">
            <a:normAutofit/>
          </a:bodyPr>
          <a:lstStyle>
            <a:lvl1pPr algn="l">
              <a:defRPr sz="5400" b="0"/>
            </a:lvl1pPr>
          </a:lstStyle>
          <a:p>
            <a:r>
              <a:rPr lang="en-US"/>
              <a:t>Click to edit Master title style</a:t>
            </a:r>
          </a:p>
        </p:txBody>
      </p:sp>
      <p:sp>
        <p:nvSpPr>
          <p:cNvPr id="3" name="Content Placeholder 2"/>
          <p:cNvSpPr>
            <a:spLocks noGrp="1"/>
          </p:cNvSpPr>
          <p:nvPr>
            <p:ph idx="1"/>
          </p:nvPr>
        </p:nvSpPr>
        <p:spPr>
          <a:xfrm>
            <a:off x="3710866" y="457200"/>
            <a:ext cx="4594934" cy="41147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2001" y="457200"/>
            <a:ext cx="2673657" cy="4114800"/>
          </a:xfrm>
        </p:spPr>
        <p:txBody>
          <a:bodyPr>
            <a:normAutofit/>
          </a:bodyPr>
          <a:lstStyle>
            <a:lvl1pPr marL="0" indent="0">
              <a:buNone/>
              <a:defRPr sz="21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14A7BA-1DA3-454F-A63A-73570433A26B}" type="datetimeFigureOut">
              <a:rPr lang="en-US" smtClean="0"/>
              <a:t>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E64EE9-ADB0-4AA8-AF89-221930694335}" type="slidenum">
              <a:rPr lang="en-US" smtClean="0"/>
              <a:t>‹#›</a:t>
            </a:fld>
            <a:endParaRPr lang="en-US"/>
          </a:p>
        </p:txBody>
      </p:sp>
      <p:cxnSp>
        <p:nvCxnSpPr>
          <p:cNvPr id="10" name="Straight Connector 9"/>
          <p:cNvCxnSpPr/>
          <p:nvPr/>
        </p:nvCxnSpPr>
        <p:spPr>
          <a:xfrm rot="5400000">
            <a:off x="1677194" y="2514600"/>
            <a:ext cx="3810000" cy="1588"/>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4572000"/>
            <a:ext cx="6784848" cy="1600200"/>
          </a:xfrm>
        </p:spPr>
        <p:txBody>
          <a:bodyPr anchor="b">
            <a:normAutofit/>
          </a:bodyPr>
          <a:lstStyle>
            <a:lvl1pPr algn="l">
              <a:defRPr sz="5400" b="0"/>
            </a:lvl1pPr>
          </a:lstStyle>
          <a:p>
            <a:r>
              <a:rPr lang="en-US"/>
              <a:t>Click to edit Master title style</a:t>
            </a:r>
            <a:endParaRPr lang="en-US" dirty="0"/>
          </a:p>
        </p:txBody>
      </p:sp>
      <p:sp>
        <p:nvSpPr>
          <p:cNvPr id="3" name="Picture Placeholder 2"/>
          <p:cNvSpPr>
            <a:spLocks noGrp="1"/>
          </p:cNvSpPr>
          <p:nvPr>
            <p:ph type="pic" idx="1"/>
          </p:nvPr>
        </p:nvSpPr>
        <p:spPr>
          <a:xfrm>
            <a:off x="777240" y="457200"/>
            <a:ext cx="7543800" cy="2895600"/>
          </a:xfrm>
          <a:ln w="6350">
            <a:solidFill>
              <a:schemeClr val="tx2"/>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50392" y="3505200"/>
            <a:ext cx="7391400" cy="804862"/>
          </a:xfrm>
        </p:spPr>
        <p:txBody>
          <a:bodyPr anchor="t" anchorCtr="0">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14A7BA-1DA3-454F-A63A-73570433A26B}" type="datetimeFigureOut">
              <a:rPr lang="en-US" smtClean="0"/>
              <a:t>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E64EE9-ADB0-4AA8-AF89-22193069433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914400" y="685800"/>
            <a:ext cx="7239000" cy="38862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14A7BA-1DA3-454F-A63A-73570433A26B}" type="datetimeFigureOut">
              <a:rPr lang="en-US" smtClean="0"/>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64EE9-ADB0-4AA8-AF89-22193069433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2000" y="685801"/>
            <a:ext cx="1828800" cy="54101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90800" y="685801"/>
            <a:ext cx="5715000" cy="48768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14A7BA-1DA3-454F-A63A-73570433A26B}" type="datetimeFigureOut">
              <a:rPr lang="en-US" smtClean="0"/>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E64EE9-ADB0-4AA8-AF89-22193069433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572000"/>
            <a:ext cx="6781800" cy="160020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762000" y="685800"/>
            <a:ext cx="7543800" cy="3886200"/>
          </a:xfrm>
          <a:prstGeom prst="rect">
            <a:avLst/>
          </a:prstGeom>
        </p:spPr>
        <p:txBody>
          <a:bodyPr vert="horz" lIns="91440" tIns="45720" rIns="91440" bIns="45720" rtlCol="0" anchor="ctr"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48400" y="6208776"/>
            <a:ext cx="2133600" cy="365125"/>
          </a:xfrm>
          <a:prstGeom prst="rect">
            <a:avLst/>
          </a:prstGeom>
        </p:spPr>
        <p:txBody>
          <a:bodyPr vert="horz" lIns="91440" tIns="45720" rIns="91440" bIns="45720" rtlCol="0" anchor="ctr"/>
          <a:lstStyle>
            <a:lvl1pPr algn="r">
              <a:defRPr sz="1200" b="1">
                <a:solidFill>
                  <a:schemeClr val="tx2">
                    <a:lumMod val="90000"/>
                    <a:lumOff val="10000"/>
                  </a:schemeClr>
                </a:solidFill>
                <a:latin typeface="+mn-lt"/>
              </a:defRPr>
            </a:lvl1pPr>
          </a:lstStyle>
          <a:p>
            <a:fld id="{EF14A7BA-1DA3-454F-A63A-73570433A26B}" type="datetimeFigureOut">
              <a:rPr lang="en-US" smtClean="0"/>
              <a:t>12/1/2020</a:t>
            </a:fld>
            <a:endParaRPr lang="en-US"/>
          </a:p>
        </p:txBody>
      </p:sp>
      <p:sp>
        <p:nvSpPr>
          <p:cNvPr id="5" name="Footer Placeholder 4"/>
          <p:cNvSpPr>
            <a:spLocks noGrp="1"/>
          </p:cNvSpPr>
          <p:nvPr>
            <p:ph type="ftr" sz="quarter" idx="3"/>
          </p:nvPr>
        </p:nvSpPr>
        <p:spPr>
          <a:xfrm>
            <a:off x="761999" y="6208776"/>
            <a:ext cx="4873869" cy="365125"/>
          </a:xfrm>
          <a:prstGeom prst="rect">
            <a:avLst/>
          </a:prstGeom>
        </p:spPr>
        <p:txBody>
          <a:bodyPr vert="horz" lIns="91440" tIns="45720" rIns="91440" bIns="45720" rtlCol="0" anchor="ctr"/>
          <a:lstStyle>
            <a:lvl1pPr algn="l">
              <a:defRPr sz="1200" b="1">
                <a:solidFill>
                  <a:schemeClr val="tx2">
                    <a:lumMod val="90000"/>
                    <a:lumOff val="10000"/>
                  </a:schemeClr>
                </a:solidFill>
              </a:defRPr>
            </a:lvl1pPr>
          </a:lstStyle>
          <a:p>
            <a:endParaRPr lang="en-US"/>
          </a:p>
        </p:txBody>
      </p:sp>
      <p:sp>
        <p:nvSpPr>
          <p:cNvPr id="6" name="Slide Number Placeholder 5"/>
          <p:cNvSpPr>
            <a:spLocks noGrp="1"/>
          </p:cNvSpPr>
          <p:nvPr>
            <p:ph type="sldNum" sz="quarter" idx="4"/>
          </p:nvPr>
        </p:nvSpPr>
        <p:spPr>
          <a:xfrm>
            <a:off x="7620000" y="5687568"/>
            <a:ext cx="762000" cy="365125"/>
          </a:xfrm>
          <a:prstGeom prst="rect">
            <a:avLst/>
          </a:prstGeom>
        </p:spPr>
        <p:txBody>
          <a:bodyPr vert="horz" lIns="91440" tIns="45720" rIns="91440" bIns="45720" rtlCol="0" anchor="ctr"/>
          <a:lstStyle>
            <a:lvl1pPr algn="r">
              <a:defRPr sz="2400">
                <a:solidFill>
                  <a:schemeClr val="tx1">
                    <a:lumMod val="85000"/>
                    <a:lumOff val="15000"/>
                  </a:schemeClr>
                </a:solidFill>
                <a:latin typeface="+mj-lt"/>
              </a:defRPr>
            </a:lvl1pPr>
          </a:lstStyle>
          <a:p>
            <a:fld id="{40E64EE9-ADB0-4AA8-AF89-221930694335}" type="slidenum">
              <a:rPr lang="en-US" smtClean="0"/>
              <a:t>‹#›</a:t>
            </a:fld>
            <a:endParaRPr lang="en-US"/>
          </a:p>
        </p:txBody>
      </p:sp>
      <p:sp>
        <p:nvSpPr>
          <p:cNvPr id="8" name="Rectangle 7"/>
          <p:cNvSpPr/>
          <p:nvPr/>
        </p:nvSpPr>
        <p:spPr>
          <a:xfrm>
            <a:off x="777240" y="0"/>
            <a:ext cx="7543800"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lectronics.howstuffworks.com/how-to-tech/how-to-reduce-technology-carbon-footprint4.htm"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kibin.com/essay-examples/search?q=causes%20of%20homelessness"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6000" dirty="0"/>
              <a:t/>
            </a:r>
            <a:br>
              <a:rPr lang="en-US" sz="6000" dirty="0"/>
            </a:br>
            <a:r>
              <a:rPr lang="en-US" sz="6000" dirty="0"/>
              <a:t/>
            </a:r>
            <a:br>
              <a:rPr lang="en-US" sz="6000" dirty="0"/>
            </a:br>
            <a:r>
              <a:rPr lang="en-US" sz="6000" dirty="0"/>
              <a:t/>
            </a:r>
            <a:br>
              <a:rPr lang="en-US" sz="6000" dirty="0"/>
            </a:br>
            <a:r>
              <a:rPr lang="en-US" sz="6000" dirty="0"/>
              <a:t/>
            </a:r>
            <a:br>
              <a:rPr lang="en-US" sz="6000" dirty="0"/>
            </a:br>
            <a:r>
              <a:rPr lang="en-US" sz="6000" dirty="0"/>
              <a:t/>
            </a:r>
            <a:br>
              <a:rPr lang="en-US" sz="6000" dirty="0"/>
            </a:br>
            <a:r>
              <a:rPr lang="en-US" sz="6000" dirty="0"/>
              <a:t/>
            </a:r>
            <a:br>
              <a:rPr lang="en-US" sz="6000" dirty="0"/>
            </a:br>
            <a:r>
              <a:rPr lang="en-US" sz="6000" dirty="0"/>
              <a:t/>
            </a:r>
            <a:br>
              <a:rPr lang="en-US" sz="6000" dirty="0"/>
            </a:br>
            <a:r>
              <a:rPr lang="en-US" sz="6000" dirty="0"/>
              <a:t/>
            </a:r>
            <a:br>
              <a:rPr lang="en-US" sz="6000" dirty="0"/>
            </a:br>
            <a:r>
              <a:rPr lang="en-US" sz="6000" dirty="0"/>
              <a:t>How to Write Your Introduction Paragraph &amp; Conclusion</a:t>
            </a:r>
          </a:p>
        </p:txBody>
      </p:sp>
    </p:spTree>
    <p:extLst>
      <p:ext uri="{BB962C8B-B14F-4D97-AF65-F5344CB8AC3E}">
        <p14:creationId xmlns:p14="http://schemas.microsoft.com/office/powerpoint/2010/main" val="36613713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Karin\Contacts\Desktop\essa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990584" cy="634749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990585" y="-39657"/>
            <a:ext cx="5153416" cy="6555641"/>
          </a:xfrm>
          <a:prstGeom prst="rect">
            <a:avLst/>
          </a:prstGeom>
        </p:spPr>
        <p:txBody>
          <a:bodyPr wrap="square">
            <a:spAutoFit/>
          </a:bodyPr>
          <a:lstStyle/>
          <a:p>
            <a:r>
              <a:rPr lang="en-US" sz="2800" dirty="0" smtClean="0"/>
              <a:t>Writing </a:t>
            </a:r>
            <a:r>
              <a:rPr lang="en-US" sz="2800" dirty="0"/>
              <a:t>Your Introduction </a:t>
            </a:r>
            <a:endParaRPr lang="en-US" sz="2800" dirty="0" smtClean="0"/>
          </a:p>
          <a:p>
            <a:r>
              <a:rPr lang="en-US" sz="2800" b="1" dirty="0" smtClean="0"/>
              <a:t>Step </a:t>
            </a:r>
            <a:r>
              <a:rPr lang="en-US" sz="2800" b="1" dirty="0"/>
              <a:t>1: </a:t>
            </a:r>
            <a:r>
              <a:rPr lang="en-US" sz="2800" dirty="0"/>
              <a:t>Grab you readers attention with a general statement about your topic. This is the </a:t>
            </a:r>
            <a:r>
              <a:rPr lang="en-US" sz="2800" b="1" dirty="0"/>
              <a:t>HOOK</a:t>
            </a:r>
            <a:r>
              <a:rPr lang="en-US" sz="2800" dirty="0" smtClean="0"/>
              <a:t>.</a:t>
            </a:r>
            <a:endParaRPr lang="en-US" sz="2800" dirty="0"/>
          </a:p>
          <a:p>
            <a:endParaRPr lang="en-US" sz="2800" b="1" dirty="0" smtClean="0"/>
          </a:p>
          <a:p>
            <a:r>
              <a:rPr lang="en-US" sz="2800" b="1" dirty="0" smtClean="0"/>
              <a:t>Step </a:t>
            </a:r>
            <a:r>
              <a:rPr lang="en-US" sz="2800" b="1" dirty="0"/>
              <a:t>2: Briefly explain </a:t>
            </a:r>
            <a:r>
              <a:rPr lang="en-US" sz="2800" dirty="0"/>
              <a:t>in 2‐5 sentences what the essay will be about by providing relevant background information</a:t>
            </a:r>
            <a:r>
              <a:rPr lang="en-US" sz="2800" dirty="0" smtClean="0"/>
              <a:t>.</a:t>
            </a:r>
            <a:endParaRPr lang="en-US" sz="2800" dirty="0"/>
          </a:p>
          <a:p>
            <a:endParaRPr lang="en-US" sz="2800" b="1" dirty="0" smtClean="0"/>
          </a:p>
          <a:p>
            <a:r>
              <a:rPr lang="en-US" sz="2800" b="1" dirty="0" smtClean="0"/>
              <a:t>Step </a:t>
            </a:r>
            <a:r>
              <a:rPr lang="en-US" sz="2800" b="1" dirty="0"/>
              <a:t>3: </a:t>
            </a:r>
            <a:r>
              <a:rPr lang="en-US" sz="2800" dirty="0"/>
              <a:t>End your introduction with a </a:t>
            </a:r>
            <a:r>
              <a:rPr lang="en-US" sz="2800" b="1" dirty="0"/>
              <a:t>strong thesis statement </a:t>
            </a:r>
            <a:r>
              <a:rPr lang="en-US" sz="2800" dirty="0"/>
              <a:t>that tells your reader what you intend to </a:t>
            </a:r>
            <a:r>
              <a:rPr lang="en-US" sz="2800" b="1" dirty="0"/>
              <a:t>prove </a:t>
            </a:r>
            <a:r>
              <a:rPr lang="en-US" sz="2800" dirty="0"/>
              <a:t>to him or her about your topic.</a:t>
            </a:r>
          </a:p>
        </p:txBody>
      </p:sp>
    </p:spTree>
    <p:extLst>
      <p:ext uri="{BB962C8B-B14F-4D97-AF65-F5344CB8AC3E}">
        <p14:creationId xmlns:p14="http://schemas.microsoft.com/office/powerpoint/2010/main" val="3589576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304800"/>
            <a:ext cx="4671588" cy="5909310"/>
          </a:xfrm>
          <a:prstGeom prst="rect">
            <a:avLst/>
          </a:prstGeom>
        </p:spPr>
        <p:txBody>
          <a:bodyPr wrap="square">
            <a:spAutoFit/>
          </a:bodyPr>
          <a:lstStyle/>
          <a:p>
            <a:pPr algn="ctr"/>
            <a:r>
              <a:rPr lang="en-US" sz="5400" b="0" i="0" u="none" strike="noStrike" baseline="0" dirty="0">
                <a:solidFill>
                  <a:srgbClr val="000000"/>
                </a:solidFill>
                <a:latin typeface="BodoniMTBlack"/>
              </a:rPr>
              <a:t>Step 1:</a:t>
            </a:r>
          </a:p>
          <a:p>
            <a:pPr algn="ctr"/>
            <a:r>
              <a:rPr lang="en-US" sz="5400" b="0" i="0" u="none" strike="noStrike" baseline="0" dirty="0">
                <a:solidFill>
                  <a:srgbClr val="FF0000"/>
                </a:solidFill>
                <a:latin typeface="BodoniMTBlack"/>
              </a:rPr>
              <a:t>Hook Your Reader</a:t>
            </a:r>
          </a:p>
          <a:p>
            <a:pPr algn="ctr"/>
            <a:endParaRPr lang="en-US" sz="2000" b="0" i="0" u="none" strike="noStrike" baseline="0" dirty="0">
              <a:solidFill>
                <a:srgbClr val="000000"/>
              </a:solidFill>
              <a:latin typeface="BodoniMTBlack"/>
            </a:endParaRPr>
          </a:p>
          <a:p>
            <a:pPr algn="ctr"/>
            <a:r>
              <a:rPr lang="en-US" sz="2000" b="0" i="0" u="none" strike="noStrike" baseline="0" dirty="0">
                <a:solidFill>
                  <a:srgbClr val="000000"/>
                </a:solidFill>
                <a:latin typeface="BodoniMTBlack"/>
              </a:rPr>
              <a:t>Grab your reader’s attention</a:t>
            </a:r>
          </a:p>
          <a:p>
            <a:pPr algn="ctr"/>
            <a:r>
              <a:rPr lang="en-US" sz="2000" b="0" i="0" u="none" strike="noStrike" baseline="0" dirty="0">
                <a:solidFill>
                  <a:srgbClr val="000000"/>
                </a:solidFill>
                <a:latin typeface="BodoniMTBlack"/>
              </a:rPr>
              <a:t>about the topic.</a:t>
            </a:r>
          </a:p>
          <a:p>
            <a:endParaRPr lang="en-US" sz="2400" b="0" i="0" u="none" strike="noStrike" baseline="0" dirty="0">
              <a:solidFill>
                <a:srgbClr val="000000"/>
              </a:solidFill>
              <a:latin typeface="BodoniMTBlack"/>
            </a:endParaRPr>
          </a:p>
          <a:p>
            <a:r>
              <a:rPr lang="en-US" sz="2400" dirty="0">
                <a:solidFill>
                  <a:srgbClr val="000000"/>
                </a:solidFill>
                <a:latin typeface="BodoniMTBlack"/>
              </a:rPr>
              <a:t>1</a:t>
            </a:r>
            <a:r>
              <a:rPr lang="en-US" sz="2400" b="0" i="0" u="none" strike="noStrike" baseline="0" dirty="0">
                <a:solidFill>
                  <a:srgbClr val="000000"/>
                </a:solidFill>
                <a:latin typeface="BodoniMTBlack"/>
              </a:rPr>
              <a:t>. </a:t>
            </a:r>
            <a:r>
              <a:rPr lang="en-US" sz="2400" dirty="0">
                <a:solidFill>
                  <a:srgbClr val="000000"/>
                </a:solidFill>
                <a:latin typeface="BodoniMTBlack"/>
              </a:rPr>
              <a:t>Questioning</a:t>
            </a:r>
            <a:endParaRPr lang="en-US" sz="2400" b="0" i="0" u="none" strike="noStrike" baseline="0" dirty="0">
              <a:solidFill>
                <a:srgbClr val="000000"/>
              </a:solidFill>
              <a:latin typeface="BodoniMTBlack"/>
            </a:endParaRPr>
          </a:p>
          <a:p>
            <a:r>
              <a:rPr lang="en-US" sz="2400" dirty="0">
                <a:solidFill>
                  <a:srgbClr val="000000"/>
                </a:solidFill>
                <a:latin typeface="BodoniMTBlack"/>
              </a:rPr>
              <a:t>2</a:t>
            </a:r>
            <a:r>
              <a:rPr lang="en-US" sz="2400" b="0" i="0" u="none" strike="noStrike" baseline="0" dirty="0">
                <a:solidFill>
                  <a:srgbClr val="000000"/>
                </a:solidFill>
                <a:latin typeface="BodoniMTBlack"/>
              </a:rPr>
              <a:t>. Interesting Fact</a:t>
            </a:r>
          </a:p>
          <a:p>
            <a:r>
              <a:rPr lang="en-US" sz="2400" dirty="0">
                <a:solidFill>
                  <a:srgbClr val="000000"/>
                </a:solidFill>
                <a:latin typeface="BodoniMTBlack"/>
              </a:rPr>
              <a:t>3. Anecdote</a:t>
            </a:r>
            <a:endParaRPr lang="en-US" sz="2400" b="0" i="0" u="none" strike="noStrike" baseline="0" dirty="0">
              <a:solidFill>
                <a:srgbClr val="000000"/>
              </a:solidFill>
              <a:latin typeface="BodoniMTBlack"/>
            </a:endParaRPr>
          </a:p>
          <a:p>
            <a:endParaRPr lang="en-US" sz="6000"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3698" y="1008381"/>
            <a:ext cx="34671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3698" y="3675381"/>
            <a:ext cx="3467100" cy="253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48022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762000" y="5181600"/>
            <a:ext cx="6781800" cy="990600"/>
          </a:xfrm>
        </p:spPr>
        <p:txBody>
          <a:bodyPr>
            <a:normAutofit/>
          </a:bodyPr>
          <a:lstStyle/>
          <a:p>
            <a:r>
              <a:rPr lang="en-US" b="1" dirty="0"/>
              <a:t>Question </a:t>
            </a:r>
            <a:r>
              <a:rPr lang="en-US" b="1" dirty="0" smtClean="0"/>
              <a:t>Hook</a:t>
            </a:r>
            <a:endParaRPr lang="en-US" dirty="0"/>
          </a:p>
        </p:txBody>
      </p:sp>
      <p:sp>
        <p:nvSpPr>
          <p:cNvPr id="6" name="Content Placeholder 5"/>
          <p:cNvSpPr>
            <a:spLocks noGrp="1"/>
          </p:cNvSpPr>
          <p:nvPr>
            <p:ph idx="1"/>
          </p:nvPr>
        </p:nvSpPr>
        <p:spPr>
          <a:xfrm>
            <a:off x="762000" y="609600"/>
            <a:ext cx="7696200" cy="4572000"/>
          </a:xfrm>
        </p:spPr>
        <p:txBody>
          <a:bodyPr>
            <a:normAutofit/>
          </a:bodyPr>
          <a:lstStyle/>
          <a:p>
            <a:pPr marL="0" indent="0" fontAlgn="base">
              <a:buNone/>
            </a:pPr>
            <a:r>
              <a:rPr lang="en-US" dirty="0"/>
              <a:t> A question hook is when you ask the reader something that they can visualize and try to think of in their own minds. Then, the writer answers the question. </a:t>
            </a:r>
          </a:p>
          <a:p>
            <a:pPr marL="0" indent="0" fontAlgn="base">
              <a:buNone/>
            </a:pPr>
            <a:endParaRPr lang="en-US" dirty="0"/>
          </a:p>
          <a:p>
            <a:pPr marL="0" indent="0" fontAlgn="base">
              <a:buNone/>
            </a:pPr>
            <a:r>
              <a:rPr lang="en-US" u="sng" dirty="0"/>
              <a:t>Example</a:t>
            </a:r>
          </a:p>
          <a:p>
            <a:pPr marL="0" indent="0" fontAlgn="base">
              <a:buNone/>
            </a:pPr>
            <a:endParaRPr lang="en-US" dirty="0"/>
          </a:p>
          <a:p>
            <a:pPr fontAlgn="base"/>
            <a:r>
              <a:rPr lang="en-US" i="1" dirty="0"/>
              <a:t>Have you ever watched the high-flying, jump shooting, slam dunking, ankle breaking players that play in the NBA? Every time I catch a game on television and I witness the thrill of the game, I can’t help but watch another one.</a:t>
            </a:r>
          </a:p>
          <a:p>
            <a:endParaRPr lang="en-US" dirty="0"/>
          </a:p>
        </p:txBody>
      </p:sp>
    </p:spTree>
    <p:extLst>
      <p:ext uri="{BB962C8B-B14F-4D97-AF65-F5344CB8AC3E}">
        <p14:creationId xmlns:p14="http://schemas.microsoft.com/office/powerpoint/2010/main" val="24370021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5800" y="533400"/>
            <a:ext cx="7772400" cy="5509200"/>
          </a:xfrm>
          <a:prstGeom prst="rect">
            <a:avLst/>
          </a:prstGeom>
          <a:noFill/>
        </p:spPr>
        <p:txBody>
          <a:bodyPr wrap="square" rtlCol="0">
            <a:spAutoFit/>
          </a:bodyPr>
          <a:lstStyle/>
          <a:p>
            <a:pPr algn="just"/>
            <a:r>
              <a:rPr lang="en-US" sz="3200" dirty="0">
                <a:solidFill>
                  <a:srgbClr val="FF0000"/>
                </a:solidFill>
              </a:rPr>
              <a:t>What’s body image? </a:t>
            </a:r>
            <a:r>
              <a:rPr lang="en-US" sz="3200" dirty="0" smtClean="0">
                <a:solidFill>
                  <a:srgbClr val="FF0000"/>
                </a:solidFill>
              </a:rPr>
              <a:t>Itis </a:t>
            </a:r>
            <a:r>
              <a:rPr lang="en-US" sz="3200" dirty="0">
                <a:solidFill>
                  <a:srgbClr val="FF0000"/>
                </a:solidFill>
              </a:rPr>
              <a:t>how people picture themselves and how they think other people picture them</a:t>
            </a:r>
            <a:r>
              <a:rPr lang="en-US" sz="3200" dirty="0"/>
              <a:t>. It is basically how you feel about your body, and it includes your perception, imagination, emotions, and physical sensations. Mass media has been able to shape popular culture and often influence public opinion. </a:t>
            </a:r>
            <a:r>
              <a:rPr lang="en-US" sz="3200" b="1" i="1" dirty="0">
                <a:solidFill>
                  <a:srgbClr val="00B050"/>
                </a:solidFill>
              </a:rPr>
              <a:t>However, the body images projected by social media have affected teens with </a:t>
            </a:r>
            <a:r>
              <a:rPr lang="en-US" sz="3200" b="1" i="1" u="sng" dirty="0">
                <a:solidFill>
                  <a:srgbClr val="00B050"/>
                </a:solidFill>
              </a:rPr>
              <a:t>physical problems</a:t>
            </a:r>
            <a:r>
              <a:rPr lang="en-US" sz="3200" b="1" i="1" dirty="0">
                <a:solidFill>
                  <a:srgbClr val="00B050"/>
                </a:solidFill>
              </a:rPr>
              <a:t>, </a:t>
            </a:r>
            <a:r>
              <a:rPr lang="en-US" sz="3200" b="1" i="1" u="sng" dirty="0">
                <a:solidFill>
                  <a:srgbClr val="00B050"/>
                </a:solidFill>
              </a:rPr>
              <a:t>low self-esteem</a:t>
            </a:r>
            <a:r>
              <a:rPr lang="en-US" sz="3200" b="1" i="1" dirty="0">
                <a:solidFill>
                  <a:srgbClr val="00B050"/>
                </a:solidFill>
              </a:rPr>
              <a:t>, and </a:t>
            </a:r>
            <a:r>
              <a:rPr lang="en-US" sz="3200" b="1" i="1" u="sng" dirty="0">
                <a:solidFill>
                  <a:srgbClr val="00B050"/>
                </a:solidFill>
              </a:rPr>
              <a:t>depression</a:t>
            </a:r>
          </a:p>
        </p:txBody>
      </p:sp>
    </p:spTree>
    <p:extLst>
      <p:ext uri="{BB962C8B-B14F-4D97-AF65-F5344CB8AC3E}">
        <p14:creationId xmlns:p14="http://schemas.microsoft.com/office/powerpoint/2010/main" val="5827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81600"/>
            <a:ext cx="6705600" cy="990600"/>
          </a:xfrm>
        </p:spPr>
        <p:txBody>
          <a:bodyPr>
            <a:noAutofit/>
          </a:bodyPr>
          <a:lstStyle/>
          <a:p>
            <a:r>
              <a:rPr lang="en-US" sz="4400" dirty="0"/>
              <a:t>Interesting fact or statistic</a:t>
            </a:r>
          </a:p>
        </p:txBody>
      </p:sp>
      <p:sp>
        <p:nvSpPr>
          <p:cNvPr id="3" name="Content Placeholder 2"/>
          <p:cNvSpPr>
            <a:spLocks noGrp="1"/>
          </p:cNvSpPr>
          <p:nvPr>
            <p:ph idx="1"/>
          </p:nvPr>
        </p:nvSpPr>
        <p:spPr>
          <a:xfrm>
            <a:off x="381000" y="228600"/>
            <a:ext cx="8534399" cy="4953000"/>
          </a:xfrm>
        </p:spPr>
        <p:txBody>
          <a:bodyPr>
            <a:normAutofit lnSpcReduction="10000"/>
          </a:bodyPr>
          <a:lstStyle/>
          <a:p>
            <a:r>
              <a:rPr lang="en-US" dirty="0" smtClean="0"/>
              <a:t>can </a:t>
            </a:r>
            <a:r>
              <a:rPr lang="en-US" dirty="0"/>
              <a:t>be used for more informational pieces of writing. The writer </a:t>
            </a:r>
            <a:r>
              <a:rPr lang="en-US" dirty="0" smtClean="0"/>
              <a:t>may use a </a:t>
            </a:r>
            <a:r>
              <a:rPr lang="en-US" dirty="0"/>
              <a:t>quote from a source that relates to the main idea of the </a:t>
            </a:r>
            <a:r>
              <a:rPr lang="en-US" dirty="0" smtClean="0"/>
              <a:t>essay, that includes some statistics</a:t>
            </a:r>
            <a:r>
              <a:rPr lang="en-US" dirty="0"/>
              <a:t>, such as numbers, decimals, or and/or percentages. The meaning and relationship of the quote to the </a:t>
            </a:r>
            <a:r>
              <a:rPr lang="en-US" dirty="0" smtClean="0"/>
              <a:t>essay </a:t>
            </a:r>
            <a:r>
              <a:rPr lang="en-US" dirty="0"/>
              <a:t>needs to be explained afterwards just in case the reader does not quite </a:t>
            </a:r>
            <a:r>
              <a:rPr lang="en-US" dirty="0" smtClean="0"/>
              <a:t>understand</a:t>
            </a:r>
            <a:endParaRPr lang="en-US" i="1" dirty="0"/>
          </a:p>
          <a:p>
            <a:r>
              <a:rPr lang="en-US" i="1" dirty="0"/>
              <a:t>“Just 0.00545 percent of the 550,000 boys playing high school basketball each year in the United States become a first-round draft pick — 1 in 18,333” stated Jeff </a:t>
            </a:r>
            <a:r>
              <a:rPr lang="en-US" i="1" dirty="0" err="1"/>
              <a:t>Rabjohns</a:t>
            </a:r>
            <a:r>
              <a:rPr lang="en-US" i="1" dirty="0"/>
              <a:t>, a writer for The Indianapolis Star, in an article titled “Prep players face long odds of making it to NBA.” Basically, only a few high school players will make it to the NBA. Even though there are many that strive, play, train, practice, and fight to be great, a huge majority of them do not make it.</a:t>
            </a:r>
            <a:endParaRPr lang="en-US" dirty="0"/>
          </a:p>
        </p:txBody>
      </p:sp>
    </p:spTree>
    <p:extLst>
      <p:ext uri="{BB962C8B-B14F-4D97-AF65-F5344CB8AC3E}">
        <p14:creationId xmlns:p14="http://schemas.microsoft.com/office/powerpoint/2010/main" val="11076696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09600" y="457200"/>
            <a:ext cx="8001000" cy="5262979"/>
          </a:xfrm>
          <a:prstGeom prst="rect">
            <a:avLst/>
          </a:prstGeom>
        </p:spPr>
        <p:txBody>
          <a:bodyPr wrap="square">
            <a:spAutoFit/>
          </a:bodyPr>
          <a:lstStyle/>
          <a:p>
            <a:r>
              <a:rPr lang="en-US" sz="2800" b="1" dirty="0">
                <a:solidFill>
                  <a:srgbClr val="FF0000"/>
                </a:solidFill>
              </a:rPr>
              <a:t>CO2 output is measured in pounds, and the average emissions per person in the United States, according to the U.S. Environmental Protection Agency, is 20,750 pounds per year [source: </a:t>
            </a:r>
            <a:r>
              <a:rPr lang="en-US" sz="2800" b="1" dirty="0">
                <a:solidFill>
                  <a:srgbClr val="FF0000"/>
                </a:solidFill>
                <a:hlinkClick r:id="rId2"/>
              </a:rPr>
              <a:t>EPA</a:t>
            </a:r>
            <a:r>
              <a:rPr lang="en-US" sz="2800" dirty="0"/>
              <a:t>]. Of course, everyone is different. But whether you're above, below or at that average, it's still possible to reduce your technology carbon footprint, and many people are taking steps to reduce. </a:t>
            </a:r>
            <a:r>
              <a:rPr lang="en-US" sz="2800" b="1" i="1" dirty="0">
                <a:solidFill>
                  <a:srgbClr val="00B050"/>
                </a:solidFill>
              </a:rPr>
              <a:t>Everyone can reduce their carbon footprint by regulating </a:t>
            </a:r>
            <a:r>
              <a:rPr lang="en-US" sz="2800" b="1" i="1" u="sng" dirty="0">
                <a:solidFill>
                  <a:srgbClr val="00B050"/>
                </a:solidFill>
              </a:rPr>
              <a:t>the use of electricity at home</a:t>
            </a:r>
            <a:r>
              <a:rPr lang="en-US" sz="2800" b="1" i="1" dirty="0">
                <a:solidFill>
                  <a:srgbClr val="00B050"/>
                </a:solidFill>
              </a:rPr>
              <a:t>, </a:t>
            </a:r>
            <a:r>
              <a:rPr lang="en-US" sz="2800" b="1" i="1" u="sng" dirty="0">
                <a:solidFill>
                  <a:srgbClr val="00B050"/>
                </a:solidFill>
              </a:rPr>
              <a:t>commute alternatives </a:t>
            </a:r>
            <a:r>
              <a:rPr lang="en-US" sz="2800" b="1" i="1" dirty="0">
                <a:solidFill>
                  <a:srgbClr val="00B050"/>
                </a:solidFill>
              </a:rPr>
              <a:t>and </a:t>
            </a:r>
            <a:r>
              <a:rPr lang="en-US" sz="2800" b="1" i="1" u="sng" dirty="0">
                <a:solidFill>
                  <a:srgbClr val="00B050"/>
                </a:solidFill>
              </a:rPr>
              <a:t>investing in sources of renewable energy.</a:t>
            </a:r>
            <a:r>
              <a:rPr lang="en-US" sz="2800" b="1" i="1" dirty="0">
                <a:solidFill>
                  <a:srgbClr val="92D050"/>
                </a:solidFill>
              </a:rPr>
              <a:t/>
            </a:r>
            <a:br>
              <a:rPr lang="en-US" sz="2800" b="1" i="1" dirty="0">
                <a:solidFill>
                  <a:srgbClr val="92D050"/>
                </a:solidFill>
              </a:rPr>
            </a:br>
            <a:endParaRPr lang="en-US" sz="2800" b="1" i="1" dirty="0">
              <a:solidFill>
                <a:srgbClr val="92D050"/>
              </a:solidFill>
            </a:endParaRPr>
          </a:p>
        </p:txBody>
      </p:sp>
    </p:spTree>
    <p:extLst>
      <p:ext uri="{BB962C8B-B14F-4D97-AF65-F5344CB8AC3E}">
        <p14:creationId xmlns:p14="http://schemas.microsoft.com/office/powerpoint/2010/main" val="5509718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304800"/>
            <a:ext cx="8534400" cy="5324535"/>
          </a:xfrm>
          <a:prstGeom prst="rect">
            <a:avLst/>
          </a:prstGeom>
          <a:noFill/>
        </p:spPr>
        <p:txBody>
          <a:bodyPr wrap="square" rtlCol="0">
            <a:spAutoFit/>
          </a:bodyPr>
          <a:lstStyle/>
          <a:p>
            <a:pPr fontAlgn="base"/>
            <a:r>
              <a:rPr lang="en-US" sz="2000" dirty="0"/>
              <a:t>When a writer uses a short story to relate to the topic and gain the reader’s attention, they are using an anecdote. This story can be a short, personal story or one that is a figment of your imagination. Make sure that it relates to the main idea of the paper. Show the relevance that it has to the topic of the paper.</a:t>
            </a:r>
          </a:p>
          <a:p>
            <a:pPr fontAlgn="base"/>
            <a:r>
              <a:rPr lang="en-US" sz="2000" u="sng" dirty="0"/>
              <a:t>Example</a:t>
            </a:r>
            <a:endParaRPr lang="en-US" sz="2000" dirty="0"/>
          </a:p>
          <a:p>
            <a:pPr fontAlgn="base"/>
            <a:r>
              <a:rPr lang="en-US" sz="2000" i="1" dirty="0"/>
              <a:t>When I was in high school, I remember playing in an AAU basketball league. We had to travel to downtown Philadelphia on the weekends for basketball practice. Each and every time we had basketball practice (which was at 8 a.m.), there was a boy around my age in the gym by the time we arrived. He was always covered in sweat, throwing up shots, practicing his layups, practicing his dribbling, and running laps around the gym. He was in such great shape. One day, I mustered up the courage to ask his about his ambitions, and he told me that he gets up at 5:30 a.m. to go to the gym and practice hard until my team comes in for practice. A few years later, this guy was entering the NBA draft from high school. When I saw him get drafted by the Philadelphia 76ers, I knew exactly why. All that hard work had paid off for him. This is the hard work ethics and mindset that everyone that wants to make it to the NBA should have.</a:t>
            </a:r>
            <a:endParaRPr lang="en-US" sz="2000" dirty="0"/>
          </a:p>
        </p:txBody>
      </p:sp>
      <p:sp>
        <p:nvSpPr>
          <p:cNvPr id="3" name="Title 2"/>
          <p:cNvSpPr>
            <a:spLocks noGrp="1"/>
          </p:cNvSpPr>
          <p:nvPr>
            <p:ph type="title"/>
          </p:nvPr>
        </p:nvSpPr>
        <p:spPr>
          <a:xfrm>
            <a:off x="762000" y="5562600"/>
            <a:ext cx="6781800" cy="609600"/>
          </a:xfrm>
        </p:spPr>
        <p:txBody>
          <a:bodyPr>
            <a:normAutofit fontScale="90000"/>
          </a:bodyPr>
          <a:lstStyle/>
          <a:p>
            <a:r>
              <a:rPr lang="en-US" sz="4400" dirty="0"/>
              <a:t>Anecdote</a:t>
            </a:r>
          </a:p>
        </p:txBody>
      </p:sp>
    </p:spTree>
    <p:extLst>
      <p:ext uri="{BB962C8B-B14F-4D97-AF65-F5344CB8AC3E}">
        <p14:creationId xmlns:p14="http://schemas.microsoft.com/office/powerpoint/2010/main" val="34662424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2982"/>
            <a:ext cx="6781800" cy="652818"/>
          </a:xfrm>
        </p:spPr>
        <p:txBody>
          <a:bodyPr>
            <a:noAutofit/>
          </a:bodyPr>
          <a:lstStyle/>
          <a:p>
            <a:r>
              <a:rPr lang="en-US" sz="4000" dirty="0" smtClean="0"/>
              <a:t>Anecdotes</a:t>
            </a:r>
            <a:endParaRPr lang="en-US" sz="4000" dirty="0"/>
          </a:p>
        </p:txBody>
      </p:sp>
      <p:sp>
        <p:nvSpPr>
          <p:cNvPr id="3" name="Content Placeholder 2"/>
          <p:cNvSpPr>
            <a:spLocks noGrp="1"/>
          </p:cNvSpPr>
          <p:nvPr>
            <p:ph idx="1"/>
          </p:nvPr>
        </p:nvSpPr>
        <p:spPr>
          <a:xfrm>
            <a:off x="170597" y="1066800"/>
            <a:ext cx="8991600" cy="6139218"/>
          </a:xfrm>
        </p:spPr>
        <p:txBody>
          <a:bodyPr>
            <a:normAutofit lnSpcReduction="10000"/>
          </a:bodyPr>
          <a:lstStyle/>
          <a:p>
            <a:r>
              <a:rPr lang="en-US" sz="2300" dirty="0" smtClean="0"/>
              <a:t>Three </a:t>
            </a:r>
            <a:r>
              <a:rPr lang="en-US" sz="2300" dirty="0"/>
              <a:t>weeks into training camp, I still hadn’t gotten used to Navy cooking and was surviving on milk and desserts. In one food line, I picked up the biggest piece of cake available and set it on my tray. The mess cook behind the counter saw the gleam in my eye and asked me if I’d like two pieces. When I eagerly answered that I would, the cook leaned over and cut my piece of cake in two</a:t>
            </a:r>
            <a:r>
              <a:rPr lang="en-US" sz="2300" dirty="0" smtClean="0"/>
              <a:t>.</a:t>
            </a:r>
          </a:p>
          <a:p>
            <a:r>
              <a:rPr lang="en-US" sz="2300" dirty="0"/>
              <a:t>Travelling in France, I ordered lunch in French, relying on my translation dictionary. Seemingly impressed, the waiter smiled as he thumbed through a few pages of my book. Later, when I paid my bill, I motioned him to wait while I scanned my guide for a comment appropriate for the wonderful meal. He pointed to a French phrase. The translation: “Keep the change</a:t>
            </a:r>
            <a:r>
              <a:rPr lang="en-US" sz="2300" dirty="0" smtClean="0"/>
              <a:t>.”</a:t>
            </a:r>
          </a:p>
          <a:p>
            <a:r>
              <a:rPr lang="en-US" sz="2300" dirty="0"/>
              <a:t>Two hunters are out in the woods when one of them collapses. He’s not breathing and his eyes are glazed. The other guy whips out his cell phone and calls 911</a:t>
            </a:r>
            <a:r>
              <a:rPr lang="en-US" sz="2300" dirty="0" smtClean="0"/>
              <a:t>. “</a:t>
            </a:r>
            <a:r>
              <a:rPr lang="en-US" sz="2300" dirty="0"/>
              <a:t>I think my friend is dead!” he yells. “What can I do</a:t>
            </a:r>
            <a:r>
              <a:rPr lang="en-US" sz="2300" dirty="0" smtClean="0"/>
              <a:t>?” The </a:t>
            </a:r>
            <a:r>
              <a:rPr lang="en-US" sz="2300" dirty="0"/>
              <a:t>operator says, “Calm down. First, let’s make sure he’s dead</a:t>
            </a:r>
            <a:r>
              <a:rPr lang="en-US" sz="2300" dirty="0" smtClean="0"/>
              <a:t>.” There’s </a:t>
            </a:r>
            <a:r>
              <a:rPr lang="en-US" sz="2300" dirty="0"/>
              <a:t>a silence, then a shot. Back on the phone, the guy says, “OK, now what?”</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299377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3400" y="381000"/>
            <a:ext cx="8153400" cy="5262979"/>
          </a:xfrm>
          <a:prstGeom prst="rect">
            <a:avLst/>
          </a:prstGeom>
          <a:noFill/>
        </p:spPr>
        <p:txBody>
          <a:bodyPr wrap="square" rtlCol="0">
            <a:spAutoFit/>
          </a:bodyPr>
          <a:lstStyle/>
          <a:p>
            <a:r>
              <a:rPr lang="en-US" sz="2800" i="1" dirty="0">
                <a:solidFill>
                  <a:srgbClr val="FF0000"/>
                </a:solidFill>
              </a:rPr>
              <a:t>Sitting against the backdrop of stars, I then noticed the boats gently drifting on the ocean, taking me back through the tides of time to my childhood. These boats reminded me of my own boating trips with my grandfather and my next door neighbor. During fishing trips we took every three weeks, my grandfather continually talked about customers and sales from his business, introducing me to the world of economics and finance</a:t>
            </a:r>
            <a:r>
              <a:rPr lang="en-US" sz="2800" i="1" dirty="0"/>
              <a:t>. The beach has always held a special place in my heart. </a:t>
            </a:r>
            <a:r>
              <a:rPr lang="en-US" sz="2800" b="1" i="1" dirty="0">
                <a:solidFill>
                  <a:srgbClr val="00B050"/>
                </a:solidFill>
              </a:rPr>
              <a:t>I love to spend time at the beach because </a:t>
            </a:r>
            <a:r>
              <a:rPr lang="en-US" sz="2800" b="1" i="1" u="sng" dirty="0">
                <a:solidFill>
                  <a:srgbClr val="00B050"/>
                </a:solidFill>
              </a:rPr>
              <a:t>I reminds me of my childhood , helps disconnects from the busy city life and meditate in peace. </a:t>
            </a:r>
          </a:p>
        </p:txBody>
      </p:sp>
    </p:spTree>
    <p:extLst>
      <p:ext uri="{BB962C8B-B14F-4D97-AF65-F5344CB8AC3E}">
        <p14:creationId xmlns:p14="http://schemas.microsoft.com/office/powerpoint/2010/main" val="18884879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1000" y="457200"/>
            <a:ext cx="8077200" cy="5693866"/>
          </a:xfrm>
          <a:prstGeom prst="rect">
            <a:avLst/>
          </a:prstGeom>
        </p:spPr>
        <p:txBody>
          <a:bodyPr wrap="square">
            <a:spAutoFit/>
          </a:bodyPr>
          <a:lstStyle/>
          <a:p>
            <a:r>
              <a:rPr lang="en-US" sz="2800" dirty="0">
                <a:solidFill>
                  <a:srgbClr val="FF0000"/>
                </a:solidFill>
              </a:rPr>
              <a:t>Last year there was a huge </a:t>
            </a:r>
            <a:r>
              <a:rPr lang="en-US" sz="2800" dirty="0" smtClean="0">
                <a:solidFill>
                  <a:srgbClr val="FF0000"/>
                </a:solidFill>
              </a:rPr>
              <a:t>commotion </a:t>
            </a:r>
            <a:r>
              <a:rPr lang="en-US" sz="2800" dirty="0">
                <a:solidFill>
                  <a:srgbClr val="FF0000"/>
                </a:solidFill>
              </a:rPr>
              <a:t>created about a student that committed suicide. All that  could be gleaned from the facts was that the student was under a lot of pressure to perform well in the final exams, unable to cope with the pressure she jumped of the roof of the building leaving the students and faculty shocked.  </a:t>
            </a:r>
            <a:r>
              <a:rPr lang="en-US" sz="2800" dirty="0"/>
              <a:t>Why would anyone take their life if they are </a:t>
            </a:r>
            <a:r>
              <a:rPr lang="en-US" sz="2800" dirty="0" smtClean="0"/>
              <a:t>unprepared </a:t>
            </a:r>
            <a:r>
              <a:rPr lang="en-US" sz="2800" dirty="0"/>
              <a:t>for their exams? The </a:t>
            </a:r>
            <a:r>
              <a:rPr lang="en-US" sz="2800" dirty="0" smtClean="0"/>
              <a:t>dearth </a:t>
            </a:r>
            <a:r>
              <a:rPr lang="en-US" sz="2800" dirty="0"/>
              <a:t>of mental </a:t>
            </a:r>
            <a:r>
              <a:rPr lang="en-US" sz="2800" dirty="0" smtClean="0"/>
              <a:t>illness awareness </a:t>
            </a:r>
            <a:r>
              <a:rPr lang="en-US" sz="2800" dirty="0"/>
              <a:t>is  </a:t>
            </a:r>
            <a:r>
              <a:rPr lang="en-US" sz="2800" dirty="0" smtClean="0"/>
              <a:t>increasingly seen as a </a:t>
            </a:r>
            <a:r>
              <a:rPr lang="en-US" sz="2800" dirty="0"/>
              <a:t>contributing factor in the </a:t>
            </a:r>
            <a:r>
              <a:rPr lang="en-US" sz="2800" dirty="0" smtClean="0"/>
              <a:t>rise </a:t>
            </a:r>
            <a:r>
              <a:rPr lang="en-US" sz="2800" dirty="0"/>
              <a:t>in </a:t>
            </a:r>
            <a:r>
              <a:rPr lang="en-US" sz="2800" dirty="0" smtClean="0"/>
              <a:t>suicide cases .</a:t>
            </a:r>
            <a:r>
              <a:rPr lang="en-US" sz="2800" dirty="0" smtClean="0">
                <a:solidFill>
                  <a:srgbClr val="00B050"/>
                </a:solidFill>
              </a:rPr>
              <a:t> </a:t>
            </a:r>
            <a:r>
              <a:rPr lang="en-US" sz="2800" b="1" dirty="0">
                <a:solidFill>
                  <a:srgbClr val="00B050"/>
                </a:solidFill>
              </a:rPr>
              <a:t>In Pakistan,  </a:t>
            </a:r>
            <a:r>
              <a:rPr lang="en-US" sz="2800" b="1" dirty="0" smtClean="0">
                <a:solidFill>
                  <a:srgbClr val="00B050"/>
                </a:solidFill>
              </a:rPr>
              <a:t>awareness of mental </a:t>
            </a:r>
            <a:r>
              <a:rPr lang="en-US" sz="2800" b="1" dirty="0">
                <a:solidFill>
                  <a:srgbClr val="00B050"/>
                </a:solidFill>
              </a:rPr>
              <a:t>health problems </a:t>
            </a:r>
            <a:r>
              <a:rPr lang="en-US" sz="2800" b="1" u="sng" dirty="0">
                <a:solidFill>
                  <a:srgbClr val="00B050"/>
                </a:solidFill>
              </a:rPr>
              <a:t>due to </a:t>
            </a:r>
            <a:r>
              <a:rPr lang="en-US" sz="2800" b="1" u="sng" dirty="0" smtClean="0">
                <a:solidFill>
                  <a:srgbClr val="00B050"/>
                </a:solidFill>
              </a:rPr>
              <a:t>social taboos, </a:t>
            </a:r>
            <a:r>
              <a:rPr lang="en-US" sz="2800" b="1" u="sng" dirty="0">
                <a:solidFill>
                  <a:srgbClr val="00B050"/>
                </a:solidFill>
              </a:rPr>
              <a:t>absence of </a:t>
            </a:r>
            <a:r>
              <a:rPr lang="en-US" sz="2800" b="1" u="sng" dirty="0" smtClean="0">
                <a:solidFill>
                  <a:srgbClr val="00B050"/>
                </a:solidFill>
              </a:rPr>
              <a:t>support </a:t>
            </a:r>
            <a:r>
              <a:rPr lang="en-US" sz="2800" b="1" dirty="0">
                <a:solidFill>
                  <a:srgbClr val="00B050"/>
                </a:solidFill>
              </a:rPr>
              <a:t>and </a:t>
            </a:r>
            <a:r>
              <a:rPr lang="en-US" sz="2800" b="1" u="sng" dirty="0">
                <a:solidFill>
                  <a:srgbClr val="00B050"/>
                </a:solidFill>
              </a:rPr>
              <a:t>professional </a:t>
            </a:r>
            <a:r>
              <a:rPr lang="en-US" sz="2800" b="1" u="sng" dirty="0" smtClean="0">
                <a:solidFill>
                  <a:srgbClr val="00B050"/>
                </a:solidFill>
              </a:rPr>
              <a:t>help </a:t>
            </a:r>
            <a:r>
              <a:rPr lang="en-US" sz="2800" b="1" dirty="0" smtClean="0">
                <a:solidFill>
                  <a:srgbClr val="00B050"/>
                </a:solidFill>
              </a:rPr>
              <a:t>is severely lacking</a:t>
            </a:r>
            <a:r>
              <a:rPr lang="en-US" sz="2800" b="1" u="sng" dirty="0" smtClean="0">
                <a:solidFill>
                  <a:srgbClr val="00B050"/>
                </a:solidFill>
              </a:rPr>
              <a:t>. </a:t>
            </a:r>
            <a:endParaRPr lang="en-US" sz="2800" b="1" u="sng" dirty="0">
              <a:solidFill>
                <a:srgbClr val="00B050"/>
              </a:solidFill>
            </a:endParaRPr>
          </a:p>
        </p:txBody>
      </p:sp>
    </p:spTree>
    <p:extLst>
      <p:ext uri="{BB962C8B-B14F-4D97-AF65-F5344CB8AC3E}">
        <p14:creationId xmlns:p14="http://schemas.microsoft.com/office/powerpoint/2010/main" val="36443369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03290" y="304800"/>
            <a:ext cx="8688310" cy="1446550"/>
          </a:xfrm>
          <a:prstGeom prst="rect">
            <a:avLst/>
          </a:prstGeom>
        </p:spPr>
        <p:txBody>
          <a:bodyPr wrap="square">
            <a:spAutoFit/>
          </a:bodyPr>
          <a:lstStyle/>
          <a:p>
            <a:r>
              <a:rPr lang="en-US" sz="4800" b="0" i="0" u="none" strike="noStrike" baseline="0" dirty="0">
                <a:solidFill>
                  <a:srgbClr val="000000"/>
                </a:solidFill>
                <a:latin typeface="BodoniMTBlack"/>
              </a:rPr>
              <a:t>Step </a:t>
            </a:r>
            <a:r>
              <a:rPr lang="en-US" sz="4800" b="0" i="0" u="none" strike="noStrike" baseline="0" dirty="0" smtClean="0">
                <a:solidFill>
                  <a:srgbClr val="000000"/>
                </a:solidFill>
                <a:latin typeface="BodoniMTBlack"/>
              </a:rPr>
              <a:t>2:</a:t>
            </a:r>
            <a:r>
              <a:rPr lang="en-US" sz="4800" b="0" i="0" u="none" strike="noStrike" dirty="0" smtClean="0">
                <a:solidFill>
                  <a:srgbClr val="000000"/>
                </a:solidFill>
                <a:latin typeface="BodoniMTBlack"/>
              </a:rPr>
              <a:t> </a:t>
            </a:r>
            <a:r>
              <a:rPr lang="en-US" sz="4000" b="0" i="0" u="none" strike="noStrike" baseline="0" dirty="0" smtClean="0">
                <a:solidFill>
                  <a:srgbClr val="FF0000"/>
                </a:solidFill>
                <a:latin typeface="BodoniMTBlack"/>
              </a:rPr>
              <a:t>Explain </a:t>
            </a:r>
            <a:r>
              <a:rPr lang="en-US" sz="4000" b="0" i="0" u="none" strike="noStrike" baseline="0" dirty="0">
                <a:solidFill>
                  <a:srgbClr val="FF0000"/>
                </a:solidFill>
                <a:latin typeface="BodoniMTBlack"/>
              </a:rPr>
              <a:t>What You Are         				</a:t>
            </a:r>
            <a:r>
              <a:rPr lang="en-US" sz="4000" b="0" i="0" u="none" strike="noStrike" dirty="0">
                <a:solidFill>
                  <a:srgbClr val="FF0000"/>
                </a:solidFill>
                <a:latin typeface="BodoniMTBlack"/>
              </a:rPr>
              <a:t>    </a:t>
            </a:r>
            <a:r>
              <a:rPr lang="en-US" sz="4000" b="0" i="0" u="none" strike="noStrike" baseline="0" dirty="0">
                <a:solidFill>
                  <a:srgbClr val="FF0000"/>
                </a:solidFill>
                <a:latin typeface="BodoniMTBlack"/>
              </a:rPr>
              <a:t>Talking About</a:t>
            </a:r>
            <a:endParaRPr lang="en-US" sz="4800" b="0" i="0" u="none" strike="noStrike" baseline="0" dirty="0">
              <a:solidFill>
                <a:srgbClr val="FF0000"/>
              </a:solidFill>
              <a:latin typeface="BodoniMTBlack"/>
            </a:endParaRPr>
          </a:p>
        </p:txBody>
      </p:sp>
      <p:sp>
        <p:nvSpPr>
          <p:cNvPr id="5" name="TextBox 4"/>
          <p:cNvSpPr txBox="1"/>
          <p:nvPr/>
        </p:nvSpPr>
        <p:spPr>
          <a:xfrm>
            <a:off x="762000" y="2895600"/>
            <a:ext cx="3962400" cy="2062103"/>
          </a:xfrm>
          <a:prstGeom prst="rect">
            <a:avLst/>
          </a:prstGeom>
          <a:noFill/>
        </p:spPr>
        <p:txBody>
          <a:bodyPr wrap="square" rtlCol="0">
            <a:spAutoFit/>
          </a:bodyPr>
          <a:lstStyle/>
          <a:p>
            <a:pPr lvl="0"/>
            <a:r>
              <a:rPr lang="en-US" sz="3200" dirty="0">
                <a:solidFill>
                  <a:srgbClr val="000000"/>
                </a:solidFill>
                <a:latin typeface="BodoniMTBlack"/>
              </a:rPr>
              <a:t>Lead-in-to :</a:t>
            </a:r>
          </a:p>
          <a:p>
            <a:pPr lvl="0"/>
            <a:r>
              <a:rPr lang="en-US" sz="3200" dirty="0">
                <a:solidFill>
                  <a:srgbClr val="000000"/>
                </a:solidFill>
                <a:latin typeface="BodoniMTBlack"/>
              </a:rPr>
              <a:t>Briefly explain in 2-5 sentences what the essay will be</a:t>
            </a:r>
            <a:endParaRPr lang="en-US" sz="7200" dirty="0">
              <a:solidFill>
                <a:prstClr val="black"/>
              </a:solidFill>
            </a:endParaRPr>
          </a:p>
        </p:txBody>
      </p:sp>
    </p:spTree>
    <p:extLst>
      <p:ext uri="{BB962C8B-B14F-4D97-AF65-F5344CB8AC3E}">
        <p14:creationId xmlns:p14="http://schemas.microsoft.com/office/powerpoint/2010/main" val="4740462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sz="3600" dirty="0">
                <a:latin typeface="Bodoni MT Black" pitchFamily="18" charset="0"/>
              </a:rPr>
              <a:t>Step 3: </a:t>
            </a:r>
            <a:br>
              <a:rPr lang="en-US" sz="3600" dirty="0">
                <a:latin typeface="Bodoni MT Black" pitchFamily="18" charset="0"/>
              </a:rPr>
            </a:br>
            <a:r>
              <a:rPr lang="en-US" sz="3600" dirty="0">
                <a:solidFill>
                  <a:srgbClr val="FF0000"/>
                </a:solidFill>
                <a:latin typeface="Bodoni MT Black" pitchFamily="18" charset="0"/>
              </a:rPr>
              <a:t>Write Your Thesis Statement</a:t>
            </a:r>
            <a:endParaRPr lang="en-US" sz="3600" dirty="0"/>
          </a:p>
        </p:txBody>
      </p:sp>
      <p:sp>
        <p:nvSpPr>
          <p:cNvPr id="3" name="Content Placeholder 2"/>
          <p:cNvSpPr>
            <a:spLocks noGrp="1"/>
          </p:cNvSpPr>
          <p:nvPr>
            <p:ph idx="1"/>
          </p:nvPr>
        </p:nvSpPr>
        <p:spPr/>
        <p:txBody>
          <a:bodyPr>
            <a:normAutofit fontScale="77500" lnSpcReduction="20000"/>
          </a:bodyPr>
          <a:lstStyle/>
          <a:p>
            <a:r>
              <a:rPr lang="en-US" dirty="0"/>
              <a:t>A thesis statement is in many ways the most important sentence  that you will write in any paper. It is like a blueprint or foundation to your essay</a:t>
            </a:r>
          </a:p>
          <a:p>
            <a:r>
              <a:rPr lang="en-US" dirty="0"/>
              <a:t> – it helps you (and the reader!) stay focused: - gives the main idea of the entire essay </a:t>
            </a:r>
          </a:p>
          <a:p>
            <a:r>
              <a:rPr lang="en-US" dirty="0"/>
              <a:t>- suggests the topic for each body paragraph (for short or 5- paragraph essays) </a:t>
            </a:r>
          </a:p>
          <a:p>
            <a:r>
              <a:rPr lang="en-US" dirty="0"/>
              <a:t>- commonly has three parts (for 5-paragraph essays) that are parallel in structure</a:t>
            </a:r>
          </a:p>
          <a:p>
            <a:r>
              <a:rPr lang="en-US" dirty="0"/>
              <a:t> - avoids 1st person expressions like “I’m going to talk about…” - the supporting points should be logically connected to your thesis or argument </a:t>
            </a:r>
          </a:p>
          <a:p>
            <a:endParaRPr lang="en-US" dirty="0"/>
          </a:p>
          <a:p>
            <a:r>
              <a:rPr lang="en-US" dirty="0"/>
              <a:t>Example: To become a more inviting campus, Gainesville State College, offer student housing, and offer childcare. </a:t>
            </a:r>
          </a:p>
        </p:txBody>
      </p:sp>
    </p:spTree>
    <p:extLst>
      <p:ext uri="{BB962C8B-B14F-4D97-AF65-F5344CB8AC3E}">
        <p14:creationId xmlns:p14="http://schemas.microsoft.com/office/powerpoint/2010/main" val="28173919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152400"/>
            <a:ext cx="8991600" cy="646331"/>
          </a:xfrm>
          <a:prstGeom prst="rect">
            <a:avLst/>
          </a:prstGeom>
        </p:spPr>
        <p:txBody>
          <a:bodyPr wrap="square">
            <a:spAutoFit/>
          </a:bodyPr>
          <a:lstStyle/>
          <a:p>
            <a:pPr algn="ctr"/>
            <a:r>
              <a:rPr lang="en-US" sz="3600" dirty="0"/>
              <a:t>Things to AVOID</a:t>
            </a:r>
          </a:p>
        </p:txBody>
      </p:sp>
      <p:sp>
        <p:nvSpPr>
          <p:cNvPr id="3" name="TextBox 2"/>
          <p:cNvSpPr txBox="1"/>
          <p:nvPr/>
        </p:nvSpPr>
        <p:spPr>
          <a:xfrm>
            <a:off x="304800" y="912674"/>
            <a:ext cx="5715000" cy="1692771"/>
          </a:xfrm>
          <a:prstGeom prst="rect">
            <a:avLst/>
          </a:prstGeom>
          <a:noFill/>
        </p:spPr>
        <p:txBody>
          <a:bodyPr wrap="square" rtlCol="0">
            <a:spAutoFit/>
          </a:bodyPr>
          <a:lstStyle/>
          <a:p>
            <a:r>
              <a:rPr lang="en-US" sz="2400" dirty="0"/>
              <a:t>You should </a:t>
            </a:r>
            <a:r>
              <a:rPr lang="en-US" sz="2400" b="1" dirty="0"/>
              <a:t>avoid </a:t>
            </a:r>
            <a:r>
              <a:rPr lang="en-US" sz="2400" dirty="0"/>
              <a:t>using statements like, “This essay will discuss…” or “I’m going to write about…”.</a:t>
            </a:r>
          </a:p>
          <a:p>
            <a:endParaRPr lang="en-US" sz="3200" dirty="0"/>
          </a:p>
        </p:txBody>
      </p:sp>
      <p:sp>
        <p:nvSpPr>
          <p:cNvPr id="7" name="Text Box 9"/>
          <p:cNvSpPr txBox="1">
            <a:spLocks noChangeArrowheads="1"/>
          </p:cNvSpPr>
          <p:nvPr/>
        </p:nvSpPr>
        <p:spPr bwMode="auto">
          <a:xfrm>
            <a:off x="431272" y="4118283"/>
            <a:ext cx="6198128" cy="1384995"/>
          </a:xfrm>
          <a:prstGeom prst="rect">
            <a:avLst/>
          </a:prstGeom>
          <a:noFill/>
          <a:ln w="19050">
            <a:noFill/>
            <a:miter lim="800000"/>
            <a:headEnd/>
            <a:tailEnd/>
          </a:ln>
        </p:spPr>
        <p:txBody>
          <a:bodyPr wrap="square">
            <a:spAutoFit/>
          </a:bodyPr>
          <a:lstStyle/>
          <a:p>
            <a:pPr>
              <a:spcBef>
                <a:spcPct val="50000"/>
              </a:spcBef>
            </a:pPr>
            <a:r>
              <a:rPr lang="en-US" sz="2800" b="1" dirty="0"/>
              <a:t>Correct :</a:t>
            </a:r>
            <a:r>
              <a:rPr lang="en-US" dirty="0"/>
              <a:t> </a:t>
            </a:r>
            <a:r>
              <a:rPr lang="en-US" sz="2800" b="1" dirty="0"/>
              <a:t>Long-term drug use can have disastrous effects on one’s marriage, career, and health.</a:t>
            </a:r>
            <a:endParaRPr lang="en-US" sz="2800" b="1" dirty="0">
              <a:solidFill>
                <a:schemeClr val="tx2"/>
              </a:solidFill>
            </a:endParaRPr>
          </a:p>
        </p:txBody>
      </p:sp>
      <p:sp>
        <p:nvSpPr>
          <p:cNvPr id="8" name="Text Box 8"/>
          <p:cNvSpPr txBox="1">
            <a:spLocks noChangeArrowheads="1"/>
          </p:cNvSpPr>
          <p:nvPr/>
        </p:nvSpPr>
        <p:spPr bwMode="auto">
          <a:xfrm>
            <a:off x="304800" y="2819401"/>
            <a:ext cx="6324600" cy="830997"/>
          </a:xfrm>
          <a:prstGeom prst="rect">
            <a:avLst/>
          </a:prstGeom>
          <a:noFill/>
          <a:ln w="19050">
            <a:noFill/>
            <a:miter lim="800000"/>
            <a:headEnd/>
            <a:tailEnd/>
          </a:ln>
        </p:spPr>
        <p:txBody>
          <a:bodyPr wrap="square">
            <a:spAutoFit/>
          </a:bodyPr>
          <a:lstStyle/>
          <a:p>
            <a:pPr>
              <a:spcBef>
                <a:spcPct val="50000"/>
              </a:spcBef>
            </a:pPr>
            <a:r>
              <a:rPr lang="en-US" sz="2400" b="1" dirty="0"/>
              <a:t>Incorrect : In this essay, I am going to discuss the effects of long-term drug abuse.</a:t>
            </a:r>
            <a:endParaRPr lang="en-US" sz="2400" b="1" dirty="0">
              <a:solidFill>
                <a:schemeClr val="tx2"/>
              </a:solidFill>
            </a:endParaRPr>
          </a:p>
        </p:txBody>
      </p:sp>
    </p:spTree>
    <p:extLst>
      <p:ext uri="{BB962C8B-B14F-4D97-AF65-F5344CB8AC3E}">
        <p14:creationId xmlns:p14="http://schemas.microsoft.com/office/powerpoint/2010/main" val="1297866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subTnLst>
                                    <p:audio>
                                      <p:cMediaNode>
                                        <p:cTn display="0" masterRel="sameClick">
                                          <p:stCondLst>
                                            <p:cond evt="begin" delay="0">
                                              <p:tn val="10"/>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0698" y="733246"/>
            <a:ext cx="5420479" cy="5693866"/>
          </a:xfrm>
          <a:prstGeom prst="rect">
            <a:avLst/>
          </a:prstGeom>
          <a:noFill/>
        </p:spPr>
        <p:txBody>
          <a:bodyPr wrap="square" rtlCol="0">
            <a:spAutoFit/>
          </a:bodyPr>
          <a:lstStyle/>
          <a:p>
            <a:r>
              <a:rPr lang="en-US" sz="2800" dirty="0">
                <a:solidFill>
                  <a:srgbClr val="002060"/>
                </a:solidFill>
              </a:rPr>
              <a:t>	Smoking‐related diseases</a:t>
            </a:r>
          </a:p>
          <a:p>
            <a:r>
              <a:rPr lang="en-US" sz="2800" dirty="0">
                <a:solidFill>
                  <a:srgbClr val="002060"/>
                </a:solidFill>
              </a:rPr>
              <a:t>cause an estimated 440,000</a:t>
            </a:r>
          </a:p>
          <a:p>
            <a:r>
              <a:rPr lang="en-US" sz="2800" dirty="0">
                <a:solidFill>
                  <a:srgbClr val="002060"/>
                </a:solidFill>
              </a:rPr>
              <a:t>American deaths each year.</a:t>
            </a:r>
          </a:p>
          <a:p>
            <a:r>
              <a:rPr lang="en-US" sz="2800" dirty="0">
                <a:solidFill>
                  <a:srgbClr val="FF0000"/>
                </a:solidFill>
              </a:rPr>
              <a:t>Even with facts like these, the</a:t>
            </a:r>
          </a:p>
          <a:p>
            <a:r>
              <a:rPr lang="en-US" sz="2800" dirty="0" smtClean="0">
                <a:solidFill>
                  <a:srgbClr val="FF0000"/>
                </a:solidFill>
              </a:rPr>
              <a:t>entire </a:t>
            </a:r>
            <a:r>
              <a:rPr lang="en-US" sz="2800" dirty="0">
                <a:solidFill>
                  <a:srgbClr val="FF0000"/>
                </a:solidFill>
              </a:rPr>
              <a:t>country is divided on this</a:t>
            </a:r>
          </a:p>
          <a:p>
            <a:r>
              <a:rPr lang="en-US" sz="2800" dirty="0">
                <a:solidFill>
                  <a:srgbClr val="FF0000"/>
                </a:solidFill>
              </a:rPr>
              <a:t>issue. Some people believe that</a:t>
            </a:r>
          </a:p>
          <a:p>
            <a:r>
              <a:rPr lang="en-US" sz="2800" dirty="0">
                <a:solidFill>
                  <a:srgbClr val="FF0000"/>
                </a:solidFill>
              </a:rPr>
              <a:t>smoking should be banned</a:t>
            </a:r>
          </a:p>
          <a:p>
            <a:r>
              <a:rPr lang="en-US" sz="2800" dirty="0">
                <a:solidFill>
                  <a:srgbClr val="FF0000"/>
                </a:solidFill>
              </a:rPr>
              <a:t>everywhere while others are not</a:t>
            </a:r>
          </a:p>
          <a:p>
            <a:r>
              <a:rPr lang="en-US" sz="2800" dirty="0">
                <a:solidFill>
                  <a:srgbClr val="FF0000"/>
                </a:solidFill>
              </a:rPr>
              <a:t>so harsh. </a:t>
            </a:r>
            <a:r>
              <a:rPr lang="en-US" sz="2800" dirty="0">
                <a:solidFill>
                  <a:srgbClr val="00B150"/>
                </a:solidFill>
              </a:rPr>
              <a:t>However,</a:t>
            </a:r>
          </a:p>
          <a:p>
            <a:r>
              <a:rPr lang="en-US" sz="2800" dirty="0">
                <a:solidFill>
                  <a:srgbClr val="00B150"/>
                </a:solidFill>
              </a:rPr>
              <a:t>tobacco should </a:t>
            </a:r>
            <a:r>
              <a:rPr lang="en-US" sz="2800" dirty="0" smtClean="0">
                <a:solidFill>
                  <a:srgbClr val="00B150"/>
                </a:solidFill>
              </a:rPr>
              <a:t>be outlawed </a:t>
            </a:r>
            <a:r>
              <a:rPr lang="en-US" sz="2800" dirty="0">
                <a:solidFill>
                  <a:srgbClr val="00B150"/>
                </a:solidFill>
              </a:rPr>
              <a:t>because </a:t>
            </a:r>
            <a:r>
              <a:rPr lang="en-US" sz="2800" dirty="0" smtClean="0">
                <a:solidFill>
                  <a:srgbClr val="00B150"/>
                </a:solidFill>
              </a:rPr>
              <a:t>smoking endangers </a:t>
            </a:r>
            <a:r>
              <a:rPr lang="en-US" sz="2800" dirty="0">
                <a:solidFill>
                  <a:srgbClr val="00B150"/>
                </a:solidFill>
              </a:rPr>
              <a:t>everyone’s </a:t>
            </a:r>
            <a:r>
              <a:rPr lang="en-US" sz="2800" dirty="0" smtClean="0">
                <a:solidFill>
                  <a:srgbClr val="00B150"/>
                </a:solidFill>
              </a:rPr>
              <a:t>health, pollutes </a:t>
            </a:r>
            <a:r>
              <a:rPr lang="en-US" sz="2800" dirty="0">
                <a:solidFill>
                  <a:srgbClr val="00B150"/>
                </a:solidFill>
              </a:rPr>
              <a:t>the environment, </a:t>
            </a:r>
            <a:r>
              <a:rPr lang="en-US" sz="2800" dirty="0" smtClean="0">
                <a:solidFill>
                  <a:srgbClr val="00B150"/>
                </a:solidFill>
              </a:rPr>
              <a:t>and drains </a:t>
            </a:r>
            <a:r>
              <a:rPr lang="en-US" sz="2800" dirty="0">
                <a:solidFill>
                  <a:srgbClr val="00B150"/>
                </a:solidFill>
              </a:rPr>
              <a:t>us of valuable energy.</a:t>
            </a:r>
            <a:endParaRPr lang="en-US" sz="2800" dirty="0"/>
          </a:p>
        </p:txBody>
      </p:sp>
      <p:sp>
        <p:nvSpPr>
          <p:cNvPr id="4" name="TextBox 3"/>
          <p:cNvSpPr txBox="1"/>
          <p:nvPr/>
        </p:nvSpPr>
        <p:spPr>
          <a:xfrm>
            <a:off x="159945" y="10180"/>
            <a:ext cx="8831655" cy="646331"/>
          </a:xfrm>
          <a:prstGeom prst="rect">
            <a:avLst/>
          </a:prstGeom>
          <a:noFill/>
        </p:spPr>
        <p:txBody>
          <a:bodyPr wrap="square" rtlCol="0">
            <a:spAutoFit/>
          </a:bodyPr>
          <a:lstStyle/>
          <a:p>
            <a:pPr algn="ctr"/>
            <a:r>
              <a:rPr lang="en-US" sz="3600" dirty="0"/>
              <a:t>Model Introduction Paragraph</a:t>
            </a:r>
          </a:p>
        </p:txBody>
      </p:sp>
      <p:sp>
        <p:nvSpPr>
          <p:cNvPr id="5" name="Right Brace 4"/>
          <p:cNvSpPr/>
          <p:nvPr/>
        </p:nvSpPr>
        <p:spPr>
          <a:xfrm>
            <a:off x="4776314" y="838200"/>
            <a:ext cx="533401" cy="12192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8253" y="2057400"/>
            <a:ext cx="542925"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9899" y="4286816"/>
            <a:ext cx="542925" cy="249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5831658" y="990600"/>
            <a:ext cx="3106376" cy="800219"/>
          </a:xfrm>
          <a:prstGeom prst="rect">
            <a:avLst/>
          </a:prstGeom>
          <a:noFill/>
        </p:spPr>
        <p:txBody>
          <a:bodyPr wrap="square" rtlCol="0">
            <a:spAutoFit/>
          </a:bodyPr>
          <a:lstStyle/>
          <a:p>
            <a:pPr algn="ctr"/>
            <a:r>
              <a:rPr lang="en-US" sz="3200" b="0" i="0" u="none" strike="noStrike" baseline="0" dirty="0">
                <a:latin typeface="BodoniMTBlack"/>
              </a:rPr>
              <a:t>Hook</a:t>
            </a:r>
          </a:p>
          <a:p>
            <a:pPr algn="ctr"/>
            <a:r>
              <a:rPr lang="en-US" sz="1400" b="0" i="0" u="none" strike="noStrike" baseline="0" dirty="0">
                <a:latin typeface="BodoniMTBlack"/>
              </a:rPr>
              <a:t>(Interesting Fact)</a:t>
            </a:r>
            <a:endParaRPr lang="en-US" sz="4000" dirty="0"/>
          </a:p>
        </p:txBody>
      </p:sp>
      <p:sp>
        <p:nvSpPr>
          <p:cNvPr id="9" name="TextBox 8"/>
          <p:cNvSpPr txBox="1"/>
          <p:nvPr/>
        </p:nvSpPr>
        <p:spPr>
          <a:xfrm>
            <a:off x="5831658" y="2514600"/>
            <a:ext cx="3106376" cy="1477328"/>
          </a:xfrm>
          <a:prstGeom prst="rect">
            <a:avLst/>
          </a:prstGeom>
          <a:noFill/>
        </p:spPr>
        <p:txBody>
          <a:bodyPr wrap="square" rtlCol="0">
            <a:spAutoFit/>
          </a:bodyPr>
          <a:lstStyle/>
          <a:p>
            <a:pPr algn="ctr"/>
            <a:r>
              <a:rPr lang="en-US" sz="3600" b="0" i="0" u="none" strike="noStrike" baseline="0" dirty="0">
                <a:latin typeface="BodoniMTBlack"/>
              </a:rPr>
              <a:t>Brief Explanation</a:t>
            </a:r>
          </a:p>
          <a:p>
            <a:pPr algn="ctr"/>
            <a:r>
              <a:rPr lang="en-US" b="0" i="0" u="none" strike="noStrike" baseline="0" dirty="0">
                <a:latin typeface="BodoniMTBlack"/>
              </a:rPr>
              <a:t>(Leads into thesis)</a:t>
            </a:r>
            <a:endParaRPr lang="en-US" dirty="0"/>
          </a:p>
        </p:txBody>
      </p:sp>
      <p:sp>
        <p:nvSpPr>
          <p:cNvPr id="8" name="TextBox 7"/>
          <p:cNvSpPr txBox="1"/>
          <p:nvPr/>
        </p:nvSpPr>
        <p:spPr>
          <a:xfrm>
            <a:off x="5772056" y="4800600"/>
            <a:ext cx="3242178" cy="1569660"/>
          </a:xfrm>
          <a:prstGeom prst="rect">
            <a:avLst/>
          </a:prstGeom>
          <a:noFill/>
        </p:spPr>
        <p:txBody>
          <a:bodyPr wrap="square" rtlCol="0">
            <a:spAutoFit/>
          </a:bodyPr>
          <a:lstStyle/>
          <a:p>
            <a:pPr algn="ctr"/>
            <a:r>
              <a:rPr lang="en-US" sz="4800" dirty="0"/>
              <a:t>Thesis</a:t>
            </a:r>
          </a:p>
          <a:p>
            <a:pPr algn="ctr"/>
            <a:r>
              <a:rPr lang="en-US" sz="2400" dirty="0"/>
              <a:t>(What you will be proving)</a:t>
            </a:r>
          </a:p>
        </p:txBody>
      </p:sp>
    </p:spTree>
    <p:extLst>
      <p:ext uri="{BB962C8B-B14F-4D97-AF65-F5344CB8AC3E}">
        <p14:creationId xmlns:p14="http://schemas.microsoft.com/office/powerpoint/2010/main" val="42388119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733246"/>
            <a:ext cx="4724400" cy="5693866"/>
          </a:xfrm>
          <a:prstGeom prst="rect">
            <a:avLst/>
          </a:prstGeom>
          <a:noFill/>
        </p:spPr>
        <p:txBody>
          <a:bodyPr wrap="square" rtlCol="0">
            <a:spAutoFit/>
          </a:bodyPr>
          <a:lstStyle/>
          <a:p>
            <a:r>
              <a:rPr lang="en-US" dirty="0"/>
              <a:t>	</a:t>
            </a:r>
            <a:r>
              <a:rPr lang="en-US" sz="2800" dirty="0">
                <a:solidFill>
                  <a:schemeClr val="tx2"/>
                </a:solidFill>
              </a:rPr>
              <a:t>Have you ever noticed that Athens is a popular name for cities? </a:t>
            </a:r>
            <a:r>
              <a:rPr lang="en-US" sz="2800" dirty="0">
                <a:solidFill>
                  <a:srgbClr val="FF0000"/>
                </a:solidFill>
              </a:rPr>
              <a:t>All cities that are named Athens are named after the Greek goddess Athena. The daughter of Zeus, Athena is the goddess of wisdom, just wars, and architecture. </a:t>
            </a:r>
            <a:r>
              <a:rPr lang="en-US" sz="2800" dirty="0">
                <a:solidFill>
                  <a:srgbClr val="00B050"/>
                </a:solidFill>
              </a:rPr>
              <a:t>She is the best all-around Greek mythology character because she is very wise, a great tactician, and she only helps fight justified wars.   </a:t>
            </a:r>
            <a:endParaRPr lang="en-US" dirty="0">
              <a:solidFill>
                <a:srgbClr val="00B050"/>
              </a:solidFill>
            </a:endParaRPr>
          </a:p>
        </p:txBody>
      </p:sp>
      <p:sp>
        <p:nvSpPr>
          <p:cNvPr id="3" name="Right Brace 2"/>
          <p:cNvSpPr/>
          <p:nvPr/>
        </p:nvSpPr>
        <p:spPr>
          <a:xfrm>
            <a:off x="4688318" y="841470"/>
            <a:ext cx="533401" cy="96583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300" y="1807300"/>
            <a:ext cx="549275"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300" y="3891105"/>
            <a:ext cx="542925" cy="250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5715000" y="924274"/>
            <a:ext cx="3106376" cy="800219"/>
          </a:xfrm>
          <a:prstGeom prst="rect">
            <a:avLst/>
          </a:prstGeom>
          <a:noFill/>
        </p:spPr>
        <p:txBody>
          <a:bodyPr wrap="square" rtlCol="0">
            <a:spAutoFit/>
          </a:bodyPr>
          <a:lstStyle/>
          <a:p>
            <a:pPr algn="ctr"/>
            <a:r>
              <a:rPr lang="en-US" sz="3200" b="0" i="0" u="none" strike="noStrike" baseline="0" dirty="0">
                <a:latin typeface="BodoniMTBlack"/>
              </a:rPr>
              <a:t>Hook</a:t>
            </a:r>
          </a:p>
          <a:p>
            <a:pPr algn="ctr"/>
            <a:r>
              <a:rPr lang="en-US" sz="1400" b="0" i="0" u="none" strike="noStrike" baseline="0" dirty="0">
                <a:latin typeface="BodoniMTBlack"/>
              </a:rPr>
              <a:t>(Thought-provoking</a:t>
            </a:r>
            <a:r>
              <a:rPr lang="en-US" sz="1400" b="0" i="0" u="none" strike="noStrike" dirty="0">
                <a:latin typeface="BodoniMTBlack"/>
              </a:rPr>
              <a:t> </a:t>
            </a:r>
            <a:r>
              <a:rPr lang="en-US" sz="1400" b="0" i="0" u="none" strike="noStrike" baseline="0" dirty="0">
                <a:latin typeface="BodoniMTBlack"/>
              </a:rPr>
              <a:t>question)</a:t>
            </a:r>
            <a:endParaRPr lang="en-US" sz="4000" dirty="0"/>
          </a:p>
        </p:txBody>
      </p:sp>
      <p:sp>
        <p:nvSpPr>
          <p:cNvPr id="7" name="TextBox 6"/>
          <p:cNvSpPr txBox="1"/>
          <p:nvPr/>
        </p:nvSpPr>
        <p:spPr>
          <a:xfrm>
            <a:off x="5715000" y="2209800"/>
            <a:ext cx="3106376" cy="1477328"/>
          </a:xfrm>
          <a:prstGeom prst="rect">
            <a:avLst/>
          </a:prstGeom>
          <a:noFill/>
        </p:spPr>
        <p:txBody>
          <a:bodyPr wrap="square" rtlCol="0">
            <a:spAutoFit/>
          </a:bodyPr>
          <a:lstStyle/>
          <a:p>
            <a:pPr algn="ctr"/>
            <a:r>
              <a:rPr lang="en-US" sz="3600" b="0" i="0" u="none" strike="noStrike" baseline="0" dirty="0">
                <a:latin typeface="BodoniMTBlack"/>
              </a:rPr>
              <a:t>Brief Explanation</a:t>
            </a:r>
          </a:p>
          <a:p>
            <a:pPr algn="ctr"/>
            <a:r>
              <a:rPr lang="en-US" b="0" i="0" u="none" strike="noStrike" baseline="0" dirty="0">
                <a:latin typeface="BodoniMTBlack"/>
              </a:rPr>
              <a:t>(Leads into thesis)</a:t>
            </a:r>
            <a:endParaRPr lang="en-US" dirty="0"/>
          </a:p>
        </p:txBody>
      </p:sp>
      <p:sp>
        <p:nvSpPr>
          <p:cNvPr id="8" name="TextBox 7"/>
          <p:cNvSpPr txBox="1"/>
          <p:nvPr/>
        </p:nvSpPr>
        <p:spPr>
          <a:xfrm>
            <a:off x="5647099" y="4349092"/>
            <a:ext cx="3242178" cy="1569660"/>
          </a:xfrm>
          <a:prstGeom prst="rect">
            <a:avLst/>
          </a:prstGeom>
          <a:noFill/>
        </p:spPr>
        <p:txBody>
          <a:bodyPr wrap="square" rtlCol="0">
            <a:spAutoFit/>
          </a:bodyPr>
          <a:lstStyle/>
          <a:p>
            <a:pPr algn="ctr"/>
            <a:r>
              <a:rPr lang="en-US" sz="4800" dirty="0"/>
              <a:t>Thesis</a:t>
            </a:r>
          </a:p>
          <a:p>
            <a:pPr algn="ctr"/>
            <a:r>
              <a:rPr lang="en-US" sz="2400" dirty="0"/>
              <a:t>(What you will be proving)</a:t>
            </a:r>
          </a:p>
        </p:txBody>
      </p:sp>
      <p:sp>
        <p:nvSpPr>
          <p:cNvPr id="9" name="TextBox 8"/>
          <p:cNvSpPr txBox="1"/>
          <p:nvPr/>
        </p:nvSpPr>
        <p:spPr>
          <a:xfrm>
            <a:off x="174009" y="-117031"/>
            <a:ext cx="8831655" cy="646331"/>
          </a:xfrm>
          <a:prstGeom prst="rect">
            <a:avLst/>
          </a:prstGeom>
          <a:noFill/>
        </p:spPr>
        <p:txBody>
          <a:bodyPr wrap="square" rtlCol="0">
            <a:spAutoFit/>
          </a:bodyPr>
          <a:lstStyle/>
          <a:p>
            <a:pPr algn="ctr"/>
            <a:r>
              <a:rPr lang="en-US" sz="3600" dirty="0"/>
              <a:t>Another Model Introduction Paragraph</a:t>
            </a:r>
          </a:p>
        </p:txBody>
      </p:sp>
    </p:spTree>
    <p:extLst>
      <p:ext uri="{BB962C8B-B14F-4D97-AF65-F5344CB8AC3E}">
        <p14:creationId xmlns:p14="http://schemas.microsoft.com/office/powerpoint/2010/main" val="37033134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59945" y="86915"/>
            <a:ext cx="8831655" cy="646331"/>
          </a:xfrm>
          <a:prstGeom prst="rect">
            <a:avLst/>
          </a:prstGeom>
          <a:noFill/>
        </p:spPr>
        <p:txBody>
          <a:bodyPr wrap="square" rtlCol="0">
            <a:spAutoFit/>
          </a:bodyPr>
          <a:lstStyle/>
          <a:p>
            <a:pPr algn="ctr"/>
            <a:r>
              <a:rPr lang="en-US" sz="3600" dirty="0"/>
              <a:t>Another Model Introduction Paragraph</a:t>
            </a:r>
          </a:p>
        </p:txBody>
      </p:sp>
      <p:sp>
        <p:nvSpPr>
          <p:cNvPr id="3" name="TextBox 2"/>
          <p:cNvSpPr txBox="1"/>
          <p:nvPr/>
        </p:nvSpPr>
        <p:spPr>
          <a:xfrm>
            <a:off x="152400" y="733246"/>
            <a:ext cx="6186722" cy="6124754"/>
          </a:xfrm>
          <a:prstGeom prst="rect">
            <a:avLst/>
          </a:prstGeom>
          <a:noFill/>
        </p:spPr>
        <p:txBody>
          <a:bodyPr wrap="square" rtlCol="0">
            <a:spAutoFit/>
          </a:bodyPr>
          <a:lstStyle/>
          <a:p>
            <a:r>
              <a:rPr lang="en-US" dirty="0"/>
              <a:t>	</a:t>
            </a:r>
            <a:r>
              <a:rPr lang="en-US" sz="2800" dirty="0">
                <a:solidFill>
                  <a:schemeClr val="tx2"/>
                </a:solidFill>
              </a:rPr>
              <a:t>Imagine the jungle surrounds you and one of the most talented hunters in the world is pursuing you; would you stand your ground? </a:t>
            </a:r>
            <a:r>
              <a:rPr lang="en-US" sz="2800" dirty="0">
                <a:solidFill>
                  <a:srgbClr val="FF0000"/>
                </a:solidFill>
              </a:rPr>
              <a:t>In Richard Connell’s short story “The Most Dangerous Game,” that is exactly what Rainsford does. Stranded on Ship trap Island, Rainsford must play hunter General Zaroff’s game, where Zaroff tries to hunt Rainsford down like an animal.  </a:t>
            </a:r>
            <a:r>
              <a:rPr lang="en-US" sz="2800" dirty="0">
                <a:solidFill>
                  <a:srgbClr val="00B050"/>
                </a:solidFill>
              </a:rPr>
              <a:t>Rainsford is one of the bravest characters in literature because he is not easily frightened, he jumps into the sea, and he defeats Zaroff by outsmarting him. </a:t>
            </a:r>
            <a:endParaRPr lang="en-US" dirty="0">
              <a:solidFill>
                <a:srgbClr val="00B050"/>
              </a:solidFill>
            </a:endParaRPr>
          </a:p>
        </p:txBody>
      </p:sp>
      <p:sp>
        <p:nvSpPr>
          <p:cNvPr id="4" name="TextBox 3"/>
          <p:cNvSpPr txBox="1"/>
          <p:nvPr/>
        </p:nvSpPr>
        <p:spPr>
          <a:xfrm>
            <a:off x="6303672" y="930714"/>
            <a:ext cx="2839676" cy="1200329"/>
          </a:xfrm>
          <a:prstGeom prst="rect">
            <a:avLst/>
          </a:prstGeom>
          <a:noFill/>
        </p:spPr>
        <p:txBody>
          <a:bodyPr wrap="square" rtlCol="0">
            <a:spAutoFit/>
          </a:bodyPr>
          <a:lstStyle/>
          <a:p>
            <a:pPr algn="ctr"/>
            <a:r>
              <a:rPr lang="en-US" sz="3200" b="0" i="0" u="none" strike="noStrike" baseline="0" dirty="0">
                <a:latin typeface="BodoniMTBlack"/>
              </a:rPr>
              <a:t>Hook</a:t>
            </a:r>
          </a:p>
          <a:p>
            <a:pPr algn="ctr"/>
            <a:endParaRPr lang="en-US" sz="4000" dirty="0"/>
          </a:p>
        </p:txBody>
      </p:sp>
      <p:sp>
        <p:nvSpPr>
          <p:cNvPr id="5" name="TextBox 4"/>
          <p:cNvSpPr txBox="1"/>
          <p:nvPr/>
        </p:nvSpPr>
        <p:spPr>
          <a:xfrm>
            <a:off x="6303672" y="2461798"/>
            <a:ext cx="2839675" cy="1354217"/>
          </a:xfrm>
          <a:prstGeom prst="rect">
            <a:avLst/>
          </a:prstGeom>
          <a:noFill/>
        </p:spPr>
        <p:txBody>
          <a:bodyPr wrap="square" rtlCol="0">
            <a:spAutoFit/>
          </a:bodyPr>
          <a:lstStyle/>
          <a:p>
            <a:pPr algn="ctr"/>
            <a:r>
              <a:rPr lang="en-US" sz="3200" b="0" i="0" u="none" strike="noStrike" baseline="0" dirty="0">
                <a:latin typeface="BodoniMTBlack"/>
              </a:rPr>
              <a:t>Brief Explanation</a:t>
            </a:r>
          </a:p>
          <a:p>
            <a:pPr algn="ctr"/>
            <a:r>
              <a:rPr lang="en-US" b="0" i="0" u="none" strike="noStrike" baseline="0" dirty="0">
                <a:latin typeface="BodoniMTBlack"/>
              </a:rPr>
              <a:t>(Leads into thesis)</a:t>
            </a:r>
            <a:endParaRPr lang="en-US" dirty="0"/>
          </a:p>
        </p:txBody>
      </p:sp>
      <p:sp>
        <p:nvSpPr>
          <p:cNvPr id="6" name="TextBox 5"/>
          <p:cNvSpPr txBox="1"/>
          <p:nvPr/>
        </p:nvSpPr>
        <p:spPr>
          <a:xfrm>
            <a:off x="6339122" y="5010811"/>
            <a:ext cx="2804226" cy="1323439"/>
          </a:xfrm>
          <a:prstGeom prst="rect">
            <a:avLst/>
          </a:prstGeom>
          <a:noFill/>
        </p:spPr>
        <p:txBody>
          <a:bodyPr wrap="square" rtlCol="0">
            <a:spAutoFit/>
          </a:bodyPr>
          <a:lstStyle/>
          <a:p>
            <a:pPr algn="ctr"/>
            <a:r>
              <a:rPr lang="en-US" sz="3200" dirty="0"/>
              <a:t>Thesis</a:t>
            </a:r>
          </a:p>
          <a:p>
            <a:pPr algn="ctr"/>
            <a:r>
              <a:rPr lang="en-US" sz="2400" dirty="0"/>
              <a:t>(What you will be proving)</a:t>
            </a:r>
          </a:p>
        </p:txBody>
      </p:sp>
      <p:sp>
        <p:nvSpPr>
          <p:cNvPr id="7" name="Right Brace 6"/>
          <p:cNvSpPr/>
          <p:nvPr/>
        </p:nvSpPr>
        <p:spPr>
          <a:xfrm>
            <a:off x="6036972" y="841470"/>
            <a:ext cx="533401" cy="121593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64485" y="2057400"/>
            <a:ext cx="54927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4781" y="4648200"/>
            <a:ext cx="542925"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31732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Conclusions</a:t>
            </a:r>
          </a:p>
        </p:txBody>
      </p:sp>
      <p:sp>
        <p:nvSpPr>
          <p:cNvPr id="3" name="Content Placeholder 2"/>
          <p:cNvSpPr>
            <a:spLocks noGrp="1"/>
          </p:cNvSpPr>
          <p:nvPr>
            <p:ph idx="1"/>
          </p:nvPr>
        </p:nvSpPr>
        <p:spPr/>
        <p:txBody>
          <a:bodyPr>
            <a:normAutofit lnSpcReduction="10000"/>
          </a:bodyPr>
          <a:lstStyle/>
          <a:p>
            <a:r>
              <a:rPr lang="en-US" dirty="0"/>
              <a:t>Conclusions are in many ways similar to introductions: they do not present new relevant information. </a:t>
            </a:r>
          </a:p>
          <a:p>
            <a:pPr marL="0" indent="0">
              <a:buNone/>
            </a:pPr>
            <a:endParaRPr lang="en-US" dirty="0"/>
          </a:p>
          <a:p>
            <a:pPr marL="0" indent="0">
              <a:buNone/>
            </a:pPr>
            <a:r>
              <a:rPr lang="en-US" dirty="0"/>
              <a:t>Conclusions have two components:  </a:t>
            </a:r>
          </a:p>
          <a:p>
            <a:endParaRPr lang="en-US" dirty="0"/>
          </a:p>
          <a:p>
            <a:pPr marL="0" indent="0">
              <a:buNone/>
            </a:pPr>
            <a:r>
              <a:rPr lang="en-US" dirty="0"/>
              <a:t>1. A final analysis or interpretation of the paper.</a:t>
            </a:r>
          </a:p>
          <a:p>
            <a:pPr marL="0" indent="0">
              <a:buNone/>
            </a:pPr>
            <a:r>
              <a:rPr lang="en-US" dirty="0"/>
              <a:t> Either restate your thesis or sum up the general meaning of your overall argument, explanation, or description. </a:t>
            </a:r>
          </a:p>
          <a:p>
            <a:pPr marL="0" indent="0">
              <a:buNone/>
            </a:pPr>
            <a:r>
              <a:rPr lang="en-US" dirty="0"/>
              <a:t>2. An ending comment, such as an interesting idea or your personal interpretation of the entire paper. broad</a:t>
            </a:r>
          </a:p>
        </p:txBody>
      </p:sp>
    </p:spTree>
    <p:extLst>
      <p:ext uri="{BB962C8B-B14F-4D97-AF65-F5344CB8AC3E}">
        <p14:creationId xmlns:p14="http://schemas.microsoft.com/office/powerpoint/2010/main" val="230599190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awc.ashford.edu/Content/images/essay-dev-sample-conclusion-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43000"/>
            <a:ext cx="8580017" cy="32004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a:off x="1524000" y="1295400"/>
            <a:ext cx="1828800" cy="609600"/>
          </a:xfrm>
          <a:prstGeom prst="straightConnector1">
            <a:avLst/>
          </a:prstGeom>
          <a:ln>
            <a:solidFill>
              <a:schemeClr val="accent2">
                <a:lumMod val="40000"/>
                <a:lumOff val="60000"/>
              </a:schemeClr>
            </a:solidFill>
            <a:tailEnd type="arrow"/>
          </a:ln>
          <a:effectLst>
            <a:innerShdw blurRad="63500" dist="50800" dir="108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58179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727881" y="381000"/>
            <a:ext cx="7543800" cy="3886200"/>
          </a:xfrm>
        </p:spPr>
        <p:txBody>
          <a:bodyPr>
            <a:noAutofit/>
          </a:bodyPr>
          <a:lstStyle/>
          <a:p>
            <a:r>
              <a:rPr lang="en-US" sz="2800" b="1" dirty="0"/>
              <a:t>Social media influence on youth</a:t>
            </a:r>
            <a:endParaRPr lang="en-US" sz="2800" dirty="0"/>
          </a:p>
          <a:p>
            <a:pPr marL="0" indent="0">
              <a:buNone/>
            </a:pPr>
            <a:r>
              <a:rPr lang="en-US" sz="2800" dirty="0"/>
              <a:t> </a:t>
            </a:r>
            <a:r>
              <a:rPr lang="en-US" sz="2800" dirty="0">
                <a:solidFill>
                  <a:srgbClr val="00B050"/>
                </a:solidFill>
              </a:rPr>
              <a:t>Social media helps people connect with each other through time and space, share thoughts and impressions, congratulate on various occasions support each other when needed. </a:t>
            </a:r>
            <a:r>
              <a:rPr lang="en-US" sz="2800" dirty="0"/>
              <a:t>That caused a massive globalization process and affected people from all over the world</a:t>
            </a:r>
            <a:r>
              <a:rPr lang="en-US" sz="2800" dirty="0">
                <a:solidFill>
                  <a:srgbClr val="FF0000"/>
                </a:solidFill>
              </a:rPr>
              <a:t>. And now it is time to limit the negative influence of Facebook and take responsibility for future generations.</a:t>
            </a:r>
          </a:p>
          <a:p>
            <a:endParaRPr lang="en-US" sz="2800" dirty="0"/>
          </a:p>
        </p:txBody>
      </p:sp>
    </p:spTree>
    <p:extLst>
      <p:ext uri="{BB962C8B-B14F-4D97-AF65-F5344CB8AC3E}">
        <p14:creationId xmlns:p14="http://schemas.microsoft.com/office/powerpoint/2010/main" val="12463206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85800"/>
            <a:ext cx="8991600" cy="5257800"/>
          </a:xfrm>
        </p:spPr>
        <p:txBody>
          <a:bodyPr>
            <a:noAutofit/>
          </a:bodyPr>
          <a:lstStyle/>
          <a:p>
            <a:r>
              <a:rPr lang="en-US" sz="2800" dirty="0"/>
              <a:t>What are the </a:t>
            </a:r>
            <a:r>
              <a:rPr lang="en-US" sz="2800" dirty="0">
                <a:hlinkClick r:id="rId2"/>
              </a:rPr>
              <a:t>causes of homelessness</a:t>
            </a:r>
            <a:r>
              <a:rPr lang="en-US" sz="2800" dirty="0"/>
              <a:t>?</a:t>
            </a:r>
          </a:p>
          <a:p>
            <a:pPr marL="0" indent="0">
              <a:buNone/>
            </a:pPr>
            <a:endParaRPr lang="en-US" sz="2800" dirty="0"/>
          </a:p>
          <a:p>
            <a:r>
              <a:rPr lang="en-US" sz="2800" dirty="0"/>
              <a:t>Passing by a homeless person is not uncommon, especially in urban settings. </a:t>
            </a:r>
            <a:r>
              <a:rPr lang="en-US" sz="2800" dirty="0">
                <a:solidFill>
                  <a:srgbClr val="FF0000"/>
                </a:solidFill>
              </a:rPr>
              <a:t>Homelessness can be caused by many factors, including job loss, lack of family support, and the diminishing availability of affordable housing</a:t>
            </a:r>
            <a:r>
              <a:rPr lang="en-US" sz="2800" dirty="0"/>
              <a:t>. Although it is easy for some to think that homelessness is caused by mental problems or general laziness, there are other factors to consider. </a:t>
            </a:r>
            <a:r>
              <a:rPr lang="en-US" sz="2800" dirty="0">
                <a:solidFill>
                  <a:srgbClr val="00B050"/>
                </a:solidFill>
              </a:rPr>
              <a:t>Only when the whole scope of the problem is known can society begin to come up with a comprehensive solution.</a:t>
            </a:r>
          </a:p>
          <a:p>
            <a:endParaRPr lang="en-US" sz="2800" dirty="0"/>
          </a:p>
        </p:txBody>
      </p:sp>
    </p:spTree>
    <p:extLst>
      <p:ext uri="{BB962C8B-B14F-4D97-AF65-F5344CB8AC3E}">
        <p14:creationId xmlns:p14="http://schemas.microsoft.com/office/powerpoint/2010/main" val="21396207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381000"/>
            <a:ext cx="7543800" cy="5791200"/>
          </a:xfrm>
        </p:spPr>
        <p:txBody>
          <a:bodyPr>
            <a:normAutofit fontScale="92500" lnSpcReduction="10000"/>
          </a:bodyPr>
          <a:lstStyle/>
          <a:p>
            <a:pPr marL="0" indent="0">
              <a:buNone/>
            </a:pPr>
            <a:r>
              <a:rPr lang="en-US" b="1" dirty="0"/>
              <a:t> </a:t>
            </a:r>
            <a:endParaRPr lang="en-US" sz="2000" dirty="0"/>
          </a:p>
          <a:p>
            <a:r>
              <a:rPr lang="en-US" dirty="0"/>
              <a:t>For the broad topic </a:t>
            </a:r>
            <a:r>
              <a:rPr lang="en-US" b="1" dirty="0" smtClean="0"/>
              <a:t>‘Gaming’ </a:t>
            </a:r>
            <a:r>
              <a:rPr lang="en-US" dirty="0"/>
              <a:t>do the </a:t>
            </a:r>
            <a:r>
              <a:rPr lang="en-US" dirty="0" smtClean="0"/>
              <a:t>following</a:t>
            </a:r>
            <a:r>
              <a:rPr lang="en-US" dirty="0"/>
              <a:t> </a:t>
            </a:r>
            <a:endParaRPr lang="en-US" sz="2000" dirty="0"/>
          </a:p>
          <a:p>
            <a:pPr marL="777240" lvl="1" indent="-457200">
              <a:buFont typeface="+mj-lt"/>
              <a:buAutoNum type="arabicPeriod"/>
            </a:pPr>
            <a:r>
              <a:rPr lang="en-US" sz="2400" dirty="0"/>
              <a:t>Narrow it down to a specific topic. </a:t>
            </a:r>
            <a:r>
              <a:rPr lang="en-US" sz="2400" b="1" dirty="0"/>
              <a:t>(DO NOT WRITE A TOPIC SENTENCE)</a:t>
            </a:r>
            <a:endParaRPr lang="en-US" sz="2000" dirty="0"/>
          </a:p>
          <a:p>
            <a:pPr marL="777240" lvl="1" indent="-457200">
              <a:buFont typeface="+mj-lt"/>
              <a:buAutoNum type="arabicPeriod"/>
            </a:pPr>
            <a:r>
              <a:rPr lang="en-US" sz="2400" dirty="0"/>
              <a:t>Generate 10 points using the </a:t>
            </a:r>
            <a:r>
              <a:rPr lang="en-US" sz="2400" b="1" i="1" dirty="0"/>
              <a:t>listing technique.</a:t>
            </a:r>
            <a:endParaRPr lang="en-US" sz="2000" dirty="0"/>
          </a:p>
          <a:p>
            <a:pPr marL="777240" lvl="1" indent="-457200">
              <a:buFont typeface="+mj-lt"/>
              <a:buAutoNum type="arabicPeriod"/>
            </a:pPr>
            <a:r>
              <a:rPr lang="en-US" sz="2400" dirty="0"/>
              <a:t>Write a 3 point </a:t>
            </a:r>
            <a:r>
              <a:rPr lang="en-US" sz="2400" b="1" i="1" dirty="0"/>
              <a:t>thesis statement</a:t>
            </a:r>
            <a:r>
              <a:rPr lang="en-US" sz="2400" dirty="0"/>
              <a:t> of the </a:t>
            </a:r>
            <a:r>
              <a:rPr lang="en-US" sz="2400" b="1" i="1" dirty="0"/>
              <a:t>narrowed topic. </a:t>
            </a:r>
            <a:endParaRPr lang="en-US" sz="2000" dirty="0"/>
          </a:p>
          <a:p>
            <a:endParaRPr lang="en-US" sz="2000" dirty="0"/>
          </a:p>
          <a:p>
            <a:r>
              <a:rPr lang="en-US" dirty="0" smtClean="0"/>
              <a:t>Write </a:t>
            </a:r>
            <a:r>
              <a:rPr lang="en-US" dirty="0"/>
              <a:t>an Introductory paragraph </a:t>
            </a:r>
            <a:r>
              <a:rPr lang="en-US" dirty="0" smtClean="0"/>
              <a:t>(120 </a:t>
            </a:r>
            <a:r>
              <a:rPr lang="en-US" dirty="0"/>
              <a:t>words).</a:t>
            </a:r>
            <a:endParaRPr lang="en-US" dirty="0" smtClean="0"/>
          </a:p>
          <a:p>
            <a:pPr lvl="1"/>
            <a:r>
              <a:rPr lang="en-US" dirty="0" smtClean="0"/>
              <a:t>an </a:t>
            </a:r>
            <a:r>
              <a:rPr lang="en-US" dirty="0"/>
              <a:t>anecdote /short </a:t>
            </a:r>
            <a:r>
              <a:rPr lang="en-US" dirty="0" smtClean="0"/>
              <a:t>story/</a:t>
            </a:r>
          </a:p>
          <a:p>
            <a:pPr lvl="1"/>
            <a:r>
              <a:rPr lang="en-US" dirty="0" smtClean="0"/>
              <a:t>Question</a:t>
            </a:r>
          </a:p>
          <a:p>
            <a:pPr lvl="1"/>
            <a:r>
              <a:rPr lang="en-US" dirty="0" smtClean="0"/>
              <a:t>Factual Statement</a:t>
            </a:r>
          </a:p>
          <a:p>
            <a:r>
              <a:rPr lang="en-US" dirty="0" smtClean="0"/>
              <a:t>Your </a:t>
            </a:r>
            <a:r>
              <a:rPr lang="en-US" dirty="0"/>
              <a:t>paragraph should include </a:t>
            </a:r>
            <a:endParaRPr lang="en-US" dirty="0" smtClean="0"/>
          </a:p>
          <a:p>
            <a:pPr marL="457200" indent="-457200">
              <a:buFont typeface="+mj-lt"/>
              <a:buAutoNum type="arabicPeriod"/>
            </a:pPr>
            <a:r>
              <a:rPr lang="en-US" dirty="0" smtClean="0"/>
              <a:t>a </a:t>
            </a:r>
            <a:r>
              <a:rPr lang="en-US" dirty="0"/>
              <a:t>readers hook; </a:t>
            </a:r>
            <a:endParaRPr lang="en-US" dirty="0" smtClean="0"/>
          </a:p>
          <a:p>
            <a:pPr marL="457200" indent="-457200">
              <a:buFont typeface="+mj-lt"/>
              <a:buAutoNum type="arabicPeriod"/>
            </a:pPr>
            <a:r>
              <a:rPr lang="en-US" dirty="0" smtClean="0"/>
              <a:t>a </a:t>
            </a:r>
            <a:r>
              <a:rPr lang="en-US" dirty="0"/>
              <a:t>transitional sentence linking the reader’s hook to the thesis and </a:t>
            </a:r>
            <a:endParaRPr lang="en-US" dirty="0" smtClean="0"/>
          </a:p>
          <a:p>
            <a:pPr marL="457200" indent="-457200">
              <a:buFont typeface="+mj-lt"/>
              <a:buAutoNum type="arabicPeriod"/>
            </a:pPr>
            <a:r>
              <a:rPr lang="en-US" dirty="0" smtClean="0"/>
              <a:t>a </a:t>
            </a:r>
            <a:r>
              <a:rPr lang="en-US" dirty="0"/>
              <a:t>three point thesis statement.   </a:t>
            </a:r>
            <a:r>
              <a:rPr lang="en-US" b="1" dirty="0"/>
              <a:t> </a:t>
            </a:r>
            <a:endParaRPr lang="en-US" sz="2000" dirty="0"/>
          </a:p>
          <a:p>
            <a:endParaRPr lang="en-US" dirty="0"/>
          </a:p>
        </p:txBody>
      </p:sp>
    </p:spTree>
    <p:extLst>
      <p:ext uri="{BB962C8B-B14F-4D97-AF65-F5344CB8AC3E}">
        <p14:creationId xmlns:p14="http://schemas.microsoft.com/office/powerpoint/2010/main" val="5004738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1523</TotalTime>
  <Words>1651</Words>
  <Application>Microsoft Office PowerPoint</Application>
  <PresentationFormat>On-screen Show (4:3)</PresentationFormat>
  <Paragraphs>112</Paragraphs>
  <Slides>22</Slides>
  <Notes>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Bodoni MT Black</vt:lpstr>
      <vt:lpstr>BodoniMTBlack</vt:lpstr>
      <vt:lpstr>Calibri</vt:lpstr>
      <vt:lpstr>Impact</vt:lpstr>
      <vt:lpstr>Times New Roman</vt:lpstr>
      <vt:lpstr>NewsPrint</vt:lpstr>
      <vt:lpstr>        How to Write Your Introduction Paragraph &amp; Conclusion</vt:lpstr>
      <vt:lpstr>PowerPoint Presentation</vt:lpstr>
      <vt:lpstr>PowerPoint Presentation</vt:lpstr>
      <vt:lpstr>Question Hook</vt:lpstr>
      <vt:lpstr>PowerPoint Presentation</vt:lpstr>
      <vt:lpstr>Interesting fact or statistic</vt:lpstr>
      <vt:lpstr>PowerPoint Presentation</vt:lpstr>
      <vt:lpstr>Anecdote</vt:lpstr>
      <vt:lpstr>Anecdotes</vt:lpstr>
      <vt:lpstr>PowerPoint Presentation</vt:lpstr>
      <vt:lpstr>PowerPoint Presentation</vt:lpstr>
      <vt:lpstr>PowerPoint Presentation</vt:lpstr>
      <vt:lpstr>Step 3:  Write Your Thesis Statement</vt:lpstr>
      <vt:lpstr>PowerPoint Presentation</vt:lpstr>
      <vt:lpstr>PowerPoint Presentation</vt:lpstr>
      <vt:lpstr>PowerPoint Presentation</vt:lpstr>
      <vt:lpstr>PowerPoint Presentation</vt:lpstr>
      <vt:lpstr> Conclusions</vt:lpstr>
      <vt:lpstr>PowerPoint Presentation</vt:lpstr>
      <vt:lpstr>PowerPoint Presentation</vt:lpstr>
      <vt:lpstr>PowerPoint Presentation</vt:lpstr>
      <vt:lpstr>PowerPoint Presentation</vt:lpstr>
    </vt:vector>
  </TitlesOfParts>
  <Company>Henry County Schools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HCS</dc:creator>
  <cp:lastModifiedBy>zahidamansoor</cp:lastModifiedBy>
  <cp:revision>86</cp:revision>
  <dcterms:created xsi:type="dcterms:W3CDTF">2012-10-17T18:08:55Z</dcterms:created>
  <dcterms:modified xsi:type="dcterms:W3CDTF">2020-12-01T04:59:05Z</dcterms:modified>
</cp:coreProperties>
</file>