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3" r:id="rId3"/>
    <p:sldId id="285" r:id="rId4"/>
    <p:sldId id="258" r:id="rId5"/>
    <p:sldId id="286" r:id="rId6"/>
    <p:sldId id="292" r:id="rId7"/>
    <p:sldId id="293" r:id="rId8"/>
    <p:sldId id="287" r:id="rId9"/>
    <p:sldId id="288" r:id="rId10"/>
    <p:sldId id="294"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076A1B19-CBE7-4354-82A1-C696B1367492}" type="datetimeFigureOut">
              <a:rPr lang="en-US" smtClean="0"/>
              <a:pPr/>
              <a:t>12/14/2020</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AC01CE44-4562-42CC-9E8F-5C0634418B51}"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076A1B19-CBE7-4354-82A1-C696B1367492}" type="datetimeFigureOut">
              <a:rPr lang="en-US" smtClean="0"/>
              <a:pPr/>
              <a:t>12/14/2020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01CE44-4562-42CC-9E8F-5C0634418B51}"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076A1B19-CBE7-4354-82A1-C696B1367492}" type="datetimeFigureOut">
              <a:rPr lang="en-US" smtClean="0"/>
              <a:pPr/>
              <a:t>12/14/2020</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AC01CE44-4562-42CC-9E8F-5C0634418B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076A1B19-CBE7-4354-82A1-C696B1367492}" type="datetimeFigureOut">
              <a:rPr lang="en-US" smtClean="0"/>
              <a:pPr/>
              <a:t>12/14/2020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01CE44-4562-42CC-9E8F-5C0634418B51}"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076A1B19-CBE7-4354-82A1-C696B1367492}" type="datetimeFigureOut">
              <a:rPr lang="en-US" smtClean="0"/>
              <a:pPr/>
              <a:t>12/14/2020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01CE44-4562-42CC-9E8F-5C0634418B51}"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076A1B19-CBE7-4354-82A1-C696B1367492}" type="datetimeFigureOut">
              <a:rPr lang="en-US" smtClean="0"/>
              <a:pPr/>
              <a:t>12/14/2020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01CE44-4562-42CC-9E8F-5C0634418B5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6A1B19-CBE7-4354-82A1-C696B1367492}" type="datetimeFigureOut">
              <a:rPr lang="en-US" smtClean="0"/>
              <a:pPr/>
              <a:t>12/14/2020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01CE44-4562-42CC-9E8F-5C0634418B5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076A1B19-CBE7-4354-82A1-C696B1367492}" type="datetimeFigureOut">
              <a:rPr lang="en-US" smtClean="0"/>
              <a:pPr/>
              <a:t>12/14/2020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01CE44-4562-42CC-9E8F-5C0634418B51}"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076A1B19-CBE7-4354-82A1-C696B1367492}" type="datetimeFigureOut">
              <a:rPr lang="en-US" smtClean="0"/>
              <a:pPr/>
              <a:t>12/14/2020</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AC01CE44-4562-42CC-9E8F-5C0634418B51}"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76A1B19-CBE7-4354-82A1-C696B1367492}" type="datetimeFigureOut">
              <a:rPr lang="en-US" smtClean="0"/>
              <a:pPr/>
              <a:t>12/14/2020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01CE44-4562-42CC-9E8F-5C0634418B5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76A1B19-CBE7-4354-82A1-C696B1367492}" type="datetimeFigureOut">
              <a:rPr lang="en-US" smtClean="0"/>
              <a:pPr/>
              <a:t>12/14/2020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01CE44-4562-42CC-9E8F-5C0634418B5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076A1B19-CBE7-4354-82A1-C696B1367492}" type="datetimeFigureOut">
              <a:rPr lang="en-US" smtClean="0"/>
              <a:pPr/>
              <a:t>12/14/2020</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AC01CE44-4562-42CC-9E8F-5C0634418B5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a:p>
        </p:txBody>
      </p:sp>
      <p:sp>
        <p:nvSpPr>
          <p:cNvPr id="2" name="Title 1"/>
          <p:cNvSpPr>
            <a:spLocks noGrp="1"/>
          </p:cNvSpPr>
          <p:nvPr>
            <p:ph type="ctrTitle"/>
          </p:nvPr>
        </p:nvSpPr>
        <p:spPr/>
        <p:txBody>
          <a:bodyPr/>
          <a:lstStyle/>
          <a:p>
            <a:r>
              <a:rPr smtClean="0"/>
              <a:t>Argumentative Essay</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7772400" cy="1143000"/>
          </a:xfrm>
        </p:spPr>
        <p:txBody>
          <a:bodyPr/>
          <a:lstStyle/>
          <a:p>
            <a:r>
              <a:rPr lang="en-US" b="1" dirty="0"/>
              <a:t>In a good argument, writers:</a:t>
            </a:r>
          </a:p>
        </p:txBody>
      </p:sp>
      <p:sp>
        <p:nvSpPr>
          <p:cNvPr id="3" name="Content Placeholder 2"/>
          <p:cNvSpPr>
            <a:spLocks noGrp="1"/>
          </p:cNvSpPr>
          <p:nvPr>
            <p:ph sz="quarter" idx="1"/>
          </p:nvPr>
        </p:nvSpPr>
        <p:spPr>
          <a:xfrm>
            <a:off x="304800" y="1447800"/>
            <a:ext cx="8686800" cy="5029200"/>
          </a:xfrm>
        </p:spPr>
        <p:txBody>
          <a:bodyPr>
            <a:noAutofit/>
          </a:bodyPr>
          <a:lstStyle/>
          <a:p>
            <a:pPr>
              <a:buFont typeface="Wingdings" panose="05000000000000000000" pitchFamily="2" charset="2"/>
              <a:buChar char="§"/>
            </a:pPr>
            <a:r>
              <a:rPr lang="en-US" sz="2400" dirty="0">
                <a:latin typeface="Calibri" panose="020F0502020204030204" pitchFamily="34" charset="0"/>
                <a:cs typeface="Calibri" panose="020F0502020204030204" pitchFamily="34" charset="0"/>
              </a:rPr>
              <a:t>An argument involves the process of establishing a claim and then proving it with the use of logical reasoning, examples, and research.</a:t>
            </a:r>
          </a:p>
          <a:p>
            <a:pPr>
              <a:buFont typeface="Wingdings" panose="05000000000000000000" pitchFamily="2" charset="2"/>
              <a:buChar char="§"/>
            </a:pPr>
            <a:r>
              <a:rPr lang="en-US" sz="2400" dirty="0" smtClean="0">
                <a:latin typeface="Calibri" pitchFamily="34" charset="0"/>
              </a:rPr>
              <a:t>focus </a:t>
            </a:r>
            <a:r>
              <a:rPr lang="en-US" sz="2400" dirty="0">
                <a:latin typeface="Calibri" pitchFamily="34" charset="0"/>
              </a:rPr>
              <a:t>on a debatable position or claim, </a:t>
            </a:r>
            <a:r>
              <a:rPr lang="en-US" sz="2400" dirty="0" smtClean="0">
                <a:latin typeface="Calibri" pitchFamily="34" charset="0"/>
              </a:rPr>
              <a:t>and</a:t>
            </a:r>
            <a:endParaRPr lang="en-US" sz="2400" dirty="0">
              <a:latin typeface="Calibri" pitchFamily="34" charset="0"/>
            </a:endParaRPr>
          </a:p>
          <a:p>
            <a:pPr>
              <a:buFont typeface="Wingdings" panose="05000000000000000000" pitchFamily="2" charset="2"/>
              <a:buChar char="§"/>
            </a:pPr>
            <a:r>
              <a:rPr lang="en-US" sz="2400" dirty="0" smtClean="0">
                <a:latin typeface="Calibri" pitchFamily="34" charset="0"/>
              </a:rPr>
              <a:t>support </a:t>
            </a:r>
            <a:r>
              <a:rPr lang="en-US" sz="2400" dirty="0">
                <a:latin typeface="Calibri" pitchFamily="34" charset="0"/>
              </a:rPr>
              <a:t>each claim with sufficient evidence</a:t>
            </a:r>
          </a:p>
          <a:p>
            <a:pPr>
              <a:buFont typeface="Wingdings" panose="05000000000000000000" pitchFamily="2" charset="2"/>
              <a:buChar char="§"/>
            </a:pPr>
            <a:r>
              <a:rPr lang="en-US" sz="2400" dirty="0" smtClean="0">
                <a:latin typeface="Calibri" pitchFamily="34" charset="0"/>
              </a:rPr>
              <a:t>Evidence like facts, statistics, examples, testimony from authority, and logical reasoning can all be used to support an opinion. </a:t>
            </a:r>
          </a:p>
          <a:p>
            <a:pPr>
              <a:buFont typeface="Wingdings" panose="05000000000000000000" pitchFamily="2" charset="2"/>
              <a:buChar char="§"/>
            </a:pPr>
            <a:r>
              <a:rPr lang="en-US" sz="2400" dirty="0" smtClean="0">
                <a:latin typeface="Calibri" pitchFamily="34" charset="0"/>
              </a:rPr>
              <a:t>In formal arguments, the writer not only presents evidence to support his or her opinion but also </a:t>
            </a:r>
            <a:r>
              <a:rPr lang="en-US" sz="2400" b="1" dirty="0" smtClean="0">
                <a:latin typeface="Calibri" pitchFamily="34" charset="0"/>
              </a:rPr>
              <a:t>refutes</a:t>
            </a:r>
            <a:r>
              <a:rPr lang="en-US" sz="2400" dirty="0" smtClean="0">
                <a:latin typeface="Calibri" pitchFamily="34" charset="0"/>
              </a:rPr>
              <a:t> the opposition. </a:t>
            </a:r>
          </a:p>
          <a:p>
            <a:pPr>
              <a:buFont typeface="Wingdings" panose="05000000000000000000" pitchFamily="2" charset="2"/>
              <a:buChar char="§"/>
            </a:pPr>
            <a:r>
              <a:rPr lang="en-US" sz="2400" dirty="0" smtClean="0">
                <a:latin typeface="Calibri" pitchFamily="34" charset="0"/>
              </a:rPr>
              <a:t>To </a:t>
            </a:r>
            <a:r>
              <a:rPr lang="en-US" sz="2400" i="1" dirty="0" smtClean="0">
                <a:latin typeface="Calibri" pitchFamily="34" charset="0"/>
              </a:rPr>
              <a:t>refute the opposition means to show why the opposite side </a:t>
            </a:r>
            <a:r>
              <a:rPr lang="en-US" sz="2400" dirty="0" smtClean="0">
                <a:latin typeface="Calibri" pitchFamily="34" charset="0"/>
              </a:rPr>
              <a:t>of an argument (the logic or evidence used by those who oppose your position) is not valid.</a:t>
            </a:r>
            <a:endParaRPr lang="en-US" sz="2400" dirty="0">
              <a:latin typeface="Calibri" pitchFamily="34" charset="0"/>
            </a:endParaRPr>
          </a:p>
        </p:txBody>
      </p:sp>
    </p:spTree>
    <p:extLst>
      <p:ext uri="{BB962C8B-B14F-4D97-AF65-F5344CB8AC3E}">
        <p14:creationId xmlns:p14="http://schemas.microsoft.com/office/powerpoint/2010/main" val="21776483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An Argument is NOT</a:t>
            </a:r>
            <a:r>
              <a:rPr lang="en-US" b="1" dirty="0" smtClean="0"/>
              <a:t>...</a:t>
            </a:r>
            <a:endParaRPr lang="en-US" b="1" dirty="0"/>
          </a:p>
        </p:txBody>
      </p:sp>
      <p:sp>
        <p:nvSpPr>
          <p:cNvPr id="3" name="Content Placeholder 2"/>
          <p:cNvSpPr>
            <a:spLocks noGrp="1"/>
          </p:cNvSpPr>
          <p:nvPr>
            <p:ph sz="quarter" idx="1"/>
          </p:nvPr>
        </p:nvSpPr>
        <p:spPr/>
        <p:txBody>
          <a:bodyPr/>
          <a:lstStyle/>
          <a:p>
            <a:r>
              <a:rPr lang="en-US" dirty="0" smtClean="0"/>
              <a:t>a </a:t>
            </a:r>
            <a:r>
              <a:rPr lang="en-US" dirty="0"/>
              <a:t>quarrel involving name-calling and fallacious statements instead of concrete, well-thought out arguments,</a:t>
            </a:r>
          </a:p>
          <a:p>
            <a:r>
              <a:rPr lang="en-US" dirty="0"/>
              <a:t>an opinionated dispute of ideas without any real evidence backing the opinions,</a:t>
            </a:r>
          </a:p>
          <a:p>
            <a:r>
              <a:rPr lang="en-US" dirty="0"/>
              <a:t>factual information that is not debatable,</a:t>
            </a:r>
          </a:p>
          <a:p>
            <a:r>
              <a:rPr lang="en-US" dirty="0"/>
              <a:t>a rant that completely disregards the audience, and</a:t>
            </a:r>
          </a:p>
          <a:p>
            <a:r>
              <a:rPr lang="en-US" dirty="0"/>
              <a:t>ideas that are not founded on logic or empirical truth.</a:t>
            </a:r>
          </a:p>
          <a:p>
            <a:endParaRPr lang="en-US" dirty="0"/>
          </a:p>
        </p:txBody>
      </p:sp>
    </p:spTree>
    <p:extLst>
      <p:ext uri="{BB962C8B-B14F-4D97-AF65-F5344CB8AC3E}">
        <p14:creationId xmlns:p14="http://schemas.microsoft.com/office/powerpoint/2010/main" val="3793763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Put Away the </a:t>
            </a:r>
            <a:r>
              <a:rPr lang="en-US" b="1" dirty="0" smtClean="0"/>
              <a:t>Paddle    		paragraph</a:t>
            </a:r>
            <a:r>
              <a:rPr lang="en-US" b="1" dirty="0"/>
              <a:t/>
            </a:r>
            <a:br>
              <a:rPr lang="en-US" b="1" dirty="0"/>
            </a:br>
            <a:endParaRPr lang="en-US" dirty="0"/>
          </a:p>
        </p:txBody>
      </p:sp>
      <p:sp>
        <p:nvSpPr>
          <p:cNvPr id="3" name="Content Placeholder 2"/>
          <p:cNvSpPr>
            <a:spLocks noGrp="1"/>
          </p:cNvSpPr>
          <p:nvPr>
            <p:ph sz="quarter" idx="1"/>
          </p:nvPr>
        </p:nvSpPr>
        <p:spPr>
          <a:xfrm>
            <a:off x="304800" y="990600"/>
            <a:ext cx="8610600" cy="5486400"/>
          </a:xfrm>
        </p:spPr>
        <p:txBody>
          <a:bodyPr>
            <a:normAutofit fontScale="85000" lnSpcReduction="10000"/>
          </a:bodyPr>
          <a:lstStyle/>
          <a:p>
            <a:pPr algn="ctr">
              <a:buNone/>
            </a:pPr>
            <a:r>
              <a:rPr lang="en-US" b="1" dirty="0" smtClean="0"/>
              <a:t> </a:t>
            </a:r>
            <a:r>
              <a:rPr lang="en-US" dirty="0" smtClean="0"/>
              <a:t>     </a:t>
            </a:r>
          </a:p>
          <a:p>
            <a:pPr>
              <a:buNone/>
            </a:pPr>
            <a:r>
              <a:rPr lang="en-US" dirty="0" smtClean="0"/>
              <a:t>     Corporal punishment should not be used in secondary schools. First, corporal punishment aggravates antisocial behavior. Most parenting books advise parents to teach their children to solve conflicts using words rather than resorting to physical violence. When schools resort to physical punishment to resolve problems, they teach children it is acceptable to solve problems by hitting. Second, corporal punishment blocks the opportunity for communication between teacher and student. Many students who </a:t>
            </a:r>
            <a:r>
              <a:rPr lang="en-US" dirty="0" smtClean="0"/>
              <a:t>have </a:t>
            </a:r>
            <a:r>
              <a:rPr lang="en-US" dirty="0" smtClean="0"/>
              <a:t>behavior problems in school are acting out because of real or perceived injustices at home or in society. The teacher may be the only person in the student’s life who is able and willing to help him. If, however, the teacher resorts to paddling, any chance at communication and positive growth is lost. Finally, corporal punishment instills fear rather than respect. Respect comes from the fair and even-handed use of authority, not from punitive measures that rob an individual of dignity. A faculty or an administration that uses paddling to solve discipline problems is relying on brute force and fear rather than on respect. Corporal punishment is worse than useless; it aggravates the very problems it is intended to solve.</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7772400" cy="838200"/>
          </a:xfrm>
        </p:spPr>
        <p:txBody>
          <a:bodyPr/>
          <a:lstStyle/>
          <a:p>
            <a:r>
              <a:rPr lang="en-US" b="1" dirty="0" smtClean="0">
                <a:latin typeface="Calibri" pitchFamily="34" charset="0"/>
              </a:rPr>
              <a:t>Thesis of an Argument</a:t>
            </a:r>
            <a:endParaRPr lang="en-US" b="1" dirty="0">
              <a:latin typeface="Calibri" pitchFamily="34" charset="0"/>
            </a:endParaRPr>
          </a:p>
        </p:txBody>
      </p:sp>
      <p:sp>
        <p:nvSpPr>
          <p:cNvPr id="3" name="Content Placeholder 2"/>
          <p:cNvSpPr>
            <a:spLocks noGrp="1"/>
          </p:cNvSpPr>
          <p:nvPr>
            <p:ph sz="quarter" idx="1"/>
          </p:nvPr>
        </p:nvSpPr>
        <p:spPr>
          <a:xfrm>
            <a:off x="457200" y="1295400"/>
            <a:ext cx="8229600" cy="4724400"/>
          </a:xfrm>
        </p:spPr>
        <p:txBody>
          <a:bodyPr>
            <a:normAutofit fontScale="92500"/>
          </a:bodyPr>
          <a:lstStyle/>
          <a:p>
            <a:pPr marL="0" indent="0">
              <a:buNone/>
            </a:pPr>
            <a:r>
              <a:rPr lang="en-US" sz="2200" dirty="0">
                <a:latin typeface="Calibri" pitchFamily="34" charset="0"/>
              </a:rPr>
              <a:t>T</a:t>
            </a:r>
            <a:r>
              <a:rPr lang="en-US" sz="2200" dirty="0" smtClean="0">
                <a:latin typeface="Calibri" pitchFamily="34" charset="0"/>
              </a:rPr>
              <a:t>he thesis should state an opinion (a statement of belief, point of view, feeling, or attitude that can be discussed or argued about). A </a:t>
            </a:r>
            <a:r>
              <a:rPr lang="en-US" sz="2200" dirty="0" smtClean="0">
                <a:latin typeface="Calibri" pitchFamily="34" charset="0"/>
              </a:rPr>
              <a:t>blueprint thesis </a:t>
            </a:r>
            <a:r>
              <a:rPr lang="en-US" sz="2200" dirty="0" smtClean="0">
                <a:latin typeface="Calibri" pitchFamily="34" charset="0"/>
              </a:rPr>
              <a:t>lists the major support areas (the reasons why the opinion is valid). The list of supports in a blueprinted thesis should be parallel. E.g.</a:t>
            </a:r>
          </a:p>
          <a:p>
            <a:pPr marL="0" indent="0">
              <a:buNone/>
            </a:pPr>
            <a:endParaRPr lang="en-US" sz="2200" dirty="0" smtClean="0">
              <a:latin typeface="Calibri" pitchFamily="34" charset="0"/>
            </a:endParaRPr>
          </a:p>
          <a:p>
            <a:pPr marL="0" lvl="0" indent="0">
              <a:buClr>
                <a:srgbClr val="FF388C"/>
              </a:buClr>
              <a:buNone/>
            </a:pPr>
            <a:r>
              <a:rPr lang="en-US" sz="2200" dirty="0" smtClean="0">
                <a:solidFill>
                  <a:prstClr val="black"/>
                </a:solidFill>
                <a:latin typeface="Calibri" pitchFamily="34" charset="0"/>
              </a:rPr>
              <a:t>1. Smokers </a:t>
            </a:r>
            <a:r>
              <a:rPr lang="en-US" sz="2200" dirty="0">
                <a:solidFill>
                  <a:prstClr val="black"/>
                </a:solidFill>
                <a:latin typeface="Calibri" pitchFamily="34" charset="0"/>
              </a:rPr>
              <a:t>should stop smoking because </a:t>
            </a:r>
            <a:r>
              <a:rPr lang="en-US" sz="2200" dirty="0" smtClean="0">
                <a:solidFill>
                  <a:prstClr val="black"/>
                </a:solidFill>
                <a:latin typeface="Calibri" pitchFamily="34" charset="0"/>
              </a:rPr>
              <a:t>it </a:t>
            </a:r>
            <a:r>
              <a:rPr lang="en-US" sz="2200" dirty="0">
                <a:solidFill>
                  <a:prstClr val="black"/>
                </a:solidFill>
                <a:latin typeface="Calibri" pitchFamily="34" charset="0"/>
              </a:rPr>
              <a:t>damages</a:t>
            </a:r>
          </a:p>
          <a:p>
            <a:pPr lvl="0">
              <a:buClr>
                <a:srgbClr val="FF388C"/>
              </a:buClr>
              <a:buNone/>
            </a:pPr>
            <a:r>
              <a:rPr lang="en-US" sz="2200" dirty="0">
                <a:solidFill>
                  <a:prstClr val="black"/>
                </a:solidFill>
                <a:latin typeface="Calibri" pitchFamily="34" charset="0"/>
              </a:rPr>
              <a:t>    </a:t>
            </a:r>
            <a:endParaRPr lang="en-US" sz="2200" dirty="0" smtClean="0">
              <a:solidFill>
                <a:prstClr val="black"/>
              </a:solidFill>
              <a:latin typeface="Calibri" pitchFamily="34" charset="0"/>
            </a:endParaRPr>
          </a:p>
          <a:p>
            <a:pPr lvl="0">
              <a:buClr>
                <a:srgbClr val="FF388C"/>
              </a:buClr>
              <a:buNone/>
            </a:pPr>
            <a:r>
              <a:rPr lang="en-US" sz="2200" dirty="0">
                <a:solidFill>
                  <a:prstClr val="black"/>
                </a:solidFill>
                <a:latin typeface="Calibri" pitchFamily="34" charset="0"/>
              </a:rPr>
              <a:t> </a:t>
            </a:r>
            <a:r>
              <a:rPr lang="en-US" sz="2200" dirty="0" smtClean="0">
                <a:solidFill>
                  <a:prstClr val="black"/>
                </a:solidFill>
                <a:latin typeface="Calibri" pitchFamily="34" charset="0"/>
              </a:rPr>
              <a:t>    </a:t>
            </a:r>
            <a:r>
              <a:rPr lang="en-US" sz="2200" dirty="0" smtClean="0">
                <a:solidFill>
                  <a:srgbClr val="FF0000"/>
                </a:solidFill>
                <a:latin typeface="Calibri" pitchFamily="34" charset="0"/>
              </a:rPr>
              <a:t>subject</a:t>
            </a:r>
            <a:r>
              <a:rPr lang="en-US" sz="2200" dirty="0" smtClean="0">
                <a:solidFill>
                  <a:prstClr val="black"/>
                </a:solidFill>
                <a:latin typeface="Calibri" pitchFamily="34" charset="0"/>
              </a:rPr>
              <a:t>           </a:t>
            </a:r>
            <a:r>
              <a:rPr lang="en-US" sz="2200" dirty="0">
                <a:solidFill>
                  <a:srgbClr val="FF0000"/>
                </a:solidFill>
                <a:latin typeface="Calibri" pitchFamily="34" charset="0"/>
              </a:rPr>
              <a:t>opinion</a:t>
            </a:r>
            <a:r>
              <a:rPr lang="en-US" sz="2200" dirty="0">
                <a:solidFill>
                  <a:prstClr val="black"/>
                </a:solidFill>
                <a:latin typeface="Calibri" pitchFamily="34" charset="0"/>
              </a:rPr>
              <a:t> </a:t>
            </a:r>
          </a:p>
          <a:p>
            <a:pPr lvl="0">
              <a:buClr>
                <a:srgbClr val="FF388C"/>
              </a:buClr>
              <a:buNone/>
            </a:pPr>
            <a:r>
              <a:rPr lang="en-US" sz="2200" dirty="0">
                <a:solidFill>
                  <a:prstClr val="black"/>
                </a:solidFill>
                <a:latin typeface="Calibri" pitchFamily="34" charset="0"/>
              </a:rPr>
              <a:t>    their health, their appearance, and their </a:t>
            </a:r>
            <a:r>
              <a:rPr lang="en-US" sz="2200" dirty="0" smtClean="0">
                <a:solidFill>
                  <a:prstClr val="black"/>
                </a:solidFill>
                <a:latin typeface="Calibri" pitchFamily="34" charset="0"/>
              </a:rPr>
              <a:t>pocket.</a:t>
            </a:r>
            <a:endParaRPr lang="en-US" sz="2200" dirty="0" smtClean="0">
              <a:solidFill>
                <a:prstClr val="black"/>
              </a:solidFill>
              <a:latin typeface="Calibri" pitchFamily="34" charset="0"/>
            </a:endParaRPr>
          </a:p>
          <a:p>
            <a:pPr lvl="0">
              <a:buClr>
                <a:srgbClr val="FF388C"/>
              </a:buClr>
              <a:buNone/>
            </a:pPr>
            <a:endParaRPr lang="en-US" sz="2200" dirty="0">
              <a:solidFill>
                <a:prstClr val="black"/>
              </a:solidFill>
              <a:latin typeface="Calibri" pitchFamily="34" charset="0"/>
            </a:endParaRPr>
          </a:p>
          <a:p>
            <a:pPr marL="0" lvl="0" indent="0">
              <a:buClr>
                <a:srgbClr val="FF388C"/>
              </a:buClr>
              <a:buNone/>
            </a:pPr>
            <a:r>
              <a:rPr lang="en-US" sz="2200" dirty="0" smtClean="0">
                <a:solidFill>
                  <a:prstClr val="black"/>
                </a:solidFill>
                <a:latin typeface="Calibri" pitchFamily="34" charset="0"/>
              </a:rPr>
              <a:t>2. Students </a:t>
            </a:r>
            <a:r>
              <a:rPr lang="en-US" sz="2200" dirty="0">
                <a:solidFill>
                  <a:prstClr val="black"/>
                </a:solidFill>
                <a:latin typeface="Calibri" pitchFamily="34" charset="0"/>
              </a:rPr>
              <a:t>who plagiarize should be expelled from college because they hurt the institution, they hurt other students</a:t>
            </a:r>
            <a:r>
              <a:rPr lang="en-US" sz="2200" dirty="0" smtClean="0">
                <a:solidFill>
                  <a:prstClr val="black"/>
                </a:solidFill>
                <a:latin typeface="Calibri" pitchFamily="34" charset="0"/>
              </a:rPr>
              <a:t>,   </a:t>
            </a:r>
            <a:r>
              <a:rPr lang="en-US" sz="2200" dirty="0" smtClean="0">
                <a:solidFill>
                  <a:prstClr val="black"/>
                </a:solidFill>
                <a:latin typeface="Calibri" pitchFamily="34" charset="0"/>
              </a:rPr>
              <a:t>and </a:t>
            </a:r>
            <a:r>
              <a:rPr lang="en-US" sz="2200" dirty="0">
                <a:solidFill>
                  <a:prstClr val="black"/>
                </a:solidFill>
                <a:latin typeface="Calibri" pitchFamily="34" charset="0"/>
              </a:rPr>
              <a:t>they hurt themselves. </a:t>
            </a:r>
            <a:endParaRPr lang="en-US" dirty="0">
              <a:latin typeface="Calibri" pitchFamily="34" charset="0"/>
            </a:endParaRPr>
          </a:p>
        </p:txBody>
      </p:sp>
      <p:sp>
        <p:nvSpPr>
          <p:cNvPr id="4" name="Left Brace 3"/>
          <p:cNvSpPr/>
          <p:nvPr/>
        </p:nvSpPr>
        <p:spPr>
          <a:xfrm rot="16200000">
            <a:off x="1065276" y="3201924"/>
            <a:ext cx="155448" cy="9144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 name="Left Brace 4"/>
          <p:cNvSpPr/>
          <p:nvPr/>
        </p:nvSpPr>
        <p:spPr>
          <a:xfrm rot="16200000">
            <a:off x="2436876" y="3201924"/>
            <a:ext cx="155448" cy="9144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Tree>
    <p:extLst>
      <p:ext uri="{BB962C8B-B14F-4D97-AF65-F5344CB8AC3E}">
        <p14:creationId xmlns:p14="http://schemas.microsoft.com/office/powerpoint/2010/main" val="23674098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1. </a:t>
            </a:r>
            <a:endParaRPr lang="en-US" dirty="0"/>
          </a:p>
        </p:txBody>
      </p:sp>
      <p:sp>
        <p:nvSpPr>
          <p:cNvPr id="3" name="Content Placeholder 2"/>
          <p:cNvSpPr>
            <a:spLocks noGrp="1"/>
          </p:cNvSpPr>
          <p:nvPr>
            <p:ph sz="quarter" idx="1"/>
          </p:nvPr>
        </p:nvSpPr>
        <p:spPr>
          <a:xfrm>
            <a:off x="152400" y="1447800"/>
            <a:ext cx="9296400" cy="5410200"/>
          </a:xfrm>
        </p:spPr>
        <p:txBody>
          <a:bodyPr/>
          <a:lstStyle/>
          <a:p>
            <a:pPr marL="514350" indent="-514350">
              <a:buFont typeface="+mj-lt"/>
              <a:buAutoNum type="arabicPeriod"/>
            </a:pPr>
            <a:r>
              <a:rPr lang="en-US" dirty="0"/>
              <a:t>Select a topic</a:t>
            </a:r>
          </a:p>
          <a:p>
            <a:pPr marL="514350" indent="-514350">
              <a:buFont typeface="+mj-lt"/>
              <a:buAutoNum type="arabicPeriod"/>
            </a:pPr>
            <a:r>
              <a:rPr lang="en-US" dirty="0"/>
              <a:t>Prepare a two minute speech on the topic, consisting of:</a:t>
            </a:r>
          </a:p>
          <a:p>
            <a:pPr lvl="2"/>
            <a:r>
              <a:rPr lang="en-US" dirty="0"/>
              <a:t>Your claim</a:t>
            </a:r>
          </a:p>
          <a:p>
            <a:pPr lvl="2"/>
            <a:r>
              <a:rPr lang="en-US" dirty="0"/>
              <a:t>Supporting points</a:t>
            </a:r>
          </a:p>
          <a:p>
            <a:pPr lvl="2"/>
            <a:r>
              <a:rPr lang="en-US" dirty="0"/>
              <a:t>Refutation/Rebuttal</a:t>
            </a:r>
          </a:p>
          <a:p>
            <a:pPr lvl="2"/>
            <a:r>
              <a:rPr lang="en-US" dirty="0"/>
              <a:t>Conclusion</a:t>
            </a:r>
          </a:p>
          <a:p>
            <a:pPr marL="0" indent="0">
              <a:buNone/>
            </a:pPr>
            <a:endParaRPr lang="en-US" dirty="0"/>
          </a:p>
        </p:txBody>
      </p:sp>
    </p:spTree>
    <p:extLst>
      <p:ext uri="{BB962C8B-B14F-4D97-AF65-F5344CB8AC3E}">
        <p14:creationId xmlns:p14="http://schemas.microsoft.com/office/powerpoint/2010/main" val="3053697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772400" cy="1143000"/>
          </a:xfrm>
        </p:spPr>
        <p:txBody>
          <a:bodyPr/>
          <a:lstStyle/>
          <a:p>
            <a:r>
              <a:rPr lang="en-US" b="1" dirty="0" smtClean="0"/>
              <a:t>Topics</a:t>
            </a:r>
            <a:endParaRPr lang="en-US" b="1" dirty="0"/>
          </a:p>
        </p:txBody>
      </p:sp>
      <p:sp>
        <p:nvSpPr>
          <p:cNvPr id="3" name="Content Placeholder 2"/>
          <p:cNvSpPr>
            <a:spLocks noGrp="1"/>
          </p:cNvSpPr>
          <p:nvPr>
            <p:ph sz="quarter" idx="1"/>
          </p:nvPr>
        </p:nvSpPr>
        <p:spPr>
          <a:xfrm>
            <a:off x="152400" y="990600"/>
            <a:ext cx="8534400" cy="5715000"/>
          </a:xfrm>
        </p:spPr>
        <p:txBody>
          <a:bodyPr>
            <a:normAutofit/>
          </a:bodyPr>
          <a:lstStyle/>
          <a:p>
            <a:pPr marL="514350" indent="-514350">
              <a:buFont typeface="+mj-lt"/>
              <a:buAutoNum type="arabicPeriod"/>
            </a:pPr>
            <a:r>
              <a:rPr lang="en-US" dirty="0"/>
              <a:t>Dieting does more harm than good.</a:t>
            </a:r>
          </a:p>
          <a:p>
            <a:pPr marL="514350" indent="-514350">
              <a:buFont typeface="+mj-lt"/>
              <a:buAutoNum type="arabicPeriod"/>
            </a:pPr>
            <a:r>
              <a:rPr lang="en-US" dirty="0" smtClean="0"/>
              <a:t>Voting </a:t>
            </a:r>
            <a:r>
              <a:rPr lang="en-US" dirty="0"/>
              <a:t>should be an obligation not an option.</a:t>
            </a:r>
          </a:p>
          <a:p>
            <a:pPr marL="514350" indent="-514350">
              <a:buFont typeface="+mj-lt"/>
              <a:buAutoNum type="arabicPeriod"/>
            </a:pPr>
            <a:r>
              <a:rPr lang="en-US" dirty="0" smtClean="0"/>
              <a:t>Should </a:t>
            </a:r>
            <a:r>
              <a:rPr lang="en-US" dirty="0"/>
              <a:t>Cell phones be allowed in the classroom?</a:t>
            </a:r>
          </a:p>
          <a:p>
            <a:pPr marL="514350" indent="-514350">
              <a:buFont typeface="+mj-lt"/>
              <a:buAutoNum type="arabicPeriod"/>
            </a:pPr>
            <a:r>
              <a:rPr lang="en-US" dirty="0" smtClean="0"/>
              <a:t>Technology </a:t>
            </a:r>
            <a:r>
              <a:rPr lang="en-US" dirty="0"/>
              <a:t>is a major problem in society.</a:t>
            </a:r>
          </a:p>
          <a:p>
            <a:pPr marL="514350" indent="-514350">
              <a:buFont typeface="+mj-lt"/>
              <a:buAutoNum type="arabicPeriod"/>
            </a:pPr>
            <a:r>
              <a:rPr lang="en-US" dirty="0"/>
              <a:t> </a:t>
            </a:r>
            <a:r>
              <a:rPr lang="en-US" dirty="0" smtClean="0"/>
              <a:t>A </a:t>
            </a:r>
            <a:r>
              <a:rPr lang="en-US" dirty="0"/>
              <a:t>college education needs to be about preparing for the world of work.</a:t>
            </a:r>
          </a:p>
          <a:p>
            <a:pPr marL="514350" indent="-514350">
              <a:buFont typeface="+mj-lt"/>
              <a:buAutoNum type="arabicPeriod"/>
            </a:pPr>
            <a:r>
              <a:rPr lang="en-US" smtClean="0"/>
              <a:t>People </a:t>
            </a:r>
            <a:r>
              <a:rPr lang="en-US" dirty="0"/>
              <a:t>should be encouraged to holiday abroad.</a:t>
            </a:r>
          </a:p>
          <a:p>
            <a:pPr marL="514350" indent="-514350">
              <a:buFont typeface="+mj-lt"/>
              <a:buAutoNum type="arabicPeriod"/>
            </a:pPr>
            <a:r>
              <a:rPr lang="en-US" dirty="0" smtClean="0"/>
              <a:t>Cheating </a:t>
            </a:r>
            <a:r>
              <a:rPr lang="en-US" dirty="0"/>
              <a:t>on an examination should be a criminal offense.</a:t>
            </a:r>
          </a:p>
          <a:p>
            <a:pPr marL="514350" indent="-514350">
              <a:buFont typeface="+mj-lt"/>
              <a:buAutoNum type="arabicPeriod"/>
            </a:pPr>
            <a:r>
              <a:rPr lang="en-US" dirty="0" smtClean="0"/>
              <a:t>The </a:t>
            </a:r>
            <a:r>
              <a:rPr lang="en-US" dirty="0"/>
              <a:t>rich should pay more tax.</a:t>
            </a:r>
          </a:p>
          <a:p>
            <a:pPr marL="0" indent="0">
              <a:buNone/>
            </a:pPr>
            <a:endParaRPr lang="en-US" dirty="0"/>
          </a:p>
        </p:txBody>
      </p:sp>
    </p:spTree>
    <p:extLst>
      <p:ext uri="{BB962C8B-B14F-4D97-AF65-F5344CB8AC3E}">
        <p14:creationId xmlns:p14="http://schemas.microsoft.com/office/powerpoint/2010/main" val="49263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72400" cy="838200"/>
          </a:xfrm>
        </p:spPr>
        <p:txBody>
          <a:bodyPr/>
          <a:lstStyle/>
          <a:p>
            <a:r>
              <a:rPr lang="en-US" dirty="0" smtClean="0"/>
              <a:t>Sample Essay</a:t>
            </a:r>
            <a:endParaRPr lang="en-US" dirty="0"/>
          </a:p>
        </p:txBody>
      </p:sp>
      <p:sp>
        <p:nvSpPr>
          <p:cNvPr id="3" name="Content Placeholder 2"/>
          <p:cNvSpPr>
            <a:spLocks noGrp="1"/>
          </p:cNvSpPr>
          <p:nvPr>
            <p:ph sz="quarter" idx="1"/>
          </p:nvPr>
        </p:nvSpPr>
        <p:spPr>
          <a:xfrm>
            <a:off x="381000" y="1143000"/>
            <a:ext cx="8610600" cy="5486400"/>
          </a:xfrm>
        </p:spPr>
        <p:txBody>
          <a:bodyPr>
            <a:normAutofit fontScale="92500"/>
          </a:bodyPr>
          <a:lstStyle/>
          <a:p>
            <a:pPr marL="0" indent="0">
              <a:buNone/>
            </a:pPr>
            <a:r>
              <a:rPr lang="en-US" dirty="0"/>
              <a:t>Turkish government have some plans to open new universities in provinces where they do not </a:t>
            </a:r>
            <a:r>
              <a:rPr lang="en-US" dirty="0" smtClean="0"/>
              <a:t>have any. </a:t>
            </a:r>
            <a:r>
              <a:rPr lang="en-US" dirty="0"/>
              <a:t>According to predictions </a:t>
            </a:r>
            <a:r>
              <a:rPr lang="en-US" dirty="0" smtClean="0"/>
              <a:t>the aim </a:t>
            </a:r>
            <a:r>
              <a:rPr lang="en-US" dirty="0"/>
              <a:t>of this project is a response to their constituencies who vote for them at the last elections. However, while existing universities face difficulties financially and academically, establishing new universities does not seem to be a good idea</a:t>
            </a:r>
            <a:r>
              <a:rPr lang="en-US" dirty="0" smtClean="0"/>
              <a:t>.</a:t>
            </a:r>
            <a:endParaRPr lang="en-US" dirty="0"/>
          </a:p>
          <a:p>
            <a:pPr marL="0" indent="0">
              <a:buNone/>
            </a:pPr>
            <a:r>
              <a:rPr lang="en-US" dirty="0"/>
              <a:t>First of all, the new universities will face staffing problems. They will have difficulties to find a faculty that is qualified to teach. In our country teachers who meet academic requirements is not enough. So these new universities will have to employ under qualified people. In addition new universities will not have enough funds and academicians will refuse to work at small cities where academic and life standards are low. The result of employing local professionals and under qualified teachers at small town universities will be decreasing quality of education.</a:t>
            </a:r>
          </a:p>
          <a:p>
            <a:pPr marL="0" indent="0">
              <a:buNone/>
            </a:pPr>
            <a:endParaRPr lang="en-US" dirty="0"/>
          </a:p>
        </p:txBody>
      </p:sp>
    </p:spTree>
    <p:extLst>
      <p:ext uri="{BB962C8B-B14F-4D97-AF65-F5344CB8AC3E}">
        <p14:creationId xmlns:p14="http://schemas.microsoft.com/office/powerpoint/2010/main" val="845633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52400"/>
            <a:ext cx="8305800" cy="6324600"/>
          </a:xfrm>
        </p:spPr>
        <p:txBody>
          <a:bodyPr>
            <a:normAutofit fontScale="92500" lnSpcReduction="20000"/>
          </a:bodyPr>
          <a:lstStyle/>
          <a:p>
            <a:pPr marL="0" indent="0">
              <a:buNone/>
            </a:pPr>
            <a:r>
              <a:rPr lang="en-US" dirty="0"/>
              <a:t>Secondly, the small town universities will face financial difficulties. They will not have opportunities and funds to build some facilities. Students will need dorms, library, computer rooms and sport areas for their academic and personal development. While all existing universities does not have these requirements, the small town universities will have to settle with small classes and insufficient facilities.</a:t>
            </a:r>
          </a:p>
          <a:p>
            <a:pPr marL="0" indent="0">
              <a:buNone/>
            </a:pPr>
            <a:endParaRPr lang="en-US" dirty="0"/>
          </a:p>
          <a:p>
            <a:pPr marL="0" indent="0">
              <a:buNone/>
            </a:pPr>
            <a:r>
              <a:rPr lang="en-US" dirty="0"/>
              <a:t>It is argued that establishing the new universities in small towns will cause sociocultural development of the host town. However, </a:t>
            </a:r>
            <a:r>
              <a:rPr lang="en-US" dirty="0" smtClean="0"/>
              <a:t>when </a:t>
            </a:r>
            <a:r>
              <a:rPr lang="en-US" dirty="0"/>
              <a:t>there are </a:t>
            </a:r>
            <a:r>
              <a:rPr lang="en-US" dirty="0" smtClean="0"/>
              <a:t>insufficient </a:t>
            </a:r>
            <a:r>
              <a:rPr lang="en-US" dirty="0"/>
              <a:t>staff and financial freedom at these universities, it does not </a:t>
            </a:r>
            <a:r>
              <a:rPr lang="en-US" dirty="0" smtClean="0"/>
              <a:t>help the </a:t>
            </a:r>
            <a:r>
              <a:rPr lang="en-US" dirty="0"/>
              <a:t>community </a:t>
            </a:r>
            <a:r>
              <a:rPr lang="en-US" dirty="0" smtClean="0"/>
              <a:t>or the </a:t>
            </a:r>
            <a:r>
              <a:rPr lang="en-US" dirty="0"/>
              <a:t>economy of town. It may </a:t>
            </a:r>
            <a:r>
              <a:rPr lang="en-US" dirty="0" smtClean="0"/>
              <a:t>bring some </a:t>
            </a:r>
            <a:r>
              <a:rPr lang="en-US" dirty="0"/>
              <a:t>job opportunities and substandard education to local youth. But it is not clearly a solution or development for public's problems.</a:t>
            </a:r>
          </a:p>
          <a:p>
            <a:pPr marL="0" indent="0">
              <a:buNone/>
            </a:pPr>
            <a:endParaRPr lang="en-US" dirty="0"/>
          </a:p>
          <a:p>
            <a:pPr marL="0" indent="0">
              <a:buNone/>
            </a:pPr>
            <a:r>
              <a:rPr lang="en-US" dirty="0"/>
              <a:t>Having said all these, universities are institutions which present higher education for us to be a qualified and talented person. In order to provide quality of education, universities need to have qualified teachers and sufficient academic and social facilities. We should increase the standard of our existing universities first. After that we can establish new ones.</a:t>
            </a:r>
          </a:p>
          <a:p>
            <a:pPr marL="0" indent="0">
              <a:buNone/>
            </a:pPr>
            <a:endParaRPr lang="en-US" dirty="0"/>
          </a:p>
        </p:txBody>
      </p:sp>
    </p:spTree>
    <p:extLst>
      <p:ext uri="{BB962C8B-B14F-4D97-AF65-F5344CB8AC3E}">
        <p14:creationId xmlns:p14="http://schemas.microsoft.com/office/powerpoint/2010/main" val="557285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Task 2</a:t>
            </a:r>
            <a:endParaRPr lang="en-US" b="1" dirty="0"/>
          </a:p>
        </p:txBody>
      </p:sp>
      <p:sp>
        <p:nvSpPr>
          <p:cNvPr id="3" name="Content Placeholder 2"/>
          <p:cNvSpPr>
            <a:spLocks noGrp="1"/>
          </p:cNvSpPr>
          <p:nvPr>
            <p:ph sz="quarter" idx="1"/>
          </p:nvPr>
        </p:nvSpPr>
        <p:spPr/>
        <p:txBody>
          <a:bodyPr/>
          <a:lstStyle/>
          <a:p>
            <a:pPr marL="0" indent="0">
              <a:buNone/>
            </a:pPr>
            <a:r>
              <a:rPr lang="en-US" dirty="0" smtClean="0"/>
              <a:t>Writing an essay on the given topic:</a:t>
            </a:r>
          </a:p>
          <a:p>
            <a:r>
              <a:rPr lang="en-US" dirty="0" smtClean="0"/>
              <a:t>Argue </a:t>
            </a:r>
            <a:r>
              <a:rPr lang="en-US" dirty="0"/>
              <a:t>for or </a:t>
            </a:r>
            <a:r>
              <a:rPr lang="en-US" dirty="0" smtClean="0"/>
              <a:t>against</a:t>
            </a:r>
            <a:endParaRPr lang="en-US" dirty="0"/>
          </a:p>
          <a:p>
            <a:r>
              <a:rPr lang="en-US" dirty="0"/>
              <a:t>Word Limit : 350 words</a:t>
            </a:r>
          </a:p>
          <a:p>
            <a:r>
              <a:rPr lang="en-US" dirty="0"/>
              <a:t>Presentation: </a:t>
            </a:r>
            <a:r>
              <a:rPr lang="en-US" dirty="0" smtClean="0"/>
              <a:t>Power point </a:t>
            </a:r>
            <a:r>
              <a:rPr lang="en-US" dirty="0"/>
              <a:t>or Microsoft word.</a:t>
            </a:r>
          </a:p>
          <a:p>
            <a:r>
              <a:rPr lang="en-US" dirty="0"/>
              <a:t>Due date:  </a:t>
            </a:r>
            <a:r>
              <a:rPr lang="en-US" dirty="0" smtClean="0"/>
              <a:t>Wednesday</a:t>
            </a:r>
            <a:endParaRPr lang="en-US" dirty="0"/>
          </a:p>
        </p:txBody>
      </p:sp>
    </p:spTree>
    <p:extLst>
      <p:ext uri="{BB962C8B-B14F-4D97-AF65-F5344CB8AC3E}">
        <p14:creationId xmlns:p14="http://schemas.microsoft.com/office/powerpoint/2010/main" val="27346598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284</TotalTime>
  <Words>1010</Words>
  <Application>Microsoft Office PowerPoint</Application>
  <PresentationFormat>On-screen Show (4:3)</PresentationFormat>
  <Paragraphs>56</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Calibri</vt:lpstr>
      <vt:lpstr>Franklin Gothic Book</vt:lpstr>
      <vt:lpstr>Perpetua</vt:lpstr>
      <vt:lpstr>Wingdings</vt:lpstr>
      <vt:lpstr>Wingdings 2</vt:lpstr>
      <vt:lpstr>Equity</vt:lpstr>
      <vt:lpstr>Argumentative Essay</vt:lpstr>
      <vt:lpstr>In a good argument, writers:</vt:lpstr>
      <vt:lpstr>An Argument is NOT...</vt:lpstr>
      <vt:lpstr>Put Away the Paddle      paragraph </vt:lpstr>
      <vt:lpstr>Thesis of an Argument</vt:lpstr>
      <vt:lpstr>Task 1. </vt:lpstr>
      <vt:lpstr>Topics</vt:lpstr>
      <vt:lpstr>Sample Essay</vt:lpstr>
      <vt:lpstr>PowerPoint Presentation</vt:lpstr>
      <vt:lpstr>Task 2</vt:lpstr>
    </vt:vector>
  </TitlesOfParts>
  <Company>FAST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Argumentative Essay</dc:title>
  <dc:creator>faiza</dc:creator>
  <cp:lastModifiedBy>zahidamansoor</cp:lastModifiedBy>
  <cp:revision>41</cp:revision>
  <dcterms:created xsi:type="dcterms:W3CDTF">2014-03-05T05:22:14Z</dcterms:created>
  <dcterms:modified xsi:type="dcterms:W3CDTF">2020-12-14T07:31:26Z</dcterms:modified>
</cp:coreProperties>
</file>