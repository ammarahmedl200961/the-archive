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DB95E-8B9E-4CFA-A278-54F1095DB277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B49E-A8AD-47B9-BDAD-3BF2FB85B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203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DB95E-8B9E-4CFA-A278-54F1095DB277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B49E-A8AD-47B9-BDAD-3BF2FB85B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957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DB95E-8B9E-4CFA-A278-54F1095DB277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B49E-A8AD-47B9-BDAD-3BF2FB85B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819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DB95E-8B9E-4CFA-A278-54F1095DB277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B49E-A8AD-47B9-BDAD-3BF2FB85B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210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DB95E-8B9E-4CFA-A278-54F1095DB277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B49E-A8AD-47B9-BDAD-3BF2FB85B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182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DB95E-8B9E-4CFA-A278-54F1095DB277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B49E-A8AD-47B9-BDAD-3BF2FB85B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181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DB95E-8B9E-4CFA-A278-54F1095DB277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B49E-A8AD-47B9-BDAD-3BF2FB85B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844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DB95E-8B9E-4CFA-A278-54F1095DB277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B49E-A8AD-47B9-BDAD-3BF2FB85B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674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DB95E-8B9E-4CFA-A278-54F1095DB277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B49E-A8AD-47B9-BDAD-3BF2FB85B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219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DB95E-8B9E-4CFA-A278-54F1095DB277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B49E-A8AD-47B9-BDAD-3BF2FB85B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414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DB95E-8B9E-4CFA-A278-54F1095DB277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B49E-A8AD-47B9-BDAD-3BF2FB85B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80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5DB95E-8B9E-4CFA-A278-54F1095DB277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E2B49E-A8AD-47B9-BDAD-3BF2FB85B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713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entrytest.com/essays/essay27.aspx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igitalmarketinginstitute.com/blog/the-value-and-importance-of-online-learning" TargetMode="External"/><Relationship Id="rId2" Type="http://schemas.openxmlformats.org/officeDocument/2006/relationships/hyperlink" Target="https://www.weforum.org/agenda/2020/04/coronavirus-education-global-covid19-online-digital-learnin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entrepreneurship-campus.org/the-advantages-and-importance-of-online-learnin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Expository Essay Writing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103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 for Five Paragraph Essay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Introductory </a:t>
            </a:r>
            <a:r>
              <a:rPr lang="en-US" dirty="0" smtClean="0"/>
              <a:t>Paragraph</a:t>
            </a:r>
          </a:p>
          <a:p>
            <a:pPr lvl="1"/>
            <a:r>
              <a:rPr lang="en-US" dirty="0" smtClean="0"/>
              <a:t>Reader’s Hook</a:t>
            </a:r>
          </a:p>
          <a:p>
            <a:pPr lvl="1"/>
            <a:r>
              <a:rPr lang="en-US" dirty="0" smtClean="0"/>
              <a:t>Lead-in Statement</a:t>
            </a:r>
          </a:p>
          <a:p>
            <a:pPr lvl="1"/>
            <a:r>
              <a:rPr lang="en-US" dirty="0" smtClean="0"/>
              <a:t>Thesis Statement( Topic+ 1controlling Idea+3 reasons/supporting points)</a:t>
            </a:r>
          </a:p>
          <a:p>
            <a:pPr lvl="1"/>
            <a:r>
              <a:rPr lang="en-US" dirty="0" smtClean="0"/>
              <a:t>Reverse Hook( Reverse first point/reasons of thesis</a:t>
            </a:r>
          </a:p>
          <a:p>
            <a:r>
              <a:rPr lang="en-US" dirty="0" smtClean="0"/>
              <a:t>First Body Paragraph</a:t>
            </a:r>
          </a:p>
          <a:p>
            <a:pPr lvl="1"/>
            <a:r>
              <a:rPr lang="en-US" dirty="0"/>
              <a:t>The first sentence of this paragraph should include  the </a:t>
            </a:r>
            <a:r>
              <a:rPr lang="en-US" dirty="0">
                <a:solidFill>
                  <a:srgbClr val="FF0000"/>
                </a:solidFill>
              </a:rPr>
              <a:t>“reverse hook</a:t>
            </a:r>
            <a:r>
              <a:rPr lang="en-US" dirty="0"/>
              <a:t>” which ties in with the transitional hook at the end of the introductory paragraph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2 major supporting details</a:t>
            </a:r>
          </a:p>
          <a:p>
            <a:pPr lvl="1"/>
            <a:r>
              <a:rPr lang="en-US" dirty="0" smtClean="0"/>
              <a:t>1 minor supporting detail</a:t>
            </a:r>
          </a:p>
          <a:p>
            <a:pPr lvl="1"/>
            <a:r>
              <a:rPr lang="en-US" dirty="0"/>
              <a:t>The last sentence in this paragraph should include </a:t>
            </a:r>
            <a:r>
              <a:rPr lang="en-US" dirty="0">
                <a:solidFill>
                  <a:srgbClr val="FF0000"/>
                </a:solidFill>
              </a:rPr>
              <a:t>a transitional  hook </a:t>
            </a:r>
            <a:r>
              <a:rPr lang="en-US" dirty="0"/>
              <a:t>to tie the </a:t>
            </a:r>
            <a:r>
              <a:rPr lang="en-US" dirty="0">
                <a:solidFill>
                  <a:srgbClr val="FF0000"/>
                </a:solidFill>
              </a:rPr>
              <a:t>second paragraph of the body</a:t>
            </a:r>
            <a:r>
              <a:rPr lang="en-US" dirty="0"/>
              <a:t>.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502540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 for Five Paragraph Essay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16903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Second Body paragraph</a:t>
            </a:r>
          </a:p>
          <a:p>
            <a:pPr lvl="1"/>
            <a:r>
              <a:rPr lang="en-US" dirty="0"/>
              <a:t>The first sentence of this paragraph should include the reverse hook which ties in with the transitional  hook at the end of </a:t>
            </a:r>
            <a:r>
              <a:rPr lang="en-US" dirty="0" smtClean="0"/>
              <a:t>the first </a:t>
            </a:r>
            <a:r>
              <a:rPr lang="en-US" dirty="0"/>
              <a:t>paragraph of the body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2 major supporting details</a:t>
            </a:r>
          </a:p>
          <a:p>
            <a:pPr lvl="1"/>
            <a:r>
              <a:rPr lang="en-US" dirty="0" smtClean="0"/>
              <a:t>1 minor supporting detail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last sentence in this  paragraph should include </a:t>
            </a:r>
            <a:r>
              <a:rPr lang="en-US" dirty="0">
                <a:solidFill>
                  <a:srgbClr val="FF0000"/>
                </a:solidFill>
              </a:rPr>
              <a:t>a transitional hook </a:t>
            </a:r>
            <a:r>
              <a:rPr lang="en-US" dirty="0"/>
              <a:t>to tie into the third paragraph of the body. </a:t>
            </a:r>
            <a:endParaRPr lang="en-US" b="0" dirty="0" smtClean="0">
              <a:effectLst/>
            </a:endParaRPr>
          </a:p>
          <a:p>
            <a:r>
              <a:rPr lang="en-US" dirty="0" smtClean="0"/>
              <a:t>Third Body paragraph</a:t>
            </a:r>
          </a:p>
          <a:p>
            <a:pPr lvl="1"/>
            <a:r>
              <a:rPr lang="en-US" dirty="0"/>
              <a:t>The first sentence of this  paragraph should include the reverse hook which ties in with the transitional hook at the end of the second  </a:t>
            </a:r>
            <a:r>
              <a:rPr lang="en-US" dirty="0" smtClean="0"/>
              <a:t>paragraph.</a:t>
            </a:r>
          </a:p>
          <a:p>
            <a:pPr lvl="1"/>
            <a:r>
              <a:rPr lang="en-US" dirty="0" smtClean="0"/>
              <a:t>2 major supporting details</a:t>
            </a:r>
          </a:p>
          <a:p>
            <a:pPr lvl="1"/>
            <a:r>
              <a:rPr lang="en-US" dirty="0" smtClean="0"/>
              <a:t>1 minor supporting detail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last sentence in this paragraph should include a  transitional concluding hook that signals the reader that this is the final major point being made in the  essay. This hook also leads in to the last, or concluding, paragraph</a:t>
            </a:r>
            <a:r>
              <a:rPr lang="en-US" dirty="0" smtClean="0"/>
              <a:t>.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854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 for Five Paragraph Essay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Concluding Paragraph</a:t>
            </a:r>
          </a:p>
          <a:p>
            <a:pPr lvl="1"/>
            <a:r>
              <a:rPr lang="en-US" dirty="0"/>
              <a:t>A</a:t>
            </a:r>
            <a:r>
              <a:rPr lang="en-US" dirty="0" smtClean="0"/>
              <a:t> </a:t>
            </a:r>
            <a:r>
              <a:rPr lang="en-US" dirty="0"/>
              <a:t>summary of the three main points from the body of the essay. </a:t>
            </a:r>
          </a:p>
          <a:p>
            <a:pPr lvl="1"/>
            <a:r>
              <a:rPr lang="en-US" dirty="0" smtClean="0"/>
              <a:t> A </a:t>
            </a:r>
            <a:r>
              <a:rPr lang="en-US" dirty="0"/>
              <a:t>final statement that gives the reader signals that the discussion has come to an end. (This  final statement may be a “call to action” in </a:t>
            </a:r>
            <a:r>
              <a:rPr lang="en-US" dirty="0" smtClean="0"/>
              <a:t> </a:t>
            </a:r>
            <a:r>
              <a:rPr lang="en-US" dirty="0"/>
              <a:t>essay.)</a:t>
            </a:r>
            <a:endParaRPr lang="en-US" b="0" dirty="0" smtClean="0">
              <a:effectLst/>
            </a:endParaRPr>
          </a:p>
          <a:p>
            <a:pPr marL="0" indent="0">
              <a:buNone/>
            </a:pPr>
            <a:r>
              <a:rPr lang="en-US" dirty="0" smtClean="0"/>
              <a:t>Example Essay</a:t>
            </a:r>
          </a:p>
          <a:p>
            <a:pPr marL="0" indent="0">
              <a:buNone/>
            </a:pPr>
            <a:r>
              <a:rPr lang="en-US" dirty="0" smtClean="0">
                <a:hlinkClick r:id="rId2"/>
              </a:rPr>
              <a:t>http://www.entrytest.com/essays/essay27.aspx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921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                 Activity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93613"/>
            <a:ext cx="10515600" cy="4970959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Instructions (Individual Task)</a:t>
            </a:r>
          </a:p>
          <a:p>
            <a:r>
              <a:rPr lang="en-US" dirty="0" smtClean="0"/>
              <a:t>Write introductory paragraph with three Reader’s hook</a:t>
            </a:r>
          </a:p>
          <a:p>
            <a:pPr lvl="1"/>
            <a:r>
              <a:rPr lang="en-US" dirty="0" smtClean="0"/>
              <a:t>Question</a:t>
            </a:r>
          </a:p>
          <a:p>
            <a:pPr lvl="1"/>
            <a:r>
              <a:rPr lang="en-US" dirty="0" smtClean="0"/>
              <a:t>Fact</a:t>
            </a:r>
          </a:p>
          <a:p>
            <a:pPr lvl="1"/>
            <a:r>
              <a:rPr lang="en-US" dirty="0" smtClean="0"/>
              <a:t>Anecdote</a:t>
            </a:r>
          </a:p>
          <a:p>
            <a:r>
              <a:rPr lang="en-US" dirty="0" smtClean="0"/>
              <a:t>First approved your thesis statement then write complete introductory paragraph.</a:t>
            </a:r>
          </a:p>
          <a:p>
            <a:r>
              <a:rPr lang="en-US" dirty="0" smtClean="0"/>
              <a:t>Topic: Impact of online education on students’ Learning during </a:t>
            </a:r>
            <a:r>
              <a:rPr lang="en-US" dirty="0" err="1" smtClean="0"/>
              <a:t>Covid</a:t>
            </a:r>
            <a:r>
              <a:rPr lang="en-US" dirty="0" smtClean="0"/>
              <a:t> 19</a:t>
            </a:r>
          </a:p>
          <a:p>
            <a:r>
              <a:rPr lang="en-US" dirty="0" smtClean="0"/>
              <a:t>Article for reading: </a:t>
            </a:r>
          </a:p>
          <a:p>
            <a:r>
              <a:rPr lang="en-US" dirty="0" smtClean="0">
                <a:hlinkClick r:id="rId2"/>
              </a:rPr>
              <a:t>https://www.weforum.org/agenda/2020/04/coronavirus-education-global-covid19-online-digital-learning/</a:t>
            </a:r>
            <a:endParaRPr lang="en-US" dirty="0" smtClean="0"/>
          </a:p>
          <a:p>
            <a:r>
              <a:rPr lang="en-US" dirty="0" smtClean="0">
                <a:hlinkClick r:id="rId3"/>
              </a:rPr>
              <a:t>https://digitalmarketinginstitute.com/blog/the-value-and-importance-of-online-learning</a:t>
            </a:r>
            <a:endParaRPr lang="en-US" dirty="0" smtClean="0"/>
          </a:p>
          <a:p>
            <a:r>
              <a:rPr lang="en-US" dirty="0" smtClean="0">
                <a:hlinkClick r:id="rId4"/>
              </a:rPr>
              <a:t>https://www.entrepreneurship-campus.org/the-advantages-and-importance-of-online-learning/</a:t>
            </a:r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Note: Make sure you paraphrase the information taken from articles and give in text citations if required. Copied information will be acceptable.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217362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171</Words>
  <Application>Microsoft Office PowerPoint</Application>
  <PresentationFormat>Widescreen</PresentationFormat>
  <Paragraphs>43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Expository Essay Writing</vt:lpstr>
      <vt:lpstr>Outline for Five Paragraph Essay</vt:lpstr>
      <vt:lpstr>Outline for Five Paragraph Essay</vt:lpstr>
      <vt:lpstr>Outline for Five Paragraph Essay</vt:lpstr>
      <vt:lpstr>                                 Activity 1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Expository Essay Writing</dc:title>
  <dc:creator>Ayesha shafiq</dc:creator>
  <cp:lastModifiedBy>Ayesha shafiq</cp:lastModifiedBy>
  <cp:revision>7</cp:revision>
  <dcterms:created xsi:type="dcterms:W3CDTF">2020-12-01T18:05:18Z</dcterms:created>
  <dcterms:modified xsi:type="dcterms:W3CDTF">2020-12-01T18:44:03Z</dcterms:modified>
</cp:coreProperties>
</file>