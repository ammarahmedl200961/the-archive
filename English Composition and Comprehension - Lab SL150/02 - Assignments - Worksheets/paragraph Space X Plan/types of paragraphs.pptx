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snapToGrid="0">
      <p:cViewPr varScale="1">
        <p:scale>
          <a:sx n="70" d="100"/>
          <a:sy n="70" d="100"/>
        </p:scale>
        <p:origin x="738" y="6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B07AB300-61B8-4BB6-B7DA-D27E98FB7DF2}" type="datetimeFigureOut">
              <a:rPr lang="en-US" smtClean="0"/>
              <a:t>11/21/2020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F0DF2F8-A04B-4845-AAA9-9DDA5C20F28A}" type="slidenum">
              <a:rPr lang="en-US" smtClean="0"/>
              <a:t>‹#›</a:t>
            </a:fld>
            <a:endParaRPr lang="en-US"/>
          </a:p>
        </p:txBody>
      </p:sp>
    </p:spTree>
    <p:extLst>
      <p:ext uri="{BB962C8B-B14F-4D97-AF65-F5344CB8AC3E}">
        <p14:creationId xmlns:p14="http://schemas.microsoft.com/office/powerpoint/2010/main" val="274853704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B07AB300-61B8-4BB6-B7DA-D27E98FB7DF2}" type="datetimeFigureOut">
              <a:rPr lang="en-US" smtClean="0"/>
              <a:t>11/21/2020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F0DF2F8-A04B-4845-AAA9-9DDA5C20F28A}" type="slidenum">
              <a:rPr lang="en-US" smtClean="0"/>
              <a:t>‹#›</a:t>
            </a:fld>
            <a:endParaRPr lang="en-US"/>
          </a:p>
        </p:txBody>
      </p:sp>
    </p:spTree>
    <p:extLst>
      <p:ext uri="{BB962C8B-B14F-4D97-AF65-F5344CB8AC3E}">
        <p14:creationId xmlns:p14="http://schemas.microsoft.com/office/powerpoint/2010/main" val="304430593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07AB300-61B8-4BB6-B7DA-D27E98FB7DF2}" type="datetimeFigureOut">
              <a:rPr lang="en-US" smtClean="0"/>
              <a:t>11/21/2020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F0DF2F8-A04B-4845-AAA9-9DDA5C20F28A}" type="slidenum">
              <a:rPr lang="en-US" smtClean="0"/>
              <a:t>‹#›</a:t>
            </a:fld>
            <a:endParaRPr lang="en-US"/>
          </a:p>
        </p:txBody>
      </p:sp>
    </p:spTree>
    <p:extLst>
      <p:ext uri="{BB962C8B-B14F-4D97-AF65-F5344CB8AC3E}">
        <p14:creationId xmlns:p14="http://schemas.microsoft.com/office/powerpoint/2010/main" val="63953024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B07AB300-61B8-4BB6-B7DA-D27E98FB7DF2}" type="datetimeFigureOut">
              <a:rPr lang="en-US" smtClean="0"/>
              <a:t>11/21/2020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F0DF2F8-A04B-4845-AAA9-9DDA5C20F28A}" type="slidenum">
              <a:rPr lang="en-US" smtClean="0"/>
              <a:t>‹#›</a:t>
            </a:fld>
            <a:endParaRPr lang="en-US"/>
          </a:p>
        </p:txBody>
      </p:sp>
    </p:spTree>
    <p:extLst>
      <p:ext uri="{BB962C8B-B14F-4D97-AF65-F5344CB8AC3E}">
        <p14:creationId xmlns:p14="http://schemas.microsoft.com/office/powerpoint/2010/main" val="572420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B07AB300-61B8-4BB6-B7DA-D27E98FB7DF2}" type="datetimeFigureOut">
              <a:rPr lang="en-US" smtClean="0"/>
              <a:t>11/21/2020</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FF0DF2F8-A04B-4845-AAA9-9DDA5C20F28A}" type="slidenum">
              <a:rPr lang="en-US" smtClean="0"/>
              <a:t>‹#›</a:t>
            </a:fld>
            <a:endParaRPr lang="en-US"/>
          </a:p>
        </p:txBody>
      </p:sp>
    </p:spTree>
    <p:extLst>
      <p:ext uri="{BB962C8B-B14F-4D97-AF65-F5344CB8AC3E}">
        <p14:creationId xmlns:p14="http://schemas.microsoft.com/office/powerpoint/2010/main" val="198826240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B07AB300-61B8-4BB6-B7DA-D27E98FB7DF2}" type="datetimeFigureOut">
              <a:rPr lang="en-US" smtClean="0"/>
              <a:t>11/21/2020</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FF0DF2F8-A04B-4845-AAA9-9DDA5C20F28A}" type="slidenum">
              <a:rPr lang="en-US" smtClean="0"/>
              <a:t>‹#›</a:t>
            </a:fld>
            <a:endParaRPr lang="en-US"/>
          </a:p>
        </p:txBody>
      </p:sp>
    </p:spTree>
    <p:extLst>
      <p:ext uri="{BB962C8B-B14F-4D97-AF65-F5344CB8AC3E}">
        <p14:creationId xmlns:p14="http://schemas.microsoft.com/office/powerpoint/2010/main" val="198016032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07AB300-61B8-4BB6-B7DA-D27E98FB7DF2}" type="datetimeFigureOut">
              <a:rPr lang="en-US" smtClean="0"/>
              <a:t>11/21/2020</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FF0DF2F8-A04B-4845-AAA9-9DDA5C20F28A}" type="slidenum">
              <a:rPr lang="en-US" smtClean="0"/>
              <a:t>‹#›</a:t>
            </a:fld>
            <a:endParaRPr lang="en-US"/>
          </a:p>
        </p:txBody>
      </p:sp>
    </p:spTree>
    <p:extLst>
      <p:ext uri="{BB962C8B-B14F-4D97-AF65-F5344CB8AC3E}">
        <p14:creationId xmlns:p14="http://schemas.microsoft.com/office/powerpoint/2010/main" val="345653859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B07AB300-61B8-4BB6-B7DA-D27E98FB7DF2}" type="datetimeFigureOut">
              <a:rPr lang="en-US" smtClean="0"/>
              <a:t>11/21/2020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F0DF2F8-A04B-4845-AAA9-9DDA5C20F28A}" type="slidenum">
              <a:rPr lang="en-US" smtClean="0"/>
              <a:t>‹#›</a:t>
            </a:fld>
            <a:endParaRPr lang="en-US"/>
          </a:p>
        </p:txBody>
      </p:sp>
    </p:spTree>
    <p:extLst>
      <p:ext uri="{BB962C8B-B14F-4D97-AF65-F5344CB8AC3E}">
        <p14:creationId xmlns:p14="http://schemas.microsoft.com/office/powerpoint/2010/main" val="6497463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B07AB300-61B8-4BB6-B7DA-D27E98FB7DF2}" type="datetimeFigureOut">
              <a:rPr lang="en-US" smtClean="0"/>
              <a:t>11/21/2020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F0DF2F8-A04B-4845-AAA9-9DDA5C20F28A}" type="slidenum">
              <a:rPr lang="en-US" smtClean="0"/>
              <a:t>‹#›</a:t>
            </a:fld>
            <a:endParaRPr lang="en-US"/>
          </a:p>
        </p:txBody>
      </p:sp>
    </p:spTree>
    <p:extLst>
      <p:ext uri="{BB962C8B-B14F-4D97-AF65-F5344CB8AC3E}">
        <p14:creationId xmlns:p14="http://schemas.microsoft.com/office/powerpoint/2010/main" val="94353158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B07AB300-61B8-4BB6-B7DA-D27E98FB7DF2}" type="datetimeFigureOut">
              <a:rPr lang="en-US" smtClean="0"/>
              <a:t>11/21/2020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F0DF2F8-A04B-4845-AAA9-9DDA5C20F28A}" type="slidenum">
              <a:rPr lang="en-US" smtClean="0"/>
              <a:t>‹#›</a:t>
            </a:fld>
            <a:endParaRPr lang="en-US"/>
          </a:p>
        </p:txBody>
      </p:sp>
    </p:spTree>
    <p:extLst>
      <p:ext uri="{BB962C8B-B14F-4D97-AF65-F5344CB8AC3E}">
        <p14:creationId xmlns:p14="http://schemas.microsoft.com/office/powerpoint/2010/main" val="284099954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B07AB300-61B8-4BB6-B7DA-D27E98FB7DF2}" type="datetimeFigureOut">
              <a:rPr lang="en-US" smtClean="0"/>
              <a:t>11/21/2020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F0DF2F8-A04B-4845-AAA9-9DDA5C20F28A}" type="slidenum">
              <a:rPr lang="en-US" smtClean="0"/>
              <a:t>‹#›</a:t>
            </a:fld>
            <a:endParaRPr lang="en-US"/>
          </a:p>
        </p:txBody>
      </p:sp>
    </p:spTree>
    <p:extLst>
      <p:ext uri="{BB962C8B-B14F-4D97-AF65-F5344CB8AC3E}">
        <p14:creationId xmlns:p14="http://schemas.microsoft.com/office/powerpoint/2010/main" val="136284762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07AB300-61B8-4BB6-B7DA-D27E98FB7DF2}" type="datetimeFigureOut">
              <a:rPr lang="en-US" smtClean="0"/>
              <a:t>11/21/2020</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F0DF2F8-A04B-4845-AAA9-9DDA5C20F28A}" type="slidenum">
              <a:rPr lang="en-US" smtClean="0"/>
              <a:t>‹#›</a:t>
            </a:fld>
            <a:endParaRPr lang="en-US"/>
          </a:p>
        </p:txBody>
      </p:sp>
    </p:spTree>
    <p:extLst>
      <p:ext uri="{BB962C8B-B14F-4D97-AF65-F5344CB8AC3E}">
        <p14:creationId xmlns:p14="http://schemas.microsoft.com/office/powerpoint/2010/main" val="20191835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endParaRPr lang="en-US"/>
          </a:p>
        </p:txBody>
      </p:sp>
      <p:sp>
        <p:nvSpPr>
          <p:cNvPr id="3" name="Subtitle 2"/>
          <p:cNvSpPr>
            <a:spLocks noGrp="1"/>
          </p:cNvSpPr>
          <p:nvPr>
            <p:ph type="subTitle" idx="1"/>
          </p:nvPr>
        </p:nvSpPr>
        <p:spPr/>
        <p:txBody>
          <a:bodyPr/>
          <a:lstStyle/>
          <a:p>
            <a:endParaRPr lang="en-US"/>
          </a:p>
        </p:txBody>
      </p:sp>
    </p:spTree>
    <p:extLst>
      <p:ext uri="{BB962C8B-B14F-4D97-AF65-F5344CB8AC3E}">
        <p14:creationId xmlns:p14="http://schemas.microsoft.com/office/powerpoint/2010/main" val="287457924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Cause Paragraph Outline </a:t>
            </a:r>
            <a:br>
              <a:rPr lang="en-US" dirty="0"/>
            </a:br>
            <a:endParaRPr lang="en-US" dirty="0"/>
          </a:p>
        </p:txBody>
      </p:sp>
      <p:sp>
        <p:nvSpPr>
          <p:cNvPr id="3" name="Content Placeholder 2"/>
          <p:cNvSpPr>
            <a:spLocks noGrp="1"/>
          </p:cNvSpPr>
          <p:nvPr>
            <p:ph idx="1"/>
          </p:nvPr>
        </p:nvSpPr>
        <p:spPr/>
        <p:txBody>
          <a:bodyPr>
            <a:normAutofit/>
          </a:bodyPr>
          <a:lstStyle/>
          <a:p>
            <a:r>
              <a:rPr lang="en-US" dirty="0" smtClean="0"/>
              <a:t>I</a:t>
            </a:r>
            <a:r>
              <a:rPr lang="en-US" dirty="0"/>
              <a:t>. Topic Sentence: makes clear that your paragraph will discuss causes of something</a:t>
            </a:r>
            <a:r>
              <a:rPr lang="en-US" dirty="0" smtClean="0"/>
              <a:t>.</a:t>
            </a:r>
          </a:p>
          <a:p>
            <a:r>
              <a:rPr lang="en-US" dirty="0" smtClean="0"/>
              <a:t> </a:t>
            </a:r>
            <a:r>
              <a:rPr lang="en-US" dirty="0"/>
              <a:t>II. First cause: </a:t>
            </a:r>
            <a:endParaRPr lang="en-US" dirty="0" smtClean="0"/>
          </a:p>
          <a:p>
            <a:r>
              <a:rPr lang="en-US" dirty="0" smtClean="0"/>
              <a:t>A</a:t>
            </a:r>
            <a:r>
              <a:rPr lang="en-US" dirty="0"/>
              <a:t>. Detail B. Detail </a:t>
            </a:r>
            <a:endParaRPr lang="en-US" dirty="0" smtClean="0"/>
          </a:p>
          <a:p>
            <a:r>
              <a:rPr lang="en-US" dirty="0" smtClean="0"/>
              <a:t>III</a:t>
            </a:r>
            <a:r>
              <a:rPr lang="en-US" dirty="0"/>
              <a:t>. Second Cause </a:t>
            </a:r>
            <a:endParaRPr lang="en-US" dirty="0" smtClean="0"/>
          </a:p>
          <a:p>
            <a:r>
              <a:rPr lang="en-US" dirty="0" smtClean="0"/>
              <a:t>A</a:t>
            </a:r>
            <a:r>
              <a:rPr lang="en-US" dirty="0"/>
              <a:t>. Detail B. </a:t>
            </a:r>
            <a:r>
              <a:rPr lang="en-US" dirty="0" smtClean="0"/>
              <a:t>Detail</a:t>
            </a:r>
          </a:p>
          <a:p>
            <a:r>
              <a:rPr lang="en-US" dirty="0" smtClean="0"/>
              <a:t> </a:t>
            </a:r>
            <a:r>
              <a:rPr lang="en-US" dirty="0"/>
              <a:t>IV. Third Cause A. Detail B. </a:t>
            </a:r>
            <a:r>
              <a:rPr lang="en-US" dirty="0" smtClean="0"/>
              <a:t>Detail</a:t>
            </a:r>
          </a:p>
          <a:p>
            <a:r>
              <a:rPr lang="en-US" dirty="0" smtClean="0"/>
              <a:t> </a:t>
            </a:r>
            <a:r>
              <a:rPr lang="en-US" dirty="0"/>
              <a:t>V. Summary / Concluding Sentence</a:t>
            </a:r>
          </a:p>
        </p:txBody>
      </p:sp>
    </p:spTree>
    <p:extLst>
      <p:ext uri="{BB962C8B-B14F-4D97-AF65-F5344CB8AC3E}">
        <p14:creationId xmlns:p14="http://schemas.microsoft.com/office/powerpoint/2010/main" val="171602616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Cause paragraph Example</a:t>
            </a:r>
            <a:endParaRPr lang="en-US" dirty="0"/>
          </a:p>
        </p:txBody>
      </p:sp>
      <p:sp>
        <p:nvSpPr>
          <p:cNvPr id="3" name="Content Placeholder 2"/>
          <p:cNvSpPr>
            <a:spLocks noGrp="1"/>
          </p:cNvSpPr>
          <p:nvPr>
            <p:ph idx="1"/>
          </p:nvPr>
        </p:nvSpPr>
        <p:spPr/>
        <p:txBody>
          <a:bodyPr>
            <a:normAutofit fontScale="92500" lnSpcReduction="10000"/>
          </a:bodyPr>
          <a:lstStyle/>
          <a:p>
            <a:r>
              <a:rPr lang="en-US" dirty="0"/>
              <a:t>Traffic accidents occur because of several reasons. </a:t>
            </a:r>
            <a:r>
              <a:rPr lang="en-US" dirty="0" smtClean="0"/>
              <a:t> </a:t>
            </a:r>
            <a:r>
              <a:rPr lang="en-US" dirty="0"/>
              <a:t>There are several reasons why traffic accidents happen, but </a:t>
            </a:r>
            <a:r>
              <a:rPr lang="en-US" dirty="0" smtClean="0"/>
              <a:t>three </a:t>
            </a:r>
            <a:r>
              <a:rPr lang="en-US" dirty="0"/>
              <a:t>of them are the most significant causes of traffic </a:t>
            </a:r>
            <a:r>
              <a:rPr lang="en-US" dirty="0" smtClean="0"/>
              <a:t>accidents</a:t>
            </a:r>
            <a:r>
              <a:rPr lang="en-US" dirty="0"/>
              <a:t>. </a:t>
            </a:r>
            <a:r>
              <a:rPr lang="en-US" dirty="0" smtClean="0"/>
              <a:t>One </a:t>
            </a:r>
            <a:r>
              <a:rPr lang="en-US" dirty="0"/>
              <a:t>of the main reasons of traffic accidents is careless drivers. Some drivers ignore the traffic rules such as traffic lights and other warning signals. Moreover, they resist wearing seat belts. In addition, some drivers drink alcohol while or before driving. Another cause that results in traffic accidents is weather conditions. Drivers tend to lose the control of the car on icy, wet, or slippery roads and this gives rise to traffic accidents. Too many cars also lead to traffic accidents. When there is traffic, some drivers tend to become nervous, and they become more error-prone. As a result of their mistakes, traffic accidents happen. To sum up, careless drivers, weather conditions, and too many cars cause traffic accidents. </a:t>
            </a:r>
          </a:p>
        </p:txBody>
      </p:sp>
    </p:spTree>
    <p:extLst>
      <p:ext uri="{BB962C8B-B14F-4D97-AF65-F5344CB8AC3E}">
        <p14:creationId xmlns:p14="http://schemas.microsoft.com/office/powerpoint/2010/main" val="231270344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Effect paragraph</a:t>
            </a:r>
            <a:endParaRPr lang="en-US" dirty="0"/>
          </a:p>
        </p:txBody>
      </p:sp>
      <p:sp>
        <p:nvSpPr>
          <p:cNvPr id="3" name="Content Placeholder 2"/>
          <p:cNvSpPr>
            <a:spLocks noGrp="1"/>
          </p:cNvSpPr>
          <p:nvPr>
            <p:ph idx="1"/>
          </p:nvPr>
        </p:nvSpPr>
        <p:spPr/>
        <p:txBody>
          <a:bodyPr/>
          <a:lstStyle/>
          <a:p>
            <a:r>
              <a:rPr lang="en-US" dirty="0"/>
              <a:t>Effect Paragraph </a:t>
            </a:r>
            <a:r>
              <a:rPr lang="en-US" dirty="0" smtClean="0"/>
              <a:t>Outline</a:t>
            </a:r>
          </a:p>
          <a:p>
            <a:r>
              <a:rPr lang="en-US" dirty="0" smtClean="0"/>
              <a:t> </a:t>
            </a:r>
            <a:r>
              <a:rPr lang="en-US" dirty="0"/>
              <a:t>I. Topic Sentence: makes clear that your paragraph will discuss effects of something</a:t>
            </a:r>
            <a:r>
              <a:rPr lang="en-US" dirty="0" smtClean="0"/>
              <a:t>.</a:t>
            </a:r>
          </a:p>
          <a:p>
            <a:r>
              <a:rPr lang="en-US" dirty="0" smtClean="0"/>
              <a:t> </a:t>
            </a:r>
            <a:r>
              <a:rPr lang="en-US" dirty="0"/>
              <a:t>II. First effect A. Detail B. </a:t>
            </a:r>
            <a:r>
              <a:rPr lang="en-US" dirty="0" smtClean="0"/>
              <a:t>Detail</a:t>
            </a:r>
          </a:p>
          <a:p>
            <a:r>
              <a:rPr lang="en-US" dirty="0" smtClean="0"/>
              <a:t> </a:t>
            </a:r>
            <a:r>
              <a:rPr lang="en-US" dirty="0"/>
              <a:t>III. Second effect A. Detail B. Detail </a:t>
            </a:r>
            <a:endParaRPr lang="en-US" dirty="0" smtClean="0"/>
          </a:p>
          <a:p>
            <a:r>
              <a:rPr lang="en-US" dirty="0" smtClean="0"/>
              <a:t>IV</a:t>
            </a:r>
            <a:r>
              <a:rPr lang="en-US" dirty="0"/>
              <a:t>. Third effect A. Detail B. </a:t>
            </a:r>
            <a:r>
              <a:rPr lang="en-US" dirty="0" smtClean="0"/>
              <a:t>Detail</a:t>
            </a:r>
          </a:p>
          <a:p>
            <a:r>
              <a:rPr lang="en-US" dirty="0" smtClean="0"/>
              <a:t> </a:t>
            </a:r>
            <a:r>
              <a:rPr lang="en-US" dirty="0"/>
              <a:t>V. Summary / Concluding Sentence</a:t>
            </a:r>
          </a:p>
        </p:txBody>
      </p:sp>
    </p:spTree>
    <p:extLst>
      <p:ext uri="{BB962C8B-B14F-4D97-AF65-F5344CB8AC3E}">
        <p14:creationId xmlns:p14="http://schemas.microsoft.com/office/powerpoint/2010/main" val="427271560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Example paragraph</a:t>
            </a:r>
            <a:endParaRPr lang="en-US" dirty="0"/>
          </a:p>
        </p:txBody>
      </p:sp>
      <p:sp>
        <p:nvSpPr>
          <p:cNvPr id="3" name="Content Placeholder 2"/>
          <p:cNvSpPr>
            <a:spLocks noGrp="1"/>
          </p:cNvSpPr>
          <p:nvPr>
            <p:ph idx="1"/>
          </p:nvPr>
        </p:nvSpPr>
        <p:spPr/>
        <p:txBody>
          <a:bodyPr/>
          <a:lstStyle/>
          <a:p>
            <a:r>
              <a:rPr lang="en-US" dirty="0"/>
              <a:t>Topic Sentence: There are various reasons why students have difficulties in listening classes. </a:t>
            </a:r>
            <a:r>
              <a:rPr lang="en-US" dirty="0" err="1"/>
              <a:t>Supporing</a:t>
            </a:r>
            <a:r>
              <a:rPr lang="en-US" dirty="0"/>
              <a:t> S1: Speaker`s fast English is the prime reason why students have difficulties in listening classes. Speakers who speak English fast is the main reason for students` difficulty in listening classes. When the speaker is speaking fast, it is difficult to understand him/her. Also, it is hard/challenging to take notes. Supporting S2: The second cause of difficulty which students experience in listening is their inadequate vocabulary. </a:t>
            </a:r>
          </a:p>
        </p:txBody>
      </p:sp>
    </p:spTree>
    <p:extLst>
      <p:ext uri="{BB962C8B-B14F-4D97-AF65-F5344CB8AC3E}">
        <p14:creationId xmlns:p14="http://schemas.microsoft.com/office/powerpoint/2010/main" val="184735304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Cause and </a:t>
            </a:r>
            <a:r>
              <a:rPr lang="en-US" dirty="0" smtClean="0"/>
              <a:t>Effect paragraph Example</a:t>
            </a:r>
            <a:br>
              <a:rPr lang="en-US" dirty="0" smtClean="0"/>
            </a:br>
            <a:r>
              <a:rPr lang="en-US" dirty="0" smtClean="0"/>
              <a:t>Reasons </a:t>
            </a:r>
            <a:r>
              <a:rPr lang="en-US" dirty="0" smtClean="0"/>
              <a:t>for some of our eating habits </a:t>
            </a:r>
            <a:endParaRPr lang="en-US" dirty="0"/>
          </a:p>
        </p:txBody>
      </p:sp>
      <p:sp>
        <p:nvSpPr>
          <p:cNvPr id="3" name="Content Placeholder 2"/>
          <p:cNvSpPr>
            <a:spLocks noGrp="1"/>
          </p:cNvSpPr>
          <p:nvPr>
            <p:ph idx="1"/>
          </p:nvPr>
        </p:nvSpPr>
        <p:spPr/>
        <p:txBody>
          <a:bodyPr/>
          <a:lstStyle/>
          <a:p>
            <a:r>
              <a:rPr lang="en-US" dirty="0"/>
              <a:t>There are several reasons why many of us choose our eating </a:t>
            </a:r>
            <a:r>
              <a:rPr lang="en-US" dirty="0" smtClean="0"/>
              <a:t>habits. Those </a:t>
            </a:r>
            <a:r>
              <a:rPr lang="en-US" dirty="0"/>
              <a:t>of us who watch a lot of TV may attribute advertisements to our choice of snacks. On the other hand, the generation who grew up with fresh produce probably </a:t>
            </a:r>
            <a:r>
              <a:rPr lang="en-US" dirty="0" err="1"/>
              <a:t>favours</a:t>
            </a:r>
            <a:r>
              <a:rPr lang="en-US" dirty="0"/>
              <a:t> fruits and vegetables as a result. There are, however, some of us who, despite having access to fresh fruit and veggies, still reach out to a salty snack late at night; this choice may be due to our upbringing. </a:t>
            </a:r>
            <a:r>
              <a:rPr lang="en-US" dirty="0" smtClean="0"/>
              <a:t>Hence, </a:t>
            </a:r>
            <a:r>
              <a:rPr lang="en-US" dirty="0"/>
              <a:t>these are some of the reasons behind some of our eating habits.</a:t>
            </a:r>
          </a:p>
        </p:txBody>
      </p:sp>
    </p:spTree>
    <p:extLst>
      <p:ext uri="{BB962C8B-B14F-4D97-AF65-F5344CB8AC3E}">
        <p14:creationId xmlns:p14="http://schemas.microsoft.com/office/powerpoint/2010/main" val="344328413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Compare and Contrast Paragraph</a:t>
            </a:r>
            <a:br>
              <a:rPr lang="en-US" dirty="0" smtClean="0"/>
            </a:br>
            <a:r>
              <a:rPr lang="en-US" dirty="0" smtClean="0"/>
              <a:t>A </a:t>
            </a:r>
            <a:r>
              <a:rPr lang="en-US" dirty="0" smtClean="0"/>
              <a:t>Good Example of the Block Method:</a:t>
            </a:r>
            <a:endParaRPr lang="en-US" dirty="0"/>
          </a:p>
        </p:txBody>
      </p:sp>
      <p:sp>
        <p:nvSpPr>
          <p:cNvPr id="3" name="Content Placeholder 2"/>
          <p:cNvSpPr>
            <a:spLocks noGrp="1"/>
          </p:cNvSpPr>
          <p:nvPr>
            <p:ph idx="1"/>
          </p:nvPr>
        </p:nvSpPr>
        <p:spPr/>
        <p:txBody>
          <a:bodyPr>
            <a:normAutofit fontScale="85000" lnSpcReduction="20000"/>
          </a:bodyPr>
          <a:lstStyle/>
          <a:p>
            <a:r>
              <a:rPr lang="en-US" dirty="0" smtClean="0"/>
              <a:t>Students who have Mr. Jones and Mr. Smith are immediately aware of the difference in the lecturing manner of each teacher. Mr. Jones has a pleasant voice, which helps hold the interest of the students. He pronounces clearly in a rhythmic pattern emphasizing key words. His moderate tone and inflected words make his lectures interesting. Mr. Jones also adds </a:t>
            </a:r>
            <a:r>
              <a:rPr lang="en-US" dirty="0" err="1" smtClean="0"/>
              <a:t>humour</a:t>
            </a:r>
            <a:r>
              <a:rPr lang="en-US" dirty="0" smtClean="0"/>
              <a:t> to his subject, and he welcomes questions from students who don’t understand the material. He takes his time and explains slowly. He tries to make sure that his students understand a concept before he moves on to something new, and he is very enthusiastic about his subject. Mr. Smith, on the other hand, has a different tone, pronunciation, expression and attitude from Mr. Jones. He has a booming voice, which commands rather than teaches, and sometimes it is hard to understand because he runs his words together. His lectures are not as interesting as those of Mr. Jones, either, because Mr. Smith speaks in a boring monotone. He also hates to be interrupted; feeling that he must cover everything. Mr. Smith teaches every class in a serious, determined mood. Thus, as the above points illustrate, the lectures of Mr. Jones and Mr. Smith are quite different.</a:t>
            </a:r>
            <a:endParaRPr lang="en-US" dirty="0"/>
          </a:p>
        </p:txBody>
      </p:sp>
    </p:spTree>
    <p:extLst>
      <p:ext uri="{BB962C8B-B14F-4D97-AF65-F5344CB8AC3E}">
        <p14:creationId xmlns:p14="http://schemas.microsoft.com/office/powerpoint/2010/main" val="320588094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 Good Example of the Point-by-Point Method:</a:t>
            </a:r>
            <a:endParaRPr lang="en-US" dirty="0"/>
          </a:p>
        </p:txBody>
      </p:sp>
      <p:sp>
        <p:nvSpPr>
          <p:cNvPr id="3" name="Content Placeholder 2"/>
          <p:cNvSpPr>
            <a:spLocks noGrp="1"/>
          </p:cNvSpPr>
          <p:nvPr>
            <p:ph idx="1"/>
          </p:nvPr>
        </p:nvSpPr>
        <p:spPr/>
        <p:txBody>
          <a:bodyPr>
            <a:normAutofit fontScale="77500" lnSpcReduction="20000"/>
          </a:bodyPr>
          <a:lstStyle/>
          <a:p>
            <a:r>
              <a:rPr lang="en-US" dirty="0" smtClean="0"/>
              <a:t>Students who have Mr. Smith and Mr. Jones are immediately aware of the difference in the lecturing manner of each teacher. Mr. Jones has a pleasant voice, which helps hold the interest of the students. Mr. Smith, however, has a booming voice, which commands rather than teaches. Mr. Jones pronounces clearly in a rhythmic pattern emphasizing key words. On the other hand, Mr. Smith mumbles, running his words together. The moderate tone and inflected words of Mr. Jones make his lectures more interesting than those of Mr. Smith, who speaks in a boring monotone. Mr. Jones also adds </a:t>
            </a:r>
            <a:r>
              <a:rPr lang="en-US" dirty="0" err="1" smtClean="0"/>
              <a:t>humour</a:t>
            </a:r>
            <a:r>
              <a:rPr lang="en-US" dirty="0" smtClean="0"/>
              <a:t> to the subject, whereas Mr. Smith is always serious about each lesson. Mr. Jones welcomes questions from students who don’t understand the material, as compared to Mr. Smith who hates to be interrupted. Mr. Jones takes his time and explains slowly, whereas Mr. Smith rushes through each lesson. Mr. Jones is very enthusiastic about his subject: he tries to make sure everyone understands a concept before he moves on to something new. Mr. Smith, however, is always in a determined mood; he feels that he must cover everything. Each teacher has a different voice, tone, pronunciation, expression, and attitude: and as a result, their lectures are quite different.</a:t>
            </a:r>
            <a:endParaRPr lang="en-US" dirty="0"/>
          </a:p>
        </p:txBody>
      </p:sp>
    </p:spTree>
    <p:extLst>
      <p:ext uri="{BB962C8B-B14F-4D97-AF65-F5344CB8AC3E}">
        <p14:creationId xmlns:p14="http://schemas.microsoft.com/office/powerpoint/2010/main" val="32507154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92500" lnSpcReduction="20000"/>
          </a:bodyPr>
          <a:lstStyle/>
          <a:p>
            <a:r>
              <a:rPr lang="en-US" dirty="0"/>
              <a:t>In an </a:t>
            </a:r>
            <a:r>
              <a:rPr lang="en-US" b="1" dirty="0"/>
              <a:t>expository paragraph</a:t>
            </a:r>
            <a:r>
              <a:rPr lang="en-US" dirty="0"/>
              <a:t>, you give information. You explain a subject, give directions, or show how something happens. In expository writing, linking words like first, second, then, and finally are usually used to help readers follow the ideas.</a:t>
            </a:r>
          </a:p>
          <a:p>
            <a:r>
              <a:rPr lang="en-US" dirty="0"/>
              <a:t>This paragraph, like any other, organizes itself around three parts. A </a:t>
            </a:r>
            <a:r>
              <a:rPr lang="en-US" b="1" dirty="0"/>
              <a:t>topic sentence</a:t>
            </a:r>
            <a:r>
              <a:rPr lang="en-US" dirty="0"/>
              <a:t> allows the reader to understand what you are writing about. The middle part of the paragraph contains </a:t>
            </a:r>
            <a:r>
              <a:rPr lang="en-US" b="1" dirty="0"/>
              <a:t>supporting sentences</a:t>
            </a:r>
            <a:r>
              <a:rPr lang="en-US" dirty="0"/>
              <a:t> that follow one another in a logical sequence of steps. The </a:t>
            </a:r>
            <a:r>
              <a:rPr lang="en-US" b="1" dirty="0"/>
              <a:t>concluding sentence</a:t>
            </a:r>
            <a:r>
              <a:rPr lang="en-US" dirty="0"/>
              <a:t> closes your subject with an emphasis on the final product or process desired by the topic.</a:t>
            </a:r>
          </a:p>
          <a:p>
            <a:r>
              <a:rPr lang="en-US" dirty="0"/>
              <a:t>Remember that all paragraphs should contain a topic sentence. It may be even more important in the expository paragraph because this is where the main idea of the paragraph is expressed. This topic sentence lets the reader know what the rest of the paragraph will discuss.</a:t>
            </a:r>
          </a:p>
          <a:p>
            <a:endParaRPr lang="en-US" dirty="0"/>
          </a:p>
        </p:txBody>
      </p:sp>
    </p:spTree>
    <p:extLst>
      <p:ext uri="{BB962C8B-B14F-4D97-AF65-F5344CB8AC3E}">
        <p14:creationId xmlns:p14="http://schemas.microsoft.com/office/powerpoint/2010/main" val="35706792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Expository Paragraph</a:t>
            </a:r>
            <a:endParaRPr lang="en-US" dirty="0"/>
          </a:p>
        </p:txBody>
      </p:sp>
      <p:sp>
        <p:nvSpPr>
          <p:cNvPr id="3" name="Content Placeholder 2"/>
          <p:cNvSpPr>
            <a:spLocks noGrp="1"/>
          </p:cNvSpPr>
          <p:nvPr>
            <p:ph idx="1"/>
          </p:nvPr>
        </p:nvSpPr>
        <p:spPr/>
        <p:txBody>
          <a:bodyPr>
            <a:normAutofit fontScale="85000" lnSpcReduction="10000"/>
          </a:bodyPr>
          <a:lstStyle/>
          <a:p>
            <a:r>
              <a:rPr lang="en-US" b="1" dirty="0"/>
              <a:t>Example:</a:t>
            </a:r>
            <a:endParaRPr lang="en-US" dirty="0"/>
          </a:p>
          <a:p>
            <a:r>
              <a:rPr lang="en-US" dirty="0">
                <a:solidFill>
                  <a:srgbClr val="FF0000"/>
                </a:solidFill>
              </a:rPr>
              <a:t>Going to college can be expensive</a:t>
            </a:r>
            <a:r>
              <a:rPr lang="en-US" dirty="0"/>
              <a:t>. </a:t>
            </a:r>
            <a:r>
              <a:rPr lang="en-US" u="sng" dirty="0"/>
              <a:t>First, college tuition and room and board can cost anywhere from $2,000 to more than $10,000 per semester.</a:t>
            </a:r>
            <a:r>
              <a:rPr lang="en-US" dirty="0"/>
              <a:t> Other expenses make going to college even more expensive. For example, books typically cost between $100 and $500 each term. </a:t>
            </a:r>
            <a:r>
              <a:rPr lang="en-US" u="sng" dirty="0"/>
              <a:t>Second, materials are also very expensive.</a:t>
            </a:r>
            <a:r>
              <a:rPr lang="en-US" dirty="0"/>
              <a:t> Paper, notebooks, writing utensils, and other supplies required often cost more at the college bookstore than at any local discount department store. For instance, a package of notepaper costing $2 at a discount store might cost $5 at a college bookstore. </a:t>
            </a:r>
            <a:r>
              <a:rPr lang="en-US" u="sng" dirty="0"/>
              <a:t>Finally, there are all kinds of special fees added onto the bill at registration time.</a:t>
            </a:r>
            <a:r>
              <a:rPr lang="en-US" dirty="0"/>
              <a:t> A college student might have to pay a $50 insurance fee, a $20 activity fee, a $15 fee to the student government association and anywhere from $500 to $100 for parking. There is another fee if a student decides to add or drop classes after registration. </a:t>
            </a:r>
            <a:r>
              <a:rPr lang="en-US" dirty="0">
                <a:solidFill>
                  <a:srgbClr val="FF0000"/>
                </a:solidFill>
              </a:rPr>
              <a:t>The fees required to attend college never seem to end.</a:t>
            </a:r>
          </a:p>
          <a:p>
            <a:endParaRPr lang="en-US" dirty="0"/>
          </a:p>
        </p:txBody>
      </p:sp>
    </p:spTree>
    <p:extLst>
      <p:ext uri="{BB962C8B-B14F-4D97-AF65-F5344CB8AC3E}">
        <p14:creationId xmlns:p14="http://schemas.microsoft.com/office/powerpoint/2010/main" val="410140782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28</TotalTime>
  <Words>1022</Words>
  <Application>Microsoft Office PowerPoint</Application>
  <PresentationFormat>Widescreen</PresentationFormat>
  <Paragraphs>31</Paragraphs>
  <Slides>10</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Arial</vt:lpstr>
      <vt:lpstr>Calibri</vt:lpstr>
      <vt:lpstr>Calibri Light</vt:lpstr>
      <vt:lpstr>Office Theme</vt:lpstr>
      <vt:lpstr>PowerPoint Presentation</vt:lpstr>
      <vt:lpstr>Cause Paragraph Outline  </vt:lpstr>
      <vt:lpstr>Cause paragraph Example</vt:lpstr>
      <vt:lpstr>Effect paragraph</vt:lpstr>
      <vt:lpstr>Example paragraph</vt:lpstr>
      <vt:lpstr>Cause and Effect paragraph Example Reasons for some of our eating habits </vt:lpstr>
      <vt:lpstr>Compare and Contrast Paragraph A Good Example of the Block Method:</vt:lpstr>
      <vt:lpstr>A Good Example of the Point-by-Point Method:</vt:lpstr>
      <vt:lpstr>PowerPoint Presentation</vt:lpstr>
      <vt:lpstr>Expository Paragraph</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Ayesha shafiq</dc:creator>
  <cp:lastModifiedBy>Ayesha shafiq</cp:lastModifiedBy>
  <cp:revision>8</cp:revision>
  <dcterms:created xsi:type="dcterms:W3CDTF">2020-11-10T18:14:37Z</dcterms:created>
  <dcterms:modified xsi:type="dcterms:W3CDTF">2020-11-21T11:42:03Z</dcterms:modified>
</cp:coreProperties>
</file>