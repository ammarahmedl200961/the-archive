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6" autoAdjust="0"/>
    <p:restoredTop sz="94660"/>
  </p:normalViewPr>
  <p:slideViewPr>
    <p:cSldViewPr snapToGrid="0">
      <p:cViewPr varScale="1">
        <p:scale>
          <a:sx n="70" d="100"/>
          <a:sy n="70" d="100"/>
        </p:scale>
        <p:origin x="73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4D52A87-A687-4DF0-9378-704818114BA9}" type="datetimeFigureOut">
              <a:rPr lang="en-US" smtClean="0"/>
              <a:t>10/1/2020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A6E364-521C-43BD-9C04-BEBF15234E24}" type="slidenum">
              <a:rPr lang="en-US" smtClean="0"/>
              <a:t>‹#›</a:t>
            </a:fld>
            <a:endParaRPr lang="en-US"/>
          </a:p>
        </p:txBody>
      </p:sp>
    </p:spTree>
    <p:extLst>
      <p:ext uri="{BB962C8B-B14F-4D97-AF65-F5344CB8AC3E}">
        <p14:creationId xmlns:p14="http://schemas.microsoft.com/office/powerpoint/2010/main" val="2839884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D52A87-A687-4DF0-9378-704818114BA9}" type="datetimeFigureOut">
              <a:rPr lang="en-US" smtClean="0"/>
              <a:t>10/1/2020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A6E364-521C-43BD-9C04-BEBF15234E24}" type="slidenum">
              <a:rPr lang="en-US" smtClean="0"/>
              <a:t>‹#›</a:t>
            </a:fld>
            <a:endParaRPr lang="en-US"/>
          </a:p>
        </p:txBody>
      </p:sp>
    </p:spTree>
    <p:extLst>
      <p:ext uri="{BB962C8B-B14F-4D97-AF65-F5344CB8AC3E}">
        <p14:creationId xmlns:p14="http://schemas.microsoft.com/office/powerpoint/2010/main" val="2034634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4D52A87-A687-4DF0-9378-704818114BA9}" type="datetimeFigureOut">
              <a:rPr lang="en-US" smtClean="0"/>
              <a:t>10/1/2020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A6E364-521C-43BD-9C04-BEBF15234E24}" type="slidenum">
              <a:rPr lang="en-US" smtClean="0"/>
              <a:t>‹#›</a:t>
            </a:fld>
            <a:endParaRPr lang="en-US"/>
          </a:p>
        </p:txBody>
      </p:sp>
    </p:spTree>
    <p:extLst>
      <p:ext uri="{BB962C8B-B14F-4D97-AF65-F5344CB8AC3E}">
        <p14:creationId xmlns:p14="http://schemas.microsoft.com/office/powerpoint/2010/main" val="205998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4D52A87-A687-4DF0-9378-704818114BA9}" type="datetimeFigureOut">
              <a:rPr lang="en-US" smtClean="0"/>
              <a:t>10/1/2020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A6E364-521C-43BD-9C04-BEBF15234E24}" type="slidenum">
              <a:rPr lang="en-US" smtClean="0"/>
              <a:t>‹#›</a:t>
            </a:fld>
            <a:endParaRPr lang="en-US"/>
          </a:p>
        </p:txBody>
      </p:sp>
    </p:spTree>
    <p:extLst>
      <p:ext uri="{BB962C8B-B14F-4D97-AF65-F5344CB8AC3E}">
        <p14:creationId xmlns:p14="http://schemas.microsoft.com/office/powerpoint/2010/main" val="856854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4D52A87-A687-4DF0-9378-704818114BA9}" type="datetimeFigureOut">
              <a:rPr lang="en-US" smtClean="0"/>
              <a:t>10/1/2020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A6E364-521C-43BD-9C04-BEBF15234E24}" type="slidenum">
              <a:rPr lang="en-US" smtClean="0"/>
              <a:t>‹#›</a:t>
            </a:fld>
            <a:endParaRPr lang="en-US"/>
          </a:p>
        </p:txBody>
      </p:sp>
    </p:spTree>
    <p:extLst>
      <p:ext uri="{BB962C8B-B14F-4D97-AF65-F5344CB8AC3E}">
        <p14:creationId xmlns:p14="http://schemas.microsoft.com/office/powerpoint/2010/main" val="867316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4D52A87-A687-4DF0-9378-704818114BA9}" type="datetimeFigureOut">
              <a:rPr lang="en-US" smtClean="0"/>
              <a:t>10/1/2020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A6E364-521C-43BD-9C04-BEBF15234E24}" type="slidenum">
              <a:rPr lang="en-US" smtClean="0"/>
              <a:t>‹#›</a:t>
            </a:fld>
            <a:endParaRPr lang="en-US"/>
          </a:p>
        </p:txBody>
      </p:sp>
    </p:spTree>
    <p:extLst>
      <p:ext uri="{BB962C8B-B14F-4D97-AF65-F5344CB8AC3E}">
        <p14:creationId xmlns:p14="http://schemas.microsoft.com/office/powerpoint/2010/main" val="1583578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D52A87-A687-4DF0-9378-704818114BA9}" type="datetimeFigureOut">
              <a:rPr lang="en-US" smtClean="0"/>
              <a:t>10/1/2020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A6E364-521C-43BD-9C04-BEBF15234E24}" type="slidenum">
              <a:rPr lang="en-US" smtClean="0"/>
              <a:t>‹#›</a:t>
            </a:fld>
            <a:endParaRPr lang="en-US"/>
          </a:p>
        </p:txBody>
      </p:sp>
    </p:spTree>
    <p:extLst>
      <p:ext uri="{BB962C8B-B14F-4D97-AF65-F5344CB8AC3E}">
        <p14:creationId xmlns:p14="http://schemas.microsoft.com/office/powerpoint/2010/main" val="3928761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D52A87-A687-4DF0-9378-704818114BA9}" type="datetimeFigureOut">
              <a:rPr lang="en-US" smtClean="0"/>
              <a:t>10/1/2020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A6E364-521C-43BD-9C04-BEBF15234E24}" type="slidenum">
              <a:rPr lang="en-US" smtClean="0"/>
              <a:t>‹#›</a:t>
            </a:fld>
            <a:endParaRPr lang="en-US"/>
          </a:p>
        </p:txBody>
      </p:sp>
    </p:spTree>
    <p:extLst>
      <p:ext uri="{BB962C8B-B14F-4D97-AF65-F5344CB8AC3E}">
        <p14:creationId xmlns:p14="http://schemas.microsoft.com/office/powerpoint/2010/main" val="4237903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D52A87-A687-4DF0-9378-704818114BA9}" type="datetimeFigureOut">
              <a:rPr lang="en-US" smtClean="0"/>
              <a:t>10/1/2020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A6E364-521C-43BD-9C04-BEBF15234E24}" type="slidenum">
              <a:rPr lang="en-US" smtClean="0"/>
              <a:t>‹#›</a:t>
            </a:fld>
            <a:endParaRPr lang="en-US"/>
          </a:p>
        </p:txBody>
      </p:sp>
    </p:spTree>
    <p:extLst>
      <p:ext uri="{BB962C8B-B14F-4D97-AF65-F5344CB8AC3E}">
        <p14:creationId xmlns:p14="http://schemas.microsoft.com/office/powerpoint/2010/main" val="1068908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D52A87-A687-4DF0-9378-704818114BA9}" type="datetimeFigureOut">
              <a:rPr lang="en-US" smtClean="0"/>
              <a:t>10/1/2020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A6E364-521C-43BD-9C04-BEBF15234E24}" type="slidenum">
              <a:rPr lang="en-US" smtClean="0"/>
              <a:t>‹#›</a:t>
            </a:fld>
            <a:endParaRPr lang="en-US"/>
          </a:p>
        </p:txBody>
      </p:sp>
    </p:spTree>
    <p:extLst>
      <p:ext uri="{BB962C8B-B14F-4D97-AF65-F5344CB8AC3E}">
        <p14:creationId xmlns:p14="http://schemas.microsoft.com/office/powerpoint/2010/main" val="2098435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D52A87-A687-4DF0-9378-704818114BA9}" type="datetimeFigureOut">
              <a:rPr lang="en-US" smtClean="0"/>
              <a:t>10/1/2020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A6E364-521C-43BD-9C04-BEBF15234E24}" type="slidenum">
              <a:rPr lang="en-US" smtClean="0"/>
              <a:t>‹#›</a:t>
            </a:fld>
            <a:endParaRPr lang="en-US"/>
          </a:p>
        </p:txBody>
      </p:sp>
    </p:spTree>
    <p:extLst>
      <p:ext uri="{BB962C8B-B14F-4D97-AF65-F5344CB8AC3E}">
        <p14:creationId xmlns:p14="http://schemas.microsoft.com/office/powerpoint/2010/main" val="3800492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52A87-A687-4DF0-9378-704818114BA9}" type="datetimeFigureOut">
              <a:rPr lang="en-US" smtClean="0"/>
              <a:t>10/1/2020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A6E364-521C-43BD-9C04-BEBF15234E24}" type="slidenum">
              <a:rPr lang="en-US" smtClean="0"/>
              <a:t>‹#›</a:t>
            </a:fld>
            <a:endParaRPr lang="en-US"/>
          </a:p>
        </p:txBody>
      </p:sp>
    </p:spTree>
    <p:extLst>
      <p:ext uri="{BB962C8B-B14F-4D97-AF65-F5344CB8AC3E}">
        <p14:creationId xmlns:p14="http://schemas.microsoft.com/office/powerpoint/2010/main" val="204399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worksheet</a:t>
            </a:r>
            <a:endParaRPr lang="en-US" dirty="0"/>
          </a:p>
        </p:txBody>
      </p:sp>
      <p:sp>
        <p:nvSpPr>
          <p:cNvPr id="3" name="Subtitle 2"/>
          <p:cNvSpPr>
            <a:spLocks noGrp="1"/>
          </p:cNvSpPr>
          <p:nvPr>
            <p:ph type="subTitle" idx="1"/>
          </p:nvPr>
        </p:nvSpPr>
        <p:spPr/>
        <p:txBody>
          <a:bodyPr/>
          <a:lstStyle/>
          <a:p>
            <a:r>
              <a:rPr lang="en-US" dirty="0" smtClean="0"/>
              <a:t>                                                                               Time: 10 minutes</a:t>
            </a:r>
            <a:endParaRPr lang="en-US" dirty="0"/>
          </a:p>
        </p:txBody>
      </p:sp>
    </p:spTree>
    <p:extLst>
      <p:ext uri="{BB962C8B-B14F-4D97-AF65-F5344CB8AC3E}">
        <p14:creationId xmlns:p14="http://schemas.microsoft.com/office/powerpoint/2010/main" val="16874215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Write two major supporting details of passage</a:t>
            </a:r>
            <a:endParaRPr lang="en-US" dirty="0"/>
          </a:p>
        </p:txBody>
      </p:sp>
      <p:sp>
        <p:nvSpPr>
          <p:cNvPr id="3" name="Content Placeholder 2"/>
          <p:cNvSpPr>
            <a:spLocks noGrp="1"/>
          </p:cNvSpPr>
          <p:nvPr>
            <p:ph idx="1"/>
          </p:nvPr>
        </p:nvSpPr>
        <p:spPr/>
        <p:txBody>
          <a:bodyPr/>
          <a:lstStyle/>
          <a:p>
            <a:r>
              <a:rPr lang="en-US" dirty="0" smtClean="0"/>
              <a:t>Many people like to grow flowers and vegetables in their own gardens. They may also want to help the planet by saving, or conserving, water. How can people both enjoy their gardens and lower their water use? One way is to water plants close to their roots, where water is needed. Another way is to recycle water used indoors. For example, people can water plants with leftover water from cooking. Yet another way is to choose plants that don't need much water to grow. These are just some of the many ways that the home gardener can conserve water</a:t>
            </a:r>
            <a:endParaRPr lang="en-US" dirty="0"/>
          </a:p>
        </p:txBody>
      </p:sp>
    </p:spTree>
    <p:extLst>
      <p:ext uri="{BB962C8B-B14F-4D97-AF65-F5344CB8AC3E}">
        <p14:creationId xmlns:p14="http://schemas.microsoft.com/office/powerpoint/2010/main" val="32316880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Write two major supporting details of passage</a:t>
            </a:r>
            <a:endParaRPr lang="en-US" dirty="0"/>
          </a:p>
        </p:txBody>
      </p:sp>
      <p:sp>
        <p:nvSpPr>
          <p:cNvPr id="3" name="Content Placeholder 2"/>
          <p:cNvSpPr>
            <a:spLocks noGrp="1"/>
          </p:cNvSpPr>
          <p:nvPr>
            <p:ph idx="1"/>
          </p:nvPr>
        </p:nvSpPr>
        <p:spPr/>
        <p:txBody>
          <a:bodyPr/>
          <a:lstStyle/>
          <a:p>
            <a:r>
              <a:rPr lang="en-US" dirty="0" smtClean="0"/>
              <a:t>The English Lab, housed in the civil block is a well-equipped lab. It consists of two adjoining rooms which contain 50 computers, 15 Apple </a:t>
            </a:r>
            <a:r>
              <a:rPr lang="en-US" dirty="0" err="1" smtClean="0"/>
              <a:t>IIe</a:t>
            </a:r>
            <a:r>
              <a:rPr lang="en-US" dirty="0" smtClean="0"/>
              <a:t> computers and 3 laser printers. In addition to a server which allows instructors to make assignments and materials available over the Internet and to the local intranet, each computer in the lab contains a word processor, a web browser, telnet and hundreds of commercial and </a:t>
            </a:r>
            <a:r>
              <a:rPr lang="en-US" dirty="0" err="1" smtClean="0"/>
              <a:t>teacherauthored</a:t>
            </a:r>
            <a:r>
              <a:rPr lang="en-US" dirty="0" smtClean="0"/>
              <a:t> programs appropriate for students who are building their English skills. There are also 3 video stations, and a terminal to the college VAX machine which is used for recordkeeping.</a:t>
            </a:r>
            <a:endParaRPr lang="en-US" dirty="0"/>
          </a:p>
        </p:txBody>
      </p:sp>
    </p:spTree>
    <p:extLst>
      <p:ext uri="{BB962C8B-B14F-4D97-AF65-F5344CB8AC3E}">
        <p14:creationId xmlns:p14="http://schemas.microsoft.com/office/powerpoint/2010/main" val="15851194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Write tone and </a:t>
            </a:r>
            <a:r>
              <a:rPr lang="en-US" dirty="0" smtClean="0"/>
              <a:t>the words/phrases that helped to identify the major tone.</a:t>
            </a:r>
            <a:endParaRPr lang="en-US" dirty="0"/>
          </a:p>
        </p:txBody>
      </p:sp>
      <p:sp>
        <p:nvSpPr>
          <p:cNvPr id="3" name="Content Placeholder 2"/>
          <p:cNvSpPr>
            <a:spLocks noGrp="1"/>
          </p:cNvSpPr>
          <p:nvPr>
            <p:ph idx="1"/>
          </p:nvPr>
        </p:nvSpPr>
        <p:spPr/>
        <p:txBody>
          <a:bodyPr>
            <a:normAutofit/>
          </a:bodyPr>
          <a:lstStyle/>
          <a:p>
            <a:r>
              <a:rPr lang="en-US" dirty="0" smtClean="0"/>
              <a:t>When </a:t>
            </a:r>
            <a:r>
              <a:rPr lang="en-US" dirty="0" err="1" smtClean="0"/>
              <a:t>Akram’s</a:t>
            </a:r>
            <a:r>
              <a:rPr lang="en-US" dirty="0" smtClean="0"/>
              <a:t> mother dies, he returns to Lahore for her funeral after fifteen years of estrangement. As he revisits the family farm, Patiala, he also revisits the past and the life he abandoned. While his relationship with his father remains strained, he reunites with his brother and the farmworkers. The process of remembering precipitated by his return, as well as conversations with those close to him, helps </a:t>
            </a:r>
            <a:r>
              <a:rPr lang="en-US" dirty="0" err="1" smtClean="0"/>
              <a:t>Akram</a:t>
            </a:r>
            <a:r>
              <a:rPr lang="en-US" dirty="0" smtClean="0"/>
              <a:t> to begin to come to terms with his past that, fraught with regret, includes his older brother Amir’s suicide. </a:t>
            </a:r>
          </a:p>
        </p:txBody>
      </p:sp>
    </p:spTree>
    <p:extLst>
      <p:ext uri="{BB962C8B-B14F-4D97-AF65-F5344CB8AC3E}">
        <p14:creationId xmlns:p14="http://schemas.microsoft.com/office/powerpoint/2010/main" val="41977758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Write tone and </a:t>
            </a:r>
            <a:r>
              <a:rPr lang="en-US" dirty="0" smtClean="0"/>
              <a:t>the words/phrases that helped to identify the major tone.</a:t>
            </a:r>
            <a:endParaRPr lang="en-US" dirty="0"/>
          </a:p>
        </p:txBody>
      </p:sp>
      <p:sp>
        <p:nvSpPr>
          <p:cNvPr id="3" name="Content Placeholder 2"/>
          <p:cNvSpPr>
            <a:spLocks noGrp="1"/>
          </p:cNvSpPr>
          <p:nvPr>
            <p:ph idx="1"/>
          </p:nvPr>
        </p:nvSpPr>
        <p:spPr/>
        <p:txBody>
          <a:bodyPr/>
          <a:lstStyle/>
          <a:p>
            <a:r>
              <a:rPr lang="en-US" dirty="0" err="1" smtClean="0"/>
              <a:t>Parveen</a:t>
            </a:r>
            <a:r>
              <a:rPr lang="en-US" dirty="0" smtClean="0"/>
              <a:t>, I do not know how to tell you this, but I have a cancer," Mother explained. My life was slipping away before me, the world had tumbled down upon my mother and there was no hope. "I know it is hard to understand, but one day I will leave you, my illness is terminal. The doctors have tried alternative treatment, but there is no cure. As far as I am concerned, I have only 6 months to live." Her words crumbled in my heart and I knew that I had to keep her going. </a:t>
            </a:r>
          </a:p>
        </p:txBody>
      </p:sp>
    </p:spTree>
    <p:extLst>
      <p:ext uri="{BB962C8B-B14F-4D97-AF65-F5344CB8AC3E}">
        <p14:creationId xmlns:p14="http://schemas.microsoft.com/office/powerpoint/2010/main" val="42927370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2477095"/>
            <a:ext cx="10515600" cy="4351338"/>
          </a:xfrm>
        </p:spPr>
        <p:txBody>
          <a:bodyPr/>
          <a:lstStyle/>
          <a:p>
            <a:endParaRPr lang="en-US" dirty="0"/>
          </a:p>
        </p:txBody>
      </p:sp>
      <p:sp>
        <p:nvSpPr>
          <p:cNvPr id="4" name="Rectangle 3"/>
          <p:cNvSpPr/>
          <p:nvPr/>
        </p:nvSpPr>
        <p:spPr>
          <a:xfrm>
            <a:off x="349156" y="682388"/>
            <a:ext cx="11004644" cy="6463308"/>
          </a:xfrm>
          <a:prstGeom prst="rect">
            <a:avLst/>
          </a:prstGeom>
        </p:spPr>
        <p:txBody>
          <a:bodyPr wrap="square">
            <a:spAutoFit/>
          </a:bodyPr>
          <a:lstStyle/>
          <a:p>
            <a:r>
              <a:rPr lang="en-US" b="1" dirty="0">
                <a:solidFill>
                  <a:srgbClr val="333333"/>
                </a:solidFill>
                <a:latin typeface="Roboto Condensed"/>
              </a:rPr>
              <a:t>. Joyful:</a:t>
            </a:r>
            <a:r>
              <a:rPr lang="en-US" dirty="0">
                <a:solidFill>
                  <a:srgbClr val="333333"/>
                </a:solidFill>
                <a:latin typeface="Roboto Condensed"/>
              </a:rPr>
              <a:t> This tone in writing focuses on the positive emotions that are experienced in the moment of an action. If you eat something you like, then you feel joy. When you experience reciprocal love, you feel joy. Writers use this tone to create relationship-building experiences between their readers and their characters.</a:t>
            </a:r>
          </a:p>
          <a:p>
            <a:r>
              <a:rPr lang="en-US" b="1" dirty="0">
                <a:solidFill>
                  <a:srgbClr val="333333"/>
                </a:solidFill>
                <a:latin typeface="Roboto Condensed"/>
              </a:rPr>
              <a:t>2. Serious:</a:t>
            </a:r>
            <a:r>
              <a:rPr lang="en-US" dirty="0">
                <a:solidFill>
                  <a:srgbClr val="333333"/>
                </a:solidFill>
                <a:latin typeface="Roboto Condensed"/>
              </a:rPr>
              <a:t> This tone in writing creates a level of suspense within the reader. It increases their focus because the concepts being offered are important.</a:t>
            </a:r>
          </a:p>
          <a:p>
            <a:r>
              <a:rPr lang="en-US" b="1" dirty="0">
                <a:solidFill>
                  <a:srgbClr val="333333"/>
                </a:solidFill>
                <a:latin typeface="Roboto Condensed"/>
              </a:rPr>
              <a:t>3. Humorous:</a:t>
            </a:r>
            <a:r>
              <a:rPr lang="en-US" dirty="0">
                <a:solidFill>
                  <a:srgbClr val="333333"/>
                </a:solidFill>
                <a:latin typeface="Roboto Condensed"/>
              </a:rPr>
              <a:t> Being funny does more than make people laugh. It also makes them begin to think about difficult concepts in a way that feels safe. This tone in writing is often intended to draw the reader into a story or narrative so they can engage with certain facts or opinions the author feels are important to share.</a:t>
            </a:r>
          </a:p>
          <a:p>
            <a:r>
              <a:rPr lang="en-US" b="1" dirty="0">
                <a:solidFill>
                  <a:srgbClr val="333333"/>
                </a:solidFill>
                <a:latin typeface="Roboto Condensed"/>
              </a:rPr>
              <a:t>4. Sad:</a:t>
            </a:r>
            <a:r>
              <a:rPr lang="en-US" dirty="0">
                <a:solidFill>
                  <a:srgbClr val="333333"/>
                </a:solidFill>
                <a:latin typeface="Roboto Condensed"/>
              </a:rPr>
              <a:t> Sadness is a very real part of the human condition. In many ways, our saddest days define who we are as people. When incorporated as a tone in writing, the reader become sympathetic with the characters or the author </a:t>
            </a:r>
            <a:endParaRPr lang="en-US" dirty="0" smtClean="0">
              <a:solidFill>
                <a:srgbClr val="333333"/>
              </a:solidFill>
              <a:latin typeface="Roboto Condensed"/>
            </a:endParaRPr>
          </a:p>
          <a:p>
            <a:r>
              <a:rPr lang="en-US" b="1" dirty="0" smtClean="0">
                <a:solidFill>
                  <a:srgbClr val="333333"/>
                </a:solidFill>
                <a:latin typeface="Roboto Condensed"/>
              </a:rPr>
              <a:t>5</a:t>
            </a:r>
            <a:r>
              <a:rPr lang="en-US" b="1" dirty="0">
                <a:solidFill>
                  <a:srgbClr val="333333"/>
                </a:solidFill>
                <a:latin typeface="Roboto Condensed"/>
              </a:rPr>
              <a:t>. Formal:</a:t>
            </a:r>
            <a:r>
              <a:rPr lang="en-US" dirty="0">
                <a:solidFill>
                  <a:srgbClr val="333333"/>
                </a:solidFill>
                <a:latin typeface="Roboto Condensed"/>
              </a:rPr>
              <a:t> This tone in writing is often seen from an academic standpoint. It requires structured language, higher reading skills, and presents more facts that can be proven than the opinions of the writer.</a:t>
            </a:r>
          </a:p>
          <a:p>
            <a:r>
              <a:rPr lang="en-US" b="1" dirty="0">
                <a:solidFill>
                  <a:srgbClr val="333333"/>
                </a:solidFill>
                <a:latin typeface="Roboto Condensed"/>
              </a:rPr>
              <a:t>6. Informal:</a:t>
            </a:r>
            <a:r>
              <a:rPr lang="en-US" dirty="0">
                <a:solidFill>
                  <a:srgbClr val="333333"/>
                </a:solidFill>
                <a:latin typeface="Roboto Condensed"/>
              </a:rPr>
              <a:t> The goal of this content is to have an informal tone. It’s conversational, but still conveys a certain sense of expertise within the subject material.</a:t>
            </a:r>
          </a:p>
          <a:p>
            <a:r>
              <a:rPr lang="en-US" b="1" dirty="0">
                <a:solidFill>
                  <a:srgbClr val="333333"/>
                </a:solidFill>
                <a:latin typeface="Roboto Condensed"/>
              </a:rPr>
              <a:t>7. Optimistic:</a:t>
            </a:r>
            <a:r>
              <a:rPr lang="en-US" dirty="0">
                <a:solidFill>
                  <a:srgbClr val="333333"/>
                </a:solidFill>
                <a:latin typeface="Roboto Condensed"/>
              </a:rPr>
              <a:t> There’s a lot of bad stuff going on in the world today. Yet there is also a belief that the world can and will be a better place one day if we’re willing to work for it. This would be an example of an optimistic tone.</a:t>
            </a:r>
          </a:p>
          <a:p>
            <a:r>
              <a:rPr lang="en-US" b="1" dirty="0">
                <a:solidFill>
                  <a:srgbClr val="333333"/>
                </a:solidFill>
                <a:latin typeface="Roboto Condensed"/>
              </a:rPr>
              <a:t>8. Pessimistic:</a:t>
            </a:r>
            <a:r>
              <a:rPr lang="en-US" dirty="0">
                <a:solidFill>
                  <a:srgbClr val="333333"/>
                </a:solidFill>
                <a:latin typeface="Roboto Condensed"/>
              </a:rPr>
              <a:t> When there’s a lot of bad stuff going on in the world, it can feel like that bad stuff will only get worse. That kind of tone would be an example of being pessimistic. </a:t>
            </a:r>
            <a:endParaRPr lang="en-US" dirty="0" smtClean="0">
              <a:solidFill>
                <a:srgbClr val="333333"/>
              </a:solidFill>
              <a:latin typeface="Roboto Condensed"/>
            </a:endParaRPr>
          </a:p>
          <a:p>
            <a:r>
              <a:rPr lang="en-US" b="1" i="0" dirty="0" smtClean="0">
                <a:solidFill>
                  <a:srgbClr val="333333"/>
                </a:solidFill>
                <a:effectLst/>
                <a:latin typeface="Roboto Condensed"/>
              </a:rPr>
              <a:t>Nostalgic: </a:t>
            </a:r>
            <a:r>
              <a:rPr lang="en-US" b="0" i="0" dirty="0" smtClean="0">
                <a:solidFill>
                  <a:srgbClr val="333333"/>
                </a:solidFill>
                <a:effectLst/>
                <a:latin typeface="Roboto Condensed"/>
              </a:rPr>
              <a:t>is used to evoke the feelings of sadness and pleasure a character experiences when recalling events.</a:t>
            </a:r>
            <a:endParaRPr lang="en-US" b="0" i="0" dirty="0">
              <a:solidFill>
                <a:srgbClr val="333333"/>
              </a:solidFill>
              <a:effectLst/>
              <a:latin typeface="Roboto Condensed"/>
            </a:endParaRPr>
          </a:p>
        </p:txBody>
      </p:sp>
    </p:spTree>
    <p:extLst>
      <p:ext uri="{BB962C8B-B14F-4D97-AF65-F5344CB8AC3E}">
        <p14:creationId xmlns:p14="http://schemas.microsoft.com/office/powerpoint/2010/main" val="175699953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478</Words>
  <Application>Microsoft Office PowerPoint</Application>
  <PresentationFormat>Widescreen</PresentationFormat>
  <Paragraphs>19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Roboto Condensed</vt:lpstr>
      <vt:lpstr>Office Theme</vt:lpstr>
      <vt:lpstr>worksheet</vt:lpstr>
      <vt:lpstr>Write two major supporting details of passage</vt:lpstr>
      <vt:lpstr>Write two major supporting details of passage</vt:lpstr>
      <vt:lpstr>Write tone and the words/phrases that helped to identify the major tone.</vt:lpstr>
      <vt:lpstr>Write tone and the words/phrases that helped to identify the major tone.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Ayesha shafiq</dc:creator>
  <cp:lastModifiedBy>Ayesha shafiq</cp:lastModifiedBy>
  <cp:revision>9</cp:revision>
  <dcterms:created xsi:type="dcterms:W3CDTF">2020-09-30T03:11:38Z</dcterms:created>
  <dcterms:modified xsi:type="dcterms:W3CDTF">2020-10-01T04:34:30Z</dcterms:modified>
</cp:coreProperties>
</file>