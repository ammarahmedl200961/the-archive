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9" r:id="rId2"/>
    <p:sldId id="278" r:id="rId3"/>
    <p:sldId id="279" r:id="rId4"/>
    <p:sldId id="280" r:id="rId5"/>
    <p:sldId id="378" r:id="rId6"/>
    <p:sldId id="282" r:id="rId7"/>
    <p:sldId id="304" r:id="rId8"/>
    <p:sldId id="305" r:id="rId9"/>
    <p:sldId id="306" r:id="rId10"/>
    <p:sldId id="307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76" r:id="rId31"/>
    <p:sldId id="377" r:id="rId32"/>
    <p:sldId id="328" r:id="rId33"/>
    <p:sldId id="329" r:id="rId34"/>
    <p:sldId id="330" r:id="rId35"/>
    <p:sldId id="331" r:id="rId36"/>
    <p:sldId id="332" r:id="rId37"/>
    <p:sldId id="333" r:id="rId38"/>
    <p:sldId id="334" r:id="rId39"/>
    <p:sldId id="335" r:id="rId40"/>
    <p:sldId id="336" r:id="rId41"/>
    <p:sldId id="337" r:id="rId42"/>
    <p:sldId id="338" r:id="rId43"/>
    <p:sldId id="339" r:id="rId44"/>
    <p:sldId id="370" r:id="rId45"/>
    <p:sldId id="343" r:id="rId46"/>
    <p:sldId id="344" r:id="rId47"/>
    <p:sldId id="371" r:id="rId48"/>
    <p:sldId id="346" r:id="rId49"/>
    <p:sldId id="347" r:id="rId50"/>
    <p:sldId id="372" r:id="rId51"/>
    <p:sldId id="351" r:id="rId52"/>
    <p:sldId id="373" r:id="rId53"/>
    <p:sldId id="359" r:id="rId54"/>
    <p:sldId id="360" r:id="rId55"/>
    <p:sldId id="374" r:id="rId56"/>
    <p:sldId id="362" r:id="rId57"/>
    <p:sldId id="365" r:id="rId58"/>
    <p:sldId id="366" r:id="rId59"/>
    <p:sldId id="367" r:id="rId60"/>
    <p:sldId id="368" r:id="rId61"/>
    <p:sldId id="369" r:id="rId62"/>
    <p:sldId id="303" r:id="rId63"/>
    <p:sldId id="284" r:id="rId64"/>
    <p:sldId id="277" r:id="rId6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2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30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5B024B-906A-9040-8978-9F0B389C3EEE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17A809-77E8-E745-AB74-CF0E7CA2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28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 bwMode="ltGray"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27"/>
          <p:cNvSpPr>
            <a:spLocks noChangeShapeType="1"/>
          </p:cNvSpPr>
          <p:nvPr/>
        </p:nvSpPr>
        <p:spPr bwMode="gray">
          <a:xfrm>
            <a:off x="444500" y="6375400"/>
            <a:ext cx="52578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cs typeface="+mn-cs"/>
            </a:endParaRPr>
          </a:p>
        </p:txBody>
      </p:sp>
      <p:pic>
        <p:nvPicPr>
          <p:cNvPr id="6" name="Picture 39" descr="original_metal_b"/>
          <p:cNvPicPr>
            <a:picLocks noChangeAspect="1" noChangeArrowheads="1" noCrop="1"/>
          </p:cNvPicPr>
          <p:nvPr userDrawn="1"/>
        </p:nvPicPr>
        <p:blipFill>
          <a:blip r:embed="rId3" cstate="print">
            <a:clrChange>
              <a:clrFrom>
                <a:srgbClr val="020202"/>
              </a:clrFrom>
              <a:clrTo>
                <a:srgbClr val="02020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5543550"/>
            <a:ext cx="14478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 hasCustomPrompt="1"/>
          </p:nvPr>
        </p:nvSpPr>
        <p:spPr bwMode="gray">
          <a:xfrm>
            <a:off x="228600" y="3962400"/>
            <a:ext cx="7696200" cy="1219200"/>
          </a:xfrm>
        </p:spPr>
        <p:txBody>
          <a:bodyPr/>
          <a:lstStyle>
            <a:lvl1pPr algn="r">
              <a:defRPr sz="4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 bwMode="gray">
          <a:xfrm>
            <a:off x="457200" y="5867400"/>
            <a:ext cx="5181600" cy="457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24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gray">
          <a:xfrm>
            <a:off x="457200" y="6477000"/>
            <a:ext cx="1371600" cy="1524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 bwMode="gray">
          <a:xfrm>
            <a:off x="1828800" y="6477000"/>
            <a:ext cx="838200" cy="152400"/>
          </a:xfrm>
        </p:spPr>
        <p:txBody>
          <a:bodyPr/>
          <a:lstStyle>
            <a:lvl1pPr>
              <a:defRPr/>
            </a:lvl1pPr>
          </a:lstStyle>
          <a:p>
            <a:fld id="{DF3687FA-6F04-448E-8153-3A0F7947AD1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52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1E527-E76F-724F-A19A-4E34EAB6C004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C05E-76EB-3949-8C90-28248EDD3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72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1E527-E76F-724F-A19A-4E34EAB6C004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C05E-76EB-3949-8C90-28248EDD3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21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1E527-E76F-724F-A19A-4E34EAB6C004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C05E-76EB-3949-8C90-28248EDD3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881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1E527-E76F-724F-A19A-4E34EAB6C004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C05E-76EB-3949-8C90-28248EDD3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721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1E527-E76F-724F-A19A-4E34EAB6C004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C05E-76EB-3949-8C90-28248EDD3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91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1E527-E76F-724F-A19A-4E34EAB6C004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C05E-76EB-3949-8C90-28248EDD3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730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1E527-E76F-724F-A19A-4E34EAB6C004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C05E-76EB-3949-8C90-28248EDD3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93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1E527-E76F-724F-A19A-4E34EAB6C004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C05E-76EB-3949-8C90-28248EDD3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79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1E527-E76F-724F-A19A-4E34EAB6C004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C05E-76EB-3949-8C90-28248EDD3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779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1E527-E76F-724F-A19A-4E34EAB6C004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C05E-76EB-3949-8C90-28248EDD3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73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1E527-E76F-724F-A19A-4E34EAB6C004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C05E-76EB-3949-8C90-28248EDD3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055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1E527-E76F-724F-A19A-4E34EAB6C004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BC05E-76EB-3949-8C90-28248EDD3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054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000090"/>
          </a:solidFill>
          <a:effectLst>
            <a:outerShdw blurRad="50800" dist="38100" dir="2700000" algn="tl" rotWithShape="0">
              <a:srgbClr val="00009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hanacademy.org/computing/computer-science/how-computers-work2/v/khan-academy-and-codeorg-introducing-how-computers-work" TargetMode="External"/><Relationship Id="rId2" Type="http://schemas.openxmlformats.org/officeDocument/2006/relationships/hyperlink" Target="https://www.youtube.com/watch?v=1GSjbWt0c9M" TargetMode="Externa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51" b="4840"/>
          <a:stretch/>
        </p:blipFill>
        <p:spPr bwMode="auto">
          <a:xfrm>
            <a:off x="-106174" y="-198450"/>
            <a:ext cx="9276280" cy="5516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8" y="5146393"/>
            <a:ext cx="9143999" cy="1111303"/>
          </a:xfrm>
        </p:spPr>
        <p:txBody>
          <a:bodyPr>
            <a:noAutofit/>
          </a:bodyPr>
          <a:lstStyle/>
          <a:p>
            <a:pPr algn="ctr"/>
            <a:r>
              <a:rPr lang="en-US" sz="2700" dirty="0">
                <a:solidFill>
                  <a:srgbClr val="000090"/>
                </a:solidFill>
              </a:rPr>
              <a:t>Number System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4977114" y="5893570"/>
            <a:ext cx="4166886" cy="159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/>
            <a:endParaRPr lang="en-US" sz="1400" dirty="0"/>
          </a:p>
          <a:p>
            <a:pPr algn="r"/>
            <a:endParaRPr lang="en-US" sz="1400" dirty="0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202672" y="5784389"/>
            <a:ext cx="2083443" cy="1073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Lecture 2</a:t>
            </a:r>
          </a:p>
          <a:p>
            <a:pPr algn="r"/>
            <a:endParaRPr lang="en-US" sz="1400" dirty="0"/>
          </a:p>
          <a:p>
            <a:pPr algn="r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61193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FF6600"/>
                </a:solidFill>
              </a:rPr>
              <a:t>Data</a:t>
            </a:r>
            <a:r>
              <a:rPr lang="en-US" dirty="0"/>
              <a:t> is simply </a:t>
            </a:r>
          </a:p>
          <a:p>
            <a:pPr marL="0" indent="0" algn="ctr">
              <a:buNone/>
            </a:pPr>
            <a:r>
              <a:rPr lang="en-US" dirty="0"/>
              <a:t>any </a:t>
            </a:r>
            <a:r>
              <a:rPr lang="en-US" b="1" dirty="0">
                <a:solidFill>
                  <a:srgbClr val="000090"/>
                </a:solidFill>
              </a:rPr>
              <a:t>numbers</a:t>
            </a:r>
            <a:r>
              <a:rPr lang="en-US" dirty="0"/>
              <a:t>, </a:t>
            </a:r>
            <a:r>
              <a:rPr lang="en-US" b="1" dirty="0">
                <a:solidFill>
                  <a:srgbClr val="008000"/>
                </a:solidFill>
              </a:rPr>
              <a:t>letters</a:t>
            </a:r>
            <a:r>
              <a:rPr lang="en-US" dirty="0"/>
              <a:t> or 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symbols</a:t>
            </a:r>
            <a:r>
              <a:rPr lang="en-US" dirty="0"/>
              <a:t> that can be entered into a computer system.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Data values </a:t>
            </a:r>
            <a:r>
              <a:rPr lang="en-US" b="1" dirty="0"/>
              <a:t>don’t have any meaning</a:t>
            </a:r>
            <a:r>
              <a:rPr lang="en-US" dirty="0"/>
              <a:t> unless we put them into </a:t>
            </a:r>
            <a:r>
              <a:rPr lang="en-US" b="1" dirty="0"/>
              <a:t>context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6600"/>
                </a:solidFill>
              </a:rPr>
              <a:t>Information</a:t>
            </a:r>
            <a:r>
              <a:rPr lang="en-US" b="1" dirty="0"/>
              <a:t> = </a:t>
            </a:r>
            <a:r>
              <a:rPr lang="pt-BR" b="1" dirty="0">
                <a:solidFill>
                  <a:srgbClr val="0000FF"/>
                </a:solidFill>
              </a:rPr>
              <a:t>Data</a:t>
            </a:r>
            <a:r>
              <a:rPr lang="pt-BR" b="1" dirty="0"/>
              <a:t> + </a:t>
            </a:r>
            <a:r>
              <a:rPr lang="pt-BR" b="1" dirty="0" err="1">
                <a:solidFill>
                  <a:srgbClr val="0000FF"/>
                </a:solidFill>
              </a:rPr>
              <a:t>Context</a:t>
            </a:r>
            <a:endParaRPr lang="en-US" b="1" dirty="0">
              <a:solidFill>
                <a:srgbClr val="0000FF"/>
              </a:solidFill>
            </a:endParaRP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-754008" y="255335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485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25340"/>
            <a:ext cx="8229600" cy="340082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Something feeds into the system (the </a:t>
            </a:r>
            <a:r>
              <a:rPr lang="en-US" b="1" dirty="0"/>
              <a:t>input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system does something with the input (the </a:t>
            </a:r>
            <a:r>
              <a:rPr lang="en-US" b="1" dirty="0"/>
              <a:t>process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process gives a result (the </a:t>
            </a:r>
            <a:r>
              <a:rPr lang="en-US" b="1" dirty="0"/>
              <a:t>output</a:t>
            </a:r>
            <a:r>
              <a:rPr lang="en-US" dirty="0"/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2433991" y="1930532"/>
            <a:ext cx="1180477" cy="43658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3826120" y="1904588"/>
            <a:ext cx="1250341" cy="4625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47363" y="1904588"/>
            <a:ext cx="1362506" cy="4365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10" name="Straight Arrow Connector 9"/>
          <p:cNvCxnSpPr>
            <a:stCxn id="6" idx="3"/>
            <a:endCxn id="7" idx="1"/>
          </p:cNvCxnSpPr>
          <p:nvPr/>
        </p:nvCxnSpPr>
        <p:spPr>
          <a:xfrm flipV="1">
            <a:off x="3614468" y="2135852"/>
            <a:ext cx="211652" cy="129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3"/>
            <a:endCxn id="8" idx="1"/>
          </p:cNvCxnSpPr>
          <p:nvPr/>
        </p:nvCxnSpPr>
        <p:spPr>
          <a:xfrm flipV="1">
            <a:off x="5076461" y="2122880"/>
            <a:ext cx="270902" cy="129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413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eamstime_s_4000084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9074" y="3751503"/>
            <a:ext cx="3596003" cy="3596003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Computer?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computer is a device that stores and processes information according to a set of instructions.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949809" y="3647103"/>
            <a:ext cx="4146217" cy="1634387"/>
            <a:chOff x="457200" y="4928359"/>
            <a:chExt cx="4146217" cy="1634387"/>
          </a:xfrm>
        </p:grpSpPr>
        <p:sp>
          <p:nvSpPr>
            <p:cNvPr id="8" name="Rectangle 7"/>
            <p:cNvSpPr/>
            <p:nvPr/>
          </p:nvSpPr>
          <p:spPr>
            <a:xfrm>
              <a:off x="457200" y="5159624"/>
              <a:ext cx="1050816" cy="43658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719668" y="4928359"/>
              <a:ext cx="1250341" cy="87952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Process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240911" y="5133680"/>
              <a:ext cx="1362506" cy="43658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Information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26597" y="6126163"/>
              <a:ext cx="1050816" cy="43658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Store</a:t>
              </a:r>
            </a:p>
          </p:txBody>
        </p:sp>
        <p:cxnSp>
          <p:nvCxnSpPr>
            <p:cNvPr id="16" name="Straight Arrow Connector 15"/>
            <p:cNvCxnSpPr>
              <a:stCxn id="8" idx="3"/>
              <a:endCxn id="9" idx="1"/>
            </p:cNvCxnSpPr>
            <p:nvPr/>
          </p:nvCxnSpPr>
          <p:spPr>
            <a:xfrm flipV="1">
              <a:off x="1508016" y="5368121"/>
              <a:ext cx="211652" cy="979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9" idx="3"/>
              <a:endCxn id="10" idx="1"/>
            </p:cNvCxnSpPr>
            <p:nvPr/>
          </p:nvCxnSpPr>
          <p:spPr>
            <a:xfrm flipV="1">
              <a:off x="2970009" y="5351972"/>
              <a:ext cx="270902" cy="1614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9" idx="2"/>
              <a:endCxn id="12" idx="0"/>
            </p:cNvCxnSpPr>
            <p:nvPr/>
          </p:nvCxnSpPr>
          <p:spPr>
            <a:xfrm>
              <a:off x="2344839" y="5807883"/>
              <a:ext cx="7166" cy="31828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0950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eamstime_s_4000084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9074" y="3751503"/>
            <a:ext cx="3596003" cy="3596003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Computer?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computer is a device that stores and processes information according to a set of instructions.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949809" y="3647103"/>
            <a:ext cx="4146217" cy="1634387"/>
            <a:chOff x="457200" y="4928359"/>
            <a:chExt cx="4146217" cy="1634387"/>
          </a:xfrm>
        </p:grpSpPr>
        <p:sp>
          <p:nvSpPr>
            <p:cNvPr id="8" name="Rectangle 7"/>
            <p:cNvSpPr/>
            <p:nvPr/>
          </p:nvSpPr>
          <p:spPr>
            <a:xfrm>
              <a:off x="457200" y="5159624"/>
              <a:ext cx="1050816" cy="43658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719668" y="4928359"/>
              <a:ext cx="1250341" cy="87952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Process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240911" y="5133680"/>
              <a:ext cx="1362506" cy="43658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Information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26597" y="6126163"/>
              <a:ext cx="1050816" cy="43658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Store</a:t>
              </a:r>
            </a:p>
          </p:txBody>
        </p:sp>
        <p:cxnSp>
          <p:nvCxnSpPr>
            <p:cNvPr id="16" name="Straight Arrow Connector 15"/>
            <p:cNvCxnSpPr>
              <a:stCxn id="8" idx="3"/>
              <a:endCxn id="9" idx="1"/>
            </p:cNvCxnSpPr>
            <p:nvPr/>
          </p:nvCxnSpPr>
          <p:spPr>
            <a:xfrm flipV="1">
              <a:off x="1508016" y="5368121"/>
              <a:ext cx="211652" cy="979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9" idx="3"/>
              <a:endCxn id="10" idx="1"/>
            </p:cNvCxnSpPr>
            <p:nvPr/>
          </p:nvCxnSpPr>
          <p:spPr>
            <a:xfrm flipV="1">
              <a:off x="2970009" y="5351972"/>
              <a:ext cx="270902" cy="1614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9" idx="2"/>
              <a:endCxn id="12" idx="0"/>
            </p:cNvCxnSpPr>
            <p:nvPr/>
          </p:nvCxnSpPr>
          <p:spPr>
            <a:xfrm>
              <a:off x="2344839" y="5807883"/>
              <a:ext cx="7166" cy="31828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Multiplication Sign 1">
            <a:extLst>
              <a:ext uri="{FF2B5EF4-FFF2-40B4-BE49-F238E27FC236}">
                <a16:creationId xmlns:a16="http://schemas.microsoft.com/office/drawing/2014/main" id="{8607B7D4-5FE4-4F8B-AF17-61914FB91B83}"/>
              </a:ext>
            </a:extLst>
          </p:cNvPr>
          <p:cNvSpPr/>
          <p:nvPr/>
        </p:nvSpPr>
        <p:spPr>
          <a:xfrm>
            <a:off x="976755" y="2979632"/>
            <a:ext cx="3863662" cy="2973097"/>
          </a:xfrm>
          <a:prstGeom prst="mathMultipl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652507-A47D-4481-BDEE-FC9AAB3C02F3}"/>
              </a:ext>
            </a:extLst>
          </p:cNvPr>
          <p:cNvSpPr txBox="1"/>
          <p:nvPr/>
        </p:nvSpPr>
        <p:spPr>
          <a:xfrm>
            <a:off x="1587230" y="4112758"/>
            <a:ext cx="40216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 hate this definition….</a:t>
            </a:r>
          </a:p>
        </p:txBody>
      </p:sp>
    </p:spTree>
    <p:extLst>
      <p:ext uri="{BB962C8B-B14F-4D97-AF65-F5344CB8AC3E}">
        <p14:creationId xmlns:p14="http://schemas.microsoft.com/office/powerpoint/2010/main" val="3170059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942450" cy="4525963"/>
          </a:xfrm>
        </p:spPr>
        <p:txBody>
          <a:bodyPr/>
          <a:lstStyle/>
          <a:p>
            <a:r>
              <a:rPr lang="de-DE" b="1" dirty="0"/>
              <a:t>Data Name</a:t>
            </a:r>
            <a:endParaRPr lang="de-DE" dirty="0"/>
          </a:p>
          <a:p>
            <a:r>
              <a:rPr lang="de-DE" dirty="0"/>
              <a:t>Name</a:t>
            </a:r>
          </a:p>
          <a:p>
            <a:r>
              <a:rPr lang="en-US" dirty="0"/>
              <a:t>Height</a:t>
            </a:r>
          </a:p>
          <a:p>
            <a:r>
              <a:rPr lang="en-US" dirty="0"/>
              <a:t>Date of Birth</a:t>
            </a:r>
          </a:p>
          <a:p>
            <a:r>
              <a:rPr lang="it-IT" dirty="0"/>
              <a:t>Phone No.</a:t>
            </a:r>
          </a:p>
          <a:p>
            <a:r>
              <a:rPr lang="en-US" dirty="0"/>
              <a:t>Pay Rate</a:t>
            </a:r>
          </a:p>
          <a:p>
            <a:r>
              <a:rPr lang="en-US" dirty="0"/>
              <a:t>Tax Rate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128748" y="1600200"/>
            <a:ext cx="294245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b="1" dirty="0"/>
              <a:t>Data Type</a:t>
            </a:r>
            <a:endParaRPr lang="nl-NL" dirty="0"/>
          </a:p>
          <a:p>
            <a:pPr marL="0" indent="0">
              <a:buNone/>
            </a:pPr>
            <a:r>
              <a:rPr lang="de-DE" dirty="0"/>
              <a:t>Text</a:t>
            </a:r>
          </a:p>
          <a:p>
            <a:pPr marL="0" indent="0">
              <a:buNone/>
            </a:pPr>
            <a:r>
              <a:rPr lang="en-US" dirty="0"/>
              <a:t>Real</a:t>
            </a:r>
          </a:p>
          <a:p>
            <a:pPr marL="0" indent="0">
              <a:buNone/>
            </a:pPr>
            <a:r>
              <a:rPr lang="de-DE" dirty="0"/>
              <a:t>Date</a:t>
            </a:r>
          </a:p>
          <a:p>
            <a:pPr marL="0" indent="0">
              <a:buNone/>
            </a:pPr>
            <a:r>
              <a:rPr lang="it-IT" dirty="0" err="1"/>
              <a:t>Alphanumeric</a:t>
            </a:r>
            <a:endParaRPr lang="it-IT" dirty="0"/>
          </a:p>
          <a:p>
            <a:pPr marL="0" indent="0">
              <a:buNone/>
            </a:pPr>
            <a:r>
              <a:rPr lang="en-US" dirty="0"/>
              <a:t>Currency</a:t>
            </a:r>
          </a:p>
          <a:p>
            <a:pPr marL="0" indent="0">
              <a:buNone/>
            </a:pPr>
            <a:r>
              <a:rPr lang="en-US" dirty="0"/>
              <a:t>Percentage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950214" y="1600200"/>
            <a:ext cx="294245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Example Data</a:t>
            </a:r>
            <a:endParaRPr lang="en-US" dirty="0"/>
          </a:p>
          <a:p>
            <a:pPr marL="0" indent="0">
              <a:buNone/>
            </a:pPr>
            <a:r>
              <a:rPr lang="da-DK" dirty="0"/>
              <a:t>"Bob Gripper"</a:t>
            </a:r>
          </a:p>
          <a:p>
            <a:pPr marL="0" indent="0">
              <a:buNone/>
            </a:pPr>
            <a:r>
              <a:rPr lang="nb-NO" dirty="0"/>
              <a:t>1.85</a:t>
            </a:r>
          </a:p>
          <a:p>
            <a:pPr marL="0" indent="0">
              <a:buNone/>
            </a:pPr>
            <a:r>
              <a:rPr lang="fi-FI" dirty="0"/>
              <a:t>19 </a:t>
            </a:r>
            <a:r>
              <a:rPr lang="fi-FI" dirty="0" err="1"/>
              <a:t>May</a:t>
            </a:r>
            <a:r>
              <a:rPr lang="fi-FI" dirty="0"/>
              <a:t> 1980</a:t>
            </a:r>
          </a:p>
          <a:p>
            <a:pPr marL="0" indent="0">
              <a:buNone/>
            </a:pPr>
            <a:r>
              <a:rPr lang="is-IS" dirty="0"/>
              <a:t>92-42-11128128</a:t>
            </a:r>
          </a:p>
          <a:p>
            <a:pPr marL="0" indent="0">
              <a:buNone/>
            </a:pPr>
            <a:r>
              <a:rPr lang="nb-NO" dirty="0"/>
              <a:t>£35.75</a:t>
            </a:r>
          </a:p>
          <a:p>
            <a:pPr marL="0" indent="0">
              <a:buNone/>
            </a:pPr>
            <a:r>
              <a:rPr lang="it-IT" dirty="0"/>
              <a:t>15%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06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arg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502545"/>
            <a:ext cx="9180782" cy="535545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Computers Process Data</a:t>
            </a:r>
          </a:p>
        </p:txBody>
      </p:sp>
    </p:spTree>
    <p:extLst>
      <p:ext uri="{BB962C8B-B14F-4D97-AF65-F5344CB8AC3E}">
        <p14:creationId xmlns:p14="http://schemas.microsoft.com/office/powerpoint/2010/main" val="1727301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Computers Process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32668"/>
          </a:xfrm>
        </p:spPr>
        <p:txBody>
          <a:bodyPr>
            <a:normAutofit fontScale="85000" lnSpcReduction="10000"/>
          </a:bodyPr>
          <a:lstStyle/>
          <a:p>
            <a:r>
              <a:rPr lang="en-US" sz="2800" dirty="0"/>
              <a:t>Computers are used to process all types of information in a broad spectrum fields. </a:t>
            </a:r>
          </a:p>
          <a:p>
            <a:pPr lvl="1"/>
            <a:r>
              <a:rPr lang="en-US" sz="2800" dirty="0">
                <a:solidFill>
                  <a:srgbClr val="FF6600"/>
                </a:solidFill>
              </a:rPr>
              <a:t> </a:t>
            </a:r>
            <a:r>
              <a:rPr lang="en-US" sz="2400" b="1" dirty="0">
                <a:solidFill>
                  <a:srgbClr val="FF6600"/>
                </a:solidFill>
              </a:rPr>
              <a:t>Numeric data</a:t>
            </a:r>
            <a:r>
              <a:rPr lang="en-US" sz="2400" dirty="0">
                <a:solidFill>
                  <a:srgbClr val="FF6600"/>
                </a:solidFill>
              </a:rPr>
              <a:t> </a:t>
            </a:r>
            <a:r>
              <a:rPr lang="en-US" sz="2400" dirty="0"/>
              <a:t>consisting of Integers and real numbers are used in programs calculating payroll. We typically perform </a:t>
            </a:r>
            <a:r>
              <a:rPr lang="en-US" sz="2400" b="1" dirty="0"/>
              <a:t>arithmetic</a:t>
            </a:r>
            <a:r>
              <a:rPr lang="en-US" sz="2400" dirty="0"/>
              <a:t> </a:t>
            </a:r>
            <a:r>
              <a:rPr lang="en-US" sz="2400" b="1" dirty="0"/>
              <a:t>operations</a:t>
            </a:r>
            <a:r>
              <a:rPr lang="en-US" sz="2400" dirty="0"/>
              <a:t> on numeric data.</a:t>
            </a:r>
          </a:p>
          <a:p>
            <a:pPr lvl="1"/>
            <a:endParaRPr lang="en-US" sz="2400" dirty="0"/>
          </a:p>
          <a:p>
            <a:pPr lvl="1"/>
            <a:r>
              <a:rPr lang="en-US" sz="2400" b="1" dirty="0">
                <a:solidFill>
                  <a:srgbClr val="FF6600"/>
                </a:solidFill>
              </a:rPr>
              <a:t>Strings</a:t>
            </a:r>
            <a:r>
              <a:rPr lang="en-US" sz="2400" dirty="0"/>
              <a:t> of </a:t>
            </a:r>
            <a:r>
              <a:rPr lang="en-US" sz="2400" b="1" dirty="0"/>
              <a:t>alphabets</a:t>
            </a:r>
            <a:r>
              <a:rPr lang="en-US" sz="2400" dirty="0"/>
              <a:t> and numbers (</a:t>
            </a:r>
            <a:r>
              <a:rPr lang="en-US" sz="2400" b="1" dirty="0"/>
              <a:t>Alphanumeric Data</a:t>
            </a:r>
            <a:r>
              <a:rPr lang="en-US" sz="2400" dirty="0"/>
              <a:t>) are processed in customer record keeping systems.</a:t>
            </a:r>
            <a:r>
              <a:rPr lang="en-US" sz="2400" b="1" dirty="0">
                <a:solidFill>
                  <a:srgbClr val="FF6600"/>
                </a:solidFill>
              </a:rPr>
              <a:t> </a:t>
            </a:r>
          </a:p>
          <a:p>
            <a:pPr lvl="1"/>
            <a:endParaRPr lang="en-US" sz="2400" b="1" dirty="0">
              <a:solidFill>
                <a:srgbClr val="FF6600"/>
              </a:solidFill>
            </a:endParaRPr>
          </a:p>
          <a:p>
            <a:pPr lvl="1"/>
            <a:r>
              <a:rPr lang="en-US" sz="2400" b="1" dirty="0">
                <a:solidFill>
                  <a:srgbClr val="FF6600"/>
                </a:solidFill>
              </a:rPr>
              <a:t>Multimedia</a:t>
            </a:r>
            <a:r>
              <a:rPr lang="en-US" sz="2400" dirty="0"/>
              <a:t> content including images, sound and text are frequently used in a large collection of application areas.</a:t>
            </a:r>
          </a:p>
          <a:p>
            <a:endParaRPr lang="en-US" sz="2400" dirty="0"/>
          </a:p>
          <a:p>
            <a:pPr lvl="1"/>
            <a:r>
              <a:rPr lang="en-US" sz="2400" b="1" dirty="0">
                <a:solidFill>
                  <a:srgbClr val="FF6600"/>
                </a:solidFill>
              </a:rPr>
              <a:t>Signals</a:t>
            </a:r>
            <a:r>
              <a:rPr lang="en-US" sz="2400" dirty="0"/>
              <a:t> representing various types of information like temperature, pressure, presence or absence of objects etc. are processed by computers in Robotics, </a:t>
            </a:r>
            <a:r>
              <a:rPr lang="en-US" sz="2400" dirty="0" err="1"/>
              <a:t>IoT</a:t>
            </a:r>
            <a:r>
              <a:rPr lang="en-US" sz="2400" dirty="0"/>
              <a:t>, monitoring and control applications</a:t>
            </a:r>
            <a:r>
              <a:rPr lang="en-US" sz="2000" dirty="0"/>
              <a:t>.</a:t>
            </a:r>
          </a:p>
          <a:p>
            <a:pPr lvl="1"/>
            <a:endParaRPr lang="en-US" sz="24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80396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tacks_image_4821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915" y="1706038"/>
            <a:ext cx="3753401" cy="30825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is Data Actually Stored in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53103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8000"/>
                </a:solidFill>
              </a:rPr>
              <a:t>Everything</a:t>
            </a:r>
            <a:r>
              <a:rPr lang="en-US" dirty="0"/>
              <a:t> that is stored and processed inside a computer</a:t>
            </a:r>
          </a:p>
          <a:p>
            <a:pPr marL="0" indent="0">
              <a:buNone/>
            </a:pPr>
            <a:r>
              <a:rPr lang="en-US" sz="2000" i="1" dirty="0"/>
              <a:t>(all data, information, instructions,  files, images, etc.) </a:t>
            </a:r>
            <a:r>
              <a:rPr lang="en-US" dirty="0"/>
              <a:t>is stored as  </a:t>
            </a:r>
            <a:r>
              <a:rPr lang="en-US" b="1" dirty="0">
                <a:solidFill>
                  <a:srgbClr val="FF6600"/>
                </a:solidFill>
              </a:rPr>
              <a:t>Numbers</a:t>
            </a:r>
            <a:r>
              <a:rPr lang="en-US" b="1" dirty="0"/>
              <a:t>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Digital computers have been made such that all data and instructions(program) for processing must be stored in computers memory before processing.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751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store </a:t>
            </a:r>
            <a:r>
              <a:rPr lang="en-US" i="1" dirty="0"/>
              <a:t>text</a:t>
            </a:r>
            <a:r>
              <a:rPr lang="en-US" dirty="0"/>
              <a:t> and </a:t>
            </a:r>
            <a:r>
              <a:rPr lang="en-US" i="1" dirty="0"/>
              <a:t>pictures</a:t>
            </a:r>
            <a:r>
              <a:rPr lang="en-US" dirty="0"/>
              <a:t> as numbers?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solution is to use </a:t>
            </a:r>
            <a:r>
              <a:rPr lang="en-US" b="1" dirty="0"/>
              <a:t>numeric</a:t>
            </a:r>
            <a:r>
              <a:rPr lang="en-US" dirty="0"/>
              <a:t> </a:t>
            </a:r>
            <a:r>
              <a:rPr lang="en-US" b="1" dirty="0"/>
              <a:t>codes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Different </a:t>
            </a:r>
            <a:r>
              <a:rPr lang="en-US" b="1" dirty="0"/>
              <a:t>letters</a:t>
            </a:r>
            <a:r>
              <a:rPr lang="en-US" dirty="0"/>
              <a:t> in a text document are given different numeric codes</a:t>
            </a:r>
          </a:p>
          <a:p>
            <a:pPr lvl="1"/>
            <a:r>
              <a:rPr lang="en-US" dirty="0"/>
              <a:t>Different </a:t>
            </a:r>
            <a:r>
              <a:rPr lang="en-US" b="1" dirty="0"/>
              <a:t>pixels</a:t>
            </a:r>
            <a:r>
              <a:rPr lang="en-US" dirty="0"/>
              <a:t> (colored dots) in an image are given different numeric codes</a:t>
            </a:r>
          </a:p>
          <a:p>
            <a:pPr lvl="1"/>
            <a:r>
              <a:rPr lang="en-US" dirty="0"/>
              <a:t>Different </a:t>
            </a:r>
            <a:r>
              <a:rPr lang="en-US" b="1" dirty="0"/>
              <a:t>sounds</a:t>
            </a:r>
            <a:r>
              <a:rPr lang="en-US" dirty="0"/>
              <a:t> in a music file</a:t>
            </a:r>
            <a:br>
              <a:rPr lang="en-US" dirty="0"/>
            </a:br>
            <a:r>
              <a:rPr lang="en-US" dirty="0"/>
              <a:t>are given different numeric codes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FF6600"/>
                </a:solidFill>
              </a:rPr>
              <a:t>Everything</a:t>
            </a:r>
            <a:r>
              <a:rPr lang="en-US" b="1" dirty="0"/>
              <a:t> </a:t>
            </a:r>
            <a:r>
              <a:rPr lang="en-US" dirty="0"/>
              <a:t>is numbers!</a:t>
            </a:r>
          </a:p>
        </p:txBody>
      </p:sp>
      <p:pic>
        <p:nvPicPr>
          <p:cNvPr id="5" name="Picture 4" descr="larg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036" y="4709811"/>
            <a:ext cx="3705290" cy="216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902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be represented using a Bit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98298" cy="452596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Computers use binary - the digits </a:t>
            </a:r>
            <a:r>
              <a:rPr lang="en-US" dirty="0">
                <a:solidFill>
                  <a:srgbClr val="FF6600"/>
                </a:solidFill>
              </a:rPr>
              <a:t>0</a:t>
            </a:r>
            <a:r>
              <a:rPr lang="en-US" dirty="0"/>
              <a:t> and </a:t>
            </a:r>
            <a:r>
              <a:rPr lang="en-US" dirty="0">
                <a:solidFill>
                  <a:srgbClr val="008000"/>
                </a:solidFill>
              </a:rPr>
              <a:t>1</a:t>
            </a:r>
            <a:r>
              <a:rPr lang="en-US" dirty="0"/>
              <a:t> - to store data. </a:t>
            </a:r>
          </a:p>
          <a:p>
            <a:r>
              <a:rPr lang="en-US" dirty="0"/>
              <a:t>A binary digit, or bit, is the </a:t>
            </a:r>
            <a:r>
              <a:rPr lang="en-US" dirty="0">
                <a:solidFill>
                  <a:srgbClr val="FF6600"/>
                </a:solidFill>
              </a:rPr>
              <a:t>smallest</a:t>
            </a:r>
            <a:r>
              <a:rPr lang="en-US" dirty="0"/>
              <a:t> unit of data in computing. </a:t>
            </a:r>
            <a:br>
              <a:rPr lang="en-US" dirty="0"/>
            </a:br>
            <a:endParaRPr lang="en-US" dirty="0"/>
          </a:p>
          <a:p>
            <a:r>
              <a:rPr lang="en-US" sz="2800" dirty="0"/>
              <a:t>Single Bit can be used to represent two different quantities</a:t>
            </a:r>
          </a:p>
          <a:p>
            <a:pPr lvl="1"/>
            <a:r>
              <a:rPr lang="en-US" sz="2400" dirty="0"/>
              <a:t>ON means TRUE and OFF means FALSE</a:t>
            </a:r>
          </a:p>
          <a:p>
            <a:pPr lvl="1"/>
            <a:r>
              <a:rPr lang="en-US" sz="2400" dirty="0"/>
              <a:t>ON means number 79 and OFF means number -23</a:t>
            </a:r>
          </a:p>
          <a:p>
            <a:pPr lvl="1"/>
            <a:r>
              <a:rPr lang="en-US" sz="2400" dirty="0"/>
              <a:t>ON means 23.5 and OFF means 39.25</a:t>
            </a:r>
          </a:p>
          <a:p>
            <a:pPr lvl="1"/>
            <a:r>
              <a:rPr lang="en-US" sz="2400" dirty="0"/>
              <a:t>ON means </a:t>
            </a:r>
            <a:r>
              <a:rPr lang="en-US" sz="2400" b="1" dirty="0">
                <a:solidFill>
                  <a:srgbClr val="FF0000"/>
                </a:solidFill>
              </a:rPr>
              <a:t>RED COLOR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and OFF means </a:t>
            </a:r>
            <a:r>
              <a:rPr lang="en-US" sz="2400" b="1" dirty="0">
                <a:solidFill>
                  <a:srgbClr val="0000FF"/>
                </a:solidFill>
              </a:rPr>
              <a:t>BLUE COLOR</a:t>
            </a:r>
          </a:p>
          <a:p>
            <a:pPr lvl="1"/>
            <a:endParaRPr lang="en-US" sz="2400" dirty="0">
              <a:solidFill>
                <a:srgbClr val="0000FF"/>
              </a:solidFill>
            </a:endParaRPr>
          </a:p>
          <a:p>
            <a:r>
              <a:rPr lang="en-US" sz="2800" dirty="0"/>
              <a:t>Most commonly </a:t>
            </a:r>
            <a:r>
              <a:rPr lang="en-US" sz="2800" dirty="0">
                <a:solidFill>
                  <a:srgbClr val="FF6600"/>
                </a:solidFill>
              </a:rPr>
              <a:t>ON</a:t>
            </a:r>
            <a:r>
              <a:rPr lang="en-US" sz="2800" dirty="0"/>
              <a:t> means </a:t>
            </a:r>
            <a:r>
              <a:rPr lang="en-US" sz="2800" dirty="0">
                <a:solidFill>
                  <a:srgbClr val="FF6600"/>
                </a:solidFill>
              </a:rPr>
              <a:t>1</a:t>
            </a:r>
            <a:r>
              <a:rPr lang="en-US" sz="2800" dirty="0"/>
              <a:t> and </a:t>
            </a:r>
            <a:r>
              <a:rPr lang="en-US" sz="2800" dirty="0">
                <a:solidFill>
                  <a:srgbClr val="008000"/>
                </a:solidFill>
              </a:rPr>
              <a:t>OFF</a:t>
            </a:r>
            <a:r>
              <a:rPr lang="en-US" sz="2800" dirty="0"/>
              <a:t> means </a:t>
            </a:r>
            <a:r>
              <a:rPr lang="en-US" sz="2800" dirty="0">
                <a:solidFill>
                  <a:srgbClr val="008000"/>
                </a:solidFill>
              </a:rPr>
              <a:t>0</a:t>
            </a:r>
            <a:r>
              <a:rPr lang="en-US" sz="2800" b="1" dirty="0"/>
              <a:t> </a:t>
            </a:r>
            <a:r>
              <a:rPr lang="en-US" sz="2800" dirty="0"/>
              <a:t>and</a:t>
            </a:r>
            <a:r>
              <a:rPr lang="en-US" sz="2800" b="1" dirty="0"/>
              <a:t> </a:t>
            </a:r>
            <a:r>
              <a:rPr lang="en-US" sz="2800" dirty="0"/>
              <a:t>therefore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Bit</a:t>
            </a:r>
            <a:r>
              <a:rPr lang="en-US" sz="2800" b="1" dirty="0"/>
              <a:t> </a:t>
            </a:r>
            <a:r>
              <a:rPr lang="en-US" sz="2800" dirty="0"/>
              <a:t>is also known as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0000FF"/>
                </a:solidFill>
              </a:rPr>
              <a:t>Bi</a:t>
            </a:r>
            <a:r>
              <a:rPr lang="en-US" sz="2800" dirty="0"/>
              <a:t>nary</a:t>
            </a:r>
            <a:r>
              <a:rPr lang="en-US" sz="2800" b="1" dirty="0"/>
              <a:t> </a:t>
            </a:r>
            <a:r>
              <a:rPr lang="en-US" sz="2800" dirty="0"/>
              <a:t>Digi</a:t>
            </a:r>
            <a:r>
              <a:rPr lang="en-US" sz="2800" b="1" dirty="0">
                <a:solidFill>
                  <a:srgbClr val="0000FF"/>
                </a:solidFill>
              </a:rPr>
              <a:t>t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0000FF"/>
                </a:solidFill>
              </a:rPr>
              <a:t>(Bit)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292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Measuring Units </a:t>
            </a:r>
            <a:br>
              <a:rPr lang="en-US" dirty="0"/>
            </a:br>
            <a:r>
              <a:rPr lang="en-US" sz="2700" dirty="0"/>
              <a:t>(As viewed by computer scientists)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Bits can be grouped together to make them easier to work with. A group of 8 bits is called a </a:t>
            </a:r>
            <a:r>
              <a:rPr lang="en-US" dirty="0">
                <a:solidFill>
                  <a:srgbClr val="FF6600"/>
                </a:solidFill>
              </a:rPr>
              <a:t>byte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986" y="2866692"/>
            <a:ext cx="4854753" cy="2435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4699" y="5387499"/>
            <a:ext cx="87705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Most computers can process millions of bits every second. A hard drive's storage capacity is measured in gigabytes or terabytes. RAM is often measured in megabytes or gigabytes.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43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Bytes as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35451"/>
          </a:xfrm>
        </p:spPr>
        <p:txBody>
          <a:bodyPr>
            <a:noAutofit/>
          </a:bodyPr>
          <a:lstStyle/>
          <a:p>
            <a:r>
              <a:rPr lang="en-US" sz="2400" dirty="0"/>
              <a:t>We can view each byte as a binary number. For Example the following Binary number </a:t>
            </a:r>
            <a:r>
              <a:rPr lang="en-US" sz="2400" dirty="0">
                <a:solidFill>
                  <a:srgbClr val="FF6600"/>
                </a:solidFill>
              </a:rPr>
              <a:t>(10101000) </a:t>
            </a:r>
            <a:r>
              <a:rPr lang="en-US" sz="2400" dirty="0"/>
              <a:t>represents the quantity </a:t>
            </a:r>
            <a:r>
              <a:rPr lang="en-US" sz="2400" dirty="0">
                <a:solidFill>
                  <a:srgbClr val="FF6600"/>
                </a:solidFill>
              </a:rPr>
              <a:t>ONE Hundred and SIXTY EIGHT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Can you see the similarity between Binary and Decimal numbers?</a:t>
            </a:r>
          </a:p>
        </p:txBody>
      </p:sp>
      <p:pic>
        <p:nvPicPr>
          <p:cNvPr id="5" name="Picture 4" descr="large1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16" y="3039201"/>
            <a:ext cx="5775154" cy="26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880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#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What Quantities are Represented by the following 8-bit binary numbers.</a:t>
            </a:r>
          </a:p>
          <a:p>
            <a:endParaRPr lang="en-US" sz="24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657780"/>
              </p:ext>
            </p:extLst>
          </p:nvPr>
        </p:nvGraphicFramePr>
        <p:xfrm>
          <a:off x="854046" y="2524125"/>
          <a:ext cx="6035593" cy="3534852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047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1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9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3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78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67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231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658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Bit#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8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solidFill>
                            <a:srgbClr val="FF6600"/>
                          </a:solidFill>
                          <a:effectLst/>
                        </a:rPr>
                        <a:t>Place</a:t>
                      </a:r>
                      <a:r>
                        <a:rPr lang="en-US" sz="1700" u="none" strike="noStrike" baseline="0" dirty="0">
                          <a:solidFill>
                            <a:srgbClr val="FF6600"/>
                          </a:solidFill>
                          <a:effectLst/>
                        </a:rPr>
                        <a:t> Value</a:t>
                      </a:r>
                      <a:endParaRPr lang="en-US" sz="1700" b="0" i="0" u="none" strike="noStrike" dirty="0">
                        <a:solidFill>
                          <a:srgbClr val="FF66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en-US" sz="2400" u="none" strike="noStrike" baseline="30000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US" sz="2400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fontAlgn="b"/>
                      <a:r>
                        <a:rPr lang="en-US" sz="2400" u="none" strike="noStrike" dirty="0">
                          <a:solidFill>
                            <a:srgbClr val="FF6600"/>
                          </a:solidFill>
                          <a:effectLst/>
                        </a:rPr>
                        <a:t>128</a:t>
                      </a:r>
                      <a:endParaRPr lang="en-US" sz="2400" b="0" i="0" u="none" strike="noStrike" dirty="0">
                        <a:solidFill>
                          <a:srgbClr val="FF66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en-US" sz="2400" u="none" strike="noStrike" baseline="3000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2400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fontAlgn="b"/>
                      <a:r>
                        <a:rPr lang="en-US" sz="2400" u="none" strike="noStrike" dirty="0">
                          <a:solidFill>
                            <a:srgbClr val="FF6600"/>
                          </a:solidFill>
                          <a:effectLst/>
                        </a:rPr>
                        <a:t>64</a:t>
                      </a:r>
                      <a:endParaRPr lang="en-US" sz="2400" b="0" i="0" u="none" strike="noStrike" dirty="0">
                        <a:solidFill>
                          <a:srgbClr val="FF66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en-US" sz="2400" u="none" strike="noStrike" baseline="30000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240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 fontAlgn="b"/>
                      <a:r>
                        <a:rPr lang="en-US" sz="2400" u="none" strike="noStrike" dirty="0">
                          <a:solidFill>
                            <a:srgbClr val="FF6600"/>
                          </a:solidFill>
                          <a:effectLst/>
                        </a:rPr>
                        <a:t>32</a:t>
                      </a:r>
                      <a:endParaRPr lang="en-US" sz="2400" b="0" i="0" u="none" strike="noStrike" dirty="0">
                        <a:solidFill>
                          <a:srgbClr val="FF66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en-US" sz="2400" u="none" strike="noStrike" baseline="30000" dirty="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US" sz="240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 fontAlgn="b"/>
                      <a:r>
                        <a:rPr lang="en-US" sz="2400" u="none" strike="noStrike" dirty="0">
                          <a:solidFill>
                            <a:srgbClr val="FF6600"/>
                          </a:solidFill>
                          <a:effectLst/>
                        </a:rPr>
                        <a:t>16</a:t>
                      </a:r>
                      <a:endParaRPr lang="en-US" sz="2400" b="0" i="0" u="none" strike="noStrike" dirty="0">
                        <a:solidFill>
                          <a:srgbClr val="FF66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en-US" sz="2400" u="none" strike="noStrike" baseline="30000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sz="240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 fontAlgn="b"/>
                      <a:r>
                        <a:rPr lang="en-US" sz="2400" u="none" strike="noStrike" dirty="0">
                          <a:solidFill>
                            <a:srgbClr val="FF6600"/>
                          </a:solidFill>
                          <a:effectLst/>
                        </a:rPr>
                        <a:t>8</a:t>
                      </a:r>
                      <a:endParaRPr lang="en-US" sz="2400" b="0" i="0" u="none" strike="noStrike" dirty="0">
                        <a:solidFill>
                          <a:srgbClr val="FF66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en-US" sz="2400" u="none" strike="noStrike" baseline="30000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</a:p>
                    <a:p>
                      <a:pPr algn="ctr" fontAlgn="b"/>
                      <a:r>
                        <a:rPr lang="en-US" sz="2400" u="none" strike="noStrike" dirty="0">
                          <a:solidFill>
                            <a:srgbClr val="FF6600"/>
                          </a:solidFill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FF66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en-US" sz="2400" u="none" strike="noStrike" baseline="30000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</a:p>
                    <a:p>
                      <a:pPr algn="ctr" fontAlgn="b"/>
                      <a:r>
                        <a:rPr lang="en-US" sz="2400" u="none" strike="noStrike" dirty="0">
                          <a:solidFill>
                            <a:srgbClr val="FF6600"/>
                          </a:solidFill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FF66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en-US" sz="2400" u="none" strike="noStrike" baseline="30000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br>
                        <a:rPr lang="en-US" sz="2400" u="none" strike="noStrike" baseline="0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2400" u="none" strike="noStrike" dirty="0">
                          <a:solidFill>
                            <a:srgbClr val="FF6600"/>
                          </a:solidFill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FF66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8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a.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8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b.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8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c.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8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d.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8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e.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98982"/>
              </p:ext>
            </p:extLst>
          </p:nvPr>
        </p:nvGraphicFramePr>
        <p:xfrm>
          <a:off x="6889639" y="2524125"/>
          <a:ext cx="1206024" cy="3534852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206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58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876">
                <a:tc>
                  <a:txBody>
                    <a:bodyPr/>
                    <a:lstStyle/>
                    <a:p>
                      <a:pPr algn="ct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876">
                <a:tc>
                  <a:txBody>
                    <a:bodyPr/>
                    <a:lstStyle/>
                    <a:p>
                      <a:pPr algn="ctr" fontAlgn="b"/>
                      <a:r>
                        <a:rPr lang="cs-CZ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876">
                <a:tc>
                  <a:txBody>
                    <a:bodyPr/>
                    <a:lstStyle/>
                    <a:p>
                      <a:pPr algn="ctr" fontAlgn="b"/>
                      <a:r>
                        <a:rPr lang="fi-FI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57" marR="6057" marT="8076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8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6057" marR="6057" marT="8076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8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</a:t>
                      </a:r>
                    </a:p>
                  </a:txBody>
                  <a:tcPr marL="6057" marR="6057" marT="8076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8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057" marR="6057" marT="8076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3138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#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If a Byte is assumed to represent a number, as described earlier, then what is the range (minimum and maximum values) of numbers that can be stored in a 8-bit Byte?</a:t>
            </a:r>
          </a:p>
          <a:p>
            <a:endParaRPr lang="en-US" sz="2400" dirty="0"/>
          </a:p>
          <a:p>
            <a:r>
              <a:rPr lang="en-US" sz="2400" dirty="0"/>
              <a:t>Min : </a:t>
            </a:r>
            <a:r>
              <a:rPr lang="en-US" sz="2400" dirty="0">
                <a:solidFill>
                  <a:srgbClr val="FF6600"/>
                </a:solidFill>
              </a:rPr>
              <a:t>0</a:t>
            </a:r>
          </a:p>
          <a:p>
            <a:r>
              <a:rPr lang="en-US" sz="2400" dirty="0"/>
              <a:t>Max : 128+64+32+16+8+4+2+1 = </a:t>
            </a:r>
            <a:r>
              <a:rPr lang="en-US" sz="2400" dirty="0">
                <a:solidFill>
                  <a:srgbClr val="FF6600"/>
                </a:solidFill>
              </a:rPr>
              <a:t>255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1001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can we represent a character?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IDEA.</a:t>
            </a:r>
          </a:p>
          <a:p>
            <a:pPr lvl="1"/>
            <a:r>
              <a:rPr lang="en-US" sz="2200" dirty="0"/>
              <a:t>Assign numeric codes to characters and represent each character in a Byte using it’s numeric code.</a:t>
            </a:r>
          </a:p>
          <a:p>
            <a:pPr lvl="1"/>
            <a:r>
              <a:rPr lang="en-US" sz="2200" dirty="0"/>
              <a:t>Can we assign numeric codes of our choice to each character?. What might be a problem with this approach?</a:t>
            </a:r>
          </a:p>
          <a:p>
            <a:endParaRPr lang="en-US" sz="2200" dirty="0"/>
          </a:p>
        </p:txBody>
      </p:sp>
      <p:pic>
        <p:nvPicPr>
          <p:cNvPr id="4" name="Picture 3" descr="large (1)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760" y="3611378"/>
            <a:ext cx="5505139" cy="324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043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can we represent a character?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IDEA</a:t>
            </a:r>
            <a:r>
              <a:rPr lang="en-US" sz="2400" dirty="0"/>
              <a:t> </a:t>
            </a:r>
          </a:p>
          <a:p>
            <a:r>
              <a:rPr lang="en-US" sz="2600" dirty="0"/>
              <a:t>Create a Standard coding scheme so that information can be easily shared between devices from different vendors.</a:t>
            </a:r>
          </a:p>
          <a:p>
            <a:r>
              <a:rPr lang="en-US" sz="2400" dirty="0"/>
              <a:t>Standard Codes</a:t>
            </a:r>
          </a:p>
          <a:p>
            <a:pPr lvl="1"/>
            <a:r>
              <a:rPr lang="en-US" sz="2200" dirty="0"/>
              <a:t>ASCII </a:t>
            </a:r>
            <a:r>
              <a:rPr lang="en-US" sz="2000" dirty="0"/>
              <a:t>(American Standard Code for Information Interchange)</a:t>
            </a:r>
          </a:p>
          <a:p>
            <a:pPr lvl="1"/>
            <a:r>
              <a:rPr lang="en-US" sz="2200" dirty="0"/>
              <a:t>Unicode </a:t>
            </a:r>
          </a:p>
          <a:p>
            <a:pPr lvl="1"/>
            <a:r>
              <a:rPr lang="en-US" sz="2200" dirty="0"/>
              <a:t>Unicode Transformation Format(UTF) UTF-8, UTF-16</a:t>
            </a:r>
          </a:p>
          <a:p>
            <a:pPr lvl="1"/>
            <a:r>
              <a:rPr lang="en-US" sz="2200" dirty="0"/>
              <a:t>ANSI Character Set</a:t>
            </a:r>
          </a:p>
        </p:txBody>
      </p:sp>
    </p:spTree>
    <p:extLst>
      <p:ext uri="{BB962C8B-B14F-4D97-AF65-F5344CB8AC3E}">
        <p14:creationId xmlns:p14="http://schemas.microsoft.com/office/powerpoint/2010/main" val="430698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ASCII Character Encoding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39902" t="-1159" r="-1"/>
          <a:stretch/>
        </p:blipFill>
        <p:spPr>
          <a:xfrm>
            <a:off x="-1400802" y="1243602"/>
            <a:ext cx="9670460" cy="531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207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#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following 24 values represents a message consisting of 24 characters stored in RAM. </a:t>
            </a:r>
          </a:p>
          <a:p>
            <a:endParaRPr lang="en-US" sz="2400" dirty="0"/>
          </a:p>
          <a:p>
            <a:r>
              <a:rPr lang="en-US" sz="2400" dirty="0"/>
              <a:t>If the message has been written using 8-Bit Extended ASCII codes then decipher the message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87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104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97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84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32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105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83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32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89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111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117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82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32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70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105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82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83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84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32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78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65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77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69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63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>
                <a:solidFill>
                  <a:srgbClr val="FF6600"/>
                </a:solidFill>
                <a:latin typeface="Calibri" panose="020F0502020204030204" pitchFamily="34" charset="0"/>
              </a:rPr>
              <a:t>W</a:t>
            </a:r>
            <a:r>
              <a:rPr lang="en-US" sz="2400" dirty="0" err="1">
                <a:solidFill>
                  <a:srgbClr val="FF6600"/>
                </a:solidFill>
              </a:rPr>
              <a:t>haT</a:t>
            </a:r>
            <a:r>
              <a:rPr lang="en-US" sz="2400" dirty="0">
                <a:solidFill>
                  <a:srgbClr val="FF6600"/>
                </a:solidFill>
              </a:rPr>
              <a:t>  </a:t>
            </a:r>
            <a:r>
              <a:rPr lang="en-US" sz="2400" dirty="0" err="1">
                <a:solidFill>
                  <a:srgbClr val="FF6600"/>
                </a:solidFill>
              </a:rPr>
              <a:t>iS</a:t>
            </a:r>
            <a:r>
              <a:rPr lang="en-US" sz="2400" dirty="0">
                <a:solidFill>
                  <a:srgbClr val="FF6600"/>
                </a:solidFill>
              </a:rPr>
              <a:t> </a:t>
            </a:r>
            <a:r>
              <a:rPr lang="en-US" sz="2400" dirty="0" err="1">
                <a:solidFill>
                  <a:srgbClr val="FF6600"/>
                </a:solidFill>
              </a:rPr>
              <a:t>YouR</a:t>
            </a:r>
            <a:r>
              <a:rPr lang="en-US" sz="2400" dirty="0">
                <a:solidFill>
                  <a:srgbClr val="FF6600"/>
                </a:solidFill>
              </a:rPr>
              <a:t> </a:t>
            </a:r>
            <a:r>
              <a:rPr lang="en-US" sz="2400" dirty="0" err="1">
                <a:solidFill>
                  <a:srgbClr val="FF6600"/>
                </a:solidFill>
              </a:rPr>
              <a:t>FiRST</a:t>
            </a:r>
            <a:r>
              <a:rPr lang="en-US" sz="2400" dirty="0">
                <a:solidFill>
                  <a:srgbClr val="FF6600"/>
                </a:solidFill>
              </a:rPr>
              <a:t> NAME?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1126186" y="3955154"/>
            <a:ext cx="6031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5" name="Picture 4" descr="imag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274" y="4759157"/>
            <a:ext cx="1868983" cy="184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51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#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Use ASCII encoding to give answer to the question in the previous Exercise?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8058" y="3838073"/>
            <a:ext cx="2870200" cy="283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221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ASCII </a:t>
            </a:r>
            <a:r>
              <a:rPr lang="en-US"/>
              <a:t>to Binary 0s and 1s</a:t>
            </a:r>
            <a:endParaRPr lang="en-US" dirty="0"/>
          </a:p>
        </p:txBody>
      </p:sp>
      <p:pic>
        <p:nvPicPr>
          <p:cNvPr id="4" name="Content Placeholder 3" descr="text-into-binary.gif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830" t="-1897" r="-1550" b="8653"/>
          <a:stretch/>
        </p:blipFill>
        <p:spPr>
          <a:xfrm>
            <a:off x="457200" y="1600200"/>
            <a:ext cx="8229600" cy="4322011"/>
          </a:xfrm>
        </p:spPr>
      </p:pic>
    </p:spTree>
    <p:extLst>
      <p:ext uri="{BB962C8B-B14F-4D97-AF65-F5344CB8AC3E}">
        <p14:creationId xmlns:p14="http://schemas.microsoft.com/office/powerpoint/2010/main" val="1550190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Representing Non-Negative(Unsigned) Integer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Idea No 1.</a:t>
            </a:r>
          </a:p>
          <a:p>
            <a:pPr lvl="1"/>
            <a:r>
              <a:rPr lang="en-US" sz="2200" dirty="0"/>
              <a:t>Each integer is a sequence of characters and hence we can use character encoding to represent each quantity as a sequence of characters.</a:t>
            </a:r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 371 = 51 55 49 ( ASCII) </a:t>
            </a:r>
          </a:p>
        </p:txBody>
      </p:sp>
    </p:spTree>
    <p:extLst>
      <p:ext uri="{BB962C8B-B14F-4D97-AF65-F5344CB8AC3E}">
        <p14:creationId xmlns:p14="http://schemas.microsoft.com/office/powerpoint/2010/main" val="30877684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#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Represent the following integer quantities as sequence of bytes encoded using ASCII characters.</a:t>
            </a:r>
          </a:p>
          <a:p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661793"/>
              </p:ext>
            </p:extLst>
          </p:nvPr>
        </p:nvGraphicFramePr>
        <p:xfrm>
          <a:off x="1677471" y="3182894"/>
          <a:ext cx="1611161" cy="3315516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1611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5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Integer</a:t>
                      </a: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20456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196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1024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32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100015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976675"/>
              </p:ext>
            </p:extLst>
          </p:nvPr>
        </p:nvGraphicFramePr>
        <p:xfrm>
          <a:off x="3288632" y="3182894"/>
          <a:ext cx="4692315" cy="3315516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4692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586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ASCII REPRESENTATION</a:t>
                      </a: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l" fontAlgn="b"/>
                      <a:r>
                        <a:rPr lang="is-IS" sz="2800" u="none" strike="noStrike" dirty="0">
                          <a:effectLst/>
                        </a:rPr>
                        <a:t>50 48 52 53 54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l" fontAlgn="b"/>
                      <a:r>
                        <a:rPr lang="is-IS" sz="2800" u="none" strike="noStrike" dirty="0">
                          <a:effectLst/>
                        </a:rPr>
                        <a:t>49 57 54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l" fontAlgn="b"/>
                      <a:r>
                        <a:rPr lang="is-IS" sz="2800" u="none" strike="noStrike" dirty="0">
                          <a:effectLst/>
                        </a:rPr>
                        <a:t>49 48 50 52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l" fontAlgn="b"/>
                      <a:r>
                        <a:rPr lang="is-IS" sz="2800" u="none" strike="noStrike" dirty="0">
                          <a:effectLst/>
                        </a:rPr>
                        <a:t>51 50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l" fontAlgn="b"/>
                      <a:r>
                        <a:rPr lang="is-IS" sz="2800" u="none" strike="noStrike" dirty="0">
                          <a:effectLst/>
                        </a:rPr>
                        <a:t>49 48 48 48 49 53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595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Representing Non-Negative(Unsigned) Integer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Idea No 2.</a:t>
            </a:r>
          </a:p>
          <a:p>
            <a:pPr lvl="1"/>
            <a:r>
              <a:rPr lang="en-US" sz="2200" dirty="0"/>
              <a:t>Integer quantities can be represented using the idea of place value using binary number system. That is each bit has a place value and total value stored is sum of all the place values included in the number.</a:t>
            </a:r>
          </a:p>
        </p:txBody>
      </p:sp>
    </p:spTree>
    <p:extLst>
      <p:ext uri="{BB962C8B-B14F-4D97-AF65-F5344CB8AC3E}">
        <p14:creationId xmlns:p14="http://schemas.microsoft.com/office/powerpoint/2010/main" val="36923752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Representing Non-Negative(Unsigned) Integer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Problem</a:t>
            </a:r>
          </a:p>
          <a:p>
            <a:pPr lvl="1"/>
            <a:r>
              <a:rPr lang="en-US" sz="2200" dirty="0"/>
              <a:t> A byte has only eight bits and hence we can not represent quantities bigger than 255 in a byte. For processing integer quantities this is an unacceptably low value.</a:t>
            </a:r>
          </a:p>
          <a:p>
            <a:pPr lvl="1"/>
            <a:endParaRPr lang="en-US" sz="2200" dirty="0"/>
          </a:p>
          <a:p>
            <a:r>
              <a:rPr lang="en-US" sz="2400" dirty="0"/>
              <a:t>Solution</a:t>
            </a:r>
          </a:p>
          <a:p>
            <a:pPr lvl="1"/>
            <a:r>
              <a:rPr lang="en-US" sz="2200" dirty="0"/>
              <a:t>Use 2 or more bytes to store an integer quantity</a:t>
            </a:r>
          </a:p>
          <a:p>
            <a:pPr lvl="1"/>
            <a:endParaRPr 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67" y="4842926"/>
            <a:ext cx="7443788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824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# 6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30011"/>
          </a:xfrm>
        </p:spPr>
        <p:txBody>
          <a:bodyPr>
            <a:normAutofit/>
          </a:bodyPr>
          <a:lstStyle/>
          <a:p>
            <a:r>
              <a:rPr lang="en-US" sz="2400" dirty="0"/>
              <a:t>Use 2-Bytes to represent each of the following quantity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What is the Maximum unsigned integer value that can be represented using 2 Bytes?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160118"/>
              </p:ext>
            </p:extLst>
          </p:nvPr>
        </p:nvGraphicFramePr>
        <p:xfrm>
          <a:off x="1503682" y="2153527"/>
          <a:ext cx="1611161" cy="3315516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1611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5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Integer</a:t>
                      </a: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20456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196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1024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32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100015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957123"/>
              </p:ext>
            </p:extLst>
          </p:nvPr>
        </p:nvGraphicFramePr>
        <p:xfrm>
          <a:off x="3114843" y="2153527"/>
          <a:ext cx="4692315" cy="3315516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4692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586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Byte Representation</a:t>
                      </a: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l" fontAlgn="b"/>
                      <a:r>
                        <a:rPr lang="cs-CZ" sz="2800" u="none" strike="noStrike" dirty="0">
                          <a:effectLst/>
                        </a:rPr>
                        <a:t>01001111 11101000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l" fontAlgn="b"/>
                      <a:r>
                        <a:rPr lang="is-IS" sz="2800" u="none" strike="noStrike" dirty="0">
                          <a:effectLst/>
                        </a:rPr>
                        <a:t>00000000 11000100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l" fontAlgn="b"/>
                      <a:r>
                        <a:rPr lang="is-IS" sz="2800" u="none" strike="noStrike" dirty="0">
                          <a:effectLst/>
                        </a:rPr>
                        <a:t>00000100 00000000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l" fontAlgn="b"/>
                      <a:r>
                        <a:rPr lang="is-IS" sz="2800" u="none" strike="noStrike" dirty="0">
                          <a:effectLst/>
                        </a:rPr>
                        <a:t>00000000 0100000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l" fontAlgn="b"/>
                      <a:r>
                        <a:rPr lang="fi-FI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037265" y="5901706"/>
            <a:ext cx="2713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6600"/>
                </a:solidFill>
              </a:rPr>
              <a:t>  (2</a:t>
            </a:r>
            <a:r>
              <a:rPr lang="en-US" sz="2400" baseline="30000" dirty="0">
                <a:solidFill>
                  <a:srgbClr val="FF6600"/>
                </a:solidFill>
              </a:rPr>
              <a:t>16</a:t>
            </a:r>
            <a:r>
              <a:rPr lang="en-US" sz="2400" dirty="0">
                <a:solidFill>
                  <a:srgbClr val="FF6600"/>
                </a:solidFill>
              </a:rPr>
              <a:t> -1) = 65535</a:t>
            </a:r>
          </a:p>
        </p:txBody>
      </p:sp>
    </p:spTree>
    <p:extLst>
      <p:ext uri="{BB962C8B-B14F-4D97-AF65-F5344CB8AC3E}">
        <p14:creationId xmlns:p14="http://schemas.microsoft.com/office/powerpoint/2010/main" val="2472819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# 7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0432"/>
          </a:xfrm>
        </p:spPr>
        <p:txBody>
          <a:bodyPr>
            <a:normAutofit/>
          </a:bodyPr>
          <a:lstStyle/>
          <a:p>
            <a:r>
              <a:rPr lang="en-US" sz="2400" dirty="0"/>
              <a:t>Use 4-Bytes to represent each of the following quantity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What is the Maximum unsigned integer value that can be represented using 4 Bytes?</a:t>
            </a:r>
          </a:p>
          <a:p>
            <a:endParaRPr lang="en-US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964306"/>
              </p:ext>
            </p:extLst>
          </p:nvPr>
        </p:nvGraphicFramePr>
        <p:xfrm>
          <a:off x="1503682" y="2153527"/>
          <a:ext cx="1611161" cy="3315516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1611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5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Integer</a:t>
                      </a: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20456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196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1024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32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100015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333888"/>
              </p:ext>
            </p:extLst>
          </p:nvPr>
        </p:nvGraphicFramePr>
        <p:xfrm>
          <a:off x="3114843" y="2153527"/>
          <a:ext cx="5571957" cy="3315516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5571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586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Byte Representation</a:t>
                      </a: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l" fontAlgn="b"/>
                      <a:r>
                        <a:rPr lang="is-IS" sz="2400" u="none" strike="noStrike" dirty="0">
                          <a:effectLst/>
                        </a:rPr>
                        <a:t>00000000 00000000 </a:t>
                      </a:r>
                      <a:r>
                        <a:rPr lang="cs-CZ" sz="2400" u="none" strike="noStrike" dirty="0">
                          <a:effectLst/>
                        </a:rPr>
                        <a:t>01001111 11101000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l" fontAlgn="b"/>
                      <a:r>
                        <a:rPr lang="is-IS" sz="2400" u="none" strike="noStrike" dirty="0">
                          <a:effectLst/>
                        </a:rPr>
                        <a:t>00000000 00000000 00000000 11000100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l" fontAlgn="b"/>
                      <a:r>
                        <a:rPr lang="is-IS" sz="2400" u="none" strike="noStrike" dirty="0">
                          <a:effectLst/>
                        </a:rPr>
                        <a:t>00000000 00000000 00000100 00000000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l" fontAlgn="b"/>
                      <a:r>
                        <a:rPr lang="is-IS" sz="2400" u="none" strike="noStrike" dirty="0">
                          <a:effectLst/>
                        </a:rPr>
                        <a:t>00000000 00000000 00000000 0100000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l" fontAlgn="b"/>
                      <a:r>
                        <a:rPr lang="is-IS" sz="2400" u="none" strike="noStrike" dirty="0">
                          <a:effectLst/>
                        </a:rPr>
                        <a:t>00000000 0000000</a:t>
                      </a:r>
                      <a:r>
                        <a:rPr lang="fi-FI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1 10000110 10101111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58107" y="5915074"/>
            <a:ext cx="3154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6600"/>
                </a:solidFill>
              </a:rPr>
              <a:t>(2</a:t>
            </a:r>
            <a:r>
              <a:rPr lang="en-US" sz="2400" baseline="30000" dirty="0">
                <a:solidFill>
                  <a:srgbClr val="FF6600"/>
                </a:solidFill>
              </a:rPr>
              <a:t>32</a:t>
            </a:r>
            <a:r>
              <a:rPr lang="en-US" sz="2400" dirty="0">
                <a:solidFill>
                  <a:srgbClr val="FF6600"/>
                </a:solidFill>
              </a:rPr>
              <a:t> -1) = </a:t>
            </a:r>
            <a:r>
              <a:rPr lang="cs-CZ" sz="2400" dirty="0">
                <a:solidFill>
                  <a:srgbClr val="FF6600"/>
                </a:solidFill>
              </a:rPr>
              <a:t>4294967295</a:t>
            </a:r>
            <a:endParaRPr lang="en-US" sz="2400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594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Problem</a:t>
            </a:r>
          </a:p>
          <a:p>
            <a:pPr lvl="1"/>
            <a:r>
              <a:rPr lang="en-US" sz="2200" dirty="0"/>
              <a:t>How can we represent Signed (Both negative and positive) numbers? </a:t>
            </a:r>
          </a:p>
          <a:p>
            <a:endParaRPr lang="en-US" sz="2400" dirty="0"/>
          </a:p>
          <a:p>
            <a:r>
              <a:rPr lang="en-US" sz="2400" dirty="0"/>
              <a:t>Solution</a:t>
            </a:r>
          </a:p>
          <a:p>
            <a:pPr lvl="1"/>
            <a:r>
              <a:rPr lang="en-US" sz="2200" dirty="0"/>
              <a:t>FIX ONE OF THE BIT FOR REPRESENTING SIGN </a:t>
            </a:r>
            <a:br>
              <a:rPr lang="en-US" sz="2200" dirty="0"/>
            </a:br>
            <a:r>
              <a:rPr lang="en-US" sz="2200" dirty="0"/>
              <a:t>(Sign-Magnitude method) </a:t>
            </a:r>
            <a:br>
              <a:rPr lang="en-US" sz="2200" dirty="0"/>
            </a:br>
            <a:endParaRPr lang="en-US" sz="2200" dirty="0"/>
          </a:p>
          <a:p>
            <a:pPr lvl="2"/>
            <a:r>
              <a:rPr lang="is-IS" dirty="0"/>
              <a:t>(01101101)</a:t>
            </a:r>
            <a:r>
              <a:rPr lang="is-IS" sz="1200" baseline="-25000" dirty="0"/>
              <a:t>2</a:t>
            </a:r>
            <a:r>
              <a:rPr lang="is-IS" dirty="0"/>
              <a:t>         =           +(109)</a:t>
            </a:r>
            <a:r>
              <a:rPr lang="is-IS" sz="1200" baseline="-25000" dirty="0"/>
              <a:t>10</a:t>
            </a:r>
            <a:endParaRPr lang="en-US" dirty="0"/>
          </a:p>
          <a:p>
            <a:pPr lvl="2"/>
            <a:r>
              <a:rPr lang="is-IS" dirty="0"/>
              <a:t>(11101101)</a:t>
            </a:r>
            <a:r>
              <a:rPr lang="is-IS" sz="1200" baseline="-25000" dirty="0"/>
              <a:t>2</a:t>
            </a:r>
            <a:r>
              <a:rPr lang="is-IS" dirty="0"/>
              <a:t>         =           -(109)</a:t>
            </a:r>
            <a:r>
              <a:rPr lang="is-IS" sz="1200" baseline="-25000" dirty="0"/>
              <a:t>10</a:t>
            </a:r>
            <a:endParaRPr lang="is-IS" sz="3200" dirty="0"/>
          </a:p>
          <a:p>
            <a:pPr lvl="2"/>
            <a:r>
              <a:rPr lang="is-IS" dirty="0"/>
              <a:t>(00101011)</a:t>
            </a:r>
            <a:r>
              <a:rPr lang="is-IS" sz="1200" baseline="-25000" dirty="0"/>
              <a:t>2</a:t>
            </a:r>
            <a:r>
              <a:rPr lang="is-IS" dirty="0"/>
              <a:t>         =            +(43)</a:t>
            </a:r>
            <a:r>
              <a:rPr lang="is-IS" sz="1200" baseline="-25000" dirty="0"/>
              <a:t>10</a:t>
            </a:r>
            <a:endParaRPr lang="en-US" dirty="0"/>
          </a:p>
          <a:p>
            <a:pPr lvl="2"/>
            <a:r>
              <a:rPr lang="is-IS" dirty="0"/>
              <a:t>(10101011)</a:t>
            </a:r>
            <a:r>
              <a:rPr lang="is-IS" sz="1200" baseline="-25000" dirty="0"/>
              <a:t>2</a:t>
            </a:r>
            <a:r>
              <a:rPr lang="is-IS" dirty="0"/>
              <a:t>         =            -(43)</a:t>
            </a:r>
            <a:r>
              <a:rPr lang="is-IS" sz="1200" baseline="-25000" dirty="0"/>
              <a:t>10</a:t>
            </a:r>
            <a:endParaRPr lang="en-US" sz="4600" dirty="0"/>
          </a:p>
          <a:p>
            <a:pPr lvl="1"/>
            <a:endParaRPr lang="en-US" sz="2200" dirty="0"/>
          </a:p>
          <a:p>
            <a:pPr lvl="1"/>
            <a:endParaRPr lang="en-US" sz="2000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Signed Integer Values</a:t>
            </a:r>
          </a:p>
        </p:txBody>
      </p:sp>
    </p:spTree>
    <p:extLst>
      <p:ext uri="{BB962C8B-B14F-4D97-AF65-F5344CB8AC3E}">
        <p14:creationId xmlns:p14="http://schemas.microsoft.com/office/powerpoint/2010/main" val="60586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706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Represent each of the following quantity in 1-bytes using </a:t>
            </a:r>
            <a:br>
              <a:rPr lang="en-US" sz="2400" dirty="0"/>
            </a:br>
            <a:r>
              <a:rPr lang="en-US" sz="2400" dirty="0"/>
              <a:t>sign-magnitude method.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What is the Maximum signed integer value that can be represented using 1 Byte?  </a:t>
            </a:r>
          </a:p>
          <a:p>
            <a:endParaRPr lang="en-US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463825"/>
              </p:ext>
            </p:extLst>
          </p:nvPr>
        </p:nvGraphicFramePr>
        <p:xfrm>
          <a:off x="1142663" y="2512382"/>
          <a:ext cx="1443860" cy="2476030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1443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52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Integer</a:t>
                      </a:r>
                    </a:p>
                  </a:txBody>
                  <a:tcPr marL="6403" marR="6403" marT="8536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2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500" u="none" strike="noStrike" dirty="0">
                          <a:effectLst/>
                        </a:rPr>
                        <a:t>65536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3" marR="6403" marT="8536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2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500" u="none" strike="noStrike" dirty="0">
                          <a:effectLst/>
                        </a:rPr>
                        <a:t>-64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3" marR="6403" marT="8536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2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5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64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3" marR="6403" marT="8536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2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-110</a:t>
                      </a:r>
                    </a:p>
                  </a:txBody>
                  <a:tcPr marL="6403" marR="6403" marT="8536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209014"/>
              </p:ext>
            </p:extLst>
          </p:nvPr>
        </p:nvGraphicFramePr>
        <p:xfrm>
          <a:off x="2586523" y="2512382"/>
          <a:ext cx="4993372" cy="2476035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4993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5207">
                <a:tc>
                  <a:txBody>
                    <a:bodyPr/>
                    <a:lstStyle/>
                    <a:p>
                      <a:pPr algn="l" fontAlgn="b"/>
                      <a:r>
                        <a:rPr lang="en-US" sz="2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 Byte Representation</a:t>
                      </a:r>
                    </a:p>
                  </a:txBody>
                  <a:tcPr marL="6403" marR="6403" marT="8536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20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u="none" strike="noStrike" dirty="0">
                          <a:effectLst/>
                        </a:rPr>
                        <a:t> ??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3" marR="6403" marT="8536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20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11000000</a:t>
                      </a:r>
                    </a:p>
                  </a:txBody>
                  <a:tcPr marL="6403" marR="6403" marT="8536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207">
                <a:tc>
                  <a:txBody>
                    <a:bodyPr/>
                    <a:lstStyle/>
                    <a:p>
                      <a:pPr algn="l" fontAlgn="b"/>
                      <a:r>
                        <a:rPr lang="is-IS" sz="2100" u="none" strike="noStrike" dirty="0">
                          <a:effectLst/>
                        </a:rPr>
                        <a:t> 01000000 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3" marR="6403" marT="8536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20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10010010</a:t>
                      </a:r>
                    </a:p>
                  </a:txBody>
                  <a:tcPr marL="6403" marR="6403" marT="8536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473160" y="5841097"/>
            <a:ext cx="1978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6600"/>
                </a:solidFill>
              </a:rPr>
              <a:t>(2</a:t>
            </a:r>
            <a:r>
              <a:rPr lang="en-US" sz="2400" baseline="30000" dirty="0">
                <a:solidFill>
                  <a:srgbClr val="FF6600"/>
                </a:solidFill>
              </a:rPr>
              <a:t>8-1</a:t>
            </a:r>
            <a:r>
              <a:rPr lang="en-US" sz="2400" dirty="0">
                <a:solidFill>
                  <a:srgbClr val="FF6600"/>
                </a:solidFill>
              </a:rPr>
              <a:t> -1) = </a:t>
            </a:r>
            <a:r>
              <a:rPr lang="cs-CZ" sz="2400" dirty="0">
                <a:solidFill>
                  <a:srgbClr val="FF6600"/>
                </a:solidFill>
              </a:rPr>
              <a:t>127</a:t>
            </a:r>
            <a:endParaRPr lang="en-US" sz="2400" dirty="0">
              <a:solidFill>
                <a:srgbClr val="FF66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58106" y="5834866"/>
            <a:ext cx="4328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2 Bytes </a:t>
            </a:r>
            <a:r>
              <a:rPr lang="en-US" sz="2400" dirty="0">
                <a:solidFill>
                  <a:srgbClr val="FF6600"/>
                </a:solidFill>
              </a:rPr>
              <a:t>(2</a:t>
            </a:r>
            <a:r>
              <a:rPr lang="en-US" sz="2400" baseline="30000" dirty="0">
                <a:solidFill>
                  <a:srgbClr val="FF6600"/>
                </a:solidFill>
              </a:rPr>
              <a:t>16-1</a:t>
            </a:r>
            <a:r>
              <a:rPr lang="en-US" sz="2400" dirty="0">
                <a:solidFill>
                  <a:srgbClr val="FF6600"/>
                </a:solidFill>
              </a:rPr>
              <a:t> -1) = </a:t>
            </a:r>
            <a:r>
              <a:rPr lang="cs-CZ" sz="2400" dirty="0">
                <a:solidFill>
                  <a:srgbClr val="FF6600"/>
                </a:solidFill>
              </a:rPr>
              <a:t>32767</a:t>
            </a:r>
            <a:endParaRPr lang="en-US" sz="2400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407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Signed Integer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/>
              <a:t>Problem</a:t>
            </a:r>
          </a:p>
          <a:p>
            <a:pPr lvl="1"/>
            <a:r>
              <a:rPr lang="en-US" sz="2200" dirty="0"/>
              <a:t>How can we represent Signed (Both negative and positive) numbers? </a:t>
            </a:r>
          </a:p>
          <a:p>
            <a:r>
              <a:rPr lang="en-US" sz="2600" dirty="0"/>
              <a:t>Use 2’s Complement Representation </a:t>
            </a:r>
          </a:p>
          <a:p>
            <a:pPr lvl="1"/>
            <a:r>
              <a:rPr lang="en-US" sz="2400" b="1" dirty="0"/>
              <a:t>1’s complement  </a:t>
            </a:r>
            <a:r>
              <a:rPr lang="en-US" sz="2400" dirty="0"/>
              <a:t>of a binary number is another binary number obtained by toggling all bits in it, i.e., transforming the 0 bit to 1 and the 1 bit to 0</a:t>
            </a:r>
          </a:p>
          <a:p>
            <a:pPr lvl="2"/>
            <a:r>
              <a:rPr lang="en-US" sz="2000" dirty="0"/>
              <a:t>1's complement of "0111" is "1000" </a:t>
            </a:r>
          </a:p>
          <a:p>
            <a:pPr lvl="2"/>
            <a:r>
              <a:rPr lang="en-US" sz="2000" dirty="0"/>
              <a:t>1's complement of "1100" is "0011"</a:t>
            </a:r>
          </a:p>
          <a:p>
            <a:pPr lvl="1"/>
            <a:r>
              <a:rPr lang="en-US" sz="2400" b="1" dirty="0"/>
              <a:t>2’s complement </a:t>
            </a:r>
            <a:r>
              <a:rPr lang="en-US" sz="2400" dirty="0"/>
              <a:t>of a binary number is 1 added to the 1’s complement of the binary number.</a:t>
            </a:r>
          </a:p>
          <a:p>
            <a:pPr lvl="2"/>
            <a:r>
              <a:rPr lang="en-US" sz="2000" dirty="0"/>
              <a:t>2's complement of "0111" is "1001" </a:t>
            </a:r>
            <a:br>
              <a:rPr lang="en-US" sz="2000" dirty="0"/>
            </a:br>
            <a:r>
              <a:rPr lang="en-US" sz="2000" dirty="0"/>
              <a:t>2's complement of "1100" is "0100"</a:t>
            </a:r>
          </a:p>
          <a:p>
            <a:pPr lvl="1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9201500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7063"/>
          </a:xfrm>
        </p:spPr>
        <p:txBody>
          <a:bodyPr>
            <a:normAutofit/>
          </a:bodyPr>
          <a:lstStyle/>
          <a:p>
            <a:r>
              <a:rPr lang="en-US" sz="2400" dirty="0"/>
              <a:t>Represent each of the following quantity in 2’s Complement method.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005971"/>
              </p:ext>
            </p:extLst>
          </p:nvPr>
        </p:nvGraphicFramePr>
        <p:xfrm>
          <a:off x="1142663" y="2512382"/>
          <a:ext cx="1443860" cy="2971236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1443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52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Integer</a:t>
                      </a:r>
                    </a:p>
                  </a:txBody>
                  <a:tcPr marL="6403" marR="6403" marT="8536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2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500" u="none" strike="noStrike" dirty="0">
                          <a:effectLst/>
                        </a:rPr>
                        <a:t>12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3" marR="6403" marT="8536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2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</a:t>
                      </a:r>
                    </a:p>
                  </a:txBody>
                  <a:tcPr marL="6403" marR="6403" marT="8536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2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-53</a:t>
                      </a:r>
                    </a:p>
                  </a:txBody>
                  <a:tcPr marL="6403" marR="6403" marT="8536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2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5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30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3" marR="6403" marT="8536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2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-110</a:t>
                      </a:r>
                    </a:p>
                  </a:txBody>
                  <a:tcPr marL="6403" marR="6403" marT="8536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054589"/>
              </p:ext>
            </p:extLst>
          </p:nvPr>
        </p:nvGraphicFramePr>
        <p:xfrm>
          <a:off x="2586523" y="2512382"/>
          <a:ext cx="4993372" cy="2971242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4993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5207">
                <a:tc>
                  <a:txBody>
                    <a:bodyPr/>
                    <a:lstStyle/>
                    <a:p>
                      <a:pPr algn="l" fontAlgn="b"/>
                      <a:r>
                        <a:rPr lang="en-US" sz="2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 Byte Representation</a:t>
                      </a:r>
                    </a:p>
                  </a:txBody>
                  <a:tcPr marL="6403" marR="6403" marT="8536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20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u="none" strike="noStrike" dirty="0">
                          <a:effectLst/>
                        </a:rPr>
                        <a:t>00001100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3" marR="6403" marT="8536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20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11110100</a:t>
                      </a:r>
                    </a:p>
                  </a:txBody>
                  <a:tcPr marL="6403" marR="6403" marT="8536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20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11001011</a:t>
                      </a:r>
                    </a:p>
                  </a:txBody>
                  <a:tcPr marL="6403" marR="6403" marT="8536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207">
                <a:tc>
                  <a:txBody>
                    <a:bodyPr/>
                    <a:lstStyle/>
                    <a:p>
                      <a:pPr algn="l" fontAlgn="b"/>
                      <a:r>
                        <a:rPr lang="is-IS" sz="2100" u="none" strike="noStrike" dirty="0">
                          <a:effectLst/>
                        </a:rPr>
                        <a:t>00011110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3" marR="6403" marT="8536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20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10010010</a:t>
                      </a:r>
                    </a:p>
                  </a:txBody>
                  <a:tcPr marL="6403" marR="6403" marT="8536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52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Representation</a:t>
            </a:r>
          </a:p>
        </p:txBody>
      </p:sp>
      <p:pic>
        <p:nvPicPr>
          <p:cNvPr id="5" name="Content Placeholder 4" descr="large (3)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99" b="5199"/>
          <a:stretch>
            <a:fillRect/>
          </a:stretch>
        </p:blipFill>
        <p:spPr>
          <a:xfrm>
            <a:off x="-13368" y="1711159"/>
            <a:ext cx="9358550" cy="5146842"/>
          </a:xfrm>
        </p:spPr>
      </p:pic>
    </p:spTree>
    <p:extLst>
      <p:ext uri="{BB962C8B-B14F-4D97-AF65-F5344CB8AC3E}">
        <p14:creationId xmlns:p14="http://schemas.microsoft.com/office/powerpoint/2010/main" val="33619402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Images in Binary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Graphics on a screen are made up of tiny blocks called </a:t>
            </a:r>
            <a:r>
              <a:rPr lang="en-US" dirty="0">
                <a:solidFill>
                  <a:srgbClr val="FF6600"/>
                </a:solidFill>
              </a:rPr>
              <a:t>pixels</a:t>
            </a:r>
            <a:r>
              <a:rPr lang="en-US" dirty="0"/>
              <a:t>. </a:t>
            </a:r>
          </a:p>
          <a:p>
            <a:r>
              <a:rPr lang="en-US" dirty="0"/>
              <a:t>Each color of an image is stored as a </a:t>
            </a:r>
            <a:r>
              <a:rPr lang="en-US" dirty="0">
                <a:solidFill>
                  <a:srgbClr val="FF6600"/>
                </a:solidFill>
              </a:rPr>
              <a:t>binary number. 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 descr="large (4)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24" y="4013951"/>
            <a:ext cx="5069308" cy="2112212"/>
          </a:xfrm>
          <a:prstGeom prst="rect">
            <a:avLst/>
          </a:prstGeom>
        </p:spPr>
      </p:pic>
      <p:pic>
        <p:nvPicPr>
          <p:cNvPr id="10" name="Picture 9" descr="apps.21542.14021844440207044.bdc96a2b-7306-41db-8c50-416d1e600a8f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900" y="3341521"/>
            <a:ext cx="3168900" cy="316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23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RGBColorModelResiz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237" y="3143132"/>
            <a:ext cx="4067342" cy="3609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RGB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1 bit per pixel (0 or 1): two possible colors</a:t>
            </a:r>
          </a:p>
          <a:p>
            <a:r>
              <a:rPr lang="en-US" sz="2400" dirty="0"/>
              <a:t>2 bits per pixel (00 to 11): four possible colors</a:t>
            </a:r>
          </a:p>
          <a:p>
            <a:r>
              <a:rPr lang="en-US" sz="2400" dirty="0"/>
              <a:t>3 bits per pixel (000 to 111): eight possible colors</a:t>
            </a:r>
          </a:p>
          <a:p>
            <a:r>
              <a:rPr lang="en-US" sz="2400" dirty="0"/>
              <a:t>4 bits per pixel (0000 – 1111): 16 possible colors</a:t>
            </a:r>
          </a:p>
          <a:p>
            <a:pPr marL="0" indent="0" algn="ctr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16 Million Distinct Colors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97304" y="4077384"/>
            <a:ext cx="1363579" cy="4411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0-255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6652" y="4077384"/>
            <a:ext cx="1398337" cy="441158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0-255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4125" y="4077384"/>
            <a:ext cx="1237917" cy="44115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0-255</a:t>
            </a:r>
          </a:p>
        </p:txBody>
      </p:sp>
    </p:spTree>
    <p:extLst>
      <p:ext uri="{BB962C8B-B14F-4D97-AF65-F5344CB8AC3E}">
        <p14:creationId xmlns:p14="http://schemas.microsoft.com/office/powerpoint/2010/main" val="24035568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Sound Representation </a:t>
            </a:r>
          </a:p>
        </p:txBody>
      </p:sp>
      <p:pic>
        <p:nvPicPr>
          <p:cNvPr id="4" name="Content Placeholder 3" descr="large (5)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4" r="279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25702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Sound Representation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61388"/>
            <a:ext cx="8229600" cy="4273061"/>
          </a:xfrm>
        </p:spPr>
      </p:pic>
      <p:pic>
        <p:nvPicPr>
          <p:cNvPr id="3" name="Picture 2" descr="Screen Shot 2018-09-04 at 11.42.20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297" y="1186373"/>
            <a:ext cx="7002379" cy="96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0669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Number Systems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Decimal, Binary, </a:t>
            </a:r>
            <a:r>
              <a:rPr lang="en-US" dirty="0" err="1"/>
              <a:t>Hexa</a:t>
            </a:r>
            <a:r>
              <a:rPr lang="en-US" dirty="0"/>
              <a:t>-Decimal</a:t>
            </a:r>
          </a:p>
        </p:txBody>
      </p:sp>
    </p:spTree>
    <p:extLst>
      <p:ext uri="{BB962C8B-B14F-4D97-AF65-F5344CB8AC3E}">
        <p14:creationId xmlns:p14="http://schemas.microsoft.com/office/powerpoint/2010/main" val="39298314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Common Number Systems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2395638"/>
              </p:ext>
            </p:extLst>
          </p:nvPr>
        </p:nvGraphicFramePr>
        <p:xfrm>
          <a:off x="1065698" y="1772187"/>
          <a:ext cx="6934200" cy="2895602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96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System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Base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Symbols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Used by humans?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Used in computers?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Decimal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0, 1, … 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Binary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0, 1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5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Hexa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-</a:t>
                      </a: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decimal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0, 1, … 9,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A, B, … 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7612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Chart</a:t>
            </a:r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605164"/>
              </p:ext>
            </p:extLst>
          </p:nvPr>
        </p:nvGraphicFramePr>
        <p:xfrm>
          <a:off x="2096086" y="1482893"/>
          <a:ext cx="3492499" cy="4710117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116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3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3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Decimal</a:t>
                      </a:r>
                      <a:endParaRPr kumimoji="1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Binary</a:t>
                      </a:r>
                      <a:endParaRPr kumimoji="1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Hex</a:t>
                      </a:r>
                      <a:endParaRPr kumimoji="1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00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0000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0001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02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0010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03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0011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04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0100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05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0101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06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0110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07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0111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08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09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9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1010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11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1011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12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1100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13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1101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</a:t>
                      </a: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14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1110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15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1111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55538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Conversion Among Bases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possibilities:</a:t>
            </a:r>
          </a:p>
        </p:txBody>
      </p:sp>
      <p:sp>
        <p:nvSpPr>
          <p:cNvPr id="123908" name="Oval 4"/>
          <p:cNvSpPr>
            <a:spLocks noChangeArrowheads="1"/>
          </p:cNvSpPr>
          <p:nvPr/>
        </p:nvSpPr>
        <p:spPr bwMode="auto">
          <a:xfrm>
            <a:off x="5354638" y="4772025"/>
            <a:ext cx="2474912" cy="628650"/>
          </a:xfrm>
          <a:prstGeom prst="ellipse">
            <a:avLst/>
          </a:prstGeom>
          <a:solidFill>
            <a:srgbClr val="FFCC66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/>
              <a:t>Hexadecimal</a:t>
            </a:r>
          </a:p>
        </p:txBody>
      </p:sp>
      <p:sp>
        <p:nvSpPr>
          <p:cNvPr id="123909" name="Oval 5"/>
          <p:cNvSpPr>
            <a:spLocks noChangeArrowheads="1"/>
          </p:cNvSpPr>
          <p:nvPr/>
        </p:nvSpPr>
        <p:spPr bwMode="auto">
          <a:xfrm>
            <a:off x="3177408" y="2485103"/>
            <a:ext cx="2513012" cy="666750"/>
          </a:xfrm>
          <a:prstGeom prst="ellipse">
            <a:avLst/>
          </a:prstGeom>
          <a:solidFill>
            <a:srgbClr val="FFCC66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Decimal</a:t>
            </a:r>
          </a:p>
        </p:txBody>
      </p:sp>
      <p:sp>
        <p:nvSpPr>
          <p:cNvPr id="123911" name="Oval 7"/>
          <p:cNvSpPr>
            <a:spLocks noChangeArrowheads="1"/>
          </p:cNvSpPr>
          <p:nvPr/>
        </p:nvSpPr>
        <p:spPr bwMode="auto">
          <a:xfrm>
            <a:off x="1220788" y="4676775"/>
            <a:ext cx="2513012" cy="666750"/>
          </a:xfrm>
          <a:prstGeom prst="ellipse">
            <a:avLst/>
          </a:prstGeom>
          <a:solidFill>
            <a:srgbClr val="FFCC66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Binary</a:t>
            </a:r>
          </a:p>
        </p:txBody>
      </p:sp>
      <p:sp>
        <p:nvSpPr>
          <p:cNvPr id="123912" name="Line 8"/>
          <p:cNvSpPr>
            <a:spLocks noChangeShapeType="1"/>
          </p:cNvSpPr>
          <p:nvPr/>
        </p:nvSpPr>
        <p:spPr bwMode="auto">
          <a:xfrm flipV="1">
            <a:off x="2477328" y="3259393"/>
            <a:ext cx="1255536" cy="131260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123913" name="Line 9"/>
          <p:cNvSpPr>
            <a:spLocks noChangeShapeType="1"/>
          </p:cNvSpPr>
          <p:nvPr/>
        </p:nvSpPr>
        <p:spPr bwMode="auto">
          <a:xfrm flipH="1" flipV="1">
            <a:off x="5206525" y="3259393"/>
            <a:ext cx="1355757" cy="141738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123917" name="Line 13"/>
          <p:cNvSpPr>
            <a:spLocks noChangeShapeType="1"/>
          </p:cNvSpPr>
          <p:nvPr/>
        </p:nvSpPr>
        <p:spPr bwMode="auto">
          <a:xfrm rot="5400000" flipV="1">
            <a:off x="4572000" y="4448175"/>
            <a:ext cx="0" cy="1219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517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Quick Example</a:t>
            </a:r>
          </a:p>
        </p:txBody>
      </p:sp>
      <p:sp>
        <p:nvSpPr>
          <p:cNvPr id="118787" name="Text Box 3"/>
          <p:cNvSpPr txBox="1">
            <a:spLocks noChangeArrowheads="1"/>
          </p:cNvSpPr>
          <p:nvPr/>
        </p:nvSpPr>
        <p:spPr bwMode="auto">
          <a:xfrm>
            <a:off x="1219200" y="2971800"/>
            <a:ext cx="67056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800" dirty="0"/>
              <a:t>25</a:t>
            </a:r>
            <a:r>
              <a:rPr lang="en-US" sz="4800" baseline="-25000" dirty="0"/>
              <a:t>10</a:t>
            </a:r>
            <a:r>
              <a:rPr lang="en-US" sz="4800" dirty="0"/>
              <a:t> = 11001</a:t>
            </a:r>
            <a:r>
              <a:rPr lang="en-US" sz="4800" baseline="-25000" dirty="0"/>
              <a:t>2</a:t>
            </a:r>
            <a:r>
              <a:rPr lang="en-US" sz="4800" dirty="0"/>
              <a:t> = 19</a:t>
            </a:r>
            <a:r>
              <a:rPr lang="en-US" sz="4800" baseline="-25000" dirty="0"/>
              <a:t>16</a:t>
            </a:r>
          </a:p>
        </p:txBody>
      </p:sp>
      <p:sp>
        <p:nvSpPr>
          <p:cNvPr id="118788" name="AutoShape 4"/>
          <p:cNvSpPr>
            <a:spLocks noChangeArrowheads="1"/>
          </p:cNvSpPr>
          <p:nvPr/>
        </p:nvSpPr>
        <p:spPr bwMode="auto">
          <a:xfrm>
            <a:off x="2133600" y="4495800"/>
            <a:ext cx="1295400" cy="533400"/>
          </a:xfrm>
          <a:prstGeom prst="wedgeRoundRectCallout">
            <a:avLst>
              <a:gd name="adj1" fmla="val -40440"/>
              <a:gd name="adj2" fmla="val -165773"/>
              <a:gd name="adj3" fmla="val 16667"/>
            </a:avLst>
          </a:prstGeom>
          <a:solidFill>
            <a:srgbClr val="FFCC66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dirty="0"/>
              <a:t>Base</a:t>
            </a:r>
          </a:p>
        </p:txBody>
      </p:sp>
    </p:spTree>
    <p:extLst>
      <p:ext uri="{BB962C8B-B14F-4D97-AF65-F5344CB8AC3E}">
        <p14:creationId xmlns:p14="http://schemas.microsoft.com/office/powerpoint/2010/main" val="2147840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6600"/>
                </a:solidFill>
              </a:rPr>
              <a:t>Decimal to Binary</a:t>
            </a:r>
          </a:p>
          <a:p>
            <a:r>
              <a:rPr lang="en-US" dirty="0"/>
              <a:t>Decimal to Hexadecimal</a:t>
            </a:r>
          </a:p>
          <a:p>
            <a:endParaRPr lang="en-US" dirty="0"/>
          </a:p>
          <a:p>
            <a:r>
              <a:rPr lang="en-US" dirty="0"/>
              <a:t>Binary to Decimal </a:t>
            </a:r>
          </a:p>
          <a:p>
            <a:r>
              <a:rPr lang="en-US" dirty="0"/>
              <a:t>Binary to Hexadecimal </a:t>
            </a:r>
          </a:p>
          <a:p>
            <a:endParaRPr lang="en-US" dirty="0"/>
          </a:p>
          <a:p>
            <a:r>
              <a:rPr lang="en-US" dirty="0"/>
              <a:t>Hexadecimal to Decimal</a:t>
            </a:r>
          </a:p>
          <a:p>
            <a:r>
              <a:rPr lang="en-US" dirty="0"/>
              <a:t>Hexadecimal to Binary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3159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to Binary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Technique</a:t>
            </a:r>
          </a:p>
          <a:p>
            <a:pPr lvl="1"/>
            <a:r>
              <a:rPr lang="en-US" dirty="0"/>
              <a:t>Divide by two, keep track of the remainder</a:t>
            </a:r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077495" y="3173687"/>
            <a:ext cx="7169428" cy="3245764"/>
            <a:chOff x="304800" y="1295400"/>
            <a:chExt cx="7969250" cy="3607862"/>
          </a:xfrm>
        </p:grpSpPr>
        <p:sp>
          <p:nvSpPr>
            <p:cNvPr id="5" name="Text Box 1027"/>
            <p:cNvSpPr txBox="1">
              <a:spLocks noChangeArrowheads="1"/>
            </p:cNvSpPr>
            <p:nvPr/>
          </p:nvSpPr>
          <p:spPr bwMode="auto">
            <a:xfrm>
              <a:off x="304800" y="1371600"/>
              <a:ext cx="2057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latin typeface="Courier New" charset="0"/>
                </a:rPr>
                <a:t>125</a:t>
              </a:r>
              <a:r>
                <a:rPr lang="en-US" baseline="-25000" dirty="0">
                  <a:latin typeface="Courier New" charset="0"/>
                </a:rPr>
                <a:t>10</a:t>
              </a:r>
              <a:r>
                <a:rPr lang="en-US" dirty="0">
                  <a:latin typeface="Courier New" charset="0"/>
                </a:rPr>
                <a:t> = ?</a:t>
              </a:r>
              <a:r>
                <a:rPr lang="en-US" baseline="-25000" dirty="0">
                  <a:latin typeface="Courier New" charset="0"/>
                </a:rPr>
                <a:t>2</a:t>
              </a:r>
            </a:p>
          </p:txBody>
        </p:sp>
        <p:grpSp>
          <p:nvGrpSpPr>
            <p:cNvPr id="6" name="Group 1028"/>
            <p:cNvGrpSpPr>
              <a:grpSpLocks/>
            </p:cNvGrpSpPr>
            <p:nvPr/>
          </p:nvGrpSpPr>
          <p:grpSpPr bwMode="auto">
            <a:xfrm>
              <a:off x="3543300" y="1295400"/>
              <a:ext cx="2057400" cy="822325"/>
              <a:chOff x="2232" y="816"/>
              <a:chExt cx="1296" cy="518"/>
            </a:xfrm>
          </p:grpSpPr>
          <p:sp>
            <p:nvSpPr>
              <p:cNvPr id="33" name="Text Box 1029"/>
              <p:cNvSpPr txBox="1">
                <a:spLocks noChangeArrowheads="1"/>
              </p:cNvSpPr>
              <p:nvPr/>
            </p:nvSpPr>
            <p:spPr bwMode="auto">
              <a:xfrm>
                <a:off x="2232" y="816"/>
                <a:ext cx="1296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66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>
                    <a:latin typeface="Courier New" charset="0"/>
                  </a:rPr>
                  <a:t>2 125</a:t>
                </a:r>
                <a:br>
                  <a:rPr lang="en-US">
                    <a:latin typeface="Courier New" charset="0"/>
                  </a:rPr>
                </a:br>
                <a:r>
                  <a:rPr lang="en-US">
                    <a:latin typeface="Courier New" charset="0"/>
                  </a:rPr>
                  <a:t>   62   1</a:t>
                </a:r>
                <a:endParaRPr lang="en-US" baseline="-25000">
                  <a:latin typeface="Courier New" charset="0"/>
                </a:endParaRPr>
              </a:p>
            </p:txBody>
          </p:sp>
          <p:sp>
            <p:nvSpPr>
              <p:cNvPr id="34" name="Line 1030"/>
              <p:cNvSpPr>
                <a:spLocks noChangeShapeType="1"/>
              </p:cNvSpPr>
              <p:nvPr/>
            </p:nvSpPr>
            <p:spPr bwMode="auto">
              <a:xfrm>
                <a:off x="2448" y="864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5" name="Line 1031"/>
              <p:cNvSpPr>
                <a:spLocks noChangeShapeType="1"/>
              </p:cNvSpPr>
              <p:nvPr/>
            </p:nvSpPr>
            <p:spPr bwMode="auto">
              <a:xfrm>
                <a:off x="2448" y="1056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7" name="Group 1032"/>
            <p:cNvGrpSpPr>
              <a:grpSpLocks/>
            </p:cNvGrpSpPr>
            <p:nvPr/>
          </p:nvGrpSpPr>
          <p:grpSpPr bwMode="auto">
            <a:xfrm>
              <a:off x="3543300" y="1676400"/>
              <a:ext cx="2057400" cy="822325"/>
              <a:chOff x="2232" y="1056"/>
              <a:chExt cx="1296" cy="518"/>
            </a:xfrm>
          </p:grpSpPr>
          <p:sp>
            <p:nvSpPr>
              <p:cNvPr id="30" name="Text Box 1033"/>
              <p:cNvSpPr txBox="1">
                <a:spLocks noChangeArrowheads="1"/>
              </p:cNvSpPr>
              <p:nvPr/>
            </p:nvSpPr>
            <p:spPr bwMode="auto">
              <a:xfrm>
                <a:off x="2232" y="1056"/>
                <a:ext cx="1296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66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latin typeface="Courier New" charset="0"/>
                  </a:rPr>
                  <a:t>2    </a:t>
                </a:r>
                <a:br>
                  <a:rPr lang="en-US" dirty="0">
                    <a:latin typeface="Courier New" charset="0"/>
                  </a:rPr>
                </a:br>
                <a:r>
                  <a:rPr lang="en-US" dirty="0">
                    <a:latin typeface="Courier New" charset="0"/>
                  </a:rPr>
                  <a:t>   31   0</a:t>
                </a:r>
                <a:endParaRPr lang="en-US" baseline="-25000" dirty="0">
                  <a:latin typeface="Courier New" charset="0"/>
                </a:endParaRPr>
              </a:p>
            </p:txBody>
          </p:sp>
          <p:sp>
            <p:nvSpPr>
              <p:cNvPr id="31" name="Line 1034"/>
              <p:cNvSpPr>
                <a:spLocks noChangeShapeType="1"/>
              </p:cNvSpPr>
              <p:nvPr/>
            </p:nvSpPr>
            <p:spPr bwMode="auto">
              <a:xfrm>
                <a:off x="2448" y="1104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" name="Line 1035"/>
              <p:cNvSpPr>
                <a:spLocks noChangeShapeType="1"/>
              </p:cNvSpPr>
              <p:nvPr/>
            </p:nvSpPr>
            <p:spPr bwMode="auto">
              <a:xfrm>
                <a:off x="2448" y="1296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8" name="Group 1036"/>
            <p:cNvGrpSpPr>
              <a:grpSpLocks/>
            </p:cNvGrpSpPr>
            <p:nvPr/>
          </p:nvGrpSpPr>
          <p:grpSpPr bwMode="auto">
            <a:xfrm>
              <a:off x="3543300" y="2057400"/>
              <a:ext cx="2057400" cy="822325"/>
              <a:chOff x="2232" y="1296"/>
              <a:chExt cx="1296" cy="518"/>
            </a:xfrm>
          </p:grpSpPr>
          <p:sp>
            <p:nvSpPr>
              <p:cNvPr id="27" name="Text Box 1037"/>
              <p:cNvSpPr txBox="1">
                <a:spLocks noChangeArrowheads="1"/>
              </p:cNvSpPr>
              <p:nvPr/>
            </p:nvSpPr>
            <p:spPr bwMode="auto">
              <a:xfrm>
                <a:off x="2232" y="1296"/>
                <a:ext cx="1296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66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>
                    <a:latin typeface="Courier New" charset="0"/>
                  </a:rPr>
                  <a:t>2    </a:t>
                </a:r>
                <a:br>
                  <a:rPr lang="en-US">
                    <a:latin typeface="Courier New" charset="0"/>
                  </a:rPr>
                </a:br>
                <a:r>
                  <a:rPr lang="en-US">
                    <a:latin typeface="Courier New" charset="0"/>
                  </a:rPr>
                  <a:t>   15   1</a:t>
                </a:r>
                <a:endParaRPr lang="en-US" baseline="-25000">
                  <a:latin typeface="Courier New" charset="0"/>
                </a:endParaRPr>
              </a:p>
            </p:txBody>
          </p:sp>
          <p:sp>
            <p:nvSpPr>
              <p:cNvPr id="28" name="Line 1038"/>
              <p:cNvSpPr>
                <a:spLocks noChangeShapeType="1"/>
              </p:cNvSpPr>
              <p:nvPr/>
            </p:nvSpPr>
            <p:spPr bwMode="auto">
              <a:xfrm>
                <a:off x="2448" y="1344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9" name="Line 1039"/>
              <p:cNvSpPr>
                <a:spLocks noChangeShapeType="1"/>
              </p:cNvSpPr>
              <p:nvPr/>
            </p:nvSpPr>
            <p:spPr bwMode="auto">
              <a:xfrm>
                <a:off x="2448" y="1536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9" name="Group 1040"/>
            <p:cNvGrpSpPr>
              <a:grpSpLocks/>
            </p:cNvGrpSpPr>
            <p:nvPr/>
          </p:nvGrpSpPr>
          <p:grpSpPr bwMode="auto">
            <a:xfrm>
              <a:off x="3527425" y="2451100"/>
              <a:ext cx="2057400" cy="822325"/>
              <a:chOff x="624" y="2112"/>
              <a:chExt cx="1296" cy="518"/>
            </a:xfrm>
          </p:grpSpPr>
          <p:sp>
            <p:nvSpPr>
              <p:cNvPr id="24" name="Text Box 1041"/>
              <p:cNvSpPr txBox="1">
                <a:spLocks noChangeArrowheads="1"/>
              </p:cNvSpPr>
              <p:nvPr/>
            </p:nvSpPr>
            <p:spPr bwMode="auto">
              <a:xfrm>
                <a:off x="624" y="2112"/>
                <a:ext cx="1296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66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>
                    <a:latin typeface="Courier New" charset="0"/>
                  </a:rPr>
                  <a:t>2    </a:t>
                </a:r>
                <a:br>
                  <a:rPr lang="en-US">
                    <a:latin typeface="Courier New" charset="0"/>
                  </a:rPr>
                </a:br>
                <a:r>
                  <a:rPr lang="en-US">
                    <a:latin typeface="Courier New" charset="0"/>
                  </a:rPr>
                  <a:t>    7   1</a:t>
                </a:r>
                <a:endParaRPr lang="en-US" baseline="-25000">
                  <a:latin typeface="Courier New" charset="0"/>
                </a:endParaRPr>
              </a:p>
            </p:txBody>
          </p:sp>
          <p:sp>
            <p:nvSpPr>
              <p:cNvPr id="25" name="Line 1042"/>
              <p:cNvSpPr>
                <a:spLocks noChangeShapeType="1"/>
              </p:cNvSpPr>
              <p:nvPr/>
            </p:nvSpPr>
            <p:spPr bwMode="auto">
              <a:xfrm>
                <a:off x="864" y="2160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" name="Line 1043"/>
              <p:cNvSpPr>
                <a:spLocks noChangeShapeType="1"/>
              </p:cNvSpPr>
              <p:nvPr/>
            </p:nvSpPr>
            <p:spPr bwMode="auto">
              <a:xfrm>
                <a:off x="864" y="2352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1044"/>
            <p:cNvGrpSpPr>
              <a:grpSpLocks/>
            </p:cNvGrpSpPr>
            <p:nvPr/>
          </p:nvGrpSpPr>
          <p:grpSpPr bwMode="auto">
            <a:xfrm>
              <a:off x="3559175" y="2846388"/>
              <a:ext cx="2057400" cy="822325"/>
              <a:chOff x="2232" y="1783"/>
              <a:chExt cx="1296" cy="518"/>
            </a:xfrm>
          </p:grpSpPr>
          <p:sp>
            <p:nvSpPr>
              <p:cNvPr id="21" name="Text Box 1045"/>
              <p:cNvSpPr txBox="1">
                <a:spLocks noChangeArrowheads="1"/>
              </p:cNvSpPr>
              <p:nvPr/>
            </p:nvSpPr>
            <p:spPr bwMode="auto">
              <a:xfrm>
                <a:off x="2232" y="1783"/>
                <a:ext cx="1296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66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>
                    <a:latin typeface="Courier New" charset="0"/>
                  </a:rPr>
                  <a:t>2    </a:t>
                </a:r>
                <a:br>
                  <a:rPr lang="en-US">
                    <a:latin typeface="Courier New" charset="0"/>
                  </a:rPr>
                </a:br>
                <a:r>
                  <a:rPr lang="en-US">
                    <a:latin typeface="Courier New" charset="0"/>
                  </a:rPr>
                  <a:t>    3   1</a:t>
                </a:r>
                <a:endParaRPr lang="en-US" baseline="-25000">
                  <a:latin typeface="Courier New" charset="0"/>
                </a:endParaRPr>
              </a:p>
            </p:txBody>
          </p:sp>
          <p:sp>
            <p:nvSpPr>
              <p:cNvPr id="22" name="Line 1046"/>
              <p:cNvSpPr>
                <a:spLocks noChangeShapeType="1"/>
              </p:cNvSpPr>
              <p:nvPr/>
            </p:nvSpPr>
            <p:spPr bwMode="auto">
              <a:xfrm>
                <a:off x="2448" y="1831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3" name="Line 1047"/>
              <p:cNvSpPr>
                <a:spLocks noChangeShapeType="1"/>
              </p:cNvSpPr>
              <p:nvPr/>
            </p:nvSpPr>
            <p:spPr bwMode="auto">
              <a:xfrm>
                <a:off x="2448" y="2023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1" name="Group 1048"/>
            <p:cNvGrpSpPr>
              <a:grpSpLocks/>
            </p:cNvGrpSpPr>
            <p:nvPr/>
          </p:nvGrpSpPr>
          <p:grpSpPr bwMode="auto">
            <a:xfrm>
              <a:off x="3559175" y="3228975"/>
              <a:ext cx="2057400" cy="822325"/>
              <a:chOff x="2232" y="2976"/>
              <a:chExt cx="1296" cy="518"/>
            </a:xfrm>
          </p:grpSpPr>
          <p:sp>
            <p:nvSpPr>
              <p:cNvPr id="18" name="Text Box 1049"/>
              <p:cNvSpPr txBox="1">
                <a:spLocks noChangeArrowheads="1"/>
              </p:cNvSpPr>
              <p:nvPr/>
            </p:nvSpPr>
            <p:spPr bwMode="auto">
              <a:xfrm>
                <a:off x="2232" y="2976"/>
                <a:ext cx="1296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66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>
                    <a:latin typeface="Courier New" charset="0"/>
                  </a:rPr>
                  <a:t>2    </a:t>
                </a:r>
                <a:br>
                  <a:rPr lang="en-US">
                    <a:latin typeface="Courier New" charset="0"/>
                  </a:rPr>
                </a:br>
                <a:r>
                  <a:rPr lang="en-US">
                    <a:latin typeface="Courier New" charset="0"/>
                  </a:rPr>
                  <a:t>    1   1</a:t>
                </a:r>
                <a:endParaRPr lang="en-US" baseline="-25000">
                  <a:latin typeface="Courier New" charset="0"/>
                </a:endParaRPr>
              </a:p>
            </p:txBody>
          </p:sp>
          <p:sp>
            <p:nvSpPr>
              <p:cNvPr id="19" name="Line 1050"/>
              <p:cNvSpPr>
                <a:spLocks noChangeShapeType="1"/>
              </p:cNvSpPr>
              <p:nvPr/>
            </p:nvSpPr>
            <p:spPr bwMode="auto">
              <a:xfrm>
                <a:off x="2448" y="3001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" name="Line 1051"/>
              <p:cNvSpPr>
                <a:spLocks noChangeShapeType="1"/>
              </p:cNvSpPr>
              <p:nvPr/>
            </p:nvSpPr>
            <p:spPr bwMode="auto">
              <a:xfrm>
                <a:off x="2448" y="3216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2" name="Group 1052"/>
            <p:cNvGrpSpPr>
              <a:grpSpLocks/>
            </p:cNvGrpSpPr>
            <p:nvPr/>
          </p:nvGrpSpPr>
          <p:grpSpPr bwMode="auto">
            <a:xfrm>
              <a:off x="3543300" y="3609975"/>
              <a:ext cx="2057400" cy="822325"/>
              <a:chOff x="2232" y="2284"/>
              <a:chExt cx="1296" cy="518"/>
            </a:xfrm>
          </p:grpSpPr>
          <p:sp>
            <p:nvSpPr>
              <p:cNvPr id="15" name="Text Box 1053"/>
              <p:cNvSpPr txBox="1">
                <a:spLocks noChangeArrowheads="1"/>
              </p:cNvSpPr>
              <p:nvPr/>
            </p:nvSpPr>
            <p:spPr bwMode="auto">
              <a:xfrm>
                <a:off x="2232" y="2284"/>
                <a:ext cx="1296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66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>
                    <a:latin typeface="Courier New" charset="0"/>
                  </a:rPr>
                  <a:t>2    </a:t>
                </a:r>
                <a:br>
                  <a:rPr lang="en-US">
                    <a:latin typeface="Courier New" charset="0"/>
                  </a:rPr>
                </a:br>
                <a:r>
                  <a:rPr lang="en-US">
                    <a:latin typeface="Courier New" charset="0"/>
                  </a:rPr>
                  <a:t>    0   1</a:t>
                </a:r>
                <a:endParaRPr lang="en-US" baseline="-25000">
                  <a:latin typeface="Courier New" charset="0"/>
                </a:endParaRPr>
              </a:p>
            </p:txBody>
          </p:sp>
          <p:sp>
            <p:nvSpPr>
              <p:cNvPr id="16" name="Line 1054"/>
              <p:cNvSpPr>
                <a:spLocks noChangeShapeType="1"/>
              </p:cNvSpPr>
              <p:nvPr/>
            </p:nvSpPr>
            <p:spPr bwMode="auto">
              <a:xfrm>
                <a:off x="2448" y="2332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" name="Line 1055"/>
              <p:cNvSpPr>
                <a:spLocks noChangeShapeType="1"/>
              </p:cNvSpPr>
              <p:nvPr/>
            </p:nvSpPr>
            <p:spPr bwMode="auto">
              <a:xfrm>
                <a:off x="2448" y="2524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3" name="Text Box 1056"/>
            <p:cNvSpPr txBox="1">
              <a:spLocks noChangeArrowheads="1"/>
            </p:cNvSpPr>
            <p:nvPr/>
          </p:nvSpPr>
          <p:spPr bwMode="auto">
            <a:xfrm>
              <a:off x="4997450" y="4446062"/>
              <a:ext cx="3276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latin typeface="Courier New" charset="0"/>
                </a:rPr>
                <a:t>125</a:t>
              </a:r>
              <a:r>
                <a:rPr lang="en-US" baseline="-25000" dirty="0">
                  <a:latin typeface="Courier New" charset="0"/>
                </a:rPr>
                <a:t>10</a:t>
              </a:r>
              <a:r>
                <a:rPr lang="en-US" dirty="0">
                  <a:latin typeface="Courier New" charset="0"/>
                </a:rPr>
                <a:t> = 1111101</a:t>
              </a:r>
              <a:r>
                <a:rPr lang="en-US" baseline="-25000" dirty="0">
                  <a:latin typeface="Courier New" charset="0"/>
                </a:rPr>
                <a:t>2</a:t>
              </a:r>
            </a:p>
          </p:txBody>
        </p:sp>
        <p:sp>
          <p:nvSpPr>
            <p:cNvPr id="14" name="Freeform 1057"/>
            <p:cNvSpPr>
              <a:spLocks/>
            </p:cNvSpPr>
            <p:nvPr/>
          </p:nvSpPr>
          <p:spPr bwMode="auto">
            <a:xfrm>
              <a:off x="5454650" y="1828801"/>
              <a:ext cx="2167116" cy="2748455"/>
            </a:xfrm>
            <a:custGeom>
              <a:avLst/>
              <a:gdLst>
                <a:gd name="T0" fmla="*/ 0 w 1776"/>
                <a:gd name="T1" fmla="*/ 0 h 2064"/>
                <a:gd name="T2" fmla="*/ 1036 w 1776"/>
                <a:gd name="T3" fmla="*/ 408 h 2064"/>
                <a:gd name="T4" fmla="*/ 1776 w 1776"/>
                <a:gd name="T5" fmla="*/ 2064 h 2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76" h="2064">
                  <a:moveTo>
                    <a:pt x="0" y="0"/>
                  </a:moveTo>
                  <a:cubicBezTo>
                    <a:pt x="173" y="68"/>
                    <a:pt x="740" y="64"/>
                    <a:pt x="1036" y="408"/>
                  </a:cubicBezTo>
                  <a:cubicBezTo>
                    <a:pt x="1332" y="752"/>
                    <a:pt x="1622" y="1719"/>
                    <a:pt x="1776" y="2064"/>
                  </a:cubicBezTo>
                </a:path>
              </a:pathLst>
            </a:custGeom>
            <a:noFill/>
            <a:ln w="5715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263221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Decimal to Binary</a:t>
            </a:r>
          </a:p>
          <a:p>
            <a:r>
              <a:rPr lang="en-US" dirty="0">
                <a:solidFill>
                  <a:srgbClr val="FF6600"/>
                </a:solidFill>
              </a:rPr>
              <a:t>Decimal to Hexadecimal</a:t>
            </a:r>
          </a:p>
          <a:p>
            <a:endParaRPr lang="en-US" dirty="0"/>
          </a:p>
          <a:p>
            <a:r>
              <a:rPr lang="en-US" dirty="0"/>
              <a:t>Binary to Decimal </a:t>
            </a:r>
          </a:p>
          <a:p>
            <a:r>
              <a:rPr lang="en-US" dirty="0"/>
              <a:t>Binary to Hexadecimal </a:t>
            </a:r>
          </a:p>
          <a:p>
            <a:endParaRPr lang="en-US" dirty="0"/>
          </a:p>
          <a:p>
            <a:r>
              <a:rPr lang="en-US" dirty="0"/>
              <a:t>Hexadecimal to Decimal</a:t>
            </a:r>
          </a:p>
          <a:p>
            <a:r>
              <a:rPr lang="en-US" dirty="0"/>
              <a:t>Hexadecimal to Binary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6261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Decimal to Hexadecimal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Numbers having base 16</a:t>
            </a:r>
          </a:p>
          <a:p>
            <a:r>
              <a:rPr lang="en-US" dirty="0"/>
              <a:t>Possible digits are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Technique</a:t>
            </a:r>
          </a:p>
          <a:p>
            <a:pPr lvl="1"/>
            <a:r>
              <a:rPr lang="en-US" dirty="0"/>
              <a:t>Divide by 16</a:t>
            </a:r>
          </a:p>
          <a:p>
            <a:pPr lvl="1"/>
            <a:r>
              <a:rPr lang="en-US" dirty="0"/>
              <a:t>Keep track of the remainder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41408"/>
              </p:ext>
            </p:extLst>
          </p:nvPr>
        </p:nvGraphicFramePr>
        <p:xfrm>
          <a:off x="253992" y="2894261"/>
          <a:ext cx="8863272" cy="12216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7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78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8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78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8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78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787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78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787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787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787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8787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8787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8787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581526">
                <a:tc>
                  <a:txBody>
                    <a:bodyPr/>
                    <a:lstStyle/>
                    <a:p>
                      <a:r>
                        <a:rPr lang="en-US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Hexa</a:t>
                      </a:r>
                      <a:r>
                        <a:rPr lang="en-US" dirty="0"/>
                        <a:t> Decimal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9252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Decimal to Hexadecimal</a:t>
            </a:r>
          </a:p>
        </p:txBody>
      </p:sp>
      <p:sp>
        <p:nvSpPr>
          <p:cNvPr id="156675" name="Text Box 3"/>
          <p:cNvSpPr txBox="1">
            <a:spLocks noChangeArrowheads="1"/>
          </p:cNvSpPr>
          <p:nvPr/>
        </p:nvSpPr>
        <p:spPr bwMode="auto">
          <a:xfrm>
            <a:off x="304800" y="1371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latin typeface="Courier New" charset="0"/>
              </a:rPr>
              <a:t>1234</a:t>
            </a:r>
            <a:r>
              <a:rPr lang="en-US" baseline="-25000" dirty="0">
                <a:latin typeface="Courier New" charset="0"/>
              </a:rPr>
              <a:t>10</a:t>
            </a:r>
            <a:r>
              <a:rPr lang="en-US" dirty="0">
                <a:latin typeface="Courier New" charset="0"/>
              </a:rPr>
              <a:t> = ?</a:t>
            </a:r>
            <a:r>
              <a:rPr lang="en-US" baseline="-25000" dirty="0">
                <a:latin typeface="Courier New" charset="0"/>
              </a:rPr>
              <a:t>16</a:t>
            </a:r>
          </a:p>
        </p:txBody>
      </p:sp>
      <p:sp>
        <p:nvSpPr>
          <p:cNvPr id="156676" name="Text Box 4"/>
          <p:cNvSpPr txBox="1">
            <a:spLocks noChangeArrowheads="1"/>
          </p:cNvSpPr>
          <p:nvPr/>
        </p:nvSpPr>
        <p:spPr bwMode="auto">
          <a:xfrm>
            <a:off x="6019800" y="50292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latin typeface="Courier New" charset="0"/>
              </a:rPr>
              <a:t>1234</a:t>
            </a:r>
            <a:r>
              <a:rPr lang="en-US" baseline="-25000" dirty="0">
                <a:latin typeface="Courier New" charset="0"/>
              </a:rPr>
              <a:t>10</a:t>
            </a:r>
            <a:r>
              <a:rPr lang="en-US" dirty="0">
                <a:latin typeface="Courier New" charset="0"/>
              </a:rPr>
              <a:t> = 4D2</a:t>
            </a:r>
            <a:r>
              <a:rPr lang="en-US" baseline="-25000" dirty="0">
                <a:latin typeface="Courier New" charset="0"/>
              </a:rPr>
              <a:t>16</a:t>
            </a:r>
          </a:p>
        </p:txBody>
      </p:sp>
      <p:sp>
        <p:nvSpPr>
          <p:cNvPr id="156677" name="Freeform 5"/>
          <p:cNvSpPr>
            <a:spLocks/>
          </p:cNvSpPr>
          <p:nvPr/>
        </p:nvSpPr>
        <p:spPr bwMode="auto">
          <a:xfrm>
            <a:off x="5660231" y="2830010"/>
            <a:ext cx="2395538" cy="2211387"/>
          </a:xfrm>
          <a:custGeom>
            <a:avLst/>
            <a:gdLst>
              <a:gd name="T0" fmla="*/ 0 w 1509"/>
              <a:gd name="T1" fmla="*/ 75 h 1393"/>
              <a:gd name="T2" fmla="*/ 1038 w 1509"/>
              <a:gd name="T3" fmla="*/ 220 h 1393"/>
              <a:gd name="T4" fmla="*/ 1509 w 1509"/>
              <a:gd name="T5" fmla="*/ 1393 h 13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9" h="1393">
                <a:moveTo>
                  <a:pt x="0" y="75"/>
                </a:moveTo>
                <a:cubicBezTo>
                  <a:pt x="173" y="99"/>
                  <a:pt x="787" y="0"/>
                  <a:pt x="1038" y="220"/>
                </a:cubicBezTo>
                <a:cubicBezTo>
                  <a:pt x="1302" y="436"/>
                  <a:pt x="1411" y="1149"/>
                  <a:pt x="1509" y="1393"/>
                </a:cubicBezTo>
              </a:path>
            </a:pathLst>
          </a:cu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156678" name="Group 6"/>
          <p:cNvGrpSpPr>
            <a:grpSpLocks/>
          </p:cNvGrpSpPr>
          <p:nvPr/>
        </p:nvGrpSpPr>
        <p:grpSpPr bwMode="auto">
          <a:xfrm>
            <a:off x="3276600" y="2352675"/>
            <a:ext cx="3581400" cy="1593850"/>
            <a:chOff x="2064" y="1482"/>
            <a:chExt cx="2256" cy="1004"/>
          </a:xfrm>
        </p:grpSpPr>
        <p:sp>
          <p:nvSpPr>
            <p:cNvPr id="156679" name="Text Box 7"/>
            <p:cNvSpPr txBox="1">
              <a:spLocks noChangeArrowheads="1"/>
            </p:cNvSpPr>
            <p:nvPr/>
          </p:nvSpPr>
          <p:spPr bwMode="auto">
            <a:xfrm>
              <a:off x="2064" y="1482"/>
              <a:ext cx="1555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7432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32004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6576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41148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latin typeface="Courier New" charset="0"/>
                </a:rPr>
                <a:t>16  1234</a:t>
              </a:r>
            </a:p>
            <a:p>
              <a:r>
                <a:rPr lang="en-US">
                  <a:latin typeface="Courier New" charset="0"/>
                </a:rPr>
                <a:t>      77   2</a:t>
              </a:r>
            </a:p>
          </p:txBody>
        </p:sp>
        <p:sp>
          <p:nvSpPr>
            <p:cNvPr id="156680" name="Line 8"/>
            <p:cNvSpPr>
              <a:spLocks noChangeShapeType="1"/>
            </p:cNvSpPr>
            <p:nvPr/>
          </p:nvSpPr>
          <p:spPr bwMode="auto">
            <a:xfrm>
              <a:off x="2488" y="1536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6681" name="Line 9"/>
            <p:cNvSpPr>
              <a:spLocks noChangeShapeType="1"/>
            </p:cNvSpPr>
            <p:nvPr/>
          </p:nvSpPr>
          <p:spPr bwMode="auto">
            <a:xfrm>
              <a:off x="2488" y="1728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156682" name="Group 10"/>
            <p:cNvGrpSpPr>
              <a:grpSpLocks/>
            </p:cNvGrpSpPr>
            <p:nvPr/>
          </p:nvGrpSpPr>
          <p:grpSpPr bwMode="auto">
            <a:xfrm>
              <a:off x="2084" y="1726"/>
              <a:ext cx="2236" cy="518"/>
              <a:chOff x="2084" y="1726"/>
              <a:chExt cx="2236" cy="518"/>
            </a:xfrm>
          </p:grpSpPr>
          <p:sp>
            <p:nvSpPr>
              <p:cNvPr id="156683" name="Text Box 11"/>
              <p:cNvSpPr txBox="1">
                <a:spLocks noChangeArrowheads="1"/>
              </p:cNvSpPr>
              <p:nvPr/>
            </p:nvSpPr>
            <p:spPr bwMode="auto">
              <a:xfrm>
                <a:off x="2084" y="1726"/>
                <a:ext cx="2236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66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marL="457200" indent="-4572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1pPr>
                <a:lvl2pPr marL="914400" indent="-4572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 marL="1371600" indent="-4572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 marL="1828800" indent="-4572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 marL="2286000" indent="-4572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marL="2743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marL="3200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marL="36576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marL="41148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r>
                  <a:rPr lang="en-US">
                    <a:latin typeface="Courier New" charset="0"/>
                  </a:rPr>
                  <a:t>16</a:t>
                </a:r>
              </a:p>
              <a:p>
                <a:r>
                  <a:rPr lang="en-US">
                    <a:latin typeface="Courier New" charset="0"/>
                  </a:rPr>
                  <a:t>       4   13 = D</a:t>
                </a:r>
              </a:p>
            </p:txBody>
          </p:sp>
          <p:sp>
            <p:nvSpPr>
              <p:cNvPr id="156684" name="Line 12"/>
              <p:cNvSpPr>
                <a:spLocks noChangeShapeType="1"/>
              </p:cNvSpPr>
              <p:nvPr/>
            </p:nvSpPr>
            <p:spPr bwMode="auto">
              <a:xfrm>
                <a:off x="2478" y="1780"/>
                <a:ext cx="1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6685" name="Line 13"/>
              <p:cNvSpPr>
                <a:spLocks noChangeShapeType="1"/>
              </p:cNvSpPr>
              <p:nvPr/>
            </p:nvSpPr>
            <p:spPr bwMode="auto">
              <a:xfrm>
                <a:off x="2478" y="1966"/>
                <a:ext cx="654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56686" name="Group 14"/>
            <p:cNvGrpSpPr>
              <a:grpSpLocks/>
            </p:cNvGrpSpPr>
            <p:nvPr/>
          </p:nvGrpSpPr>
          <p:grpSpPr bwMode="auto">
            <a:xfrm>
              <a:off x="2084" y="1968"/>
              <a:ext cx="2236" cy="518"/>
              <a:chOff x="2084" y="1726"/>
              <a:chExt cx="2236" cy="518"/>
            </a:xfrm>
          </p:grpSpPr>
          <p:sp>
            <p:nvSpPr>
              <p:cNvPr id="156687" name="Text Box 15"/>
              <p:cNvSpPr txBox="1">
                <a:spLocks noChangeArrowheads="1"/>
              </p:cNvSpPr>
              <p:nvPr/>
            </p:nvSpPr>
            <p:spPr bwMode="auto">
              <a:xfrm>
                <a:off x="2084" y="1726"/>
                <a:ext cx="2236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66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marL="457200" indent="-4572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1pPr>
                <a:lvl2pPr marL="914400" indent="-4572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 marL="1371600" indent="-4572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 marL="1828800" indent="-4572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 marL="2286000" indent="-4572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marL="2743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marL="3200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marL="36576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marL="41148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r>
                  <a:rPr lang="en-US">
                    <a:latin typeface="Courier New" charset="0"/>
                  </a:rPr>
                  <a:t>16</a:t>
                </a:r>
              </a:p>
              <a:p>
                <a:r>
                  <a:rPr lang="en-US">
                    <a:latin typeface="Courier New" charset="0"/>
                  </a:rPr>
                  <a:t>       0   4</a:t>
                </a:r>
              </a:p>
            </p:txBody>
          </p:sp>
          <p:sp>
            <p:nvSpPr>
              <p:cNvPr id="156688" name="Line 16"/>
              <p:cNvSpPr>
                <a:spLocks noChangeShapeType="1"/>
              </p:cNvSpPr>
              <p:nvPr/>
            </p:nvSpPr>
            <p:spPr bwMode="auto">
              <a:xfrm>
                <a:off x="2478" y="1780"/>
                <a:ext cx="1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6689" name="Line 17"/>
              <p:cNvSpPr>
                <a:spLocks noChangeShapeType="1"/>
              </p:cNvSpPr>
              <p:nvPr/>
            </p:nvSpPr>
            <p:spPr bwMode="auto">
              <a:xfrm>
                <a:off x="2478" y="1966"/>
                <a:ext cx="654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00614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6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6" grpId="0" build="p" autoUpdateAnimBg="0"/>
      <p:bldP spid="15667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Decimal to Binary</a:t>
            </a:r>
          </a:p>
          <a:p>
            <a:r>
              <a:rPr lang="en-US" dirty="0"/>
              <a:t>Decimal to Hexadecimal</a:t>
            </a:r>
          </a:p>
          <a:p>
            <a:endParaRPr lang="en-US" dirty="0"/>
          </a:p>
          <a:p>
            <a:r>
              <a:rPr lang="en-US" dirty="0">
                <a:solidFill>
                  <a:srgbClr val="FF6600"/>
                </a:solidFill>
              </a:rPr>
              <a:t>Binary to Decimal </a:t>
            </a:r>
          </a:p>
          <a:p>
            <a:r>
              <a:rPr lang="en-US" dirty="0"/>
              <a:t>Binary to Hexadecimal </a:t>
            </a:r>
          </a:p>
          <a:p>
            <a:endParaRPr lang="en-US" dirty="0"/>
          </a:p>
          <a:p>
            <a:r>
              <a:rPr lang="en-US" dirty="0"/>
              <a:t>Hexadecimal to Decimal</a:t>
            </a:r>
          </a:p>
          <a:p>
            <a:r>
              <a:rPr lang="en-US" dirty="0"/>
              <a:t>Hexadecimal to Binary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6261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to Decimal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Technique</a:t>
            </a:r>
          </a:p>
          <a:p>
            <a:pPr lvl="1"/>
            <a:r>
              <a:rPr lang="en-US" dirty="0"/>
              <a:t>Multiply each bit by 2</a:t>
            </a:r>
            <a:r>
              <a:rPr lang="en-US" sz="2900" i="1" baseline="30000" dirty="0"/>
              <a:t>n</a:t>
            </a:r>
            <a:r>
              <a:rPr lang="en-US" dirty="0"/>
              <a:t>, where </a:t>
            </a:r>
            <a:r>
              <a:rPr lang="en-US" i="1" dirty="0"/>
              <a:t>n</a:t>
            </a:r>
            <a:r>
              <a:rPr lang="en-US" dirty="0"/>
              <a:t> is the </a:t>
            </a:r>
            <a:r>
              <a:rPr lang="ja-JP" altLang="en-US" dirty="0">
                <a:latin typeface="Arial"/>
              </a:rPr>
              <a:t>“</a:t>
            </a:r>
            <a:r>
              <a:rPr lang="en-US" dirty="0"/>
              <a:t>weight</a:t>
            </a:r>
            <a:r>
              <a:rPr lang="ja-JP" altLang="en-US" dirty="0">
                <a:latin typeface="Arial"/>
              </a:rPr>
              <a:t>”</a:t>
            </a:r>
            <a:r>
              <a:rPr lang="en-US" dirty="0"/>
              <a:t> of the bit</a:t>
            </a:r>
          </a:p>
          <a:p>
            <a:pPr lvl="1"/>
            <a:r>
              <a:rPr lang="en-US" dirty="0"/>
              <a:t>The weight is the position of the bit, starting from 0 on the right</a:t>
            </a:r>
          </a:p>
          <a:p>
            <a:pPr lvl="1"/>
            <a:r>
              <a:rPr lang="en-US" dirty="0"/>
              <a:t>Add the results</a:t>
            </a:r>
          </a:p>
        </p:txBody>
      </p:sp>
    </p:spTree>
    <p:extLst>
      <p:ext uri="{BB962C8B-B14F-4D97-AF65-F5344CB8AC3E}">
        <p14:creationId xmlns:p14="http://schemas.microsoft.com/office/powerpoint/2010/main" val="11191103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Binary to Decimal</a:t>
            </a:r>
          </a:p>
        </p:txBody>
      </p:sp>
      <p:sp>
        <p:nvSpPr>
          <p:cNvPr id="132099" name="Text Box 3"/>
          <p:cNvSpPr txBox="1">
            <a:spLocks noChangeArrowheads="1"/>
          </p:cNvSpPr>
          <p:nvPr/>
        </p:nvSpPr>
        <p:spPr bwMode="auto">
          <a:xfrm>
            <a:off x="1828800" y="2242754"/>
            <a:ext cx="6629400" cy="371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4492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defTabSz="4492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defTabSz="4492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defTabSz="4492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defTabSz="4492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defTabSz="4492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defTabSz="4492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defTabSz="4492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defTabSz="4492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latin typeface="Courier New" charset="0"/>
              </a:rPr>
              <a:t>101011</a:t>
            </a:r>
            <a:r>
              <a:rPr lang="en-US" baseline="-25000" dirty="0">
                <a:latin typeface="Courier New" charset="0"/>
              </a:rPr>
              <a:t>2</a:t>
            </a:r>
            <a:r>
              <a:rPr lang="en-US" dirty="0">
                <a:latin typeface="Courier New" charset="0"/>
              </a:rPr>
              <a:t> =&gt; 	1 x 2</a:t>
            </a:r>
            <a:r>
              <a:rPr lang="en-US" baseline="30000" dirty="0">
                <a:latin typeface="Courier New" charset="0"/>
              </a:rPr>
              <a:t>0</a:t>
            </a:r>
            <a:r>
              <a:rPr lang="en-US" dirty="0">
                <a:latin typeface="Courier New" charset="0"/>
              </a:rPr>
              <a:t> = 	 1</a:t>
            </a:r>
            <a:br>
              <a:rPr lang="en-US" dirty="0">
                <a:latin typeface="Courier New" charset="0"/>
              </a:rPr>
            </a:br>
            <a:r>
              <a:rPr lang="en-US" dirty="0">
                <a:latin typeface="Courier New" charset="0"/>
              </a:rPr>
              <a:t>					1 x 2</a:t>
            </a:r>
            <a:r>
              <a:rPr lang="en-US" baseline="30000" dirty="0">
                <a:latin typeface="Courier New" charset="0"/>
              </a:rPr>
              <a:t>1</a:t>
            </a:r>
            <a:r>
              <a:rPr lang="en-US" dirty="0">
                <a:latin typeface="Courier New" charset="0"/>
              </a:rPr>
              <a:t> =	 2</a:t>
            </a:r>
            <a:br>
              <a:rPr lang="en-US" dirty="0">
                <a:latin typeface="Courier New" charset="0"/>
              </a:rPr>
            </a:br>
            <a:r>
              <a:rPr lang="en-US" dirty="0">
                <a:latin typeface="Courier New" charset="0"/>
              </a:rPr>
              <a:t>					0 x 2</a:t>
            </a:r>
            <a:r>
              <a:rPr lang="en-US" baseline="30000" dirty="0">
                <a:latin typeface="Courier New" charset="0"/>
              </a:rPr>
              <a:t>2</a:t>
            </a:r>
            <a:r>
              <a:rPr lang="en-US" dirty="0">
                <a:latin typeface="Courier New" charset="0"/>
              </a:rPr>
              <a:t> = 	 0</a:t>
            </a:r>
            <a:br>
              <a:rPr lang="en-US" dirty="0">
                <a:latin typeface="Courier New" charset="0"/>
              </a:rPr>
            </a:br>
            <a:r>
              <a:rPr lang="en-US" dirty="0">
                <a:latin typeface="Courier New" charset="0"/>
              </a:rPr>
              <a:t>					1 x 2</a:t>
            </a:r>
            <a:r>
              <a:rPr lang="en-US" baseline="30000" dirty="0">
                <a:latin typeface="Courier New" charset="0"/>
              </a:rPr>
              <a:t>3</a:t>
            </a:r>
            <a:r>
              <a:rPr lang="en-US" dirty="0">
                <a:latin typeface="Courier New" charset="0"/>
              </a:rPr>
              <a:t> = 	 8</a:t>
            </a:r>
            <a:br>
              <a:rPr lang="en-US" dirty="0">
                <a:latin typeface="Courier New" charset="0"/>
              </a:rPr>
            </a:br>
            <a:r>
              <a:rPr lang="en-US" dirty="0">
                <a:latin typeface="Courier New" charset="0"/>
              </a:rPr>
              <a:t>					0 x 2</a:t>
            </a:r>
            <a:r>
              <a:rPr lang="en-US" baseline="30000" dirty="0">
                <a:latin typeface="Courier New" charset="0"/>
              </a:rPr>
              <a:t>4</a:t>
            </a:r>
            <a:r>
              <a:rPr lang="en-US" dirty="0">
                <a:latin typeface="Courier New" charset="0"/>
              </a:rPr>
              <a:t> =	 0</a:t>
            </a:r>
            <a:br>
              <a:rPr lang="en-US" dirty="0">
                <a:latin typeface="Courier New" charset="0"/>
              </a:rPr>
            </a:br>
            <a:r>
              <a:rPr lang="en-US" dirty="0">
                <a:latin typeface="Courier New" charset="0"/>
              </a:rPr>
              <a:t>					1 x 2</a:t>
            </a:r>
            <a:r>
              <a:rPr lang="en-US" baseline="30000" dirty="0">
                <a:latin typeface="Courier New" charset="0"/>
              </a:rPr>
              <a:t>5</a:t>
            </a:r>
            <a:r>
              <a:rPr lang="en-US" dirty="0">
                <a:latin typeface="Courier New" charset="0"/>
              </a:rPr>
              <a:t> = 	32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Courier New" charset="0"/>
              </a:rPr>
              <a:t>									43</a:t>
            </a:r>
            <a:r>
              <a:rPr lang="en-US" baseline="-25000" dirty="0">
                <a:latin typeface="Courier New" charset="0"/>
              </a:rPr>
              <a:t>10</a:t>
            </a:r>
            <a:r>
              <a:rPr lang="en-US" dirty="0">
                <a:latin typeface="Courier New" charset="0"/>
              </a:rPr>
              <a:t>	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Courier New" charset="0"/>
              </a:rPr>
              <a:t>		</a:t>
            </a:r>
          </a:p>
        </p:txBody>
      </p:sp>
      <p:sp>
        <p:nvSpPr>
          <p:cNvPr id="132100" name="Line 4"/>
          <p:cNvSpPr>
            <a:spLocks noChangeShapeType="1"/>
          </p:cNvSpPr>
          <p:nvPr/>
        </p:nvSpPr>
        <p:spPr bwMode="auto">
          <a:xfrm>
            <a:off x="5867400" y="4724400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2103" name="AutoShape 7"/>
          <p:cNvSpPr>
            <a:spLocks noChangeArrowheads="1"/>
          </p:cNvSpPr>
          <p:nvPr/>
        </p:nvSpPr>
        <p:spPr bwMode="auto">
          <a:xfrm>
            <a:off x="2025650" y="1266825"/>
            <a:ext cx="1371600" cy="685800"/>
          </a:xfrm>
          <a:prstGeom prst="wedgeRoundRectCallout">
            <a:avLst>
              <a:gd name="adj1" fmla="val 15972"/>
              <a:gd name="adj2" fmla="val 125000"/>
              <a:gd name="adj3" fmla="val 16667"/>
            </a:avLst>
          </a:prstGeom>
          <a:solidFill>
            <a:srgbClr val="FFCC66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/>
              <a:t>Bit </a:t>
            </a:r>
            <a:r>
              <a:rPr lang="ja-JP" altLang="en-US">
                <a:latin typeface="Arial"/>
              </a:rPr>
              <a:t>“</a:t>
            </a:r>
            <a:r>
              <a:rPr lang="en-US"/>
              <a:t>0</a:t>
            </a:r>
            <a:r>
              <a:rPr lang="ja-JP" altLang="en-US">
                <a:latin typeface="Arial"/>
              </a:rPr>
              <a:t>”</a:t>
            </a:r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011834"/>
              </p:ext>
            </p:extLst>
          </p:nvPr>
        </p:nvGraphicFramePr>
        <p:xfrm>
          <a:off x="2219158" y="5447632"/>
          <a:ext cx="4438316" cy="1097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76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6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74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3518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518"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51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32+8+2+1 = 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603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Decimal to Binary</a:t>
            </a:r>
          </a:p>
          <a:p>
            <a:r>
              <a:rPr lang="en-US" dirty="0"/>
              <a:t>Decimal to Hexadecimal</a:t>
            </a:r>
          </a:p>
          <a:p>
            <a:endParaRPr lang="en-US" dirty="0"/>
          </a:p>
          <a:p>
            <a:r>
              <a:rPr lang="en-US" dirty="0"/>
              <a:t>Binary to Decimal </a:t>
            </a:r>
          </a:p>
          <a:p>
            <a:r>
              <a:rPr lang="en-US" dirty="0">
                <a:solidFill>
                  <a:srgbClr val="FF6600"/>
                </a:solidFill>
              </a:rPr>
              <a:t>Binary to Hexadecimal </a:t>
            </a:r>
          </a:p>
          <a:p>
            <a:endParaRPr lang="en-US" dirty="0"/>
          </a:p>
          <a:p>
            <a:r>
              <a:rPr lang="en-US" dirty="0"/>
              <a:t>Hexadecimal to Decimal</a:t>
            </a:r>
          </a:p>
          <a:p>
            <a:r>
              <a:rPr lang="en-US" dirty="0"/>
              <a:t>Hexadecimal to Binary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6261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to Hexadecimal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Technique</a:t>
            </a:r>
          </a:p>
          <a:p>
            <a:pPr lvl="1"/>
            <a:r>
              <a:rPr lang="en-US" dirty="0"/>
              <a:t>Group bits in fours, starting on right</a:t>
            </a:r>
          </a:p>
          <a:p>
            <a:pPr lvl="1"/>
            <a:r>
              <a:rPr lang="en-US" dirty="0"/>
              <a:t>Convert to hexadecimal digits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38216"/>
            <a:ext cx="8470900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3623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Decimal to Binary</a:t>
            </a:r>
          </a:p>
          <a:p>
            <a:r>
              <a:rPr lang="en-US" dirty="0"/>
              <a:t>Decimal to Hexadecimal</a:t>
            </a:r>
          </a:p>
          <a:p>
            <a:endParaRPr lang="en-US" dirty="0"/>
          </a:p>
          <a:p>
            <a:r>
              <a:rPr lang="en-US" dirty="0"/>
              <a:t>Binary to Decimal </a:t>
            </a:r>
          </a:p>
          <a:p>
            <a:r>
              <a:rPr lang="en-US" dirty="0"/>
              <a:t>Binary to Hexadecimal </a:t>
            </a:r>
          </a:p>
          <a:p>
            <a:endParaRPr lang="en-US" dirty="0"/>
          </a:p>
          <a:p>
            <a:r>
              <a:rPr lang="en-US" dirty="0">
                <a:solidFill>
                  <a:srgbClr val="FF6600"/>
                </a:solidFill>
              </a:rPr>
              <a:t>Hexadecimal to Decimal</a:t>
            </a:r>
          </a:p>
          <a:p>
            <a:r>
              <a:rPr lang="en-US" dirty="0"/>
              <a:t>Hexadecimal to Binary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6261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Hexadecimal to Decimal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Technique</a:t>
            </a:r>
          </a:p>
          <a:p>
            <a:pPr lvl="1"/>
            <a:r>
              <a:rPr lang="en-US"/>
              <a:t>Multiply each bit by 16</a:t>
            </a:r>
            <a:r>
              <a:rPr lang="en-US" sz="2900" i="1" baseline="30000"/>
              <a:t>n</a:t>
            </a:r>
            <a:r>
              <a:rPr lang="en-US"/>
              <a:t>, where </a:t>
            </a:r>
            <a:r>
              <a:rPr lang="en-US" i="1"/>
              <a:t>n</a:t>
            </a:r>
            <a:r>
              <a:rPr lang="en-US"/>
              <a:t> is the </a:t>
            </a:r>
            <a:r>
              <a:rPr lang="ja-JP" altLang="en-US">
                <a:latin typeface="Arial"/>
              </a:rPr>
              <a:t>“</a:t>
            </a:r>
            <a:r>
              <a:rPr lang="en-US"/>
              <a:t>weight</a:t>
            </a:r>
            <a:r>
              <a:rPr lang="ja-JP" altLang="en-US">
                <a:latin typeface="Arial"/>
              </a:rPr>
              <a:t>”</a:t>
            </a:r>
            <a:r>
              <a:rPr lang="en-US"/>
              <a:t> of the bit</a:t>
            </a:r>
          </a:p>
          <a:p>
            <a:pPr lvl="1"/>
            <a:r>
              <a:rPr lang="en-US"/>
              <a:t>The weight is the position of the bit, starting from 0 on the right</a:t>
            </a:r>
          </a:p>
          <a:p>
            <a:pPr lvl="1"/>
            <a:r>
              <a:rPr lang="en-US"/>
              <a:t>Add the results</a:t>
            </a:r>
          </a:p>
        </p:txBody>
      </p:sp>
    </p:spTree>
    <p:extLst>
      <p:ext uri="{BB962C8B-B14F-4D97-AF65-F5344CB8AC3E}">
        <p14:creationId xmlns:p14="http://schemas.microsoft.com/office/powerpoint/2010/main" val="18932828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41315" name="Text Box 3"/>
          <p:cNvSpPr txBox="1">
            <a:spLocks noChangeArrowheads="1"/>
          </p:cNvSpPr>
          <p:nvPr/>
        </p:nvSpPr>
        <p:spPr bwMode="auto">
          <a:xfrm>
            <a:off x="1219200" y="2760663"/>
            <a:ext cx="708660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Courier New" charset="0"/>
              </a:rPr>
              <a:t>ABC</a:t>
            </a:r>
            <a:r>
              <a:rPr lang="en-US" baseline="-25000" dirty="0">
                <a:latin typeface="Courier New" charset="0"/>
              </a:rPr>
              <a:t>16</a:t>
            </a:r>
            <a:r>
              <a:rPr lang="en-US" dirty="0">
                <a:latin typeface="Courier New" charset="0"/>
              </a:rPr>
              <a:t> =&gt;	  C x 16</a:t>
            </a:r>
            <a:r>
              <a:rPr lang="en-US" baseline="30000" dirty="0">
                <a:latin typeface="Courier New" charset="0"/>
              </a:rPr>
              <a:t>0</a:t>
            </a:r>
            <a:r>
              <a:rPr lang="en-US" dirty="0">
                <a:latin typeface="Courier New" charset="0"/>
              </a:rPr>
              <a:t> = 12 x   1 =   12</a:t>
            </a:r>
            <a:br>
              <a:rPr lang="en-US" dirty="0">
                <a:latin typeface="Courier New" charset="0"/>
              </a:rPr>
            </a:br>
            <a:r>
              <a:rPr lang="en-US" dirty="0">
                <a:latin typeface="Courier New" charset="0"/>
              </a:rPr>
              <a:t>       	  B x 16</a:t>
            </a:r>
            <a:r>
              <a:rPr lang="en-US" baseline="30000" dirty="0">
                <a:latin typeface="Courier New" charset="0"/>
              </a:rPr>
              <a:t>1</a:t>
            </a:r>
            <a:r>
              <a:rPr lang="en-US" dirty="0">
                <a:latin typeface="Courier New" charset="0"/>
              </a:rPr>
              <a:t> = 11 x  16 =  176</a:t>
            </a:r>
            <a:br>
              <a:rPr lang="en-US" dirty="0">
                <a:latin typeface="Courier New" charset="0"/>
              </a:rPr>
            </a:br>
            <a:r>
              <a:rPr lang="en-US" dirty="0">
                <a:latin typeface="Courier New" charset="0"/>
              </a:rPr>
              <a:t> 		   </a:t>
            </a:r>
            <a:r>
              <a:rPr lang="en-US" sz="1600" dirty="0">
                <a:latin typeface="Courier New" charset="0"/>
              </a:rPr>
              <a:t>  </a:t>
            </a:r>
            <a:r>
              <a:rPr lang="en-US" sz="1100" dirty="0">
                <a:latin typeface="Courier New" charset="0"/>
              </a:rPr>
              <a:t> </a:t>
            </a:r>
            <a:r>
              <a:rPr lang="en-US" dirty="0">
                <a:latin typeface="Courier New" charset="0"/>
              </a:rPr>
              <a:t>A x 16</a:t>
            </a:r>
            <a:r>
              <a:rPr lang="en-US" baseline="30000" dirty="0">
                <a:latin typeface="Courier New" charset="0"/>
              </a:rPr>
              <a:t>2</a:t>
            </a:r>
            <a:r>
              <a:rPr lang="en-US" dirty="0">
                <a:latin typeface="Courier New" charset="0"/>
              </a:rPr>
              <a:t> = 10 x 256 = 2560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Courier New" charset="0"/>
              </a:rPr>
              <a:t>		                          2748</a:t>
            </a:r>
            <a:r>
              <a:rPr lang="en-US" baseline="-25000" dirty="0">
                <a:latin typeface="Courier New" charset="0"/>
              </a:rPr>
              <a:t>10</a:t>
            </a:r>
          </a:p>
        </p:txBody>
      </p:sp>
      <p:sp>
        <p:nvSpPr>
          <p:cNvPr id="141316" name="Line 4"/>
          <p:cNvSpPr>
            <a:spLocks noChangeShapeType="1"/>
          </p:cNvSpPr>
          <p:nvPr/>
        </p:nvSpPr>
        <p:spPr bwMode="auto">
          <a:xfrm>
            <a:off x="5638800" y="3704975"/>
            <a:ext cx="1143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219200" y="1925052"/>
            <a:ext cx="1477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charset="0"/>
              </a:rPr>
              <a:t>ABC</a:t>
            </a:r>
            <a:r>
              <a:rPr lang="en-US" baseline="-25000" dirty="0">
                <a:latin typeface="Courier New" charset="0"/>
              </a:rPr>
              <a:t>16 </a:t>
            </a:r>
            <a:r>
              <a:rPr lang="en-US" dirty="0">
                <a:latin typeface="Courier New" charset="0"/>
              </a:rPr>
              <a:t>= ?</a:t>
            </a:r>
            <a:r>
              <a:rPr lang="en-US" baseline="-25000" dirty="0">
                <a:latin typeface="Courier New" charset="0"/>
              </a:rPr>
              <a:t>10 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62852"/>
              </p:ext>
            </p:extLst>
          </p:nvPr>
        </p:nvGraphicFramePr>
        <p:xfrm>
          <a:off x="2300704" y="4764455"/>
          <a:ext cx="5105401" cy="14630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921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6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3518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16</a:t>
                      </a:r>
                      <a:r>
                        <a:rPr lang="en-US" baseline="30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16</a:t>
                      </a:r>
                      <a:r>
                        <a:rPr lang="en-US" baseline="30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  <a:r>
                        <a:rPr lang="en-US" baseline="30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518">
                <a:tc>
                  <a:txBody>
                    <a:bodyPr/>
                    <a:lstStyle/>
                    <a:p>
                      <a:r>
                        <a:rPr lang="en-US" dirty="0"/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518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518">
                <a:tc>
                  <a:txBody>
                    <a:bodyPr/>
                    <a:lstStyle/>
                    <a:p>
                      <a:r>
                        <a:rPr lang="en-US" dirty="0"/>
                        <a:t>256X10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16X11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2560+176+12=2748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92052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Decimal to Binary</a:t>
            </a:r>
          </a:p>
          <a:p>
            <a:r>
              <a:rPr lang="en-US" dirty="0"/>
              <a:t>Decimal to Hexadecimal</a:t>
            </a:r>
          </a:p>
          <a:p>
            <a:endParaRPr lang="en-US" dirty="0"/>
          </a:p>
          <a:p>
            <a:r>
              <a:rPr lang="en-US" dirty="0"/>
              <a:t>Binary to Decimal </a:t>
            </a:r>
          </a:p>
          <a:p>
            <a:r>
              <a:rPr lang="en-US" dirty="0"/>
              <a:t>Binary to Hexadecimal </a:t>
            </a:r>
          </a:p>
          <a:p>
            <a:endParaRPr lang="en-US" dirty="0"/>
          </a:p>
          <a:p>
            <a:r>
              <a:rPr lang="en-US" dirty="0"/>
              <a:t>Hexadecimal to Decimal</a:t>
            </a:r>
          </a:p>
          <a:p>
            <a:r>
              <a:rPr lang="en-US" dirty="0">
                <a:solidFill>
                  <a:srgbClr val="FF6600"/>
                </a:solidFill>
              </a:rPr>
              <a:t>Hexadecimal to Binary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6261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Hexadecimal to Binary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Technique</a:t>
            </a:r>
          </a:p>
          <a:p>
            <a:pPr lvl="1"/>
            <a:r>
              <a:rPr lang="en-US" dirty="0"/>
              <a:t>Convert each hexadecimal digit to a 4-bit equivalent binary representation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790700" y="3521242"/>
            <a:ext cx="5377448" cy="2962442"/>
            <a:chOff x="1790700" y="2040021"/>
            <a:chExt cx="5377448" cy="2962442"/>
          </a:xfrm>
        </p:grpSpPr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1790700" y="2040021"/>
              <a:ext cx="2057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latin typeface="Courier New" charset="0"/>
                </a:rPr>
                <a:t>10AF</a:t>
              </a:r>
              <a:r>
                <a:rPr lang="en-US" baseline="-25000" dirty="0">
                  <a:latin typeface="Courier New" charset="0"/>
                </a:rPr>
                <a:t>16</a:t>
              </a:r>
              <a:r>
                <a:rPr lang="en-US" dirty="0">
                  <a:latin typeface="Courier New" charset="0"/>
                </a:rPr>
                <a:t> = ?</a:t>
              </a:r>
              <a:r>
                <a:rPr lang="en-US" baseline="-25000" dirty="0">
                  <a:latin typeface="Courier New" charset="0"/>
                </a:rPr>
                <a:t>2</a:t>
              </a:r>
            </a:p>
          </p:txBody>
        </p:sp>
        <p:grpSp>
          <p:nvGrpSpPr>
            <p:cNvPr id="7" name="Group 4"/>
            <p:cNvGrpSpPr>
              <a:grpSpLocks/>
            </p:cNvGrpSpPr>
            <p:nvPr/>
          </p:nvGrpSpPr>
          <p:grpSpPr bwMode="auto">
            <a:xfrm>
              <a:off x="2819400" y="2667000"/>
              <a:ext cx="3810000" cy="1552575"/>
              <a:chOff x="2208" y="1680"/>
              <a:chExt cx="2400" cy="978"/>
            </a:xfrm>
          </p:grpSpPr>
          <p:sp>
            <p:nvSpPr>
              <p:cNvPr id="9" name="Text Box 5"/>
              <p:cNvSpPr txBox="1">
                <a:spLocks noChangeArrowheads="1"/>
              </p:cNvSpPr>
              <p:nvPr/>
            </p:nvSpPr>
            <p:spPr bwMode="auto">
              <a:xfrm>
                <a:off x="2208" y="1680"/>
                <a:ext cx="2400" cy="9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66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marL="457200" indent="-4572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1pPr>
                <a:lvl2pPr marL="914400" indent="-4572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 marL="1371600" indent="-4572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 marL="1828800" indent="-4572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 marL="2286000" indent="-4572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marL="2743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marL="3200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marL="36576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marL="41148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>
                    <a:latin typeface="Courier New" charset="0"/>
                  </a:rPr>
                  <a:t> 1    0    A    F</a:t>
                </a:r>
              </a:p>
              <a:p>
                <a:pPr>
                  <a:spcBef>
                    <a:spcPct val="50000"/>
                  </a:spcBef>
                </a:pPr>
                <a:endParaRPr lang="en-US">
                  <a:latin typeface="Courier New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en-US">
                    <a:latin typeface="Courier New" charset="0"/>
                  </a:rPr>
                  <a:t>0001 0000 1010 1111</a:t>
                </a:r>
              </a:p>
            </p:txBody>
          </p:sp>
          <p:sp>
            <p:nvSpPr>
              <p:cNvPr id="10" name="Line 6"/>
              <p:cNvSpPr>
                <a:spLocks noChangeShapeType="1"/>
              </p:cNvSpPr>
              <p:nvPr/>
            </p:nvSpPr>
            <p:spPr bwMode="auto">
              <a:xfrm>
                <a:off x="2448" y="1968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bg1">
                    <a:lumMod val="50000"/>
                  </a:schemeClr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" name="Line 7"/>
              <p:cNvSpPr>
                <a:spLocks noChangeShapeType="1"/>
              </p:cNvSpPr>
              <p:nvPr/>
            </p:nvSpPr>
            <p:spPr bwMode="auto">
              <a:xfrm>
                <a:off x="3024" y="1968"/>
                <a:ext cx="0" cy="384"/>
              </a:xfrm>
              <a:prstGeom prst="line">
                <a:avLst/>
              </a:prstGeom>
              <a:noFill/>
              <a:ln w="57150">
                <a:solidFill>
                  <a:srgbClr val="7F7F7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" name="Line 8"/>
              <p:cNvSpPr>
                <a:spLocks noChangeShapeType="1"/>
              </p:cNvSpPr>
              <p:nvPr/>
            </p:nvSpPr>
            <p:spPr bwMode="auto">
              <a:xfrm>
                <a:off x="3600" y="1968"/>
                <a:ext cx="0" cy="384"/>
              </a:xfrm>
              <a:prstGeom prst="line">
                <a:avLst/>
              </a:prstGeom>
              <a:noFill/>
              <a:ln w="57150">
                <a:solidFill>
                  <a:srgbClr val="7F7F7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" name="Line 9"/>
              <p:cNvSpPr>
                <a:spLocks noChangeShapeType="1"/>
              </p:cNvSpPr>
              <p:nvPr/>
            </p:nvSpPr>
            <p:spPr bwMode="auto">
              <a:xfrm>
                <a:off x="4224" y="1968"/>
                <a:ext cx="0" cy="384"/>
              </a:xfrm>
              <a:prstGeom prst="line">
                <a:avLst/>
              </a:prstGeom>
              <a:noFill/>
              <a:ln w="57150">
                <a:solidFill>
                  <a:srgbClr val="7F7F7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2367548" y="4545263"/>
              <a:ext cx="480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latin typeface="Courier New" charset="0"/>
                </a:rPr>
                <a:t>10AF</a:t>
              </a:r>
              <a:r>
                <a:rPr lang="en-US" baseline="-25000" dirty="0">
                  <a:latin typeface="Courier New" charset="0"/>
                </a:rPr>
                <a:t>16</a:t>
              </a:r>
              <a:r>
                <a:rPr lang="en-US" dirty="0">
                  <a:latin typeface="Courier New" charset="0"/>
                </a:rPr>
                <a:t> = 0001000010101111</a:t>
              </a:r>
              <a:r>
                <a:rPr lang="en-US" baseline="-25000" dirty="0">
                  <a:latin typeface="Courier New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66058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Group 4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442451"/>
              </p:ext>
            </p:extLst>
          </p:nvPr>
        </p:nvGraphicFramePr>
        <p:xfrm>
          <a:off x="1865799" y="1975464"/>
          <a:ext cx="5143500" cy="26416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1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Decimal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Binary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Hexa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-</a:t>
                      </a:r>
                      <a:b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</a:b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decimal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1110101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1AF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34276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4748"/>
            <a:ext cx="9144000" cy="1417638"/>
          </a:xfrm>
        </p:spPr>
        <p:txBody>
          <a:bodyPr/>
          <a:lstStyle/>
          <a:p>
            <a:r>
              <a:rPr lang="en-US" dirty="0"/>
              <a:t>Answer</a:t>
            </a:r>
          </a:p>
        </p:txBody>
      </p:sp>
      <p:graphicFrame>
        <p:nvGraphicFramePr>
          <p:cNvPr id="4" name="Group 4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4801879"/>
              </p:ext>
            </p:extLst>
          </p:nvPr>
        </p:nvGraphicFramePr>
        <p:xfrm>
          <a:off x="1865799" y="1975464"/>
          <a:ext cx="5143500" cy="26416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1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Decimal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Binary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Hexa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-</a:t>
                      </a:r>
                      <a:b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</a:b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decimal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100001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117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1110101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431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110101111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1AF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64561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716924"/>
          </a:xfrm>
        </p:spPr>
        <p:txBody>
          <a:bodyPr>
            <a:normAutofit fontScale="90000"/>
          </a:bodyPr>
          <a:lstStyle/>
          <a:p>
            <a:r>
              <a:rPr lang="en-US" dirty="0"/>
              <a:t> Activity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880743"/>
              </p:ext>
            </p:extLst>
          </p:nvPr>
        </p:nvGraphicFramePr>
        <p:xfrm>
          <a:off x="608526" y="1326524"/>
          <a:ext cx="7960632" cy="4958575"/>
        </p:xfrm>
        <a:graphic>
          <a:graphicData uri="http://schemas.openxmlformats.org/drawingml/2006/table">
            <a:tbl>
              <a:tblPr firstRow="1" firstCol="1" bandRow="1">
                <a:tableStyleId>{10A1B5D5-9B99-4C35-A422-299274C87663}</a:tableStyleId>
              </a:tblPr>
              <a:tblGrid>
                <a:gridCol w="487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4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85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1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Information in File 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Coded Information in File 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953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Your NUCES ID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Coded using ASCII Codes </a:t>
                      </a:r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(one eight bit code for each ASCII character)</a:t>
                      </a:r>
                      <a:endParaRPr lang="en-US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953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Your Full Name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Name Coded using ASCII Codes </a:t>
                      </a:r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(Do remember to code the blank space as well)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62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Father's Name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Coded using ASCII Codes 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34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4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Marks in </a:t>
                      </a:r>
                      <a:r>
                        <a:rPr lang="en-US" sz="1800" dirty="0" err="1">
                          <a:effectLst/>
                        </a:rPr>
                        <a:t>F.Sc</a:t>
                      </a:r>
                      <a:r>
                        <a:rPr lang="en-US" sz="1800" dirty="0">
                          <a:effectLst/>
                        </a:rPr>
                        <a:t>.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Coded using 16 bit unsigned code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7021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Your favorite Color from the following list.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 err="1">
                          <a:effectLst/>
                        </a:rPr>
                        <a:t>i</a:t>
                      </a:r>
                      <a:r>
                        <a:rPr lang="en-US" sz="1800" dirty="0">
                          <a:effectLst/>
                        </a:rPr>
                        <a:t>) Pure Red, ii) Pure Green iii) Pure Blue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Coded as 24 bit RGB color space using 8-bit for each of the R, G and B components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61902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Some information has been coded in the ten bytes given above. Decode the information in each of the following cases</a:t>
            </a:r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Case 1: if these bytes contain characters coded using extended-ASCII or ANSI coding standard</a:t>
            </a:r>
          </a:p>
          <a:p>
            <a:pPr lvl="1"/>
            <a:r>
              <a:rPr lang="en-US" sz="2200" dirty="0"/>
              <a:t>Case 2: if the bytes contain 5 integer values each stored using two byte unsigned integer representation.</a:t>
            </a:r>
          </a:p>
          <a:p>
            <a:pPr lvl="1"/>
            <a:r>
              <a:rPr lang="en-US" sz="2200" dirty="0"/>
              <a:t>Case 3: if the bytes contain 5 integer values each stored using two byte signed integers represented using sign-magnitude method.</a:t>
            </a:r>
          </a:p>
          <a:p>
            <a:pPr lvl="1"/>
            <a:endParaRPr lang="en-US" sz="2200" dirty="0"/>
          </a:p>
          <a:p>
            <a:pPr marL="457200" lvl="1" indent="0">
              <a:buNone/>
            </a:pPr>
            <a:endParaRPr lang="en-US" sz="2200" dirty="0"/>
          </a:p>
        </p:txBody>
      </p:sp>
      <p:sp>
        <p:nvSpPr>
          <p:cNvPr id="4" name="Rectangle 3"/>
          <p:cNvSpPr/>
          <p:nvPr/>
        </p:nvSpPr>
        <p:spPr>
          <a:xfrm>
            <a:off x="574842" y="5802406"/>
            <a:ext cx="823494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b="1" dirty="0">
                <a:solidFill>
                  <a:srgbClr val="000000"/>
                </a:solidFill>
                <a:latin typeface="Calibri" panose="020F0502020204030204" pitchFamily="34" charset="0"/>
              </a:rPr>
              <a:t>10010011</a:t>
            </a:r>
            <a:r>
              <a:rPr lang="en-US" sz="2100" b="1" dirty="0"/>
              <a:t> </a:t>
            </a:r>
            <a:r>
              <a:rPr lang="en-US" sz="2100" b="1" dirty="0">
                <a:solidFill>
                  <a:srgbClr val="000000"/>
                </a:solidFill>
                <a:latin typeface="Calibri" panose="020F0502020204030204" pitchFamily="34" charset="0"/>
              </a:rPr>
              <a:t>01001101</a:t>
            </a:r>
            <a:r>
              <a:rPr lang="en-US" sz="2100" b="1" dirty="0"/>
              <a:t> </a:t>
            </a:r>
            <a:r>
              <a:rPr lang="en-US" sz="2100" b="1" dirty="0">
                <a:solidFill>
                  <a:srgbClr val="000000"/>
                </a:solidFill>
                <a:latin typeface="Calibri" panose="020F0502020204030204" pitchFamily="34" charset="0"/>
              </a:rPr>
              <a:t>01000101</a:t>
            </a:r>
            <a:r>
              <a:rPr lang="en-US" sz="2100" b="1" dirty="0"/>
              <a:t> </a:t>
            </a:r>
            <a:r>
              <a:rPr lang="en-US" sz="2100" b="1" dirty="0">
                <a:solidFill>
                  <a:srgbClr val="000000"/>
                </a:solidFill>
                <a:latin typeface="Calibri" panose="020F0502020204030204" pitchFamily="34" charset="0"/>
              </a:rPr>
              <a:t>01010011</a:t>
            </a:r>
            <a:r>
              <a:rPr lang="en-US" sz="2100" b="1" dirty="0"/>
              <a:t> </a:t>
            </a:r>
            <a:r>
              <a:rPr lang="en-US" sz="2100" b="1" dirty="0">
                <a:solidFill>
                  <a:srgbClr val="000000"/>
                </a:solidFill>
                <a:latin typeface="Calibri" panose="020F0502020204030204" pitchFamily="34" charset="0"/>
              </a:rPr>
              <a:t>01010011</a:t>
            </a:r>
            <a:r>
              <a:rPr lang="en-US" sz="2100" b="1" dirty="0"/>
              <a:t> </a:t>
            </a:r>
            <a:r>
              <a:rPr lang="en-US" sz="2100" b="1" dirty="0">
                <a:solidFill>
                  <a:srgbClr val="000000"/>
                </a:solidFill>
                <a:latin typeface="Calibri" panose="020F0502020204030204" pitchFamily="34" charset="0"/>
              </a:rPr>
              <a:t>01000001</a:t>
            </a:r>
            <a:r>
              <a:rPr lang="en-US" sz="2100" b="1" dirty="0"/>
              <a:t> </a:t>
            </a:r>
            <a:r>
              <a:rPr lang="en-US" sz="2100" b="1" dirty="0">
                <a:solidFill>
                  <a:srgbClr val="000000"/>
                </a:solidFill>
                <a:latin typeface="Calibri" panose="020F0502020204030204" pitchFamily="34" charset="0"/>
              </a:rPr>
              <a:t>01000111</a:t>
            </a:r>
            <a:r>
              <a:rPr lang="en-US" sz="2100" b="1" dirty="0"/>
              <a:t> </a:t>
            </a:r>
            <a:r>
              <a:rPr lang="en-US" sz="2100" b="1" dirty="0">
                <a:solidFill>
                  <a:srgbClr val="000000"/>
                </a:solidFill>
                <a:latin typeface="Calibri" panose="020F0502020204030204" pitchFamily="34" charset="0"/>
              </a:rPr>
              <a:t>01000101</a:t>
            </a:r>
            <a:r>
              <a:rPr lang="en-US" sz="2100" b="1" dirty="0"/>
              <a:t> </a:t>
            </a:r>
            <a:r>
              <a:rPr lang="en-US" sz="2100" b="1" dirty="0">
                <a:solidFill>
                  <a:srgbClr val="000000"/>
                </a:solidFill>
                <a:latin typeface="Calibri" panose="020F0502020204030204" pitchFamily="34" charset="0"/>
              </a:rPr>
              <a:t>10010100</a:t>
            </a:r>
            <a:r>
              <a:rPr lang="en-US" sz="2100" b="1" dirty="0"/>
              <a:t> </a:t>
            </a:r>
            <a:r>
              <a:rPr lang="en-US" sz="2100" b="1" dirty="0">
                <a:solidFill>
                  <a:srgbClr val="000000"/>
                </a:solidFill>
                <a:latin typeface="Calibri" panose="020F0502020204030204" pitchFamily="34" charset="0"/>
              </a:rPr>
              <a:t>00101110</a:t>
            </a:r>
            <a:r>
              <a:rPr lang="en-US" sz="21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19658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How to represent Real Numbers? </a:t>
            </a:r>
          </a:p>
          <a:p>
            <a:pPr lvl="1"/>
            <a:r>
              <a:rPr lang="en-US" sz="2400" dirty="0"/>
              <a:t>Fixed point representation.</a:t>
            </a:r>
          </a:p>
          <a:p>
            <a:pPr lvl="1"/>
            <a:r>
              <a:rPr lang="en-US" sz="2400" dirty="0"/>
              <a:t>Floating Point </a:t>
            </a:r>
            <a:r>
              <a:rPr lang="en-US" sz="2400"/>
              <a:t>Representation.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555647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Play a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https://games.penjee.com/binary-numbers-game/</a:t>
            </a:r>
          </a:p>
        </p:txBody>
      </p:sp>
    </p:spTree>
    <p:extLst>
      <p:ext uri="{BB962C8B-B14F-4D97-AF65-F5344CB8AC3E}">
        <p14:creationId xmlns:p14="http://schemas.microsoft.com/office/powerpoint/2010/main" val="42002935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linkClick r:id="rId2"/>
              </a:rPr>
              <a:t>https://www.youtube.com/watch?v=1GSjbWt0c9M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https://www.khanacademy.org/computing/computer-science/how-computers-work2/v/khan-academy-and-codeorg-introducing-how-computers-work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=ptzGI9VaZmQ</a:t>
            </a:r>
          </a:p>
        </p:txBody>
      </p:sp>
    </p:spTree>
    <p:extLst>
      <p:ext uri="{BB962C8B-B14F-4D97-AF65-F5344CB8AC3E}">
        <p14:creationId xmlns:p14="http://schemas.microsoft.com/office/powerpoint/2010/main" val="41725204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5040982"/>
            <a:ext cx="7772400" cy="147002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6" name="Picture 5" descr="WallpaperStudio10-7245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781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1816</TotalTime>
  <Words>2583</Words>
  <Application>Microsoft Office PowerPoint</Application>
  <PresentationFormat>On-screen Show (4:3)</PresentationFormat>
  <Paragraphs>697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2" baseType="lpstr">
      <vt:lpstr>Arial</vt:lpstr>
      <vt:lpstr>Calibri</vt:lpstr>
      <vt:lpstr>Courier New</vt:lpstr>
      <vt:lpstr>Tahoma</vt:lpstr>
      <vt:lpstr>Times New Roman</vt:lpstr>
      <vt:lpstr>Wingdings</vt:lpstr>
      <vt:lpstr>Wingdings 2</vt:lpstr>
      <vt:lpstr>Office Theme</vt:lpstr>
      <vt:lpstr>Number System</vt:lpstr>
      <vt:lpstr>What is Data</vt:lpstr>
      <vt:lpstr>What is a System</vt:lpstr>
      <vt:lpstr>What is a Computer?</vt:lpstr>
      <vt:lpstr>What is a Computer?</vt:lpstr>
      <vt:lpstr>Activity</vt:lpstr>
      <vt:lpstr>Computers Process Data</vt:lpstr>
      <vt:lpstr>Computers Process Data</vt:lpstr>
      <vt:lpstr>How is Data Actually Stored in Computer</vt:lpstr>
      <vt:lpstr>How to store text and pictures as numbers?</vt:lpstr>
      <vt:lpstr>What can be represented using a Bit</vt:lpstr>
      <vt:lpstr>Memory Measuring Units  (As viewed by computer scientists)</vt:lpstr>
      <vt:lpstr>Bytes as Numbers</vt:lpstr>
      <vt:lpstr>Exercise # 1</vt:lpstr>
      <vt:lpstr>Exercise # 2</vt:lpstr>
      <vt:lpstr>How can we represent a character?</vt:lpstr>
      <vt:lpstr>How can we represent a character?</vt:lpstr>
      <vt:lpstr>ASCII Character Encoding</vt:lpstr>
      <vt:lpstr>Exercise # 4</vt:lpstr>
      <vt:lpstr>Exercise # 5</vt:lpstr>
      <vt:lpstr>ASCII to Binary 0s and 1s</vt:lpstr>
      <vt:lpstr>Representing Non-Negative(Unsigned) Integer Values</vt:lpstr>
      <vt:lpstr>Exercise # 5</vt:lpstr>
      <vt:lpstr>Representing Non-Negative(Unsigned) Integer Values</vt:lpstr>
      <vt:lpstr>Representing Non-Negative(Unsigned) Integer Values</vt:lpstr>
      <vt:lpstr>Exercise # 6 </vt:lpstr>
      <vt:lpstr>Exercise # 7 </vt:lpstr>
      <vt:lpstr>Representing Signed Integer Values</vt:lpstr>
      <vt:lpstr>Exercise</vt:lpstr>
      <vt:lpstr>Representing Signed Integer Values</vt:lpstr>
      <vt:lpstr>Exercise</vt:lpstr>
      <vt:lpstr>Image Representation</vt:lpstr>
      <vt:lpstr>Representing Images in Binary</vt:lpstr>
      <vt:lpstr>RGB </vt:lpstr>
      <vt:lpstr>Sound Representation </vt:lpstr>
      <vt:lpstr>Sound Representation </vt:lpstr>
      <vt:lpstr>Number Systems</vt:lpstr>
      <vt:lpstr>Common Number Systems</vt:lpstr>
      <vt:lpstr>Conversion Chart</vt:lpstr>
      <vt:lpstr>Conversion Among Bases</vt:lpstr>
      <vt:lpstr>Quick Example</vt:lpstr>
      <vt:lpstr>Conversions</vt:lpstr>
      <vt:lpstr>Decimal to Binary</vt:lpstr>
      <vt:lpstr>Conversions</vt:lpstr>
      <vt:lpstr>Decimal to Hexadecimal</vt:lpstr>
      <vt:lpstr>Example: Decimal to Hexadecimal</vt:lpstr>
      <vt:lpstr>Conversions</vt:lpstr>
      <vt:lpstr>Binary to Decimal</vt:lpstr>
      <vt:lpstr>Example: Binary to Decimal</vt:lpstr>
      <vt:lpstr>Conversions</vt:lpstr>
      <vt:lpstr>Binary to Hexadecimal</vt:lpstr>
      <vt:lpstr>Conversions</vt:lpstr>
      <vt:lpstr>Hexadecimal to Decimal</vt:lpstr>
      <vt:lpstr>Example</vt:lpstr>
      <vt:lpstr>Conversions</vt:lpstr>
      <vt:lpstr>Hexadecimal to Binary</vt:lpstr>
      <vt:lpstr>Exercise</vt:lpstr>
      <vt:lpstr>Answer</vt:lpstr>
      <vt:lpstr> Activity</vt:lpstr>
      <vt:lpstr>Activity</vt:lpstr>
      <vt:lpstr>Homework</vt:lpstr>
      <vt:lpstr>Lets Play a Game</vt:lpstr>
      <vt:lpstr>Recommended </vt:lpstr>
      <vt:lpstr>Thank You</vt:lpstr>
    </vt:vector>
  </TitlesOfParts>
  <Company>SMM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Sadia Marium</dc:creator>
  <cp:lastModifiedBy>sarfraz.raza</cp:lastModifiedBy>
  <cp:revision>103</cp:revision>
  <dcterms:created xsi:type="dcterms:W3CDTF">2018-08-27T15:11:11Z</dcterms:created>
  <dcterms:modified xsi:type="dcterms:W3CDTF">2020-09-28T21:45:18Z</dcterms:modified>
</cp:coreProperties>
</file>