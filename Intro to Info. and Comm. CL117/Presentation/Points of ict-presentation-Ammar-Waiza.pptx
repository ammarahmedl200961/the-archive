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5143500" cx="9144000"/>
  <p:notesSz cx="6858000" cy="9144000"/>
  <p:embeddedFontLst>
    <p:embeddedFont>
      <p:font typeface="Roboto Slab"/>
      <p:regular r:id="rId17"/>
      <p:bold r:id="rId18"/>
    </p:embeddedFont>
    <p:embeddedFont>
      <p:font typeface="Roboto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.fntdata"/><Relationship Id="rId11" Type="http://schemas.openxmlformats.org/officeDocument/2006/relationships/slide" Target="slides/slide7.xml"/><Relationship Id="rId22" Type="http://schemas.openxmlformats.org/officeDocument/2006/relationships/font" Target="fonts/Roboto-boldItalic.fntdata"/><Relationship Id="rId10" Type="http://schemas.openxmlformats.org/officeDocument/2006/relationships/slide" Target="slides/slide6.xml"/><Relationship Id="rId21" Type="http://schemas.openxmlformats.org/officeDocument/2006/relationships/font" Target="fonts/Roboto-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RobotoSlab-regular.fntdata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font" Target="fonts/Roboto-regular.fntdata"/><Relationship Id="rId6" Type="http://schemas.openxmlformats.org/officeDocument/2006/relationships/slide" Target="slides/slide2.xml"/><Relationship Id="rId18" Type="http://schemas.openxmlformats.org/officeDocument/2006/relationships/font" Target="fonts/RobotoSlab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c6f75fce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c6f75fce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b03e90f2f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b03e90f2f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c6f75fceb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c6f75fceb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b03e91073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b03e91073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c6f75fceb_0_1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c6f75fceb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b03e90f2f9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b03e90f2f9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b03e90f2f9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b03e90f2f9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b039c30a40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b039c30a40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a584631398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a584631398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b039c30a40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b039c30a40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c6f75fceb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c6f75fceb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b039c30a40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b039c30a40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524800" y="672606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6537563" y="33429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cxnSp>
        <p:nvCxnSpPr>
          <p:cNvPr id="12" name="Google Shape;12;p2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" name="Google Shape;18;p3"/>
          <p:cNvSpPr txBox="1"/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4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" name="Google Shape;22;p4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5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" name="Google Shape;27;p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p7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" name="Google Shape;36;p7"/>
          <p:cNvSpPr txBox="1"/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" name="Google Shape;37;p7"/>
          <p:cNvSpPr txBox="1"/>
          <p:nvPr>
            <p:ph idx="1" type="body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8" name="Google Shape;3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1" name="Google Shape;41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4" name="Google Shape;44;p9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" name="Google Shape;45;p9"/>
          <p:cNvSpPr txBox="1"/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6" name="Google Shape;46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/>
        </p:txBody>
      </p:sp>
      <p:sp>
        <p:nvSpPr>
          <p:cNvPr id="51" name="Google Shape;5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1"/>
          <p:cNvSpPr txBox="1"/>
          <p:nvPr>
            <p:ph hasCustomPrompt="1" type="title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rina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elearningindustry.com/9-benefits-of-elearning-for-students" TargetMode="External"/></Relationships>
</file>

<file path=ppt/slides/_rels/slide5.xml.rels><?xml version="1.0" encoding="UTF-8" standalone="yes"?><Relationships xmlns="http://schemas.openxmlformats.org/package/2006/relationships"><Relationship Id="rId11" Type="http://schemas.openxmlformats.org/officeDocument/2006/relationships/image" Target="../media/image14.png"/><Relationship Id="rId10" Type="http://schemas.openxmlformats.org/officeDocument/2006/relationships/image" Target="../media/image12.png"/><Relationship Id="rId13" Type="http://schemas.openxmlformats.org/officeDocument/2006/relationships/image" Target="../media/image13.png"/><Relationship Id="rId12" Type="http://schemas.openxmlformats.org/officeDocument/2006/relationships/image" Target="../media/image16.png"/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Relationship Id="rId4" Type="http://schemas.openxmlformats.org/officeDocument/2006/relationships/image" Target="../media/image20.png"/><Relationship Id="rId9" Type="http://schemas.openxmlformats.org/officeDocument/2006/relationships/image" Target="../media/image23.png"/><Relationship Id="rId5" Type="http://schemas.openxmlformats.org/officeDocument/2006/relationships/image" Target="../media/image5.png"/><Relationship Id="rId6" Type="http://schemas.openxmlformats.org/officeDocument/2006/relationships/image" Target="../media/image18.png"/><Relationship Id="rId7" Type="http://schemas.openxmlformats.org/officeDocument/2006/relationships/image" Target="../media/image4.jpg"/><Relationship Id="rId8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10.png"/><Relationship Id="rId5" Type="http://schemas.openxmlformats.org/officeDocument/2006/relationships/image" Target="../media/image19.jpg"/><Relationship Id="rId6" Type="http://schemas.openxmlformats.org/officeDocument/2006/relationships/image" Target="../media/image22.jpg"/><Relationship Id="rId7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png"/><Relationship Id="rId4" Type="http://schemas.openxmlformats.org/officeDocument/2006/relationships/image" Target="../media/image12.png"/><Relationship Id="rId5" Type="http://schemas.openxmlformats.org/officeDocument/2006/relationships/image" Target="../media/image8.png"/><Relationship Id="rId6" Type="http://schemas.openxmlformats.org/officeDocument/2006/relationships/image" Target="../media/image11.png"/><Relationship Id="rId7" Type="http://schemas.openxmlformats.org/officeDocument/2006/relationships/image" Target="../media/image2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hyperlink" Target="https://www.digitalindia.gov.in/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E-learning </a:t>
            </a:r>
            <a:endParaRPr/>
          </a:p>
        </p:txBody>
      </p:sp>
      <p:sp>
        <p:nvSpPr>
          <p:cNvPr id="64" name="Google Shape;64;p13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Ammar 20L-0961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Waiza 20L-1253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/>
          <p:nvPr>
            <p:ph idx="2" type="body"/>
          </p:nvPr>
        </p:nvSpPr>
        <p:spPr>
          <a:xfrm>
            <a:off x="5152900" y="601800"/>
            <a:ext cx="3864600" cy="408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Definition of E-learning.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E-learning and it’s applications.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Platforms for modern E-learning.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Major issues involved in this mode of teaching.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can we counter this issue?</a:t>
            </a:r>
            <a:endParaRPr/>
          </a:p>
        </p:txBody>
      </p:sp>
      <p:sp>
        <p:nvSpPr>
          <p:cNvPr id="70" name="Google Shape;70;p14"/>
          <p:cNvSpPr txBox="1"/>
          <p:nvPr/>
        </p:nvSpPr>
        <p:spPr>
          <a:xfrm>
            <a:off x="94025" y="1071950"/>
            <a:ext cx="4363200" cy="17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rPr>
              <a:t>How we will look at this topic ??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/>
          <p:nvPr>
            <p:ph idx="2" type="body"/>
          </p:nvPr>
        </p:nvSpPr>
        <p:spPr>
          <a:xfrm>
            <a:off x="263275" y="1269450"/>
            <a:ext cx="8566200" cy="362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</a:pPr>
            <a:r>
              <a:rPr lang="en"/>
              <a:t>“Learning system based on formalised teaching but with the help of electronic devices is known as E-learning.”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→ A technology which supports teaching &amp; learning using a computer web technology.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→ </a:t>
            </a:r>
            <a:r>
              <a:rPr lang="en">
                <a:solidFill>
                  <a:srgbClr val="FFFFFF"/>
                </a:solidFill>
              </a:rPr>
              <a:t>Web-based learning essentially includes learning online through the courses that are offered on the net.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→ According to Bernard Luskin who  was one of the pioneers of e-learning the “e” in elearning explains exciting, enthusiastic, extended and educational.</a:t>
            </a:r>
            <a:endParaRPr/>
          </a:p>
        </p:txBody>
      </p:sp>
      <p:sp>
        <p:nvSpPr>
          <p:cNvPr id="76" name="Google Shape;76;p15"/>
          <p:cNvSpPr txBox="1"/>
          <p:nvPr/>
        </p:nvSpPr>
        <p:spPr>
          <a:xfrm>
            <a:off x="338500" y="310300"/>
            <a:ext cx="3864600" cy="7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u="sng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rPr>
              <a:t>Definition of E-learning</a:t>
            </a:r>
            <a:endParaRPr sz="300" u="sng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/>
          <p:nvPr>
            <p:ph type="title"/>
          </p:nvPr>
        </p:nvSpPr>
        <p:spPr>
          <a:xfrm>
            <a:off x="387900" y="122250"/>
            <a:ext cx="4435800" cy="95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How We will discuss about benefits/advantages</a:t>
            </a:r>
            <a:endParaRPr sz="2500"/>
          </a:p>
        </p:txBody>
      </p:sp>
      <p:sp>
        <p:nvSpPr>
          <p:cNvPr id="82" name="Google Shape;82;p16"/>
          <p:cNvSpPr txBox="1"/>
          <p:nvPr>
            <p:ph idx="1" type="body"/>
          </p:nvPr>
        </p:nvSpPr>
        <p:spPr>
          <a:xfrm>
            <a:off x="312675" y="1489825"/>
            <a:ext cx="3999900" cy="333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Convenient </a:t>
            </a:r>
            <a:r>
              <a:rPr lang="en"/>
              <a:t>Way of learning: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→ It is an on demand system that is you can it anywhere and </a:t>
            </a:r>
            <a:r>
              <a:rPr lang="en"/>
              <a:t>anytime</a:t>
            </a:r>
            <a:r>
              <a:rPr lang="en"/>
              <a:t> without any restrictions.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→ It is a self service system that means you have to keep a check on yourself.</a:t>
            </a:r>
            <a:endParaRPr/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Repeatable: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→ E-learning helps repeat the lecture or a certain part as many times as you want.</a:t>
            </a:r>
            <a:endParaRPr/>
          </a:p>
        </p:txBody>
      </p:sp>
      <p:sp>
        <p:nvSpPr>
          <p:cNvPr id="83" name="Google Shape;83;p16"/>
          <p:cNvSpPr txBox="1"/>
          <p:nvPr>
            <p:ph idx="2" type="body"/>
          </p:nvPr>
        </p:nvSpPr>
        <p:spPr>
          <a:xfrm>
            <a:off x="4400650" y="122250"/>
            <a:ext cx="4355400" cy="4701600"/>
          </a:xfrm>
          <a:prstGeom prst="rect">
            <a:avLst/>
          </a:prstGeom>
        </p:spPr>
        <p:txBody>
          <a:bodyPr anchorCtr="0" anchor="t" bIns="91425" lIns="171450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</a:pPr>
            <a:r>
              <a:rPr lang="en">
                <a:solidFill>
                  <a:srgbClr val="FFFFFF"/>
                </a:solidFill>
              </a:rPr>
              <a:t>Media Rich Learning</a:t>
            </a:r>
            <a:r>
              <a:rPr lang="en">
                <a:solidFill>
                  <a:srgbClr val="FFFFFF"/>
                </a:solidFill>
              </a:rPr>
              <a:t>:</a:t>
            </a:r>
            <a:endParaRPr>
              <a:solidFill>
                <a:srgbClr val="FFFFFF"/>
              </a:solidFill>
            </a:endParaRPr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→ It allows to link the various resources in several varying formats.</a:t>
            </a:r>
            <a:endParaRPr>
              <a:solidFill>
                <a:srgbClr val="FFFFFF"/>
              </a:solidFill>
            </a:endParaRPr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</a:pPr>
            <a:r>
              <a:rPr lang="en">
                <a:solidFill>
                  <a:srgbClr val="FFFFFF"/>
                </a:solidFill>
              </a:rPr>
              <a:t>Offers Access To Updated Content</a:t>
            </a:r>
            <a:endParaRPr>
              <a:solidFill>
                <a:srgbClr val="FFFFFF"/>
              </a:solidFill>
            </a:endParaRPr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→ It makes sure that you are in synchronization with modern learners and have access to the updated content. </a:t>
            </a:r>
            <a:endParaRPr>
              <a:solidFill>
                <a:srgbClr val="FFFFFF"/>
              </a:solidFill>
            </a:endParaRPr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</a:pPr>
            <a:r>
              <a:rPr lang="en">
                <a:solidFill>
                  <a:srgbClr val="FFFFFF"/>
                </a:solidFill>
              </a:rPr>
              <a:t>Time Efficient:</a:t>
            </a:r>
            <a:endParaRPr>
              <a:solidFill>
                <a:srgbClr val="FFFFFF"/>
              </a:solidFill>
            </a:endParaRPr>
          </a:p>
          <a:p>
            <a:pPr indent="0" lvl="0" marL="40005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→ It </a:t>
            </a:r>
            <a:r>
              <a:rPr lang="en" sz="1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cuts the learning time down by </a:t>
            </a:r>
            <a:r>
              <a:rPr lang="en" sz="1350">
                <a:solidFill>
                  <a:srgbClr val="FFFFFF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25% to 60%</a:t>
            </a:r>
            <a:r>
              <a:rPr lang="en" sz="13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compared to traditional classroom learning.</a:t>
            </a:r>
            <a:endParaRPr sz="135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●"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Consistent:</a:t>
            </a:r>
            <a:endParaRPr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→ It provides same quality of content &amp; education for all.</a:t>
            </a:r>
            <a:endParaRPr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/>
          <p:nvPr>
            <p:ph idx="4294967295" type="title"/>
          </p:nvPr>
        </p:nvSpPr>
        <p:spPr>
          <a:xfrm>
            <a:off x="123625" y="154075"/>
            <a:ext cx="41265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E-learning platforms</a:t>
            </a:r>
            <a:endParaRPr/>
          </a:p>
        </p:txBody>
      </p:sp>
      <p:pic>
        <p:nvPicPr>
          <p:cNvPr id="89" name="Google Shape;89;p17"/>
          <p:cNvPicPr preferRelativeResize="0"/>
          <p:nvPr/>
        </p:nvPicPr>
        <p:blipFill rotWithShape="1">
          <a:blip r:embed="rId3">
            <a:alphaModFix/>
          </a:blip>
          <a:srcRect b="0" l="-1378" r="0" t="0"/>
          <a:stretch/>
        </p:blipFill>
        <p:spPr>
          <a:xfrm>
            <a:off x="7047375" y="3085825"/>
            <a:ext cx="783260" cy="761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10075" y="2221125"/>
            <a:ext cx="2764203" cy="334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91375" y="1615626"/>
            <a:ext cx="2087726" cy="60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91383" y="1085486"/>
            <a:ext cx="2583466" cy="605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izIQ Review | PCMag" id="93" name="Google Shape;93;p1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154525" y="154075"/>
            <a:ext cx="1075310" cy="605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163850" y="140162"/>
            <a:ext cx="883518" cy="761325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7"/>
          <p:cNvSpPr txBox="1"/>
          <p:nvPr/>
        </p:nvSpPr>
        <p:spPr>
          <a:xfrm>
            <a:off x="123625" y="808675"/>
            <a:ext cx="5800200" cy="40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→ We will divide the elearning platforms into two sections. One covers the mainstream platforms while the other covers the platforms that are for learning purposes only.</a:t>
            </a:r>
            <a:endParaRPr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→ The mainstream platforms include the platforms </a:t>
            </a:r>
            <a:r>
              <a:rPr lang="en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which</a:t>
            </a:r>
            <a:r>
              <a:rPr lang="en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are </a:t>
            </a:r>
            <a:r>
              <a:rPr lang="en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normally</a:t>
            </a:r>
            <a:r>
              <a:rPr lang="en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used for almost all sort of meetings, seminars and classes.</a:t>
            </a:r>
            <a:endParaRPr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74295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Char char="●"/>
            </a:pPr>
            <a:r>
              <a:rPr lang="en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These include Zoom meeting app </a:t>
            </a:r>
            <a:r>
              <a:rPr lang="en" sz="1200">
                <a:solidFill>
                  <a:srgbClr val="FFFFFF"/>
                </a:solidFill>
              </a:rPr>
              <a:t>f</a:t>
            </a:r>
            <a:r>
              <a:rPr lang="en">
                <a:solidFill>
                  <a:srgbClr val="FFFFFF"/>
                </a:solidFill>
              </a:rPr>
              <a:t>or reliable &amp; large video calls</a:t>
            </a:r>
            <a:r>
              <a:rPr lang="en" sz="1200">
                <a:solidFill>
                  <a:srgbClr val="FFFFFF"/>
                </a:solidFill>
              </a:rPr>
              <a:t>,</a:t>
            </a:r>
            <a:r>
              <a:rPr lang="en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Google Meet for G Suite users, GoToMeeting for professional features, join.me for a lightweight option &amp; Microsoft Teams for microsoft users.</a:t>
            </a:r>
            <a:endParaRPr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→ On the other hand the learning platforms are used only for teaching &amp; learning purposes and provide options for online </a:t>
            </a:r>
            <a:r>
              <a:rPr lang="en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classes</a:t>
            </a:r>
            <a:r>
              <a:rPr lang="en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74650" lvl="0" marL="74295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Char char="●"/>
            </a:pPr>
            <a:r>
              <a:rPr lang="en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These include WizIQ </a:t>
            </a:r>
            <a:r>
              <a:rPr lang="en">
                <a:solidFill>
                  <a:srgbClr val="FFFFFF"/>
                </a:solidFill>
              </a:rPr>
              <a:t>for delivering live and self-paced online courses, Google Classrooms </a:t>
            </a:r>
            <a:r>
              <a:rPr lang="en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for G Suite users providing a to-do list, Academia.org for over a thousand courses, Udemy for </a:t>
            </a:r>
            <a:r>
              <a:rPr lang="en">
                <a:solidFill>
                  <a:srgbClr val="FFFFFF"/>
                </a:solidFill>
              </a:rPr>
              <a:t>professional adults and students, Duolingo for digital language-proficiency assessment exam &amp; coursera for free and online learning.</a:t>
            </a:r>
            <a:endParaRPr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96" name="Google Shape;96;p17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923825" y="2634350"/>
            <a:ext cx="1032827" cy="84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7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869938" y="3710313"/>
            <a:ext cx="1140576" cy="73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7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7121897" y="4083227"/>
            <a:ext cx="883525" cy="725287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7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8179100" y="4083223"/>
            <a:ext cx="883524" cy="8218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7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8057925" y="2963637"/>
            <a:ext cx="883525" cy="883525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7"/>
          <p:cNvSpPr txBox="1"/>
          <p:nvPr/>
        </p:nvSpPr>
        <p:spPr>
          <a:xfrm>
            <a:off x="7904175" y="2634250"/>
            <a:ext cx="1544100" cy="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Gotomeeting</a:t>
            </a:r>
            <a:endParaRPr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8"/>
          <p:cNvSpPr txBox="1"/>
          <p:nvPr>
            <p:ph type="title"/>
          </p:nvPr>
        </p:nvSpPr>
        <p:spPr>
          <a:xfrm>
            <a:off x="167475" y="0"/>
            <a:ext cx="3170700" cy="67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LMS software</a:t>
            </a:r>
            <a:endParaRPr sz="3600"/>
          </a:p>
        </p:txBody>
      </p:sp>
      <p:sp>
        <p:nvSpPr>
          <p:cNvPr id="107" name="Google Shape;107;p18"/>
          <p:cNvSpPr txBox="1"/>
          <p:nvPr/>
        </p:nvSpPr>
        <p:spPr>
          <a:xfrm>
            <a:off x="167475" y="523650"/>
            <a:ext cx="6340200" cy="29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FFFF"/>
                </a:solidFill>
              </a:rPr>
              <a:t>“</a:t>
            </a:r>
            <a:r>
              <a:rPr lang="en" sz="1500">
                <a:solidFill>
                  <a:srgbClr val="FFFFFF"/>
                </a:solidFill>
              </a:rPr>
              <a:t>A learning management system is a software application for the administration, documentation, tracking, reporting, automation and delivery of educational courses, training programs, or learning and development p</a:t>
            </a:r>
            <a:r>
              <a:rPr lang="en" sz="1500">
                <a:solidFill>
                  <a:srgbClr val="FFFFFF"/>
                </a:solidFill>
              </a:rPr>
              <a:t>rograms.”</a:t>
            </a:r>
            <a:endParaRPr sz="15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→  LMS is used to:</a:t>
            </a:r>
            <a:endParaRPr>
              <a:solidFill>
                <a:srgbClr val="FFFFFF"/>
              </a:solidFill>
            </a:endParaRPr>
          </a:p>
          <a:p>
            <a:pPr indent="-3048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Char char="●"/>
            </a:pPr>
            <a:r>
              <a:rPr lang="en" sz="1200">
                <a:solidFill>
                  <a:srgbClr val="FFFFFF"/>
                </a:solidFill>
              </a:rPr>
              <a:t>Provide learning experiences that are adapted to individual learners</a:t>
            </a:r>
            <a:endParaRPr sz="1200">
              <a:solidFill>
                <a:srgbClr val="FFFFFF"/>
              </a:solidFill>
            </a:endParaRPr>
          </a:p>
          <a:p>
            <a:pPr indent="-3048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Char char="●"/>
            </a:pPr>
            <a:r>
              <a:rPr lang="en" sz="1200">
                <a:solidFill>
                  <a:srgbClr val="FFFFFF"/>
                </a:solidFill>
              </a:rPr>
              <a:t>Make it easy for instructors to make notes and changes</a:t>
            </a:r>
            <a:endParaRPr sz="1200">
              <a:solidFill>
                <a:srgbClr val="FFFFFF"/>
              </a:solidFill>
            </a:endParaRPr>
          </a:p>
          <a:p>
            <a:pPr indent="-3048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Char char="●"/>
            </a:pPr>
            <a:r>
              <a:rPr lang="en" sz="1200">
                <a:solidFill>
                  <a:srgbClr val="FFFFFF"/>
                </a:solidFill>
              </a:rPr>
              <a:t>Give instructors and students the opportunity for online collaboration</a:t>
            </a:r>
            <a:endParaRPr sz="1200">
              <a:solidFill>
                <a:srgbClr val="FFFFFF"/>
              </a:solidFill>
            </a:endParaRPr>
          </a:p>
          <a:p>
            <a:pPr indent="-3048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Char char="●"/>
            </a:pPr>
            <a:r>
              <a:rPr lang="en" sz="1200">
                <a:solidFill>
                  <a:srgbClr val="FFFFFF"/>
                </a:solidFill>
              </a:rPr>
              <a:t>Integrate common tools such as calendars, word processors, and more</a:t>
            </a:r>
            <a:endParaRPr sz="1200">
              <a:solidFill>
                <a:srgbClr val="FFFFFF"/>
              </a:solidFill>
            </a:endParaRPr>
          </a:p>
          <a:p>
            <a:pPr indent="-3048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Char char="●"/>
            </a:pPr>
            <a:r>
              <a:rPr lang="en" sz="1200">
                <a:solidFill>
                  <a:srgbClr val="FFFFFF"/>
                </a:solidFill>
              </a:rPr>
              <a:t>Create a corporate culture-sensitive, branded presence for learners</a:t>
            </a:r>
            <a:endParaRPr sz="1200">
              <a:solidFill>
                <a:srgbClr val="FFFFFF"/>
              </a:solidFill>
            </a:endParaRPr>
          </a:p>
          <a:p>
            <a:pPr indent="-3048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Char char="●"/>
            </a:pPr>
            <a:r>
              <a:rPr lang="en" sz="1200">
                <a:solidFill>
                  <a:srgbClr val="FFFFFF"/>
                </a:solidFill>
              </a:rPr>
              <a:t>Include insights into user progress through built-in analytics</a:t>
            </a:r>
            <a:endParaRPr sz="1200">
              <a:solidFill>
                <a:srgbClr val="FFFFFF"/>
              </a:solidFill>
            </a:endParaRPr>
          </a:p>
          <a:p>
            <a:pPr indent="-3048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Char char="●"/>
            </a:pPr>
            <a:r>
              <a:rPr lang="en" sz="1200">
                <a:solidFill>
                  <a:srgbClr val="FFFFFF"/>
                </a:solidFill>
              </a:rPr>
              <a:t>Be able to scale globally as the organization grows.</a:t>
            </a:r>
            <a:endParaRPr sz="12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57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57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</a:endParaRPr>
          </a:p>
          <a:p>
            <a:pPr indent="0" lvl="0" marL="457200" rtl="0" algn="l">
              <a:lnSpc>
                <a:spcPct val="140000"/>
              </a:lnSpc>
              <a:spcBef>
                <a:spcPts val="57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16181A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4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08" name="Google Shape;108;p18"/>
          <p:cNvSpPr txBox="1"/>
          <p:nvPr/>
        </p:nvSpPr>
        <p:spPr>
          <a:xfrm>
            <a:off x="167475" y="3201650"/>
            <a:ext cx="8976600" cy="17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5715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→ Some of the LMS softwares are</a:t>
            </a:r>
            <a:r>
              <a:rPr lang="en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:</a:t>
            </a:r>
            <a:endParaRPr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97155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Char char="●"/>
            </a:pPr>
            <a:r>
              <a:rPr lang="en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Edsby which is a digital learning data system built specifically for the requirements of Kindergarten to 12th grade.</a:t>
            </a:r>
            <a:endParaRPr sz="12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97155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Char char="●"/>
            </a:pPr>
            <a:r>
              <a:rPr lang="en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TalentCards is a mobile microlearning tool for your deskless workforce.</a:t>
            </a:r>
            <a:endParaRPr sz="12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97155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Char char="●"/>
            </a:pPr>
            <a:r>
              <a:rPr lang="en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TalentLMS is a super-easy, cloud LMS to train your employees and customers.</a:t>
            </a:r>
            <a:endParaRPr sz="12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97155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Char char="●"/>
            </a:pPr>
            <a:r>
              <a:rPr lang="en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UQualio is a cloud-based video eLearning solution to secure motivated and engaged customers, employees and partners.</a:t>
            </a:r>
            <a:endParaRPr sz="12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97155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Char char="●"/>
            </a:pPr>
            <a:r>
              <a:rPr lang="en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NextThought is a learning management system (LMS) designed to help businesses create custom courses to train their clients, employees, and partners</a:t>
            </a:r>
            <a:endParaRPr sz="12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9" name="Google Shape;10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50275" y="1509738"/>
            <a:ext cx="1053425" cy="1000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14035" y="1698025"/>
            <a:ext cx="818713" cy="8187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19275" y="1371125"/>
            <a:ext cx="877225" cy="877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799224" y="769600"/>
            <a:ext cx="1204475" cy="67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779200" y="606150"/>
            <a:ext cx="748500" cy="67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9"/>
          <p:cNvSpPr txBox="1"/>
          <p:nvPr>
            <p:ph type="title"/>
          </p:nvPr>
        </p:nvSpPr>
        <p:spPr>
          <a:xfrm>
            <a:off x="147150" y="117925"/>
            <a:ext cx="5028000" cy="45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Video-conferencing tools</a:t>
            </a:r>
            <a:endParaRPr sz="3200"/>
          </a:p>
        </p:txBody>
      </p:sp>
      <p:pic>
        <p:nvPicPr>
          <p:cNvPr id="119" name="Google Shape;11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6275" y="1923800"/>
            <a:ext cx="2613499" cy="63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56663" y="1525050"/>
            <a:ext cx="1032726" cy="45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49436" y="620650"/>
            <a:ext cx="812039" cy="769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9"/>
          <p:cNvSpPr txBox="1"/>
          <p:nvPr/>
        </p:nvSpPr>
        <p:spPr>
          <a:xfrm>
            <a:off x="105000" y="452350"/>
            <a:ext cx="6123900" cy="458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→ </a:t>
            </a:r>
            <a:r>
              <a:rPr lang="en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Video conferencing is a live video-based meeting between two or more people in different locations using video-enabled devices.</a:t>
            </a:r>
            <a:endParaRPr sz="1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→ It allows multiple people to meet and collaborate face to face long distance by transmitting audio, video, text and presentations in real time through the internet.</a:t>
            </a:r>
            <a:endParaRPr sz="1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→ Some of the video conference tools are:</a:t>
            </a:r>
            <a:endParaRPr sz="1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5715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Roboto"/>
              <a:buChar char="●"/>
            </a:pPr>
            <a:r>
              <a:rPr lang="en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Webex develops and sells web conferencing and videoconferencing applications.</a:t>
            </a:r>
            <a:endParaRPr sz="1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5715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Char char="●"/>
            </a:pPr>
            <a:r>
              <a:rPr lang="en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Zoom</a:t>
            </a:r>
            <a:r>
              <a:rPr b="1" lang="en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is an app whose use has exploded around the world since lockdown began.</a:t>
            </a:r>
            <a:endParaRPr sz="1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5715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Roboto"/>
              <a:buChar char="●"/>
            </a:pPr>
            <a:r>
              <a:rPr lang="en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Google Hangouts has a really simple and easy to use </a:t>
            </a:r>
            <a:r>
              <a:rPr lang="en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interface</a:t>
            </a:r>
            <a:r>
              <a:rPr lang="en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5715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Roboto"/>
              <a:buChar char="●"/>
            </a:pPr>
            <a:r>
              <a:rPr lang="en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Skype Meet offers some excellent video conferencing features without any time limit.</a:t>
            </a:r>
            <a:endParaRPr sz="1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5715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Roboto"/>
              <a:buChar char="●"/>
            </a:pPr>
            <a:r>
              <a:rPr lang="en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Google Meet </a:t>
            </a:r>
            <a:r>
              <a:rPr lang="en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allows</a:t>
            </a:r>
            <a:r>
              <a:rPr lang="en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inviting up to 100 people, recording meetings, screen sharing and streaming HD videos.</a:t>
            </a:r>
            <a:endParaRPr sz="1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23" name="Google Shape;123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55400" y="1128450"/>
            <a:ext cx="855900" cy="85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699600" y="206925"/>
            <a:ext cx="1270974" cy="1470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0"/>
          <p:cNvSpPr txBox="1"/>
          <p:nvPr>
            <p:ph type="title"/>
          </p:nvPr>
        </p:nvSpPr>
        <p:spPr>
          <a:xfrm>
            <a:off x="73500" y="127500"/>
            <a:ext cx="8009100" cy="39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/>
              <a:t>Issues in delivering this mode of teaching</a:t>
            </a:r>
            <a:endParaRPr/>
          </a:p>
        </p:txBody>
      </p:sp>
      <p:sp>
        <p:nvSpPr>
          <p:cNvPr id="130" name="Google Shape;130;p20"/>
          <p:cNvSpPr txBox="1"/>
          <p:nvPr/>
        </p:nvSpPr>
        <p:spPr>
          <a:xfrm>
            <a:off x="73500" y="430525"/>
            <a:ext cx="4251300" cy="47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→ </a:t>
            </a:r>
            <a:r>
              <a:rPr lang="en" u="sng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Limited Student Feedback</a:t>
            </a:r>
            <a:endParaRPr u="sng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</a:t>
            </a:r>
            <a:r>
              <a:rPr lang="en" sz="13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n classrooms, teachers can give students immediate face-to-face feedback and students who are experiencing problems can resolve them quickly and directly either during the lecture or during the office hours.Which is not possible during online classes.</a:t>
            </a:r>
            <a:endParaRPr sz="13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→ </a:t>
            </a:r>
            <a:r>
              <a:rPr lang="en" u="sng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Cheating during exams</a:t>
            </a:r>
            <a:endParaRPr u="sng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Roboto"/>
              <a:buChar char="●"/>
            </a:pPr>
            <a:r>
              <a:rPr lang="en" sz="13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Online students can cheat during exams more easily as they take them in their own environment using their personal computer.</a:t>
            </a:r>
            <a:endParaRPr sz="13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Roboto"/>
              <a:buChar char="●"/>
            </a:pPr>
            <a:r>
              <a:rPr lang="en" sz="13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Since there is no proper identity verification system students taking online exams might be able to let a third party take the exam instead of themselves, which could result in a wholly fraudulent test result.</a:t>
            </a:r>
            <a:endParaRPr sz="13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→ </a:t>
            </a:r>
            <a:r>
              <a:rPr lang="en" u="sng">
                <a:solidFill>
                  <a:srgbClr val="FFFFFF"/>
                </a:solidFill>
              </a:rPr>
              <a:t>Lack of face-to-face communication</a:t>
            </a:r>
            <a:endParaRPr u="sng">
              <a:solidFill>
                <a:srgbClr val="FFFFFF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Roboto"/>
              <a:buChar char="●"/>
            </a:pPr>
            <a:r>
              <a:rPr lang="en" sz="13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 lack of any kind of face-to-face communication with the instructor inhibits student feedback, causes social isolation, and could cause students to feel a lack of pressure.</a:t>
            </a:r>
            <a:endParaRPr sz="13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Roboto"/>
              <a:buChar char="●"/>
            </a:pPr>
            <a:r>
              <a:rPr lang="en" sz="13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It causes students to abandon their studies more easily</a:t>
            </a:r>
            <a:endParaRPr sz="13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1" name="Google Shape;131;p20"/>
          <p:cNvSpPr txBox="1"/>
          <p:nvPr/>
        </p:nvSpPr>
        <p:spPr>
          <a:xfrm>
            <a:off x="4655650" y="881900"/>
            <a:ext cx="4251300" cy="396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→ </a:t>
            </a:r>
            <a:r>
              <a:rPr lang="en" u="sng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</a:t>
            </a:r>
            <a:r>
              <a:rPr lang="en" u="sng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naccessible to the computer illiterate population</a:t>
            </a:r>
            <a:endParaRPr u="sng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Roboto"/>
              <a:buChar char="●"/>
            </a:pPr>
            <a:r>
              <a:rPr lang="en" sz="13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75% population of Pakistan owns a mobile phone and only 35% have access to internet.</a:t>
            </a:r>
            <a:endParaRPr sz="13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Roboto"/>
              <a:buChar char="●"/>
            </a:pPr>
            <a:r>
              <a:rPr lang="en" sz="13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24.3% population lies below the line of poverty and can’t afford their basic needs and are hence unknown to the devices and technology.</a:t>
            </a:r>
            <a:endParaRPr sz="13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Roboto"/>
              <a:buChar char="●"/>
            </a:pPr>
            <a:r>
              <a:rPr lang="en" sz="13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So large number of citizens  remain deprived of this education.</a:t>
            </a:r>
            <a:endParaRPr sz="13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→ </a:t>
            </a:r>
            <a:r>
              <a:rPr lang="en" u="sng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Lack of practical learning with examples</a:t>
            </a:r>
            <a:endParaRPr u="sng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Roboto"/>
              <a:buChar char="●"/>
            </a:pPr>
            <a:r>
              <a:rPr lang="en" sz="1300">
                <a:solidFill>
                  <a:srgbClr val="FFFFFF"/>
                </a:solidFill>
              </a:rPr>
              <a:t>A large portion of E-Learning includes theoretical learning without practical examples and illustrations which makes the understanding difficult.</a:t>
            </a:r>
            <a:endParaRPr sz="13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Roboto"/>
              <a:buChar char="●"/>
            </a:pPr>
            <a:r>
              <a:rPr lang="en" sz="13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Without face-to-face communication and physical classrooms to use as a workshop &amp; implementing practical projects in an online course is quite difficult for teacher as well because it requires a lot of planning.</a:t>
            </a:r>
            <a:endParaRPr sz="13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1"/>
          <p:cNvSpPr txBox="1"/>
          <p:nvPr>
            <p:ph type="title"/>
          </p:nvPr>
        </p:nvSpPr>
        <p:spPr>
          <a:xfrm>
            <a:off x="188950" y="127475"/>
            <a:ext cx="6392700" cy="59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/>
              <a:t>How can we counter this issue ??</a:t>
            </a:r>
            <a:endParaRPr sz="3100"/>
          </a:p>
        </p:txBody>
      </p:sp>
      <p:pic>
        <p:nvPicPr>
          <p:cNvPr descr="Stick Man Thinking Clipart " id="137" name="Google Shape;13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18477" y="127475"/>
            <a:ext cx="850950" cy="1000193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1"/>
          <p:cNvSpPr txBox="1"/>
          <p:nvPr/>
        </p:nvSpPr>
        <p:spPr>
          <a:xfrm>
            <a:off x="115475" y="640325"/>
            <a:ext cx="8880300" cy="44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→ By using powerful eLearning tools:</a:t>
            </a:r>
            <a:endParaRPr sz="1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Roboto"/>
              <a:buChar char="●"/>
            </a:pPr>
            <a:r>
              <a:rPr lang="en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Online Whiteboards should be used for explaining &amp; demonstrating the points.</a:t>
            </a:r>
            <a:endParaRPr sz="1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Roboto"/>
              <a:buChar char="●"/>
            </a:pPr>
            <a:r>
              <a:rPr lang="en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By taking regular online </a:t>
            </a:r>
            <a:r>
              <a:rPr lang="en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quizzes, especially during classes, as it would engage the students.</a:t>
            </a:r>
            <a:endParaRPr sz="1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Roboto"/>
              <a:buChar char="●"/>
            </a:pPr>
            <a:r>
              <a:rPr lang="en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Exam conducting to be by an online browser or attendant. </a:t>
            </a:r>
            <a:endParaRPr sz="1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→ </a:t>
            </a: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By using reliable software for test: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Roboto"/>
              <a:buChar char="●"/>
            </a:pPr>
            <a:r>
              <a:rPr lang="en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Time frame software should be used which do not accepts the late entries.</a:t>
            </a:r>
            <a:endParaRPr sz="1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Roboto"/>
              <a:buChar char="●"/>
            </a:pPr>
            <a:r>
              <a:rPr lang="en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Proctoring Software should be used to monitor computer's desktop, webcam video &amp; audio.For Example, Examity, is a platform that serves online course providers with proctoring services to authenticate the identity of students and ensure they don’t cheat.</a:t>
            </a:r>
            <a:endParaRPr sz="1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→ Video Chats &amp; discussions through emails can help in clearing of queries.</a:t>
            </a:r>
            <a:endParaRPr sz="1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→ It is not an easy task to find a solution to raise computer literacy. However, initiatives such as </a:t>
            </a:r>
            <a:r>
              <a:rPr lang="en" sz="1600">
                <a:solidFill>
                  <a:srgbClr val="FFFFFF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Digital India</a:t>
            </a:r>
            <a:r>
              <a:rPr lang="en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should be taken to improving the computer literacy rates amongst the population.</a:t>
            </a:r>
            <a:endParaRPr sz="1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→ Provision of laptops &amp; mobiles as scholarships to students. For Example, as in the Punjab Youth programs.</a:t>
            </a:r>
            <a:endParaRPr sz="1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→ Video chats, discussion boards and chat rooms must be used to deal with the lack of face-to-face communication during online learning.</a:t>
            </a:r>
            <a:endParaRPr sz="1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2"/>
          <p:cNvSpPr txBox="1"/>
          <p:nvPr/>
        </p:nvSpPr>
        <p:spPr>
          <a:xfrm>
            <a:off x="94475" y="63000"/>
            <a:ext cx="8177100" cy="4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How rest of the world is providing unprivileged?</a:t>
            </a:r>
            <a:endParaRPr sz="5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4" name="Google Shape;144;p22"/>
          <p:cNvSpPr txBox="1"/>
          <p:nvPr/>
        </p:nvSpPr>
        <p:spPr>
          <a:xfrm>
            <a:off x="157450" y="546000"/>
            <a:ext cx="8806800" cy="44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→ </a:t>
            </a:r>
            <a:r>
              <a:rPr lang="en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Distribution</a:t>
            </a:r>
            <a:r>
              <a:rPr lang="en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of Chromebooks</a:t>
            </a:r>
            <a:endParaRPr sz="1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Roboto"/>
              <a:buChar char="●"/>
            </a:pPr>
            <a:r>
              <a:rPr lang="en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In California, 4000 Chromebooks were donated to the students.</a:t>
            </a:r>
            <a:endParaRPr sz="1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Roboto"/>
              <a:buChar char="●"/>
            </a:pPr>
            <a:r>
              <a:rPr lang="en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In Ontario, the OCDSB</a:t>
            </a:r>
            <a:r>
              <a:rPr lang="en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(</a:t>
            </a:r>
            <a:r>
              <a:rPr lang="en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Ottawa-Carleton District School Board)</a:t>
            </a:r>
            <a:r>
              <a:rPr lang="en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distributed 7000 Chromebooks among the needy and </a:t>
            </a:r>
            <a:r>
              <a:rPr lang="en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unprivileged</a:t>
            </a:r>
            <a:r>
              <a:rPr lang="en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students.</a:t>
            </a:r>
            <a:endParaRPr sz="1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→ </a:t>
            </a: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Digital Literacy courses</a:t>
            </a:r>
            <a:r>
              <a:rPr lang="en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:</a:t>
            </a:r>
            <a:endParaRPr sz="1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Roboto"/>
              <a:buChar char="●"/>
            </a:pPr>
            <a:r>
              <a:rPr lang="en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India has educated 15% of its population from the initiative it took known as Digital India courses.</a:t>
            </a:r>
            <a:endParaRPr sz="1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Roboto"/>
              <a:buChar char="●"/>
            </a:pPr>
            <a:r>
              <a:rPr lang="en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Pakistan should also form a similar platform so that people can get educated.</a:t>
            </a:r>
            <a:endParaRPr sz="1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→ Free &amp; Accessible Internet Connections:</a:t>
            </a:r>
            <a:endParaRPr sz="1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Roboto"/>
              <a:buChar char="●"/>
            </a:pPr>
            <a:r>
              <a:rPr lang="en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Project Isizwe 2017, has provided free Wi-Fi within selected underprivileged areas of South Africa.</a:t>
            </a:r>
            <a:endParaRPr sz="1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Roboto"/>
              <a:buChar char="●"/>
            </a:pPr>
            <a:r>
              <a:rPr lang="en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In 2011, the Indian government launched the National Optical Fibre Network project for providing broadband connectivity to 2,50,000 households .for easy access of internet. </a:t>
            </a:r>
            <a:endParaRPr sz="1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3"/>
          <p:cNvSpPr/>
          <p:nvPr/>
        </p:nvSpPr>
        <p:spPr>
          <a:xfrm>
            <a:off x="0" y="0"/>
            <a:ext cx="9161100" cy="2484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23"/>
          <p:cNvSpPr txBox="1"/>
          <p:nvPr>
            <p:ph idx="4294967295"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R</a:t>
            </a:r>
            <a:r>
              <a:rPr lang="en">
                <a:solidFill>
                  <a:schemeClr val="accent1"/>
                </a:solidFill>
              </a:rPr>
              <a:t>eview</a:t>
            </a:r>
            <a:endParaRPr>
              <a:solidFill>
                <a:schemeClr val="accent1"/>
              </a:solidFill>
            </a:endParaRPr>
          </a:p>
        </p:txBody>
      </p:sp>
      <p:grpSp>
        <p:nvGrpSpPr>
          <p:cNvPr id="151" name="Google Shape;151;p23"/>
          <p:cNvGrpSpPr/>
          <p:nvPr/>
        </p:nvGrpSpPr>
        <p:grpSpPr>
          <a:xfrm>
            <a:off x="1211307" y="1705030"/>
            <a:ext cx="1233485" cy="1233485"/>
            <a:chOff x="1700550" y="1498632"/>
            <a:chExt cx="1053900" cy="1053900"/>
          </a:xfrm>
        </p:grpSpPr>
        <p:sp>
          <p:nvSpPr>
            <p:cNvPr id="152" name="Google Shape;152;p23"/>
            <p:cNvSpPr/>
            <p:nvPr/>
          </p:nvSpPr>
          <p:spPr>
            <a:xfrm>
              <a:off x="1700550" y="1498632"/>
              <a:ext cx="1053900" cy="10539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23"/>
            <p:cNvSpPr/>
            <p:nvPr/>
          </p:nvSpPr>
          <p:spPr>
            <a:xfrm>
              <a:off x="1956450" y="1729405"/>
              <a:ext cx="542100" cy="515400"/>
            </a:xfrm>
            <a:prstGeom prst="star5">
              <a:avLst>
                <a:gd fmla="val 19098" name="adj"/>
                <a:gd fmla="val 105146" name="hf"/>
                <a:gd fmla="val 110557" name="vf"/>
              </a:avLst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4" name="Google Shape;154;p23"/>
          <p:cNvGrpSpPr/>
          <p:nvPr/>
        </p:nvGrpSpPr>
        <p:grpSpPr>
          <a:xfrm>
            <a:off x="2583323" y="1705030"/>
            <a:ext cx="1233485" cy="1233485"/>
            <a:chOff x="2872812" y="1498619"/>
            <a:chExt cx="1053900" cy="1053900"/>
          </a:xfrm>
        </p:grpSpPr>
        <p:sp>
          <p:nvSpPr>
            <p:cNvPr id="155" name="Google Shape;155;p23"/>
            <p:cNvSpPr/>
            <p:nvPr/>
          </p:nvSpPr>
          <p:spPr>
            <a:xfrm>
              <a:off x="2872812" y="1498619"/>
              <a:ext cx="1053900" cy="10539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23"/>
            <p:cNvSpPr/>
            <p:nvPr/>
          </p:nvSpPr>
          <p:spPr>
            <a:xfrm>
              <a:off x="3128712" y="1729418"/>
              <a:ext cx="542100" cy="515400"/>
            </a:xfrm>
            <a:prstGeom prst="star5">
              <a:avLst>
                <a:gd fmla="val 19098" name="adj"/>
                <a:gd fmla="val 105146" name="hf"/>
                <a:gd fmla="val 110557" name="vf"/>
              </a:avLst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7" name="Google Shape;157;p23"/>
          <p:cNvGrpSpPr/>
          <p:nvPr/>
        </p:nvGrpSpPr>
        <p:grpSpPr>
          <a:xfrm>
            <a:off x="3955309" y="1705030"/>
            <a:ext cx="1233485" cy="1233485"/>
            <a:chOff x="4045050" y="1484544"/>
            <a:chExt cx="1053900" cy="1053900"/>
          </a:xfrm>
        </p:grpSpPr>
        <p:sp>
          <p:nvSpPr>
            <p:cNvPr id="158" name="Google Shape;158;p23"/>
            <p:cNvSpPr/>
            <p:nvPr/>
          </p:nvSpPr>
          <p:spPr>
            <a:xfrm>
              <a:off x="4045050" y="1484544"/>
              <a:ext cx="1053900" cy="10539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23"/>
            <p:cNvSpPr/>
            <p:nvPr/>
          </p:nvSpPr>
          <p:spPr>
            <a:xfrm>
              <a:off x="4300950" y="1715343"/>
              <a:ext cx="542100" cy="515400"/>
            </a:xfrm>
            <a:prstGeom prst="star5">
              <a:avLst>
                <a:gd fmla="val 19098" name="adj"/>
                <a:gd fmla="val 105146" name="hf"/>
                <a:gd fmla="val 110557" name="vf"/>
              </a:avLst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0" name="Google Shape;160;p23"/>
          <p:cNvGrpSpPr/>
          <p:nvPr/>
        </p:nvGrpSpPr>
        <p:grpSpPr>
          <a:xfrm>
            <a:off x="5327311" y="1705030"/>
            <a:ext cx="1233485" cy="1233485"/>
            <a:chOff x="5217300" y="1498632"/>
            <a:chExt cx="1053900" cy="1053900"/>
          </a:xfrm>
        </p:grpSpPr>
        <p:sp>
          <p:nvSpPr>
            <p:cNvPr id="161" name="Google Shape;161;p23"/>
            <p:cNvSpPr/>
            <p:nvPr/>
          </p:nvSpPr>
          <p:spPr>
            <a:xfrm>
              <a:off x="5217300" y="1498632"/>
              <a:ext cx="1053900" cy="10539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23"/>
            <p:cNvSpPr/>
            <p:nvPr/>
          </p:nvSpPr>
          <p:spPr>
            <a:xfrm>
              <a:off x="5473200" y="1729430"/>
              <a:ext cx="542100" cy="515400"/>
            </a:xfrm>
            <a:prstGeom prst="star5">
              <a:avLst>
                <a:gd fmla="val 19098" name="adj"/>
                <a:gd fmla="val 105146" name="hf"/>
                <a:gd fmla="val 110557" name="vf"/>
              </a:avLst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3" name="Google Shape;163;p23"/>
          <p:cNvGrpSpPr/>
          <p:nvPr/>
        </p:nvGrpSpPr>
        <p:grpSpPr>
          <a:xfrm>
            <a:off x="6699312" y="1705030"/>
            <a:ext cx="1233485" cy="1233485"/>
            <a:chOff x="6389550" y="1498632"/>
            <a:chExt cx="1053900" cy="1053900"/>
          </a:xfrm>
        </p:grpSpPr>
        <p:sp>
          <p:nvSpPr>
            <p:cNvPr id="164" name="Google Shape;164;p23"/>
            <p:cNvSpPr/>
            <p:nvPr/>
          </p:nvSpPr>
          <p:spPr>
            <a:xfrm>
              <a:off x="6389550" y="1498632"/>
              <a:ext cx="1053900" cy="10539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23"/>
            <p:cNvSpPr/>
            <p:nvPr/>
          </p:nvSpPr>
          <p:spPr>
            <a:xfrm>
              <a:off x="6645450" y="1729430"/>
              <a:ext cx="542100" cy="515400"/>
            </a:xfrm>
            <a:prstGeom prst="star5">
              <a:avLst>
                <a:gd fmla="val 19098" name="adj"/>
                <a:gd fmla="val 105146" name="hf"/>
                <a:gd fmla="val 110557" name="vf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6" name="Google Shape;166;p23"/>
          <p:cNvSpPr txBox="1"/>
          <p:nvPr>
            <p:ph idx="4294967295" type="body"/>
          </p:nvPr>
        </p:nvSpPr>
        <p:spPr>
          <a:xfrm>
            <a:off x="122250" y="3198825"/>
            <a:ext cx="8914200" cy="181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200"/>
              <a:t>We believe that after taking some </a:t>
            </a:r>
            <a:r>
              <a:rPr lang="en" sz="2200"/>
              <a:t>necessary</a:t>
            </a:r>
            <a:r>
              <a:rPr lang="en" sz="2200"/>
              <a:t> measures E-Learning can prove to be a very useful element, especially to increase the literacy rate of Pakistan. Until then we need a lot of resources and optimism!</a:t>
            </a:r>
            <a:endParaRPr sz="2200"/>
          </a:p>
        </p:txBody>
      </p:sp>
      <p:sp>
        <p:nvSpPr>
          <p:cNvPr id="167" name="Google Shape;167;p23"/>
          <p:cNvSpPr/>
          <p:nvPr/>
        </p:nvSpPr>
        <p:spPr>
          <a:xfrm>
            <a:off x="6998416" y="1975157"/>
            <a:ext cx="634500" cy="603300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61225" y="208825"/>
            <a:ext cx="4762500" cy="4552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