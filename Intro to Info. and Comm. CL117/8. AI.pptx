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138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11F76-6282-422A-AE9F-13DCEE1728B2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CC7841-2624-4E4B-87D2-341ED27EDE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88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Earth Resource</a:t>
            </a:r>
            <a:r>
              <a:rPr lang="en-US" baseline="0" dirty="0"/>
              <a:t> Data Analyses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C7841-2624-4E4B-87D2-341ED27EDE44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Artificial Intelligence</a:t>
            </a:r>
            <a:br>
              <a:rPr lang="en-US" dirty="0"/>
            </a:br>
            <a:r>
              <a:rPr lang="en-US" sz="3600" dirty="0">
                <a:solidFill>
                  <a:schemeClr val="accent2"/>
                </a:solidFill>
              </a:rPr>
              <a:t>IICT </a:t>
            </a:r>
            <a:r>
              <a:rPr lang="en-US" sz="3600">
                <a:solidFill>
                  <a:schemeClr val="accent2"/>
                </a:solidFill>
              </a:rPr>
              <a:t>Lecture 08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very general mental capability that involves the ability to </a:t>
            </a:r>
            <a:r>
              <a:rPr lang="en-US" dirty="0">
                <a:solidFill>
                  <a:srgbClr val="FF0000"/>
                </a:solidFill>
              </a:rPr>
              <a:t>reason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plan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solve problems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think abstractly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comprehend complex ideas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learn quickly </a:t>
            </a:r>
            <a:r>
              <a:rPr lang="en-US" dirty="0"/>
              <a:t>and </a:t>
            </a:r>
            <a:r>
              <a:rPr lang="en-US" dirty="0">
                <a:solidFill>
                  <a:srgbClr val="00B050"/>
                </a:solidFill>
              </a:rPr>
              <a:t>learn from experience</a:t>
            </a:r>
            <a:r>
              <a:rPr lang="en-US" dirty="0"/>
              <a:t>. [1]</a:t>
            </a:r>
          </a:p>
          <a:p>
            <a:r>
              <a:rPr lang="en-US" dirty="0"/>
              <a:t>Measurement of Intelligence: </a:t>
            </a:r>
          </a:p>
          <a:p>
            <a:pPr lvl="1"/>
            <a:r>
              <a:rPr lang="en-US" dirty="0"/>
              <a:t> Intelligence Quotient (IQ) </a:t>
            </a:r>
          </a:p>
          <a:p>
            <a:pPr lvl="2"/>
            <a:r>
              <a:rPr lang="en-US" dirty="0"/>
              <a:t>An intelligence quotient or IQ is a score derived from a set of standardized tests developed to measure a person's cognitive abilities ("intelligence") in relation to their age group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6396336"/>
            <a:ext cx="89154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[1] Mainstream Science on Intelligence reprinted in </a:t>
            </a:r>
            <a:r>
              <a:rPr lang="en-US" sz="1200" dirty="0" err="1"/>
              <a:t>Gottfredson</a:t>
            </a:r>
            <a:r>
              <a:rPr lang="en-US" sz="1200" dirty="0"/>
              <a:t> (1997). </a:t>
            </a:r>
            <a:r>
              <a:rPr lang="en-US" sz="1200" i="1" dirty="0"/>
              <a:t>Intelligence </a:t>
            </a:r>
            <a:r>
              <a:rPr lang="en-US" sz="1200" dirty="0"/>
              <a:t>p. 13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Planning: Knight’s Plight</a:t>
            </a:r>
            <a:br>
              <a:rPr lang="en-US" dirty="0"/>
            </a:br>
            <a:r>
              <a:rPr lang="en-US" sz="3100" dirty="0">
                <a:solidFill>
                  <a:srgbClr val="FF0000"/>
                </a:solidFill>
              </a:rPr>
              <a:t>Can we move the given knight to the </a:t>
            </a:r>
            <a:r>
              <a:rPr lang="en-US" sz="3100" dirty="0">
                <a:solidFill>
                  <a:srgbClr val="0070C0"/>
                </a:solidFill>
              </a:rPr>
              <a:t>“Target”</a:t>
            </a:r>
            <a:r>
              <a:rPr lang="en-US" sz="3100" dirty="0">
                <a:solidFill>
                  <a:srgbClr val="FF0000"/>
                </a:solidFill>
              </a:rPr>
              <a:t> location?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209800" y="1752600"/>
          <a:ext cx="5105400" cy="3886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5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4495800"/>
            <a:ext cx="827035" cy="925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514600" y="342900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Target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Planning: Knight’s Plight</a:t>
            </a:r>
            <a:br>
              <a:rPr lang="en-US" dirty="0"/>
            </a:br>
            <a:r>
              <a:rPr lang="en-US" sz="3100" dirty="0">
                <a:solidFill>
                  <a:srgbClr val="FF0000"/>
                </a:solidFill>
              </a:rPr>
              <a:t>Can we move the given knight to the </a:t>
            </a:r>
            <a:r>
              <a:rPr lang="en-US" sz="3100" dirty="0">
                <a:solidFill>
                  <a:srgbClr val="0070C0"/>
                </a:solidFill>
              </a:rPr>
              <a:t>“Target”</a:t>
            </a:r>
            <a:r>
              <a:rPr lang="en-US" sz="3100" dirty="0">
                <a:solidFill>
                  <a:srgbClr val="FF0000"/>
                </a:solidFill>
              </a:rPr>
              <a:t> location?</a:t>
            </a:r>
            <a:endParaRPr 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209800" y="1752600"/>
          <a:ext cx="5105400" cy="3886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95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4495800"/>
            <a:ext cx="827035" cy="925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514600" y="342900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Target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rot="5400000" flipH="1" flipV="1">
            <a:off x="2971800" y="2971800"/>
            <a:ext cx="2133600" cy="1066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6200000" flipH="1">
            <a:off x="4343400" y="3048000"/>
            <a:ext cx="2514600" cy="14478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10800000">
            <a:off x="3124200" y="3886200"/>
            <a:ext cx="2895600" cy="114300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Calculative Puzzle: </a:t>
            </a:r>
            <a:br>
              <a:rPr lang="en-US" dirty="0"/>
            </a:br>
            <a:r>
              <a:rPr lang="en-US" sz="4000" dirty="0">
                <a:solidFill>
                  <a:srgbClr val="0070C0"/>
                </a:solidFill>
              </a:rPr>
              <a:t>Calculation, </a:t>
            </a:r>
            <a:r>
              <a:rPr lang="en-US" sz="4000" dirty="0">
                <a:solidFill>
                  <a:srgbClr val="FF0000"/>
                </a:solidFill>
              </a:rPr>
              <a:t>Computation</a:t>
            </a:r>
            <a:r>
              <a:rPr lang="en-US" sz="4000" dirty="0">
                <a:solidFill>
                  <a:srgbClr val="0070C0"/>
                </a:solidFill>
              </a:rPr>
              <a:t>, </a:t>
            </a:r>
            <a:r>
              <a:rPr lang="en-US" sz="4000" dirty="0">
                <a:solidFill>
                  <a:srgbClr val="00B050"/>
                </a:solidFill>
              </a:rPr>
              <a:t>Reasoning </a:t>
            </a:r>
            <a:endParaRPr lang="en-US" dirty="0">
              <a:solidFill>
                <a:srgbClr val="00B05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543800" cy="3937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4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37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The number of times the digit 0 appears in this puzzle is ?.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1 appears in this puzzle is ?.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2 appears in this puzzle is ?.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3 appears in this puzzle is ?.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4 appears in this puzzle is ?.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5 appears in this puzzle is ?.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6 appears in this puzzle is ?.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7 appears in this puzzle is ?.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8 appears in this puzzle is ?.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9 appears in this puzzle is ?. 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24000" y="6248400"/>
            <a:ext cx="48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Replace </a:t>
            </a:r>
            <a:r>
              <a:rPr lang="en-US" sz="2400" b="1" dirty="0"/>
              <a:t>?</a:t>
            </a:r>
            <a:r>
              <a:rPr lang="en-US" sz="2400" dirty="0"/>
              <a:t> s</a:t>
            </a:r>
            <a:r>
              <a:rPr lang="en-US" sz="2000" dirty="0"/>
              <a:t>ign with count of numbers?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Calculative Puzzle: </a:t>
            </a:r>
            <a:br>
              <a:rPr lang="en-US" dirty="0"/>
            </a:br>
            <a:r>
              <a:rPr lang="en-US" sz="4000" dirty="0">
                <a:solidFill>
                  <a:srgbClr val="0070C0"/>
                </a:solidFill>
              </a:rPr>
              <a:t>Calculation, </a:t>
            </a:r>
            <a:r>
              <a:rPr lang="en-US" sz="4000" dirty="0">
                <a:solidFill>
                  <a:srgbClr val="FF0000"/>
                </a:solidFill>
              </a:rPr>
              <a:t>Computation</a:t>
            </a:r>
            <a:r>
              <a:rPr lang="en-US" sz="4000" dirty="0">
                <a:solidFill>
                  <a:srgbClr val="0070C0"/>
                </a:solidFill>
              </a:rPr>
              <a:t>, </a:t>
            </a:r>
            <a:r>
              <a:rPr lang="en-US" sz="4000" dirty="0">
                <a:solidFill>
                  <a:srgbClr val="00B050"/>
                </a:solidFill>
              </a:rPr>
              <a:t>Reasoning </a:t>
            </a:r>
            <a:endParaRPr lang="en-US" dirty="0">
              <a:solidFill>
                <a:srgbClr val="00B05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543800" cy="3937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4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37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The number of times the digit 0 appears in this puzzle is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sz="2400" dirty="0"/>
                        <a:t>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1 appears in this puzzle is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11</a:t>
                      </a:r>
                      <a:r>
                        <a:rPr lang="en-US" sz="2400" dirty="0"/>
                        <a:t>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2 appears in this puzzle is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sz="2400" dirty="0"/>
                        <a:t>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3 appears in this puzzle is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sz="2400" dirty="0"/>
                        <a:t>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4 appears in this puzzle is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sz="2400" dirty="0"/>
                        <a:t>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5 appears in this puzzle is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sz="2400" dirty="0"/>
                        <a:t>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6 appears in this puzzle is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sz="2400" dirty="0"/>
                        <a:t>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7 appears in this puzzle is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sz="2400" dirty="0"/>
                        <a:t>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8 appears in this puzzle is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sz="2400" dirty="0"/>
                        <a:t>.</a:t>
                      </a:r>
                      <a:br>
                        <a:rPr lang="en-US" sz="2400" dirty="0"/>
                      </a:br>
                      <a:r>
                        <a:rPr lang="en-US" sz="2400" dirty="0"/>
                        <a:t>The number of times the digit 9 appears in this puzzle is </a:t>
                      </a: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sz="2400" dirty="0"/>
                        <a:t>. 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524000" y="6248400"/>
            <a:ext cx="48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Replace </a:t>
            </a:r>
            <a:r>
              <a:rPr lang="en-US" sz="2400" b="1" dirty="0"/>
              <a:t>?</a:t>
            </a:r>
            <a:r>
              <a:rPr lang="en-US" sz="2400" dirty="0"/>
              <a:t> s</a:t>
            </a:r>
            <a:r>
              <a:rPr lang="en-US" sz="2000" dirty="0"/>
              <a:t>ign with count of numbers?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Painting by two different painters:</a:t>
            </a:r>
            <a:br>
              <a:rPr lang="en-US" sz="4000" dirty="0"/>
            </a:br>
            <a:r>
              <a:rPr lang="en-US" sz="4000" dirty="0">
                <a:solidFill>
                  <a:srgbClr val="0070C0"/>
                </a:solidFill>
              </a:rPr>
              <a:t>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600200"/>
            <a:ext cx="7372350" cy="4217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7467600" y="2438400"/>
            <a:ext cx="1354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Painter </a:t>
            </a:r>
            <a:r>
              <a:rPr lang="en-US" sz="24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0" y="4648200"/>
            <a:ext cx="1342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Painter </a:t>
            </a:r>
            <a:r>
              <a:rPr lang="en-US" sz="2400" b="1" dirty="0">
                <a:solidFill>
                  <a:srgbClr val="0070C0"/>
                </a:solidFill>
              </a:rPr>
              <a:t>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Now your turn… 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Who’s painting is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1" y="2021999"/>
            <a:ext cx="4343400" cy="379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905000"/>
            <a:ext cx="5468937" cy="4112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Finding the odd one out:</a:t>
            </a:r>
            <a:br>
              <a:rPr lang="en-US" dirty="0"/>
            </a:br>
            <a:r>
              <a:rPr lang="en-US" sz="4000" dirty="0">
                <a:solidFill>
                  <a:srgbClr val="FF0000"/>
                </a:solidFill>
              </a:rPr>
              <a:t>Unsupervised Learning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1752600"/>
            <a:ext cx="5181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3352800"/>
            <a:ext cx="7029450" cy="304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49530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What is the next number in this series?</a:t>
            </a:r>
          </a:p>
          <a:p>
            <a:r>
              <a:rPr lang="en-US" dirty="0"/>
              <a:t>1, 1, 2, 3, 5, ?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Would you cross a road when a fast car is</a:t>
            </a:r>
            <a:br>
              <a:rPr lang="en-US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approaching? </a:t>
            </a:r>
            <a:br>
              <a:rPr lang="en-US" dirty="0"/>
            </a:b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2971800"/>
            <a:ext cx="3657600" cy="3315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>
            <a:noAutofit/>
          </a:bodyPr>
          <a:lstStyle/>
          <a:p>
            <a:r>
              <a:rPr lang="en-US" sz="2200" dirty="0"/>
              <a:t>Knight’s Plight</a:t>
            </a:r>
          </a:p>
          <a:p>
            <a:pPr lvl="1"/>
            <a:r>
              <a:rPr lang="en-US" sz="1800" dirty="0"/>
              <a:t>Planning</a:t>
            </a:r>
          </a:p>
          <a:p>
            <a:r>
              <a:rPr lang="en-US" sz="2200" dirty="0"/>
              <a:t> Calculative Puzzle</a:t>
            </a:r>
          </a:p>
          <a:p>
            <a:pPr lvl="1"/>
            <a:r>
              <a:rPr lang="en-US" sz="1800" dirty="0"/>
              <a:t>Calculation, Computation, Reasoning</a:t>
            </a:r>
          </a:p>
          <a:p>
            <a:r>
              <a:rPr lang="en-US" sz="2200" dirty="0"/>
              <a:t>Finding the odd one out</a:t>
            </a:r>
          </a:p>
          <a:p>
            <a:pPr lvl="1"/>
            <a:r>
              <a:rPr lang="en-US" sz="1800" dirty="0"/>
              <a:t>Unsupervised Learning</a:t>
            </a:r>
          </a:p>
          <a:p>
            <a:r>
              <a:rPr lang="en-US" sz="2200" dirty="0"/>
              <a:t>Painting by two different painters</a:t>
            </a:r>
          </a:p>
          <a:p>
            <a:pPr lvl="1"/>
            <a:r>
              <a:rPr lang="en-US" sz="1800" dirty="0"/>
              <a:t>Supervised Learning</a:t>
            </a:r>
          </a:p>
          <a:p>
            <a:r>
              <a:rPr lang="en-US" sz="2200" dirty="0"/>
              <a:t>Series Completion</a:t>
            </a:r>
          </a:p>
          <a:p>
            <a:pPr lvl="1"/>
            <a:r>
              <a:rPr lang="en-US" sz="1800" dirty="0"/>
              <a:t>Prediction</a:t>
            </a:r>
          </a:p>
          <a:p>
            <a:r>
              <a:rPr lang="en-US" sz="2200" dirty="0"/>
              <a:t>Road Crossing</a:t>
            </a:r>
          </a:p>
          <a:p>
            <a:pPr lvl="1"/>
            <a:r>
              <a:rPr lang="en-US" sz="1800" dirty="0"/>
              <a:t>Rational Actions</a:t>
            </a:r>
          </a:p>
          <a:p>
            <a:r>
              <a:rPr lang="en-US" sz="2200" dirty="0"/>
              <a:t>Process of Writing this Conclusion</a:t>
            </a:r>
          </a:p>
          <a:p>
            <a:pPr lvl="1"/>
            <a:r>
              <a:rPr lang="en-US" sz="1800" dirty="0"/>
              <a:t> Summarizing, Abstraction </a:t>
            </a:r>
            <a:br>
              <a:rPr lang="en-US" sz="1800" dirty="0"/>
            </a:br>
            <a:endParaRPr lang="en-US" sz="1800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53000" y="2590800"/>
            <a:ext cx="1676400" cy="299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Cloud Callout 5"/>
          <p:cNvSpPr/>
          <p:nvPr/>
        </p:nvSpPr>
        <p:spPr>
          <a:xfrm>
            <a:off x="5638800" y="914400"/>
            <a:ext cx="2743200" cy="190500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Searching for a solution is central to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52400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These are the very characteristics of Intelligent beings!! 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Artificial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305800" cy="4572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Computers are ______.</a:t>
            </a:r>
          </a:p>
          <a:p>
            <a:r>
              <a:rPr lang="en-US" dirty="0"/>
              <a:t>Making a machine (computer) to perform the</a:t>
            </a:r>
            <a:br>
              <a:rPr lang="en-US" dirty="0"/>
            </a:br>
            <a:r>
              <a:rPr lang="en-US" dirty="0"/>
              <a:t>same tasks which you have just done is called______.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Artificial Intelligence </a:t>
            </a:r>
          </a:p>
          <a:p>
            <a:r>
              <a:rPr lang="en-US" dirty="0"/>
              <a:t>If you learn to do these tasks using existing</a:t>
            </a:r>
            <a:br>
              <a:rPr lang="en-US" dirty="0"/>
            </a:br>
            <a:r>
              <a:rPr lang="en-US" dirty="0"/>
              <a:t>data, then this is called _____.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Machine Learning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276600" y="1752600"/>
            <a:ext cx="9428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sz="2400" dirty="0">
                <a:solidFill>
                  <a:srgbClr val="FF0000"/>
                </a:solidFill>
              </a:rPr>
              <a:t>Dumb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Artificial Intelligence takes the problem of</a:t>
            </a:r>
            <a:br>
              <a:rPr lang="en-US" dirty="0"/>
            </a:br>
            <a:r>
              <a:rPr lang="en-US" dirty="0"/>
              <a:t>understanding </a:t>
            </a:r>
            <a:r>
              <a:rPr lang="en-US" i="1" dirty="0"/>
              <a:t>how we think </a:t>
            </a:r>
            <a:r>
              <a:rPr lang="en-US" dirty="0"/>
              <a:t>a step further</a:t>
            </a:r>
          </a:p>
          <a:p>
            <a:pPr lvl="1"/>
            <a:r>
              <a:rPr lang="en-US" dirty="0"/>
              <a:t> It attempts not just to understand it – but – also</a:t>
            </a:r>
            <a:br>
              <a:rPr lang="en-US" dirty="0"/>
            </a:br>
            <a:r>
              <a:rPr lang="en-US" dirty="0"/>
              <a:t>to build intelligent entities</a:t>
            </a:r>
          </a:p>
          <a:p>
            <a:r>
              <a:rPr lang="en-US" dirty="0"/>
              <a:t>A more proper definition of Artificial</a:t>
            </a:r>
            <a:br>
              <a:rPr lang="en-US" dirty="0"/>
            </a:br>
            <a:r>
              <a:rPr lang="en-US" dirty="0"/>
              <a:t>Intelligence</a:t>
            </a:r>
          </a:p>
          <a:p>
            <a:pPr lvl="1"/>
            <a:r>
              <a:rPr lang="en-US" i="1" dirty="0"/>
              <a:t>The art of creating machines that perform</a:t>
            </a:r>
            <a:br>
              <a:rPr lang="en-US" i="1" dirty="0"/>
            </a:br>
            <a:r>
              <a:rPr lang="en-US" i="1" dirty="0"/>
              <a:t>functions that require intelligence when</a:t>
            </a:r>
            <a:br>
              <a:rPr lang="en-US" i="1" dirty="0"/>
            </a:br>
            <a:r>
              <a:rPr lang="en-US" i="1" dirty="0"/>
              <a:t>performed by people [1]</a:t>
            </a:r>
          </a:p>
          <a:p>
            <a:r>
              <a:rPr lang="en-US" dirty="0"/>
              <a:t>Measurement of Artificial Intelligence</a:t>
            </a:r>
          </a:p>
          <a:p>
            <a:pPr lvl="1"/>
            <a:r>
              <a:rPr lang="en-US" dirty="0"/>
              <a:t>Turing Test </a:t>
            </a:r>
            <a:br>
              <a:rPr lang="en-US" dirty="0"/>
            </a:b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6581001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[1] Rich E., and Knight K., (1991). </a:t>
            </a:r>
            <a:r>
              <a:rPr lang="en-US" sz="1200" i="1" dirty="0"/>
              <a:t>Artificial Intelligence (2e), </a:t>
            </a:r>
            <a:r>
              <a:rPr lang="en-US" sz="1200" dirty="0"/>
              <a:t>McGraw-Hill, </a:t>
            </a:r>
            <a:r>
              <a:rPr lang="en-US" sz="1200" dirty="0" err="1"/>
              <a:t>NewYork</a:t>
            </a:r>
            <a:r>
              <a:rPr lang="en-US" sz="1200"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Turing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5105400" cy="4525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Turing Test</a:t>
            </a:r>
          </a:p>
          <a:p>
            <a:pPr lvl="1"/>
            <a:r>
              <a:rPr lang="en-US" dirty="0"/>
              <a:t>Suggested major components of AI: knowledge, reasoning, language understanding,</a:t>
            </a:r>
            <a:br>
              <a:rPr lang="en-US" dirty="0"/>
            </a:br>
            <a:r>
              <a:rPr lang="en-US" dirty="0"/>
              <a:t>learning</a:t>
            </a:r>
          </a:p>
          <a:p>
            <a:r>
              <a:rPr lang="en-US" dirty="0"/>
              <a:t>Application of the Turing</a:t>
            </a:r>
            <a:br>
              <a:rPr lang="en-US" dirty="0"/>
            </a:br>
            <a:r>
              <a:rPr lang="en-US" dirty="0"/>
              <a:t>Test</a:t>
            </a:r>
          </a:p>
          <a:p>
            <a:pPr lvl="1"/>
            <a:r>
              <a:rPr lang="en-US" dirty="0"/>
              <a:t>CAPTCHA: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ompletely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utomated </a:t>
            </a:r>
            <a:r>
              <a:rPr lang="en-US" dirty="0">
                <a:solidFill>
                  <a:srgbClr val="FF0000"/>
                </a:solidFill>
              </a:rPr>
              <a:t>P</a:t>
            </a:r>
            <a:r>
              <a:rPr lang="en-US" dirty="0"/>
              <a:t>ublic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/>
              <a:t>uring test to tell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omputers and </a:t>
            </a:r>
            <a:r>
              <a:rPr lang="en-US" dirty="0">
                <a:solidFill>
                  <a:srgbClr val="FF0000"/>
                </a:solidFill>
              </a:rPr>
              <a:t>H</a:t>
            </a:r>
            <a:r>
              <a:rPr lang="en-US" dirty="0"/>
              <a:t>umans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part </a:t>
            </a:r>
            <a:br>
              <a:rPr lang="en-US" dirty="0"/>
            </a:br>
            <a:endParaRPr lang="en-US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81600" y="2057400"/>
            <a:ext cx="3738729" cy="289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90800" y="5334000"/>
            <a:ext cx="3048000" cy="1250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Is AI intelligent?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Planning</a:t>
            </a:r>
          </a:p>
          <a:p>
            <a:pPr lvl="1"/>
            <a:r>
              <a:rPr lang="en-US" dirty="0"/>
              <a:t>Kasparov Vs. IBM Blue</a:t>
            </a:r>
            <a:br>
              <a:rPr lang="en-US" dirty="0"/>
            </a:br>
            <a:r>
              <a:rPr lang="en-US" dirty="0"/>
              <a:t>(1997)</a:t>
            </a:r>
          </a:p>
          <a:p>
            <a:r>
              <a:rPr lang="en-US" dirty="0"/>
              <a:t>Calculation</a:t>
            </a:r>
          </a:p>
          <a:p>
            <a:pPr lvl="1"/>
            <a:r>
              <a:rPr lang="en-US" dirty="0"/>
              <a:t>Symbolic Integration in</a:t>
            </a:r>
            <a:br>
              <a:rPr lang="en-US" dirty="0"/>
            </a:br>
            <a:r>
              <a:rPr lang="en-US" dirty="0" err="1"/>
              <a:t>Mathematica</a:t>
            </a:r>
            <a:endParaRPr lang="en-US" dirty="0"/>
          </a:p>
          <a:p>
            <a:pPr lvl="1"/>
            <a:r>
              <a:rPr lang="en-US" dirty="0"/>
              <a:t>Theorem </a:t>
            </a:r>
            <a:r>
              <a:rPr lang="en-US" dirty="0" err="1"/>
              <a:t>Provers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63152" y="0"/>
            <a:ext cx="4180848" cy="247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05400" y="2590800"/>
            <a:ext cx="40386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AI intelligent?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without a Teacher</a:t>
            </a:r>
          </a:p>
          <a:p>
            <a:pPr lvl="1"/>
            <a:r>
              <a:rPr lang="en-US" dirty="0"/>
              <a:t> ERDAS Imagine</a:t>
            </a:r>
          </a:p>
          <a:p>
            <a:pPr lvl="1"/>
            <a:r>
              <a:rPr lang="en-US" dirty="0"/>
              <a:t>Classification of Land</a:t>
            </a:r>
            <a:br>
              <a:rPr lang="en-US" dirty="0"/>
            </a:br>
            <a:r>
              <a:rPr lang="en-US" dirty="0"/>
              <a:t>Use</a:t>
            </a:r>
          </a:p>
          <a:p>
            <a:pPr>
              <a:buNone/>
            </a:pPr>
            <a:r>
              <a:rPr lang="en-US" dirty="0">
                <a:solidFill>
                  <a:schemeClr val="tx2"/>
                </a:solidFill>
              </a:rPr>
              <a:t>ERDAS: 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World Class Remote Sensing</a:t>
            </a:r>
          </a:p>
          <a:p>
            <a:pPr lvl="1">
              <a:buNone/>
            </a:pPr>
            <a:r>
              <a:rPr lang="en-US" dirty="0">
                <a:solidFill>
                  <a:schemeClr val="tx2"/>
                </a:solidFill>
              </a:rPr>
              <a:t>Software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72409" y="1752600"/>
            <a:ext cx="3671591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2450" y="6372225"/>
            <a:ext cx="8591550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AI intelligent?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3886200" cy="30479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Learning with a teacher</a:t>
            </a:r>
          </a:p>
          <a:p>
            <a:pPr lvl="1"/>
            <a:r>
              <a:rPr lang="en-US" dirty="0"/>
              <a:t>No Hands Across America!</a:t>
            </a:r>
          </a:p>
          <a:p>
            <a:pPr lvl="1"/>
            <a:r>
              <a:rPr lang="en-US" dirty="0"/>
              <a:t>Optical Character Recognition </a:t>
            </a:r>
            <a:br>
              <a:rPr lang="en-US" dirty="0"/>
            </a:br>
            <a:endParaRPr lang="en-US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724400"/>
            <a:ext cx="45720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21275" y="4732337"/>
            <a:ext cx="4022725" cy="212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52800" y="1066800"/>
            <a:ext cx="6934200" cy="3373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Forecasting and Prediction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295400"/>
            <a:ext cx="7086600" cy="51323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>
                <a:solidFill>
                  <a:srgbClr val="0070C0"/>
                </a:solidFill>
              </a:rPr>
              <a:t>Is deep blue Intelligent?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525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34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Deep Blue defeated the world chess champion Garry Kasparov. Does this make Deep Blue </a:t>
            </a:r>
            <a:r>
              <a:rPr lang="en-US" sz="3400" b="1" dirty="0">
                <a:solidFill>
                  <a:srgbClr val="0070C0"/>
                </a:solidFill>
                <a:latin typeface="+mj-lt"/>
                <a:cs typeface="Times New Roman" pitchFamily="18" charset="0"/>
              </a:rPr>
              <a:t>an intelligent machine</a:t>
            </a:r>
            <a:r>
              <a:rPr lang="en-US" sz="34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?</a:t>
            </a:r>
          </a:p>
          <a:p>
            <a:r>
              <a:rPr lang="en-US" sz="3400" dirty="0">
                <a:latin typeface="+mj-lt"/>
                <a:cs typeface="Times New Roman" pitchFamily="18" charset="0"/>
              </a:rPr>
              <a:t>Think about it for a few seconds and take a stance</a:t>
            </a:r>
          </a:p>
          <a:p>
            <a:r>
              <a:rPr lang="en-US" sz="3400" b="1" dirty="0">
                <a:latin typeface="+mj-lt"/>
                <a:cs typeface="Times New Roman" pitchFamily="18" charset="0"/>
              </a:rPr>
              <a:t>Write down at least two items </a:t>
            </a:r>
            <a:r>
              <a:rPr lang="en-US" sz="3400" dirty="0">
                <a:latin typeface="+mj-lt"/>
                <a:cs typeface="Times New Roman" pitchFamily="18" charset="0"/>
              </a:rPr>
              <a:t>that support your claim either way</a:t>
            </a:r>
          </a:p>
          <a:p>
            <a:r>
              <a:rPr lang="en-US" sz="3400" dirty="0">
                <a:latin typeface="+mj-lt"/>
                <a:cs typeface="Times New Roman" pitchFamily="18" charset="0"/>
              </a:rPr>
              <a:t>Pair up with your neighbor and Exchange opinions</a:t>
            </a:r>
          </a:p>
          <a:p>
            <a:r>
              <a:rPr lang="en-US" sz="3400" dirty="0">
                <a:latin typeface="+mj-lt"/>
                <a:cs typeface="Times New Roman" pitchFamily="18" charset="0"/>
              </a:rPr>
              <a:t>Try to argue for your stance</a:t>
            </a:r>
          </a:p>
          <a:p>
            <a:r>
              <a:rPr lang="en-US" sz="3400" dirty="0">
                <a:latin typeface="+mj-lt"/>
                <a:cs typeface="Times New Roman" pitchFamily="18" charset="0"/>
              </a:rPr>
              <a:t>Listen carefully to the arguments of your neighbor</a:t>
            </a:r>
          </a:p>
          <a:p>
            <a:r>
              <a:rPr lang="en-US" sz="3400" dirty="0">
                <a:latin typeface="+mj-lt"/>
                <a:cs typeface="Times New Roman" pitchFamily="18" charset="0"/>
              </a:rPr>
              <a:t>Try to reach an agreement, if possible</a:t>
            </a:r>
          </a:p>
          <a:p>
            <a:r>
              <a:rPr lang="en-US" sz="3400" dirty="0">
                <a:latin typeface="+mj-lt"/>
                <a:cs typeface="Times New Roman" pitchFamily="18" charset="0"/>
              </a:rPr>
              <a:t>Make your verdict: YES (machine is intelligent) or NO (machine is not intelligent) or X (no agreement)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0" y="0"/>
            <a:ext cx="3429000" cy="2027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Blue Vs Garry Kasparov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371600"/>
            <a:ext cx="8474449" cy="476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524000"/>
            <a:ext cx="8285230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Natural Language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The man tried to take a picture of a man with a turban.</a:t>
            </a:r>
          </a:p>
          <a:p>
            <a:pPr lvl="1"/>
            <a:r>
              <a:rPr lang="en-US" dirty="0"/>
              <a:t>Did the man try to take a picture with a turban, or</a:t>
            </a:r>
          </a:p>
          <a:p>
            <a:pPr lvl="1"/>
            <a:r>
              <a:rPr lang="en-US" dirty="0"/>
              <a:t> take a picture of a man who is wearing a turban? </a:t>
            </a:r>
          </a:p>
          <a:p>
            <a:r>
              <a:rPr lang="en-US" i="1" dirty="0"/>
              <a:t>The man saw the boy with the telescope</a:t>
            </a:r>
          </a:p>
          <a:p>
            <a:r>
              <a:rPr lang="en-US" dirty="0">
                <a:solidFill>
                  <a:srgbClr val="0070C0"/>
                </a:solidFill>
              </a:rPr>
              <a:t>Communicating in natural language assumes </a:t>
            </a:r>
            <a:r>
              <a:rPr lang="en-US" b="1" dirty="0">
                <a:solidFill>
                  <a:srgbClr val="0070C0"/>
                </a:solidFill>
              </a:rPr>
              <a:t>world knowledge </a:t>
            </a:r>
            <a:r>
              <a:rPr lang="en-US" dirty="0">
                <a:solidFill>
                  <a:srgbClr val="0070C0"/>
                </a:solidFill>
              </a:rPr>
              <a:t>and </a:t>
            </a:r>
            <a:r>
              <a:rPr lang="en-US" b="1" dirty="0">
                <a:solidFill>
                  <a:srgbClr val="0070C0"/>
                </a:solidFill>
              </a:rPr>
              <a:t>the understanding of context</a:t>
            </a:r>
            <a:r>
              <a:rPr lang="en-US" dirty="0">
                <a:solidFill>
                  <a:srgbClr val="0070C0"/>
                </a:solidFill>
              </a:rPr>
              <a:t>, both of which are required to resolve the ambiguities 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Case Study: Self-driving Car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1035</Words>
  <Application>Microsoft Office PowerPoint</Application>
  <PresentationFormat>On-screen Show (4:3)</PresentationFormat>
  <Paragraphs>102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Office Theme</vt:lpstr>
      <vt:lpstr>Introduction to Artificial Intelligence IICT Lecture 08</vt:lpstr>
      <vt:lpstr>Intelligence</vt:lpstr>
      <vt:lpstr>Planning: Knight’s Plight Can we move the given knight to the “Target” location?</vt:lpstr>
      <vt:lpstr>Planning: Knight’s Plight Can we move the given knight to the “Target” location?</vt:lpstr>
      <vt:lpstr>Calculative Puzzle:  Calculation, Computation, Reasoning </vt:lpstr>
      <vt:lpstr>Calculative Puzzle:  Calculation, Computation, Reasoning </vt:lpstr>
      <vt:lpstr>Painting by two different painters: Supervised Learning</vt:lpstr>
      <vt:lpstr>Now your turn…  Who’s painting is this?</vt:lpstr>
      <vt:lpstr>And this?</vt:lpstr>
      <vt:lpstr>Finding the odd one out: Unsupervised Learning</vt:lpstr>
      <vt:lpstr>Some more…</vt:lpstr>
      <vt:lpstr>Conclusion</vt:lpstr>
      <vt:lpstr>What is Artificial Intelligence?</vt:lpstr>
      <vt:lpstr>Artificial Intelligence</vt:lpstr>
      <vt:lpstr>Turing Test</vt:lpstr>
      <vt:lpstr>Is AI intelligent?</vt:lpstr>
      <vt:lpstr>Is AI intelligent?</vt:lpstr>
      <vt:lpstr>Is AI intelligent?</vt:lpstr>
      <vt:lpstr>Forecasting and Prediction</vt:lpstr>
      <vt:lpstr>Is deep blue Intelligent?</vt:lpstr>
      <vt:lpstr>Deep Blue Vs Garry Kasparov</vt:lpstr>
      <vt:lpstr>PowerPoint Presentation</vt:lpstr>
      <vt:lpstr>Natural Language Understanding</vt:lpstr>
      <vt:lpstr>Case Study: Self-driving Car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Artificial Intelligence</dc:title>
  <dc:creator>bismillahjan</dc:creator>
  <cp:lastModifiedBy>sarfraz.raza</cp:lastModifiedBy>
  <cp:revision>225</cp:revision>
  <dcterms:created xsi:type="dcterms:W3CDTF">2006-08-16T00:00:00Z</dcterms:created>
  <dcterms:modified xsi:type="dcterms:W3CDTF">2020-11-09T21:37:57Z</dcterms:modified>
</cp:coreProperties>
</file>