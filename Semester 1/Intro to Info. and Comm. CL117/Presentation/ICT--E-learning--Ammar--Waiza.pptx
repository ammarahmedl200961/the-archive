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Roboto Slab"/>
      <p:regular r:id="rId26"/>
      <p:bold r:id="rId27"/>
    </p:embeddedFont>
    <p:embeddedFont>
      <p:font typeface="Robot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Slab-regular.fntdata"/><Relationship Id="rId25" Type="http://schemas.openxmlformats.org/officeDocument/2006/relationships/slide" Target="slides/slide20.xml"/><Relationship Id="rId28" Type="http://schemas.openxmlformats.org/officeDocument/2006/relationships/font" Target="fonts/Roboto-regular.fntdata"/><Relationship Id="rId27" Type="http://schemas.openxmlformats.org/officeDocument/2006/relationships/font" Target="fonts/RobotoSlab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c6f75fce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c6f75fce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b03e90f2f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b03e90f2f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c6f75fce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c6f75fce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c6f75fce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c6f75fce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c6f75fceb_0_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c6f75fce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b03e90f2f9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b03e90f2f9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a97053d9b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a97053d9b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a97053d9b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a97053d9b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b03e90f2f9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b03e90f2f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a97053d9b2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a97053d9b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a97053d9b2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a97053d9b2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b2203c5d6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b2203c5d6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a58463139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a58463139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c6f75fceb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c6f75fceb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b1f2fd37c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b1f2fd37c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b03e90f2f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b03e90f2f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b03e90f2f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b03e90f2f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b03e90f2f9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b03e90f2f9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c6f75fceb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c6f75fceb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b2203c5d61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b2203c5d6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11" Type="http://schemas.openxmlformats.org/officeDocument/2006/relationships/image" Target="../media/image37.png"/><Relationship Id="rId10" Type="http://schemas.openxmlformats.org/officeDocument/2006/relationships/image" Target="../media/image5.png"/><Relationship Id="rId12" Type="http://schemas.openxmlformats.org/officeDocument/2006/relationships/image" Target="../media/image26.png"/><Relationship Id="rId9" Type="http://schemas.openxmlformats.org/officeDocument/2006/relationships/image" Target="../media/image4.png"/><Relationship Id="rId5" Type="http://schemas.openxmlformats.org/officeDocument/2006/relationships/image" Target="../media/image20.png"/><Relationship Id="rId6" Type="http://schemas.openxmlformats.org/officeDocument/2006/relationships/image" Target="../media/image9.png"/><Relationship Id="rId7" Type="http://schemas.openxmlformats.org/officeDocument/2006/relationships/image" Target="../media/image33.png"/><Relationship Id="rId8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1.jpg"/><Relationship Id="rId9" Type="http://schemas.openxmlformats.org/officeDocument/2006/relationships/image" Target="../media/image22.png"/><Relationship Id="rId5" Type="http://schemas.openxmlformats.org/officeDocument/2006/relationships/image" Target="../media/image2.png"/><Relationship Id="rId6" Type="http://schemas.openxmlformats.org/officeDocument/2006/relationships/image" Target="../media/image7.png"/><Relationship Id="rId7" Type="http://schemas.openxmlformats.org/officeDocument/2006/relationships/image" Target="../media/image1.png"/><Relationship Id="rId8" Type="http://schemas.openxmlformats.org/officeDocument/2006/relationships/image" Target="../media/image1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8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8.png"/><Relationship Id="rId5" Type="http://schemas.openxmlformats.org/officeDocument/2006/relationships/image" Target="../media/image39.png"/><Relationship Id="rId6" Type="http://schemas.openxmlformats.org/officeDocument/2006/relationships/image" Target="../media/image31.png"/><Relationship Id="rId7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0.png"/><Relationship Id="rId4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7.jpg"/><Relationship Id="rId4" Type="http://schemas.openxmlformats.org/officeDocument/2006/relationships/image" Target="../media/image16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4.jpg"/><Relationship Id="rId4" Type="http://schemas.openxmlformats.org/officeDocument/2006/relationships/image" Target="../media/image2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680302" y="8880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E-Learning </a:t>
            </a:r>
            <a:endParaRPr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Ammar 20L-0961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Waiza 20L-1253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189300" y="1209075"/>
            <a:ext cx="42015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we will look at this topic ??</a:t>
            </a:r>
            <a:endParaRPr/>
          </a:p>
        </p:txBody>
      </p:sp>
      <p:sp>
        <p:nvSpPr>
          <p:cNvPr id="70" name="Google Shape;70;p14"/>
          <p:cNvSpPr txBox="1"/>
          <p:nvPr>
            <p:ph idx="2" type="body"/>
          </p:nvPr>
        </p:nvSpPr>
        <p:spPr>
          <a:xfrm>
            <a:off x="4805275" y="724200"/>
            <a:ext cx="39711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definition of E-learning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E-learning and it’s applications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Platforms for modern E-learning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Major issues involved in this mode of teaching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can we counter this issue.</a:t>
            </a:r>
            <a:endParaRPr/>
          </a:p>
        </p:txBody>
      </p:sp>
      <p:pic>
        <p:nvPicPr>
          <p:cNvPr id="71" name="Google Shape;7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6625" y="2878550"/>
            <a:ext cx="2151950" cy="1435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idx="2" type="body"/>
          </p:nvPr>
        </p:nvSpPr>
        <p:spPr>
          <a:xfrm>
            <a:off x="4885575" y="422275"/>
            <a:ext cx="3837000" cy="257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100"/>
              <a:buNone/>
            </a:pPr>
            <a:r>
              <a:rPr lang="en"/>
              <a:t>“Learning system based on formalised teaching but with the help of electronic devices is known as E-learning.”</a:t>
            </a:r>
            <a:endParaRPr/>
          </a:p>
        </p:txBody>
      </p:sp>
      <p:sp>
        <p:nvSpPr>
          <p:cNvPr id="77" name="Google Shape;77;p15"/>
          <p:cNvSpPr txBox="1"/>
          <p:nvPr>
            <p:ph type="title"/>
          </p:nvPr>
        </p:nvSpPr>
        <p:spPr>
          <a:xfrm>
            <a:off x="303125" y="1912650"/>
            <a:ext cx="4045200" cy="131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 of E-learning</a:t>
            </a:r>
            <a:endParaRPr/>
          </a:p>
        </p:txBody>
      </p:sp>
      <p:pic>
        <p:nvPicPr>
          <p:cNvPr id="78" name="Google Shape;7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0425" y="3124450"/>
            <a:ext cx="2852154" cy="160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E-learning and it’s Applications</a:t>
            </a:r>
            <a:endParaRPr/>
          </a:p>
        </p:txBody>
      </p:sp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Widely used in inter-country meetings.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Common use of video-conferencing apps.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600"/>
              </a:spcAft>
              <a:buSzPts val="1800"/>
              <a:buChar char="●"/>
            </a:pPr>
            <a:r>
              <a:rPr lang="en"/>
              <a:t>Human resource lectures were given through E-Learning.</a:t>
            </a:r>
            <a:endParaRPr/>
          </a:p>
        </p:txBody>
      </p:sp>
      <p:pic>
        <p:nvPicPr>
          <p:cNvPr id="85" name="Google Shape;8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8875" y="3305575"/>
            <a:ext cx="2076525" cy="1609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idx="4294967295"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E-Learning Platforms</a:t>
            </a:r>
            <a:endParaRPr/>
          </a:p>
        </p:txBody>
      </p:sp>
      <p:sp>
        <p:nvSpPr>
          <p:cNvPr id="91" name="Google Shape;91;p17"/>
          <p:cNvSpPr txBox="1"/>
          <p:nvPr>
            <p:ph idx="4294967295" type="body"/>
          </p:nvPr>
        </p:nvSpPr>
        <p:spPr>
          <a:xfrm>
            <a:off x="311700" y="1195201"/>
            <a:ext cx="3853200" cy="5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000" u="sng">
                <a:solidFill>
                  <a:schemeClr val="accent5"/>
                </a:solidFill>
              </a:rPr>
              <a:t>Mainstream Platforms</a:t>
            </a:r>
            <a:endParaRPr b="1" sz="3000" u="sng">
              <a:solidFill>
                <a:schemeClr val="accent5"/>
              </a:solidFill>
            </a:endParaRPr>
          </a:p>
        </p:txBody>
      </p:sp>
      <p:cxnSp>
        <p:nvCxnSpPr>
          <p:cNvPr id="92" name="Google Shape;92;p17"/>
          <p:cNvCxnSpPr/>
          <p:nvPr/>
        </p:nvCxnSpPr>
        <p:spPr>
          <a:xfrm>
            <a:off x="418675" y="1811883"/>
            <a:ext cx="2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" name="Google Shape;93;p17"/>
          <p:cNvCxnSpPr/>
          <p:nvPr/>
        </p:nvCxnSpPr>
        <p:spPr>
          <a:xfrm>
            <a:off x="5012725" y="1811883"/>
            <a:ext cx="2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94" name="Google Shape;94;p17"/>
          <p:cNvPicPr preferRelativeResize="0"/>
          <p:nvPr/>
        </p:nvPicPr>
        <p:blipFill rotWithShape="1">
          <a:blip r:embed="rId3">
            <a:alphaModFix/>
          </a:blip>
          <a:srcRect b="0" l="-1378" r="0" t="0"/>
          <a:stretch/>
        </p:blipFill>
        <p:spPr>
          <a:xfrm>
            <a:off x="8051550" y="3677812"/>
            <a:ext cx="963274" cy="93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58550" y="1929488"/>
            <a:ext cx="2764203" cy="33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08525" y="3326801"/>
            <a:ext cx="2087726" cy="60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91196" y="2492674"/>
            <a:ext cx="2583466" cy="605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 txBox="1"/>
          <p:nvPr>
            <p:ph idx="4294967295" type="body"/>
          </p:nvPr>
        </p:nvSpPr>
        <p:spPr>
          <a:xfrm>
            <a:off x="5036100" y="1255551"/>
            <a:ext cx="3853200" cy="5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000" u="sng">
                <a:solidFill>
                  <a:schemeClr val="accent5"/>
                </a:solidFill>
              </a:rPr>
              <a:t>Learning Institutes</a:t>
            </a:r>
            <a:endParaRPr b="1" sz="2000" u="sng">
              <a:solidFill>
                <a:schemeClr val="accent5"/>
              </a:solidFill>
            </a:endParaRPr>
          </a:p>
        </p:txBody>
      </p:sp>
      <p:pic>
        <p:nvPicPr>
          <p:cNvPr id="99" name="Google Shape;99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9425" y="2350300"/>
            <a:ext cx="1032827" cy="84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70751" y="3581274"/>
            <a:ext cx="1032825" cy="103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495000" y="2886585"/>
            <a:ext cx="1140575" cy="93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979398" y="3969338"/>
            <a:ext cx="1110276" cy="103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179249" y="1903466"/>
            <a:ext cx="1941151" cy="436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748913" y="4021473"/>
            <a:ext cx="3175888" cy="52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type="title"/>
          </p:nvPr>
        </p:nvSpPr>
        <p:spPr>
          <a:xfrm>
            <a:off x="387900" y="139390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900"/>
              <a:t>LMS softwares</a:t>
            </a:r>
            <a:endParaRPr sz="8900"/>
          </a:p>
        </p:txBody>
      </p:sp>
      <p:pic>
        <p:nvPicPr>
          <p:cNvPr id="110" name="Google Shape;11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74525" y="3156500"/>
            <a:ext cx="621150" cy="55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40450" y="3191788"/>
            <a:ext cx="488825" cy="48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23638" y="3349273"/>
            <a:ext cx="488825" cy="48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40450" y="3838099"/>
            <a:ext cx="709879" cy="67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44775" y="3147475"/>
            <a:ext cx="1110275" cy="9567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izIQ Review | PCMag" id="115" name="Google Shape;115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538925" y="4250275"/>
            <a:ext cx="1140575" cy="642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ideo eLearning Platform | uQualio | Worldwide" id="116" name="Google Shape;116;p1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810275" y="3983875"/>
            <a:ext cx="1264050" cy="84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type="title"/>
          </p:nvPr>
        </p:nvSpPr>
        <p:spPr>
          <a:xfrm>
            <a:off x="387900" y="92125"/>
            <a:ext cx="5100600" cy="85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Workings of LMS software</a:t>
            </a:r>
            <a:endParaRPr sz="3000"/>
          </a:p>
        </p:txBody>
      </p:sp>
      <p:pic>
        <p:nvPicPr>
          <p:cNvPr id="122" name="Google Shape;12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550" y="752475"/>
            <a:ext cx="7594675" cy="408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275" y="410450"/>
            <a:ext cx="8044125" cy="429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type="title"/>
          </p:nvPr>
        </p:nvSpPr>
        <p:spPr>
          <a:xfrm>
            <a:off x="387900" y="6952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/>
              <a:t>Video-conferencing tools</a:t>
            </a:r>
            <a:endParaRPr sz="5200"/>
          </a:p>
        </p:txBody>
      </p:sp>
      <p:pic>
        <p:nvPicPr>
          <p:cNvPr id="133" name="Google Shape;13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5459" y="4138652"/>
            <a:ext cx="3959140" cy="76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38449" y="3269000"/>
            <a:ext cx="2827824" cy="63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4900" y="3159450"/>
            <a:ext cx="1752600" cy="165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13325" y="2571749"/>
            <a:ext cx="1942776" cy="224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152625" y="2788200"/>
            <a:ext cx="1117050" cy="111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>
            <p:ph type="title"/>
          </p:nvPr>
        </p:nvSpPr>
        <p:spPr>
          <a:xfrm>
            <a:off x="262825" y="-63850"/>
            <a:ext cx="7015800" cy="85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Workings of video conferencing</a:t>
            </a:r>
            <a:endParaRPr sz="3000"/>
          </a:p>
        </p:txBody>
      </p:sp>
      <p:pic>
        <p:nvPicPr>
          <p:cNvPr id="143" name="Google Shape;14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3375" y="720600"/>
            <a:ext cx="7957850" cy="419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350" y="335250"/>
            <a:ext cx="8302925" cy="447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/>
          <p:nvPr/>
        </p:nvSpPr>
        <p:spPr>
          <a:xfrm>
            <a:off x="423150" y="235075"/>
            <a:ext cx="7785900" cy="10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Issues in delivering this mode of teaching</a:t>
            </a:r>
            <a:endParaRPr sz="34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p24"/>
          <p:cNvSpPr txBox="1"/>
          <p:nvPr/>
        </p:nvSpPr>
        <p:spPr>
          <a:xfrm>
            <a:off x="2463600" y="1382250"/>
            <a:ext cx="4560600" cy="26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Limited Student Feedback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Cheating during Exams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Lack of Face-to-Face Communication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Inaccessible for the Poor Class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Lack of Practical Learning 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5" name="Google Shape;15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250" y="3553925"/>
            <a:ext cx="2162724" cy="1081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40400" y="1250575"/>
            <a:ext cx="1739575" cy="124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/>
          <p:nvPr>
            <p:ph type="title"/>
          </p:nvPr>
        </p:nvSpPr>
        <p:spPr>
          <a:xfrm>
            <a:off x="490250" y="526350"/>
            <a:ext cx="6659400" cy="3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can we counter the issues faced ??</a:t>
            </a:r>
            <a:endParaRPr/>
          </a:p>
        </p:txBody>
      </p:sp>
      <p:pic>
        <p:nvPicPr>
          <p:cNvPr descr="Stick Man Thinking Clipart " id="162" name="Google Shape;16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9203" y="2393075"/>
            <a:ext cx="2136747" cy="251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 txBox="1"/>
          <p:nvPr>
            <p:ph idx="2" type="body"/>
          </p:nvPr>
        </p:nvSpPr>
        <p:spPr>
          <a:xfrm>
            <a:off x="4782725" y="724200"/>
            <a:ext cx="41463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 Slab"/>
                <a:ea typeface="Roboto Slab"/>
                <a:cs typeface="Roboto Slab"/>
                <a:sym typeface="Roboto Slab"/>
              </a:rPr>
              <a:t>By </a:t>
            </a:r>
            <a:r>
              <a:rPr lang="en" sz="2400">
                <a:latin typeface="Roboto Slab"/>
                <a:ea typeface="Roboto Slab"/>
                <a:cs typeface="Roboto Slab"/>
                <a:sym typeface="Roboto Slab"/>
              </a:rPr>
              <a:t>Using E-learning Tools.</a:t>
            </a:r>
            <a:endParaRPr sz="2400"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Online whiteboards.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Regular online quizzes.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Video chats &amp; discussions with teachers.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6"/>
          <p:cNvSpPr txBox="1"/>
          <p:nvPr>
            <p:ph type="title"/>
          </p:nvPr>
        </p:nvSpPr>
        <p:spPr>
          <a:xfrm>
            <a:off x="136100" y="999100"/>
            <a:ext cx="4045200" cy="150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Use powerful tools.</a:t>
            </a:r>
            <a:endParaRPr sz="4800"/>
          </a:p>
        </p:txBody>
      </p:sp>
      <p:pic>
        <p:nvPicPr>
          <p:cNvPr id="169" name="Google Shape;16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4800" y="3454600"/>
            <a:ext cx="2463076" cy="150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"/>
          <p:cNvSpPr txBox="1"/>
          <p:nvPr>
            <p:ph idx="2" type="body"/>
          </p:nvPr>
        </p:nvSpPr>
        <p:spPr>
          <a:xfrm>
            <a:off x="4793525" y="1364550"/>
            <a:ext cx="4146300" cy="24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 Slab"/>
                <a:ea typeface="Roboto Slab"/>
                <a:cs typeface="Roboto Slab"/>
                <a:sym typeface="Roboto Slab"/>
              </a:rPr>
              <a:t>By Using reliable softwares.</a:t>
            </a:r>
            <a:endParaRPr sz="2400"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 Proctor test taking.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Tests to be taken in a time frame.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7"/>
          <p:cNvSpPr txBox="1"/>
          <p:nvPr>
            <p:ph type="title"/>
          </p:nvPr>
        </p:nvSpPr>
        <p:spPr>
          <a:xfrm>
            <a:off x="265500" y="1818600"/>
            <a:ext cx="4045200" cy="150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Use reliable software for test taking.</a:t>
            </a:r>
            <a:endParaRPr sz="4800"/>
          </a:p>
        </p:txBody>
      </p:sp>
      <p:pic>
        <p:nvPicPr>
          <p:cNvPr id="176" name="Google Shape;17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9875" y="3454300"/>
            <a:ext cx="3084500" cy="99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8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/>
              <a:t>How will we solve the problem for underprivileged people in Pakistan??</a:t>
            </a:r>
            <a:endParaRPr sz="4300"/>
          </a:p>
        </p:txBody>
      </p:sp>
      <p:pic>
        <p:nvPicPr>
          <p:cNvPr descr="What We Can Learn from Innovative Schools that Cater to the Poor" id="182" name="Google Shape;18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6300" y="3189525"/>
            <a:ext cx="26670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earn English - Life of a poor Bangladesh student Story | Chatsifieds.com |  Learn english, Student, Poor family" id="183" name="Google Shape;183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5950" y="3124975"/>
            <a:ext cx="2571750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9"/>
          <p:cNvSpPr txBox="1"/>
          <p:nvPr>
            <p:ph type="title"/>
          </p:nvPr>
        </p:nvSpPr>
        <p:spPr>
          <a:xfrm>
            <a:off x="171475" y="1354050"/>
            <a:ext cx="4045200" cy="202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rest of the world is tackling this issue?</a:t>
            </a:r>
            <a:endParaRPr/>
          </a:p>
        </p:txBody>
      </p:sp>
      <p:sp>
        <p:nvSpPr>
          <p:cNvPr id="189" name="Google Shape;189;p29"/>
          <p:cNvSpPr txBox="1"/>
          <p:nvPr>
            <p:ph idx="4294967295" type="body"/>
          </p:nvPr>
        </p:nvSpPr>
        <p:spPr>
          <a:xfrm>
            <a:off x="4756200" y="1489825"/>
            <a:ext cx="3999900" cy="16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Distribution of </a:t>
            </a:r>
            <a:r>
              <a:rPr lang="en"/>
              <a:t>Chromebooks.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 Short-courses for </a:t>
            </a:r>
            <a:r>
              <a:rPr lang="en"/>
              <a:t>Digital Literacy.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Establishment of Hotspot Cafes.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90" name="Google Shape;19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18800" y="3586975"/>
            <a:ext cx="1737300" cy="115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1917" y="3961325"/>
            <a:ext cx="1914008" cy="89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0"/>
          <p:cNvSpPr txBox="1"/>
          <p:nvPr>
            <p:ph type="title"/>
          </p:nvPr>
        </p:nvSpPr>
        <p:spPr>
          <a:xfrm>
            <a:off x="387900" y="555600"/>
            <a:ext cx="6702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our institutes can solve this problem?</a:t>
            </a:r>
            <a:endParaRPr/>
          </a:p>
        </p:txBody>
      </p:sp>
      <p:sp>
        <p:nvSpPr>
          <p:cNvPr id="197" name="Google Shape;197;p30"/>
          <p:cNvSpPr txBox="1"/>
          <p:nvPr>
            <p:ph idx="1" type="body"/>
          </p:nvPr>
        </p:nvSpPr>
        <p:spPr>
          <a:xfrm>
            <a:off x="387900" y="1594025"/>
            <a:ext cx="5827500" cy="196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</a:t>
            </a:r>
            <a:r>
              <a:rPr lang="en" sz="1800"/>
              <a:t>rovide laptops or tablets with basic features.</a:t>
            </a:r>
            <a:endParaRPr sz="1800"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Provide accessible internet packages.</a:t>
            </a:r>
            <a:endParaRPr sz="1800"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Provision of short digital courses.</a:t>
            </a:r>
            <a:endParaRPr sz="1800"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800"/>
              <a:t>Simple web-apps can be made.</a:t>
            </a:r>
            <a:r>
              <a:rPr lang="en" sz="1400"/>
              <a:t> 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98" name="Google Shape;19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1525" y="2406850"/>
            <a:ext cx="3484375" cy="232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1"/>
          <p:cNvSpPr/>
          <p:nvPr/>
        </p:nvSpPr>
        <p:spPr>
          <a:xfrm>
            <a:off x="0" y="0"/>
            <a:ext cx="9161100" cy="2484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31"/>
          <p:cNvSpPr txBox="1"/>
          <p:nvPr>
            <p:ph idx="4294967295"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R</a:t>
            </a:r>
            <a:r>
              <a:rPr lang="en">
                <a:solidFill>
                  <a:schemeClr val="accent1"/>
                </a:solidFill>
              </a:rPr>
              <a:t>eview</a:t>
            </a:r>
            <a:endParaRPr>
              <a:solidFill>
                <a:schemeClr val="accent1"/>
              </a:solidFill>
            </a:endParaRPr>
          </a:p>
        </p:txBody>
      </p:sp>
      <p:grpSp>
        <p:nvGrpSpPr>
          <p:cNvPr id="205" name="Google Shape;205;p31"/>
          <p:cNvGrpSpPr/>
          <p:nvPr/>
        </p:nvGrpSpPr>
        <p:grpSpPr>
          <a:xfrm>
            <a:off x="1211307" y="1705030"/>
            <a:ext cx="1233485" cy="1233485"/>
            <a:chOff x="1700550" y="1498632"/>
            <a:chExt cx="1053900" cy="1053900"/>
          </a:xfrm>
        </p:grpSpPr>
        <p:sp>
          <p:nvSpPr>
            <p:cNvPr id="206" name="Google Shape;206;p31"/>
            <p:cNvSpPr/>
            <p:nvPr/>
          </p:nvSpPr>
          <p:spPr>
            <a:xfrm>
              <a:off x="1700550" y="1498632"/>
              <a:ext cx="1053900" cy="1053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31"/>
            <p:cNvSpPr/>
            <p:nvPr/>
          </p:nvSpPr>
          <p:spPr>
            <a:xfrm>
              <a:off x="1956450" y="1729405"/>
              <a:ext cx="542100" cy="5154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8" name="Google Shape;208;p31"/>
          <p:cNvGrpSpPr/>
          <p:nvPr/>
        </p:nvGrpSpPr>
        <p:grpSpPr>
          <a:xfrm>
            <a:off x="2583323" y="1705030"/>
            <a:ext cx="1233485" cy="1233485"/>
            <a:chOff x="2872812" y="1498619"/>
            <a:chExt cx="1053900" cy="1053900"/>
          </a:xfrm>
        </p:grpSpPr>
        <p:sp>
          <p:nvSpPr>
            <p:cNvPr id="209" name="Google Shape;209;p31"/>
            <p:cNvSpPr/>
            <p:nvPr/>
          </p:nvSpPr>
          <p:spPr>
            <a:xfrm>
              <a:off x="2872812" y="1498619"/>
              <a:ext cx="1053900" cy="1053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31"/>
            <p:cNvSpPr/>
            <p:nvPr/>
          </p:nvSpPr>
          <p:spPr>
            <a:xfrm>
              <a:off x="3128712" y="1729418"/>
              <a:ext cx="542100" cy="5154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1" name="Google Shape;211;p31"/>
          <p:cNvGrpSpPr/>
          <p:nvPr/>
        </p:nvGrpSpPr>
        <p:grpSpPr>
          <a:xfrm>
            <a:off x="3955309" y="1705030"/>
            <a:ext cx="1233485" cy="1233485"/>
            <a:chOff x="4045050" y="1484544"/>
            <a:chExt cx="1053900" cy="1053900"/>
          </a:xfrm>
        </p:grpSpPr>
        <p:sp>
          <p:nvSpPr>
            <p:cNvPr id="212" name="Google Shape;212;p31"/>
            <p:cNvSpPr/>
            <p:nvPr/>
          </p:nvSpPr>
          <p:spPr>
            <a:xfrm>
              <a:off x="4045050" y="1484544"/>
              <a:ext cx="1053900" cy="1053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31"/>
            <p:cNvSpPr/>
            <p:nvPr/>
          </p:nvSpPr>
          <p:spPr>
            <a:xfrm>
              <a:off x="4300950" y="1715343"/>
              <a:ext cx="542100" cy="5154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4" name="Google Shape;214;p31"/>
          <p:cNvGrpSpPr/>
          <p:nvPr/>
        </p:nvGrpSpPr>
        <p:grpSpPr>
          <a:xfrm>
            <a:off x="5327311" y="1705030"/>
            <a:ext cx="1233485" cy="1233485"/>
            <a:chOff x="5217300" y="1498632"/>
            <a:chExt cx="1053900" cy="1053900"/>
          </a:xfrm>
        </p:grpSpPr>
        <p:sp>
          <p:nvSpPr>
            <p:cNvPr id="215" name="Google Shape;215;p31"/>
            <p:cNvSpPr/>
            <p:nvPr/>
          </p:nvSpPr>
          <p:spPr>
            <a:xfrm>
              <a:off x="5217300" y="1498632"/>
              <a:ext cx="1053900" cy="1053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31"/>
            <p:cNvSpPr/>
            <p:nvPr/>
          </p:nvSpPr>
          <p:spPr>
            <a:xfrm>
              <a:off x="5473200" y="1729430"/>
              <a:ext cx="542100" cy="5154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7" name="Google Shape;217;p31"/>
          <p:cNvGrpSpPr/>
          <p:nvPr/>
        </p:nvGrpSpPr>
        <p:grpSpPr>
          <a:xfrm>
            <a:off x="6699312" y="1705030"/>
            <a:ext cx="1233485" cy="1233485"/>
            <a:chOff x="6389550" y="1498632"/>
            <a:chExt cx="1053900" cy="1053900"/>
          </a:xfrm>
        </p:grpSpPr>
        <p:sp>
          <p:nvSpPr>
            <p:cNvPr id="218" name="Google Shape;218;p31"/>
            <p:cNvSpPr/>
            <p:nvPr/>
          </p:nvSpPr>
          <p:spPr>
            <a:xfrm>
              <a:off x="6389550" y="1498632"/>
              <a:ext cx="1053900" cy="1053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31"/>
            <p:cNvSpPr/>
            <p:nvPr/>
          </p:nvSpPr>
          <p:spPr>
            <a:xfrm>
              <a:off x="6645450" y="1729430"/>
              <a:ext cx="542100" cy="5154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0" name="Google Shape;220;p31"/>
          <p:cNvSpPr txBox="1"/>
          <p:nvPr>
            <p:ph idx="4294967295" type="body"/>
          </p:nvPr>
        </p:nvSpPr>
        <p:spPr>
          <a:xfrm>
            <a:off x="311700" y="3198825"/>
            <a:ext cx="8520600" cy="160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200"/>
              <a:t>We believe that after taking some necessary measures E-Learning can prove to be a very useful element, especially to increase the literacy rate of Pakistan. Until then, we need plenty of resources and a lot of optimism!</a:t>
            </a:r>
            <a:endParaRPr sz="2400"/>
          </a:p>
        </p:txBody>
      </p:sp>
      <p:sp>
        <p:nvSpPr>
          <p:cNvPr id="221" name="Google Shape;221;p31"/>
          <p:cNvSpPr/>
          <p:nvPr/>
        </p:nvSpPr>
        <p:spPr>
          <a:xfrm>
            <a:off x="6998416" y="1975157"/>
            <a:ext cx="634500" cy="6033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1225" y="208825"/>
            <a:ext cx="4762500" cy="455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