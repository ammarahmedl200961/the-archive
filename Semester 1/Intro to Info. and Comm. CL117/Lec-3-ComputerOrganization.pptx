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76"/>
  </p:notesMasterIdLst>
  <p:handoutMasterIdLst>
    <p:handoutMasterId r:id="rId77"/>
  </p:handoutMasterIdLst>
  <p:sldIdLst>
    <p:sldId id="256" r:id="rId2"/>
    <p:sldId id="258" r:id="rId3"/>
    <p:sldId id="324" r:id="rId4"/>
    <p:sldId id="402" r:id="rId5"/>
    <p:sldId id="403" r:id="rId6"/>
    <p:sldId id="404" r:id="rId7"/>
    <p:sldId id="379" r:id="rId8"/>
    <p:sldId id="380" r:id="rId9"/>
    <p:sldId id="419" r:id="rId10"/>
    <p:sldId id="382" r:id="rId11"/>
    <p:sldId id="405" r:id="rId12"/>
    <p:sldId id="420" r:id="rId13"/>
    <p:sldId id="390" r:id="rId14"/>
    <p:sldId id="383" r:id="rId15"/>
    <p:sldId id="384" r:id="rId16"/>
    <p:sldId id="385" r:id="rId17"/>
    <p:sldId id="421" r:id="rId18"/>
    <p:sldId id="386" r:id="rId19"/>
    <p:sldId id="422" r:id="rId20"/>
    <p:sldId id="325" r:id="rId21"/>
    <p:sldId id="326" r:id="rId22"/>
    <p:sldId id="423" r:id="rId23"/>
    <p:sldId id="387" r:id="rId24"/>
    <p:sldId id="388" r:id="rId25"/>
    <p:sldId id="392" r:id="rId26"/>
    <p:sldId id="424" r:id="rId27"/>
    <p:sldId id="425" r:id="rId28"/>
    <p:sldId id="426" r:id="rId29"/>
    <p:sldId id="394" r:id="rId30"/>
    <p:sldId id="395" r:id="rId31"/>
    <p:sldId id="329" r:id="rId32"/>
    <p:sldId id="401" r:id="rId33"/>
    <p:sldId id="397" r:id="rId34"/>
    <p:sldId id="398" r:id="rId35"/>
    <p:sldId id="336" r:id="rId36"/>
    <p:sldId id="337" r:id="rId37"/>
    <p:sldId id="433" r:id="rId38"/>
    <p:sldId id="358" r:id="rId39"/>
    <p:sldId id="359" r:id="rId40"/>
    <p:sldId id="360" r:id="rId41"/>
    <p:sldId id="361" r:id="rId42"/>
    <p:sldId id="363" r:id="rId43"/>
    <p:sldId id="364" r:id="rId44"/>
    <p:sldId id="365" r:id="rId45"/>
    <p:sldId id="366" r:id="rId46"/>
    <p:sldId id="367" r:id="rId47"/>
    <p:sldId id="368" r:id="rId48"/>
    <p:sldId id="369" r:id="rId49"/>
    <p:sldId id="371" r:id="rId50"/>
    <p:sldId id="370" r:id="rId51"/>
    <p:sldId id="430" r:id="rId52"/>
    <p:sldId id="340" r:id="rId53"/>
    <p:sldId id="341" r:id="rId54"/>
    <p:sldId id="342" r:id="rId55"/>
    <p:sldId id="343" r:id="rId56"/>
    <p:sldId id="431" r:id="rId57"/>
    <p:sldId id="410" r:id="rId58"/>
    <p:sldId id="416" r:id="rId59"/>
    <p:sldId id="427" r:id="rId60"/>
    <p:sldId id="428" r:id="rId61"/>
    <p:sldId id="429" r:id="rId62"/>
    <p:sldId id="418" r:id="rId63"/>
    <p:sldId id="354" r:id="rId64"/>
    <p:sldId id="355" r:id="rId65"/>
    <p:sldId id="372" r:id="rId66"/>
    <p:sldId id="373" r:id="rId67"/>
    <p:sldId id="374" r:id="rId68"/>
    <p:sldId id="375" r:id="rId69"/>
    <p:sldId id="376" r:id="rId70"/>
    <p:sldId id="377" r:id="rId71"/>
    <p:sldId id="409" r:id="rId72"/>
    <p:sldId id="434" r:id="rId73"/>
    <p:sldId id="432" r:id="rId74"/>
    <p:sldId id="291" r:id="rId75"/>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 uri="{1BD7E111-0CB8-44D6-8891-C1BB2F81B7CC}">
      <p1710:readonlyRecommended xmlns:p1710="http://schemas.microsoft.com/office/powerpoint/2017/10/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50" autoAdjust="0"/>
  </p:normalViewPr>
  <p:slideViewPr>
    <p:cSldViewPr snapToGrid="0">
      <p:cViewPr>
        <p:scale>
          <a:sx n="66" d="100"/>
          <a:sy n="66" d="100"/>
        </p:scale>
        <p:origin x="-900" y="-168"/>
      </p:cViewPr>
      <p:guideLst>
        <p:guide orient="horz" pos="2160"/>
        <p:guide pos="3840"/>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C1FD1D-C56C-4261-838F-62460625C8B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x-none"/>
        </a:p>
      </dgm:t>
    </dgm:pt>
    <dgm:pt modelId="{8478107D-59F1-41DD-AA1A-B0117193E6AA}">
      <dgm:prSet phldrT="[Text]"/>
      <dgm:spPr/>
      <dgm:t>
        <a:bodyPr/>
        <a:lstStyle/>
        <a:p>
          <a:pPr>
            <a:buFont typeface="Arial" charset="0"/>
            <a:buChar char="•"/>
          </a:pPr>
          <a:r>
            <a:rPr lang="en-US" b="1" dirty="0"/>
            <a:t>Arithmetic operations </a:t>
          </a:r>
          <a:endParaRPr lang="x-none" dirty="0"/>
        </a:p>
      </dgm:t>
    </dgm:pt>
    <dgm:pt modelId="{D83B4D3C-893F-44C9-8CA9-03A8064E14E4}" type="parTrans" cxnId="{2A2E28C7-EE4C-4035-940E-26E27EC4AF82}">
      <dgm:prSet/>
      <dgm:spPr/>
      <dgm:t>
        <a:bodyPr/>
        <a:lstStyle/>
        <a:p>
          <a:endParaRPr lang="x-none"/>
        </a:p>
      </dgm:t>
    </dgm:pt>
    <dgm:pt modelId="{F348E114-35E7-49B5-9138-50EC0D73A009}" type="sibTrans" cxnId="{2A2E28C7-EE4C-4035-940E-26E27EC4AF82}">
      <dgm:prSet/>
      <dgm:spPr/>
      <dgm:t>
        <a:bodyPr/>
        <a:lstStyle/>
        <a:p>
          <a:endParaRPr lang="x-none"/>
        </a:p>
      </dgm:t>
    </dgm:pt>
    <dgm:pt modelId="{3A993BF7-9F02-48BD-91A3-84CDBBB32C8C}">
      <dgm:prSet phldrT="[Text]"/>
      <dgm:spPr/>
      <dgm:t>
        <a:bodyPr/>
        <a:lstStyle/>
        <a:p>
          <a:r>
            <a:rPr lang="en-US" dirty="0"/>
            <a:t>addition</a:t>
          </a:r>
          <a:endParaRPr lang="x-none" dirty="0"/>
        </a:p>
      </dgm:t>
    </dgm:pt>
    <dgm:pt modelId="{7C774126-2950-4515-ADD4-F3F241063103}" type="parTrans" cxnId="{6CB72973-E14A-4DB1-84D5-83DB3749CE45}">
      <dgm:prSet/>
      <dgm:spPr/>
      <dgm:t>
        <a:bodyPr/>
        <a:lstStyle/>
        <a:p>
          <a:endParaRPr lang="x-none"/>
        </a:p>
      </dgm:t>
    </dgm:pt>
    <dgm:pt modelId="{E28BE1D2-CCF1-43C8-B7EB-E81EFA373AC7}" type="sibTrans" cxnId="{6CB72973-E14A-4DB1-84D5-83DB3749CE45}">
      <dgm:prSet/>
      <dgm:spPr/>
      <dgm:t>
        <a:bodyPr/>
        <a:lstStyle/>
        <a:p>
          <a:endParaRPr lang="x-none"/>
        </a:p>
      </dgm:t>
    </dgm:pt>
    <dgm:pt modelId="{B592A056-A47A-463E-9F40-53646C849210}">
      <dgm:prSet phldrT="[Text]"/>
      <dgm:spPr/>
      <dgm:t>
        <a:bodyPr/>
        <a:lstStyle/>
        <a:p>
          <a:r>
            <a:rPr lang="en-US" dirty="0"/>
            <a:t>Subtraction</a:t>
          </a:r>
          <a:endParaRPr lang="x-none" dirty="0"/>
        </a:p>
      </dgm:t>
    </dgm:pt>
    <dgm:pt modelId="{21C67F4F-771B-491A-A326-8762C6068899}" type="parTrans" cxnId="{2E17C0AF-8D3E-42C5-9240-B07D20D17121}">
      <dgm:prSet/>
      <dgm:spPr/>
      <dgm:t>
        <a:bodyPr/>
        <a:lstStyle/>
        <a:p>
          <a:endParaRPr lang="x-none"/>
        </a:p>
      </dgm:t>
    </dgm:pt>
    <dgm:pt modelId="{A6A50E90-5AC2-4BDA-80A2-1E6B2E0487A6}" type="sibTrans" cxnId="{2E17C0AF-8D3E-42C5-9240-B07D20D17121}">
      <dgm:prSet/>
      <dgm:spPr/>
      <dgm:t>
        <a:bodyPr/>
        <a:lstStyle/>
        <a:p>
          <a:endParaRPr lang="x-none"/>
        </a:p>
      </dgm:t>
    </dgm:pt>
    <dgm:pt modelId="{84572EF3-070B-468D-8F19-166F248DA5F3}">
      <dgm:prSet phldrT="[Text]"/>
      <dgm:spPr/>
      <dgm:t>
        <a:bodyPr/>
        <a:lstStyle/>
        <a:p>
          <a:r>
            <a:rPr lang="en-US" dirty="0"/>
            <a:t>Logic operations</a:t>
          </a:r>
          <a:endParaRPr lang="x-none" dirty="0"/>
        </a:p>
      </dgm:t>
    </dgm:pt>
    <dgm:pt modelId="{D928584D-4FEE-43A5-9F0E-0F0996A7553C}" type="parTrans" cxnId="{142A4B24-4A2A-405E-94BD-A67B064BD33C}">
      <dgm:prSet/>
      <dgm:spPr/>
      <dgm:t>
        <a:bodyPr/>
        <a:lstStyle/>
        <a:p>
          <a:endParaRPr lang="x-none"/>
        </a:p>
      </dgm:t>
    </dgm:pt>
    <dgm:pt modelId="{1821DE57-D7CD-4877-9A64-23AC13EE88B0}" type="sibTrans" cxnId="{142A4B24-4A2A-405E-94BD-A67B064BD33C}">
      <dgm:prSet/>
      <dgm:spPr/>
      <dgm:t>
        <a:bodyPr/>
        <a:lstStyle/>
        <a:p>
          <a:endParaRPr lang="x-none"/>
        </a:p>
      </dgm:t>
    </dgm:pt>
    <dgm:pt modelId="{2D0B41FA-9D24-4F78-88A6-53AB5D34FA4E}">
      <dgm:prSet phldrT="[Text]"/>
      <dgm:spPr/>
      <dgm:t>
        <a:bodyPr/>
        <a:lstStyle/>
        <a:p>
          <a:r>
            <a:rPr lang="en-US" dirty="0"/>
            <a:t>NOT</a:t>
          </a:r>
          <a:endParaRPr lang="x-none" dirty="0"/>
        </a:p>
      </dgm:t>
    </dgm:pt>
    <dgm:pt modelId="{63DE20C5-59DF-4DAB-9841-534CE2B858A7}" type="parTrans" cxnId="{FA964501-3ED1-42B3-BB67-426AFF864AEF}">
      <dgm:prSet/>
      <dgm:spPr/>
      <dgm:t>
        <a:bodyPr/>
        <a:lstStyle/>
        <a:p>
          <a:endParaRPr lang="x-none"/>
        </a:p>
      </dgm:t>
    </dgm:pt>
    <dgm:pt modelId="{70CCFAE8-A566-498A-994C-2178814404B7}" type="sibTrans" cxnId="{FA964501-3ED1-42B3-BB67-426AFF864AEF}">
      <dgm:prSet/>
      <dgm:spPr/>
      <dgm:t>
        <a:bodyPr/>
        <a:lstStyle/>
        <a:p>
          <a:endParaRPr lang="x-none"/>
        </a:p>
      </dgm:t>
    </dgm:pt>
    <dgm:pt modelId="{1FA3AB91-E096-4DC3-9685-EE941721BC01}">
      <dgm:prSet phldrT="[Text]"/>
      <dgm:spPr/>
      <dgm:t>
        <a:bodyPr/>
        <a:lstStyle/>
        <a:p>
          <a:r>
            <a:rPr lang="en-US" dirty="0"/>
            <a:t>AND</a:t>
          </a:r>
          <a:endParaRPr lang="x-none" dirty="0"/>
        </a:p>
      </dgm:t>
    </dgm:pt>
    <dgm:pt modelId="{49C5633F-F85A-40DB-A01E-EFA6396E4708}" type="parTrans" cxnId="{20890361-D864-4BFF-B264-75AFFBF6A0DC}">
      <dgm:prSet/>
      <dgm:spPr/>
      <dgm:t>
        <a:bodyPr/>
        <a:lstStyle/>
        <a:p>
          <a:endParaRPr lang="x-none"/>
        </a:p>
      </dgm:t>
    </dgm:pt>
    <dgm:pt modelId="{D8349285-C579-4DCE-AA0B-6698C51358FE}" type="sibTrans" cxnId="{20890361-D864-4BFF-B264-75AFFBF6A0DC}">
      <dgm:prSet/>
      <dgm:spPr/>
      <dgm:t>
        <a:bodyPr/>
        <a:lstStyle/>
        <a:p>
          <a:endParaRPr lang="x-none"/>
        </a:p>
      </dgm:t>
    </dgm:pt>
    <dgm:pt modelId="{6A3941F1-058C-45DF-94EC-D467B9BBED68}">
      <dgm:prSet phldrT="[Text]"/>
      <dgm:spPr/>
      <dgm:t>
        <a:bodyPr/>
        <a:lstStyle/>
        <a:p>
          <a:r>
            <a:rPr lang="en-US" dirty="0"/>
            <a:t>Multiplication</a:t>
          </a:r>
          <a:endParaRPr lang="x-none" dirty="0"/>
        </a:p>
      </dgm:t>
    </dgm:pt>
    <dgm:pt modelId="{7111D934-F788-4B6C-B54C-E2F7A27E2FFF}" type="parTrans" cxnId="{02CE9B14-D7AE-427A-9021-E896CCCD2581}">
      <dgm:prSet/>
      <dgm:spPr/>
      <dgm:t>
        <a:bodyPr/>
        <a:lstStyle/>
        <a:p>
          <a:endParaRPr lang="x-none"/>
        </a:p>
      </dgm:t>
    </dgm:pt>
    <dgm:pt modelId="{7135A207-4F24-4E91-8F47-7CAB9B291B45}" type="sibTrans" cxnId="{02CE9B14-D7AE-427A-9021-E896CCCD2581}">
      <dgm:prSet/>
      <dgm:spPr/>
      <dgm:t>
        <a:bodyPr/>
        <a:lstStyle/>
        <a:p>
          <a:endParaRPr lang="x-none"/>
        </a:p>
      </dgm:t>
    </dgm:pt>
    <dgm:pt modelId="{B7E4888D-981A-4EBE-8275-2FDF12D4A8C7}">
      <dgm:prSet phldrT="[Text]"/>
      <dgm:spPr/>
      <dgm:t>
        <a:bodyPr/>
        <a:lstStyle/>
        <a:p>
          <a:r>
            <a:rPr lang="en-US" dirty="0"/>
            <a:t>division</a:t>
          </a:r>
          <a:endParaRPr lang="x-none" dirty="0"/>
        </a:p>
      </dgm:t>
    </dgm:pt>
    <dgm:pt modelId="{4A6E2472-2A54-4EB5-9523-6FA281A5BC6C}" type="parTrans" cxnId="{CBB55945-C3FE-4B51-A20F-43A00A17C39B}">
      <dgm:prSet/>
      <dgm:spPr/>
      <dgm:t>
        <a:bodyPr/>
        <a:lstStyle/>
        <a:p>
          <a:endParaRPr lang="x-none"/>
        </a:p>
      </dgm:t>
    </dgm:pt>
    <dgm:pt modelId="{B31F7BF4-3E4C-46A7-A6B3-4413EB013C11}" type="sibTrans" cxnId="{CBB55945-C3FE-4B51-A20F-43A00A17C39B}">
      <dgm:prSet/>
      <dgm:spPr/>
      <dgm:t>
        <a:bodyPr/>
        <a:lstStyle/>
        <a:p>
          <a:endParaRPr lang="x-none"/>
        </a:p>
      </dgm:t>
    </dgm:pt>
    <dgm:pt modelId="{84E78E89-B831-418A-BA77-DB835C49DD3F}">
      <dgm:prSet phldrT="[Text]"/>
      <dgm:spPr/>
      <dgm:t>
        <a:bodyPr/>
        <a:lstStyle/>
        <a:p>
          <a:r>
            <a:rPr lang="en-US" dirty="0"/>
            <a:t>OR</a:t>
          </a:r>
          <a:endParaRPr lang="x-none" dirty="0"/>
        </a:p>
      </dgm:t>
    </dgm:pt>
    <dgm:pt modelId="{C1651850-513D-4343-BCD1-5638944EED60}" type="parTrans" cxnId="{B522681E-5254-489A-AEC1-AFA07D124FD4}">
      <dgm:prSet/>
      <dgm:spPr/>
      <dgm:t>
        <a:bodyPr/>
        <a:lstStyle/>
        <a:p>
          <a:endParaRPr lang="x-none"/>
        </a:p>
      </dgm:t>
    </dgm:pt>
    <dgm:pt modelId="{7E64FC3D-B85F-49EF-BA41-A0A130FECFCF}" type="sibTrans" cxnId="{B522681E-5254-489A-AEC1-AFA07D124FD4}">
      <dgm:prSet/>
      <dgm:spPr/>
      <dgm:t>
        <a:bodyPr/>
        <a:lstStyle/>
        <a:p>
          <a:endParaRPr lang="x-none"/>
        </a:p>
      </dgm:t>
    </dgm:pt>
    <dgm:pt modelId="{A292A9BB-2055-4EC4-8052-D8C5969385BB}">
      <dgm:prSet phldrT="[Text]"/>
      <dgm:spPr/>
      <dgm:t>
        <a:bodyPr/>
        <a:lstStyle/>
        <a:p>
          <a:pPr>
            <a:buFont typeface="Wingdings" panose="05000000000000000000" pitchFamily="2" charset="2"/>
            <a:buChar char="Ø"/>
          </a:pPr>
          <a:r>
            <a:rPr lang="en-US" dirty="0"/>
            <a:t>comparisons of values such as </a:t>
          </a:r>
          <a:endParaRPr lang="x-none" dirty="0"/>
        </a:p>
      </dgm:t>
    </dgm:pt>
    <dgm:pt modelId="{A238AF45-FFF4-41EF-82EA-3F8FDFF4FB8B}" type="parTrans" cxnId="{43B288B8-FE55-4216-9A05-53DA0FCAA904}">
      <dgm:prSet/>
      <dgm:spPr/>
      <dgm:t>
        <a:bodyPr/>
        <a:lstStyle/>
        <a:p>
          <a:endParaRPr lang="x-none"/>
        </a:p>
      </dgm:t>
    </dgm:pt>
    <dgm:pt modelId="{4A7528BB-27FC-48F6-8045-326E2EBD9BD1}" type="sibTrans" cxnId="{43B288B8-FE55-4216-9A05-53DA0FCAA904}">
      <dgm:prSet/>
      <dgm:spPr/>
      <dgm:t>
        <a:bodyPr/>
        <a:lstStyle/>
        <a:p>
          <a:endParaRPr lang="x-none"/>
        </a:p>
      </dgm:t>
    </dgm:pt>
    <dgm:pt modelId="{31348C00-51B4-486E-8B40-50840B9D0EEB}" type="pres">
      <dgm:prSet presAssocID="{33C1FD1D-C56C-4261-838F-62460625C8B7}" presName="Name0" presStyleCnt="0">
        <dgm:presLayoutVars>
          <dgm:dir/>
          <dgm:animLvl val="lvl"/>
          <dgm:resizeHandles val="exact"/>
        </dgm:presLayoutVars>
      </dgm:prSet>
      <dgm:spPr/>
      <dgm:t>
        <a:bodyPr/>
        <a:lstStyle/>
        <a:p>
          <a:endParaRPr lang="en-US"/>
        </a:p>
      </dgm:t>
    </dgm:pt>
    <dgm:pt modelId="{CA1F6FE2-43BB-4F53-BD1F-6634D45FA863}" type="pres">
      <dgm:prSet presAssocID="{8478107D-59F1-41DD-AA1A-B0117193E6AA}" presName="composite" presStyleCnt="0"/>
      <dgm:spPr/>
    </dgm:pt>
    <dgm:pt modelId="{74A30C28-5CE2-4DEA-ACDA-966A965DACAC}" type="pres">
      <dgm:prSet presAssocID="{8478107D-59F1-41DD-AA1A-B0117193E6AA}" presName="parTx" presStyleLbl="alignNode1" presStyleIdx="0" presStyleCnt="2">
        <dgm:presLayoutVars>
          <dgm:chMax val="0"/>
          <dgm:chPref val="0"/>
          <dgm:bulletEnabled val="1"/>
        </dgm:presLayoutVars>
      </dgm:prSet>
      <dgm:spPr/>
      <dgm:t>
        <a:bodyPr/>
        <a:lstStyle/>
        <a:p>
          <a:endParaRPr lang="en-US"/>
        </a:p>
      </dgm:t>
    </dgm:pt>
    <dgm:pt modelId="{5378F1D2-9F8C-4602-A104-E8A1E4A58A61}" type="pres">
      <dgm:prSet presAssocID="{8478107D-59F1-41DD-AA1A-B0117193E6AA}" presName="desTx" presStyleLbl="alignAccFollowNode1" presStyleIdx="0" presStyleCnt="2">
        <dgm:presLayoutVars>
          <dgm:bulletEnabled val="1"/>
        </dgm:presLayoutVars>
      </dgm:prSet>
      <dgm:spPr/>
      <dgm:t>
        <a:bodyPr/>
        <a:lstStyle/>
        <a:p>
          <a:endParaRPr lang="en-US"/>
        </a:p>
      </dgm:t>
    </dgm:pt>
    <dgm:pt modelId="{3CCD4704-9EB8-4FEA-BDCD-314E47847B23}" type="pres">
      <dgm:prSet presAssocID="{F348E114-35E7-49B5-9138-50EC0D73A009}" presName="space" presStyleCnt="0"/>
      <dgm:spPr/>
    </dgm:pt>
    <dgm:pt modelId="{B9564548-14D1-4ACE-B746-86BE8E5CBF72}" type="pres">
      <dgm:prSet presAssocID="{84572EF3-070B-468D-8F19-166F248DA5F3}" presName="composite" presStyleCnt="0"/>
      <dgm:spPr/>
    </dgm:pt>
    <dgm:pt modelId="{8F31ED52-97CA-490B-9426-4F21945D8809}" type="pres">
      <dgm:prSet presAssocID="{84572EF3-070B-468D-8F19-166F248DA5F3}" presName="parTx" presStyleLbl="alignNode1" presStyleIdx="1" presStyleCnt="2">
        <dgm:presLayoutVars>
          <dgm:chMax val="0"/>
          <dgm:chPref val="0"/>
          <dgm:bulletEnabled val="1"/>
        </dgm:presLayoutVars>
      </dgm:prSet>
      <dgm:spPr/>
      <dgm:t>
        <a:bodyPr/>
        <a:lstStyle/>
        <a:p>
          <a:endParaRPr lang="en-US"/>
        </a:p>
      </dgm:t>
    </dgm:pt>
    <dgm:pt modelId="{D50DCD35-A40C-49DD-BE29-C68242424897}" type="pres">
      <dgm:prSet presAssocID="{84572EF3-070B-468D-8F19-166F248DA5F3}" presName="desTx" presStyleLbl="alignAccFollowNode1" presStyleIdx="1" presStyleCnt="2">
        <dgm:presLayoutVars>
          <dgm:bulletEnabled val="1"/>
        </dgm:presLayoutVars>
      </dgm:prSet>
      <dgm:spPr/>
      <dgm:t>
        <a:bodyPr/>
        <a:lstStyle/>
        <a:p>
          <a:endParaRPr lang="en-US"/>
        </a:p>
      </dgm:t>
    </dgm:pt>
  </dgm:ptLst>
  <dgm:cxnLst>
    <dgm:cxn modelId="{A4B6A3DE-548C-455D-822C-689F4C8AA014}" type="presOf" srcId="{84572EF3-070B-468D-8F19-166F248DA5F3}" destId="{8F31ED52-97CA-490B-9426-4F21945D8809}" srcOrd="0" destOrd="0" presId="urn:microsoft.com/office/officeart/2005/8/layout/hList1"/>
    <dgm:cxn modelId="{99FA4D23-721B-4265-912C-4BAFD6910FEE}" type="presOf" srcId="{1FA3AB91-E096-4DC3-9685-EE941721BC01}" destId="{D50DCD35-A40C-49DD-BE29-C68242424897}" srcOrd="0" destOrd="2" presId="urn:microsoft.com/office/officeart/2005/8/layout/hList1"/>
    <dgm:cxn modelId="{942457B8-C069-48DD-9615-B23F5F9928F5}" type="presOf" srcId="{B7E4888D-981A-4EBE-8275-2FDF12D4A8C7}" destId="{5378F1D2-9F8C-4602-A104-E8A1E4A58A61}" srcOrd="0" destOrd="3" presId="urn:microsoft.com/office/officeart/2005/8/layout/hList1"/>
    <dgm:cxn modelId="{02CE9B14-D7AE-427A-9021-E896CCCD2581}" srcId="{8478107D-59F1-41DD-AA1A-B0117193E6AA}" destId="{6A3941F1-058C-45DF-94EC-D467B9BBED68}" srcOrd="2" destOrd="0" parTransId="{7111D934-F788-4B6C-B54C-E2F7A27E2FFF}" sibTransId="{7135A207-4F24-4E91-8F47-7CAB9B291B45}"/>
    <dgm:cxn modelId="{43B288B8-FE55-4216-9A05-53DA0FCAA904}" srcId="{84572EF3-070B-468D-8F19-166F248DA5F3}" destId="{A292A9BB-2055-4EC4-8052-D8C5969385BB}" srcOrd="0" destOrd="0" parTransId="{A238AF45-FFF4-41EF-82EA-3F8FDFF4FB8B}" sibTransId="{4A7528BB-27FC-48F6-8045-326E2EBD9BD1}"/>
    <dgm:cxn modelId="{F0C885E4-D0A0-4298-AFA0-7CD006F03C6F}" type="presOf" srcId="{8478107D-59F1-41DD-AA1A-B0117193E6AA}" destId="{74A30C28-5CE2-4DEA-ACDA-966A965DACAC}" srcOrd="0" destOrd="0" presId="urn:microsoft.com/office/officeart/2005/8/layout/hList1"/>
    <dgm:cxn modelId="{5AA316F7-2B59-4D19-B7AF-2746DEC85C0E}" type="presOf" srcId="{6A3941F1-058C-45DF-94EC-D467B9BBED68}" destId="{5378F1D2-9F8C-4602-A104-E8A1E4A58A61}" srcOrd="0" destOrd="2" presId="urn:microsoft.com/office/officeart/2005/8/layout/hList1"/>
    <dgm:cxn modelId="{56FDC6CF-D776-4690-9EF2-E0B88E3E45F7}" type="presOf" srcId="{2D0B41FA-9D24-4F78-88A6-53AB5D34FA4E}" destId="{D50DCD35-A40C-49DD-BE29-C68242424897}" srcOrd="0" destOrd="1" presId="urn:microsoft.com/office/officeart/2005/8/layout/hList1"/>
    <dgm:cxn modelId="{EF9BDC6A-CB24-4FF8-BDBE-B4381D9C32BB}" type="presOf" srcId="{B592A056-A47A-463E-9F40-53646C849210}" destId="{5378F1D2-9F8C-4602-A104-E8A1E4A58A61}" srcOrd="0" destOrd="1" presId="urn:microsoft.com/office/officeart/2005/8/layout/hList1"/>
    <dgm:cxn modelId="{2A2E28C7-EE4C-4035-940E-26E27EC4AF82}" srcId="{33C1FD1D-C56C-4261-838F-62460625C8B7}" destId="{8478107D-59F1-41DD-AA1A-B0117193E6AA}" srcOrd="0" destOrd="0" parTransId="{D83B4D3C-893F-44C9-8CA9-03A8064E14E4}" sibTransId="{F348E114-35E7-49B5-9138-50EC0D73A009}"/>
    <dgm:cxn modelId="{FA964501-3ED1-42B3-BB67-426AFF864AEF}" srcId="{84572EF3-070B-468D-8F19-166F248DA5F3}" destId="{2D0B41FA-9D24-4F78-88A6-53AB5D34FA4E}" srcOrd="1" destOrd="0" parTransId="{63DE20C5-59DF-4DAB-9841-534CE2B858A7}" sibTransId="{70CCFAE8-A566-498A-994C-2178814404B7}"/>
    <dgm:cxn modelId="{B522681E-5254-489A-AEC1-AFA07D124FD4}" srcId="{84572EF3-070B-468D-8F19-166F248DA5F3}" destId="{84E78E89-B831-418A-BA77-DB835C49DD3F}" srcOrd="3" destOrd="0" parTransId="{C1651850-513D-4343-BCD1-5638944EED60}" sibTransId="{7E64FC3D-B85F-49EF-BA41-A0A130FECFCF}"/>
    <dgm:cxn modelId="{CBB55945-C3FE-4B51-A20F-43A00A17C39B}" srcId="{8478107D-59F1-41DD-AA1A-B0117193E6AA}" destId="{B7E4888D-981A-4EBE-8275-2FDF12D4A8C7}" srcOrd="3" destOrd="0" parTransId="{4A6E2472-2A54-4EB5-9523-6FA281A5BC6C}" sibTransId="{B31F7BF4-3E4C-46A7-A6B3-4413EB013C11}"/>
    <dgm:cxn modelId="{142A4B24-4A2A-405E-94BD-A67B064BD33C}" srcId="{33C1FD1D-C56C-4261-838F-62460625C8B7}" destId="{84572EF3-070B-468D-8F19-166F248DA5F3}" srcOrd="1" destOrd="0" parTransId="{D928584D-4FEE-43A5-9F0E-0F0996A7553C}" sibTransId="{1821DE57-D7CD-4877-9A64-23AC13EE88B0}"/>
    <dgm:cxn modelId="{1150BA82-3661-4C41-AE11-FC01D37B5059}" type="presOf" srcId="{A292A9BB-2055-4EC4-8052-D8C5969385BB}" destId="{D50DCD35-A40C-49DD-BE29-C68242424897}" srcOrd="0" destOrd="0" presId="urn:microsoft.com/office/officeart/2005/8/layout/hList1"/>
    <dgm:cxn modelId="{085B3201-E0DE-48CB-A361-66B264CA89CB}" type="presOf" srcId="{33C1FD1D-C56C-4261-838F-62460625C8B7}" destId="{31348C00-51B4-486E-8B40-50840B9D0EEB}" srcOrd="0" destOrd="0" presId="urn:microsoft.com/office/officeart/2005/8/layout/hList1"/>
    <dgm:cxn modelId="{6CB72973-E14A-4DB1-84D5-83DB3749CE45}" srcId="{8478107D-59F1-41DD-AA1A-B0117193E6AA}" destId="{3A993BF7-9F02-48BD-91A3-84CDBBB32C8C}" srcOrd="0" destOrd="0" parTransId="{7C774126-2950-4515-ADD4-F3F241063103}" sibTransId="{E28BE1D2-CCF1-43C8-B7EB-E81EFA373AC7}"/>
    <dgm:cxn modelId="{EB420139-6AF3-4220-A8DD-C8DA5D3395A2}" type="presOf" srcId="{3A993BF7-9F02-48BD-91A3-84CDBBB32C8C}" destId="{5378F1D2-9F8C-4602-A104-E8A1E4A58A61}" srcOrd="0" destOrd="0" presId="urn:microsoft.com/office/officeart/2005/8/layout/hList1"/>
    <dgm:cxn modelId="{2E17C0AF-8D3E-42C5-9240-B07D20D17121}" srcId="{8478107D-59F1-41DD-AA1A-B0117193E6AA}" destId="{B592A056-A47A-463E-9F40-53646C849210}" srcOrd="1" destOrd="0" parTransId="{21C67F4F-771B-491A-A326-8762C6068899}" sibTransId="{A6A50E90-5AC2-4BDA-80A2-1E6B2E0487A6}"/>
    <dgm:cxn modelId="{2F41D38F-FDA7-4781-AB8C-1F97C37767F4}" type="presOf" srcId="{84E78E89-B831-418A-BA77-DB835C49DD3F}" destId="{D50DCD35-A40C-49DD-BE29-C68242424897}" srcOrd="0" destOrd="3" presId="urn:microsoft.com/office/officeart/2005/8/layout/hList1"/>
    <dgm:cxn modelId="{20890361-D864-4BFF-B264-75AFFBF6A0DC}" srcId="{84572EF3-070B-468D-8F19-166F248DA5F3}" destId="{1FA3AB91-E096-4DC3-9685-EE941721BC01}" srcOrd="2" destOrd="0" parTransId="{49C5633F-F85A-40DB-A01E-EFA6396E4708}" sibTransId="{D8349285-C579-4DCE-AA0B-6698C51358FE}"/>
    <dgm:cxn modelId="{62BD3BC5-DB60-4078-B0EB-2FB2BA584537}" type="presParOf" srcId="{31348C00-51B4-486E-8B40-50840B9D0EEB}" destId="{CA1F6FE2-43BB-4F53-BD1F-6634D45FA863}" srcOrd="0" destOrd="0" presId="urn:microsoft.com/office/officeart/2005/8/layout/hList1"/>
    <dgm:cxn modelId="{4A7C738D-1FBC-4EA6-9607-F9B66B972037}" type="presParOf" srcId="{CA1F6FE2-43BB-4F53-BD1F-6634D45FA863}" destId="{74A30C28-5CE2-4DEA-ACDA-966A965DACAC}" srcOrd="0" destOrd="0" presId="urn:microsoft.com/office/officeart/2005/8/layout/hList1"/>
    <dgm:cxn modelId="{194DF813-8077-408C-8607-6A9BDE063745}" type="presParOf" srcId="{CA1F6FE2-43BB-4F53-BD1F-6634D45FA863}" destId="{5378F1D2-9F8C-4602-A104-E8A1E4A58A61}" srcOrd="1" destOrd="0" presId="urn:microsoft.com/office/officeart/2005/8/layout/hList1"/>
    <dgm:cxn modelId="{DAC9B128-3205-4825-983D-FCE547D3DC6C}" type="presParOf" srcId="{31348C00-51B4-486E-8B40-50840B9D0EEB}" destId="{3CCD4704-9EB8-4FEA-BDCD-314E47847B23}" srcOrd="1" destOrd="0" presId="urn:microsoft.com/office/officeart/2005/8/layout/hList1"/>
    <dgm:cxn modelId="{4F8633FC-3ABB-4AC1-851E-FD8B2799EBB8}" type="presParOf" srcId="{31348C00-51B4-486E-8B40-50840B9D0EEB}" destId="{B9564548-14D1-4ACE-B746-86BE8E5CBF72}" srcOrd="2" destOrd="0" presId="urn:microsoft.com/office/officeart/2005/8/layout/hList1"/>
    <dgm:cxn modelId="{40CAF76B-7E1D-4307-8D8F-6DDE013D566E}" type="presParOf" srcId="{B9564548-14D1-4ACE-B746-86BE8E5CBF72}" destId="{8F31ED52-97CA-490B-9426-4F21945D8809}" srcOrd="0" destOrd="0" presId="urn:microsoft.com/office/officeart/2005/8/layout/hList1"/>
    <dgm:cxn modelId="{8599D643-EB5D-481F-B4B2-E7374BAE94F1}" type="presParOf" srcId="{B9564548-14D1-4ACE-B746-86BE8E5CBF72}" destId="{D50DCD35-A40C-49DD-BE29-C6824242489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A30C28-5CE2-4DEA-ACDA-966A965DACAC}">
      <dsp:nvSpPr>
        <dsp:cNvPr id="0" name=""/>
        <dsp:cNvSpPr/>
      </dsp:nvSpPr>
      <dsp:spPr>
        <a:xfrm>
          <a:off x="40" y="43893"/>
          <a:ext cx="3871004" cy="518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buFont typeface="Arial" charset="0"/>
            <a:buChar char="•"/>
          </a:pPr>
          <a:r>
            <a:rPr lang="en-US" sz="1800" b="1" kern="1200" dirty="0"/>
            <a:t>Arithmetic operations </a:t>
          </a:r>
          <a:endParaRPr lang="x-none" sz="1800" kern="1200" dirty="0"/>
        </a:p>
      </dsp:txBody>
      <dsp:txXfrm>
        <a:off x="40" y="43893"/>
        <a:ext cx="3871004" cy="518400"/>
      </dsp:txXfrm>
    </dsp:sp>
    <dsp:sp modelId="{5378F1D2-9F8C-4602-A104-E8A1E4A58A61}">
      <dsp:nvSpPr>
        <dsp:cNvPr id="0" name=""/>
        <dsp:cNvSpPr/>
      </dsp:nvSpPr>
      <dsp:spPr>
        <a:xfrm>
          <a:off x="40" y="562293"/>
          <a:ext cx="3871004" cy="13834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addition</a:t>
          </a:r>
          <a:endParaRPr lang="x-none" sz="1800" kern="1200" dirty="0"/>
        </a:p>
        <a:p>
          <a:pPr marL="171450" lvl="1" indent="-171450" algn="l" defTabSz="800100">
            <a:lnSpc>
              <a:spcPct val="90000"/>
            </a:lnSpc>
            <a:spcBef>
              <a:spcPct val="0"/>
            </a:spcBef>
            <a:spcAft>
              <a:spcPct val="15000"/>
            </a:spcAft>
            <a:buChar char="••"/>
          </a:pPr>
          <a:r>
            <a:rPr lang="en-US" sz="1800" kern="1200" dirty="0"/>
            <a:t>Subtraction</a:t>
          </a:r>
          <a:endParaRPr lang="x-none" sz="1800" kern="1200" dirty="0"/>
        </a:p>
        <a:p>
          <a:pPr marL="171450" lvl="1" indent="-171450" algn="l" defTabSz="800100">
            <a:lnSpc>
              <a:spcPct val="90000"/>
            </a:lnSpc>
            <a:spcBef>
              <a:spcPct val="0"/>
            </a:spcBef>
            <a:spcAft>
              <a:spcPct val="15000"/>
            </a:spcAft>
            <a:buChar char="••"/>
          </a:pPr>
          <a:r>
            <a:rPr lang="en-US" sz="1800" kern="1200" dirty="0"/>
            <a:t>Multiplication</a:t>
          </a:r>
          <a:endParaRPr lang="x-none" sz="1800" kern="1200" dirty="0"/>
        </a:p>
        <a:p>
          <a:pPr marL="171450" lvl="1" indent="-171450" algn="l" defTabSz="800100">
            <a:lnSpc>
              <a:spcPct val="90000"/>
            </a:lnSpc>
            <a:spcBef>
              <a:spcPct val="0"/>
            </a:spcBef>
            <a:spcAft>
              <a:spcPct val="15000"/>
            </a:spcAft>
            <a:buChar char="••"/>
          </a:pPr>
          <a:r>
            <a:rPr lang="en-US" sz="1800" kern="1200" dirty="0"/>
            <a:t>division</a:t>
          </a:r>
          <a:endParaRPr lang="x-none" sz="1800" kern="1200" dirty="0"/>
        </a:p>
      </dsp:txBody>
      <dsp:txXfrm>
        <a:off x="40" y="562293"/>
        <a:ext cx="3871004" cy="1383480"/>
      </dsp:txXfrm>
    </dsp:sp>
    <dsp:sp modelId="{8F31ED52-97CA-490B-9426-4F21945D8809}">
      <dsp:nvSpPr>
        <dsp:cNvPr id="0" name=""/>
        <dsp:cNvSpPr/>
      </dsp:nvSpPr>
      <dsp:spPr>
        <a:xfrm>
          <a:off x="4412985" y="43893"/>
          <a:ext cx="3871004" cy="518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a:t>Logic operations</a:t>
          </a:r>
          <a:endParaRPr lang="x-none" sz="1800" kern="1200" dirty="0"/>
        </a:p>
      </dsp:txBody>
      <dsp:txXfrm>
        <a:off x="4412985" y="43893"/>
        <a:ext cx="3871004" cy="518400"/>
      </dsp:txXfrm>
    </dsp:sp>
    <dsp:sp modelId="{D50DCD35-A40C-49DD-BE29-C68242424897}">
      <dsp:nvSpPr>
        <dsp:cNvPr id="0" name=""/>
        <dsp:cNvSpPr/>
      </dsp:nvSpPr>
      <dsp:spPr>
        <a:xfrm>
          <a:off x="4412985" y="562293"/>
          <a:ext cx="3871004" cy="13834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Wingdings" panose="05000000000000000000" pitchFamily="2" charset="2"/>
            <a:buChar char="••"/>
          </a:pPr>
          <a:r>
            <a:rPr lang="en-US" sz="1800" kern="1200" dirty="0"/>
            <a:t>comparisons of values such as </a:t>
          </a:r>
          <a:endParaRPr lang="x-none" sz="1800" kern="1200" dirty="0"/>
        </a:p>
        <a:p>
          <a:pPr marL="171450" lvl="1" indent="-171450" algn="l" defTabSz="800100">
            <a:lnSpc>
              <a:spcPct val="90000"/>
            </a:lnSpc>
            <a:spcBef>
              <a:spcPct val="0"/>
            </a:spcBef>
            <a:spcAft>
              <a:spcPct val="15000"/>
            </a:spcAft>
            <a:buChar char="••"/>
          </a:pPr>
          <a:r>
            <a:rPr lang="en-US" sz="1800" kern="1200" dirty="0"/>
            <a:t>NOT</a:t>
          </a:r>
          <a:endParaRPr lang="x-none" sz="1800" kern="1200" dirty="0"/>
        </a:p>
        <a:p>
          <a:pPr marL="171450" lvl="1" indent="-171450" algn="l" defTabSz="800100">
            <a:lnSpc>
              <a:spcPct val="90000"/>
            </a:lnSpc>
            <a:spcBef>
              <a:spcPct val="0"/>
            </a:spcBef>
            <a:spcAft>
              <a:spcPct val="15000"/>
            </a:spcAft>
            <a:buChar char="••"/>
          </a:pPr>
          <a:r>
            <a:rPr lang="en-US" sz="1800" kern="1200" dirty="0"/>
            <a:t>AND</a:t>
          </a:r>
          <a:endParaRPr lang="x-none" sz="1800" kern="1200" dirty="0"/>
        </a:p>
        <a:p>
          <a:pPr marL="171450" lvl="1" indent="-171450" algn="l" defTabSz="800100">
            <a:lnSpc>
              <a:spcPct val="90000"/>
            </a:lnSpc>
            <a:spcBef>
              <a:spcPct val="0"/>
            </a:spcBef>
            <a:spcAft>
              <a:spcPct val="15000"/>
            </a:spcAft>
            <a:buChar char="••"/>
          </a:pPr>
          <a:r>
            <a:rPr lang="en-US" sz="1800" kern="1200" dirty="0"/>
            <a:t>OR</a:t>
          </a:r>
          <a:endParaRPr lang="x-none" sz="1800" kern="1200" dirty="0"/>
        </a:p>
      </dsp:txBody>
      <dsp:txXfrm>
        <a:off x="4412985" y="562293"/>
        <a:ext cx="3871004" cy="138348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7C6D55B2-AFB3-476A-AD8C-712A1CB0E513}"/>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88663980-AAC3-4A72-A93A-A274FD2647A4}"/>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23A022AB-3811-4B13-8348-273E73291E6F}" type="datetimeFigureOut">
              <a:rPr lang="en-US" smtClean="0"/>
              <a:t>9/3/2019</a:t>
            </a:fld>
            <a:endParaRPr lang="en-US"/>
          </a:p>
        </p:txBody>
      </p:sp>
      <p:sp>
        <p:nvSpPr>
          <p:cNvPr id="4" name="Footer Placeholder 3">
            <a:extLst>
              <a:ext uri="{FF2B5EF4-FFF2-40B4-BE49-F238E27FC236}">
                <a16:creationId xmlns:a16="http://schemas.microsoft.com/office/drawing/2014/main" xmlns="" id="{DE36E1D8-C0FA-4ECA-A6D7-F3BBFEABE79D}"/>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C8FAB493-6177-4A9A-A8AA-B46274FCCE5B}"/>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20CA66CA-01B2-47B9-9461-E8BB3A514AAB}" type="slidenum">
              <a:rPr lang="en-US" smtClean="0"/>
              <a:t>‹#›</a:t>
            </a:fld>
            <a:endParaRPr lang="en-US"/>
          </a:p>
        </p:txBody>
      </p:sp>
    </p:spTree>
    <p:extLst>
      <p:ext uri="{BB962C8B-B14F-4D97-AF65-F5344CB8AC3E}">
        <p14:creationId xmlns:p14="http://schemas.microsoft.com/office/powerpoint/2010/main" val="35571374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615647B2-326C-486C-9AE3-1813F6F3F1B3}" type="datetimeFigureOut">
              <a:rPr lang="x-none" smtClean="0"/>
              <a:t>9/3/2019</a:t>
            </a:fld>
            <a:endParaRPr lang="x-none"/>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104C861A-8677-4586-8970-1BBC32ECCDB8}" type="slidenum">
              <a:rPr lang="x-none" smtClean="0"/>
              <a:t>‹#›</a:t>
            </a:fld>
            <a:endParaRPr lang="x-none"/>
          </a:p>
        </p:txBody>
      </p:sp>
    </p:spTree>
    <p:extLst>
      <p:ext uri="{BB962C8B-B14F-4D97-AF65-F5344CB8AC3E}">
        <p14:creationId xmlns:p14="http://schemas.microsoft.com/office/powerpoint/2010/main" val="2531578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altLang="en-US" dirty="0"/>
              <a:t>Computer systems have four parts—Hardware—Software—Data--User</a:t>
            </a:r>
          </a:p>
          <a:p>
            <a:r>
              <a:rPr lang="en-US" altLang="en-US" b="1" dirty="0"/>
              <a:t>Hardware-</a:t>
            </a:r>
            <a:r>
              <a:rPr lang="en-US" altLang="en-US" dirty="0"/>
              <a:t>--Mechanical devices in the computer---Anything that can be touched</a:t>
            </a:r>
          </a:p>
          <a:p>
            <a:r>
              <a:rPr lang="en-US" altLang="en-US" b="1" dirty="0"/>
              <a:t>Software-</a:t>
            </a:r>
            <a:r>
              <a:rPr lang="en-US" altLang="en-US" dirty="0"/>
              <a:t>--Tell the computer what to do---Also called a program---Thousands of programs exist</a:t>
            </a:r>
          </a:p>
          <a:p>
            <a:r>
              <a:rPr lang="en-US" altLang="en-US" b="1" dirty="0"/>
              <a:t>Data-</a:t>
            </a:r>
            <a:r>
              <a:rPr lang="en-US" altLang="en-US" dirty="0"/>
              <a:t>--Pieces of information---Computer organize and present data</a:t>
            </a:r>
          </a:p>
          <a:p>
            <a:r>
              <a:rPr lang="en-US" altLang="en-US" b="1" dirty="0"/>
              <a:t>Users-</a:t>
            </a:r>
            <a:r>
              <a:rPr lang="en-US" altLang="en-US" dirty="0"/>
              <a:t>--People operating the computer---Most important part---Tell the computer what to do</a:t>
            </a:r>
          </a:p>
          <a:p>
            <a:endParaRPr lang="en-US" altLang="en-US" dirty="0"/>
          </a:p>
        </p:txBody>
      </p:sp>
      <p:sp>
        <p:nvSpPr>
          <p:cNvPr id="4" name="Slide Number Placeholder 3"/>
          <p:cNvSpPr>
            <a:spLocks noGrp="1"/>
          </p:cNvSpPr>
          <p:nvPr>
            <p:ph type="sldNum" sz="quarter" idx="5"/>
          </p:nvPr>
        </p:nvSpPr>
        <p:spPr/>
        <p:txBody>
          <a:bodyPr/>
          <a:lstStyle/>
          <a:p>
            <a:fld id="{104C861A-8677-4586-8970-1BBC32ECCDB8}" type="slidenum">
              <a:rPr lang="x-none" smtClean="0"/>
              <a:t>3</a:t>
            </a:fld>
            <a:endParaRPr lang="x-none"/>
          </a:p>
        </p:txBody>
      </p:sp>
    </p:spTree>
    <p:extLst>
      <p:ext uri="{BB962C8B-B14F-4D97-AF65-F5344CB8AC3E}">
        <p14:creationId xmlns:p14="http://schemas.microsoft.com/office/powerpoint/2010/main" val="48049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altLang="en-US" dirty="0"/>
              <a:t>Computers use the same basic hardware</a:t>
            </a:r>
          </a:p>
          <a:p>
            <a:r>
              <a:rPr lang="en-US" altLang="en-US" dirty="0"/>
              <a:t>Hardware categorized into four types</a:t>
            </a:r>
          </a:p>
          <a:p>
            <a:r>
              <a:rPr lang="en-US" dirty="0"/>
              <a:t> </a:t>
            </a:r>
          </a:p>
          <a:p>
            <a:pPr fontAlgn="base"/>
            <a:r>
              <a:rPr lang="en-US" sz="1200" b="0" i="1" kern="1200" dirty="0">
                <a:solidFill>
                  <a:schemeClr val="tx1"/>
                </a:solidFill>
                <a:effectLst/>
                <a:latin typeface="+mn-lt"/>
                <a:ea typeface="+mn-ea"/>
                <a:cs typeface="+mn-cs"/>
              </a:rPr>
              <a:t>CRT (cathode ray tube) monitors</a:t>
            </a:r>
          </a:p>
          <a:p>
            <a:r>
              <a:rPr lang="en-US" sz="1200" b="0" i="1" kern="1200" dirty="0">
                <a:solidFill>
                  <a:schemeClr val="tx1"/>
                </a:solidFill>
                <a:effectLst/>
                <a:latin typeface="+mn-lt"/>
                <a:ea typeface="+mn-ea"/>
                <a:cs typeface="+mn-cs"/>
              </a:rPr>
              <a:t>LCD (liquid crystal display) monitors</a:t>
            </a:r>
          </a:p>
          <a:p>
            <a:pPr fontAlgn="base"/>
            <a:r>
              <a:rPr lang="en-US" sz="1200" b="0" i="1" kern="1200" dirty="0">
                <a:solidFill>
                  <a:schemeClr val="tx1"/>
                </a:solidFill>
                <a:effectLst/>
                <a:latin typeface="+mn-lt"/>
                <a:ea typeface="+mn-ea"/>
                <a:cs typeface="+mn-cs"/>
              </a:rPr>
              <a:t>LED (light-emitting diodes) monitors</a:t>
            </a:r>
          </a:p>
          <a:p>
            <a:r>
              <a:rPr lang="en-US" dirty="0"/>
              <a:t/>
            </a:r>
            <a:br>
              <a:rPr lang="en-US" dirty="0"/>
            </a:br>
            <a:r>
              <a:rPr lang="en-US" dirty="0"/>
              <a:t/>
            </a:r>
            <a:br>
              <a:rPr lang="en-US" dirty="0"/>
            </a:br>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7</a:t>
            </a:fld>
            <a:endParaRPr lang="x-none"/>
          </a:p>
        </p:txBody>
      </p:sp>
    </p:spTree>
    <p:extLst>
      <p:ext uri="{BB962C8B-B14F-4D97-AF65-F5344CB8AC3E}">
        <p14:creationId xmlns:p14="http://schemas.microsoft.com/office/powerpoint/2010/main" val="1384938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8</a:t>
            </a:fld>
            <a:endParaRPr lang="x-none"/>
          </a:p>
        </p:txBody>
      </p:sp>
    </p:spTree>
    <p:extLst>
      <p:ext uri="{BB962C8B-B14F-4D97-AF65-F5344CB8AC3E}">
        <p14:creationId xmlns:p14="http://schemas.microsoft.com/office/powerpoint/2010/main" val="1116984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motherboard is one of the most essential parts of a computer system. It holds together many of the crucial components of a computer, including the central processing unit (CPU), memory and connectors for input and output device</a:t>
            </a:r>
            <a:endParaRPr lang="x-none" dirty="0"/>
          </a:p>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9</a:t>
            </a:fld>
            <a:endParaRPr lang="x-none"/>
          </a:p>
        </p:txBody>
      </p:sp>
    </p:spTree>
    <p:extLst>
      <p:ext uri="{BB962C8B-B14F-4D97-AF65-F5344CB8AC3E}">
        <p14:creationId xmlns:p14="http://schemas.microsoft.com/office/powerpoint/2010/main" val="2032753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ALU—Calculations </a:t>
            </a:r>
            <a:r>
              <a:rPr lang="en-US" altLang="en-US" dirty="0" err="1"/>
              <a:t>occure</a:t>
            </a: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Control Unit----manages and coordinates the operations of all other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Cache---, which serves as high-speed memory where instructions can be copied to and retrieved</a:t>
            </a:r>
            <a:endParaRPr lang="en-US" altLang="en-US" dirty="0"/>
          </a:p>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10</a:t>
            </a:fld>
            <a:endParaRPr lang="x-none"/>
          </a:p>
        </p:txBody>
      </p:sp>
    </p:spTree>
    <p:extLst>
      <p:ext uri="{BB962C8B-B14F-4D97-AF65-F5344CB8AC3E}">
        <p14:creationId xmlns:p14="http://schemas.microsoft.com/office/powerpoint/2010/main" val="1872796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represents the </a:t>
            </a:r>
            <a:r>
              <a:rPr lang="en-US" sz="1200" b="1" i="0" kern="1200" dirty="0">
                <a:solidFill>
                  <a:schemeClr val="tx1"/>
                </a:solidFill>
                <a:effectLst/>
                <a:latin typeface="+mn-lt"/>
                <a:ea typeface="+mn-ea"/>
                <a:cs typeface="+mn-cs"/>
              </a:rPr>
              <a:t>fundamental</a:t>
            </a:r>
            <a:r>
              <a:rPr lang="en-US" sz="1200" b="0" i="0" kern="1200" dirty="0">
                <a:solidFill>
                  <a:schemeClr val="tx1"/>
                </a:solidFill>
                <a:effectLst/>
                <a:latin typeface="+mn-lt"/>
                <a:ea typeface="+mn-ea"/>
                <a:cs typeface="+mn-cs"/>
              </a:rPr>
              <a:t> building block of the </a:t>
            </a:r>
            <a:r>
              <a:rPr lang="en-US" sz="1200" b="1" i="0" kern="1200" dirty="0">
                <a:solidFill>
                  <a:schemeClr val="tx1"/>
                </a:solidFill>
                <a:effectLst/>
                <a:latin typeface="+mn-lt"/>
                <a:ea typeface="+mn-ea"/>
                <a:cs typeface="+mn-cs"/>
              </a:rPr>
              <a:t>central processing unit (CPU)</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Modern CPUs contain very powerful and complex ALUs. In addition modern CPUs contain a control unit (CU).</a:t>
            </a:r>
          </a:p>
          <a:p>
            <a:r>
              <a:rPr lang="en-US" sz="1200" b="0" i="0" kern="1200" dirty="0">
                <a:solidFill>
                  <a:schemeClr val="tx1"/>
                </a:solidFill>
                <a:effectLst/>
                <a:latin typeface="+mn-lt"/>
                <a:ea typeface="+mn-ea"/>
                <a:cs typeface="+mn-cs"/>
              </a:rPr>
              <a:t>Most of the operations of a CPU are performed by one or more ALUs, which load data from input registers. </a:t>
            </a:r>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register</a:t>
            </a:r>
            <a:r>
              <a:rPr lang="en-US" sz="1200" b="0" i="0" kern="1200" dirty="0">
                <a:solidFill>
                  <a:schemeClr val="tx1"/>
                </a:solidFill>
                <a:effectLst/>
                <a:latin typeface="+mn-lt"/>
                <a:ea typeface="+mn-ea"/>
                <a:cs typeface="+mn-cs"/>
              </a:rPr>
              <a:t> is a small amount of storage available as part of a CPU. </a:t>
            </a:r>
          </a:p>
          <a:p>
            <a:r>
              <a:rPr lang="en-US" sz="1200" b="0" i="0" kern="1200" dirty="0">
                <a:solidFill>
                  <a:schemeClr val="tx1"/>
                </a:solidFill>
                <a:effectLst/>
                <a:latin typeface="+mn-lt"/>
                <a:ea typeface="+mn-ea"/>
                <a:cs typeface="+mn-cs"/>
              </a:rPr>
              <a:t>The control unit tells the ALU what operation to perform on that data, and the ALU stores the result in an output register. </a:t>
            </a:r>
          </a:p>
        </p:txBody>
      </p:sp>
      <p:sp>
        <p:nvSpPr>
          <p:cNvPr id="4" name="Slide Number Placeholder 3"/>
          <p:cNvSpPr>
            <a:spLocks noGrp="1"/>
          </p:cNvSpPr>
          <p:nvPr>
            <p:ph type="sldNum" sz="quarter" idx="5"/>
          </p:nvPr>
        </p:nvSpPr>
        <p:spPr/>
        <p:txBody>
          <a:bodyPr/>
          <a:lstStyle/>
          <a:p>
            <a:fld id="{104C861A-8677-4586-8970-1BBC32ECCDB8}" type="slidenum">
              <a:rPr lang="x-none" smtClean="0"/>
              <a:t>11</a:t>
            </a:fld>
            <a:endParaRPr lang="x-none"/>
          </a:p>
        </p:txBody>
      </p:sp>
    </p:spTree>
    <p:extLst>
      <p:ext uri="{BB962C8B-B14F-4D97-AF65-F5344CB8AC3E}">
        <p14:creationId xmlns:p14="http://schemas.microsoft.com/office/powerpoint/2010/main" val="3119611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ALU performs basic arithmetic and logic operations</a:t>
            </a:r>
          </a:p>
          <a:p>
            <a:r>
              <a:rPr lang="en-US" sz="1200" b="0" i="0" kern="1200" dirty="0">
                <a:solidFill>
                  <a:schemeClr val="tx1"/>
                </a:solidFill>
                <a:effectLst/>
                <a:latin typeface="+mn-lt"/>
                <a:ea typeface="+mn-ea"/>
                <a:cs typeface="+mn-cs"/>
              </a:rPr>
              <a:t>All information in a computer is stored and manipulated in the form of </a:t>
            </a:r>
            <a:r>
              <a:rPr lang="en-US" sz="1200" b="1" i="0" kern="1200" dirty="0">
                <a:solidFill>
                  <a:schemeClr val="tx1"/>
                </a:solidFill>
                <a:effectLst/>
                <a:latin typeface="+mn-lt"/>
                <a:ea typeface="+mn-ea"/>
                <a:cs typeface="+mn-cs"/>
              </a:rPr>
              <a:t>binary numbers</a:t>
            </a:r>
            <a:r>
              <a:rPr lang="en-US" sz="1200" b="0" i="0" kern="1200" dirty="0">
                <a:solidFill>
                  <a:schemeClr val="tx1"/>
                </a:solidFill>
                <a:effectLst/>
                <a:latin typeface="+mn-lt"/>
                <a:ea typeface="+mn-ea"/>
                <a:cs typeface="+mn-cs"/>
              </a:rPr>
              <a:t>, i.e. 0 and 1.</a:t>
            </a:r>
          </a:p>
          <a:p>
            <a:r>
              <a:rPr lang="en-US" sz="1200" b="1" i="0" kern="1200" dirty="0">
                <a:solidFill>
                  <a:schemeClr val="tx1"/>
                </a:solidFill>
                <a:effectLst/>
                <a:latin typeface="+mn-lt"/>
                <a:ea typeface="+mn-ea"/>
                <a:cs typeface="+mn-cs"/>
              </a:rPr>
              <a:t>Transistor</a:t>
            </a:r>
            <a:r>
              <a:rPr lang="en-US" sz="1200" b="0" i="0" kern="1200" dirty="0">
                <a:solidFill>
                  <a:schemeClr val="tx1"/>
                </a:solidFill>
                <a:effectLst/>
                <a:latin typeface="+mn-lt"/>
                <a:ea typeface="+mn-ea"/>
                <a:cs typeface="+mn-cs"/>
              </a:rPr>
              <a:t> switches are used to manipulate binary numbers since there are only two possible states of a switch: open or closed. An open transistor, through which there is no current, represents a 0. A closed transistor, through which there is a current, represents a 1.</a:t>
            </a:r>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12</a:t>
            </a:fld>
            <a:endParaRPr lang="x-none"/>
          </a:p>
        </p:txBody>
      </p:sp>
    </p:spTree>
    <p:extLst>
      <p:ext uri="{BB962C8B-B14F-4D97-AF65-F5344CB8AC3E}">
        <p14:creationId xmlns:p14="http://schemas.microsoft.com/office/powerpoint/2010/main" val="122209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ea typeface="Times" panose="02020603050405020304" pitchFamily="18" charset="0"/>
                <a:cs typeface="Times" panose="02020603050405020304" pitchFamily="18" charset="0"/>
              </a:rPr>
              <a:t>Intel, the manufacturer of popular CPUs, originally made RAM for mainframe and minicomputers. Today Kingston is a leading RAM manufacturer.</a:t>
            </a:r>
            <a:r>
              <a:rPr lang="en-US" altLang="en-US" dirty="0"/>
              <a:t> </a:t>
            </a:r>
          </a:p>
          <a:p>
            <a:r>
              <a:rPr lang="en-US" sz="1200" b="0" i="0" kern="1200" dirty="0">
                <a:solidFill>
                  <a:schemeClr val="tx1"/>
                </a:solidFill>
                <a:effectLst/>
                <a:latin typeface="+mn-lt"/>
                <a:ea typeface="+mn-ea"/>
                <a:cs typeface="+mn-cs"/>
              </a:rPr>
              <a:t>A RAM device makes it possible to access data in </a:t>
            </a:r>
            <a:r>
              <a:rPr lang="en-US" sz="1200" b="1" i="0" kern="1200" dirty="0">
                <a:solidFill>
                  <a:schemeClr val="tx1"/>
                </a:solidFill>
                <a:effectLst/>
                <a:latin typeface="+mn-lt"/>
                <a:ea typeface="+mn-ea"/>
                <a:cs typeface="+mn-cs"/>
              </a:rPr>
              <a:t>random order, </a:t>
            </a:r>
            <a:r>
              <a:rPr lang="en-US" sz="1200" b="0" i="0" kern="1200" dirty="0">
                <a:solidFill>
                  <a:schemeClr val="tx1"/>
                </a:solidFill>
                <a:effectLst/>
                <a:latin typeface="+mn-lt"/>
                <a:ea typeface="+mn-ea"/>
                <a:cs typeface="+mn-cs"/>
              </a:rPr>
              <a:t>which makes it very fast to find a specific piece of information.</a:t>
            </a:r>
          </a:p>
          <a:p>
            <a:r>
              <a:rPr lang="en-US" sz="1200" b="0" i="0" kern="1200" dirty="0">
                <a:solidFill>
                  <a:schemeClr val="tx1"/>
                </a:solidFill>
                <a:effectLst/>
                <a:latin typeface="+mn-lt"/>
                <a:ea typeface="+mn-ea"/>
                <a:cs typeface="+mn-cs"/>
              </a:rPr>
              <a:t> RAM is considered </a:t>
            </a:r>
            <a:r>
              <a:rPr lang="en-US" sz="1200" b="1" i="0" kern="1200" dirty="0">
                <a:solidFill>
                  <a:schemeClr val="tx1"/>
                </a:solidFill>
                <a:effectLst/>
                <a:latin typeface="+mn-lt"/>
                <a:ea typeface="+mn-ea"/>
                <a:cs typeface="+mn-cs"/>
              </a:rPr>
              <a:t>volatile memory</a:t>
            </a:r>
            <a:r>
              <a:rPr lang="en-US" sz="1200" b="0" i="0" kern="1200" dirty="0">
                <a:solidFill>
                  <a:schemeClr val="tx1"/>
                </a:solidFill>
                <a:effectLst/>
                <a:latin typeface="+mn-lt"/>
                <a:ea typeface="+mn-ea"/>
                <a:cs typeface="+mn-cs"/>
              </a:rPr>
              <a:t>, which means that the stored information is lost when there is no power.</a:t>
            </a:r>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14</a:t>
            </a:fld>
            <a:endParaRPr lang="x-none"/>
          </a:p>
        </p:txBody>
      </p:sp>
    </p:spTree>
    <p:extLst>
      <p:ext uri="{BB962C8B-B14F-4D97-AF65-F5344CB8AC3E}">
        <p14:creationId xmlns:p14="http://schemas.microsoft.com/office/powerpoint/2010/main" val="2417303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Each tiny bit of the disk carries a magnetic charge; the direction of that charge determines whether it represents a 1 or a 0. Optical storage, meanwhile, uses disks made of reflective material; how each bit reflects light–or doesn't reflect it–determines whether it's a 1 or a 0.</a:t>
            </a:r>
          </a:p>
          <a:p>
            <a:pPr fontAlgn="base"/>
            <a:r>
              <a:rPr lang="en-US" sz="1200" b="0" kern="1200" cap="all" dirty="0">
                <a:solidFill>
                  <a:schemeClr val="tx1"/>
                </a:solidFill>
                <a:effectLst/>
                <a:latin typeface="+mn-lt"/>
                <a:ea typeface="+mn-ea"/>
                <a:cs typeface="+mn-cs"/>
              </a:rPr>
              <a:t>VIDEO OF THE DAY</a:t>
            </a:r>
          </a:p>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15</a:t>
            </a:fld>
            <a:endParaRPr lang="x-none"/>
          </a:p>
        </p:txBody>
      </p:sp>
    </p:spTree>
    <p:extLst>
      <p:ext uri="{BB962C8B-B14F-4D97-AF65-F5344CB8AC3E}">
        <p14:creationId xmlns:p14="http://schemas.microsoft.com/office/powerpoint/2010/main" val="4169259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12700" indent="0" algn="l">
              <a:lnSpc>
                <a:spcPct val="100000"/>
              </a:lnSpc>
              <a:spcBef>
                <a:spcPts val="95"/>
              </a:spcBef>
              <a:buFont typeface="Arial" panose="020B0604020202020204" pitchFamily="34" charset="0"/>
              <a:buNone/>
            </a:pPr>
            <a:r>
              <a:rPr lang="en-US" sz="1400" b="1" spc="-5" dirty="0">
                <a:latin typeface="Arial"/>
                <a:cs typeface="Arial"/>
              </a:rPr>
              <a:t>Examples of Input</a:t>
            </a:r>
            <a:r>
              <a:rPr lang="en-US" sz="1400" b="1" spc="25" dirty="0">
                <a:latin typeface="Arial"/>
                <a:cs typeface="Arial"/>
              </a:rPr>
              <a:t> </a:t>
            </a:r>
            <a:r>
              <a:rPr lang="en-US" sz="1400" b="1" spc="-5" dirty="0">
                <a:latin typeface="Arial"/>
                <a:cs typeface="Arial"/>
              </a:rPr>
              <a:t>Device—</a:t>
            </a:r>
            <a:r>
              <a:rPr lang="en-US" sz="1200" spc="-5" dirty="0">
                <a:latin typeface="Arial"/>
                <a:cs typeface="Arial"/>
              </a:rPr>
              <a:t>Keyboard—Mouse</a:t>
            </a:r>
            <a:r>
              <a:rPr lang="en-US" sz="1200" spc="0" dirty="0">
                <a:latin typeface="Arial"/>
                <a:cs typeface="Arial"/>
              </a:rPr>
              <a:t>--</a:t>
            </a:r>
            <a:r>
              <a:rPr lang="en-US" sz="1200" spc="-5" dirty="0">
                <a:latin typeface="Arial"/>
                <a:cs typeface="Arial"/>
              </a:rPr>
              <a:t>Touchscreen--Graphic</a:t>
            </a:r>
            <a:r>
              <a:rPr lang="en-US" sz="1200" spc="-25" dirty="0">
                <a:latin typeface="Arial"/>
                <a:cs typeface="Arial"/>
              </a:rPr>
              <a:t> </a:t>
            </a:r>
            <a:r>
              <a:rPr lang="en-US" sz="1200" dirty="0">
                <a:latin typeface="Arial"/>
                <a:cs typeface="Arial"/>
              </a:rPr>
              <a:t>tablet---</a:t>
            </a:r>
            <a:r>
              <a:rPr lang="en-US" sz="1200" spc="-5" dirty="0">
                <a:latin typeface="Arial"/>
                <a:cs typeface="Arial"/>
              </a:rPr>
              <a:t>Microphone</a:t>
            </a:r>
            <a:r>
              <a:rPr lang="en-US" sz="1200" spc="0" dirty="0">
                <a:latin typeface="Arial"/>
                <a:cs typeface="Arial"/>
              </a:rPr>
              <a:t>---</a:t>
            </a:r>
            <a:r>
              <a:rPr lang="en-US" sz="1200" spc="-5" dirty="0">
                <a:latin typeface="Arial"/>
                <a:cs typeface="Arial"/>
              </a:rPr>
              <a:t>Scanner</a:t>
            </a:r>
            <a:endParaRPr lang="en-US" sz="1200" dirty="0">
              <a:latin typeface="Arial"/>
              <a:cs typeface="Arial"/>
            </a:endParaRPr>
          </a:p>
          <a:p>
            <a:pPr marL="12700" indent="0">
              <a:lnSpc>
                <a:spcPct val="100000"/>
              </a:lnSpc>
              <a:spcBef>
                <a:spcPts val="95"/>
              </a:spcBef>
              <a:buFont typeface="Arial" panose="020B0604020202020204" pitchFamily="34" charset="0"/>
              <a:buNone/>
            </a:pPr>
            <a:r>
              <a:rPr lang="en-US" sz="1400" b="1" spc="-5" dirty="0">
                <a:latin typeface="Arial"/>
                <a:cs typeface="Arial"/>
              </a:rPr>
              <a:t>Examples of Output</a:t>
            </a:r>
            <a:r>
              <a:rPr lang="en-US" sz="1400" b="1" spc="40" dirty="0">
                <a:latin typeface="Arial"/>
                <a:cs typeface="Arial"/>
              </a:rPr>
              <a:t> </a:t>
            </a:r>
            <a:r>
              <a:rPr lang="en-US" sz="1400" b="1" spc="-5" dirty="0">
                <a:latin typeface="Arial"/>
                <a:cs typeface="Arial"/>
              </a:rPr>
              <a:t>Device</a:t>
            </a:r>
            <a:r>
              <a:rPr lang="en-US" sz="1200" dirty="0">
                <a:latin typeface="Arial"/>
                <a:cs typeface="Arial"/>
              </a:rPr>
              <a:t>--Monitor</a:t>
            </a:r>
            <a:r>
              <a:rPr lang="en-US" sz="1200" spc="-5" dirty="0">
                <a:latin typeface="Arial"/>
                <a:cs typeface="Arial"/>
              </a:rPr>
              <a:t>--Printer--Speakers</a:t>
            </a:r>
            <a:r>
              <a:rPr lang="en-US" sz="1200" dirty="0">
                <a:latin typeface="Arial"/>
                <a:cs typeface="Arial"/>
              </a:rPr>
              <a:t>--Projector</a:t>
            </a:r>
          </a:p>
          <a:p>
            <a:pPr marL="0" indent="0" algn="l">
              <a:buFont typeface="Arial" panose="020B0604020202020204" pitchFamily="34" charset="0"/>
              <a:buNone/>
            </a:pPr>
            <a:endParaRPr lang="x-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16</a:t>
            </a:fld>
            <a:endParaRPr lang="x-none"/>
          </a:p>
        </p:txBody>
      </p:sp>
    </p:spTree>
    <p:extLst>
      <p:ext uri="{BB962C8B-B14F-4D97-AF65-F5344CB8AC3E}">
        <p14:creationId xmlns:p14="http://schemas.microsoft.com/office/powerpoint/2010/main" val="3472580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altLang="en-US" dirty="0"/>
              <a:t>System software--Most important software---Operating system---Windows XP---Network operating system (OS)---Windows Server 2003---Utility---Symantec Antivirus</a:t>
            </a:r>
          </a:p>
          <a:p>
            <a:r>
              <a:rPr lang="en-US" altLang="en-US" dirty="0"/>
              <a:t>Application software---Accomplishes a specific task---Most common type of software---MS Word---Covers most common uses of computers</a:t>
            </a:r>
          </a:p>
          <a:p>
            <a:endParaRPr lang="en-US" altLang="en-US" dirty="0"/>
          </a:p>
        </p:txBody>
      </p:sp>
      <p:sp>
        <p:nvSpPr>
          <p:cNvPr id="4" name="Slide Number Placeholder 3"/>
          <p:cNvSpPr>
            <a:spLocks noGrp="1"/>
          </p:cNvSpPr>
          <p:nvPr>
            <p:ph type="sldNum" sz="quarter" idx="5"/>
          </p:nvPr>
        </p:nvSpPr>
        <p:spPr/>
        <p:txBody>
          <a:bodyPr/>
          <a:lstStyle/>
          <a:p>
            <a:fld id="{104C861A-8677-4586-8970-1BBC32ECCDB8}" type="slidenum">
              <a:rPr lang="x-none" smtClean="0"/>
              <a:t>18</a:t>
            </a:fld>
            <a:endParaRPr lang="x-none"/>
          </a:p>
        </p:txBody>
      </p:sp>
    </p:spTree>
    <p:extLst>
      <p:ext uri="{BB962C8B-B14F-4D97-AF65-F5344CB8AC3E}">
        <p14:creationId xmlns:p14="http://schemas.microsoft.com/office/powerpoint/2010/main" val="1679837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marL="0" indent="0" algn="l" fontAlgn="base">
              <a:buNone/>
            </a:pPr>
            <a:r>
              <a:rPr lang="en-US" dirty="0"/>
              <a:t>1. The Central Processing Unit (CPU)</a:t>
            </a:r>
          </a:p>
          <a:p>
            <a:pPr marL="0" indent="0" algn="l" fontAlgn="base">
              <a:buNone/>
            </a:pPr>
            <a:r>
              <a:rPr lang="en-US" dirty="0"/>
              <a:t>2. The Main Memory Unit (RAM)</a:t>
            </a:r>
          </a:p>
          <a:p>
            <a:pPr marL="0" indent="0" algn="l" fontAlgn="base">
              <a:buNone/>
            </a:pPr>
            <a:r>
              <a:rPr lang="en-US" dirty="0"/>
              <a:t>3. The Input / Output Device</a:t>
            </a:r>
          </a:p>
          <a:p>
            <a:pPr algn="l"/>
            <a:endParaRPr lang="en-US" dirty="0"/>
          </a:p>
          <a:p>
            <a:pPr algn="l"/>
            <a:endParaRPr lang="x-none" dirty="0"/>
          </a:p>
          <a:p>
            <a:pPr algn="l"/>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20</a:t>
            </a:fld>
            <a:endParaRPr lang="x-none"/>
          </a:p>
        </p:txBody>
      </p:sp>
    </p:spTree>
    <p:extLst>
      <p:ext uri="{BB962C8B-B14F-4D97-AF65-F5344CB8AC3E}">
        <p14:creationId xmlns:p14="http://schemas.microsoft.com/office/powerpoint/2010/main" val="1647032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22</a:t>
            </a:fld>
            <a:endParaRPr lang="x-none"/>
          </a:p>
        </p:txBody>
      </p:sp>
    </p:spTree>
    <p:extLst>
      <p:ext uri="{BB962C8B-B14F-4D97-AF65-F5344CB8AC3E}">
        <p14:creationId xmlns:p14="http://schemas.microsoft.com/office/powerpoint/2010/main" val="3249685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Control bus specifies the type of operation that is to be performed (read write commands, bus request/grant </a:t>
            </a:r>
            <a:r>
              <a:rPr lang="en-US" dirty="0" err="1"/>
              <a:t>etc</a:t>
            </a:r>
            <a:r>
              <a:rPr lang="en-US" dirty="0"/>
              <a:t>) travel on control bus</a:t>
            </a:r>
          </a:p>
          <a:p>
            <a:r>
              <a:rPr lang="en-US" dirty="0"/>
              <a:t>E.g. acknowledgement signals travel on control bus</a:t>
            </a:r>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26</a:t>
            </a:fld>
            <a:endParaRPr lang="x-none"/>
          </a:p>
        </p:txBody>
      </p:sp>
    </p:spTree>
    <p:extLst>
      <p:ext uri="{BB962C8B-B14F-4D97-AF65-F5344CB8AC3E}">
        <p14:creationId xmlns:p14="http://schemas.microsoft.com/office/powerpoint/2010/main" val="31541483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r>
              <a:rPr lang="en-US" dirty="0"/>
              <a:t>Carries address signal to read or write data to memory </a:t>
            </a:r>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27</a:t>
            </a:fld>
            <a:endParaRPr lang="x-none"/>
          </a:p>
        </p:txBody>
      </p:sp>
    </p:spTree>
    <p:extLst>
      <p:ext uri="{BB962C8B-B14F-4D97-AF65-F5344CB8AC3E}">
        <p14:creationId xmlns:p14="http://schemas.microsoft.com/office/powerpoint/2010/main" val="136114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pPr>
              <a:spcBef>
                <a:spcPts val="800"/>
              </a:spcBef>
              <a:buFont typeface="Arial" charset="0"/>
              <a:buChar char="•"/>
            </a:pPr>
            <a:r>
              <a:rPr lang="en-US" dirty="0">
                <a:solidFill>
                  <a:srgbClr val="000000"/>
                </a:solidFill>
              </a:rPr>
              <a:t>Execution begins by moving the instruction at the address given by the PC (</a:t>
            </a:r>
            <a:r>
              <a:rPr lang="en-US" i="1" dirty="0">
                <a:solidFill>
                  <a:srgbClr val="000000"/>
                </a:solidFill>
              </a:rPr>
              <a:t>PC 2200</a:t>
            </a:r>
            <a:r>
              <a:rPr lang="en-US" dirty="0">
                <a:solidFill>
                  <a:srgbClr val="000000"/>
                </a:solidFill>
              </a:rPr>
              <a:t>) from memory to the control unit</a:t>
            </a:r>
          </a:p>
          <a:p>
            <a:pPr>
              <a:spcBef>
                <a:spcPts val="800"/>
              </a:spcBef>
              <a:buFont typeface="Arial" charset="0"/>
              <a:buChar char="•"/>
            </a:pPr>
            <a:r>
              <a:rPr lang="en-US" dirty="0">
                <a:solidFill>
                  <a:srgbClr val="000000"/>
                </a:solidFill>
              </a:rPr>
              <a:t>Once instruction is fetched, the PC can be readied for fetching the next instruction</a:t>
            </a:r>
          </a:p>
          <a:p>
            <a:endParaRPr lang="x-none" dirty="0"/>
          </a:p>
        </p:txBody>
      </p:sp>
      <p:sp>
        <p:nvSpPr>
          <p:cNvPr id="4" name="Slide Number Placeholder 3"/>
          <p:cNvSpPr>
            <a:spLocks noGrp="1"/>
          </p:cNvSpPr>
          <p:nvPr>
            <p:ph type="sldNum" sz="quarter" idx="5"/>
          </p:nvPr>
        </p:nvSpPr>
        <p:spPr/>
        <p:txBody>
          <a:bodyPr/>
          <a:lstStyle/>
          <a:p>
            <a:fld id="{104C861A-8677-4586-8970-1BBC32ECCDB8}" type="slidenum">
              <a:rPr lang="x-none" smtClean="0"/>
              <a:t>40</a:t>
            </a:fld>
            <a:endParaRPr lang="x-none"/>
          </a:p>
        </p:txBody>
      </p:sp>
    </p:spTree>
    <p:extLst>
      <p:ext uri="{BB962C8B-B14F-4D97-AF65-F5344CB8AC3E}">
        <p14:creationId xmlns:p14="http://schemas.microsoft.com/office/powerpoint/2010/main" val="1572157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04C861A-8677-4586-8970-1BBC32ECCDB8}" type="slidenum">
              <a:rPr lang="x-none" smtClean="0"/>
              <a:t>45</a:t>
            </a:fld>
            <a:endParaRPr lang="x-none"/>
          </a:p>
        </p:txBody>
      </p:sp>
    </p:spTree>
    <p:extLst>
      <p:ext uri="{BB962C8B-B14F-4D97-AF65-F5344CB8AC3E}">
        <p14:creationId xmlns:p14="http://schemas.microsoft.com/office/powerpoint/2010/main" val="2483464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EA4E2CC-4778-4210-B6E0-F288F30D20DA}" type="datetimeFigureOut">
              <a:rPr lang="en-US" smtClean="0"/>
              <a:t>9/3/2019</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460587" y="2942602"/>
            <a:ext cx="9530575"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0096869" y="2944634"/>
            <a:ext cx="1587131"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0283619" y="3136658"/>
            <a:ext cx="1213632"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93978" y="3055622"/>
            <a:ext cx="9263793"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10382435" y="4625268"/>
            <a:ext cx="1016000" cy="457200"/>
          </a:xfrm>
        </p:spPr>
        <p:txBody>
          <a:bodyPr/>
          <a:lstStyle>
            <a:lvl1pPr algn="ctr">
              <a:defRPr sz="2800">
                <a:solidFill>
                  <a:schemeClr val="accent1">
                    <a:lumMod val="50000"/>
                  </a:schemeClr>
                </a:solidFill>
              </a:defRPr>
            </a:lvl1pPr>
          </a:lstStyle>
          <a:p>
            <a:fld id="{F2E9CBD7-5C33-4528-B5EE-C60121230393}" type="slidenum">
              <a:rPr lang="en-US" smtClean="0"/>
              <a:t>‹#›</a:t>
            </a:fld>
            <a:endParaRPr lang="en-US"/>
          </a:p>
        </p:txBody>
      </p:sp>
      <p:sp>
        <p:nvSpPr>
          <p:cNvPr id="11" name="Rectangle 10"/>
          <p:cNvSpPr/>
          <p:nvPr/>
        </p:nvSpPr>
        <p:spPr>
          <a:xfrm>
            <a:off x="722429" y="4559277"/>
            <a:ext cx="9006888"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18628" y="3139440"/>
            <a:ext cx="9014491"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857073" y="4648200"/>
            <a:ext cx="87376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806273" y="3227034"/>
            <a:ext cx="88392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4E2CC-4778-4210-B6E0-F288F30D20DA}" type="datetimeFigureOut">
              <a:rPr lang="en-US" smtClean="0"/>
              <a:t>9/3/2019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EA4E2CC-4778-4210-B6E0-F288F30D20DA}" type="datetimeFigureOut">
              <a:rPr lang="en-US" smtClean="0"/>
              <a:t>9/3/2019</a:t>
            </a:fld>
            <a:endParaRPr lang="en-US"/>
          </a:p>
        </p:txBody>
      </p:sp>
      <p:sp>
        <p:nvSpPr>
          <p:cNvPr id="13" name="Rectangle 12"/>
          <p:cNvSpPr/>
          <p:nvPr/>
        </p:nvSpPr>
        <p:spPr>
          <a:xfrm>
            <a:off x="602635" y="2946400"/>
            <a:ext cx="11020213"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756875" y="3048000"/>
            <a:ext cx="10711733"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9CBD7-5C33-4528-B5EE-C60121230393}" type="slidenum">
              <a:rPr lang="en-US" smtClean="0"/>
              <a:t>‹#›</a:t>
            </a:fld>
            <a:endParaRPr lang="en-US"/>
          </a:p>
        </p:txBody>
      </p:sp>
      <p:sp>
        <p:nvSpPr>
          <p:cNvPr id="2" name="Title 1"/>
          <p:cNvSpPr>
            <a:spLocks noGrp="1"/>
          </p:cNvSpPr>
          <p:nvPr>
            <p:ph type="title"/>
          </p:nvPr>
        </p:nvSpPr>
        <p:spPr>
          <a:xfrm>
            <a:off x="981941" y="3200400"/>
            <a:ext cx="102616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900661" y="4541521"/>
            <a:ext cx="1042416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981941" y="4607511"/>
            <a:ext cx="102616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901010" y="3124200"/>
            <a:ext cx="10423465"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68171"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7600"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A4E2CC-4778-4210-B6E0-F288F30D20DA}" type="datetimeFigureOut">
              <a:rPr lang="en-US" smtClean="0"/>
              <a:t>9/3/2019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68171" y="1722438"/>
            <a:ext cx="5386917"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68171" y="2438400"/>
            <a:ext cx="5386917"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438400"/>
            <a:ext cx="5389033"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A4E2CC-4778-4210-B6E0-F288F30D20DA}" type="datetimeFigureOut">
              <a:rPr lang="en-US" smtClean="0"/>
              <a:t>9/3/2019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A4E2CC-4778-4210-B6E0-F288F30D20DA}" type="datetimeFigureOut">
              <a:rPr lang="en-US" smtClean="0"/>
              <a:t>9/3/2019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1EA4E2CC-4778-4210-B6E0-F288F30D20DA}" type="datetimeFigureOut">
              <a:rPr lang="en-US" smtClean="0"/>
              <a:t>9/3/2019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81600" y="685800"/>
            <a:ext cx="6096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A4E2CC-4778-4210-B6E0-F288F30D20DA}" type="datetimeFigureOut">
              <a:rPr lang="en-US" smtClean="0"/>
              <a:t>9/3/2019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E9CBD7-5C33-4528-B5EE-C60121230393}" type="slidenum">
              <a:rPr lang="en-US" smtClean="0"/>
              <a:t>‹#›</a:t>
            </a:fld>
            <a:endParaRPr lang="en-US"/>
          </a:p>
        </p:txBody>
      </p:sp>
      <p:sp>
        <p:nvSpPr>
          <p:cNvPr id="8" name="Rectangle 7"/>
          <p:cNvSpPr/>
          <p:nvPr/>
        </p:nvSpPr>
        <p:spPr>
          <a:xfrm>
            <a:off x="746712" y="1505712"/>
            <a:ext cx="3622088"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2254" y="1642472"/>
            <a:ext cx="3311005"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1025334" y="2971800"/>
            <a:ext cx="3064845"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1025334" y="1734312"/>
            <a:ext cx="3064845"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914400" y="621437"/>
            <a:ext cx="103632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1EA4E2CC-4778-4210-B6E0-F288F30D20DA}" type="datetimeFigureOut">
              <a:rPr lang="en-US" smtClean="0"/>
              <a:t>9/3/2019</a:t>
            </a:fld>
            <a:endParaRPr lang="en-US"/>
          </a:p>
        </p:txBody>
      </p:sp>
      <p:sp>
        <p:nvSpPr>
          <p:cNvPr id="7" name="Slide Number Placeholder 6"/>
          <p:cNvSpPr>
            <a:spLocks noGrp="1"/>
          </p:cNvSpPr>
          <p:nvPr>
            <p:ph type="sldNum" sz="quarter" idx="12"/>
          </p:nvPr>
        </p:nvSpPr>
        <p:spPr/>
        <p:txBody>
          <a:bodyPr/>
          <a:lstStyle/>
          <a:p>
            <a:fld id="{F2E9CBD7-5C33-4528-B5EE-C60121230393}" type="slidenum">
              <a:rPr lang="en-US" smtClean="0"/>
              <a:t>‹#›</a:t>
            </a:fld>
            <a:endParaRPr lang="en-US"/>
          </a:p>
        </p:txBody>
      </p:sp>
      <p:sp>
        <p:nvSpPr>
          <p:cNvPr id="10" name="Rectangle 9"/>
          <p:cNvSpPr/>
          <p:nvPr/>
        </p:nvSpPr>
        <p:spPr>
          <a:xfrm>
            <a:off x="914400" y="4953000"/>
            <a:ext cx="103632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016000" y="5029200"/>
            <a:ext cx="10134353"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219200" y="5638800"/>
            <a:ext cx="9771352"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07452" y="5074920"/>
            <a:ext cx="10594848"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1275052" y="5656557"/>
            <a:ext cx="9659648"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1219200" y="5105401"/>
            <a:ext cx="9771352"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A4E2CC-4778-4210-B6E0-F288F30D20DA}" type="datetimeFigureOut">
              <a:rPr lang="en-US" smtClean="0"/>
              <a:t>9/3/2019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148936" y="228600"/>
            <a:ext cx="247904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9273634" y="351410"/>
            <a:ext cx="2229647"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9398103" y="395428"/>
            <a:ext cx="1980708"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381000"/>
            <a:ext cx="82296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A4E2CC-4778-4210-B6E0-F288F30D20DA}" type="datetimeFigureOut">
              <a:rPr lang="en-US" smtClean="0"/>
              <a:t>9/3/2019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E9CBD7-5C33-4528-B5EE-C6012123039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A4A458D5-826D-4A55-AC78-9D6B7A4A068A}"/>
              </a:ext>
            </a:extLst>
          </p:cNvPr>
          <p:cNvSpPr>
            <a:spLocks noGrp="1"/>
          </p:cNvSpPr>
          <p:nvPr>
            <p:ph type="dt" sz="half" idx="10"/>
          </p:nvPr>
        </p:nvSpPr>
        <p:spPr/>
        <p:txBody>
          <a:bodyPr/>
          <a:lstStyle/>
          <a:p>
            <a:fld id="{1EA4E2CC-4778-4210-B6E0-F288F30D20DA}" type="datetimeFigureOut">
              <a:rPr lang="en-US" smtClean="0"/>
              <a:t>9/3/2019</a:t>
            </a:fld>
            <a:endParaRPr lang="en-US"/>
          </a:p>
        </p:txBody>
      </p:sp>
      <p:sp>
        <p:nvSpPr>
          <p:cNvPr id="5" name="Footer Placeholder 4">
            <a:extLst>
              <a:ext uri="{FF2B5EF4-FFF2-40B4-BE49-F238E27FC236}">
                <a16:creationId xmlns:a16="http://schemas.microsoft.com/office/drawing/2014/main" xmlns="" id="{670E8BBC-EAF5-445B-8283-38DA23F335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F67AA98-6F63-45B6-A2DE-B56C66639729}"/>
              </a:ext>
            </a:extLst>
          </p:cNvPr>
          <p:cNvSpPr>
            <a:spLocks noGrp="1"/>
          </p:cNvSpPr>
          <p:nvPr>
            <p:ph type="sldNum" sz="quarter" idx="12"/>
          </p:nvPr>
        </p:nvSpPr>
        <p:spPr/>
        <p:txBody>
          <a:bodyPr/>
          <a:lstStyle/>
          <a:p>
            <a:fld id="{F2E9CBD7-5C33-4528-B5EE-C60121230393}" type="slidenum">
              <a:rPr lang="en-US" smtClean="0"/>
              <a:t>‹#›</a:t>
            </a:fld>
            <a:endParaRPr lang="en-US"/>
          </a:p>
        </p:txBody>
      </p:sp>
    </p:spTree>
    <p:extLst>
      <p:ext uri="{BB962C8B-B14F-4D97-AF65-F5344CB8AC3E}">
        <p14:creationId xmlns:p14="http://schemas.microsoft.com/office/powerpoint/2010/main" val="4185473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8D052D-862D-432C-8BC2-88E97BC06FDB}"/>
              </a:ext>
            </a:extLst>
          </p:cNvPr>
          <p:cNvSpPr>
            <a:spLocks noGrp="1"/>
          </p:cNvSpPr>
          <p:nvPr>
            <p:ph type="title"/>
          </p:nvPr>
        </p:nvSpPr>
        <p:spPr>
          <a:xfrm>
            <a:off x="2309450" y="2404944"/>
            <a:ext cx="7672753" cy="1325563"/>
          </a:xfrm>
        </p:spPr>
        <p:txBody>
          <a:bodyPr/>
          <a:lstStyle>
            <a:lvl1pPr algn="ctr">
              <a:defRPr>
                <a:latin typeface="Algerian" panose="04020705040A02060702" pitchFamily="82" charset="0"/>
              </a:defRPr>
            </a:lvl1pPr>
          </a:lstStyle>
          <a:p>
            <a:r>
              <a:rPr lang="en-US" dirty="0"/>
              <a:t>Click to edit Master title style</a:t>
            </a:r>
          </a:p>
        </p:txBody>
      </p:sp>
      <p:sp>
        <p:nvSpPr>
          <p:cNvPr id="3" name="Date Placeholder 2">
            <a:extLst>
              <a:ext uri="{FF2B5EF4-FFF2-40B4-BE49-F238E27FC236}">
                <a16:creationId xmlns:a16="http://schemas.microsoft.com/office/drawing/2014/main" xmlns="" id="{B2D72FAF-4FA3-4405-8398-467C19C7B3FD}"/>
              </a:ext>
            </a:extLst>
          </p:cNvPr>
          <p:cNvSpPr>
            <a:spLocks noGrp="1"/>
          </p:cNvSpPr>
          <p:nvPr>
            <p:ph type="dt" sz="half" idx="10"/>
          </p:nvPr>
        </p:nvSpPr>
        <p:spPr/>
        <p:txBody>
          <a:bodyPr/>
          <a:lstStyle/>
          <a:p>
            <a:fld id="{1EA4E2CC-4778-4210-B6E0-F288F30D20DA}" type="datetimeFigureOut">
              <a:rPr lang="en-US" smtClean="0"/>
              <a:t>9/3/2019</a:t>
            </a:fld>
            <a:endParaRPr lang="en-US"/>
          </a:p>
        </p:txBody>
      </p:sp>
      <p:sp>
        <p:nvSpPr>
          <p:cNvPr id="4" name="Footer Placeholder 3">
            <a:extLst>
              <a:ext uri="{FF2B5EF4-FFF2-40B4-BE49-F238E27FC236}">
                <a16:creationId xmlns:a16="http://schemas.microsoft.com/office/drawing/2014/main" xmlns="" id="{0569162C-19AA-4132-A887-30DF4FF762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13846CD3-7EEA-47ED-8440-56AE3183291F}"/>
              </a:ext>
            </a:extLst>
          </p:cNvPr>
          <p:cNvSpPr>
            <a:spLocks noGrp="1"/>
          </p:cNvSpPr>
          <p:nvPr>
            <p:ph type="sldNum" sz="quarter" idx="12"/>
          </p:nvPr>
        </p:nvSpPr>
        <p:spPr/>
        <p:txBody>
          <a:bodyPr/>
          <a:lstStyle/>
          <a:p>
            <a:fld id="{F2E9CBD7-5C33-4528-B5EE-C60121230393}" type="slidenum">
              <a:rPr lang="en-US" smtClean="0"/>
              <a:t>‹#›</a:t>
            </a:fld>
            <a:endParaRPr lang="en-US"/>
          </a:p>
        </p:txBody>
      </p:sp>
    </p:spTree>
    <p:extLst>
      <p:ext uri="{BB962C8B-B14F-4D97-AF65-F5344CB8AC3E}">
        <p14:creationId xmlns:p14="http://schemas.microsoft.com/office/powerpoint/2010/main" val="237092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121920" y="101600"/>
            <a:ext cx="1194816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609600" y="1752601"/>
            <a:ext cx="109728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2"/>
                </a:solidFill>
              </a:defRPr>
            </a:lvl1pPr>
          </a:lstStyle>
          <a:p>
            <a:fld id="{1EA4E2CC-4778-4210-B6E0-F288F30D20DA}" type="datetimeFigureOut">
              <a:rPr lang="en-US" smtClean="0"/>
              <a:t>9/3/2019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2"/>
                </a:solidFill>
              </a:defRPr>
            </a:lvl1pPr>
          </a:lstStyle>
          <a:p>
            <a:fld id="{F2E9CBD7-5C33-4528-B5EE-C60121230393}" type="slidenum">
              <a:rPr lang="en-US" smtClean="0"/>
              <a:t>‹#›</a:t>
            </a:fld>
            <a:endParaRPr lang="en-US"/>
          </a:p>
        </p:txBody>
      </p:sp>
      <p:sp>
        <p:nvSpPr>
          <p:cNvPr id="9" name="Rectangle 8"/>
          <p:cNvSpPr/>
          <p:nvPr/>
        </p:nvSpPr>
        <p:spPr>
          <a:xfrm>
            <a:off x="365760" y="278166"/>
            <a:ext cx="1146048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497151" y="372862"/>
            <a:ext cx="11174027"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568171" y="408373"/>
            <a:ext cx="11014229"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654" r:id="rId13"/>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www.futurelearn.com/courses/how-computers-work/0/steps/49284"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xmlns="" id="{2CA654EA-FC59-487E-8FDD-9274E4AA7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8591" y="1745118"/>
            <a:ext cx="5374823" cy="220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03032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E0B60-6695-49FE-A51D-2A74C7665C48}"/>
              </a:ext>
            </a:extLst>
          </p:cNvPr>
          <p:cNvSpPr>
            <a:spLocks noGrp="1"/>
          </p:cNvSpPr>
          <p:nvPr>
            <p:ph type="title"/>
          </p:nvPr>
        </p:nvSpPr>
        <p:spPr>
          <a:xfrm>
            <a:off x="2105174" y="2599261"/>
            <a:ext cx="7981657" cy="1659478"/>
          </a:xfrm>
        </p:spPr>
        <p:txBody>
          <a:bodyPr>
            <a:normAutofit/>
          </a:bodyPr>
          <a:lstStyle/>
          <a:p>
            <a:r>
              <a:rPr lang="en-US" sz="4800" b="1" dirty="0"/>
              <a:t>Computer Organization</a:t>
            </a:r>
          </a:p>
        </p:txBody>
      </p:sp>
    </p:spTree>
    <p:extLst>
      <p:ext uri="{BB962C8B-B14F-4D97-AF65-F5344CB8AC3E}">
        <p14:creationId xmlns:p14="http://schemas.microsoft.com/office/powerpoint/2010/main" val="27320985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13A2C1-176C-451F-B64C-72464B3EE8B8}"/>
              </a:ext>
            </a:extLst>
          </p:cNvPr>
          <p:cNvSpPr>
            <a:spLocks noGrp="1"/>
          </p:cNvSpPr>
          <p:nvPr>
            <p:ph type="title"/>
          </p:nvPr>
        </p:nvSpPr>
        <p:spPr/>
        <p:txBody>
          <a:bodyPr/>
          <a:lstStyle/>
          <a:p>
            <a:r>
              <a:rPr lang="en-US" b="1" dirty="0"/>
              <a:t>Computer Organization</a:t>
            </a:r>
          </a:p>
        </p:txBody>
      </p:sp>
      <p:sp>
        <p:nvSpPr>
          <p:cNvPr id="3" name="Content Placeholder 2">
            <a:extLst>
              <a:ext uri="{FF2B5EF4-FFF2-40B4-BE49-F238E27FC236}">
                <a16:creationId xmlns:a16="http://schemas.microsoft.com/office/drawing/2014/main" xmlns="" id="{2F0EC21E-CCBD-419B-BA32-F347F26D35D1}"/>
              </a:ext>
            </a:extLst>
          </p:cNvPr>
          <p:cNvSpPr>
            <a:spLocks noGrp="1"/>
          </p:cNvSpPr>
          <p:nvPr>
            <p:ph idx="1"/>
          </p:nvPr>
        </p:nvSpPr>
        <p:spPr>
          <a:xfrm>
            <a:off x="1045029" y="1720170"/>
            <a:ext cx="10308771" cy="4353106"/>
          </a:xfrm>
        </p:spPr>
        <p:txBody>
          <a:bodyPr/>
          <a:lstStyle/>
          <a:p>
            <a:r>
              <a:rPr lang="en-US" dirty="0"/>
              <a:t>It deals with the hardware components of a computer system such as the input/output devices, CPU and memory devices</a:t>
            </a:r>
          </a:p>
          <a:p>
            <a:endParaRPr lang="x-none" dirty="0"/>
          </a:p>
          <a:p>
            <a:pPr marL="0" indent="0">
              <a:buNone/>
            </a:pPr>
            <a:endParaRPr lang="en-US" dirty="0"/>
          </a:p>
        </p:txBody>
      </p:sp>
      <p:pic>
        <p:nvPicPr>
          <p:cNvPr id="4" name="Picture 7">
            <a:extLst>
              <a:ext uri="{FF2B5EF4-FFF2-40B4-BE49-F238E27FC236}">
                <a16:creationId xmlns:a16="http://schemas.microsoft.com/office/drawing/2014/main" xmlns="" id="{513D0E93-E8B1-4B06-8939-213D89A62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5713" y="2587507"/>
            <a:ext cx="5827403" cy="359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4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3A1127-5F54-43CF-9CAF-CB3F9A341C69}"/>
              </a:ext>
            </a:extLst>
          </p:cNvPr>
          <p:cNvSpPr>
            <a:spLocks noGrp="1"/>
          </p:cNvSpPr>
          <p:nvPr>
            <p:ph type="title"/>
          </p:nvPr>
        </p:nvSpPr>
        <p:spPr/>
        <p:txBody>
          <a:bodyPr/>
          <a:lstStyle/>
          <a:p>
            <a:r>
              <a:rPr lang="en-US" altLang="en-US" dirty="0"/>
              <a:t>Parts of the Computer System</a:t>
            </a:r>
            <a:endParaRPr lang="x-none" dirty="0"/>
          </a:p>
        </p:txBody>
      </p:sp>
      <p:sp>
        <p:nvSpPr>
          <p:cNvPr id="3" name="Content Placeholder 2">
            <a:extLst>
              <a:ext uri="{FF2B5EF4-FFF2-40B4-BE49-F238E27FC236}">
                <a16:creationId xmlns:a16="http://schemas.microsoft.com/office/drawing/2014/main" xmlns="" id="{D44B5CD8-9160-43C3-A908-E753A68DC061}"/>
              </a:ext>
            </a:extLst>
          </p:cNvPr>
          <p:cNvSpPr>
            <a:spLocks noGrp="1"/>
          </p:cNvSpPr>
          <p:nvPr>
            <p:ph idx="1"/>
          </p:nvPr>
        </p:nvSpPr>
        <p:spPr/>
        <p:txBody>
          <a:bodyPr/>
          <a:lstStyle/>
          <a:p>
            <a:r>
              <a:rPr lang="en-US" altLang="en-US" dirty="0"/>
              <a:t>Hardware</a:t>
            </a:r>
          </a:p>
          <a:p>
            <a:pPr lvl="1"/>
            <a:r>
              <a:rPr lang="en-US" altLang="en-US" dirty="0"/>
              <a:t>Mechanical devices in the computer</a:t>
            </a:r>
          </a:p>
          <a:p>
            <a:pPr lvl="1"/>
            <a:r>
              <a:rPr lang="en-US" altLang="en-US" dirty="0"/>
              <a:t>Anything that can be touched</a:t>
            </a:r>
          </a:p>
          <a:p>
            <a:r>
              <a:rPr lang="en-US" altLang="en-US" dirty="0"/>
              <a:t>Software</a:t>
            </a:r>
          </a:p>
          <a:p>
            <a:pPr lvl="1"/>
            <a:r>
              <a:rPr lang="en-US" altLang="en-US" dirty="0"/>
              <a:t>Tell the computer what to do</a:t>
            </a:r>
          </a:p>
          <a:p>
            <a:pPr lvl="1"/>
            <a:r>
              <a:rPr lang="en-US" altLang="en-US" dirty="0"/>
              <a:t>Also called a program</a:t>
            </a:r>
          </a:p>
          <a:p>
            <a:pPr lvl="1"/>
            <a:r>
              <a:rPr lang="en-US" altLang="en-US" dirty="0"/>
              <a:t>Thousands of programs exist</a:t>
            </a:r>
          </a:p>
          <a:p>
            <a:pPr lvl="1"/>
            <a:endParaRPr lang="en-US" altLang="en-US" dirty="0"/>
          </a:p>
          <a:p>
            <a:endParaRPr lang="x-none" dirty="0"/>
          </a:p>
        </p:txBody>
      </p:sp>
    </p:spTree>
    <p:extLst>
      <p:ext uri="{BB962C8B-B14F-4D97-AF65-F5344CB8AC3E}">
        <p14:creationId xmlns:p14="http://schemas.microsoft.com/office/powerpoint/2010/main" val="1998180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A8F3FA-21A4-4B98-B727-81BD18155F8C}"/>
              </a:ext>
            </a:extLst>
          </p:cNvPr>
          <p:cNvSpPr>
            <a:spLocks noGrp="1"/>
          </p:cNvSpPr>
          <p:nvPr>
            <p:ph type="title"/>
          </p:nvPr>
        </p:nvSpPr>
        <p:spPr/>
        <p:txBody>
          <a:bodyPr/>
          <a:lstStyle/>
          <a:p>
            <a:r>
              <a:rPr lang="en-US" altLang="en-US" dirty="0"/>
              <a:t>Parts of the Computer System</a:t>
            </a:r>
            <a:endParaRPr lang="x-none" dirty="0"/>
          </a:p>
        </p:txBody>
      </p:sp>
      <p:sp>
        <p:nvSpPr>
          <p:cNvPr id="3" name="Content Placeholder 2">
            <a:extLst>
              <a:ext uri="{FF2B5EF4-FFF2-40B4-BE49-F238E27FC236}">
                <a16:creationId xmlns:a16="http://schemas.microsoft.com/office/drawing/2014/main" xmlns="" id="{38C9C581-F03D-4CCC-8385-730724CF59ED}"/>
              </a:ext>
            </a:extLst>
          </p:cNvPr>
          <p:cNvSpPr>
            <a:spLocks noGrp="1"/>
          </p:cNvSpPr>
          <p:nvPr>
            <p:ph idx="1"/>
          </p:nvPr>
        </p:nvSpPr>
        <p:spPr/>
        <p:txBody>
          <a:bodyPr/>
          <a:lstStyle/>
          <a:p>
            <a:r>
              <a:rPr lang="en-US" altLang="en-US" dirty="0"/>
              <a:t>Data</a:t>
            </a:r>
          </a:p>
          <a:p>
            <a:pPr lvl="1"/>
            <a:r>
              <a:rPr lang="en-US" altLang="en-US" dirty="0"/>
              <a:t>Pieces of information</a:t>
            </a:r>
          </a:p>
          <a:p>
            <a:pPr lvl="1"/>
            <a:r>
              <a:rPr lang="en-US" altLang="en-US" dirty="0"/>
              <a:t>Computer organize and present data</a:t>
            </a:r>
          </a:p>
          <a:p>
            <a:r>
              <a:rPr lang="en-US" altLang="en-US" dirty="0"/>
              <a:t>Users</a:t>
            </a:r>
          </a:p>
          <a:p>
            <a:pPr lvl="1"/>
            <a:r>
              <a:rPr lang="en-US" altLang="en-US" dirty="0"/>
              <a:t>People operating the computer</a:t>
            </a:r>
          </a:p>
          <a:p>
            <a:pPr lvl="1"/>
            <a:r>
              <a:rPr lang="en-US" altLang="en-US" dirty="0"/>
              <a:t>Most important part</a:t>
            </a:r>
          </a:p>
          <a:p>
            <a:pPr lvl="1"/>
            <a:r>
              <a:rPr lang="en-US" altLang="en-US" dirty="0"/>
              <a:t>Tell the computer what to do</a:t>
            </a:r>
          </a:p>
          <a:p>
            <a:endParaRPr lang="x-none" dirty="0"/>
          </a:p>
        </p:txBody>
      </p:sp>
    </p:spTree>
    <p:extLst>
      <p:ext uri="{BB962C8B-B14F-4D97-AF65-F5344CB8AC3E}">
        <p14:creationId xmlns:p14="http://schemas.microsoft.com/office/powerpoint/2010/main" val="1117323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BBF612-C9EB-4F7D-ACD3-57ACD01633ED}"/>
              </a:ext>
            </a:extLst>
          </p:cNvPr>
          <p:cNvSpPr>
            <a:spLocks noGrp="1"/>
          </p:cNvSpPr>
          <p:nvPr>
            <p:ph type="title"/>
          </p:nvPr>
        </p:nvSpPr>
        <p:spPr/>
        <p:txBody>
          <a:bodyPr/>
          <a:lstStyle/>
          <a:p>
            <a:r>
              <a:rPr lang="en-US" altLang="en-US" dirty="0"/>
              <a:t>1.Hardware</a:t>
            </a:r>
            <a:endParaRPr lang="x-none" dirty="0"/>
          </a:p>
        </p:txBody>
      </p:sp>
    </p:spTree>
    <p:extLst>
      <p:ext uri="{BB962C8B-B14F-4D97-AF65-F5344CB8AC3E}">
        <p14:creationId xmlns:p14="http://schemas.microsoft.com/office/powerpoint/2010/main" val="11109855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115361-B84E-44F5-85E4-6FB21E18D8B8}"/>
              </a:ext>
            </a:extLst>
          </p:cNvPr>
          <p:cNvSpPr>
            <a:spLocks noGrp="1"/>
          </p:cNvSpPr>
          <p:nvPr>
            <p:ph type="title"/>
          </p:nvPr>
        </p:nvSpPr>
        <p:spPr>
          <a:xfrm>
            <a:off x="1080861" y="497639"/>
            <a:ext cx="10308771" cy="1325563"/>
          </a:xfrm>
        </p:spPr>
        <p:txBody>
          <a:bodyPr/>
          <a:lstStyle/>
          <a:p>
            <a:r>
              <a:rPr lang="en-US" altLang="en-US" dirty="0"/>
              <a:t>Essential Computer Hardware</a:t>
            </a:r>
            <a:endParaRPr lang="x-none" dirty="0"/>
          </a:p>
        </p:txBody>
      </p:sp>
      <p:pic>
        <p:nvPicPr>
          <p:cNvPr id="5" name="Picture 1029">
            <a:extLst>
              <a:ext uri="{FF2B5EF4-FFF2-40B4-BE49-F238E27FC236}">
                <a16:creationId xmlns:a16="http://schemas.microsoft.com/office/drawing/2014/main" xmlns="" id="{71026697-08CB-4A69-8E47-8A2C90389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329" y="2093867"/>
            <a:ext cx="4270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0">
            <a:extLst>
              <a:ext uri="{FF2B5EF4-FFF2-40B4-BE49-F238E27FC236}">
                <a16:creationId xmlns:a16="http://schemas.microsoft.com/office/drawing/2014/main" xmlns="" id="{D35FA247-08BD-460F-99CB-A2F9841B5100}"/>
              </a:ext>
            </a:extLst>
          </p:cNvPr>
          <p:cNvSpPr>
            <a:spLocks noChangeArrowheads="1"/>
          </p:cNvSpPr>
          <p:nvPr/>
        </p:nvSpPr>
        <p:spPr bwMode="auto">
          <a:xfrm>
            <a:off x="6351020" y="1955357"/>
            <a:ext cx="1905000" cy="609600"/>
          </a:xfrm>
          <a:prstGeom prst="wedgeRoundRectCallout">
            <a:avLst>
              <a:gd name="adj1" fmla="val 62250"/>
              <a:gd name="adj2" fmla="val 134116"/>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a:t>CRT Display</a:t>
            </a:r>
          </a:p>
        </p:txBody>
      </p:sp>
      <p:sp>
        <p:nvSpPr>
          <p:cNvPr id="7" name="AutoShape 1031">
            <a:extLst>
              <a:ext uri="{FF2B5EF4-FFF2-40B4-BE49-F238E27FC236}">
                <a16:creationId xmlns:a16="http://schemas.microsoft.com/office/drawing/2014/main" xmlns="" id="{7142DF85-EF08-4415-982F-03F61145A512}"/>
              </a:ext>
            </a:extLst>
          </p:cNvPr>
          <p:cNvSpPr>
            <a:spLocks noChangeArrowheads="1"/>
          </p:cNvSpPr>
          <p:nvPr/>
        </p:nvSpPr>
        <p:spPr bwMode="auto">
          <a:xfrm>
            <a:off x="5400107" y="4349003"/>
            <a:ext cx="1901825" cy="685800"/>
          </a:xfrm>
          <a:prstGeom prst="wedgeRoundRectCallout">
            <a:avLst>
              <a:gd name="adj1" fmla="val 63690"/>
              <a:gd name="adj2" fmla="val 120370"/>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Keyboard</a:t>
            </a:r>
          </a:p>
        </p:txBody>
      </p:sp>
      <p:sp>
        <p:nvSpPr>
          <p:cNvPr id="8" name="AutoShape 1032">
            <a:extLst>
              <a:ext uri="{FF2B5EF4-FFF2-40B4-BE49-F238E27FC236}">
                <a16:creationId xmlns:a16="http://schemas.microsoft.com/office/drawing/2014/main" xmlns="" id="{7856A134-7F1F-4C65-96EF-6F1997C9BE16}"/>
              </a:ext>
            </a:extLst>
          </p:cNvPr>
          <p:cNvSpPr>
            <a:spLocks noChangeArrowheads="1"/>
          </p:cNvSpPr>
          <p:nvPr/>
        </p:nvSpPr>
        <p:spPr bwMode="auto">
          <a:xfrm>
            <a:off x="10125301" y="5972129"/>
            <a:ext cx="1219200" cy="457200"/>
          </a:xfrm>
          <a:prstGeom prst="wedgeRoundRectCallout">
            <a:avLst>
              <a:gd name="adj1" fmla="val -63931"/>
              <a:gd name="adj2" fmla="val -169097"/>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a:t>Mouse</a:t>
            </a:r>
          </a:p>
        </p:txBody>
      </p:sp>
      <p:sp>
        <p:nvSpPr>
          <p:cNvPr id="9" name="AutoShape 1033">
            <a:extLst>
              <a:ext uri="{FF2B5EF4-FFF2-40B4-BE49-F238E27FC236}">
                <a16:creationId xmlns:a16="http://schemas.microsoft.com/office/drawing/2014/main" xmlns="" id="{37D3421A-123A-458C-8859-FF445C4954B0}"/>
              </a:ext>
            </a:extLst>
          </p:cNvPr>
          <p:cNvSpPr>
            <a:spLocks noChangeArrowheads="1"/>
          </p:cNvSpPr>
          <p:nvPr/>
        </p:nvSpPr>
        <p:spPr bwMode="auto">
          <a:xfrm>
            <a:off x="9210901" y="1955357"/>
            <a:ext cx="1524000" cy="685800"/>
          </a:xfrm>
          <a:prstGeom prst="wedgeRoundRectCallout">
            <a:avLst>
              <a:gd name="adj1" fmla="val 45000"/>
              <a:gd name="adj2" fmla="val 115509"/>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“The Box”</a:t>
            </a:r>
          </a:p>
        </p:txBody>
      </p:sp>
      <p:sp>
        <p:nvSpPr>
          <p:cNvPr id="12" name="Rectangle 11">
            <a:extLst>
              <a:ext uri="{FF2B5EF4-FFF2-40B4-BE49-F238E27FC236}">
                <a16:creationId xmlns:a16="http://schemas.microsoft.com/office/drawing/2014/main" xmlns="" id="{52CAC563-91F6-4797-972F-7FE6B120045E}"/>
              </a:ext>
            </a:extLst>
          </p:cNvPr>
          <p:cNvSpPr/>
          <p:nvPr/>
        </p:nvSpPr>
        <p:spPr>
          <a:xfrm>
            <a:off x="802369" y="1778887"/>
            <a:ext cx="4593771" cy="1200329"/>
          </a:xfrm>
          <a:prstGeom prst="rect">
            <a:avLst/>
          </a:prstGeom>
        </p:spPr>
        <p:txBody>
          <a:bodyPr wrap="square">
            <a:spAutoFit/>
          </a:bodyPr>
          <a:lstStyle/>
          <a:p>
            <a:pPr marL="457200" indent="-457200">
              <a:buFont typeface="Arial" panose="020B0604020202020204" pitchFamily="34" charset="0"/>
              <a:buChar char="•"/>
            </a:pPr>
            <a:r>
              <a:rPr lang="en-US" altLang="en-US" sz="3600" dirty="0">
                <a:latin typeface="Times New Roman" panose="02020603050405020304" pitchFamily="18" charset="0"/>
                <a:cs typeface="Times New Roman" panose="02020603050405020304" pitchFamily="18" charset="0"/>
              </a:rPr>
              <a:t>Computers use the same basic </a:t>
            </a:r>
            <a:r>
              <a:rPr lang="en-US" altLang="en-US" sz="3600" dirty="0" smtClean="0">
                <a:latin typeface="Times New Roman" panose="02020603050405020304" pitchFamily="18" charset="0"/>
                <a:cs typeface="Times New Roman" panose="02020603050405020304" pitchFamily="18" charset="0"/>
              </a:rPr>
              <a:t>hardware</a:t>
            </a:r>
            <a:endParaRPr lang="en-US"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83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EC16D1-E30A-4E16-A819-A35FF5902D00}"/>
              </a:ext>
            </a:extLst>
          </p:cNvPr>
          <p:cNvSpPr>
            <a:spLocks noGrp="1"/>
          </p:cNvSpPr>
          <p:nvPr>
            <p:ph type="title"/>
          </p:nvPr>
        </p:nvSpPr>
        <p:spPr/>
        <p:txBody>
          <a:bodyPr/>
          <a:lstStyle/>
          <a:p>
            <a:r>
              <a:rPr lang="en-US" altLang="en-US" dirty="0"/>
              <a:t>Inside the box</a:t>
            </a:r>
            <a:endParaRPr lang="x-none" dirty="0"/>
          </a:p>
        </p:txBody>
      </p:sp>
      <p:pic>
        <p:nvPicPr>
          <p:cNvPr id="4" name="Picture 2051">
            <a:extLst>
              <a:ext uri="{FF2B5EF4-FFF2-40B4-BE49-F238E27FC236}">
                <a16:creationId xmlns:a16="http://schemas.microsoft.com/office/drawing/2014/main" xmlns="" id="{364339EA-B28B-4C10-84DB-3B2CC79B6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71" y="1396181"/>
            <a:ext cx="2525485" cy="30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2052">
            <a:extLst>
              <a:ext uri="{FF2B5EF4-FFF2-40B4-BE49-F238E27FC236}">
                <a16:creationId xmlns:a16="http://schemas.microsoft.com/office/drawing/2014/main" xmlns="" id="{B9F25578-1D3C-4E48-9D87-00F8B27D3EBC}"/>
              </a:ext>
            </a:extLst>
          </p:cNvPr>
          <p:cNvSpPr>
            <a:spLocks noChangeArrowheads="1"/>
          </p:cNvSpPr>
          <p:nvPr/>
        </p:nvSpPr>
        <p:spPr bwMode="auto">
          <a:xfrm>
            <a:off x="2419557" y="1379723"/>
            <a:ext cx="1981200" cy="762000"/>
          </a:xfrm>
          <a:prstGeom prst="wedgeRoundRectCallout">
            <a:avLst>
              <a:gd name="adj1" fmla="val -31653"/>
              <a:gd name="adj2" fmla="val 36875"/>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Motherboard</a:t>
            </a:r>
          </a:p>
        </p:txBody>
      </p:sp>
      <p:pic>
        <p:nvPicPr>
          <p:cNvPr id="6" name="Picture 1026">
            <a:extLst>
              <a:ext uri="{FF2B5EF4-FFF2-40B4-BE49-F238E27FC236}">
                <a16:creationId xmlns:a16="http://schemas.microsoft.com/office/drawing/2014/main" xmlns="" id="{DEB9CCAA-9655-47AA-942C-AEBF2E08B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9769" y="3246442"/>
            <a:ext cx="4163371"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1027">
            <a:extLst>
              <a:ext uri="{FF2B5EF4-FFF2-40B4-BE49-F238E27FC236}">
                <a16:creationId xmlns:a16="http://schemas.microsoft.com/office/drawing/2014/main" xmlns="" id="{20A377A5-B4B7-4684-A5E2-4D84C6A5810D}"/>
              </a:ext>
            </a:extLst>
          </p:cNvPr>
          <p:cNvSpPr>
            <a:spLocks noChangeArrowheads="1"/>
          </p:cNvSpPr>
          <p:nvPr/>
        </p:nvSpPr>
        <p:spPr bwMode="auto">
          <a:xfrm>
            <a:off x="5487343" y="3185352"/>
            <a:ext cx="2561797" cy="773197"/>
          </a:xfrm>
          <a:prstGeom prst="wedgeRoundRectCallout">
            <a:avLst>
              <a:gd name="adj1" fmla="val 17773"/>
              <a:gd name="adj2" fmla="val -27403"/>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CPU</a:t>
            </a:r>
          </a:p>
          <a:p>
            <a:pPr algn="ctr"/>
            <a:r>
              <a:rPr lang="en-US" altLang="en-US" dirty="0"/>
              <a:t>(Central Processing Unit)</a:t>
            </a:r>
          </a:p>
        </p:txBody>
      </p:sp>
      <p:pic>
        <p:nvPicPr>
          <p:cNvPr id="8" name="Picture 2">
            <a:extLst>
              <a:ext uri="{FF2B5EF4-FFF2-40B4-BE49-F238E27FC236}">
                <a16:creationId xmlns:a16="http://schemas.microsoft.com/office/drawing/2014/main" xmlns="" id="{6A7BC730-930A-4954-8BDF-4FF05BB15B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7140" y="1396177"/>
            <a:ext cx="457200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3">
            <a:extLst>
              <a:ext uri="{FF2B5EF4-FFF2-40B4-BE49-F238E27FC236}">
                <a16:creationId xmlns:a16="http://schemas.microsoft.com/office/drawing/2014/main" xmlns="" id="{81FEEBC6-DF6A-48A7-86A6-16E016C5DCB1}"/>
              </a:ext>
            </a:extLst>
          </p:cNvPr>
          <p:cNvSpPr>
            <a:spLocks noChangeArrowheads="1"/>
          </p:cNvSpPr>
          <p:nvPr/>
        </p:nvSpPr>
        <p:spPr bwMode="auto">
          <a:xfrm>
            <a:off x="8562040" y="1371517"/>
            <a:ext cx="1763485" cy="521380"/>
          </a:xfrm>
          <a:prstGeom prst="wedgeRoundRectCallout">
            <a:avLst>
              <a:gd name="adj1" fmla="val -30319"/>
              <a:gd name="adj2" fmla="val -38782"/>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endParaRPr lang="en-US" altLang="en-US"/>
          </a:p>
          <a:p>
            <a:pPr algn="ctr"/>
            <a:r>
              <a:rPr lang="en-US" altLang="en-US"/>
              <a:t>(RAM)</a:t>
            </a:r>
          </a:p>
        </p:txBody>
      </p:sp>
      <p:pic>
        <p:nvPicPr>
          <p:cNvPr id="10" name="Picture 1026">
            <a:extLst>
              <a:ext uri="{FF2B5EF4-FFF2-40B4-BE49-F238E27FC236}">
                <a16:creationId xmlns:a16="http://schemas.microsoft.com/office/drawing/2014/main" xmlns="" id="{19AFFFAD-76F2-441D-A40E-996E769DD9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2643" y="2719937"/>
            <a:ext cx="3657600" cy="312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AutoShape 1027">
            <a:extLst>
              <a:ext uri="{FF2B5EF4-FFF2-40B4-BE49-F238E27FC236}">
                <a16:creationId xmlns:a16="http://schemas.microsoft.com/office/drawing/2014/main" xmlns="" id="{F4FCDA89-AAB0-4083-AF2D-4810595BC5C5}"/>
              </a:ext>
            </a:extLst>
          </p:cNvPr>
          <p:cNvSpPr>
            <a:spLocks noChangeArrowheads="1"/>
          </p:cNvSpPr>
          <p:nvPr/>
        </p:nvSpPr>
        <p:spPr bwMode="auto">
          <a:xfrm>
            <a:off x="9616484" y="4957648"/>
            <a:ext cx="2170557" cy="821788"/>
          </a:xfrm>
          <a:prstGeom prst="wedgeRoundRectCallout">
            <a:avLst>
              <a:gd name="adj1" fmla="val -24477"/>
              <a:gd name="adj2" fmla="val -15065"/>
              <a:gd name="adj3" fmla="val 16667"/>
            </a:avLst>
          </a:prstGeom>
          <a:solidFill>
            <a:srgbClr val="FFCC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dirty="0"/>
              <a:t>HDD</a:t>
            </a:r>
          </a:p>
          <a:p>
            <a:pPr algn="ctr"/>
            <a:r>
              <a:rPr lang="en-US" altLang="en-US" dirty="0"/>
              <a:t>(Hard Disk Drive)</a:t>
            </a:r>
          </a:p>
        </p:txBody>
      </p:sp>
    </p:spTree>
    <p:extLst>
      <p:ext uri="{BB962C8B-B14F-4D97-AF65-F5344CB8AC3E}">
        <p14:creationId xmlns:p14="http://schemas.microsoft.com/office/powerpoint/2010/main" val="13903780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368025-1611-4078-830B-DDFA47764B7C}"/>
              </a:ext>
            </a:extLst>
          </p:cNvPr>
          <p:cNvSpPr>
            <a:spLocks noGrp="1"/>
          </p:cNvSpPr>
          <p:nvPr>
            <p:ph type="title"/>
          </p:nvPr>
        </p:nvSpPr>
        <p:spPr/>
        <p:txBody>
          <a:bodyPr/>
          <a:lstStyle/>
          <a:p>
            <a:r>
              <a:rPr lang="en-US" dirty="0"/>
              <a:t>Mother-board</a:t>
            </a:r>
            <a:endParaRPr lang="x-none" dirty="0"/>
          </a:p>
        </p:txBody>
      </p:sp>
      <p:sp>
        <p:nvSpPr>
          <p:cNvPr id="3" name="Content Placeholder 2">
            <a:extLst>
              <a:ext uri="{FF2B5EF4-FFF2-40B4-BE49-F238E27FC236}">
                <a16:creationId xmlns:a16="http://schemas.microsoft.com/office/drawing/2014/main" xmlns="" id="{F0D56411-4106-40F9-B6FF-C44092113C75}"/>
              </a:ext>
            </a:extLst>
          </p:cNvPr>
          <p:cNvSpPr>
            <a:spLocks noGrp="1"/>
          </p:cNvSpPr>
          <p:nvPr>
            <p:ph idx="1"/>
          </p:nvPr>
        </p:nvSpPr>
        <p:spPr/>
        <p:txBody>
          <a:bodyPr>
            <a:normAutofit/>
          </a:bodyPr>
          <a:lstStyle/>
          <a:p>
            <a:pPr marL="0" indent="0" algn="ctr">
              <a:buNone/>
            </a:pPr>
            <a:r>
              <a:rPr lang="en-US" dirty="0"/>
              <a:t>It holds together many of the crucial components of a computer</a:t>
            </a:r>
          </a:p>
          <a:p>
            <a:pPr marL="0" indent="0">
              <a:buNone/>
            </a:pPr>
            <a:endParaRPr lang="en-US" b="1" dirty="0"/>
          </a:p>
          <a:p>
            <a:pPr marL="0" indent="0">
              <a:buNone/>
            </a:pPr>
            <a:r>
              <a:rPr lang="en-US" b="1" dirty="0"/>
              <a:t>Parts of a Motherboard</a:t>
            </a:r>
          </a:p>
          <a:p>
            <a:pPr marL="971550" lvl="1" indent="-514350">
              <a:buFont typeface="+mj-lt"/>
              <a:buAutoNum type="arabicPeriod"/>
            </a:pPr>
            <a:r>
              <a:rPr lang="en-US" dirty="0"/>
              <a:t>A CPU socket</a:t>
            </a:r>
          </a:p>
          <a:p>
            <a:pPr marL="971550" lvl="1" indent="-514350">
              <a:buFont typeface="+mj-lt"/>
              <a:buAutoNum type="arabicPeriod"/>
            </a:pPr>
            <a:r>
              <a:rPr lang="en-US" dirty="0"/>
              <a:t>A power connector</a:t>
            </a:r>
          </a:p>
          <a:p>
            <a:pPr marL="971550" lvl="1" indent="-514350">
              <a:buFont typeface="+mj-lt"/>
              <a:buAutoNum type="arabicPeriod"/>
            </a:pPr>
            <a:r>
              <a:rPr lang="en-US" dirty="0"/>
              <a:t>A Slots for RAM</a:t>
            </a:r>
          </a:p>
          <a:p>
            <a:pPr marL="971550" lvl="1" indent="-514350">
              <a:buFont typeface="+mj-lt"/>
              <a:buAutoNum type="arabicPeriod"/>
            </a:pPr>
            <a:r>
              <a:rPr lang="en-US" dirty="0"/>
              <a:t>A second chip controls the input and output (I/O) functions</a:t>
            </a:r>
          </a:p>
          <a:p>
            <a:pPr marL="971550" lvl="1" indent="-514350">
              <a:buFont typeface="+mj-lt"/>
              <a:buAutoNum type="arabicPeriod"/>
            </a:pPr>
            <a:r>
              <a:rPr lang="en-US" dirty="0"/>
              <a:t>A Slots for one or more hard drives</a:t>
            </a:r>
          </a:p>
          <a:p>
            <a:pPr marL="971550" lvl="1" indent="-514350">
              <a:buFont typeface="+mj-lt"/>
              <a:buAutoNum type="arabicPeriod"/>
            </a:pPr>
            <a:r>
              <a:rPr lang="en-US" dirty="0"/>
              <a:t>A read-only memory (ROM) chip</a:t>
            </a:r>
          </a:p>
          <a:p>
            <a:pPr marL="971550" lvl="1" indent="-514350">
              <a:buFont typeface="+mj-lt"/>
              <a:buAutoNum type="arabicPeriod"/>
            </a:pPr>
            <a:r>
              <a:rPr lang="en-US" dirty="0"/>
              <a:t>A slot for a video or graphics card</a:t>
            </a:r>
            <a:endParaRPr lang="x-none" dirty="0"/>
          </a:p>
        </p:txBody>
      </p:sp>
      <p:pic>
        <p:nvPicPr>
          <p:cNvPr id="4" name="Picture 3">
            <a:extLst>
              <a:ext uri="{FF2B5EF4-FFF2-40B4-BE49-F238E27FC236}">
                <a16:creationId xmlns:a16="http://schemas.microsoft.com/office/drawing/2014/main" xmlns="" id="{70CFC1C5-C884-4875-AD26-982ABF2CE7FC}"/>
              </a:ext>
            </a:extLst>
          </p:cNvPr>
          <p:cNvPicPr>
            <a:picLocks noChangeAspect="1"/>
          </p:cNvPicPr>
          <p:nvPr/>
        </p:nvPicPr>
        <p:blipFill>
          <a:blip r:embed="rId3"/>
          <a:stretch>
            <a:fillRect/>
          </a:stretch>
        </p:blipFill>
        <p:spPr>
          <a:xfrm>
            <a:off x="7213149" y="2387033"/>
            <a:ext cx="4506129" cy="2083934"/>
          </a:xfrm>
          <a:prstGeom prst="rect">
            <a:avLst/>
          </a:prstGeom>
        </p:spPr>
      </p:pic>
    </p:spTree>
    <p:extLst>
      <p:ext uri="{BB962C8B-B14F-4D97-AF65-F5344CB8AC3E}">
        <p14:creationId xmlns:p14="http://schemas.microsoft.com/office/powerpoint/2010/main" val="17016568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11E6C8-148B-4B0F-94C1-BC81D999AB8B}"/>
              </a:ext>
            </a:extLst>
          </p:cNvPr>
          <p:cNvSpPr>
            <a:spLocks noGrp="1"/>
          </p:cNvSpPr>
          <p:nvPr>
            <p:ph type="title"/>
          </p:nvPr>
        </p:nvSpPr>
        <p:spPr/>
        <p:txBody>
          <a:bodyPr>
            <a:normAutofit/>
          </a:bodyPr>
          <a:lstStyle/>
          <a:p>
            <a:r>
              <a:rPr lang="en-US" altLang="en-US" sz="4000" dirty="0"/>
              <a:t>Central Processing Unit</a:t>
            </a:r>
            <a:endParaRPr lang="x-none" sz="4000" dirty="0"/>
          </a:p>
        </p:txBody>
      </p:sp>
      <p:sp>
        <p:nvSpPr>
          <p:cNvPr id="3" name="Content Placeholder 2">
            <a:extLst>
              <a:ext uri="{FF2B5EF4-FFF2-40B4-BE49-F238E27FC236}">
                <a16:creationId xmlns:a16="http://schemas.microsoft.com/office/drawing/2014/main" xmlns="" id="{9B9BB50E-8DEE-4858-93EF-118BAC03EB1F}"/>
              </a:ext>
            </a:extLst>
          </p:cNvPr>
          <p:cNvSpPr>
            <a:spLocks noGrp="1"/>
          </p:cNvSpPr>
          <p:nvPr>
            <p:ph idx="1"/>
          </p:nvPr>
        </p:nvSpPr>
        <p:spPr>
          <a:xfrm>
            <a:off x="1045029" y="1690689"/>
            <a:ext cx="10308771" cy="4488043"/>
          </a:xfrm>
        </p:spPr>
        <p:txBody>
          <a:bodyPr>
            <a:normAutofit/>
          </a:bodyPr>
          <a:lstStyle/>
          <a:p>
            <a:r>
              <a:rPr lang="en-US" altLang="en-US" dirty="0"/>
              <a:t>It is the </a:t>
            </a:r>
            <a:r>
              <a:rPr lang="en-US" altLang="en-US" b="1" dirty="0">
                <a:solidFill>
                  <a:srgbClr val="FF0000"/>
                </a:solidFill>
              </a:rPr>
              <a:t>brain</a:t>
            </a:r>
            <a:r>
              <a:rPr lang="en-US" altLang="en-US" dirty="0"/>
              <a:t> of a computer system.</a:t>
            </a:r>
          </a:p>
          <a:p>
            <a:r>
              <a:rPr lang="en-US" altLang="en-US" dirty="0"/>
              <a:t>Carries out instructions from the program.</a:t>
            </a:r>
          </a:p>
          <a:p>
            <a:r>
              <a:rPr lang="en-US" dirty="0"/>
              <a:t>Performs the basic arithmetical, logical, and input/output operations.</a:t>
            </a:r>
            <a:endParaRPr lang="en-US" altLang="en-US" dirty="0"/>
          </a:p>
          <a:p>
            <a:r>
              <a:rPr lang="en-US" dirty="0"/>
              <a:t>!!Remember that this is all about speed.</a:t>
            </a:r>
            <a:endParaRPr lang="en-US" altLang="en-US" dirty="0"/>
          </a:p>
          <a:p>
            <a:r>
              <a:rPr lang="en-US" b="1" dirty="0"/>
              <a:t>Components</a:t>
            </a:r>
          </a:p>
          <a:p>
            <a:pPr marL="514350" indent="-514350">
              <a:buAutoNum type="arabicPeriod"/>
            </a:pPr>
            <a:r>
              <a:rPr lang="en-US" altLang="en-US" dirty="0"/>
              <a:t>ALU</a:t>
            </a:r>
          </a:p>
          <a:p>
            <a:pPr marL="514350" indent="-514350">
              <a:buAutoNum type="arabicPeriod"/>
            </a:pPr>
            <a:r>
              <a:rPr lang="en-US" altLang="en-US" dirty="0"/>
              <a:t>CU</a:t>
            </a:r>
          </a:p>
          <a:p>
            <a:pPr marL="514350" indent="-514350">
              <a:buAutoNum type="arabicPeriod"/>
            </a:pPr>
            <a:r>
              <a:rPr lang="en-US" altLang="en-US" dirty="0"/>
              <a:t>Cache</a:t>
            </a:r>
          </a:p>
          <a:p>
            <a:endParaRPr lang="x-none" dirty="0"/>
          </a:p>
        </p:txBody>
      </p:sp>
      <p:pic>
        <p:nvPicPr>
          <p:cNvPr id="4" name="Content Placeholder 4">
            <a:extLst>
              <a:ext uri="{FF2B5EF4-FFF2-40B4-BE49-F238E27FC236}">
                <a16:creationId xmlns:a16="http://schemas.microsoft.com/office/drawing/2014/main" xmlns="" id="{2CF6A5AD-C13B-4308-ABA8-FC165D8899CB}"/>
              </a:ext>
            </a:extLst>
          </p:cNvPr>
          <p:cNvPicPr>
            <a:picLocks noChangeAspect="1"/>
          </p:cNvPicPr>
          <p:nvPr/>
        </p:nvPicPr>
        <p:blipFill>
          <a:blip r:embed="rId3">
            <a:extLst>
              <a:ext uri="{28A0092B-C50C-407E-A947-70E740481C1C}">
                <a14:useLocalDpi xmlns:a14="http://schemas.microsoft.com/office/drawing/2010/main" val="0"/>
              </a:ext>
            </a:extLst>
          </a:blip>
          <a:srcRect b="55667"/>
          <a:stretch>
            <a:fillRect/>
          </a:stretch>
        </p:blipFill>
        <p:spPr bwMode="auto">
          <a:xfrm>
            <a:off x="4015921" y="4502331"/>
            <a:ext cx="7131051"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Image result for processors">
            <a:extLst>
              <a:ext uri="{FF2B5EF4-FFF2-40B4-BE49-F238E27FC236}">
                <a16:creationId xmlns:a16="http://schemas.microsoft.com/office/drawing/2014/main" xmlns="" id="{BC1FC6D1-857A-419C-A7DE-864A072500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723" y="679269"/>
            <a:ext cx="2637639" cy="1908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8344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146EF2-0B7E-49A8-804E-D2F06200F4CC}"/>
              </a:ext>
            </a:extLst>
          </p:cNvPr>
          <p:cNvSpPr>
            <a:spLocks noGrp="1"/>
          </p:cNvSpPr>
          <p:nvPr>
            <p:ph type="title"/>
          </p:nvPr>
        </p:nvSpPr>
        <p:spPr/>
        <p:txBody>
          <a:bodyPr/>
          <a:lstStyle/>
          <a:p>
            <a:r>
              <a:rPr lang="en-US" altLang="en-US" dirty="0"/>
              <a:t>Arithmetic Logic Unit- ALU</a:t>
            </a:r>
            <a:endParaRPr lang="x-none" dirty="0"/>
          </a:p>
        </p:txBody>
      </p:sp>
      <p:sp>
        <p:nvSpPr>
          <p:cNvPr id="3" name="Content Placeholder 2">
            <a:extLst>
              <a:ext uri="{FF2B5EF4-FFF2-40B4-BE49-F238E27FC236}">
                <a16:creationId xmlns:a16="http://schemas.microsoft.com/office/drawing/2014/main" xmlns="" id="{CF1C0163-EAD3-4F8E-9807-9A1B7B928ECF}"/>
              </a:ext>
            </a:extLst>
          </p:cNvPr>
          <p:cNvSpPr>
            <a:spLocks noGrp="1"/>
          </p:cNvSpPr>
          <p:nvPr>
            <p:ph idx="1"/>
          </p:nvPr>
        </p:nvSpPr>
        <p:spPr>
          <a:xfrm>
            <a:off x="1045029" y="1825625"/>
            <a:ext cx="7625443" cy="4353106"/>
          </a:xfrm>
        </p:spPr>
        <p:txBody>
          <a:bodyPr>
            <a:normAutofit/>
          </a:bodyPr>
          <a:lstStyle/>
          <a:p>
            <a:r>
              <a:rPr lang="en-US" dirty="0"/>
              <a:t>An </a:t>
            </a:r>
            <a:r>
              <a:rPr lang="en-US" b="1" dirty="0"/>
              <a:t>arithmetic logic unit (ALU)</a:t>
            </a:r>
            <a:r>
              <a:rPr lang="en-US" dirty="0"/>
              <a:t> is a digital circuit used to perform arithmetic and logic operations. </a:t>
            </a:r>
          </a:p>
          <a:p>
            <a:r>
              <a:rPr lang="en-US" dirty="0"/>
              <a:t>The </a:t>
            </a:r>
            <a:r>
              <a:rPr lang="en-US" b="1" dirty="0"/>
              <a:t>control unit </a:t>
            </a:r>
            <a:r>
              <a:rPr lang="en-US" dirty="0"/>
              <a:t>moves the data between these registers, the ALU, and memory.</a:t>
            </a:r>
            <a:endParaRPr lang="en-US" altLang="en-US" dirty="0"/>
          </a:p>
          <a:p>
            <a:endParaRPr lang="x-none" dirty="0"/>
          </a:p>
        </p:txBody>
      </p:sp>
      <p:pic>
        <p:nvPicPr>
          <p:cNvPr id="4" name="Picture 3">
            <a:extLst>
              <a:ext uri="{FF2B5EF4-FFF2-40B4-BE49-F238E27FC236}">
                <a16:creationId xmlns:a16="http://schemas.microsoft.com/office/drawing/2014/main" xmlns="" id="{60B32541-5E1D-423B-9CF5-26CAA938223C}"/>
              </a:ext>
            </a:extLst>
          </p:cNvPr>
          <p:cNvPicPr>
            <a:picLocks noChangeAspect="1"/>
          </p:cNvPicPr>
          <p:nvPr/>
        </p:nvPicPr>
        <p:blipFill>
          <a:blip r:embed="rId3"/>
          <a:stretch>
            <a:fillRect/>
          </a:stretch>
        </p:blipFill>
        <p:spPr>
          <a:xfrm>
            <a:off x="8692241" y="1970133"/>
            <a:ext cx="3037024" cy="406409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7731209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0C4DD0-7E89-439D-950C-B31BFD8B1A2D}"/>
              </a:ext>
            </a:extLst>
          </p:cNvPr>
          <p:cNvSpPr>
            <a:spLocks noGrp="1"/>
          </p:cNvSpPr>
          <p:nvPr>
            <p:ph type="title"/>
          </p:nvPr>
        </p:nvSpPr>
        <p:spPr/>
        <p:txBody>
          <a:bodyPr>
            <a:normAutofit/>
          </a:bodyPr>
          <a:lstStyle/>
          <a:p>
            <a:r>
              <a:rPr lang="en-US" b="1" dirty="0"/>
              <a:t>How an ALU Works</a:t>
            </a:r>
            <a:endParaRPr lang="x-none" dirty="0"/>
          </a:p>
        </p:txBody>
      </p:sp>
      <p:sp>
        <p:nvSpPr>
          <p:cNvPr id="3" name="Content Placeholder 2">
            <a:extLst>
              <a:ext uri="{FF2B5EF4-FFF2-40B4-BE49-F238E27FC236}">
                <a16:creationId xmlns:a16="http://schemas.microsoft.com/office/drawing/2014/main" xmlns="" id="{44A4AED1-6E19-4A26-9BE4-427930E94814}"/>
              </a:ext>
            </a:extLst>
          </p:cNvPr>
          <p:cNvSpPr>
            <a:spLocks noGrp="1"/>
          </p:cNvSpPr>
          <p:nvPr>
            <p:ph idx="1"/>
          </p:nvPr>
        </p:nvSpPr>
        <p:spPr>
          <a:xfrm>
            <a:off x="1045029" y="3641275"/>
            <a:ext cx="10308771" cy="2407783"/>
          </a:xfrm>
        </p:spPr>
        <p:txBody>
          <a:bodyPr>
            <a:normAutofit/>
          </a:bodyPr>
          <a:lstStyle/>
          <a:p>
            <a:pPr>
              <a:spcBef>
                <a:spcPts val="800"/>
              </a:spcBef>
              <a:buFont typeface="Arial" charset="0"/>
              <a:buChar char="•"/>
            </a:pPr>
            <a:r>
              <a:rPr lang="en-US" dirty="0">
                <a:solidFill>
                  <a:srgbClr val="000000"/>
                </a:solidFill>
              </a:rPr>
              <a:t>There are also circuits for multiplying, for comparing two numbers, etc.</a:t>
            </a:r>
          </a:p>
          <a:p>
            <a:pPr>
              <a:spcBef>
                <a:spcPts val="800"/>
              </a:spcBef>
              <a:buFont typeface="Arial" charset="0"/>
              <a:buChar char="•"/>
            </a:pPr>
            <a:r>
              <a:rPr lang="en-US" b="1" dirty="0"/>
              <a:t>Transistor</a:t>
            </a:r>
            <a:r>
              <a:rPr lang="en-US" dirty="0"/>
              <a:t> switches are used to manipulate binary numbers </a:t>
            </a:r>
            <a:endParaRPr lang="en-US" dirty="0">
              <a:solidFill>
                <a:srgbClr val="000000"/>
              </a:solidFill>
            </a:endParaRPr>
          </a:p>
          <a:p>
            <a:pPr lvl="1">
              <a:buFont typeface="Wingdings" panose="05000000000000000000" pitchFamily="2" charset="2"/>
              <a:buChar char="v"/>
            </a:pPr>
            <a:r>
              <a:rPr lang="en-US" dirty="0"/>
              <a:t>An open transistor represents a 0. </a:t>
            </a:r>
          </a:p>
          <a:p>
            <a:pPr lvl="1">
              <a:buFont typeface="Wingdings" panose="05000000000000000000" pitchFamily="2" charset="2"/>
              <a:buChar char="v"/>
            </a:pPr>
            <a:r>
              <a:rPr lang="en-US" dirty="0"/>
              <a:t>A closed transistor represents a 1.</a:t>
            </a:r>
            <a:endParaRPr lang="x-none" b="1" dirty="0"/>
          </a:p>
        </p:txBody>
      </p:sp>
      <p:graphicFrame>
        <p:nvGraphicFramePr>
          <p:cNvPr id="4" name="Diagram 3">
            <a:extLst>
              <a:ext uri="{FF2B5EF4-FFF2-40B4-BE49-F238E27FC236}">
                <a16:creationId xmlns:a16="http://schemas.microsoft.com/office/drawing/2014/main" xmlns="" id="{CBB953AD-8412-40D0-8699-8C3E47717895}"/>
              </a:ext>
            </a:extLst>
          </p:cNvPr>
          <p:cNvGraphicFramePr/>
          <p:nvPr>
            <p:extLst>
              <p:ext uri="{D42A27DB-BD31-4B8C-83A1-F6EECF244321}">
                <p14:modId xmlns:p14="http://schemas.microsoft.com/office/powerpoint/2010/main" val="2628278883"/>
              </p:ext>
            </p:extLst>
          </p:nvPr>
        </p:nvGraphicFramePr>
        <p:xfrm>
          <a:off x="1953986" y="1439334"/>
          <a:ext cx="8284031" cy="19896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7695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9F04D7-3274-4797-B5B8-3D05B93435BE}"/>
              </a:ext>
            </a:extLst>
          </p:cNvPr>
          <p:cNvSpPr>
            <a:spLocks noGrp="1"/>
          </p:cNvSpPr>
          <p:nvPr>
            <p:ph type="title"/>
          </p:nvPr>
        </p:nvSpPr>
        <p:spPr/>
        <p:txBody>
          <a:bodyPr/>
          <a:lstStyle/>
          <a:p>
            <a:r>
              <a:rPr lang="en-US" spc="-9" dirty="0"/>
              <a:t>Control Unit</a:t>
            </a:r>
            <a:r>
              <a:rPr lang="en-US" spc="4" dirty="0"/>
              <a:t> </a:t>
            </a:r>
            <a:r>
              <a:rPr lang="en-US" spc="-9" dirty="0"/>
              <a:t>(CU)</a:t>
            </a:r>
            <a:endParaRPr lang="x-none" dirty="0"/>
          </a:p>
        </p:txBody>
      </p:sp>
      <p:sp>
        <p:nvSpPr>
          <p:cNvPr id="3" name="Content Placeholder 2">
            <a:extLst>
              <a:ext uri="{FF2B5EF4-FFF2-40B4-BE49-F238E27FC236}">
                <a16:creationId xmlns:a16="http://schemas.microsoft.com/office/drawing/2014/main" xmlns="" id="{CB9F10C4-84A1-4C71-8005-A25CEAA6257B}"/>
              </a:ext>
            </a:extLst>
          </p:cNvPr>
          <p:cNvSpPr>
            <a:spLocks noGrp="1"/>
          </p:cNvSpPr>
          <p:nvPr>
            <p:ph idx="1"/>
          </p:nvPr>
        </p:nvSpPr>
        <p:spPr/>
        <p:txBody>
          <a:bodyPr>
            <a:normAutofit/>
          </a:bodyPr>
          <a:lstStyle/>
          <a:p>
            <a:pPr marL="314902" indent="-303696">
              <a:spcBef>
                <a:spcPts val="1019"/>
              </a:spcBef>
              <a:buClr>
                <a:srgbClr val="FF3300"/>
              </a:buClr>
              <a:buFont typeface="Wingdings"/>
              <a:buChar char=""/>
              <a:tabLst>
                <a:tab pos="314902" algn="l"/>
                <a:tab pos="315462" algn="l"/>
              </a:tabLst>
            </a:pPr>
            <a:r>
              <a:rPr lang="en-US" spc="-9" dirty="0">
                <a:solidFill>
                  <a:srgbClr val="333333"/>
                </a:solidFill>
              </a:rPr>
              <a:t>One </a:t>
            </a:r>
            <a:r>
              <a:rPr lang="en-US" spc="-4" dirty="0">
                <a:solidFill>
                  <a:srgbClr val="333333"/>
                </a:solidFill>
              </a:rPr>
              <a:t>of the </a:t>
            </a:r>
            <a:r>
              <a:rPr lang="en-US" spc="-9" dirty="0">
                <a:solidFill>
                  <a:srgbClr val="333333"/>
                </a:solidFill>
              </a:rPr>
              <a:t>two </a:t>
            </a:r>
            <a:r>
              <a:rPr lang="en-US" spc="-4" dirty="0">
                <a:solidFill>
                  <a:srgbClr val="333333"/>
                </a:solidFill>
              </a:rPr>
              <a:t>basic </a:t>
            </a:r>
            <a:r>
              <a:rPr lang="en-US" spc="-9" dirty="0">
                <a:solidFill>
                  <a:srgbClr val="333333"/>
                </a:solidFill>
              </a:rPr>
              <a:t>components of CPU</a:t>
            </a:r>
            <a:endParaRPr lang="en-US" dirty="0"/>
          </a:p>
          <a:p>
            <a:pPr marL="314902" marR="5043" indent="-303696">
              <a:spcBef>
                <a:spcPts val="931"/>
              </a:spcBef>
              <a:buClr>
                <a:srgbClr val="FF3300"/>
              </a:buClr>
              <a:buFont typeface="Wingdings"/>
              <a:buChar char=""/>
              <a:tabLst>
                <a:tab pos="314902" algn="l"/>
                <a:tab pos="315462" algn="l"/>
                <a:tab pos="941344" algn="l"/>
                <a:tab pos="1344217" algn="l"/>
                <a:tab pos="1860276" algn="l"/>
                <a:tab pos="2788172" algn="l"/>
                <a:tab pos="3834857" algn="l"/>
                <a:tab pos="4795253" algn="l"/>
                <a:tab pos="5160584" algn="l"/>
                <a:tab pos="5448030" algn="l"/>
              </a:tabLst>
            </a:pPr>
            <a:r>
              <a:rPr lang="en-US" spc="-4" dirty="0">
                <a:solidFill>
                  <a:srgbClr val="333333"/>
                </a:solidFill>
              </a:rPr>
              <a:t>A</a:t>
            </a:r>
            <a:r>
              <a:rPr lang="en-US" spc="-13" dirty="0">
                <a:solidFill>
                  <a:srgbClr val="333333"/>
                </a:solidFill>
              </a:rPr>
              <a:t>c</a:t>
            </a:r>
            <a:r>
              <a:rPr lang="en-US" dirty="0">
                <a:solidFill>
                  <a:srgbClr val="333333"/>
                </a:solidFill>
              </a:rPr>
              <a:t>t</a:t>
            </a:r>
            <a:r>
              <a:rPr lang="en-US" spc="-4" dirty="0">
                <a:solidFill>
                  <a:srgbClr val="333333"/>
                </a:solidFill>
              </a:rPr>
              <a:t>s as </a:t>
            </a:r>
            <a:r>
              <a:rPr lang="en-US" dirty="0">
                <a:solidFill>
                  <a:srgbClr val="333333"/>
                </a:solidFill>
              </a:rPr>
              <a:t>th</a:t>
            </a:r>
            <a:r>
              <a:rPr lang="en-US" spc="-4" dirty="0">
                <a:solidFill>
                  <a:srgbClr val="333333"/>
                </a:solidFill>
              </a:rPr>
              <a:t>e </a:t>
            </a:r>
            <a:r>
              <a:rPr lang="en-US" spc="4" dirty="0">
                <a:solidFill>
                  <a:srgbClr val="333333"/>
                </a:solidFill>
              </a:rPr>
              <a:t>c</a:t>
            </a:r>
            <a:r>
              <a:rPr lang="en-US" spc="-18" dirty="0">
                <a:solidFill>
                  <a:srgbClr val="333333"/>
                </a:solidFill>
              </a:rPr>
              <a:t>e</a:t>
            </a:r>
            <a:r>
              <a:rPr lang="en-US" dirty="0">
                <a:solidFill>
                  <a:srgbClr val="333333"/>
                </a:solidFill>
              </a:rPr>
              <a:t>nt</a:t>
            </a:r>
            <a:r>
              <a:rPr lang="en-US" spc="-18" dirty="0">
                <a:solidFill>
                  <a:srgbClr val="333333"/>
                </a:solidFill>
              </a:rPr>
              <a:t>r</a:t>
            </a:r>
            <a:r>
              <a:rPr lang="en-US" spc="-4" dirty="0">
                <a:solidFill>
                  <a:srgbClr val="333333"/>
                </a:solidFill>
              </a:rPr>
              <a:t>al </a:t>
            </a:r>
            <a:r>
              <a:rPr lang="en-US" dirty="0">
                <a:solidFill>
                  <a:srgbClr val="333333"/>
                </a:solidFill>
              </a:rPr>
              <a:t>n</a:t>
            </a:r>
            <a:r>
              <a:rPr lang="en-US" spc="-18" dirty="0">
                <a:solidFill>
                  <a:srgbClr val="333333"/>
                </a:solidFill>
              </a:rPr>
              <a:t>er</a:t>
            </a:r>
            <a:r>
              <a:rPr lang="en-US" spc="-4" dirty="0">
                <a:solidFill>
                  <a:srgbClr val="333333"/>
                </a:solidFill>
              </a:rPr>
              <a:t>v</a:t>
            </a:r>
            <a:r>
              <a:rPr lang="en-US" spc="-13" dirty="0">
                <a:solidFill>
                  <a:srgbClr val="333333"/>
                </a:solidFill>
              </a:rPr>
              <a:t>o</a:t>
            </a:r>
            <a:r>
              <a:rPr lang="en-US" dirty="0">
                <a:solidFill>
                  <a:srgbClr val="333333"/>
                </a:solidFill>
              </a:rPr>
              <a:t>u</a:t>
            </a:r>
            <a:r>
              <a:rPr lang="en-US" spc="-4" dirty="0">
                <a:solidFill>
                  <a:srgbClr val="333333"/>
                </a:solidFill>
              </a:rPr>
              <a:t>s </a:t>
            </a:r>
            <a:r>
              <a:rPr lang="en-US" spc="4" dirty="0">
                <a:solidFill>
                  <a:srgbClr val="333333"/>
                </a:solidFill>
              </a:rPr>
              <a:t>s</a:t>
            </a:r>
            <a:r>
              <a:rPr lang="en-US" spc="-4" dirty="0">
                <a:solidFill>
                  <a:srgbClr val="333333"/>
                </a:solidFill>
              </a:rPr>
              <a:t>y</a:t>
            </a:r>
            <a:r>
              <a:rPr lang="en-US" spc="-13" dirty="0">
                <a:solidFill>
                  <a:srgbClr val="333333"/>
                </a:solidFill>
              </a:rPr>
              <a:t>s</a:t>
            </a:r>
            <a:r>
              <a:rPr lang="en-US" dirty="0">
                <a:solidFill>
                  <a:srgbClr val="333333"/>
                </a:solidFill>
              </a:rPr>
              <a:t>te</a:t>
            </a:r>
            <a:r>
              <a:rPr lang="en-US" spc="-9" dirty="0">
                <a:solidFill>
                  <a:srgbClr val="333333"/>
                </a:solidFill>
              </a:rPr>
              <a:t>m </a:t>
            </a:r>
            <a:r>
              <a:rPr lang="en-US" spc="-13" dirty="0">
                <a:solidFill>
                  <a:srgbClr val="333333"/>
                </a:solidFill>
              </a:rPr>
              <a:t>o</a:t>
            </a:r>
            <a:r>
              <a:rPr lang="en-US" spc="-4" dirty="0">
                <a:solidFill>
                  <a:srgbClr val="333333"/>
                </a:solidFill>
              </a:rPr>
              <a:t>f a </a:t>
            </a:r>
            <a:r>
              <a:rPr lang="en-US" spc="-13" dirty="0">
                <a:solidFill>
                  <a:srgbClr val="333333"/>
                </a:solidFill>
              </a:rPr>
              <a:t>c</a:t>
            </a:r>
            <a:r>
              <a:rPr lang="en-US" dirty="0">
                <a:solidFill>
                  <a:srgbClr val="333333"/>
                </a:solidFill>
              </a:rPr>
              <a:t>o</a:t>
            </a:r>
            <a:r>
              <a:rPr lang="en-US" spc="-4" dirty="0">
                <a:solidFill>
                  <a:srgbClr val="333333"/>
                </a:solidFill>
              </a:rPr>
              <a:t>mp</a:t>
            </a:r>
            <a:r>
              <a:rPr lang="en-US" dirty="0">
                <a:solidFill>
                  <a:srgbClr val="333333"/>
                </a:solidFill>
              </a:rPr>
              <a:t>ut</a:t>
            </a:r>
            <a:r>
              <a:rPr lang="en-US" spc="-18" dirty="0">
                <a:solidFill>
                  <a:srgbClr val="333333"/>
                </a:solidFill>
              </a:rPr>
              <a:t>er  </a:t>
            </a:r>
            <a:r>
              <a:rPr lang="en-US" spc="-13" dirty="0">
                <a:solidFill>
                  <a:srgbClr val="333333"/>
                </a:solidFill>
              </a:rPr>
              <a:t>system</a:t>
            </a:r>
            <a:endParaRPr lang="en-US" dirty="0"/>
          </a:p>
          <a:p>
            <a:pPr marL="314902" marR="4483" indent="-303696">
              <a:spcBef>
                <a:spcPts val="953"/>
              </a:spcBef>
              <a:buClr>
                <a:srgbClr val="FF3300"/>
              </a:buClr>
              <a:buFont typeface="Wingdings"/>
              <a:buChar char=""/>
              <a:tabLst>
                <a:tab pos="314902" algn="l"/>
                <a:tab pos="315462" algn="l"/>
                <a:tab pos="1341976" algn="l"/>
                <a:tab pos="1985228" algn="l"/>
                <a:tab pos="3303110" algn="l"/>
                <a:tab pos="4488756" algn="l"/>
                <a:tab pos="6099127" algn="l"/>
              </a:tabLst>
            </a:pPr>
            <a:r>
              <a:rPr lang="en-US" spc="-4" dirty="0" smtClean="0">
                <a:solidFill>
                  <a:srgbClr val="333333"/>
                </a:solidFill>
              </a:rPr>
              <a:t>S</a:t>
            </a:r>
            <a:r>
              <a:rPr lang="en-US" spc="-18" dirty="0" smtClean="0">
                <a:solidFill>
                  <a:srgbClr val="333333"/>
                </a:solidFill>
              </a:rPr>
              <a:t>e</a:t>
            </a:r>
            <a:r>
              <a:rPr lang="en-US" spc="18" dirty="0" smtClean="0">
                <a:solidFill>
                  <a:srgbClr val="333333"/>
                </a:solidFill>
              </a:rPr>
              <a:t>l</a:t>
            </a:r>
            <a:r>
              <a:rPr lang="en-US" spc="-18" dirty="0" smtClean="0">
                <a:solidFill>
                  <a:srgbClr val="333333"/>
                </a:solidFill>
              </a:rPr>
              <a:t>e</a:t>
            </a:r>
            <a:r>
              <a:rPr lang="en-US" spc="-13" dirty="0" smtClean="0">
                <a:solidFill>
                  <a:srgbClr val="333333"/>
                </a:solidFill>
              </a:rPr>
              <a:t>c</a:t>
            </a:r>
            <a:r>
              <a:rPr lang="en-US" dirty="0" smtClean="0">
                <a:solidFill>
                  <a:srgbClr val="333333"/>
                </a:solidFill>
              </a:rPr>
              <a:t>t</a:t>
            </a:r>
            <a:r>
              <a:rPr lang="en-US" spc="-4" dirty="0" smtClean="0">
                <a:solidFill>
                  <a:srgbClr val="333333"/>
                </a:solidFill>
              </a:rPr>
              <a:t>s </a:t>
            </a:r>
            <a:r>
              <a:rPr lang="en-US" dirty="0">
                <a:solidFill>
                  <a:srgbClr val="333333"/>
                </a:solidFill>
              </a:rPr>
              <a:t>	</a:t>
            </a:r>
            <a:r>
              <a:rPr lang="en-US" spc="-4" dirty="0">
                <a:solidFill>
                  <a:srgbClr val="333333"/>
                </a:solidFill>
              </a:rPr>
              <a:t>a</a:t>
            </a:r>
            <a:r>
              <a:rPr lang="en-US" dirty="0">
                <a:solidFill>
                  <a:srgbClr val="333333"/>
                </a:solidFill>
              </a:rPr>
              <a:t>n</a:t>
            </a:r>
            <a:r>
              <a:rPr lang="en-US" spc="-4" dirty="0">
                <a:solidFill>
                  <a:srgbClr val="333333"/>
                </a:solidFill>
              </a:rPr>
              <a:t>d</a:t>
            </a:r>
            <a:r>
              <a:rPr lang="en-US" dirty="0">
                <a:solidFill>
                  <a:srgbClr val="333333"/>
                </a:solidFill>
              </a:rPr>
              <a:t>	</a:t>
            </a:r>
            <a:r>
              <a:rPr lang="en-US" spc="18" dirty="0">
                <a:solidFill>
                  <a:srgbClr val="333333"/>
                </a:solidFill>
              </a:rPr>
              <a:t>i</a:t>
            </a:r>
            <a:r>
              <a:rPr lang="en-US" dirty="0">
                <a:solidFill>
                  <a:srgbClr val="333333"/>
                </a:solidFill>
              </a:rPr>
              <a:t>nt</a:t>
            </a:r>
            <a:r>
              <a:rPr lang="en-US" spc="-18" dirty="0">
                <a:solidFill>
                  <a:srgbClr val="333333"/>
                </a:solidFill>
              </a:rPr>
              <a:t>er</a:t>
            </a:r>
            <a:r>
              <a:rPr lang="en-US" spc="-4" dirty="0">
                <a:solidFill>
                  <a:srgbClr val="333333"/>
                </a:solidFill>
              </a:rPr>
              <a:t>p</a:t>
            </a:r>
            <a:r>
              <a:rPr lang="en-US" spc="-18" dirty="0">
                <a:solidFill>
                  <a:srgbClr val="333333"/>
                </a:solidFill>
              </a:rPr>
              <a:t>re</a:t>
            </a:r>
            <a:r>
              <a:rPr lang="en-US" dirty="0">
                <a:solidFill>
                  <a:srgbClr val="333333"/>
                </a:solidFill>
              </a:rPr>
              <a:t>t</a:t>
            </a:r>
            <a:r>
              <a:rPr lang="en-US" spc="-4" dirty="0">
                <a:solidFill>
                  <a:srgbClr val="333333"/>
                </a:solidFill>
              </a:rPr>
              <a:t>s p</a:t>
            </a:r>
            <a:r>
              <a:rPr lang="en-US" dirty="0">
                <a:solidFill>
                  <a:srgbClr val="333333"/>
                </a:solidFill>
              </a:rPr>
              <a:t>r</a:t>
            </a:r>
            <a:r>
              <a:rPr lang="en-US" spc="-13" dirty="0">
                <a:solidFill>
                  <a:srgbClr val="333333"/>
                </a:solidFill>
              </a:rPr>
              <a:t>o</a:t>
            </a:r>
            <a:r>
              <a:rPr lang="en-US" spc="-4" dirty="0">
                <a:solidFill>
                  <a:srgbClr val="333333"/>
                </a:solidFill>
              </a:rPr>
              <a:t>g</a:t>
            </a:r>
            <a:r>
              <a:rPr lang="en-US" spc="-18" dirty="0">
                <a:solidFill>
                  <a:srgbClr val="333333"/>
                </a:solidFill>
              </a:rPr>
              <a:t>r</a:t>
            </a:r>
            <a:r>
              <a:rPr lang="en-US" spc="-9" dirty="0">
                <a:solidFill>
                  <a:srgbClr val="333333"/>
                </a:solidFill>
              </a:rPr>
              <a:t>am </a:t>
            </a:r>
            <a:r>
              <a:rPr lang="en-US" spc="18" dirty="0">
                <a:solidFill>
                  <a:srgbClr val="333333"/>
                </a:solidFill>
              </a:rPr>
              <a:t>i</a:t>
            </a:r>
            <a:r>
              <a:rPr lang="en-US" dirty="0">
                <a:solidFill>
                  <a:srgbClr val="333333"/>
                </a:solidFill>
              </a:rPr>
              <a:t>n</a:t>
            </a:r>
            <a:r>
              <a:rPr lang="en-US" spc="-13" dirty="0">
                <a:solidFill>
                  <a:srgbClr val="333333"/>
                </a:solidFill>
              </a:rPr>
              <a:t>s</a:t>
            </a:r>
            <a:r>
              <a:rPr lang="en-US" dirty="0">
                <a:solidFill>
                  <a:srgbClr val="333333"/>
                </a:solidFill>
              </a:rPr>
              <a:t>t</a:t>
            </a:r>
            <a:r>
              <a:rPr lang="en-US" spc="-18" dirty="0">
                <a:solidFill>
                  <a:srgbClr val="333333"/>
                </a:solidFill>
              </a:rPr>
              <a:t>r</a:t>
            </a:r>
            <a:r>
              <a:rPr lang="en-US" dirty="0">
                <a:solidFill>
                  <a:srgbClr val="333333"/>
                </a:solidFill>
              </a:rPr>
              <a:t>u</a:t>
            </a:r>
            <a:r>
              <a:rPr lang="en-US" spc="-13" dirty="0">
                <a:solidFill>
                  <a:srgbClr val="333333"/>
                </a:solidFill>
              </a:rPr>
              <a:t>c</a:t>
            </a:r>
            <a:r>
              <a:rPr lang="en-US" spc="-22" dirty="0">
                <a:solidFill>
                  <a:srgbClr val="333333"/>
                </a:solidFill>
              </a:rPr>
              <a:t>t</a:t>
            </a:r>
            <a:r>
              <a:rPr lang="en-US" spc="18" dirty="0">
                <a:solidFill>
                  <a:srgbClr val="333333"/>
                </a:solidFill>
              </a:rPr>
              <a:t>i</a:t>
            </a:r>
            <a:r>
              <a:rPr lang="en-US" spc="-13" dirty="0">
                <a:solidFill>
                  <a:srgbClr val="333333"/>
                </a:solidFill>
              </a:rPr>
              <a:t>ons</a:t>
            </a:r>
            <a:r>
              <a:rPr lang="en-US" spc="-4" dirty="0">
                <a:solidFill>
                  <a:srgbClr val="333333"/>
                </a:solidFill>
              </a:rPr>
              <a:t>, a</a:t>
            </a:r>
            <a:r>
              <a:rPr lang="en-US" dirty="0">
                <a:solidFill>
                  <a:srgbClr val="333333"/>
                </a:solidFill>
              </a:rPr>
              <a:t>nd  </a:t>
            </a:r>
            <a:r>
              <a:rPr lang="en-US" spc="-9" dirty="0">
                <a:solidFill>
                  <a:srgbClr val="333333"/>
                </a:solidFill>
              </a:rPr>
              <a:t>coordinates</a:t>
            </a:r>
            <a:r>
              <a:rPr lang="en-US" spc="-18" dirty="0">
                <a:solidFill>
                  <a:srgbClr val="333333"/>
                </a:solidFill>
              </a:rPr>
              <a:t> </a:t>
            </a:r>
            <a:r>
              <a:rPr lang="en-US" spc="-4" dirty="0">
                <a:solidFill>
                  <a:srgbClr val="333333"/>
                </a:solidFill>
              </a:rPr>
              <a:t>execution</a:t>
            </a:r>
          </a:p>
          <a:p>
            <a:pPr marL="314902" marR="4483" indent="-303696">
              <a:spcBef>
                <a:spcPts val="953"/>
              </a:spcBef>
              <a:buClr>
                <a:srgbClr val="FF3300"/>
              </a:buClr>
              <a:buFont typeface="Wingdings"/>
              <a:buChar char=""/>
              <a:tabLst>
                <a:tab pos="314902" algn="l"/>
                <a:tab pos="315462" algn="l"/>
                <a:tab pos="1341976" algn="l"/>
                <a:tab pos="1985228" algn="l"/>
                <a:tab pos="3303110" algn="l"/>
                <a:tab pos="4488756" algn="l"/>
                <a:tab pos="6099127" algn="l"/>
              </a:tabLst>
            </a:pPr>
            <a:r>
              <a:rPr lang="en-US" spc="-4" dirty="0">
                <a:solidFill>
                  <a:srgbClr val="333333"/>
                </a:solidFill>
              </a:rPr>
              <a:t>Fetch </a:t>
            </a:r>
            <a:r>
              <a:rPr lang="en-US" spc="-4" dirty="0">
                <a:solidFill>
                  <a:srgbClr val="333333"/>
                </a:solidFill>
                <a:sym typeface="Wingdings" panose="05000000000000000000" pitchFamily="2" charset="2"/>
              </a:rPr>
              <a:t> decode  execute  write back  fetch </a:t>
            </a:r>
            <a:endParaRPr lang="en-US" dirty="0"/>
          </a:p>
          <a:p>
            <a:pPr marL="314902" marR="4483" indent="-303696">
              <a:spcBef>
                <a:spcPts val="953"/>
              </a:spcBef>
              <a:buClr>
                <a:srgbClr val="FF3300"/>
              </a:buClr>
              <a:buFont typeface="Wingdings"/>
              <a:buChar char=""/>
              <a:tabLst>
                <a:tab pos="314902" algn="l"/>
                <a:tab pos="315462" algn="l"/>
              </a:tabLst>
            </a:pPr>
            <a:r>
              <a:rPr lang="en-US" spc="-9" dirty="0">
                <a:solidFill>
                  <a:srgbClr val="333333"/>
                </a:solidFill>
              </a:rPr>
              <a:t>Has some special purpose registers </a:t>
            </a:r>
            <a:r>
              <a:rPr lang="en-US" spc="-4" dirty="0">
                <a:solidFill>
                  <a:srgbClr val="333333"/>
                </a:solidFill>
              </a:rPr>
              <a:t>and a decoder to  </a:t>
            </a:r>
            <a:r>
              <a:rPr lang="en-US" spc="-13" dirty="0">
                <a:solidFill>
                  <a:srgbClr val="333333"/>
                </a:solidFill>
              </a:rPr>
              <a:t>perform </a:t>
            </a:r>
            <a:r>
              <a:rPr lang="en-US" spc="-9" dirty="0">
                <a:solidFill>
                  <a:srgbClr val="333333"/>
                </a:solidFill>
              </a:rPr>
              <a:t>these</a:t>
            </a:r>
            <a:r>
              <a:rPr lang="en-US" spc="9" dirty="0">
                <a:solidFill>
                  <a:srgbClr val="333333"/>
                </a:solidFill>
              </a:rPr>
              <a:t> </a:t>
            </a:r>
            <a:r>
              <a:rPr lang="en-US" spc="-4" dirty="0">
                <a:solidFill>
                  <a:srgbClr val="333333"/>
                </a:solidFill>
              </a:rPr>
              <a:t>activities</a:t>
            </a:r>
            <a:endParaRPr lang="en-US" dirty="0"/>
          </a:p>
          <a:p>
            <a:r>
              <a:rPr lang="en-US" dirty="0"/>
              <a:t>!!The </a:t>
            </a:r>
            <a:r>
              <a:rPr lang="en-US" b="1" dirty="0"/>
              <a:t>control unit </a:t>
            </a:r>
            <a:r>
              <a:rPr lang="en-US" dirty="0"/>
              <a:t>moves the data between these registers, the ALU, and memory.</a:t>
            </a:r>
            <a:endParaRPr lang="en-US" altLang="en-US" dirty="0"/>
          </a:p>
          <a:p>
            <a:endParaRPr lang="x-none" dirty="0"/>
          </a:p>
          <a:p>
            <a:endParaRPr lang="x-none" dirty="0"/>
          </a:p>
        </p:txBody>
      </p:sp>
    </p:spTree>
    <p:extLst>
      <p:ext uri="{BB962C8B-B14F-4D97-AF65-F5344CB8AC3E}">
        <p14:creationId xmlns:p14="http://schemas.microsoft.com/office/powerpoint/2010/main" val="4962999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546DA4-9083-40DF-8EEC-C465601F753A}"/>
              </a:ext>
            </a:extLst>
          </p:cNvPr>
          <p:cNvSpPr>
            <a:spLocks noGrp="1"/>
          </p:cNvSpPr>
          <p:nvPr>
            <p:ph type="title"/>
          </p:nvPr>
        </p:nvSpPr>
        <p:spPr/>
        <p:txBody>
          <a:bodyPr/>
          <a:lstStyle/>
          <a:p>
            <a:r>
              <a:rPr lang="en-US" dirty="0"/>
              <a:t>RAM&amp;ROM</a:t>
            </a:r>
            <a:endParaRPr lang="x-none" dirty="0"/>
          </a:p>
        </p:txBody>
      </p:sp>
      <p:sp>
        <p:nvSpPr>
          <p:cNvPr id="3" name="Content Placeholder 2">
            <a:extLst>
              <a:ext uri="{FF2B5EF4-FFF2-40B4-BE49-F238E27FC236}">
                <a16:creationId xmlns:a16="http://schemas.microsoft.com/office/drawing/2014/main" xmlns="" id="{FF6AA3A2-0618-423F-9E6B-4EE0A6CB9B4C}"/>
              </a:ext>
            </a:extLst>
          </p:cNvPr>
          <p:cNvSpPr>
            <a:spLocks noGrp="1"/>
          </p:cNvSpPr>
          <p:nvPr>
            <p:ph idx="1"/>
          </p:nvPr>
        </p:nvSpPr>
        <p:spPr/>
        <p:txBody>
          <a:bodyPr/>
          <a:lstStyle/>
          <a:p>
            <a:pPr lvl="1"/>
            <a:r>
              <a:rPr lang="en-US" altLang="en-US" dirty="0"/>
              <a:t>Stores data or programs</a:t>
            </a:r>
          </a:p>
          <a:p>
            <a:pPr lvl="1"/>
            <a:r>
              <a:rPr lang="en-US" altLang="en-US" dirty="0"/>
              <a:t>Random Access Memory (RAM)</a:t>
            </a:r>
          </a:p>
          <a:p>
            <a:pPr lvl="2"/>
            <a:r>
              <a:rPr lang="en-US" altLang="en-US" dirty="0"/>
              <a:t>Volatile</a:t>
            </a:r>
          </a:p>
          <a:p>
            <a:pPr lvl="2"/>
            <a:r>
              <a:rPr lang="en-US" altLang="en-US" dirty="0"/>
              <a:t>Stores current data and programs</a:t>
            </a:r>
          </a:p>
          <a:p>
            <a:pPr lvl="2"/>
            <a:r>
              <a:rPr lang="en-US" altLang="en-US" dirty="0"/>
              <a:t>More RAM results in a faster system </a:t>
            </a:r>
          </a:p>
          <a:p>
            <a:pPr lvl="2"/>
            <a:r>
              <a:rPr lang="en-US" altLang="en-US" dirty="0"/>
              <a:t>2 to 8 GB</a:t>
            </a:r>
          </a:p>
          <a:p>
            <a:pPr lvl="1"/>
            <a:r>
              <a:rPr lang="en-US" altLang="en-US" dirty="0"/>
              <a:t>Read Only Memory (ROM)</a:t>
            </a:r>
          </a:p>
          <a:p>
            <a:pPr lvl="2"/>
            <a:r>
              <a:rPr lang="en-US" altLang="en-US" dirty="0"/>
              <a:t>Permanent storage of programs</a:t>
            </a:r>
          </a:p>
          <a:p>
            <a:pPr lvl="2"/>
            <a:r>
              <a:rPr lang="en-US" altLang="en-US" dirty="0"/>
              <a:t>Holds the computer boot directions</a:t>
            </a:r>
          </a:p>
          <a:p>
            <a:pPr lvl="2"/>
            <a:endParaRPr lang="en-US" altLang="en-US" dirty="0"/>
          </a:p>
          <a:p>
            <a:endParaRPr lang="x-none" dirty="0"/>
          </a:p>
        </p:txBody>
      </p:sp>
    </p:spTree>
    <p:extLst>
      <p:ext uri="{BB962C8B-B14F-4D97-AF65-F5344CB8AC3E}">
        <p14:creationId xmlns:p14="http://schemas.microsoft.com/office/powerpoint/2010/main" val="24102443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15DD54E4-7D3E-426E-955A-2364194D25FD}"/>
              </a:ext>
            </a:extLst>
          </p:cNvPr>
          <p:cNvPicPr>
            <a:picLocks noChangeAspect="1"/>
          </p:cNvPicPr>
          <p:nvPr/>
        </p:nvPicPr>
        <p:blipFill>
          <a:blip r:embed="rId3"/>
          <a:stretch>
            <a:fillRect/>
          </a:stretch>
        </p:blipFill>
        <p:spPr>
          <a:xfrm>
            <a:off x="8725580" y="929321"/>
            <a:ext cx="3118077" cy="2911068"/>
          </a:xfrm>
          <a:prstGeom prst="rect">
            <a:avLst/>
          </a:prstGeom>
        </p:spPr>
      </p:pic>
      <p:sp>
        <p:nvSpPr>
          <p:cNvPr id="2" name="Title 1">
            <a:extLst>
              <a:ext uri="{FF2B5EF4-FFF2-40B4-BE49-F238E27FC236}">
                <a16:creationId xmlns:a16="http://schemas.microsoft.com/office/drawing/2014/main" xmlns="" id="{9F857ACB-653C-4EB5-819D-1655C14631E4}"/>
              </a:ext>
            </a:extLst>
          </p:cNvPr>
          <p:cNvSpPr>
            <a:spLocks noGrp="1"/>
          </p:cNvSpPr>
          <p:nvPr>
            <p:ph type="title"/>
          </p:nvPr>
        </p:nvSpPr>
        <p:spPr/>
        <p:txBody>
          <a:bodyPr/>
          <a:lstStyle/>
          <a:p>
            <a:r>
              <a:rPr lang="en-US" altLang="en-US" dirty="0"/>
              <a:t>Storage devices</a:t>
            </a:r>
            <a:endParaRPr lang="x-none" dirty="0"/>
          </a:p>
        </p:txBody>
      </p:sp>
      <p:sp>
        <p:nvSpPr>
          <p:cNvPr id="3" name="Content Placeholder 2">
            <a:extLst>
              <a:ext uri="{FF2B5EF4-FFF2-40B4-BE49-F238E27FC236}">
                <a16:creationId xmlns:a16="http://schemas.microsoft.com/office/drawing/2014/main" xmlns="" id="{E5951DCC-00B9-4B4D-84AB-D29816088176}"/>
              </a:ext>
            </a:extLst>
          </p:cNvPr>
          <p:cNvSpPr>
            <a:spLocks noGrp="1"/>
          </p:cNvSpPr>
          <p:nvPr>
            <p:ph idx="1"/>
          </p:nvPr>
        </p:nvSpPr>
        <p:spPr/>
        <p:txBody>
          <a:bodyPr/>
          <a:lstStyle/>
          <a:p>
            <a:pPr lvl="1"/>
            <a:r>
              <a:rPr lang="en-US" altLang="en-US" dirty="0"/>
              <a:t>Hold data and programs permanently</a:t>
            </a:r>
          </a:p>
          <a:p>
            <a:pPr lvl="1"/>
            <a:r>
              <a:rPr lang="en-US" altLang="en-US" dirty="0"/>
              <a:t>Different from RAM</a:t>
            </a:r>
          </a:p>
          <a:p>
            <a:pPr lvl="1"/>
            <a:r>
              <a:rPr lang="en-US" altLang="en-US" dirty="0"/>
              <a:t>Magnetic storage</a:t>
            </a:r>
          </a:p>
          <a:p>
            <a:pPr lvl="2"/>
            <a:r>
              <a:rPr lang="en-US" altLang="en-US" dirty="0"/>
              <a:t>Floppy and hard drive</a:t>
            </a:r>
          </a:p>
          <a:p>
            <a:pPr lvl="2"/>
            <a:r>
              <a:rPr lang="en-US" altLang="en-US" dirty="0"/>
              <a:t>Uses a magnet to access data</a:t>
            </a:r>
          </a:p>
          <a:p>
            <a:pPr lvl="1"/>
            <a:r>
              <a:rPr lang="en-US" altLang="en-US" dirty="0"/>
              <a:t>Optical storage</a:t>
            </a:r>
          </a:p>
          <a:p>
            <a:pPr lvl="2"/>
            <a:r>
              <a:rPr lang="en-US" altLang="en-US" dirty="0"/>
              <a:t>CD and DVD drives</a:t>
            </a:r>
          </a:p>
          <a:p>
            <a:pPr lvl="2"/>
            <a:r>
              <a:rPr lang="en-US" altLang="en-US" dirty="0"/>
              <a:t>Uses a laser to access data</a:t>
            </a:r>
          </a:p>
          <a:p>
            <a:endParaRPr lang="x-none" dirty="0"/>
          </a:p>
        </p:txBody>
      </p:sp>
      <p:pic>
        <p:nvPicPr>
          <p:cNvPr id="5" name="Picture 4">
            <a:extLst>
              <a:ext uri="{FF2B5EF4-FFF2-40B4-BE49-F238E27FC236}">
                <a16:creationId xmlns:a16="http://schemas.microsoft.com/office/drawing/2014/main" xmlns="" id="{C5BC8D7F-8BA0-471E-90FB-FF164B4A3798}"/>
              </a:ext>
            </a:extLst>
          </p:cNvPr>
          <p:cNvPicPr>
            <a:picLocks noChangeAspect="1"/>
          </p:cNvPicPr>
          <p:nvPr/>
        </p:nvPicPr>
        <p:blipFill>
          <a:blip r:embed="rId4"/>
          <a:stretch>
            <a:fillRect/>
          </a:stretch>
        </p:blipFill>
        <p:spPr>
          <a:xfrm>
            <a:off x="6096001" y="4002182"/>
            <a:ext cx="4438651" cy="2371725"/>
          </a:xfrm>
          <a:prstGeom prst="rect">
            <a:avLst/>
          </a:prstGeom>
        </p:spPr>
      </p:pic>
    </p:spTree>
    <p:extLst>
      <p:ext uri="{BB962C8B-B14F-4D97-AF65-F5344CB8AC3E}">
        <p14:creationId xmlns:p14="http://schemas.microsoft.com/office/powerpoint/2010/main" val="27963204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FFF238-70B2-4834-A340-688354E2666F}"/>
              </a:ext>
            </a:extLst>
          </p:cNvPr>
          <p:cNvSpPr>
            <a:spLocks noGrp="1"/>
          </p:cNvSpPr>
          <p:nvPr>
            <p:ph type="title"/>
          </p:nvPr>
        </p:nvSpPr>
        <p:spPr/>
        <p:txBody>
          <a:bodyPr/>
          <a:lstStyle/>
          <a:p>
            <a:r>
              <a:rPr lang="en-US" dirty="0"/>
              <a:t>I/O devices</a:t>
            </a:r>
            <a:endParaRPr lang="x-none" dirty="0"/>
          </a:p>
        </p:txBody>
      </p:sp>
      <p:sp>
        <p:nvSpPr>
          <p:cNvPr id="3" name="Content Placeholder 2">
            <a:extLst>
              <a:ext uri="{FF2B5EF4-FFF2-40B4-BE49-F238E27FC236}">
                <a16:creationId xmlns:a16="http://schemas.microsoft.com/office/drawing/2014/main" xmlns="" id="{2C3E9EA1-DFAB-40EF-8A48-6CA7DBACF50F}"/>
              </a:ext>
            </a:extLst>
          </p:cNvPr>
          <p:cNvSpPr>
            <a:spLocks noGrp="1"/>
          </p:cNvSpPr>
          <p:nvPr>
            <p:ph idx="1"/>
          </p:nvPr>
        </p:nvSpPr>
        <p:spPr>
          <a:xfrm>
            <a:off x="1045031" y="1825625"/>
            <a:ext cx="5894615" cy="4353106"/>
          </a:xfrm>
        </p:spPr>
        <p:txBody>
          <a:bodyPr>
            <a:normAutofit fontScale="85000" lnSpcReduction="20000"/>
          </a:bodyPr>
          <a:lstStyle/>
          <a:p>
            <a:pPr marL="0" indent="0">
              <a:buNone/>
            </a:pPr>
            <a:r>
              <a:rPr lang="en-US" altLang="en-US" sz="2400" dirty="0"/>
              <a:t>Allows the user to interact</a:t>
            </a:r>
          </a:p>
          <a:p>
            <a:pPr lvl="1"/>
            <a:r>
              <a:rPr lang="en-US" altLang="en-US" dirty="0"/>
              <a:t>Some devices are input and output</a:t>
            </a:r>
          </a:p>
          <a:p>
            <a:pPr lvl="2"/>
            <a:r>
              <a:rPr lang="en-US" altLang="en-US" sz="2400" dirty="0"/>
              <a:t>Touch screens</a:t>
            </a:r>
          </a:p>
          <a:p>
            <a:pPr marL="12700">
              <a:lnSpc>
                <a:spcPct val="100000"/>
              </a:lnSpc>
              <a:spcBef>
                <a:spcPts val="95"/>
              </a:spcBef>
            </a:pPr>
            <a:r>
              <a:rPr lang="en-US" sz="2400" b="1" spc="-5" dirty="0"/>
              <a:t>Input</a:t>
            </a:r>
            <a:r>
              <a:rPr lang="en-US" sz="2400" b="1" spc="-10" dirty="0"/>
              <a:t> </a:t>
            </a:r>
            <a:r>
              <a:rPr lang="en-US" sz="2400" b="1" spc="-5" dirty="0"/>
              <a:t>Devices</a:t>
            </a:r>
          </a:p>
          <a:p>
            <a:r>
              <a:rPr lang="en-US" sz="2400" dirty="0"/>
              <a:t>Any peripheral (piece </a:t>
            </a:r>
            <a:r>
              <a:rPr lang="en-US" sz="2400" spc="-5" dirty="0"/>
              <a:t>of </a:t>
            </a:r>
            <a:r>
              <a:rPr lang="en-US" sz="2400" dirty="0"/>
              <a:t>computer </a:t>
            </a:r>
            <a:r>
              <a:rPr lang="en-US" sz="2400" spc="-5" dirty="0"/>
              <a:t>hardware  equipment) used </a:t>
            </a:r>
            <a:r>
              <a:rPr lang="en-US" sz="2400" dirty="0"/>
              <a:t>to </a:t>
            </a:r>
            <a:r>
              <a:rPr lang="en-US" sz="2400" spc="-5" dirty="0"/>
              <a:t>provide data and control signals  </a:t>
            </a:r>
            <a:r>
              <a:rPr lang="en-US" sz="2400" dirty="0"/>
              <a:t>to </a:t>
            </a:r>
            <a:r>
              <a:rPr lang="en-US" sz="2400" spc="-5" dirty="0"/>
              <a:t>a</a:t>
            </a:r>
            <a:r>
              <a:rPr lang="en-US" sz="2400" spc="-30" dirty="0"/>
              <a:t> </a:t>
            </a:r>
            <a:r>
              <a:rPr lang="en-US" sz="2400" spc="-5" dirty="0"/>
              <a:t>computer.</a:t>
            </a:r>
            <a:endParaRPr lang="en-US" sz="2400" dirty="0"/>
          </a:p>
          <a:p>
            <a:r>
              <a:rPr lang="en-US" sz="2400" spc="-5" dirty="0"/>
              <a:t>Allows </a:t>
            </a:r>
            <a:r>
              <a:rPr lang="en-US" sz="2400" dirty="0"/>
              <a:t>the user to </a:t>
            </a:r>
            <a:r>
              <a:rPr lang="en-US" sz="2400" spc="-5" dirty="0"/>
              <a:t>put </a:t>
            </a:r>
            <a:r>
              <a:rPr lang="en-US" sz="2400" dirty="0"/>
              <a:t>data into the</a:t>
            </a:r>
            <a:r>
              <a:rPr lang="en-US" sz="2400" spc="-55" dirty="0"/>
              <a:t> </a:t>
            </a:r>
            <a:r>
              <a:rPr lang="en-US" sz="2400" dirty="0"/>
              <a:t>computer.</a:t>
            </a:r>
            <a:endParaRPr lang="en-US" sz="2400" spc="-5" dirty="0"/>
          </a:p>
          <a:p>
            <a:pPr marL="12700">
              <a:lnSpc>
                <a:spcPct val="100000"/>
              </a:lnSpc>
              <a:spcBef>
                <a:spcPts val="95"/>
              </a:spcBef>
            </a:pPr>
            <a:r>
              <a:rPr lang="en-US" sz="2400" b="1" spc="-5" dirty="0"/>
              <a:t>Output</a:t>
            </a:r>
            <a:r>
              <a:rPr lang="en-US" sz="2400" b="1" spc="5" dirty="0"/>
              <a:t> </a:t>
            </a:r>
            <a:r>
              <a:rPr lang="en-US" sz="2400" b="1" spc="-5" dirty="0"/>
              <a:t>Devices</a:t>
            </a:r>
          </a:p>
          <a:p>
            <a:pPr marL="12700">
              <a:lnSpc>
                <a:spcPct val="100000"/>
              </a:lnSpc>
              <a:spcBef>
                <a:spcPts val="95"/>
              </a:spcBef>
            </a:pPr>
            <a:r>
              <a:rPr lang="en-US" sz="2400" dirty="0"/>
              <a:t>Any</a:t>
            </a:r>
            <a:r>
              <a:rPr lang="en-US" sz="2400" spc="185" dirty="0"/>
              <a:t> </a:t>
            </a:r>
            <a:r>
              <a:rPr lang="en-US" sz="2400" dirty="0"/>
              <a:t>peripheral</a:t>
            </a:r>
            <a:r>
              <a:rPr lang="en-US" sz="2400" spc="185" dirty="0"/>
              <a:t> </a:t>
            </a:r>
            <a:r>
              <a:rPr lang="en-US" sz="2400" dirty="0"/>
              <a:t>that</a:t>
            </a:r>
            <a:r>
              <a:rPr lang="en-US" sz="2400" spc="200" dirty="0"/>
              <a:t> </a:t>
            </a:r>
            <a:r>
              <a:rPr lang="en-US" altLang="en-US" sz="2400" dirty="0"/>
              <a:t>deliver data</a:t>
            </a:r>
          </a:p>
          <a:p>
            <a:pPr marL="12700">
              <a:lnSpc>
                <a:spcPct val="100000"/>
              </a:lnSpc>
              <a:spcBef>
                <a:spcPts val="95"/>
              </a:spcBef>
            </a:pPr>
            <a:r>
              <a:rPr lang="en-US" sz="2400" dirty="0"/>
              <a:t>Computer hardware </a:t>
            </a:r>
            <a:r>
              <a:rPr lang="en-US" sz="2400" spc="-5" dirty="0"/>
              <a:t>equipment used </a:t>
            </a:r>
            <a:r>
              <a:rPr lang="en-US" sz="2400" dirty="0"/>
              <a:t>to  communicate the </a:t>
            </a:r>
            <a:r>
              <a:rPr lang="en-US" sz="2400" spc="-5" dirty="0"/>
              <a:t>results of data </a:t>
            </a:r>
            <a:r>
              <a:rPr lang="en-US" sz="2400" dirty="0"/>
              <a:t>processing carried  </a:t>
            </a:r>
            <a:r>
              <a:rPr lang="en-US" sz="2400" spc="-5" dirty="0"/>
              <a:t>out by a computer </a:t>
            </a:r>
            <a:r>
              <a:rPr lang="en-US" sz="2400" dirty="0"/>
              <a:t>to the </a:t>
            </a:r>
            <a:r>
              <a:rPr lang="en-US" sz="2400" spc="-5" dirty="0"/>
              <a:t>outside</a:t>
            </a:r>
            <a:r>
              <a:rPr lang="en-US" sz="2400" spc="-10" dirty="0"/>
              <a:t> </a:t>
            </a:r>
            <a:r>
              <a:rPr lang="en-US" sz="2400" spc="-5" dirty="0"/>
              <a:t>world.</a:t>
            </a:r>
            <a:endParaRPr lang="en-US" sz="2400" dirty="0"/>
          </a:p>
          <a:p>
            <a:pPr marL="12700" marR="5080" indent="0" algn="just">
              <a:lnSpc>
                <a:spcPct val="100000"/>
              </a:lnSpc>
              <a:spcBef>
                <a:spcPts val="570"/>
              </a:spcBef>
              <a:buNone/>
              <a:tabLst>
                <a:tab pos="470534" algn="l"/>
              </a:tabLst>
            </a:pPr>
            <a:endParaRPr lang="en-US" sz="2400" dirty="0"/>
          </a:p>
          <a:p>
            <a:pPr lvl="2"/>
            <a:endParaRPr lang="en-US" altLang="en-US" sz="2400" dirty="0"/>
          </a:p>
          <a:p>
            <a:endParaRPr lang="x-none" sz="2400" dirty="0"/>
          </a:p>
        </p:txBody>
      </p:sp>
      <p:pic>
        <p:nvPicPr>
          <p:cNvPr id="4" name="Picture 3">
            <a:extLst>
              <a:ext uri="{FF2B5EF4-FFF2-40B4-BE49-F238E27FC236}">
                <a16:creationId xmlns:a16="http://schemas.microsoft.com/office/drawing/2014/main" xmlns="" id="{6179C382-278D-4155-BAB4-C55E72FD1E2E}"/>
              </a:ext>
            </a:extLst>
          </p:cNvPr>
          <p:cNvPicPr>
            <a:picLocks noChangeAspect="1"/>
          </p:cNvPicPr>
          <p:nvPr/>
        </p:nvPicPr>
        <p:blipFill>
          <a:blip r:embed="rId3"/>
          <a:stretch>
            <a:fillRect/>
          </a:stretch>
        </p:blipFill>
        <p:spPr>
          <a:xfrm>
            <a:off x="7086600" y="1938156"/>
            <a:ext cx="4755709" cy="2981688"/>
          </a:xfrm>
          <a:prstGeom prst="rect">
            <a:avLst/>
          </a:prstGeom>
        </p:spPr>
      </p:pic>
    </p:spTree>
    <p:extLst>
      <p:ext uri="{BB962C8B-B14F-4D97-AF65-F5344CB8AC3E}">
        <p14:creationId xmlns:p14="http://schemas.microsoft.com/office/powerpoint/2010/main" val="1585632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22CC66-5174-4186-851A-0DA661CB9DBA}"/>
              </a:ext>
            </a:extLst>
          </p:cNvPr>
          <p:cNvSpPr>
            <a:spLocks noGrp="1"/>
          </p:cNvSpPr>
          <p:nvPr>
            <p:ph type="title"/>
          </p:nvPr>
        </p:nvSpPr>
        <p:spPr/>
        <p:txBody>
          <a:bodyPr/>
          <a:lstStyle/>
          <a:p>
            <a:r>
              <a:rPr lang="en-US" dirty="0"/>
              <a:t>Software</a:t>
            </a:r>
            <a:endParaRPr lang="x-none" dirty="0"/>
          </a:p>
        </p:txBody>
      </p:sp>
    </p:spTree>
    <p:extLst>
      <p:ext uri="{BB962C8B-B14F-4D97-AF65-F5344CB8AC3E}">
        <p14:creationId xmlns:p14="http://schemas.microsoft.com/office/powerpoint/2010/main" val="599789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BBA2B-39A3-451A-8B9C-B6419F0E4AC9}"/>
              </a:ext>
            </a:extLst>
          </p:cNvPr>
          <p:cNvSpPr>
            <a:spLocks noGrp="1"/>
          </p:cNvSpPr>
          <p:nvPr>
            <p:ph type="title"/>
          </p:nvPr>
        </p:nvSpPr>
        <p:spPr>
          <a:xfrm>
            <a:off x="1110344" y="410752"/>
            <a:ext cx="10308771" cy="1325563"/>
          </a:xfrm>
        </p:spPr>
        <p:txBody>
          <a:bodyPr/>
          <a:lstStyle/>
          <a:p>
            <a:r>
              <a:rPr lang="en-US" dirty="0"/>
              <a:t>Software</a:t>
            </a:r>
            <a:endParaRPr lang="x-none" dirty="0"/>
          </a:p>
        </p:txBody>
      </p:sp>
      <p:sp>
        <p:nvSpPr>
          <p:cNvPr id="3" name="Content Placeholder 2">
            <a:extLst>
              <a:ext uri="{FF2B5EF4-FFF2-40B4-BE49-F238E27FC236}">
                <a16:creationId xmlns:a16="http://schemas.microsoft.com/office/drawing/2014/main" xmlns="" id="{41505214-DDCE-43C2-B2BE-EE9DF963AA05}"/>
              </a:ext>
            </a:extLst>
          </p:cNvPr>
          <p:cNvSpPr>
            <a:spLocks noGrp="1"/>
          </p:cNvSpPr>
          <p:nvPr>
            <p:ph idx="1"/>
          </p:nvPr>
        </p:nvSpPr>
        <p:spPr>
          <a:xfrm>
            <a:off x="772889" y="1702046"/>
            <a:ext cx="10308771" cy="4353106"/>
          </a:xfrm>
        </p:spPr>
        <p:txBody>
          <a:bodyPr>
            <a:normAutofit fontScale="55000" lnSpcReduction="20000"/>
          </a:bodyPr>
          <a:lstStyle/>
          <a:p>
            <a:r>
              <a:rPr lang="en-US" altLang="en-US" sz="2900" dirty="0"/>
              <a:t>Tells the computer what to do</a:t>
            </a:r>
          </a:p>
          <a:p>
            <a:r>
              <a:rPr lang="en-US" altLang="en-US" sz="2900" dirty="0"/>
              <a:t>Reason people purchase computers</a:t>
            </a:r>
          </a:p>
          <a:p>
            <a:r>
              <a:rPr lang="en-US" altLang="en-US" sz="2900" dirty="0"/>
              <a:t>Two types</a:t>
            </a:r>
          </a:p>
          <a:p>
            <a:pPr lvl="1"/>
            <a:r>
              <a:rPr lang="en-US" altLang="en-US" sz="2500" dirty="0"/>
              <a:t>System software</a:t>
            </a:r>
          </a:p>
          <a:p>
            <a:pPr lvl="1"/>
            <a:r>
              <a:rPr lang="en-US" altLang="en-US" sz="2500" dirty="0"/>
              <a:t>Application software</a:t>
            </a:r>
          </a:p>
          <a:p>
            <a:r>
              <a:rPr lang="en-US" altLang="en-US" sz="2900" dirty="0"/>
              <a:t>System software</a:t>
            </a:r>
          </a:p>
          <a:p>
            <a:pPr lvl="1"/>
            <a:r>
              <a:rPr lang="en-US" altLang="en-US" sz="2500" dirty="0"/>
              <a:t>Most important software</a:t>
            </a:r>
          </a:p>
          <a:p>
            <a:pPr lvl="1"/>
            <a:r>
              <a:rPr lang="en-US" altLang="en-US" sz="2500" dirty="0"/>
              <a:t>Operating system</a:t>
            </a:r>
          </a:p>
          <a:p>
            <a:pPr lvl="2"/>
            <a:r>
              <a:rPr lang="en-US" altLang="en-US" sz="2200" dirty="0"/>
              <a:t>Windows XP</a:t>
            </a:r>
          </a:p>
          <a:p>
            <a:pPr lvl="1"/>
            <a:r>
              <a:rPr lang="en-US" altLang="en-US" sz="2500" dirty="0"/>
              <a:t>Network operating system (OS)</a:t>
            </a:r>
          </a:p>
          <a:p>
            <a:pPr lvl="2"/>
            <a:r>
              <a:rPr lang="en-US" altLang="en-US" sz="2200" dirty="0"/>
              <a:t>Windows Server 2003</a:t>
            </a:r>
          </a:p>
          <a:p>
            <a:pPr lvl="1"/>
            <a:r>
              <a:rPr lang="en-US" altLang="en-US" sz="2500" dirty="0"/>
              <a:t>Utility</a:t>
            </a:r>
          </a:p>
          <a:p>
            <a:pPr lvl="2"/>
            <a:r>
              <a:rPr lang="en-US" altLang="en-US" sz="2200" dirty="0"/>
              <a:t>Symantec Antivirus</a:t>
            </a:r>
          </a:p>
          <a:p>
            <a:r>
              <a:rPr lang="en-US" altLang="en-US" sz="2900" dirty="0"/>
              <a:t>Application software</a:t>
            </a:r>
          </a:p>
          <a:p>
            <a:pPr lvl="1"/>
            <a:r>
              <a:rPr lang="en-US" altLang="en-US" sz="2500" dirty="0"/>
              <a:t>Accomplishes a specific task</a:t>
            </a:r>
          </a:p>
          <a:p>
            <a:pPr lvl="1"/>
            <a:r>
              <a:rPr lang="en-US" altLang="en-US" sz="2500" dirty="0"/>
              <a:t>Most common type of software</a:t>
            </a:r>
          </a:p>
          <a:p>
            <a:pPr lvl="2"/>
            <a:r>
              <a:rPr lang="en-US" altLang="en-US" sz="2200" dirty="0"/>
              <a:t>MS Word</a:t>
            </a:r>
          </a:p>
          <a:p>
            <a:pPr lvl="1"/>
            <a:r>
              <a:rPr lang="en-US" altLang="en-US" sz="2500" dirty="0"/>
              <a:t>Covers most common uses of computers</a:t>
            </a:r>
          </a:p>
          <a:p>
            <a:pPr lvl="2"/>
            <a:endParaRPr lang="en-US" altLang="en-US" sz="2200" dirty="0"/>
          </a:p>
          <a:p>
            <a:pPr lvl="1"/>
            <a:endParaRPr lang="en-US" altLang="en-US" dirty="0"/>
          </a:p>
          <a:p>
            <a:endParaRPr lang="x-none" dirty="0"/>
          </a:p>
        </p:txBody>
      </p:sp>
      <p:sp>
        <p:nvSpPr>
          <p:cNvPr id="4" name="Straight Connector 3">
            <a:extLst>
              <a:ext uri="{FF2B5EF4-FFF2-40B4-BE49-F238E27FC236}">
                <a16:creationId xmlns:a16="http://schemas.microsoft.com/office/drawing/2014/main" xmlns="" id="{08CBD6DF-A066-48E7-A564-1C8943FA45A9}"/>
              </a:ext>
            </a:extLst>
          </p:cNvPr>
          <p:cNvSpPr/>
          <p:nvPr/>
        </p:nvSpPr>
        <p:spPr>
          <a:xfrm>
            <a:off x="9248866" y="3074889"/>
            <a:ext cx="371017" cy="1483892"/>
          </a:xfrm>
          <a:custGeom>
            <a:avLst/>
            <a:gdLst/>
            <a:ahLst/>
            <a:cxnLst/>
            <a:rect l="0" t="0" r="0" b="0"/>
            <a:pathLst>
              <a:path>
                <a:moveTo>
                  <a:pt x="0" y="0"/>
                </a:moveTo>
                <a:lnTo>
                  <a:pt x="0" y="1483892"/>
                </a:lnTo>
                <a:lnTo>
                  <a:pt x="371017" y="1483892"/>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5" name="Straight Connector 4">
            <a:extLst>
              <a:ext uri="{FF2B5EF4-FFF2-40B4-BE49-F238E27FC236}">
                <a16:creationId xmlns:a16="http://schemas.microsoft.com/office/drawing/2014/main" xmlns="" id="{789F5489-3F17-404B-9DCA-14E448965304}"/>
              </a:ext>
            </a:extLst>
          </p:cNvPr>
          <p:cNvSpPr/>
          <p:nvPr/>
        </p:nvSpPr>
        <p:spPr>
          <a:xfrm>
            <a:off x="9248864" y="3074893"/>
            <a:ext cx="335928" cy="516661"/>
          </a:xfrm>
          <a:custGeom>
            <a:avLst/>
            <a:gdLst/>
            <a:ahLst/>
            <a:cxnLst/>
            <a:rect l="0" t="0" r="0" b="0"/>
            <a:pathLst>
              <a:path>
                <a:moveTo>
                  <a:pt x="0" y="0"/>
                </a:moveTo>
                <a:lnTo>
                  <a:pt x="0" y="516661"/>
                </a:lnTo>
                <a:lnTo>
                  <a:pt x="335928" y="516661"/>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6" name="Straight Connector 5">
            <a:extLst>
              <a:ext uri="{FF2B5EF4-FFF2-40B4-BE49-F238E27FC236}">
                <a16:creationId xmlns:a16="http://schemas.microsoft.com/office/drawing/2014/main" xmlns="" id="{83375CC9-CC82-47EC-95EE-2F8B69C50872}"/>
              </a:ext>
            </a:extLst>
          </p:cNvPr>
          <p:cNvSpPr/>
          <p:nvPr/>
        </p:nvSpPr>
        <p:spPr>
          <a:xfrm>
            <a:off x="8323587" y="2236462"/>
            <a:ext cx="1384556" cy="264326"/>
          </a:xfrm>
          <a:custGeom>
            <a:avLst/>
            <a:gdLst/>
            <a:ahLst/>
            <a:cxnLst/>
            <a:rect l="0" t="0" r="0" b="0"/>
            <a:pathLst>
              <a:path>
                <a:moveTo>
                  <a:pt x="0" y="0"/>
                </a:moveTo>
                <a:lnTo>
                  <a:pt x="0" y="143766"/>
                </a:lnTo>
                <a:lnTo>
                  <a:pt x="1384556" y="143766"/>
                </a:lnTo>
                <a:lnTo>
                  <a:pt x="1384556" y="264326"/>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7" name="Straight Connector 6">
            <a:extLst>
              <a:ext uri="{FF2B5EF4-FFF2-40B4-BE49-F238E27FC236}">
                <a16:creationId xmlns:a16="http://schemas.microsoft.com/office/drawing/2014/main" xmlns="" id="{B413A7B1-A840-4B8B-967D-C713C62B5A3F}"/>
              </a:ext>
            </a:extLst>
          </p:cNvPr>
          <p:cNvSpPr/>
          <p:nvPr/>
        </p:nvSpPr>
        <p:spPr>
          <a:xfrm>
            <a:off x="6210822" y="3074889"/>
            <a:ext cx="183919" cy="2041866"/>
          </a:xfrm>
          <a:custGeom>
            <a:avLst/>
            <a:gdLst/>
            <a:ahLst/>
            <a:cxnLst/>
            <a:rect l="0" t="0" r="0" b="0"/>
            <a:pathLst>
              <a:path>
                <a:moveTo>
                  <a:pt x="0" y="0"/>
                </a:moveTo>
                <a:lnTo>
                  <a:pt x="0" y="2041866"/>
                </a:lnTo>
                <a:lnTo>
                  <a:pt x="183918" y="2041866"/>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8" name="Straight Connector 7">
            <a:extLst>
              <a:ext uri="{FF2B5EF4-FFF2-40B4-BE49-F238E27FC236}">
                <a16:creationId xmlns:a16="http://schemas.microsoft.com/office/drawing/2014/main" xmlns="" id="{200B6E60-E7D1-42EB-856F-FE45C32B2A5A}"/>
              </a:ext>
            </a:extLst>
          </p:cNvPr>
          <p:cNvSpPr/>
          <p:nvPr/>
        </p:nvSpPr>
        <p:spPr>
          <a:xfrm>
            <a:off x="6210821" y="3074889"/>
            <a:ext cx="183931" cy="1285110"/>
          </a:xfrm>
          <a:custGeom>
            <a:avLst/>
            <a:gdLst/>
            <a:ahLst/>
            <a:cxnLst/>
            <a:rect l="0" t="0" r="0" b="0"/>
            <a:pathLst>
              <a:path>
                <a:moveTo>
                  <a:pt x="0" y="0"/>
                </a:moveTo>
                <a:lnTo>
                  <a:pt x="0" y="1285110"/>
                </a:lnTo>
                <a:lnTo>
                  <a:pt x="183930" y="1285110"/>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9" name="Straight Connector 8">
            <a:extLst>
              <a:ext uri="{FF2B5EF4-FFF2-40B4-BE49-F238E27FC236}">
                <a16:creationId xmlns:a16="http://schemas.microsoft.com/office/drawing/2014/main" xmlns="" id="{7D119F25-F39D-4217-9E96-946ADB1A15A0}"/>
              </a:ext>
            </a:extLst>
          </p:cNvPr>
          <p:cNvSpPr/>
          <p:nvPr/>
        </p:nvSpPr>
        <p:spPr>
          <a:xfrm>
            <a:off x="6210822" y="3074893"/>
            <a:ext cx="148841" cy="481583"/>
          </a:xfrm>
          <a:custGeom>
            <a:avLst/>
            <a:gdLst/>
            <a:ahLst/>
            <a:cxnLst/>
            <a:rect l="0" t="0" r="0" b="0"/>
            <a:pathLst>
              <a:path>
                <a:moveTo>
                  <a:pt x="0" y="0"/>
                </a:moveTo>
                <a:lnTo>
                  <a:pt x="0" y="481583"/>
                </a:lnTo>
                <a:lnTo>
                  <a:pt x="148841" y="481583"/>
                </a:lnTo>
              </a:path>
            </a:pathLst>
          </a:custGeom>
          <a:noFill/>
        </p:spPr>
        <p:style>
          <a:lnRef idx="2">
            <a:schemeClr val="accent2">
              <a:shade val="8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10" name="Straight Connector 9">
            <a:extLst>
              <a:ext uri="{FF2B5EF4-FFF2-40B4-BE49-F238E27FC236}">
                <a16:creationId xmlns:a16="http://schemas.microsoft.com/office/drawing/2014/main" xmlns="" id="{A0AC5860-B0DE-485F-9A33-3D7A2C4C10E3}"/>
              </a:ext>
            </a:extLst>
          </p:cNvPr>
          <p:cNvSpPr/>
          <p:nvPr/>
        </p:nvSpPr>
        <p:spPr>
          <a:xfrm>
            <a:off x="6670102" y="2236462"/>
            <a:ext cx="1653487" cy="264326"/>
          </a:xfrm>
          <a:custGeom>
            <a:avLst/>
            <a:gdLst/>
            <a:ahLst/>
            <a:cxnLst/>
            <a:rect l="0" t="0" r="0" b="0"/>
            <a:pathLst>
              <a:path>
                <a:moveTo>
                  <a:pt x="1653487" y="0"/>
                </a:moveTo>
                <a:lnTo>
                  <a:pt x="1653487" y="143766"/>
                </a:lnTo>
                <a:lnTo>
                  <a:pt x="0" y="143766"/>
                </a:lnTo>
                <a:lnTo>
                  <a:pt x="0" y="264326"/>
                </a:lnTo>
              </a:path>
            </a:pathLst>
          </a:custGeom>
          <a:noFill/>
        </p:spPr>
        <p:style>
          <a:lnRef idx="2">
            <a:schemeClr val="accent2">
              <a:shade val="60000"/>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grpSp>
        <p:nvGrpSpPr>
          <p:cNvPr id="11" name="Group 10">
            <a:extLst>
              <a:ext uri="{FF2B5EF4-FFF2-40B4-BE49-F238E27FC236}">
                <a16:creationId xmlns:a16="http://schemas.microsoft.com/office/drawing/2014/main" xmlns="" id="{12D53E86-B9C8-48B5-B5B4-85DFA644DBFC}"/>
              </a:ext>
            </a:extLst>
          </p:cNvPr>
          <p:cNvGrpSpPr/>
          <p:nvPr/>
        </p:nvGrpSpPr>
        <p:grpSpPr>
          <a:xfrm>
            <a:off x="7749490" y="1662363"/>
            <a:ext cx="1148199" cy="574099"/>
            <a:chOff x="3921610" y="2214"/>
            <a:chExt cx="1148199" cy="574099"/>
          </a:xfrm>
        </p:grpSpPr>
        <p:sp>
          <p:nvSpPr>
            <p:cNvPr id="33" name="Rectangle 32">
              <a:extLst>
                <a:ext uri="{FF2B5EF4-FFF2-40B4-BE49-F238E27FC236}">
                  <a16:creationId xmlns:a16="http://schemas.microsoft.com/office/drawing/2014/main" xmlns="" id="{AC4CAE48-47DF-4F61-8CF1-28401B5161A7}"/>
                </a:ext>
              </a:extLst>
            </p:cNvPr>
            <p:cNvSpPr/>
            <p:nvPr/>
          </p:nvSpPr>
          <p:spPr>
            <a:xfrm>
              <a:off x="3921610" y="2214"/>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4" name="TextBox 33">
              <a:extLst>
                <a:ext uri="{FF2B5EF4-FFF2-40B4-BE49-F238E27FC236}">
                  <a16:creationId xmlns:a16="http://schemas.microsoft.com/office/drawing/2014/main" xmlns="" id="{A4C3857C-6410-4346-ADD3-D768D9EF3F8C}"/>
                </a:ext>
              </a:extLst>
            </p:cNvPr>
            <p:cNvSpPr txBox="1"/>
            <p:nvPr/>
          </p:nvSpPr>
          <p:spPr>
            <a:xfrm>
              <a:off x="3921610" y="2214"/>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Software</a:t>
              </a:r>
            </a:p>
          </p:txBody>
        </p:sp>
      </p:grpSp>
      <p:grpSp>
        <p:nvGrpSpPr>
          <p:cNvPr id="12" name="Group 11">
            <a:extLst>
              <a:ext uri="{FF2B5EF4-FFF2-40B4-BE49-F238E27FC236}">
                <a16:creationId xmlns:a16="http://schemas.microsoft.com/office/drawing/2014/main" xmlns="" id="{DDC50F02-228F-429A-9A15-CD993390B5B1}"/>
              </a:ext>
            </a:extLst>
          </p:cNvPr>
          <p:cNvGrpSpPr/>
          <p:nvPr/>
        </p:nvGrpSpPr>
        <p:grpSpPr>
          <a:xfrm>
            <a:off x="6096003" y="2500793"/>
            <a:ext cx="1148199" cy="574099"/>
            <a:chOff x="2268123" y="840641"/>
            <a:chExt cx="1148199" cy="574099"/>
          </a:xfrm>
        </p:grpSpPr>
        <p:sp>
          <p:nvSpPr>
            <p:cNvPr id="31" name="Rectangle 30">
              <a:extLst>
                <a:ext uri="{FF2B5EF4-FFF2-40B4-BE49-F238E27FC236}">
                  <a16:creationId xmlns:a16="http://schemas.microsoft.com/office/drawing/2014/main" xmlns="" id="{6564DC8E-5C54-4571-9B74-47F9A533E9A5}"/>
                </a:ext>
              </a:extLst>
            </p:cNvPr>
            <p:cNvSpPr/>
            <p:nvPr/>
          </p:nvSpPr>
          <p:spPr>
            <a:xfrm>
              <a:off x="2268123" y="840641"/>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2" name="TextBox 31">
              <a:extLst>
                <a:ext uri="{FF2B5EF4-FFF2-40B4-BE49-F238E27FC236}">
                  <a16:creationId xmlns:a16="http://schemas.microsoft.com/office/drawing/2014/main" xmlns="" id="{AC6C61BA-FE70-4C05-A96A-8E4441775D37}"/>
                </a:ext>
              </a:extLst>
            </p:cNvPr>
            <p:cNvSpPr txBox="1"/>
            <p:nvPr/>
          </p:nvSpPr>
          <p:spPr>
            <a:xfrm>
              <a:off x="2268123" y="840641"/>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System software</a:t>
              </a:r>
            </a:p>
          </p:txBody>
        </p:sp>
      </p:grpSp>
      <p:grpSp>
        <p:nvGrpSpPr>
          <p:cNvPr id="13" name="Group 12">
            <a:extLst>
              <a:ext uri="{FF2B5EF4-FFF2-40B4-BE49-F238E27FC236}">
                <a16:creationId xmlns:a16="http://schemas.microsoft.com/office/drawing/2014/main" xmlns="" id="{1595EFDC-850F-479C-93B0-CF94A3E40EB5}"/>
              </a:ext>
            </a:extLst>
          </p:cNvPr>
          <p:cNvGrpSpPr/>
          <p:nvPr/>
        </p:nvGrpSpPr>
        <p:grpSpPr>
          <a:xfrm>
            <a:off x="6359663" y="3269423"/>
            <a:ext cx="1148199" cy="574099"/>
            <a:chOff x="2531784" y="1609275"/>
            <a:chExt cx="1148199" cy="574099"/>
          </a:xfrm>
        </p:grpSpPr>
        <p:sp>
          <p:nvSpPr>
            <p:cNvPr id="29" name="Rectangle 28">
              <a:extLst>
                <a:ext uri="{FF2B5EF4-FFF2-40B4-BE49-F238E27FC236}">
                  <a16:creationId xmlns:a16="http://schemas.microsoft.com/office/drawing/2014/main" xmlns="" id="{4F7D1C47-4AE7-4AAC-8E9C-BCE012F46757}"/>
                </a:ext>
              </a:extLst>
            </p:cNvPr>
            <p:cNvSpPr/>
            <p:nvPr/>
          </p:nvSpPr>
          <p:spPr>
            <a:xfrm>
              <a:off x="2531784" y="1609275"/>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0" name="TextBox 29">
              <a:extLst>
                <a:ext uri="{FF2B5EF4-FFF2-40B4-BE49-F238E27FC236}">
                  <a16:creationId xmlns:a16="http://schemas.microsoft.com/office/drawing/2014/main" xmlns="" id="{4C769DC6-EA9D-4794-8CC5-BB9490A75E51}"/>
                </a:ext>
              </a:extLst>
            </p:cNvPr>
            <p:cNvSpPr txBox="1"/>
            <p:nvPr/>
          </p:nvSpPr>
          <p:spPr>
            <a:xfrm>
              <a:off x="2531784" y="1609275"/>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Operating system</a:t>
              </a:r>
            </a:p>
          </p:txBody>
        </p:sp>
      </p:grpSp>
      <p:grpSp>
        <p:nvGrpSpPr>
          <p:cNvPr id="14" name="Group 13">
            <a:extLst>
              <a:ext uri="{FF2B5EF4-FFF2-40B4-BE49-F238E27FC236}">
                <a16:creationId xmlns:a16="http://schemas.microsoft.com/office/drawing/2014/main" xmlns="" id="{27DEA45C-4A9E-4CC1-BCC8-32851242C705}"/>
              </a:ext>
            </a:extLst>
          </p:cNvPr>
          <p:cNvGrpSpPr/>
          <p:nvPr/>
        </p:nvGrpSpPr>
        <p:grpSpPr>
          <a:xfrm>
            <a:off x="6394753" y="4072954"/>
            <a:ext cx="1148199" cy="574099"/>
            <a:chOff x="2566873" y="2412802"/>
            <a:chExt cx="1148199" cy="574099"/>
          </a:xfrm>
        </p:grpSpPr>
        <p:sp>
          <p:nvSpPr>
            <p:cNvPr id="27" name="Rectangle 26">
              <a:extLst>
                <a:ext uri="{FF2B5EF4-FFF2-40B4-BE49-F238E27FC236}">
                  <a16:creationId xmlns:a16="http://schemas.microsoft.com/office/drawing/2014/main" xmlns="" id="{81F96E11-F27C-4A4B-9047-54760F00FC7E}"/>
                </a:ext>
              </a:extLst>
            </p:cNvPr>
            <p:cNvSpPr/>
            <p:nvPr/>
          </p:nvSpPr>
          <p:spPr>
            <a:xfrm>
              <a:off x="2566873" y="2412802"/>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8" name="TextBox 27">
              <a:extLst>
                <a:ext uri="{FF2B5EF4-FFF2-40B4-BE49-F238E27FC236}">
                  <a16:creationId xmlns:a16="http://schemas.microsoft.com/office/drawing/2014/main" xmlns="" id="{42B36879-92CB-402C-A22C-D08434E05AE8}"/>
                </a:ext>
              </a:extLst>
            </p:cNvPr>
            <p:cNvSpPr txBox="1"/>
            <p:nvPr/>
          </p:nvSpPr>
          <p:spPr>
            <a:xfrm>
              <a:off x="2566873" y="2412802"/>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Utility software</a:t>
              </a:r>
            </a:p>
          </p:txBody>
        </p:sp>
      </p:grpSp>
      <p:grpSp>
        <p:nvGrpSpPr>
          <p:cNvPr id="15" name="Group 14">
            <a:extLst>
              <a:ext uri="{FF2B5EF4-FFF2-40B4-BE49-F238E27FC236}">
                <a16:creationId xmlns:a16="http://schemas.microsoft.com/office/drawing/2014/main" xmlns="" id="{477D0E36-8490-4C28-8833-7B8FF8683C68}"/>
              </a:ext>
            </a:extLst>
          </p:cNvPr>
          <p:cNvGrpSpPr/>
          <p:nvPr/>
        </p:nvGrpSpPr>
        <p:grpSpPr>
          <a:xfrm>
            <a:off x="6394740" y="4829709"/>
            <a:ext cx="1148199" cy="574099"/>
            <a:chOff x="2566861" y="3169557"/>
            <a:chExt cx="1148199" cy="574099"/>
          </a:xfrm>
        </p:grpSpPr>
        <p:sp>
          <p:nvSpPr>
            <p:cNvPr id="25" name="Rectangle 24">
              <a:extLst>
                <a:ext uri="{FF2B5EF4-FFF2-40B4-BE49-F238E27FC236}">
                  <a16:creationId xmlns:a16="http://schemas.microsoft.com/office/drawing/2014/main" xmlns="" id="{45848D53-4949-40FF-AC72-75B4E706C9EB}"/>
                </a:ext>
              </a:extLst>
            </p:cNvPr>
            <p:cNvSpPr/>
            <p:nvPr/>
          </p:nvSpPr>
          <p:spPr>
            <a:xfrm>
              <a:off x="2566861" y="3169557"/>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6" name="TextBox 25">
              <a:extLst>
                <a:ext uri="{FF2B5EF4-FFF2-40B4-BE49-F238E27FC236}">
                  <a16:creationId xmlns:a16="http://schemas.microsoft.com/office/drawing/2014/main" xmlns="" id="{6DD069AD-6EF8-4CA1-8CA5-E767F3F2578E}"/>
                </a:ext>
              </a:extLst>
            </p:cNvPr>
            <p:cNvSpPr txBox="1"/>
            <p:nvPr/>
          </p:nvSpPr>
          <p:spPr>
            <a:xfrm>
              <a:off x="2566861" y="3169557"/>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Device drivers</a:t>
              </a:r>
            </a:p>
          </p:txBody>
        </p:sp>
      </p:grpSp>
      <p:grpSp>
        <p:nvGrpSpPr>
          <p:cNvPr id="16" name="Group 15">
            <a:extLst>
              <a:ext uri="{FF2B5EF4-FFF2-40B4-BE49-F238E27FC236}">
                <a16:creationId xmlns:a16="http://schemas.microsoft.com/office/drawing/2014/main" xmlns="" id="{49B5629F-4A14-4707-AAD2-8D11A3208972}"/>
              </a:ext>
            </a:extLst>
          </p:cNvPr>
          <p:cNvGrpSpPr/>
          <p:nvPr/>
        </p:nvGrpSpPr>
        <p:grpSpPr>
          <a:xfrm>
            <a:off x="9134047" y="2500793"/>
            <a:ext cx="1148199" cy="574099"/>
            <a:chOff x="5306167" y="840641"/>
            <a:chExt cx="1148199" cy="574099"/>
          </a:xfrm>
        </p:grpSpPr>
        <p:sp>
          <p:nvSpPr>
            <p:cNvPr id="23" name="Rectangle 22">
              <a:extLst>
                <a:ext uri="{FF2B5EF4-FFF2-40B4-BE49-F238E27FC236}">
                  <a16:creationId xmlns:a16="http://schemas.microsoft.com/office/drawing/2014/main" xmlns="" id="{F662D0C6-4151-449C-9220-FB4E3B3793CB}"/>
                </a:ext>
              </a:extLst>
            </p:cNvPr>
            <p:cNvSpPr/>
            <p:nvPr/>
          </p:nvSpPr>
          <p:spPr>
            <a:xfrm>
              <a:off x="5306167" y="840641"/>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4" name="TextBox 23">
              <a:extLst>
                <a:ext uri="{FF2B5EF4-FFF2-40B4-BE49-F238E27FC236}">
                  <a16:creationId xmlns:a16="http://schemas.microsoft.com/office/drawing/2014/main" xmlns="" id="{6F45790B-4AA8-47CE-962F-9983E7B99F70}"/>
                </a:ext>
              </a:extLst>
            </p:cNvPr>
            <p:cNvSpPr txBox="1"/>
            <p:nvPr/>
          </p:nvSpPr>
          <p:spPr>
            <a:xfrm>
              <a:off x="5306167" y="840641"/>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600" kern="1200" dirty="0"/>
                <a:t>Application software</a:t>
              </a:r>
            </a:p>
          </p:txBody>
        </p:sp>
      </p:grpSp>
      <p:grpSp>
        <p:nvGrpSpPr>
          <p:cNvPr id="17" name="Group 16">
            <a:extLst>
              <a:ext uri="{FF2B5EF4-FFF2-40B4-BE49-F238E27FC236}">
                <a16:creationId xmlns:a16="http://schemas.microsoft.com/office/drawing/2014/main" xmlns="" id="{2FE267C0-E194-4473-987B-51EA29EBB277}"/>
              </a:ext>
            </a:extLst>
          </p:cNvPr>
          <p:cNvGrpSpPr/>
          <p:nvPr/>
        </p:nvGrpSpPr>
        <p:grpSpPr>
          <a:xfrm>
            <a:off x="9584795" y="3304501"/>
            <a:ext cx="1148199" cy="574099"/>
            <a:chOff x="5756915" y="1644352"/>
            <a:chExt cx="1148199" cy="574099"/>
          </a:xfrm>
        </p:grpSpPr>
        <p:sp>
          <p:nvSpPr>
            <p:cNvPr id="21" name="Rectangle 20">
              <a:extLst>
                <a:ext uri="{FF2B5EF4-FFF2-40B4-BE49-F238E27FC236}">
                  <a16:creationId xmlns:a16="http://schemas.microsoft.com/office/drawing/2014/main" xmlns="" id="{C58CA919-C7B2-4BA5-9427-DCA3F1E4AEC6}"/>
                </a:ext>
              </a:extLst>
            </p:cNvPr>
            <p:cNvSpPr/>
            <p:nvPr/>
          </p:nvSpPr>
          <p:spPr>
            <a:xfrm>
              <a:off x="5756915" y="1644352"/>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2" name="TextBox 21">
              <a:extLst>
                <a:ext uri="{FF2B5EF4-FFF2-40B4-BE49-F238E27FC236}">
                  <a16:creationId xmlns:a16="http://schemas.microsoft.com/office/drawing/2014/main" xmlns="" id="{155C53EE-1FFB-4251-B6A8-4C108E9C5BAD}"/>
                </a:ext>
              </a:extLst>
            </p:cNvPr>
            <p:cNvSpPr txBox="1"/>
            <p:nvPr/>
          </p:nvSpPr>
          <p:spPr>
            <a:xfrm>
              <a:off x="5756915" y="1644352"/>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Custom built</a:t>
              </a:r>
            </a:p>
          </p:txBody>
        </p:sp>
      </p:grpSp>
      <p:grpSp>
        <p:nvGrpSpPr>
          <p:cNvPr id="18" name="Group 17">
            <a:extLst>
              <a:ext uri="{FF2B5EF4-FFF2-40B4-BE49-F238E27FC236}">
                <a16:creationId xmlns:a16="http://schemas.microsoft.com/office/drawing/2014/main" xmlns="" id="{5EE81FD6-1820-40AA-A8EB-6D0B6545CE91}"/>
              </a:ext>
            </a:extLst>
          </p:cNvPr>
          <p:cNvGrpSpPr/>
          <p:nvPr/>
        </p:nvGrpSpPr>
        <p:grpSpPr>
          <a:xfrm>
            <a:off x="9619883" y="4271736"/>
            <a:ext cx="1148199" cy="574099"/>
            <a:chOff x="5792004" y="2611584"/>
            <a:chExt cx="1148199" cy="574099"/>
          </a:xfrm>
        </p:grpSpPr>
        <p:sp>
          <p:nvSpPr>
            <p:cNvPr id="19" name="Rectangle 18">
              <a:extLst>
                <a:ext uri="{FF2B5EF4-FFF2-40B4-BE49-F238E27FC236}">
                  <a16:creationId xmlns:a16="http://schemas.microsoft.com/office/drawing/2014/main" xmlns="" id="{EDFAE4C6-378E-4762-9A0B-ABDE15C69802}"/>
                </a:ext>
              </a:extLst>
            </p:cNvPr>
            <p:cNvSpPr/>
            <p:nvPr/>
          </p:nvSpPr>
          <p:spPr>
            <a:xfrm>
              <a:off x="5792004" y="2611584"/>
              <a:ext cx="1148199" cy="574099"/>
            </a:xfrm>
            <a:prstGeom prst="rect">
              <a:avLst/>
            </a:pr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TextBox 19">
              <a:extLst>
                <a:ext uri="{FF2B5EF4-FFF2-40B4-BE49-F238E27FC236}">
                  <a16:creationId xmlns:a16="http://schemas.microsoft.com/office/drawing/2014/main" xmlns="" id="{FDF2560D-7B64-4481-9FB4-44DE4F7D7A46}"/>
                </a:ext>
              </a:extLst>
            </p:cNvPr>
            <p:cNvSpPr txBox="1"/>
            <p:nvPr/>
          </p:nvSpPr>
          <p:spPr>
            <a:xfrm>
              <a:off x="5792004" y="2611584"/>
              <a:ext cx="1148199" cy="57409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600" kern="1200" dirty="0"/>
                <a:t>Packaged software</a:t>
              </a:r>
            </a:p>
          </p:txBody>
        </p:sp>
      </p:grpSp>
    </p:spTree>
    <p:extLst>
      <p:ext uri="{BB962C8B-B14F-4D97-AF65-F5344CB8AC3E}">
        <p14:creationId xmlns:p14="http://schemas.microsoft.com/office/powerpoint/2010/main" val="34497337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E84F2-4DDF-4DD3-AECC-F21DBD1C7312}"/>
              </a:ext>
            </a:extLst>
          </p:cNvPr>
          <p:cNvSpPr>
            <a:spLocks noGrp="1"/>
          </p:cNvSpPr>
          <p:nvPr>
            <p:ph type="title"/>
          </p:nvPr>
        </p:nvSpPr>
        <p:spPr/>
        <p:txBody>
          <a:bodyPr/>
          <a:lstStyle/>
          <a:p>
            <a:r>
              <a:rPr lang="en-US" dirty="0"/>
              <a:t>Basic organization of computer system</a:t>
            </a:r>
            <a:endParaRPr lang="x-none" dirty="0"/>
          </a:p>
        </p:txBody>
      </p:sp>
    </p:spTree>
    <p:extLst>
      <p:ext uri="{BB962C8B-B14F-4D97-AF65-F5344CB8AC3E}">
        <p14:creationId xmlns:p14="http://schemas.microsoft.com/office/powerpoint/2010/main" val="350581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4E5B3D-15EB-42D4-86DE-82DC816C119E}"/>
              </a:ext>
            </a:extLst>
          </p:cNvPr>
          <p:cNvSpPr>
            <a:spLocks noGrp="1"/>
          </p:cNvSpPr>
          <p:nvPr>
            <p:ph type="title"/>
          </p:nvPr>
        </p:nvSpPr>
        <p:spPr/>
        <p:txBody>
          <a:bodyPr>
            <a:normAutofit/>
          </a:bodyPr>
          <a:lstStyle/>
          <a:p>
            <a:r>
              <a:rPr lang="en-US" sz="3600" dirty="0"/>
              <a:t>Basic organization of computer system</a:t>
            </a:r>
            <a:endParaRPr lang="x-none" sz="3600" dirty="0"/>
          </a:p>
        </p:txBody>
      </p:sp>
      <p:pic>
        <p:nvPicPr>
          <p:cNvPr id="4" name="Content Placeholder 3">
            <a:extLst>
              <a:ext uri="{FF2B5EF4-FFF2-40B4-BE49-F238E27FC236}">
                <a16:creationId xmlns:a16="http://schemas.microsoft.com/office/drawing/2014/main" xmlns="" id="{3CEF4267-EE9E-411E-B5DE-5E132C00C6F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976562" y="2229644"/>
            <a:ext cx="6238875" cy="3419475"/>
          </a:xfrm>
        </p:spPr>
      </p:pic>
    </p:spTree>
    <p:extLst>
      <p:ext uri="{BB962C8B-B14F-4D97-AF65-F5344CB8AC3E}">
        <p14:creationId xmlns:p14="http://schemas.microsoft.com/office/powerpoint/2010/main" val="22765938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xmlns="" id="{3A7BCE7B-F9F9-405C-8AE7-D762BE116C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7" r="2910"/>
          <a:stretch/>
        </p:blipFill>
        <p:spPr>
          <a:xfrm>
            <a:off x="7081161" y="2525032"/>
            <a:ext cx="4564759" cy="2680608"/>
          </a:xfrm>
          <a:prstGeom prst="rect">
            <a:avLst/>
          </a:prstGeom>
        </p:spPr>
      </p:pic>
      <p:sp>
        <p:nvSpPr>
          <p:cNvPr id="2" name="Title 1">
            <a:extLst>
              <a:ext uri="{FF2B5EF4-FFF2-40B4-BE49-F238E27FC236}">
                <a16:creationId xmlns:a16="http://schemas.microsoft.com/office/drawing/2014/main" xmlns="" id="{6FE54709-FC9F-4436-AE8E-C5122EAA5766}"/>
              </a:ext>
            </a:extLst>
          </p:cNvPr>
          <p:cNvSpPr>
            <a:spLocks noGrp="1"/>
          </p:cNvSpPr>
          <p:nvPr>
            <p:ph type="title"/>
          </p:nvPr>
        </p:nvSpPr>
        <p:spPr/>
        <p:txBody>
          <a:bodyPr/>
          <a:lstStyle/>
          <a:p>
            <a:r>
              <a:rPr lang="en-US" dirty="0"/>
              <a:t>Von Neumann Basic Structure</a:t>
            </a:r>
            <a:endParaRPr lang="x-none" dirty="0"/>
          </a:p>
        </p:txBody>
      </p:sp>
      <p:sp>
        <p:nvSpPr>
          <p:cNvPr id="3" name="Content Placeholder 2">
            <a:extLst>
              <a:ext uri="{FF2B5EF4-FFF2-40B4-BE49-F238E27FC236}">
                <a16:creationId xmlns:a16="http://schemas.microsoft.com/office/drawing/2014/main" xmlns="" id="{845C6B53-E88D-4C19-81D9-565E92B44447}"/>
              </a:ext>
            </a:extLst>
          </p:cNvPr>
          <p:cNvSpPr>
            <a:spLocks noGrp="1"/>
          </p:cNvSpPr>
          <p:nvPr>
            <p:ph idx="1"/>
          </p:nvPr>
        </p:nvSpPr>
        <p:spPr>
          <a:xfrm>
            <a:off x="1045031" y="1825625"/>
            <a:ext cx="6362700" cy="4667250"/>
          </a:xfrm>
        </p:spPr>
        <p:txBody>
          <a:bodyPr>
            <a:normAutofit lnSpcReduction="10000"/>
          </a:bodyPr>
          <a:lstStyle/>
          <a:p>
            <a:pPr fontAlgn="base"/>
            <a:r>
              <a:rPr lang="en-US" dirty="0"/>
              <a:t>Let’s consider them in detail.</a:t>
            </a:r>
          </a:p>
          <a:p>
            <a:pPr fontAlgn="base"/>
            <a:r>
              <a:rPr lang="en-US" b="1" dirty="0">
                <a:solidFill>
                  <a:srgbClr val="0070C0"/>
                </a:solidFill>
              </a:rPr>
              <a:t>Arithmetic and Logic Unit (ALU) </a:t>
            </a:r>
            <a:endParaRPr lang="en-US" b="1" dirty="0"/>
          </a:p>
          <a:p>
            <a:pPr lvl="1" fontAlgn="base"/>
            <a:r>
              <a:rPr lang="en-US" dirty="0"/>
              <a:t>The arithmetic logic unit is that part of the CPU that handles all the calculations the CPU may need, e.g. </a:t>
            </a:r>
            <a:r>
              <a:rPr lang="en-US" dirty="0">
                <a:solidFill>
                  <a:schemeClr val="accent4"/>
                </a:solidFill>
              </a:rPr>
              <a:t>Addition, Subtraction, Comparisons</a:t>
            </a:r>
            <a:r>
              <a:rPr lang="en-US" dirty="0"/>
              <a:t>.</a:t>
            </a:r>
          </a:p>
          <a:p>
            <a:pPr lvl="1" fontAlgn="base"/>
            <a:r>
              <a:rPr lang="en-US" dirty="0"/>
              <a:t> It performs Logical Operations, Bit Shifting Operations, and Arithmetic Operation.</a:t>
            </a:r>
            <a:endParaRPr lang="en-US" b="1" dirty="0">
              <a:solidFill>
                <a:srgbClr val="0070C0"/>
              </a:solidFill>
            </a:endParaRPr>
          </a:p>
          <a:p>
            <a:pPr fontAlgn="base"/>
            <a:r>
              <a:rPr lang="en-US" b="1" dirty="0">
                <a:solidFill>
                  <a:srgbClr val="0070C0"/>
                </a:solidFill>
              </a:rPr>
              <a:t>Control Unit </a:t>
            </a:r>
            <a:endParaRPr lang="en-US" b="1" dirty="0"/>
          </a:p>
          <a:p>
            <a:pPr lvl="1" fontAlgn="base"/>
            <a:r>
              <a:rPr lang="en-US" dirty="0"/>
              <a:t>A control unit (CU) handles all processor control signals. It directs all input and output flow, fetches code for instructions and controlling how data moves around the system.</a:t>
            </a:r>
          </a:p>
          <a:p>
            <a:endParaRPr lang="en-US" dirty="0"/>
          </a:p>
          <a:p>
            <a:endParaRPr lang="x-none" dirty="0"/>
          </a:p>
        </p:txBody>
      </p:sp>
    </p:spTree>
    <p:extLst>
      <p:ext uri="{BB962C8B-B14F-4D97-AF65-F5344CB8AC3E}">
        <p14:creationId xmlns:p14="http://schemas.microsoft.com/office/powerpoint/2010/main" val="24191635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95F320E6-11EB-437F-8E14-89484E19D7B6}"/>
              </a:ext>
            </a:extLst>
          </p:cNvPr>
          <p:cNvPicPr>
            <a:picLocks noGrp="1" noChangeAspect="1"/>
          </p:cNvPicPr>
          <p:nvPr>
            <p:ph idx="1"/>
          </p:nvPr>
        </p:nvPicPr>
        <p:blipFill>
          <a:blip r:embed="rId3"/>
          <a:stretch>
            <a:fillRect/>
          </a:stretch>
        </p:blipFill>
        <p:spPr>
          <a:xfrm>
            <a:off x="2719387" y="2129631"/>
            <a:ext cx="6753225" cy="3619500"/>
          </a:xfrm>
          <a:prstGeom prst="rect">
            <a:avLst/>
          </a:prstGeom>
        </p:spPr>
      </p:pic>
    </p:spTree>
    <p:extLst>
      <p:ext uri="{BB962C8B-B14F-4D97-AF65-F5344CB8AC3E}">
        <p14:creationId xmlns:p14="http://schemas.microsoft.com/office/powerpoint/2010/main" val="29078784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A2FB21-343B-47AE-BB15-5D2D2751635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PROCESSOR AND MEMORY</a:t>
            </a:r>
          </a:p>
        </p:txBody>
      </p:sp>
    </p:spTree>
    <p:extLst>
      <p:ext uri="{BB962C8B-B14F-4D97-AF65-F5344CB8AC3E}">
        <p14:creationId xmlns:p14="http://schemas.microsoft.com/office/powerpoint/2010/main" val="2368517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2559F8-1882-47FF-89E2-D3DB8BE0B0BA}"/>
              </a:ext>
            </a:extLst>
          </p:cNvPr>
          <p:cNvSpPr>
            <a:spLocks noGrp="1"/>
          </p:cNvSpPr>
          <p:nvPr>
            <p:ph type="title"/>
          </p:nvPr>
        </p:nvSpPr>
        <p:spPr>
          <a:xfrm>
            <a:off x="1030365" y="525375"/>
            <a:ext cx="10308771" cy="1325563"/>
          </a:xfrm>
        </p:spPr>
        <p:txBody>
          <a:bodyPr>
            <a:normAutofit/>
          </a:bodyPr>
          <a:lstStyle/>
          <a:p>
            <a:r>
              <a:rPr lang="en-US" spc="-4" dirty="0"/>
              <a:t>Basic Processor &amp; Memory Architecture  of </a:t>
            </a:r>
            <a:r>
              <a:rPr lang="en-US" dirty="0"/>
              <a:t>a </a:t>
            </a:r>
            <a:r>
              <a:rPr lang="en-US" spc="-4" dirty="0"/>
              <a:t>Computer</a:t>
            </a:r>
            <a:r>
              <a:rPr lang="en-US" dirty="0"/>
              <a:t> </a:t>
            </a:r>
            <a:r>
              <a:rPr lang="en-US" spc="-4" dirty="0"/>
              <a:t>System</a:t>
            </a:r>
            <a:endParaRPr lang="x-none" dirty="0"/>
          </a:p>
        </p:txBody>
      </p:sp>
      <p:sp>
        <p:nvSpPr>
          <p:cNvPr id="96" name="object 4">
            <a:extLst>
              <a:ext uri="{FF2B5EF4-FFF2-40B4-BE49-F238E27FC236}">
                <a16:creationId xmlns:a16="http://schemas.microsoft.com/office/drawing/2014/main" xmlns="" id="{E54C3CD8-A5B6-496D-8F73-9671C6FCC343}"/>
              </a:ext>
            </a:extLst>
          </p:cNvPr>
          <p:cNvSpPr/>
          <p:nvPr/>
        </p:nvSpPr>
        <p:spPr>
          <a:xfrm>
            <a:off x="4377468" y="1669848"/>
            <a:ext cx="2929217" cy="4577603"/>
          </a:xfrm>
          <a:custGeom>
            <a:avLst/>
            <a:gdLst/>
            <a:ahLst/>
            <a:cxnLst/>
            <a:rect l="l" t="t" r="r" b="b"/>
            <a:pathLst>
              <a:path w="3319779" h="5187950">
                <a:moveTo>
                  <a:pt x="0" y="5187696"/>
                </a:moveTo>
                <a:lnTo>
                  <a:pt x="3319272" y="5187696"/>
                </a:lnTo>
                <a:lnTo>
                  <a:pt x="3319272" y="0"/>
                </a:lnTo>
                <a:lnTo>
                  <a:pt x="0" y="0"/>
                </a:lnTo>
                <a:lnTo>
                  <a:pt x="0" y="5187696"/>
                </a:lnTo>
                <a:close/>
              </a:path>
            </a:pathLst>
          </a:custGeom>
          <a:ln w="9144">
            <a:solidFill>
              <a:srgbClr val="000000"/>
            </a:solidFill>
          </a:ln>
        </p:spPr>
        <p:txBody>
          <a:bodyPr wrap="square" lIns="0" tIns="0" rIns="0" bIns="0" rtlCol="0"/>
          <a:lstStyle/>
          <a:p>
            <a:endParaRPr sz="1588" dirty="0"/>
          </a:p>
        </p:txBody>
      </p:sp>
      <p:sp>
        <p:nvSpPr>
          <p:cNvPr id="97" name="object 5">
            <a:extLst>
              <a:ext uri="{FF2B5EF4-FFF2-40B4-BE49-F238E27FC236}">
                <a16:creationId xmlns:a16="http://schemas.microsoft.com/office/drawing/2014/main" xmlns="" id="{34F2B460-1B01-49FC-AA24-284233AD01CD}"/>
              </a:ext>
            </a:extLst>
          </p:cNvPr>
          <p:cNvSpPr txBox="1"/>
          <p:nvPr/>
        </p:nvSpPr>
        <p:spPr>
          <a:xfrm>
            <a:off x="4493112" y="1954924"/>
            <a:ext cx="2716307" cy="238806"/>
          </a:xfrm>
          <a:prstGeom prst="rect">
            <a:avLst/>
          </a:prstGeom>
          <a:solidFill>
            <a:srgbClr val="DDDDDD"/>
          </a:solidFill>
          <a:ln w="9144">
            <a:solidFill>
              <a:srgbClr val="000000"/>
            </a:solidFill>
          </a:ln>
        </p:spPr>
        <p:txBody>
          <a:bodyPr vert="horz" wrap="square" lIns="0" tIns="75079" rIns="0" bIns="0" rtlCol="0">
            <a:spAutoFit/>
          </a:bodyPr>
          <a:lstStyle/>
          <a:p>
            <a:pPr marL="787816">
              <a:spcBef>
                <a:spcPts val="591"/>
              </a:spcBef>
            </a:pPr>
            <a:r>
              <a:rPr sz="1059" spc="-9" dirty="0">
                <a:solidFill>
                  <a:srgbClr val="333333"/>
                </a:solidFill>
                <a:latin typeface="Times New Roman"/>
                <a:cs typeface="Times New Roman"/>
              </a:rPr>
              <a:t>Main </a:t>
            </a:r>
            <a:r>
              <a:rPr sz="1059" spc="-4" dirty="0">
                <a:solidFill>
                  <a:srgbClr val="333333"/>
                </a:solidFill>
                <a:latin typeface="Times New Roman"/>
                <a:cs typeface="Times New Roman"/>
              </a:rPr>
              <a:t>Memory</a:t>
            </a:r>
            <a:r>
              <a:rPr sz="1059" spc="-22" dirty="0">
                <a:solidFill>
                  <a:srgbClr val="333333"/>
                </a:solidFill>
                <a:latin typeface="Times New Roman"/>
                <a:cs typeface="Times New Roman"/>
              </a:rPr>
              <a:t> </a:t>
            </a:r>
            <a:r>
              <a:rPr sz="1059" spc="-13" dirty="0">
                <a:solidFill>
                  <a:srgbClr val="333333"/>
                </a:solidFill>
                <a:latin typeface="Times New Roman"/>
                <a:cs typeface="Times New Roman"/>
              </a:rPr>
              <a:t>(RAM)</a:t>
            </a:r>
            <a:endParaRPr sz="1059" dirty="0">
              <a:latin typeface="Times New Roman"/>
              <a:cs typeface="Times New Roman"/>
            </a:endParaRPr>
          </a:p>
        </p:txBody>
      </p:sp>
      <p:sp>
        <p:nvSpPr>
          <p:cNvPr id="98" name="object 6">
            <a:extLst>
              <a:ext uri="{FF2B5EF4-FFF2-40B4-BE49-F238E27FC236}">
                <a16:creationId xmlns:a16="http://schemas.microsoft.com/office/drawing/2014/main" xmlns="" id="{C463C997-8E5B-45B5-8F30-4D0B91EFB2A9}"/>
              </a:ext>
            </a:extLst>
          </p:cNvPr>
          <p:cNvSpPr/>
          <p:nvPr/>
        </p:nvSpPr>
        <p:spPr>
          <a:xfrm>
            <a:off x="4493114" y="2439023"/>
            <a:ext cx="2711263" cy="177613"/>
          </a:xfrm>
          <a:custGeom>
            <a:avLst/>
            <a:gdLst/>
            <a:ahLst/>
            <a:cxnLst/>
            <a:rect l="l" t="t" r="r" b="b"/>
            <a:pathLst>
              <a:path w="3072765" h="201294">
                <a:moveTo>
                  <a:pt x="0" y="201167"/>
                </a:moveTo>
                <a:lnTo>
                  <a:pt x="3072384" y="201167"/>
                </a:lnTo>
                <a:lnTo>
                  <a:pt x="3072384" y="0"/>
                </a:lnTo>
                <a:lnTo>
                  <a:pt x="0" y="0"/>
                </a:lnTo>
                <a:lnTo>
                  <a:pt x="0" y="201167"/>
                </a:lnTo>
                <a:close/>
              </a:path>
            </a:pathLst>
          </a:custGeom>
          <a:ln w="9144">
            <a:solidFill>
              <a:srgbClr val="000000"/>
            </a:solidFill>
          </a:ln>
        </p:spPr>
        <p:txBody>
          <a:bodyPr wrap="square" lIns="0" tIns="0" rIns="0" bIns="0" rtlCol="0"/>
          <a:lstStyle/>
          <a:p>
            <a:endParaRPr sz="1588" dirty="0"/>
          </a:p>
        </p:txBody>
      </p:sp>
      <p:sp>
        <p:nvSpPr>
          <p:cNvPr id="99" name="object 7">
            <a:extLst>
              <a:ext uri="{FF2B5EF4-FFF2-40B4-BE49-F238E27FC236}">
                <a16:creationId xmlns:a16="http://schemas.microsoft.com/office/drawing/2014/main" xmlns="" id="{D58A48E9-3327-4C6C-BD5D-9BD023E8DA52}"/>
              </a:ext>
            </a:extLst>
          </p:cNvPr>
          <p:cNvSpPr/>
          <p:nvPr/>
        </p:nvSpPr>
        <p:spPr>
          <a:xfrm>
            <a:off x="5595769" y="2248075"/>
            <a:ext cx="67235" cy="182879"/>
          </a:xfrm>
          <a:prstGeom prst="rect">
            <a:avLst/>
          </a:prstGeom>
          <a:blipFill>
            <a:blip r:embed="rId2" cstate="print"/>
            <a:stretch>
              <a:fillRect/>
            </a:stretch>
          </a:blipFill>
        </p:spPr>
        <p:txBody>
          <a:bodyPr wrap="square" lIns="0" tIns="0" rIns="0" bIns="0" rtlCol="0"/>
          <a:lstStyle/>
          <a:p>
            <a:endParaRPr sz="1588" dirty="0"/>
          </a:p>
        </p:txBody>
      </p:sp>
      <p:sp>
        <p:nvSpPr>
          <p:cNvPr id="100" name="object 8">
            <a:extLst>
              <a:ext uri="{FF2B5EF4-FFF2-40B4-BE49-F238E27FC236}">
                <a16:creationId xmlns:a16="http://schemas.microsoft.com/office/drawing/2014/main" xmlns="" id="{069DE9DD-14C6-4342-B2E4-DBB0D642FA91}"/>
              </a:ext>
            </a:extLst>
          </p:cNvPr>
          <p:cNvSpPr txBox="1"/>
          <p:nvPr/>
        </p:nvSpPr>
        <p:spPr>
          <a:xfrm>
            <a:off x="5665695" y="2422436"/>
            <a:ext cx="480172" cy="337302"/>
          </a:xfrm>
          <a:prstGeom prst="rect">
            <a:avLst/>
          </a:prstGeom>
        </p:spPr>
        <p:txBody>
          <a:bodyPr vert="horz" wrap="square" lIns="0" tIns="11206" rIns="0" bIns="0" rtlCol="0">
            <a:spAutoFit/>
          </a:bodyPr>
          <a:lstStyle/>
          <a:p>
            <a:pPr marR="4483" indent="61636">
              <a:spcBef>
                <a:spcPts val="88"/>
              </a:spcBef>
            </a:pPr>
            <a:r>
              <a:rPr sz="1059" spc="-4" dirty="0">
                <a:solidFill>
                  <a:srgbClr val="333333"/>
                </a:solidFill>
                <a:latin typeface="Times New Roman"/>
                <a:cs typeface="Times New Roman"/>
              </a:rPr>
              <a:t>Cache  </a:t>
            </a:r>
            <a:r>
              <a:rPr sz="1059" spc="-18" dirty="0">
                <a:solidFill>
                  <a:srgbClr val="333333"/>
                </a:solidFill>
                <a:latin typeface="Times New Roman"/>
                <a:cs typeface="Times New Roman"/>
              </a:rPr>
              <a:t>M</a:t>
            </a:r>
            <a:r>
              <a:rPr sz="1059" spc="9" dirty="0">
                <a:solidFill>
                  <a:srgbClr val="333333"/>
                </a:solidFill>
                <a:latin typeface="Times New Roman"/>
                <a:cs typeface="Times New Roman"/>
              </a:rPr>
              <a:t>e</a:t>
            </a:r>
            <a:r>
              <a:rPr sz="1059" spc="-44" dirty="0">
                <a:solidFill>
                  <a:srgbClr val="333333"/>
                </a:solidFill>
                <a:latin typeface="Times New Roman"/>
                <a:cs typeface="Times New Roman"/>
              </a:rPr>
              <a:t>m</a:t>
            </a:r>
            <a:r>
              <a:rPr sz="1059" spc="13" dirty="0">
                <a:solidFill>
                  <a:srgbClr val="333333"/>
                </a:solidFill>
                <a:latin typeface="Times New Roman"/>
                <a:cs typeface="Times New Roman"/>
              </a:rPr>
              <a:t>o</a:t>
            </a:r>
            <a:r>
              <a:rPr sz="1059" spc="22" dirty="0">
                <a:solidFill>
                  <a:srgbClr val="333333"/>
                </a:solidFill>
                <a:latin typeface="Times New Roman"/>
                <a:cs typeface="Times New Roman"/>
              </a:rPr>
              <a:t>ry</a:t>
            </a:r>
            <a:endParaRPr sz="1059" dirty="0">
              <a:latin typeface="Times New Roman"/>
              <a:cs typeface="Times New Roman"/>
            </a:endParaRPr>
          </a:p>
        </p:txBody>
      </p:sp>
      <p:sp>
        <p:nvSpPr>
          <p:cNvPr id="101" name="object 9">
            <a:extLst>
              <a:ext uri="{FF2B5EF4-FFF2-40B4-BE49-F238E27FC236}">
                <a16:creationId xmlns:a16="http://schemas.microsoft.com/office/drawing/2014/main" xmlns="" id="{EDAC5666-9095-47E6-9004-BB0FBD7EA165}"/>
              </a:ext>
            </a:extLst>
          </p:cNvPr>
          <p:cNvSpPr/>
          <p:nvPr/>
        </p:nvSpPr>
        <p:spPr>
          <a:xfrm>
            <a:off x="4493111" y="2812847"/>
            <a:ext cx="2708463" cy="3157818"/>
          </a:xfrm>
          <a:custGeom>
            <a:avLst/>
            <a:gdLst/>
            <a:ahLst/>
            <a:cxnLst/>
            <a:rect l="l" t="t" r="r" b="b"/>
            <a:pathLst>
              <a:path w="3069590" h="3578860">
                <a:moveTo>
                  <a:pt x="0" y="3578352"/>
                </a:moveTo>
                <a:lnTo>
                  <a:pt x="3069335" y="3578352"/>
                </a:lnTo>
                <a:lnTo>
                  <a:pt x="3069335" y="0"/>
                </a:lnTo>
                <a:lnTo>
                  <a:pt x="0" y="0"/>
                </a:lnTo>
                <a:lnTo>
                  <a:pt x="0" y="3578352"/>
                </a:lnTo>
                <a:close/>
              </a:path>
            </a:pathLst>
          </a:custGeom>
          <a:solidFill>
            <a:srgbClr val="F3EFAB"/>
          </a:solidFill>
        </p:spPr>
        <p:txBody>
          <a:bodyPr wrap="square" lIns="0" tIns="0" rIns="0" bIns="0" rtlCol="0"/>
          <a:lstStyle/>
          <a:p>
            <a:endParaRPr sz="1588" dirty="0"/>
          </a:p>
        </p:txBody>
      </p:sp>
      <p:sp>
        <p:nvSpPr>
          <p:cNvPr id="102" name="object 10">
            <a:extLst>
              <a:ext uri="{FF2B5EF4-FFF2-40B4-BE49-F238E27FC236}">
                <a16:creationId xmlns:a16="http://schemas.microsoft.com/office/drawing/2014/main" xmlns="" id="{EFCCCFEB-3582-4A82-83B0-123D2762CCF0}"/>
              </a:ext>
            </a:extLst>
          </p:cNvPr>
          <p:cNvSpPr/>
          <p:nvPr/>
        </p:nvSpPr>
        <p:spPr>
          <a:xfrm>
            <a:off x="4493111" y="2812847"/>
            <a:ext cx="2708463" cy="3157818"/>
          </a:xfrm>
          <a:custGeom>
            <a:avLst/>
            <a:gdLst/>
            <a:ahLst/>
            <a:cxnLst/>
            <a:rect l="l" t="t" r="r" b="b"/>
            <a:pathLst>
              <a:path w="3069590" h="3578860">
                <a:moveTo>
                  <a:pt x="0" y="3578352"/>
                </a:moveTo>
                <a:lnTo>
                  <a:pt x="3069335" y="3578352"/>
                </a:lnTo>
                <a:lnTo>
                  <a:pt x="3069335" y="0"/>
                </a:lnTo>
                <a:lnTo>
                  <a:pt x="0" y="0"/>
                </a:lnTo>
                <a:lnTo>
                  <a:pt x="0" y="3578352"/>
                </a:lnTo>
                <a:close/>
              </a:path>
            </a:pathLst>
          </a:custGeom>
          <a:ln w="9144">
            <a:solidFill>
              <a:srgbClr val="000000"/>
            </a:solidFill>
          </a:ln>
        </p:spPr>
        <p:txBody>
          <a:bodyPr wrap="square" lIns="0" tIns="0" rIns="0" bIns="0" rtlCol="0"/>
          <a:lstStyle/>
          <a:p>
            <a:endParaRPr sz="1588" dirty="0"/>
          </a:p>
        </p:txBody>
      </p:sp>
      <p:sp>
        <p:nvSpPr>
          <p:cNvPr id="103" name="object 11">
            <a:extLst>
              <a:ext uri="{FF2B5EF4-FFF2-40B4-BE49-F238E27FC236}">
                <a16:creationId xmlns:a16="http://schemas.microsoft.com/office/drawing/2014/main" xmlns="" id="{1C33C4D3-6C04-4762-BF35-EBF6AD8D2C6B}"/>
              </a:ext>
            </a:extLst>
          </p:cNvPr>
          <p:cNvSpPr/>
          <p:nvPr/>
        </p:nvSpPr>
        <p:spPr>
          <a:xfrm>
            <a:off x="4635649" y="2936559"/>
            <a:ext cx="1051672" cy="2791946"/>
          </a:xfrm>
          <a:custGeom>
            <a:avLst/>
            <a:gdLst/>
            <a:ahLst/>
            <a:cxnLst/>
            <a:rect l="l" t="t" r="r" b="b"/>
            <a:pathLst>
              <a:path w="1191895" h="3164204">
                <a:moveTo>
                  <a:pt x="0" y="3163824"/>
                </a:moveTo>
                <a:lnTo>
                  <a:pt x="1191767" y="3163824"/>
                </a:lnTo>
                <a:lnTo>
                  <a:pt x="1191767" y="0"/>
                </a:lnTo>
                <a:lnTo>
                  <a:pt x="0" y="0"/>
                </a:lnTo>
                <a:lnTo>
                  <a:pt x="0" y="3163824"/>
                </a:lnTo>
                <a:close/>
              </a:path>
            </a:pathLst>
          </a:custGeom>
          <a:solidFill>
            <a:srgbClr val="FFFFFF"/>
          </a:solidFill>
        </p:spPr>
        <p:txBody>
          <a:bodyPr wrap="square" lIns="0" tIns="0" rIns="0" bIns="0" rtlCol="0"/>
          <a:lstStyle/>
          <a:p>
            <a:endParaRPr sz="1588" dirty="0"/>
          </a:p>
        </p:txBody>
      </p:sp>
      <p:sp>
        <p:nvSpPr>
          <p:cNvPr id="104" name="object 12">
            <a:extLst>
              <a:ext uri="{FF2B5EF4-FFF2-40B4-BE49-F238E27FC236}">
                <a16:creationId xmlns:a16="http://schemas.microsoft.com/office/drawing/2014/main" xmlns="" id="{1DDC383F-9F76-4FFD-B7A3-0CB40942C5B4}"/>
              </a:ext>
            </a:extLst>
          </p:cNvPr>
          <p:cNvSpPr/>
          <p:nvPr/>
        </p:nvSpPr>
        <p:spPr>
          <a:xfrm>
            <a:off x="4635649" y="2936559"/>
            <a:ext cx="1051672" cy="2791946"/>
          </a:xfrm>
          <a:custGeom>
            <a:avLst/>
            <a:gdLst/>
            <a:ahLst/>
            <a:cxnLst/>
            <a:rect l="l" t="t" r="r" b="b"/>
            <a:pathLst>
              <a:path w="1191895" h="3164204">
                <a:moveTo>
                  <a:pt x="0" y="3163824"/>
                </a:moveTo>
                <a:lnTo>
                  <a:pt x="1191767" y="3163824"/>
                </a:lnTo>
                <a:lnTo>
                  <a:pt x="1191767" y="0"/>
                </a:lnTo>
                <a:lnTo>
                  <a:pt x="0" y="0"/>
                </a:lnTo>
                <a:lnTo>
                  <a:pt x="0" y="3163824"/>
                </a:lnTo>
                <a:close/>
              </a:path>
            </a:pathLst>
          </a:custGeom>
          <a:ln w="18287">
            <a:solidFill>
              <a:srgbClr val="000000"/>
            </a:solidFill>
          </a:ln>
        </p:spPr>
        <p:txBody>
          <a:bodyPr wrap="square" lIns="0" tIns="0" rIns="0" bIns="0" rtlCol="0"/>
          <a:lstStyle/>
          <a:p>
            <a:endParaRPr sz="1588" dirty="0"/>
          </a:p>
        </p:txBody>
      </p:sp>
      <p:sp>
        <p:nvSpPr>
          <p:cNvPr id="105" name="object 13">
            <a:extLst>
              <a:ext uri="{FF2B5EF4-FFF2-40B4-BE49-F238E27FC236}">
                <a16:creationId xmlns:a16="http://schemas.microsoft.com/office/drawing/2014/main" xmlns="" id="{A88BFA16-2189-48D5-8229-7EE0F7C6BF01}"/>
              </a:ext>
            </a:extLst>
          </p:cNvPr>
          <p:cNvSpPr/>
          <p:nvPr/>
        </p:nvSpPr>
        <p:spPr>
          <a:xfrm>
            <a:off x="4710954" y="3030693"/>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solidFill>
            <a:srgbClr val="FFFFFF"/>
          </a:solidFill>
        </p:spPr>
        <p:txBody>
          <a:bodyPr wrap="square" lIns="0" tIns="0" rIns="0" bIns="0" rtlCol="0"/>
          <a:lstStyle/>
          <a:p>
            <a:endParaRPr sz="1588" dirty="0"/>
          </a:p>
        </p:txBody>
      </p:sp>
      <p:sp>
        <p:nvSpPr>
          <p:cNvPr id="106" name="object 14">
            <a:extLst>
              <a:ext uri="{FF2B5EF4-FFF2-40B4-BE49-F238E27FC236}">
                <a16:creationId xmlns:a16="http://schemas.microsoft.com/office/drawing/2014/main" xmlns="" id="{37CD321B-988F-496F-BE40-4C47E1D31D94}"/>
              </a:ext>
            </a:extLst>
          </p:cNvPr>
          <p:cNvSpPr/>
          <p:nvPr/>
        </p:nvSpPr>
        <p:spPr>
          <a:xfrm>
            <a:off x="4710954" y="3030693"/>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07" name="object 15">
            <a:extLst>
              <a:ext uri="{FF2B5EF4-FFF2-40B4-BE49-F238E27FC236}">
                <a16:creationId xmlns:a16="http://schemas.microsoft.com/office/drawing/2014/main" xmlns="" id="{31A36DB1-8972-4EB5-B225-33DE59EF5B08}"/>
              </a:ext>
            </a:extLst>
          </p:cNvPr>
          <p:cNvSpPr/>
          <p:nvPr/>
        </p:nvSpPr>
        <p:spPr>
          <a:xfrm>
            <a:off x="4710954" y="3434104"/>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08" name="object 16">
            <a:extLst>
              <a:ext uri="{FF2B5EF4-FFF2-40B4-BE49-F238E27FC236}">
                <a16:creationId xmlns:a16="http://schemas.microsoft.com/office/drawing/2014/main" xmlns="" id="{903C9EC8-21A0-4948-B729-476BAECAFA12}"/>
              </a:ext>
            </a:extLst>
          </p:cNvPr>
          <p:cNvSpPr/>
          <p:nvPr/>
        </p:nvSpPr>
        <p:spPr>
          <a:xfrm>
            <a:off x="4710954" y="4224792"/>
            <a:ext cx="906556" cy="307041"/>
          </a:xfrm>
          <a:custGeom>
            <a:avLst/>
            <a:gdLst/>
            <a:ahLst/>
            <a:cxnLst/>
            <a:rect l="l" t="t" r="r" b="b"/>
            <a:pathLst>
              <a:path w="1027429" h="347979">
                <a:moveTo>
                  <a:pt x="0" y="347471"/>
                </a:moveTo>
                <a:lnTo>
                  <a:pt x="1027176" y="347471"/>
                </a:lnTo>
                <a:lnTo>
                  <a:pt x="1027176" y="0"/>
                </a:lnTo>
                <a:lnTo>
                  <a:pt x="0" y="0"/>
                </a:lnTo>
                <a:lnTo>
                  <a:pt x="0" y="347471"/>
                </a:lnTo>
                <a:close/>
              </a:path>
            </a:pathLst>
          </a:custGeom>
          <a:ln w="9144">
            <a:solidFill>
              <a:srgbClr val="000000"/>
            </a:solidFill>
          </a:ln>
        </p:spPr>
        <p:txBody>
          <a:bodyPr wrap="square" lIns="0" tIns="0" rIns="0" bIns="0" rtlCol="0"/>
          <a:lstStyle/>
          <a:p>
            <a:endParaRPr sz="1588" dirty="0"/>
          </a:p>
        </p:txBody>
      </p:sp>
      <p:sp>
        <p:nvSpPr>
          <p:cNvPr id="109" name="object 17">
            <a:extLst>
              <a:ext uri="{FF2B5EF4-FFF2-40B4-BE49-F238E27FC236}">
                <a16:creationId xmlns:a16="http://schemas.microsoft.com/office/drawing/2014/main" xmlns="" id="{37D801B0-7143-4FF1-B3AD-C079F72272F4}"/>
              </a:ext>
            </a:extLst>
          </p:cNvPr>
          <p:cNvSpPr/>
          <p:nvPr/>
        </p:nvSpPr>
        <p:spPr>
          <a:xfrm>
            <a:off x="4710954" y="4617442"/>
            <a:ext cx="906556" cy="309282"/>
          </a:xfrm>
          <a:custGeom>
            <a:avLst/>
            <a:gdLst/>
            <a:ahLst/>
            <a:cxnLst/>
            <a:rect l="l" t="t" r="r" b="b"/>
            <a:pathLst>
              <a:path w="1027429" h="350520">
                <a:moveTo>
                  <a:pt x="0" y="350520"/>
                </a:moveTo>
                <a:lnTo>
                  <a:pt x="1027176" y="350520"/>
                </a:lnTo>
                <a:lnTo>
                  <a:pt x="1027176" y="0"/>
                </a:lnTo>
                <a:lnTo>
                  <a:pt x="0" y="0"/>
                </a:lnTo>
                <a:lnTo>
                  <a:pt x="0" y="350520"/>
                </a:lnTo>
                <a:close/>
              </a:path>
            </a:pathLst>
          </a:custGeom>
          <a:ln w="9144">
            <a:solidFill>
              <a:srgbClr val="000000"/>
            </a:solidFill>
          </a:ln>
        </p:spPr>
        <p:txBody>
          <a:bodyPr wrap="square" lIns="0" tIns="0" rIns="0" bIns="0" rtlCol="0"/>
          <a:lstStyle/>
          <a:p>
            <a:endParaRPr sz="1588" dirty="0"/>
          </a:p>
        </p:txBody>
      </p:sp>
      <p:sp>
        <p:nvSpPr>
          <p:cNvPr id="110" name="object 18">
            <a:extLst>
              <a:ext uri="{FF2B5EF4-FFF2-40B4-BE49-F238E27FC236}">
                <a16:creationId xmlns:a16="http://schemas.microsoft.com/office/drawing/2014/main" xmlns="" id="{75DD2F6E-CB56-4429-A0EF-4FE0AD7274A6}"/>
              </a:ext>
            </a:extLst>
          </p:cNvPr>
          <p:cNvSpPr txBox="1"/>
          <p:nvPr/>
        </p:nvSpPr>
        <p:spPr>
          <a:xfrm>
            <a:off x="4710954" y="5012790"/>
            <a:ext cx="906556" cy="307777"/>
          </a:xfrm>
          <a:prstGeom prst="rect">
            <a:avLst/>
          </a:prstGeom>
          <a:solidFill>
            <a:srgbClr val="FFFFFF"/>
          </a:solidFill>
          <a:ln w="9144">
            <a:solidFill>
              <a:srgbClr val="000000"/>
            </a:solidFill>
          </a:ln>
        </p:spPr>
        <p:txBody>
          <a:bodyPr vert="horz" wrap="square" lIns="0" tIns="0" rIns="0" bIns="0" rtlCol="0">
            <a:spAutoFit/>
          </a:bodyPr>
          <a:lstStyle/>
          <a:p>
            <a:pPr marL="15689" algn="ctr">
              <a:lnSpc>
                <a:spcPts val="1209"/>
              </a:lnSpc>
            </a:pPr>
            <a:r>
              <a:rPr sz="1059" spc="-4" dirty="0">
                <a:solidFill>
                  <a:srgbClr val="333333"/>
                </a:solidFill>
                <a:latin typeface="Times New Roman"/>
                <a:cs typeface="Times New Roman"/>
              </a:rPr>
              <a:t>Input/Output</a:t>
            </a:r>
            <a:endParaRPr sz="1059" dirty="0">
              <a:latin typeface="Times New Roman"/>
              <a:cs typeface="Times New Roman"/>
            </a:endParaRPr>
          </a:p>
          <a:p>
            <a:pPr marL="18491" algn="ctr">
              <a:lnSpc>
                <a:spcPts val="1227"/>
              </a:lnSpc>
            </a:pP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1" name="object 19">
            <a:extLst>
              <a:ext uri="{FF2B5EF4-FFF2-40B4-BE49-F238E27FC236}">
                <a16:creationId xmlns:a16="http://schemas.microsoft.com/office/drawing/2014/main" xmlns="" id="{0ADC600D-6216-4C94-A29A-72797BB5F5C5}"/>
              </a:ext>
            </a:extLst>
          </p:cNvPr>
          <p:cNvSpPr/>
          <p:nvPr/>
        </p:nvSpPr>
        <p:spPr>
          <a:xfrm>
            <a:off x="4710954" y="5408129"/>
            <a:ext cx="906556" cy="309282"/>
          </a:xfrm>
          <a:custGeom>
            <a:avLst/>
            <a:gdLst/>
            <a:ahLst/>
            <a:cxnLst/>
            <a:rect l="l" t="t" r="r" b="b"/>
            <a:pathLst>
              <a:path w="1027429" h="350520">
                <a:moveTo>
                  <a:pt x="0" y="350519"/>
                </a:moveTo>
                <a:lnTo>
                  <a:pt x="1027176" y="350519"/>
                </a:lnTo>
                <a:lnTo>
                  <a:pt x="1027176" y="0"/>
                </a:lnTo>
                <a:lnTo>
                  <a:pt x="0" y="0"/>
                </a:lnTo>
                <a:lnTo>
                  <a:pt x="0" y="350519"/>
                </a:lnTo>
                <a:close/>
              </a:path>
            </a:pathLst>
          </a:custGeom>
          <a:ln w="9144">
            <a:solidFill>
              <a:srgbClr val="000000"/>
            </a:solidFill>
          </a:ln>
        </p:spPr>
        <p:txBody>
          <a:bodyPr wrap="square" lIns="0" tIns="0" rIns="0" bIns="0" rtlCol="0"/>
          <a:lstStyle/>
          <a:p>
            <a:endParaRPr sz="1588" dirty="0"/>
          </a:p>
        </p:txBody>
      </p:sp>
      <p:sp>
        <p:nvSpPr>
          <p:cNvPr id="112" name="object 20">
            <a:extLst>
              <a:ext uri="{FF2B5EF4-FFF2-40B4-BE49-F238E27FC236}">
                <a16:creationId xmlns:a16="http://schemas.microsoft.com/office/drawing/2014/main" xmlns="" id="{AE903485-412F-4424-9A3C-26020457BD8A}"/>
              </a:ext>
            </a:extLst>
          </p:cNvPr>
          <p:cNvSpPr txBox="1"/>
          <p:nvPr/>
        </p:nvSpPr>
        <p:spPr>
          <a:xfrm>
            <a:off x="4751297" y="3110925"/>
            <a:ext cx="855009" cy="1832119"/>
          </a:xfrm>
          <a:prstGeom prst="rect">
            <a:avLst/>
          </a:prstGeom>
        </p:spPr>
        <p:txBody>
          <a:bodyPr vert="horz" wrap="square" lIns="0" tIns="24652" rIns="0" bIns="0" rtlCol="0">
            <a:spAutoFit/>
          </a:bodyPr>
          <a:lstStyle/>
          <a:p>
            <a:pPr marL="190510" marR="191631" indent="31938">
              <a:lnSpc>
                <a:spcPct val="91700"/>
              </a:lnSpc>
              <a:spcBef>
                <a:spcPts val="193"/>
              </a:spcBef>
            </a:pPr>
            <a:r>
              <a:rPr sz="1059" dirty="0">
                <a:solidFill>
                  <a:srgbClr val="333333"/>
                </a:solidFill>
                <a:latin typeface="Times New Roman"/>
                <a:cs typeface="Times New Roman"/>
              </a:rPr>
              <a:t>Decode  r  </a:t>
            </a:r>
            <a:r>
              <a:rPr sz="1059" spc="-4" dirty="0">
                <a:solidFill>
                  <a:srgbClr val="333333"/>
                </a:solidFill>
                <a:latin typeface="Times New Roman"/>
                <a:cs typeface="Times New Roman"/>
              </a:rPr>
              <a:t>P</a:t>
            </a:r>
            <a:r>
              <a:rPr sz="1059" spc="-22" dirty="0">
                <a:solidFill>
                  <a:srgbClr val="333333"/>
                </a:solidFill>
                <a:latin typeface="Times New Roman"/>
                <a:cs typeface="Times New Roman"/>
              </a:rPr>
              <a:t>r</a:t>
            </a:r>
            <a:r>
              <a:rPr sz="1059" spc="9" dirty="0">
                <a:solidFill>
                  <a:srgbClr val="333333"/>
                </a:solidFill>
                <a:latin typeface="Times New Roman"/>
                <a:cs typeface="Times New Roman"/>
              </a:rPr>
              <a:t>o</a:t>
            </a:r>
            <a:r>
              <a:rPr sz="1059" spc="-4" dirty="0">
                <a:solidFill>
                  <a:srgbClr val="333333"/>
                </a:solidFill>
                <a:latin typeface="Times New Roman"/>
                <a:cs typeface="Times New Roman"/>
              </a:rPr>
              <a:t>g</a:t>
            </a:r>
            <a:r>
              <a:rPr sz="1059" dirty="0">
                <a:solidFill>
                  <a:srgbClr val="333333"/>
                </a:solidFill>
                <a:latin typeface="Times New Roman"/>
                <a:cs typeface="Times New Roman"/>
              </a:rPr>
              <a:t>r</a:t>
            </a:r>
            <a:r>
              <a:rPr sz="1059" spc="-4" dirty="0">
                <a:solidFill>
                  <a:srgbClr val="333333"/>
                </a:solidFill>
                <a:latin typeface="Times New Roman"/>
                <a:cs typeface="Times New Roman"/>
              </a:rPr>
              <a:t>am</a:t>
            </a:r>
            <a:endParaRPr sz="1059" dirty="0">
              <a:latin typeface="Times New Roman"/>
              <a:cs typeface="Times New Roman"/>
            </a:endParaRPr>
          </a:p>
          <a:p>
            <a:pPr marL="10646">
              <a:lnSpc>
                <a:spcPts val="1249"/>
              </a:lnSpc>
            </a:pPr>
            <a:r>
              <a:rPr sz="1059" dirty="0">
                <a:solidFill>
                  <a:srgbClr val="333333"/>
                </a:solidFill>
                <a:latin typeface="Times New Roman"/>
                <a:cs typeface="Times New Roman"/>
              </a:rPr>
              <a:t>control</a:t>
            </a:r>
            <a:r>
              <a:rPr sz="1059" spc="-62" dirty="0">
                <a:solidFill>
                  <a:srgbClr val="333333"/>
                </a:solidFill>
                <a:latin typeface="Times New Roman"/>
                <a:cs typeface="Times New Roman"/>
              </a:rPr>
              <a:t> </a:t>
            </a:r>
            <a:r>
              <a:rPr sz="1059" dirty="0">
                <a:solidFill>
                  <a:srgbClr val="333333"/>
                </a:solidFill>
                <a:latin typeface="Times New Roman"/>
                <a:cs typeface="Times New Roman"/>
              </a:rPr>
              <a:t>register</a:t>
            </a:r>
            <a:endParaRPr sz="1059" dirty="0">
              <a:latin typeface="Times New Roman"/>
              <a:cs typeface="Times New Roman"/>
            </a:endParaRPr>
          </a:p>
          <a:p>
            <a:pPr marL="142322" marR="121030" algn="ctr">
              <a:lnSpc>
                <a:spcPts val="1253"/>
              </a:lnSpc>
              <a:spcBef>
                <a:spcPts val="710"/>
              </a:spcBef>
            </a:pPr>
            <a:r>
              <a:rPr sz="1059" dirty="0">
                <a:solidFill>
                  <a:srgbClr val="333333"/>
                </a:solidFill>
                <a:latin typeface="Times New Roman"/>
                <a:cs typeface="Times New Roman"/>
              </a:rPr>
              <a:t>I</a:t>
            </a:r>
            <a:r>
              <a:rPr sz="1059" spc="-26" dirty="0">
                <a:solidFill>
                  <a:srgbClr val="333333"/>
                </a:solidFill>
                <a:latin typeface="Times New Roman"/>
                <a:cs typeface="Times New Roman"/>
              </a:rPr>
              <a:t>n</a:t>
            </a:r>
            <a:r>
              <a:rPr sz="1059" spc="-18" dirty="0">
                <a:solidFill>
                  <a:srgbClr val="333333"/>
                </a:solidFill>
                <a:latin typeface="Times New Roman"/>
                <a:cs typeface="Times New Roman"/>
              </a:rPr>
              <a:t>s</a:t>
            </a:r>
            <a:r>
              <a:rPr sz="1059" spc="22" dirty="0">
                <a:solidFill>
                  <a:srgbClr val="333333"/>
                </a:solidFill>
                <a:latin typeface="Times New Roman"/>
                <a:cs typeface="Times New Roman"/>
              </a:rPr>
              <a:t>t</a:t>
            </a:r>
            <a:r>
              <a:rPr sz="1059" dirty="0">
                <a:solidFill>
                  <a:srgbClr val="333333"/>
                </a:solidFill>
                <a:latin typeface="Times New Roman"/>
                <a:cs typeface="Times New Roman"/>
              </a:rPr>
              <a:t>ruc</a:t>
            </a:r>
            <a:r>
              <a:rPr sz="1059" spc="22" dirty="0">
                <a:solidFill>
                  <a:srgbClr val="333333"/>
                </a:solidFill>
                <a:latin typeface="Times New Roman"/>
                <a:cs typeface="Times New Roman"/>
              </a:rPr>
              <a:t>t</a:t>
            </a:r>
            <a:r>
              <a:rPr sz="1059" spc="-44" dirty="0">
                <a:solidFill>
                  <a:srgbClr val="333333"/>
                </a:solidFill>
                <a:latin typeface="Times New Roman"/>
                <a:cs typeface="Times New Roman"/>
              </a:rPr>
              <a:t>i</a:t>
            </a:r>
            <a:r>
              <a:rPr sz="1059" spc="13" dirty="0">
                <a:solidFill>
                  <a:srgbClr val="333333"/>
                </a:solidFill>
                <a:latin typeface="Times New Roman"/>
                <a:cs typeface="Times New Roman"/>
              </a:rPr>
              <a:t>o</a:t>
            </a:r>
            <a:r>
              <a:rPr sz="1059" dirty="0">
                <a:solidFill>
                  <a:srgbClr val="333333"/>
                </a:solidFill>
                <a:latin typeface="Times New Roman"/>
                <a:cs typeface="Times New Roman"/>
              </a:rPr>
              <a:t>n  </a:t>
            </a:r>
            <a:r>
              <a:rPr sz="1059" spc="-4" dirty="0">
                <a:solidFill>
                  <a:srgbClr val="333333"/>
                </a:solidFill>
                <a:latin typeface="Times New Roman"/>
                <a:cs typeface="Times New Roman"/>
              </a:rPr>
              <a:t>register</a:t>
            </a:r>
            <a:endParaRPr sz="1059" dirty="0">
              <a:latin typeface="Times New Roman"/>
              <a:cs typeface="Times New Roman"/>
            </a:endParaRPr>
          </a:p>
          <a:p>
            <a:pPr marR="4483" indent="3362" algn="ctr">
              <a:spcBef>
                <a:spcPts val="529"/>
              </a:spcBef>
            </a:pPr>
            <a:r>
              <a:rPr sz="1059" spc="-4" dirty="0">
                <a:solidFill>
                  <a:srgbClr val="333333"/>
                </a:solidFill>
                <a:latin typeface="Times New Roman"/>
                <a:cs typeface="Times New Roman"/>
              </a:rPr>
              <a:t>Memory  address</a:t>
            </a:r>
            <a:r>
              <a:rPr sz="1059" spc="-53" dirty="0">
                <a:solidFill>
                  <a:srgbClr val="333333"/>
                </a:solidFill>
                <a:latin typeface="Times New Roman"/>
                <a:cs typeface="Times New Roman"/>
              </a:rPr>
              <a:t> </a:t>
            </a:r>
            <a:r>
              <a:rPr sz="1059" dirty="0">
                <a:solidFill>
                  <a:srgbClr val="333333"/>
                </a:solidFill>
                <a:latin typeface="Times New Roman"/>
                <a:cs typeface="Times New Roman"/>
              </a:rPr>
              <a:t>register</a:t>
            </a:r>
            <a:endParaRPr sz="1059" dirty="0">
              <a:latin typeface="Times New Roman"/>
              <a:cs typeface="Times New Roman"/>
            </a:endParaRPr>
          </a:p>
          <a:p>
            <a:pPr marL="2241" marR="22413" algn="ctr">
              <a:spcBef>
                <a:spcPts val="507"/>
              </a:spcBef>
            </a:pPr>
            <a:r>
              <a:rPr sz="1059" spc="-4" dirty="0">
                <a:solidFill>
                  <a:srgbClr val="333333"/>
                </a:solidFill>
                <a:latin typeface="Times New Roman"/>
                <a:cs typeface="Times New Roman"/>
              </a:rPr>
              <a:t>Memory</a:t>
            </a:r>
            <a:r>
              <a:rPr sz="1059" spc="-62" dirty="0">
                <a:solidFill>
                  <a:srgbClr val="333333"/>
                </a:solidFill>
                <a:latin typeface="Times New Roman"/>
                <a:cs typeface="Times New Roman"/>
              </a:rPr>
              <a:t> </a:t>
            </a:r>
            <a:r>
              <a:rPr sz="1059" spc="-9" dirty="0">
                <a:solidFill>
                  <a:srgbClr val="333333"/>
                </a:solidFill>
                <a:latin typeface="Times New Roman"/>
                <a:cs typeface="Times New Roman"/>
              </a:rPr>
              <a:t>buffer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3" name="object 21">
            <a:extLst>
              <a:ext uri="{FF2B5EF4-FFF2-40B4-BE49-F238E27FC236}">
                <a16:creationId xmlns:a16="http://schemas.microsoft.com/office/drawing/2014/main" xmlns="" id="{3085FD94-99DE-4D68-8A19-D3C1DFC51417}"/>
              </a:ext>
            </a:extLst>
          </p:cNvPr>
          <p:cNvSpPr/>
          <p:nvPr/>
        </p:nvSpPr>
        <p:spPr>
          <a:xfrm>
            <a:off x="4710954" y="3829449"/>
            <a:ext cx="906556" cy="307041"/>
          </a:xfrm>
          <a:custGeom>
            <a:avLst/>
            <a:gdLst/>
            <a:ahLst/>
            <a:cxnLst/>
            <a:rect l="l" t="t" r="r" b="b"/>
            <a:pathLst>
              <a:path w="1027429" h="347979">
                <a:moveTo>
                  <a:pt x="0" y="347472"/>
                </a:moveTo>
                <a:lnTo>
                  <a:pt x="1027176" y="347472"/>
                </a:lnTo>
                <a:lnTo>
                  <a:pt x="1027176"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14" name="object 22">
            <a:extLst>
              <a:ext uri="{FF2B5EF4-FFF2-40B4-BE49-F238E27FC236}">
                <a16:creationId xmlns:a16="http://schemas.microsoft.com/office/drawing/2014/main" xmlns="" id="{3F2381EB-322D-42A8-A462-1F487985F045}"/>
              </a:ext>
            </a:extLst>
          </p:cNvPr>
          <p:cNvSpPr/>
          <p:nvPr/>
        </p:nvSpPr>
        <p:spPr>
          <a:xfrm>
            <a:off x="6090621" y="2936559"/>
            <a:ext cx="1051672" cy="2791946"/>
          </a:xfrm>
          <a:custGeom>
            <a:avLst/>
            <a:gdLst/>
            <a:ahLst/>
            <a:cxnLst/>
            <a:rect l="l" t="t" r="r" b="b"/>
            <a:pathLst>
              <a:path w="1191895" h="3164204">
                <a:moveTo>
                  <a:pt x="0" y="3163824"/>
                </a:moveTo>
                <a:lnTo>
                  <a:pt x="1191768" y="3163824"/>
                </a:lnTo>
                <a:lnTo>
                  <a:pt x="1191768" y="0"/>
                </a:lnTo>
                <a:lnTo>
                  <a:pt x="0" y="0"/>
                </a:lnTo>
                <a:lnTo>
                  <a:pt x="0" y="3163824"/>
                </a:lnTo>
                <a:close/>
              </a:path>
            </a:pathLst>
          </a:custGeom>
          <a:solidFill>
            <a:srgbClr val="FFFFFF"/>
          </a:solidFill>
        </p:spPr>
        <p:txBody>
          <a:bodyPr wrap="square" lIns="0" tIns="0" rIns="0" bIns="0" rtlCol="0"/>
          <a:lstStyle/>
          <a:p>
            <a:endParaRPr sz="1588" dirty="0"/>
          </a:p>
        </p:txBody>
      </p:sp>
      <p:sp>
        <p:nvSpPr>
          <p:cNvPr id="115" name="object 23">
            <a:extLst>
              <a:ext uri="{FF2B5EF4-FFF2-40B4-BE49-F238E27FC236}">
                <a16:creationId xmlns:a16="http://schemas.microsoft.com/office/drawing/2014/main" xmlns="" id="{E40F585D-FFDB-4442-8BF6-24DA2B721E41}"/>
              </a:ext>
            </a:extLst>
          </p:cNvPr>
          <p:cNvSpPr/>
          <p:nvPr/>
        </p:nvSpPr>
        <p:spPr>
          <a:xfrm>
            <a:off x="6090621" y="2936559"/>
            <a:ext cx="1051672" cy="2791946"/>
          </a:xfrm>
          <a:custGeom>
            <a:avLst/>
            <a:gdLst/>
            <a:ahLst/>
            <a:cxnLst/>
            <a:rect l="l" t="t" r="r" b="b"/>
            <a:pathLst>
              <a:path w="1191895" h="3164204">
                <a:moveTo>
                  <a:pt x="0" y="3163824"/>
                </a:moveTo>
                <a:lnTo>
                  <a:pt x="1191768" y="3163824"/>
                </a:lnTo>
                <a:lnTo>
                  <a:pt x="1191768" y="0"/>
                </a:lnTo>
                <a:lnTo>
                  <a:pt x="0" y="0"/>
                </a:lnTo>
                <a:lnTo>
                  <a:pt x="0" y="3163824"/>
                </a:lnTo>
                <a:close/>
              </a:path>
            </a:pathLst>
          </a:custGeom>
          <a:ln w="18288">
            <a:solidFill>
              <a:srgbClr val="000000"/>
            </a:solidFill>
          </a:ln>
        </p:spPr>
        <p:txBody>
          <a:bodyPr wrap="square" lIns="0" tIns="0" rIns="0" bIns="0" rtlCol="0"/>
          <a:lstStyle/>
          <a:p>
            <a:endParaRPr sz="1588" dirty="0"/>
          </a:p>
        </p:txBody>
      </p:sp>
      <p:sp>
        <p:nvSpPr>
          <p:cNvPr id="116" name="object 24">
            <a:extLst>
              <a:ext uri="{FF2B5EF4-FFF2-40B4-BE49-F238E27FC236}">
                <a16:creationId xmlns:a16="http://schemas.microsoft.com/office/drawing/2014/main" xmlns="" id="{F7733478-46AB-4032-8180-DC6E32CF900E}"/>
              </a:ext>
            </a:extLst>
          </p:cNvPr>
          <p:cNvSpPr txBox="1"/>
          <p:nvPr/>
        </p:nvSpPr>
        <p:spPr>
          <a:xfrm>
            <a:off x="6165925" y="3030692"/>
            <a:ext cx="903755" cy="307777"/>
          </a:xfrm>
          <a:prstGeom prst="rect">
            <a:avLst/>
          </a:prstGeom>
          <a:solidFill>
            <a:srgbClr val="FFFFFF"/>
          </a:solidFill>
          <a:ln w="9144">
            <a:solidFill>
              <a:srgbClr val="000000"/>
            </a:solidFill>
          </a:ln>
        </p:spPr>
        <p:txBody>
          <a:bodyPr vert="horz" wrap="square" lIns="0" tIns="0" rIns="0" bIns="0" rtlCol="0">
            <a:spAutoFit/>
          </a:bodyPr>
          <a:lstStyle/>
          <a:p>
            <a:pPr marL="22413" algn="ctr">
              <a:lnSpc>
                <a:spcPts val="1134"/>
              </a:lnSpc>
            </a:pPr>
            <a:r>
              <a:rPr sz="1059" dirty="0">
                <a:solidFill>
                  <a:srgbClr val="333333"/>
                </a:solidFill>
                <a:latin typeface="Times New Roman"/>
                <a:cs typeface="Times New Roman"/>
              </a:rPr>
              <a:t>Accumulato</a:t>
            </a:r>
            <a:endParaRPr sz="1059" dirty="0">
              <a:latin typeface="Times New Roman"/>
              <a:cs typeface="Times New Roman"/>
            </a:endParaRPr>
          </a:p>
          <a:p>
            <a:pPr marL="20732" algn="ctr">
              <a:lnSpc>
                <a:spcPts val="1262"/>
              </a:lnSpc>
            </a:pPr>
            <a:r>
              <a:rPr sz="1059" spc="-4" dirty="0">
                <a:solidFill>
                  <a:srgbClr val="333333"/>
                </a:solidFill>
                <a:latin typeface="Times New Roman"/>
                <a:cs typeface="Times New Roman"/>
              </a:rPr>
              <a:t>r</a:t>
            </a:r>
            <a:r>
              <a:rPr sz="1059"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7" name="object 25">
            <a:extLst>
              <a:ext uri="{FF2B5EF4-FFF2-40B4-BE49-F238E27FC236}">
                <a16:creationId xmlns:a16="http://schemas.microsoft.com/office/drawing/2014/main" xmlns="" id="{B08FA253-DE39-49B8-8367-1DFF55D03044}"/>
              </a:ext>
            </a:extLst>
          </p:cNvPr>
          <p:cNvSpPr txBox="1"/>
          <p:nvPr/>
        </p:nvSpPr>
        <p:spPr>
          <a:xfrm>
            <a:off x="6165925" y="3434104"/>
            <a:ext cx="903755" cy="307777"/>
          </a:xfrm>
          <a:prstGeom prst="rect">
            <a:avLst/>
          </a:prstGeom>
          <a:solidFill>
            <a:srgbClr val="FFFFFF"/>
          </a:solidFill>
          <a:ln w="9144">
            <a:solidFill>
              <a:srgbClr val="000000"/>
            </a:solidFill>
          </a:ln>
        </p:spPr>
        <p:txBody>
          <a:bodyPr vert="horz" wrap="square" lIns="0" tIns="0" rIns="0" bIns="0" rtlCol="0">
            <a:spAutoFit/>
          </a:bodyPr>
          <a:lstStyle/>
          <a:p>
            <a:pPr marL="11206" algn="ctr">
              <a:lnSpc>
                <a:spcPts val="1134"/>
              </a:lnSpc>
            </a:pPr>
            <a:r>
              <a:rPr sz="1059" spc="-9" dirty="0">
                <a:solidFill>
                  <a:srgbClr val="333333"/>
                </a:solidFill>
                <a:latin typeface="Times New Roman"/>
                <a:cs typeface="Times New Roman"/>
              </a:rPr>
              <a:t>General-</a:t>
            </a:r>
            <a:endParaRPr sz="1059" dirty="0">
              <a:latin typeface="Times New Roman"/>
              <a:cs typeface="Times New Roman"/>
            </a:endParaRPr>
          </a:p>
          <a:p>
            <a:pPr marL="14008" algn="ctr">
              <a:lnSpc>
                <a:spcPts val="1262"/>
              </a:lnSpc>
            </a:pPr>
            <a:r>
              <a:rPr sz="1059" spc="-4" dirty="0">
                <a:solidFill>
                  <a:srgbClr val="333333"/>
                </a:solidFill>
                <a:latin typeface="Times New Roman"/>
                <a:cs typeface="Times New Roman"/>
              </a:rPr>
              <a:t>purpose</a:t>
            </a:r>
            <a:r>
              <a:rPr sz="1059" spc="-22"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p:txBody>
      </p:sp>
      <p:sp>
        <p:nvSpPr>
          <p:cNvPr id="118" name="object 26">
            <a:extLst>
              <a:ext uri="{FF2B5EF4-FFF2-40B4-BE49-F238E27FC236}">
                <a16:creationId xmlns:a16="http://schemas.microsoft.com/office/drawing/2014/main" xmlns="" id="{710A8BFA-F4C2-4655-89E5-6325368C6E9E}"/>
              </a:ext>
            </a:extLst>
          </p:cNvPr>
          <p:cNvSpPr txBox="1"/>
          <p:nvPr/>
        </p:nvSpPr>
        <p:spPr>
          <a:xfrm>
            <a:off x="6383767" y="3799417"/>
            <a:ext cx="480172" cy="500295"/>
          </a:xfrm>
          <a:prstGeom prst="rect">
            <a:avLst/>
          </a:prstGeom>
        </p:spPr>
        <p:txBody>
          <a:bodyPr vert="horz" wrap="square" lIns="0" tIns="11206" rIns="0" bIns="0" rtlCol="0">
            <a:spAutoFit/>
          </a:bodyPr>
          <a:lstStyle/>
          <a:p>
            <a:pPr marL="24094" marR="4483" indent="-24654" algn="just">
              <a:spcBef>
                <a:spcPts val="88"/>
              </a:spcBef>
            </a:pPr>
            <a:r>
              <a:rPr sz="1059" spc="-4" dirty="0">
                <a:solidFill>
                  <a:srgbClr val="333333"/>
                </a:solidFill>
                <a:latin typeface="Times New Roman"/>
                <a:cs typeface="Times New Roman"/>
              </a:rPr>
              <a:t>Gene</a:t>
            </a:r>
            <a:r>
              <a:rPr sz="1059" dirty="0">
                <a:solidFill>
                  <a:srgbClr val="333333"/>
                </a:solidFill>
                <a:latin typeface="Times New Roman"/>
                <a:cs typeface="Times New Roman"/>
              </a:rPr>
              <a:t>r</a:t>
            </a:r>
            <a:r>
              <a:rPr sz="1059" spc="4" dirty="0">
                <a:solidFill>
                  <a:srgbClr val="333333"/>
                </a:solidFill>
                <a:latin typeface="Times New Roman"/>
                <a:cs typeface="Times New Roman"/>
              </a:rPr>
              <a:t>a</a:t>
            </a:r>
            <a:r>
              <a:rPr sz="1059" spc="-26" dirty="0">
                <a:solidFill>
                  <a:srgbClr val="333333"/>
                </a:solidFill>
                <a:latin typeface="Times New Roman"/>
                <a:cs typeface="Times New Roman"/>
              </a:rPr>
              <a:t>l-  </a:t>
            </a:r>
            <a:r>
              <a:rPr sz="1059" spc="-4" dirty="0">
                <a:solidFill>
                  <a:srgbClr val="333333"/>
                </a:solidFill>
                <a:latin typeface="Times New Roman"/>
                <a:cs typeface="Times New Roman"/>
              </a:rPr>
              <a:t>purpose  register</a:t>
            </a:r>
            <a:endParaRPr sz="1059" dirty="0">
              <a:latin typeface="Times New Roman"/>
              <a:cs typeface="Times New Roman"/>
            </a:endParaRPr>
          </a:p>
        </p:txBody>
      </p:sp>
      <p:sp>
        <p:nvSpPr>
          <p:cNvPr id="119" name="object 27">
            <a:extLst>
              <a:ext uri="{FF2B5EF4-FFF2-40B4-BE49-F238E27FC236}">
                <a16:creationId xmlns:a16="http://schemas.microsoft.com/office/drawing/2014/main" xmlns="" id="{ED913FF9-B074-41D4-822C-973038F88717}"/>
              </a:ext>
            </a:extLst>
          </p:cNvPr>
          <p:cNvSpPr/>
          <p:nvPr/>
        </p:nvSpPr>
        <p:spPr>
          <a:xfrm>
            <a:off x="6165925" y="5408129"/>
            <a:ext cx="903755" cy="309282"/>
          </a:xfrm>
          <a:custGeom>
            <a:avLst/>
            <a:gdLst/>
            <a:ahLst/>
            <a:cxnLst/>
            <a:rect l="l" t="t" r="r" b="b"/>
            <a:pathLst>
              <a:path w="1024254" h="350520">
                <a:moveTo>
                  <a:pt x="0" y="350519"/>
                </a:moveTo>
                <a:lnTo>
                  <a:pt x="1024127" y="350519"/>
                </a:lnTo>
                <a:lnTo>
                  <a:pt x="1024127" y="0"/>
                </a:lnTo>
                <a:lnTo>
                  <a:pt x="0" y="0"/>
                </a:lnTo>
                <a:lnTo>
                  <a:pt x="0" y="350519"/>
                </a:lnTo>
                <a:close/>
              </a:path>
            </a:pathLst>
          </a:custGeom>
          <a:ln w="9144">
            <a:solidFill>
              <a:srgbClr val="000000"/>
            </a:solidFill>
          </a:ln>
        </p:spPr>
        <p:txBody>
          <a:bodyPr wrap="square" lIns="0" tIns="0" rIns="0" bIns="0" rtlCol="0"/>
          <a:lstStyle/>
          <a:p>
            <a:endParaRPr sz="1588" dirty="0"/>
          </a:p>
        </p:txBody>
      </p:sp>
      <p:sp>
        <p:nvSpPr>
          <p:cNvPr id="120" name="object 28">
            <a:extLst>
              <a:ext uri="{FF2B5EF4-FFF2-40B4-BE49-F238E27FC236}">
                <a16:creationId xmlns:a16="http://schemas.microsoft.com/office/drawing/2014/main" xmlns="" id="{C5B3156E-D0C9-4D01-8692-959BFD6E512A}"/>
              </a:ext>
            </a:extLst>
          </p:cNvPr>
          <p:cNvSpPr txBox="1"/>
          <p:nvPr/>
        </p:nvSpPr>
        <p:spPr>
          <a:xfrm>
            <a:off x="6251989" y="5380789"/>
            <a:ext cx="760879" cy="283365"/>
          </a:xfrm>
          <a:prstGeom prst="rect">
            <a:avLst/>
          </a:prstGeom>
        </p:spPr>
        <p:txBody>
          <a:bodyPr vert="horz" wrap="square" lIns="0" tIns="11766" rIns="0" bIns="0" rtlCol="0">
            <a:spAutoFit/>
          </a:bodyPr>
          <a:lstStyle/>
          <a:p>
            <a:pPr marL="201717" marR="4483" indent="-201717">
              <a:spcBef>
                <a:spcPts val="93"/>
              </a:spcBef>
            </a:pPr>
            <a:r>
              <a:rPr sz="882" spc="-4" dirty="0">
                <a:solidFill>
                  <a:srgbClr val="333333"/>
                </a:solidFill>
                <a:latin typeface="Times New Roman"/>
                <a:cs typeface="Times New Roman"/>
              </a:rPr>
              <a:t>G</a:t>
            </a:r>
            <a:r>
              <a:rPr sz="882" spc="-18" dirty="0">
                <a:solidFill>
                  <a:srgbClr val="333333"/>
                </a:solidFill>
                <a:latin typeface="Times New Roman"/>
                <a:cs typeface="Times New Roman"/>
              </a:rPr>
              <a:t>e</a:t>
            </a:r>
            <a:r>
              <a:rPr sz="882" spc="13" dirty="0">
                <a:solidFill>
                  <a:srgbClr val="333333"/>
                </a:solidFill>
                <a:latin typeface="Times New Roman"/>
                <a:cs typeface="Times New Roman"/>
              </a:rPr>
              <a:t>n</a:t>
            </a:r>
            <a:r>
              <a:rPr sz="882" spc="-18" dirty="0">
                <a:solidFill>
                  <a:srgbClr val="333333"/>
                </a:solidFill>
                <a:latin typeface="Times New Roman"/>
                <a:cs typeface="Times New Roman"/>
              </a:rPr>
              <a:t>e</a:t>
            </a:r>
            <a:r>
              <a:rPr sz="882" spc="13" dirty="0">
                <a:solidFill>
                  <a:srgbClr val="333333"/>
                </a:solidFill>
                <a:latin typeface="Times New Roman"/>
                <a:cs typeface="Times New Roman"/>
              </a:rPr>
              <a:t>r</a:t>
            </a:r>
            <a:r>
              <a:rPr sz="882" dirty="0">
                <a:solidFill>
                  <a:srgbClr val="333333"/>
                </a:solidFill>
                <a:latin typeface="Times New Roman"/>
                <a:cs typeface="Times New Roman"/>
              </a:rPr>
              <a:t>al-p</a:t>
            </a:r>
            <a:r>
              <a:rPr sz="882" spc="-22" dirty="0">
                <a:solidFill>
                  <a:srgbClr val="333333"/>
                </a:solidFill>
                <a:latin typeface="Times New Roman"/>
                <a:cs typeface="Times New Roman"/>
              </a:rPr>
              <a:t>u</a:t>
            </a:r>
            <a:r>
              <a:rPr sz="882" dirty="0">
                <a:solidFill>
                  <a:srgbClr val="333333"/>
                </a:solidFill>
                <a:latin typeface="Times New Roman"/>
                <a:cs typeface="Times New Roman"/>
              </a:rPr>
              <a:t>rp</a:t>
            </a:r>
            <a:r>
              <a:rPr sz="882" spc="-22" dirty="0">
                <a:solidFill>
                  <a:srgbClr val="333333"/>
                </a:solidFill>
                <a:latin typeface="Times New Roman"/>
                <a:cs typeface="Times New Roman"/>
              </a:rPr>
              <a:t>o</a:t>
            </a:r>
            <a:r>
              <a:rPr sz="882" spc="-9" dirty="0">
                <a:solidFill>
                  <a:srgbClr val="333333"/>
                </a:solidFill>
                <a:latin typeface="Times New Roman"/>
                <a:cs typeface="Times New Roman"/>
              </a:rPr>
              <a:t>s</a:t>
            </a:r>
            <a:r>
              <a:rPr sz="882" dirty="0">
                <a:solidFill>
                  <a:srgbClr val="333333"/>
                </a:solidFill>
                <a:latin typeface="Times New Roman"/>
                <a:cs typeface="Times New Roman"/>
              </a:rPr>
              <a:t>e  </a:t>
            </a:r>
            <a:r>
              <a:rPr sz="882" spc="-4" dirty="0">
                <a:solidFill>
                  <a:srgbClr val="333333"/>
                </a:solidFill>
                <a:latin typeface="Times New Roman"/>
                <a:cs typeface="Times New Roman"/>
              </a:rPr>
              <a:t>register</a:t>
            </a:r>
            <a:endParaRPr sz="882" dirty="0">
              <a:latin typeface="Times New Roman"/>
              <a:cs typeface="Times New Roman"/>
            </a:endParaRPr>
          </a:p>
        </p:txBody>
      </p:sp>
      <p:sp>
        <p:nvSpPr>
          <p:cNvPr id="121" name="object 29">
            <a:extLst>
              <a:ext uri="{FF2B5EF4-FFF2-40B4-BE49-F238E27FC236}">
                <a16:creationId xmlns:a16="http://schemas.microsoft.com/office/drawing/2014/main" xmlns="" id="{5EA28580-D428-4EFD-84A1-A6A0CF9CCAB7}"/>
              </a:ext>
            </a:extLst>
          </p:cNvPr>
          <p:cNvSpPr/>
          <p:nvPr/>
        </p:nvSpPr>
        <p:spPr>
          <a:xfrm>
            <a:off x="6165925" y="3829449"/>
            <a:ext cx="903755" cy="307041"/>
          </a:xfrm>
          <a:custGeom>
            <a:avLst/>
            <a:gdLst/>
            <a:ahLst/>
            <a:cxnLst/>
            <a:rect l="l" t="t" r="r" b="b"/>
            <a:pathLst>
              <a:path w="1024254" h="347979">
                <a:moveTo>
                  <a:pt x="0" y="347472"/>
                </a:moveTo>
                <a:lnTo>
                  <a:pt x="1024127" y="347472"/>
                </a:lnTo>
                <a:lnTo>
                  <a:pt x="1024127" y="0"/>
                </a:lnTo>
                <a:lnTo>
                  <a:pt x="0" y="0"/>
                </a:lnTo>
                <a:lnTo>
                  <a:pt x="0" y="347472"/>
                </a:lnTo>
                <a:close/>
              </a:path>
            </a:pathLst>
          </a:custGeom>
          <a:ln w="9144">
            <a:solidFill>
              <a:srgbClr val="000000"/>
            </a:solidFill>
          </a:ln>
        </p:spPr>
        <p:txBody>
          <a:bodyPr wrap="square" lIns="0" tIns="0" rIns="0" bIns="0" rtlCol="0"/>
          <a:lstStyle/>
          <a:p>
            <a:endParaRPr sz="1588" dirty="0"/>
          </a:p>
        </p:txBody>
      </p:sp>
      <p:sp>
        <p:nvSpPr>
          <p:cNvPr id="122" name="object 30">
            <a:extLst>
              <a:ext uri="{FF2B5EF4-FFF2-40B4-BE49-F238E27FC236}">
                <a16:creationId xmlns:a16="http://schemas.microsoft.com/office/drawing/2014/main" xmlns="" id="{FD0D5E17-4BFA-4CB8-87E5-99A6D1CB3762}"/>
              </a:ext>
            </a:extLst>
          </p:cNvPr>
          <p:cNvSpPr txBox="1"/>
          <p:nvPr/>
        </p:nvSpPr>
        <p:spPr>
          <a:xfrm>
            <a:off x="4737847" y="5380787"/>
            <a:ext cx="875740" cy="590064"/>
          </a:xfrm>
          <a:prstGeom prst="rect">
            <a:avLst/>
          </a:prstGeom>
        </p:spPr>
        <p:txBody>
          <a:bodyPr vert="horz" wrap="square" lIns="0" tIns="11206" rIns="0" bIns="0" rtlCol="0">
            <a:spAutoFit/>
          </a:bodyPr>
          <a:lstStyle/>
          <a:p>
            <a:pPr marR="4483" indent="-3362" algn="ctr">
              <a:spcBef>
                <a:spcPts val="88"/>
              </a:spcBef>
            </a:pPr>
            <a:r>
              <a:rPr sz="1059" spc="-9" dirty="0">
                <a:solidFill>
                  <a:srgbClr val="333333"/>
                </a:solidFill>
                <a:latin typeface="Times New Roman"/>
                <a:cs typeface="Times New Roman"/>
              </a:rPr>
              <a:t>General-  </a:t>
            </a:r>
            <a:r>
              <a:rPr sz="1059" spc="-4" dirty="0">
                <a:solidFill>
                  <a:srgbClr val="333333"/>
                </a:solidFill>
                <a:latin typeface="Times New Roman"/>
                <a:cs typeface="Times New Roman"/>
              </a:rPr>
              <a:t>purpose</a:t>
            </a:r>
            <a:r>
              <a:rPr sz="1059" spc="-31" dirty="0">
                <a:solidFill>
                  <a:srgbClr val="333333"/>
                </a:solidFill>
                <a:latin typeface="Times New Roman"/>
                <a:cs typeface="Times New Roman"/>
              </a:rPr>
              <a:t> </a:t>
            </a:r>
            <a:r>
              <a:rPr sz="1059" spc="-4" dirty="0">
                <a:solidFill>
                  <a:srgbClr val="333333"/>
                </a:solidFill>
                <a:latin typeface="Times New Roman"/>
                <a:cs typeface="Times New Roman"/>
              </a:rPr>
              <a:t>register</a:t>
            </a:r>
            <a:endParaRPr sz="1059" dirty="0">
              <a:latin typeface="Times New Roman"/>
              <a:cs typeface="Times New Roman"/>
            </a:endParaRPr>
          </a:p>
          <a:p>
            <a:pPr marR="70041" algn="ctr">
              <a:spcBef>
                <a:spcPts val="697"/>
              </a:spcBef>
            </a:pPr>
            <a:r>
              <a:rPr sz="1059" dirty="0">
                <a:solidFill>
                  <a:srgbClr val="333333"/>
                </a:solidFill>
                <a:latin typeface="Times New Roman"/>
                <a:cs typeface="Times New Roman"/>
              </a:rPr>
              <a:t>Control</a:t>
            </a:r>
            <a:r>
              <a:rPr sz="1059" spc="-53" dirty="0">
                <a:solidFill>
                  <a:srgbClr val="333333"/>
                </a:solidFill>
                <a:latin typeface="Times New Roman"/>
                <a:cs typeface="Times New Roman"/>
              </a:rPr>
              <a:t> </a:t>
            </a:r>
            <a:r>
              <a:rPr sz="1059" spc="-22" dirty="0">
                <a:solidFill>
                  <a:srgbClr val="333333"/>
                </a:solidFill>
                <a:latin typeface="Times New Roman"/>
                <a:cs typeface="Times New Roman"/>
              </a:rPr>
              <a:t>Unit</a:t>
            </a:r>
            <a:endParaRPr sz="1059" dirty="0">
              <a:latin typeface="Times New Roman"/>
              <a:cs typeface="Times New Roman"/>
            </a:endParaRPr>
          </a:p>
        </p:txBody>
      </p:sp>
      <p:sp>
        <p:nvSpPr>
          <p:cNvPr id="123" name="object 33">
            <a:extLst>
              <a:ext uri="{FF2B5EF4-FFF2-40B4-BE49-F238E27FC236}">
                <a16:creationId xmlns:a16="http://schemas.microsoft.com/office/drawing/2014/main" xmlns="" id="{BC319EB3-77F8-4737-9200-8F8C41BE7539}"/>
              </a:ext>
            </a:extLst>
          </p:cNvPr>
          <p:cNvSpPr/>
          <p:nvPr/>
        </p:nvSpPr>
        <p:spPr>
          <a:xfrm>
            <a:off x="7448775" y="3799864"/>
            <a:ext cx="365872" cy="67235"/>
          </a:xfrm>
          <a:custGeom>
            <a:avLst/>
            <a:gdLst/>
            <a:ahLst/>
            <a:cxnLst/>
            <a:rect l="l" t="t" r="r" b="b"/>
            <a:pathLst>
              <a:path w="414654" h="76200">
                <a:moveTo>
                  <a:pt x="338327" y="0"/>
                </a:moveTo>
                <a:lnTo>
                  <a:pt x="338327" y="76200"/>
                </a:lnTo>
                <a:lnTo>
                  <a:pt x="408177" y="42672"/>
                </a:lnTo>
                <a:lnTo>
                  <a:pt x="350520" y="42672"/>
                </a:lnTo>
                <a:lnTo>
                  <a:pt x="356615" y="39624"/>
                </a:lnTo>
                <a:lnTo>
                  <a:pt x="350520" y="33527"/>
                </a:lnTo>
                <a:lnTo>
                  <a:pt x="402804" y="33527"/>
                </a:lnTo>
                <a:lnTo>
                  <a:pt x="338327" y="0"/>
                </a:lnTo>
                <a:close/>
              </a:path>
              <a:path w="414654" h="76200">
                <a:moveTo>
                  <a:pt x="338327" y="33527"/>
                </a:moveTo>
                <a:lnTo>
                  <a:pt x="6096" y="33527"/>
                </a:lnTo>
                <a:lnTo>
                  <a:pt x="0" y="39624"/>
                </a:lnTo>
                <a:lnTo>
                  <a:pt x="6096" y="42672"/>
                </a:lnTo>
                <a:lnTo>
                  <a:pt x="338327" y="42672"/>
                </a:lnTo>
                <a:lnTo>
                  <a:pt x="338327" y="33527"/>
                </a:lnTo>
                <a:close/>
              </a:path>
              <a:path w="414654" h="76200">
                <a:moveTo>
                  <a:pt x="402804" y="33527"/>
                </a:moveTo>
                <a:lnTo>
                  <a:pt x="350520" y="33527"/>
                </a:lnTo>
                <a:lnTo>
                  <a:pt x="356615" y="39624"/>
                </a:lnTo>
                <a:lnTo>
                  <a:pt x="350520" y="42672"/>
                </a:lnTo>
                <a:lnTo>
                  <a:pt x="408177" y="42672"/>
                </a:lnTo>
                <a:lnTo>
                  <a:pt x="414527" y="39624"/>
                </a:lnTo>
                <a:lnTo>
                  <a:pt x="402804" y="33527"/>
                </a:lnTo>
                <a:close/>
              </a:path>
            </a:pathLst>
          </a:custGeom>
          <a:solidFill>
            <a:srgbClr val="000000"/>
          </a:solidFill>
        </p:spPr>
        <p:txBody>
          <a:bodyPr wrap="square" lIns="0" tIns="0" rIns="0" bIns="0" rtlCol="0"/>
          <a:lstStyle/>
          <a:p>
            <a:endParaRPr sz="1588" dirty="0"/>
          </a:p>
        </p:txBody>
      </p:sp>
      <p:sp>
        <p:nvSpPr>
          <p:cNvPr id="124" name="object 34">
            <a:extLst>
              <a:ext uri="{FF2B5EF4-FFF2-40B4-BE49-F238E27FC236}">
                <a16:creationId xmlns:a16="http://schemas.microsoft.com/office/drawing/2014/main" xmlns="" id="{FFCDD225-40BB-479F-B07E-C11B445D1B7F}"/>
              </a:ext>
            </a:extLst>
          </p:cNvPr>
          <p:cNvSpPr/>
          <p:nvPr/>
        </p:nvSpPr>
        <p:spPr>
          <a:xfrm>
            <a:off x="7454153" y="4270511"/>
            <a:ext cx="365872" cy="67235"/>
          </a:xfrm>
          <a:custGeom>
            <a:avLst/>
            <a:gdLst/>
            <a:ahLst/>
            <a:cxnLst/>
            <a:rect l="l" t="t" r="r" b="b"/>
            <a:pathLst>
              <a:path w="414654" h="76200">
                <a:moveTo>
                  <a:pt x="76200" y="0"/>
                </a:moveTo>
                <a:lnTo>
                  <a:pt x="0" y="39624"/>
                </a:lnTo>
                <a:lnTo>
                  <a:pt x="76200" y="76200"/>
                </a:lnTo>
                <a:lnTo>
                  <a:pt x="76200" y="42672"/>
                </a:lnTo>
                <a:lnTo>
                  <a:pt x="64007" y="42672"/>
                </a:lnTo>
                <a:lnTo>
                  <a:pt x="57911" y="39624"/>
                </a:lnTo>
                <a:lnTo>
                  <a:pt x="64007" y="33527"/>
                </a:lnTo>
                <a:lnTo>
                  <a:pt x="76200" y="33527"/>
                </a:lnTo>
                <a:lnTo>
                  <a:pt x="76200" y="0"/>
                </a:lnTo>
                <a:close/>
              </a:path>
              <a:path w="414654" h="76200">
                <a:moveTo>
                  <a:pt x="76200" y="33527"/>
                </a:moveTo>
                <a:lnTo>
                  <a:pt x="64007" y="33527"/>
                </a:lnTo>
                <a:lnTo>
                  <a:pt x="57911" y="39624"/>
                </a:lnTo>
                <a:lnTo>
                  <a:pt x="64007" y="42672"/>
                </a:lnTo>
                <a:lnTo>
                  <a:pt x="76200" y="42672"/>
                </a:lnTo>
                <a:lnTo>
                  <a:pt x="76200" y="33527"/>
                </a:lnTo>
                <a:close/>
              </a:path>
              <a:path w="414654" h="76200">
                <a:moveTo>
                  <a:pt x="408431" y="33527"/>
                </a:moveTo>
                <a:lnTo>
                  <a:pt x="76200" y="33527"/>
                </a:lnTo>
                <a:lnTo>
                  <a:pt x="76200" y="42672"/>
                </a:lnTo>
                <a:lnTo>
                  <a:pt x="408431" y="42672"/>
                </a:lnTo>
                <a:lnTo>
                  <a:pt x="414527" y="39624"/>
                </a:lnTo>
                <a:lnTo>
                  <a:pt x="408431" y="33527"/>
                </a:lnTo>
                <a:close/>
              </a:path>
            </a:pathLst>
          </a:custGeom>
          <a:solidFill>
            <a:srgbClr val="000000"/>
          </a:solidFill>
        </p:spPr>
        <p:txBody>
          <a:bodyPr wrap="square" lIns="0" tIns="0" rIns="0" bIns="0" rtlCol="0"/>
          <a:lstStyle/>
          <a:p>
            <a:endParaRPr sz="1588" dirty="0"/>
          </a:p>
        </p:txBody>
      </p:sp>
      <p:sp>
        <p:nvSpPr>
          <p:cNvPr id="125" name="object 35">
            <a:extLst>
              <a:ext uri="{FF2B5EF4-FFF2-40B4-BE49-F238E27FC236}">
                <a16:creationId xmlns:a16="http://schemas.microsoft.com/office/drawing/2014/main" xmlns="" id="{496BC84B-067F-410A-A478-C0C3548D5D08}"/>
              </a:ext>
            </a:extLst>
          </p:cNvPr>
          <p:cNvSpPr txBox="1"/>
          <p:nvPr/>
        </p:nvSpPr>
        <p:spPr>
          <a:xfrm>
            <a:off x="7838740" y="2229248"/>
            <a:ext cx="452157" cy="2682273"/>
          </a:xfrm>
          <a:prstGeom prst="rect">
            <a:avLst/>
          </a:prstGeom>
          <a:ln w="9144">
            <a:solidFill>
              <a:srgbClr val="000000"/>
            </a:solidFill>
          </a:ln>
        </p:spPr>
        <p:txBody>
          <a:bodyPr vert="horz" wrap="square" lIns="0" tIns="0" rIns="0" bIns="0" rtlCol="0">
            <a:spAutoFit/>
          </a:bodyPr>
          <a:lstStyle/>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lnSpc>
                <a:spcPct val="100000"/>
              </a:lnSpc>
            </a:pPr>
            <a:endParaRPr sz="1147" dirty="0">
              <a:latin typeface="Times New Roman"/>
              <a:cs typeface="Times New Roman"/>
            </a:endParaRPr>
          </a:p>
          <a:p>
            <a:pPr>
              <a:spcBef>
                <a:spcPts val="40"/>
              </a:spcBef>
            </a:pPr>
            <a:endParaRPr sz="1059" dirty="0">
              <a:latin typeface="Times New Roman"/>
              <a:cs typeface="Times New Roman"/>
            </a:endParaRPr>
          </a:p>
          <a:p>
            <a:pPr marL="182666" marR="164735" indent="2802" algn="ctr">
              <a:spcBef>
                <a:spcPts val="4"/>
              </a:spcBef>
            </a:pPr>
            <a:r>
              <a:rPr sz="1059" dirty="0">
                <a:solidFill>
                  <a:srgbClr val="333333"/>
                </a:solidFill>
                <a:latin typeface="Times New Roman"/>
                <a:cs typeface="Times New Roman"/>
              </a:rPr>
              <a:t>I/  </a:t>
            </a:r>
            <a:r>
              <a:rPr sz="1059" spc="-4" dirty="0">
                <a:solidFill>
                  <a:srgbClr val="333333"/>
                </a:solidFill>
                <a:latin typeface="Times New Roman"/>
                <a:cs typeface="Times New Roman"/>
              </a:rPr>
              <a:t>O</a:t>
            </a:r>
            <a:endParaRPr sz="1059" dirty="0">
              <a:latin typeface="Times New Roman"/>
              <a:cs typeface="Times New Roman"/>
            </a:endParaRPr>
          </a:p>
          <a:p>
            <a:pPr>
              <a:spcBef>
                <a:spcPts val="4"/>
              </a:spcBef>
            </a:pPr>
            <a:endParaRPr sz="1103" dirty="0">
              <a:latin typeface="Times New Roman"/>
              <a:cs typeface="Times New Roman"/>
            </a:endParaRPr>
          </a:p>
          <a:p>
            <a:pPr marL="182666" marR="164735" algn="just">
              <a:lnSpc>
                <a:spcPct val="99700"/>
              </a:lnSpc>
            </a:pPr>
            <a:r>
              <a:rPr sz="1059" spc="-4" dirty="0">
                <a:solidFill>
                  <a:srgbClr val="333333"/>
                </a:solidFill>
                <a:latin typeface="Times New Roman"/>
                <a:cs typeface="Times New Roman"/>
              </a:rPr>
              <a:t>D  E  V  I  C  E  S</a:t>
            </a:r>
            <a:endParaRPr sz="1059" dirty="0">
              <a:latin typeface="Times New Roman"/>
              <a:cs typeface="Times New Roman"/>
            </a:endParaRPr>
          </a:p>
        </p:txBody>
      </p:sp>
      <p:sp>
        <p:nvSpPr>
          <p:cNvPr id="126" name="object 36">
            <a:extLst>
              <a:ext uri="{FF2B5EF4-FFF2-40B4-BE49-F238E27FC236}">
                <a16:creationId xmlns:a16="http://schemas.microsoft.com/office/drawing/2014/main" xmlns="" id="{7729C0E6-117C-4205-BE10-23DDDB48919F}"/>
              </a:ext>
            </a:extLst>
          </p:cNvPr>
          <p:cNvSpPr/>
          <p:nvPr/>
        </p:nvSpPr>
        <p:spPr>
          <a:xfrm>
            <a:off x="6394528" y="1796249"/>
            <a:ext cx="2801" cy="153521"/>
          </a:xfrm>
          <a:custGeom>
            <a:avLst/>
            <a:gdLst/>
            <a:ahLst/>
            <a:cxnLst/>
            <a:rect l="l" t="t" r="r" b="b"/>
            <a:pathLst>
              <a:path w="3175" h="173989">
                <a:moveTo>
                  <a:pt x="0" y="0"/>
                </a:moveTo>
                <a:lnTo>
                  <a:pt x="3048" y="173736"/>
                </a:lnTo>
              </a:path>
            </a:pathLst>
          </a:custGeom>
          <a:ln w="9144">
            <a:solidFill>
              <a:srgbClr val="000000"/>
            </a:solidFill>
          </a:ln>
        </p:spPr>
        <p:txBody>
          <a:bodyPr wrap="square" lIns="0" tIns="0" rIns="0" bIns="0" rtlCol="0"/>
          <a:lstStyle/>
          <a:p>
            <a:endParaRPr sz="1588" dirty="0"/>
          </a:p>
        </p:txBody>
      </p:sp>
      <p:sp>
        <p:nvSpPr>
          <p:cNvPr id="127" name="object 37">
            <a:extLst>
              <a:ext uri="{FF2B5EF4-FFF2-40B4-BE49-F238E27FC236}">
                <a16:creationId xmlns:a16="http://schemas.microsoft.com/office/drawing/2014/main" xmlns="" id="{48ED83F4-37CD-4E5F-BFD9-862E79032B99}"/>
              </a:ext>
            </a:extLst>
          </p:cNvPr>
          <p:cNvSpPr txBox="1"/>
          <p:nvPr/>
        </p:nvSpPr>
        <p:spPr>
          <a:xfrm>
            <a:off x="4834668" y="1782356"/>
            <a:ext cx="2139763" cy="174309"/>
          </a:xfrm>
          <a:prstGeom prst="rect">
            <a:avLst/>
          </a:prstGeom>
        </p:spPr>
        <p:txBody>
          <a:bodyPr vert="horz" wrap="square" lIns="0" tIns="11206" rIns="0" bIns="0" rtlCol="0">
            <a:spAutoFit/>
          </a:bodyPr>
          <a:lstStyle/>
          <a:p>
            <a:pPr>
              <a:spcBef>
                <a:spcPts val="88"/>
              </a:spcBef>
              <a:tabLst>
                <a:tab pos="879148" algn="l"/>
                <a:tab pos="1836182" algn="l"/>
              </a:tabLst>
            </a:pPr>
            <a:r>
              <a:rPr sz="1588" spc="-13" baseline="2314" dirty="0">
                <a:solidFill>
                  <a:srgbClr val="333333"/>
                </a:solidFill>
                <a:latin typeface="Times New Roman"/>
                <a:cs typeface="Times New Roman"/>
              </a:rPr>
              <a:t>R</a:t>
            </a:r>
            <a:r>
              <a:rPr sz="1588" spc="-6" baseline="2314" dirty="0">
                <a:solidFill>
                  <a:srgbClr val="333333"/>
                </a:solidFill>
                <a:latin typeface="Times New Roman"/>
                <a:cs typeface="Times New Roman"/>
              </a:rPr>
              <a:t>OM</a:t>
            </a:r>
            <a:r>
              <a:rPr sz="1588" baseline="2314" dirty="0">
                <a:solidFill>
                  <a:srgbClr val="333333"/>
                </a:solidFill>
                <a:latin typeface="Times New Roman"/>
                <a:cs typeface="Times New Roman"/>
              </a:rPr>
              <a:t>	</a:t>
            </a:r>
            <a:r>
              <a:rPr sz="1059" spc="-4" dirty="0">
                <a:solidFill>
                  <a:srgbClr val="333333"/>
                </a:solidFill>
                <a:latin typeface="Times New Roman"/>
                <a:cs typeface="Times New Roman"/>
              </a:rPr>
              <a:t>P</a:t>
            </a:r>
            <a:r>
              <a:rPr sz="1059" spc="-9" dirty="0">
                <a:solidFill>
                  <a:srgbClr val="333333"/>
                </a:solidFill>
                <a:latin typeface="Times New Roman"/>
                <a:cs typeface="Times New Roman"/>
              </a:rPr>
              <a:t>R</a:t>
            </a:r>
            <a:r>
              <a:rPr sz="1059" spc="-4" dirty="0">
                <a:solidFill>
                  <a:srgbClr val="333333"/>
                </a:solidFill>
                <a:latin typeface="Times New Roman"/>
                <a:cs typeface="Times New Roman"/>
              </a:rPr>
              <a:t>OM</a:t>
            </a:r>
            <a:r>
              <a:rPr sz="1059" dirty="0">
                <a:solidFill>
                  <a:srgbClr val="333333"/>
                </a:solidFill>
                <a:latin typeface="Times New Roman"/>
                <a:cs typeface="Times New Roman"/>
              </a:rPr>
              <a:t>	</a:t>
            </a:r>
            <a:r>
              <a:rPr sz="1059" spc="-4" dirty="0">
                <a:solidFill>
                  <a:srgbClr val="333333"/>
                </a:solidFill>
                <a:latin typeface="Times New Roman"/>
                <a:cs typeface="Times New Roman"/>
              </a:rPr>
              <a:t>F</a:t>
            </a:r>
            <a:r>
              <a:rPr sz="1059" spc="-22" dirty="0">
                <a:solidFill>
                  <a:srgbClr val="333333"/>
                </a:solidFill>
                <a:latin typeface="Times New Roman"/>
                <a:cs typeface="Times New Roman"/>
              </a:rPr>
              <a:t>l</a:t>
            </a:r>
            <a:r>
              <a:rPr sz="1059" dirty="0">
                <a:solidFill>
                  <a:srgbClr val="333333"/>
                </a:solidFill>
                <a:latin typeface="Times New Roman"/>
                <a:cs typeface="Times New Roman"/>
              </a:rPr>
              <a:t>ash</a:t>
            </a:r>
            <a:endParaRPr sz="1059" dirty="0">
              <a:latin typeface="Times New Roman"/>
              <a:cs typeface="Times New Roman"/>
            </a:endParaRPr>
          </a:p>
        </p:txBody>
      </p:sp>
      <p:sp>
        <p:nvSpPr>
          <p:cNvPr id="128" name="object 38">
            <a:extLst>
              <a:ext uri="{FF2B5EF4-FFF2-40B4-BE49-F238E27FC236}">
                <a16:creationId xmlns:a16="http://schemas.microsoft.com/office/drawing/2014/main" xmlns="" id="{BAE0D9C1-6F7F-485A-B914-8A034B24DC75}"/>
              </a:ext>
            </a:extLst>
          </p:cNvPr>
          <p:cNvSpPr/>
          <p:nvPr/>
        </p:nvSpPr>
        <p:spPr>
          <a:xfrm>
            <a:off x="4498492" y="1793563"/>
            <a:ext cx="2714065" cy="2801"/>
          </a:xfrm>
          <a:custGeom>
            <a:avLst/>
            <a:gdLst/>
            <a:ahLst/>
            <a:cxnLst/>
            <a:rect l="l" t="t" r="r" b="b"/>
            <a:pathLst>
              <a:path w="3075940" h="3175">
                <a:moveTo>
                  <a:pt x="0" y="3048"/>
                </a:moveTo>
                <a:lnTo>
                  <a:pt x="3075432" y="0"/>
                </a:lnTo>
              </a:path>
            </a:pathLst>
          </a:custGeom>
          <a:ln w="9144">
            <a:solidFill>
              <a:srgbClr val="000000"/>
            </a:solidFill>
          </a:ln>
        </p:spPr>
        <p:txBody>
          <a:bodyPr wrap="square" lIns="0" tIns="0" rIns="0" bIns="0" rtlCol="0"/>
          <a:lstStyle/>
          <a:p>
            <a:endParaRPr sz="1588" dirty="0"/>
          </a:p>
        </p:txBody>
      </p:sp>
      <p:sp>
        <p:nvSpPr>
          <p:cNvPr id="129" name="object 39">
            <a:extLst>
              <a:ext uri="{FF2B5EF4-FFF2-40B4-BE49-F238E27FC236}">
                <a16:creationId xmlns:a16="http://schemas.microsoft.com/office/drawing/2014/main" xmlns="" id="{2801EC04-571D-44D7-B2DA-388F5C02F91D}"/>
              </a:ext>
            </a:extLst>
          </p:cNvPr>
          <p:cNvSpPr/>
          <p:nvPr/>
        </p:nvSpPr>
        <p:spPr>
          <a:xfrm>
            <a:off x="7343887" y="1796251"/>
            <a:ext cx="0" cy="207309"/>
          </a:xfrm>
          <a:custGeom>
            <a:avLst/>
            <a:gdLst/>
            <a:ahLst/>
            <a:cxnLst/>
            <a:rect l="l" t="t" r="r" b="b"/>
            <a:pathLst>
              <a:path h="234950">
                <a:moveTo>
                  <a:pt x="0" y="0"/>
                </a:moveTo>
                <a:lnTo>
                  <a:pt x="0" y="234696"/>
                </a:lnTo>
              </a:path>
            </a:pathLst>
          </a:custGeom>
          <a:ln w="9144">
            <a:solidFill>
              <a:srgbClr val="000000"/>
            </a:solidFill>
          </a:ln>
        </p:spPr>
        <p:txBody>
          <a:bodyPr wrap="square" lIns="0" tIns="0" rIns="0" bIns="0" rtlCol="0"/>
          <a:lstStyle/>
          <a:p>
            <a:endParaRPr sz="1588" dirty="0"/>
          </a:p>
        </p:txBody>
      </p:sp>
      <p:sp>
        <p:nvSpPr>
          <p:cNvPr id="130" name="object 40">
            <a:extLst>
              <a:ext uri="{FF2B5EF4-FFF2-40B4-BE49-F238E27FC236}">
                <a16:creationId xmlns:a16="http://schemas.microsoft.com/office/drawing/2014/main" xmlns="" id="{5F1C6A96-8EAD-4FDE-9655-AD65722761D5}"/>
              </a:ext>
            </a:extLst>
          </p:cNvPr>
          <p:cNvSpPr/>
          <p:nvPr/>
        </p:nvSpPr>
        <p:spPr>
          <a:xfrm>
            <a:off x="4493114" y="1793564"/>
            <a:ext cx="2801" cy="204507"/>
          </a:xfrm>
          <a:custGeom>
            <a:avLst/>
            <a:gdLst/>
            <a:ahLst/>
            <a:cxnLst/>
            <a:rect l="l" t="t" r="r" b="b"/>
            <a:pathLst>
              <a:path w="3175" h="231775">
                <a:moveTo>
                  <a:pt x="0" y="0"/>
                </a:moveTo>
                <a:lnTo>
                  <a:pt x="3047" y="231648"/>
                </a:lnTo>
              </a:path>
            </a:pathLst>
          </a:custGeom>
          <a:ln w="9144">
            <a:solidFill>
              <a:srgbClr val="000000"/>
            </a:solidFill>
          </a:ln>
        </p:spPr>
        <p:txBody>
          <a:bodyPr wrap="square" lIns="0" tIns="0" rIns="0" bIns="0" rtlCol="0"/>
          <a:lstStyle/>
          <a:p>
            <a:endParaRPr sz="1588" dirty="0"/>
          </a:p>
        </p:txBody>
      </p:sp>
      <p:sp>
        <p:nvSpPr>
          <p:cNvPr id="131" name="object 41">
            <a:extLst>
              <a:ext uri="{FF2B5EF4-FFF2-40B4-BE49-F238E27FC236}">
                <a16:creationId xmlns:a16="http://schemas.microsoft.com/office/drawing/2014/main" xmlns="" id="{C61B6ABB-E4D5-4835-A46D-463E1CF237F7}"/>
              </a:ext>
            </a:extLst>
          </p:cNvPr>
          <p:cNvSpPr/>
          <p:nvPr/>
        </p:nvSpPr>
        <p:spPr>
          <a:xfrm>
            <a:off x="5453234" y="1796249"/>
            <a:ext cx="2801" cy="153521"/>
          </a:xfrm>
          <a:custGeom>
            <a:avLst/>
            <a:gdLst/>
            <a:ahLst/>
            <a:cxnLst/>
            <a:rect l="l" t="t" r="r" b="b"/>
            <a:pathLst>
              <a:path w="3175" h="173989">
                <a:moveTo>
                  <a:pt x="0" y="0"/>
                </a:moveTo>
                <a:lnTo>
                  <a:pt x="3048" y="173736"/>
                </a:lnTo>
              </a:path>
            </a:pathLst>
          </a:custGeom>
          <a:ln w="9144">
            <a:solidFill>
              <a:srgbClr val="000000"/>
            </a:solidFill>
          </a:ln>
        </p:spPr>
        <p:txBody>
          <a:bodyPr wrap="square" lIns="0" tIns="0" rIns="0" bIns="0" rtlCol="0"/>
          <a:lstStyle/>
          <a:p>
            <a:endParaRPr sz="1588" dirty="0"/>
          </a:p>
        </p:txBody>
      </p:sp>
      <p:sp>
        <p:nvSpPr>
          <p:cNvPr id="132" name="object 42">
            <a:extLst>
              <a:ext uri="{FF2B5EF4-FFF2-40B4-BE49-F238E27FC236}">
                <a16:creationId xmlns:a16="http://schemas.microsoft.com/office/drawing/2014/main" xmlns="" id="{6E0F7A53-44E5-486F-8167-CF05703C51E8}"/>
              </a:ext>
            </a:extLst>
          </p:cNvPr>
          <p:cNvSpPr/>
          <p:nvPr/>
        </p:nvSpPr>
        <p:spPr>
          <a:xfrm>
            <a:off x="6623125" y="4458767"/>
            <a:ext cx="29696" cy="29696"/>
          </a:xfrm>
          <a:custGeom>
            <a:avLst/>
            <a:gdLst/>
            <a:ahLst/>
            <a:cxnLst/>
            <a:rect l="l" t="t" r="r" b="b"/>
            <a:pathLst>
              <a:path w="33654" h="33654">
                <a:moveTo>
                  <a:pt x="24383" y="0"/>
                </a:moveTo>
                <a:lnTo>
                  <a:pt x="6095" y="0"/>
                </a:lnTo>
                <a:lnTo>
                  <a:pt x="0" y="6095"/>
                </a:lnTo>
                <a:lnTo>
                  <a:pt x="0" y="24383"/>
                </a:lnTo>
                <a:lnTo>
                  <a:pt x="6095" y="33527"/>
                </a:lnTo>
                <a:lnTo>
                  <a:pt x="15239" y="33527"/>
                </a:lnTo>
                <a:lnTo>
                  <a:pt x="21955" y="31956"/>
                </a:lnTo>
                <a:lnTo>
                  <a:pt x="27812" y="27812"/>
                </a:lnTo>
                <a:lnTo>
                  <a:pt x="31956" y="21955"/>
                </a:lnTo>
                <a:lnTo>
                  <a:pt x="33527" y="15239"/>
                </a:lnTo>
                <a:lnTo>
                  <a:pt x="33527" y="6095"/>
                </a:lnTo>
                <a:lnTo>
                  <a:pt x="24383" y="0"/>
                </a:lnTo>
                <a:close/>
              </a:path>
            </a:pathLst>
          </a:custGeom>
          <a:solidFill>
            <a:srgbClr val="000000"/>
          </a:solidFill>
        </p:spPr>
        <p:txBody>
          <a:bodyPr wrap="square" lIns="0" tIns="0" rIns="0" bIns="0" rtlCol="0"/>
          <a:lstStyle/>
          <a:p>
            <a:endParaRPr sz="1588" dirty="0"/>
          </a:p>
        </p:txBody>
      </p:sp>
      <p:sp>
        <p:nvSpPr>
          <p:cNvPr id="133" name="object 43">
            <a:extLst>
              <a:ext uri="{FF2B5EF4-FFF2-40B4-BE49-F238E27FC236}">
                <a16:creationId xmlns:a16="http://schemas.microsoft.com/office/drawing/2014/main" xmlns="" id="{98BEB5A2-CE67-4638-A888-174B58B5B3AC}"/>
              </a:ext>
            </a:extLst>
          </p:cNvPr>
          <p:cNvSpPr/>
          <p:nvPr/>
        </p:nvSpPr>
        <p:spPr>
          <a:xfrm>
            <a:off x="6623125" y="4458767"/>
            <a:ext cx="29696" cy="29696"/>
          </a:xfrm>
          <a:custGeom>
            <a:avLst/>
            <a:gdLst/>
            <a:ahLst/>
            <a:cxnLst/>
            <a:rect l="l" t="t" r="r" b="b"/>
            <a:pathLst>
              <a:path w="33654" h="33654">
                <a:moveTo>
                  <a:pt x="15239" y="0"/>
                </a:moveTo>
                <a:lnTo>
                  <a:pt x="6095" y="0"/>
                </a:lnTo>
                <a:lnTo>
                  <a:pt x="0" y="6095"/>
                </a:lnTo>
                <a:lnTo>
                  <a:pt x="0" y="15239"/>
                </a:lnTo>
                <a:lnTo>
                  <a:pt x="0" y="24383"/>
                </a:lnTo>
                <a:lnTo>
                  <a:pt x="6095" y="33527"/>
                </a:lnTo>
                <a:lnTo>
                  <a:pt x="15239" y="33527"/>
                </a:lnTo>
                <a:lnTo>
                  <a:pt x="21955" y="31956"/>
                </a:lnTo>
                <a:lnTo>
                  <a:pt x="27812" y="27812"/>
                </a:lnTo>
                <a:lnTo>
                  <a:pt x="31956" y="21955"/>
                </a:lnTo>
                <a:lnTo>
                  <a:pt x="33527" y="15239"/>
                </a:lnTo>
                <a:lnTo>
                  <a:pt x="33527" y="6095"/>
                </a:lnTo>
                <a:lnTo>
                  <a:pt x="24383" y="0"/>
                </a:lnTo>
                <a:lnTo>
                  <a:pt x="15239" y="0"/>
                </a:lnTo>
              </a:path>
            </a:pathLst>
          </a:custGeom>
          <a:ln w="9143">
            <a:solidFill>
              <a:srgbClr val="000000"/>
            </a:solidFill>
          </a:ln>
        </p:spPr>
        <p:txBody>
          <a:bodyPr wrap="square" lIns="0" tIns="0" rIns="0" bIns="0" rtlCol="0"/>
          <a:lstStyle/>
          <a:p>
            <a:endParaRPr sz="1588" dirty="0"/>
          </a:p>
        </p:txBody>
      </p:sp>
      <p:sp>
        <p:nvSpPr>
          <p:cNvPr id="134" name="object 44">
            <a:extLst>
              <a:ext uri="{FF2B5EF4-FFF2-40B4-BE49-F238E27FC236}">
                <a16:creationId xmlns:a16="http://schemas.microsoft.com/office/drawing/2014/main" xmlns="" id="{F4A656D1-1561-4996-8CF5-576BF89B4E10}"/>
              </a:ext>
            </a:extLst>
          </p:cNvPr>
          <p:cNvSpPr/>
          <p:nvPr/>
        </p:nvSpPr>
        <p:spPr>
          <a:xfrm>
            <a:off x="6615057" y="4708886"/>
            <a:ext cx="29696" cy="32497"/>
          </a:xfrm>
          <a:custGeom>
            <a:avLst/>
            <a:gdLst/>
            <a:ahLst/>
            <a:cxnLst/>
            <a:rect l="l" t="t" r="r" b="b"/>
            <a:pathLst>
              <a:path w="33654" h="36829">
                <a:moveTo>
                  <a:pt x="15239" y="0"/>
                </a:moveTo>
                <a:lnTo>
                  <a:pt x="6096" y="0"/>
                </a:lnTo>
                <a:lnTo>
                  <a:pt x="0" y="9144"/>
                </a:lnTo>
                <a:lnTo>
                  <a:pt x="0" y="27432"/>
                </a:lnTo>
                <a:lnTo>
                  <a:pt x="6096" y="36576"/>
                </a:lnTo>
                <a:lnTo>
                  <a:pt x="15239" y="36576"/>
                </a:lnTo>
                <a:lnTo>
                  <a:pt x="21955" y="35004"/>
                </a:lnTo>
                <a:lnTo>
                  <a:pt x="27812" y="30861"/>
                </a:lnTo>
                <a:lnTo>
                  <a:pt x="31956" y="25003"/>
                </a:lnTo>
                <a:lnTo>
                  <a:pt x="33527" y="18288"/>
                </a:lnTo>
                <a:lnTo>
                  <a:pt x="31956" y="11572"/>
                </a:lnTo>
                <a:lnTo>
                  <a:pt x="27812" y="5715"/>
                </a:lnTo>
                <a:lnTo>
                  <a:pt x="21955" y="1571"/>
                </a:lnTo>
                <a:lnTo>
                  <a:pt x="15239" y="0"/>
                </a:lnTo>
                <a:close/>
              </a:path>
            </a:pathLst>
          </a:custGeom>
          <a:solidFill>
            <a:srgbClr val="000000"/>
          </a:solidFill>
        </p:spPr>
        <p:txBody>
          <a:bodyPr wrap="square" lIns="0" tIns="0" rIns="0" bIns="0" rtlCol="0"/>
          <a:lstStyle/>
          <a:p>
            <a:endParaRPr sz="1588" dirty="0"/>
          </a:p>
        </p:txBody>
      </p:sp>
      <p:sp>
        <p:nvSpPr>
          <p:cNvPr id="135" name="object 45">
            <a:extLst>
              <a:ext uri="{FF2B5EF4-FFF2-40B4-BE49-F238E27FC236}">
                <a16:creationId xmlns:a16="http://schemas.microsoft.com/office/drawing/2014/main" xmlns="" id="{1C75112F-2840-49F8-80D2-95AA925F0E5F}"/>
              </a:ext>
            </a:extLst>
          </p:cNvPr>
          <p:cNvSpPr/>
          <p:nvPr/>
        </p:nvSpPr>
        <p:spPr>
          <a:xfrm>
            <a:off x="6615057" y="4708886"/>
            <a:ext cx="29696" cy="32497"/>
          </a:xfrm>
          <a:custGeom>
            <a:avLst/>
            <a:gdLst/>
            <a:ahLst/>
            <a:cxnLst/>
            <a:rect l="l" t="t" r="r" b="b"/>
            <a:pathLst>
              <a:path w="33654" h="36829">
                <a:moveTo>
                  <a:pt x="15239" y="0"/>
                </a:moveTo>
                <a:lnTo>
                  <a:pt x="6096" y="0"/>
                </a:lnTo>
                <a:lnTo>
                  <a:pt x="0" y="9144"/>
                </a:lnTo>
                <a:lnTo>
                  <a:pt x="0" y="18288"/>
                </a:lnTo>
                <a:lnTo>
                  <a:pt x="0" y="27432"/>
                </a:lnTo>
                <a:lnTo>
                  <a:pt x="6096" y="36576"/>
                </a:lnTo>
                <a:lnTo>
                  <a:pt x="15239" y="36576"/>
                </a:lnTo>
                <a:lnTo>
                  <a:pt x="21955" y="35004"/>
                </a:lnTo>
                <a:lnTo>
                  <a:pt x="27812" y="30861"/>
                </a:lnTo>
                <a:lnTo>
                  <a:pt x="31956" y="25003"/>
                </a:lnTo>
                <a:lnTo>
                  <a:pt x="33527" y="18288"/>
                </a:lnTo>
                <a:lnTo>
                  <a:pt x="31956" y="11572"/>
                </a:lnTo>
                <a:lnTo>
                  <a:pt x="27812" y="5715"/>
                </a:lnTo>
                <a:lnTo>
                  <a:pt x="21955" y="1571"/>
                </a:lnTo>
                <a:lnTo>
                  <a:pt x="15239" y="0"/>
                </a:lnTo>
              </a:path>
            </a:pathLst>
          </a:custGeom>
          <a:ln w="9144">
            <a:solidFill>
              <a:srgbClr val="000000"/>
            </a:solidFill>
          </a:ln>
        </p:spPr>
        <p:txBody>
          <a:bodyPr wrap="square" lIns="0" tIns="0" rIns="0" bIns="0" rtlCol="0"/>
          <a:lstStyle/>
          <a:p>
            <a:endParaRPr sz="1588" dirty="0"/>
          </a:p>
        </p:txBody>
      </p:sp>
      <p:sp>
        <p:nvSpPr>
          <p:cNvPr id="136" name="object 46">
            <a:extLst>
              <a:ext uri="{FF2B5EF4-FFF2-40B4-BE49-F238E27FC236}">
                <a16:creationId xmlns:a16="http://schemas.microsoft.com/office/drawing/2014/main" xmlns="" id="{0809C160-4D34-4AFB-A585-8189D59C890F}"/>
              </a:ext>
            </a:extLst>
          </p:cNvPr>
          <p:cNvSpPr/>
          <p:nvPr/>
        </p:nvSpPr>
        <p:spPr>
          <a:xfrm>
            <a:off x="6615057" y="4993959"/>
            <a:ext cx="29696" cy="29696"/>
          </a:xfrm>
          <a:custGeom>
            <a:avLst/>
            <a:gdLst/>
            <a:ahLst/>
            <a:cxnLst/>
            <a:rect l="l" t="t" r="r" b="b"/>
            <a:pathLst>
              <a:path w="33654" h="33654">
                <a:moveTo>
                  <a:pt x="15239" y="0"/>
                </a:moveTo>
                <a:lnTo>
                  <a:pt x="6096" y="0"/>
                </a:lnTo>
                <a:lnTo>
                  <a:pt x="0" y="9143"/>
                </a:lnTo>
                <a:lnTo>
                  <a:pt x="0" y="27431"/>
                </a:lnTo>
                <a:lnTo>
                  <a:pt x="6096" y="33527"/>
                </a:lnTo>
                <a:lnTo>
                  <a:pt x="24384" y="33527"/>
                </a:lnTo>
                <a:lnTo>
                  <a:pt x="33527" y="27431"/>
                </a:lnTo>
                <a:lnTo>
                  <a:pt x="33527" y="18287"/>
                </a:lnTo>
                <a:lnTo>
                  <a:pt x="31956" y="11572"/>
                </a:lnTo>
                <a:lnTo>
                  <a:pt x="27812" y="5714"/>
                </a:lnTo>
                <a:lnTo>
                  <a:pt x="21955" y="1571"/>
                </a:lnTo>
                <a:lnTo>
                  <a:pt x="15239" y="0"/>
                </a:lnTo>
                <a:close/>
              </a:path>
            </a:pathLst>
          </a:custGeom>
          <a:solidFill>
            <a:srgbClr val="000000"/>
          </a:solidFill>
        </p:spPr>
        <p:txBody>
          <a:bodyPr wrap="square" lIns="0" tIns="0" rIns="0" bIns="0" rtlCol="0"/>
          <a:lstStyle/>
          <a:p>
            <a:endParaRPr sz="1588" dirty="0"/>
          </a:p>
        </p:txBody>
      </p:sp>
      <p:sp>
        <p:nvSpPr>
          <p:cNvPr id="137" name="object 47">
            <a:extLst>
              <a:ext uri="{FF2B5EF4-FFF2-40B4-BE49-F238E27FC236}">
                <a16:creationId xmlns:a16="http://schemas.microsoft.com/office/drawing/2014/main" xmlns="" id="{2305FE3C-49F4-4B35-A059-F738FF3F0113}"/>
              </a:ext>
            </a:extLst>
          </p:cNvPr>
          <p:cNvSpPr/>
          <p:nvPr/>
        </p:nvSpPr>
        <p:spPr>
          <a:xfrm>
            <a:off x="6615057" y="4993959"/>
            <a:ext cx="29696" cy="29696"/>
          </a:xfrm>
          <a:custGeom>
            <a:avLst/>
            <a:gdLst/>
            <a:ahLst/>
            <a:cxnLst/>
            <a:rect l="l" t="t" r="r" b="b"/>
            <a:pathLst>
              <a:path w="33654" h="33654">
                <a:moveTo>
                  <a:pt x="15239" y="0"/>
                </a:moveTo>
                <a:lnTo>
                  <a:pt x="6096" y="0"/>
                </a:lnTo>
                <a:lnTo>
                  <a:pt x="0" y="9143"/>
                </a:lnTo>
                <a:lnTo>
                  <a:pt x="0" y="18287"/>
                </a:lnTo>
                <a:lnTo>
                  <a:pt x="0" y="27431"/>
                </a:lnTo>
                <a:lnTo>
                  <a:pt x="6096" y="33527"/>
                </a:lnTo>
                <a:lnTo>
                  <a:pt x="15239" y="33527"/>
                </a:lnTo>
                <a:lnTo>
                  <a:pt x="24384" y="33527"/>
                </a:lnTo>
                <a:lnTo>
                  <a:pt x="33527" y="27431"/>
                </a:lnTo>
                <a:lnTo>
                  <a:pt x="33527" y="18287"/>
                </a:lnTo>
                <a:lnTo>
                  <a:pt x="31956" y="11572"/>
                </a:lnTo>
                <a:lnTo>
                  <a:pt x="27812" y="5714"/>
                </a:lnTo>
                <a:lnTo>
                  <a:pt x="21955" y="1571"/>
                </a:lnTo>
                <a:lnTo>
                  <a:pt x="15239" y="0"/>
                </a:lnTo>
              </a:path>
            </a:pathLst>
          </a:custGeom>
          <a:ln w="9144">
            <a:solidFill>
              <a:srgbClr val="000000"/>
            </a:solidFill>
          </a:ln>
        </p:spPr>
        <p:txBody>
          <a:bodyPr wrap="square" lIns="0" tIns="0" rIns="0" bIns="0" rtlCol="0"/>
          <a:lstStyle/>
          <a:p>
            <a:endParaRPr sz="1588" dirty="0"/>
          </a:p>
        </p:txBody>
      </p:sp>
      <p:sp>
        <p:nvSpPr>
          <p:cNvPr id="138" name="object 48">
            <a:extLst>
              <a:ext uri="{FF2B5EF4-FFF2-40B4-BE49-F238E27FC236}">
                <a16:creationId xmlns:a16="http://schemas.microsoft.com/office/drawing/2014/main" xmlns="" id="{74F7BAA0-AB5D-409C-BA9A-EAEC40DD5214}"/>
              </a:ext>
            </a:extLst>
          </p:cNvPr>
          <p:cNvSpPr/>
          <p:nvPr/>
        </p:nvSpPr>
        <p:spPr>
          <a:xfrm>
            <a:off x="5732933" y="4071492"/>
            <a:ext cx="333935" cy="67235"/>
          </a:xfrm>
          <a:custGeom>
            <a:avLst/>
            <a:gdLst/>
            <a:ahLst/>
            <a:cxnLst/>
            <a:rect l="l" t="t" r="r" b="b"/>
            <a:pathLst>
              <a:path w="378460" h="76200">
                <a:moveTo>
                  <a:pt x="301751" y="0"/>
                </a:moveTo>
                <a:lnTo>
                  <a:pt x="301751" y="76200"/>
                </a:lnTo>
                <a:lnTo>
                  <a:pt x="371602" y="42671"/>
                </a:lnTo>
                <a:lnTo>
                  <a:pt x="313943" y="42671"/>
                </a:lnTo>
                <a:lnTo>
                  <a:pt x="320039" y="39624"/>
                </a:lnTo>
                <a:lnTo>
                  <a:pt x="313943" y="33527"/>
                </a:lnTo>
                <a:lnTo>
                  <a:pt x="366228" y="33527"/>
                </a:lnTo>
                <a:lnTo>
                  <a:pt x="301751" y="0"/>
                </a:lnTo>
                <a:close/>
              </a:path>
              <a:path w="378460" h="76200">
                <a:moveTo>
                  <a:pt x="301751" y="33527"/>
                </a:moveTo>
                <a:lnTo>
                  <a:pt x="3047" y="33527"/>
                </a:lnTo>
                <a:lnTo>
                  <a:pt x="0" y="36575"/>
                </a:lnTo>
                <a:lnTo>
                  <a:pt x="3047" y="42671"/>
                </a:lnTo>
                <a:lnTo>
                  <a:pt x="301751" y="42671"/>
                </a:lnTo>
                <a:lnTo>
                  <a:pt x="301751" y="33527"/>
                </a:lnTo>
                <a:close/>
              </a:path>
              <a:path w="378460" h="76200">
                <a:moveTo>
                  <a:pt x="366228" y="33527"/>
                </a:moveTo>
                <a:lnTo>
                  <a:pt x="313943" y="33527"/>
                </a:lnTo>
                <a:lnTo>
                  <a:pt x="320039" y="39624"/>
                </a:lnTo>
                <a:lnTo>
                  <a:pt x="313943" y="42671"/>
                </a:lnTo>
                <a:lnTo>
                  <a:pt x="371602" y="42671"/>
                </a:lnTo>
                <a:lnTo>
                  <a:pt x="377951" y="39624"/>
                </a:lnTo>
                <a:lnTo>
                  <a:pt x="366228" y="33527"/>
                </a:lnTo>
                <a:close/>
              </a:path>
            </a:pathLst>
          </a:custGeom>
          <a:solidFill>
            <a:srgbClr val="000000"/>
          </a:solidFill>
        </p:spPr>
        <p:txBody>
          <a:bodyPr wrap="square" lIns="0" tIns="0" rIns="0" bIns="0" rtlCol="0"/>
          <a:lstStyle/>
          <a:p>
            <a:endParaRPr sz="1588" dirty="0"/>
          </a:p>
        </p:txBody>
      </p:sp>
      <p:sp>
        <p:nvSpPr>
          <p:cNvPr id="139" name="object 49">
            <a:extLst>
              <a:ext uri="{FF2B5EF4-FFF2-40B4-BE49-F238E27FC236}">
                <a16:creationId xmlns:a16="http://schemas.microsoft.com/office/drawing/2014/main" xmlns="" id="{B1B603E0-4CA2-43BF-91D9-A805C28653D6}"/>
              </a:ext>
            </a:extLst>
          </p:cNvPr>
          <p:cNvSpPr/>
          <p:nvPr/>
        </p:nvSpPr>
        <p:spPr>
          <a:xfrm>
            <a:off x="5727551" y="4394224"/>
            <a:ext cx="347383" cy="67235"/>
          </a:xfrm>
          <a:custGeom>
            <a:avLst/>
            <a:gdLst/>
            <a:ahLst/>
            <a:cxnLst/>
            <a:rect l="l" t="t" r="r" b="b"/>
            <a:pathLst>
              <a:path w="393700" h="76200">
                <a:moveTo>
                  <a:pt x="76200" y="0"/>
                </a:moveTo>
                <a:lnTo>
                  <a:pt x="0" y="39623"/>
                </a:lnTo>
                <a:lnTo>
                  <a:pt x="76200" y="76199"/>
                </a:lnTo>
                <a:lnTo>
                  <a:pt x="76200" y="42787"/>
                </a:lnTo>
                <a:lnTo>
                  <a:pt x="64008" y="42671"/>
                </a:lnTo>
                <a:lnTo>
                  <a:pt x="57912" y="39623"/>
                </a:lnTo>
                <a:lnTo>
                  <a:pt x="64008" y="33527"/>
                </a:lnTo>
                <a:lnTo>
                  <a:pt x="76200" y="33527"/>
                </a:lnTo>
                <a:lnTo>
                  <a:pt x="76200" y="0"/>
                </a:lnTo>
                <a:close/>
              </a:path>
              <a:path w="393700" h="76200">
                <a:moveTo>
                  <a:pt x="76200" y="33643"/>
                </a:moveTo>
                <a:lnTo>
                  <a:pt x="76200" y="42787"/>
                </a:lnTo>
                <a:lnTo>
                  <a:pt x="387096" y="45719"/>
                </a:lnTo>
                <a:lnTo>
                  <a:pt x="393191" y="39623"/>
                </a:lnTo>
                <a:lnTo>
                  <a:pt x="387096" y="36575"/>
                </a:lnTo>
                <a:lnTo>
                  <a:pt x="76200" y="33643"/>
                </a:lnTo>
                <a:close/>
              </a:path>
              <a:path w="393700" h="76200">
                <a:moveTo>
                  <a:pt x="64008" y="33527"/>
                </a:moveTo>
                <a:lnTo>
                  <a:pt x="57912" y="39623"/>
                </a:lnTo>
                <a:lnTo>
                  <a:pt x="64008" y="42671"/>
                </a:lnTo>
                <a:lnTo>
                  <a:pt x="76200" y="42787"/>
                </a:lnTo>
                <a:lnTo>
                  <a:pt x="76200" y="33643"/>
                </a:lnTo>
                <a:lnTo>
                  <a:pt x="64008" y="33527"/>
                </a:lnTo>
                <a:close/>
              </a:path>
              <a:path w="393700" h="76200">
                <a:moveTo>
                  <a:pt x="76200" y="33527"/>
                </a:moveTo>
                <a:lnTo>
                  <a:pt x="64008" y="33527"/>
                </a:lnTo>
                <a:lnTo>
                  <a:pt x="76200" y="33643"/>
                </a:lnTo>
                <a:close/>
              </a:path>
            </a:pathLst>
          </a:custGeom>
          <a:solidFill>
            <a:srgbClr val="000000"/>
          </a:solidFill>
        </p:spPr>
        <p:txBody>
          <a:bodyPr wrap="square" lIns="0" tIns="0" rIns="0" bIns="0" rtlCol="0"/>
          <a:lstStyle/>
          <a:p>
            <a:endParaRPr sz="1588" dirty="0"/>
          </a:p>
        </p:txBody>
      </p:sp>
      <p:sp>
        <p:nvSpPr>
          <p:cNvPr id="140" name="object 50">
            <a:extLst>
              <a:ext uri="{FF2B5EF4-FFF2-40B4-BE49-F238E27FC236}">
                <a16:creationId xmlns:a16="http://schemas.microsoft.com/office/drawing/2014/main" xmlns="" id="{9AFC55EE-A6BB-4278-9D66-4FF2A18D923D}"/>
              </a:ext>
            </a:extLst>
          </p:cNvPr>
          <p:cNvSpPr/>
          <p:nvPr/>
        </p:nvSpPr>
        <p:spPr>
          <a:xfrm>
            <a:off x="5595769" y="2619214"/>
            <a:ext cx="67235" cy="182879"/>
          </a:xfrm>
          <a:prstGeom prst="rect">
            <a:avLst/>
          </a:prstGeom>
          <a:blipFill>
            <a:blip r:embed="rId3" cstate="print"/>
            <a:stretch>
              <a:fillRect/>
            </a:stretch>
          </a:blipFill>
        </p:spPr>
        <p:txBody>
          <a:bodyPr wrap="square" lIns="0" tIns="0" rIns="0" bIns="0" rtlCol="0"/>
          <a:lstStyle/>
          <a:p>
            <a:endParaRPr sz="1588" dirty="0"/>
          </a:p>
        </p:txBody>
      </p:sp>
      <p:sp>
        <p:nvSpPr>
          <p:cNvPr id="141" name="object 51">
            <a:extLst>
              <a:ext uri="{FF2B5EF4-FFF2-40B4-BE49-F238E27FC236}">
                <a16:creationId xmlns:a16="http://schemas.microsoft.com/office/drawing/2014/main" xmlns="" id="{A9385F2C-DF88-4A27-A0A5-CA97A190DFA6}"/>
              </a:ext>
            </a:extLst>
          </p:cNvPr>
          <p:cNvSpPr/>
          <p:nvPr/>
        </p:nvSpPr>
        <p:spPr>
          <a:xfrm>
            <a:off x="6117517" y="2250763"/>
            <a:ext cx="67235" cy="182879"/>
          </a:xfrm>
          <a:prstGeom prst="rect">
            <a:avLst/>
          </a:prstGeom>
          <a:blipFill>
            <a:blip r:embed="rId4" cstate="print"/>
            <a:stretch>
              <a:fillRect/>
            </a:stretch>
          </a:blipFill>
        </p:spPr>
        <p:txBody>
          <a:bodyPr wrap="square" lIns="0" tIns="0" rIns="0" bIns="0" rtlCol="0"/>
          <a:lstStyle/>
          <a:p>
            <a:endParaRPr sz="1588" dirty="0"/>
          </a:p>
        </p:txBody>
      </p:sp>
      <p:sp>
        <p:nvSpPr>
          <p:cNvPr id="142" name="object 52">
            <a:extLst>
              <a:ext uri="{FF2B5EF4-FFF2-40B4-BE49-F238E27FC236}">
                <a16:creationId xmlns:a16="http://schemas.microsoft.com/office/drawing/2014/main" xmlns="" id="{ECD3B801-244F-4231-BFC9-8C3507F9403F}"/>
              </a:ext>
            </a:extLst>
          </p:cNvPr>
          <p:cNvSpPr/>
          <p:nvPr/>
        </p:nvSpPr>
        <p:spPr>
          <a:xfrm>
            <a:off x="6117517" y="2627282"/>
            <a:ext cx="67235" cy="182879"/>
          </a:xfrm>
          <a:prstGeom prst="rect">
            <a:avLst/>
          </a:prstGeom>
          <a:blipFill>
            <a:blip r:embed="rId5" cstate="print"/>
            <a:stretch>
              <a:fillRect/>
            </a:stretch>
          </a:blipFill>
        </p:spPr>
        <p:txBody>
          <a:bodyPr wrap="square" lIns="0" tIns="0" rIns="0" bIns="0" rtlCol="0"/>
          <a:lstStyle/>
          <a:p>
            <a:endParaRPr sz="1588" dirty="0"/>
          </a:p>
        </p:txBody>
      </p:sp>
      <p:sp>
        <p:nvSpPr>
          <p:cNvPr id="144" name="object 54">
            <a:extLst>
              <a:ext uri="{FF2B5EF4-FFF2-40B4-BE49-F238E27FC236}">
                <a16:creationId xmlns:a16="http://schemas.microsoft.com/office/drawing/2014/main" xmlns="" id="{7E518291-70BD-4A12-A959-AB1403D2EF1E}"/>
              </a:ext>
            </a:extLst>
          </p:cNvPr>
          <p:cNvSpPr txBox="1">
            <a:spLocks/>
          </p:cNvSpPr>
          <p:nvPr/>
        </p:nvSpPr>
        <p:spPr>
          <a:xfrm>
            <a:off x="776734" y="7051617"/>
            <a:ext cx="807719" cy="215444"/>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FFFF00"/>
                </a:solidFill>
                <a:latin typeface="Verdana"/>
                <a:ea typeface="+mn-ea"/>
                <a:cs typeface="Verdan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06">
              <a:spcBef>
                <a:spcPts val="88"/>
              </a:spcBef>
            </a:pPr>
            <a:r>
              <a:rPr lang="en-US" spc="-10"/>
              <a:t>Ref</a:t>
            </a:r>
            <a:r>
              <a:rPr lang="en-US" spc="-70"/>
              <a:t> </a:t>
            </a:r>
            <a:r>
              <a:rPr lang="en-US" spc="-5"/>
              <a:t>Page</a:t>
            </a:r>
            <a:endParaRPr lang="en-US" spc="-4" dirty="0"/>
          </a:p>
        </p:txBody>
      </p:sp>
    </p:spTree>
    <p:extLst>
      <p:ext uri="{BB962C8B-B14F-4D97-AF65-F5344CB8AC3E}">
        <p14:creationId xmlns:p14="http://schemas.microsoft.com/office/powerpoint/2010/main" val="3263673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3A7BC3-4737-43CE-9684-09C015F58094}"/>
              </a:ext>
            </a:extLst>
          </p:cNvPr>
          <p:cNvSpPr>
            <a:spLocks noGrp="1"/>
          </p:cNvSpPr>
          <p:nvPr>
            <p:ph type="title"/>
          </p:nvPr>
        </p:nvSpPr>
        <p:spPr/>
        <p:txBody>
          <a:bodyPr/>
          <a:lstStyle/>
          <a:p>
            <a:r>
              <a:rPr lang="en-US" spc="-4" dirty="0"/>
              <a:t>Computer BUS</a:t>
            </a:r>
            <a:endParaRPr lang="x-none" dirty="0"/>
          </a:p>
        </p:txBody>
      </p:sp>
      <p:sp>
        <p:nvSpPr>
          <p:cNvPr id="3" name="Content Placeholder 2">
            <a:extLst>
              <a:ext uri="{FF2B5EF4-FFF2-40B4-BE49-F238E27FC236}">
                <a16:creationId xmlns:a16="http://schemas.microsoft.com/office/drawing/2014/main" xmlns="" id="{368A162B-D170-46D9-9012-A7379135844A}"/>
              </a:ext>
            </a:extLst>
          </p:cNvPr>
          <p:cNvSpPr>
            <a:spLocks noGrp="1"/>
          </p:cNvSpPr>
          <p:nvPr>
            <p:ph idx="1"/>
          </p:nvPr>
        </p:nvSpPr>
        <p:spPr>
          <a:xfrm>
            <a:off x="1045029" y="1690688"/>
            <a:ext cx="10308771" cy="4976812"/>
          </a:xfrm>
        </p:spPr>
        <p:txBody>
          <a:bodyPr>
            <a:normAutofit fontScale="70000" lnSpcReduction="20000"/>
          </a:bodyPr>
          <a:lstStyle/>
          <a:p>
            <a:pPr marL="0" indent="0">
              <a:spcBef>
                <a:spcPts val="1019"/>
              </a:spcBef>
              <a:buClr>
                <a:srgbClr val="FF3300"/>
              </a:buClr>
              <a:buNone/>
              <a:tabLst>
                <a:tab pos="317704" algn="l"/>
                <a:tab pos="318264" algn="l"/>
              </a:tabLst>
            </a:pPr>
            <a:r>
              <a:rPr lang="en-US" sz="4000" b="1" u="sng" spc="-9" dirty="0"/>
              <a:t>Bus:</a:t>
            </a:r>
          </a:p>
          <a:p>
            <a:pPr marL="302575" indent="-302575"/>
            <a:r>
              <a:rPr lang="en-US" sz="3400" spc="-9" dirty="0"/>
              <a:t>Inside computers, there are many internal components. For these components to communicate with each other they make use of wires that are known as a ‘bus’ .</a:t>
            </a:r>
          </a:p>
          <a:p>
            <a:pPr marL="302575" indent="-302575"/>
            <a:r>
              <a:rPr lang="en-US" sz="3400" spc="-9" dirty="0"/>
              <a:t>A bus is a common pathway through which information flows from one computer component to another. This pathway is used for communication purpose and it is established between two or more computer components.</a:t>
            </a:r>
          </a:p>
          <a:p>
            <a:r>
              <a:rPr lang="en-US" sz="4000" b="1" u="sng" spc="-9" dirty="0"/>
              <a:t>Types of Bus:</a:t>
            </a:r>
          </a:p>
          <a:p>
            <a:pPr marL="302575" indent="-302575"/>
            <a:r>
              <a:rPr lang="en-US" sz="3400" b="1" spc="-9" dirty="0"/>
              <a:t>Data bus </a:t>
            </a:r>
            <a:r>
              <a:rPr lang="en-US" sz="3400" spc="-9" dirty="0"/>
              <a:t>is used for transfer of data between subunits </a:t>
            </a:r>
          </a:p>
          <a:p>
            <a:pPr marL="302575" indent="-302575"/>
            <a:r>
              <a:rPr lang="en-US" sz="3400" b="1" spc="-9" dirty="0"/>
              <a:t>Address bus </a:t>
            </a:r>
            <a:r>
              <a:rPr lang="en-US" sz="3400" spc="-9" dirty="0"/>
              <a:t>is used to transmit location information between units such as where the data is going or coming from.</a:t>
            </a:r>
          </a:p>
          <a:p>
            <a:pPr marL="302575" indent="-302575"/>
            <a:r>
              <a:rPr lang="en-US" sz="3400" b="1" spc="-9" dirty="0"/>
              <a:t>Control bus </a:t>
            </a:r>
            <a:r>
              <a:rPr lang="en-US" sz="3400" spc="-9" dirty="0"/>
              <a:t>control working of other components</a:t>
            </a:r>
            <a:r>
              <a:rPr lang="en-US" sz="3400" spc="-9" dirty="0">
                <a:solidFill>
                  <a:srgbClr val="333333"/>
                </a:solidFill>
              </a:rPr>
              <a:t>. It is used to provide information as to how data is being sent.</a:t>
            </a:r>
            <a:r>
              <a:rPr lang="en-US" dirty="0">
                <a:latin typeface="Verdana" panose="020B0604030504040204" pitchFamily="34" charset="0"/>
                <a:ea typeface="Verdana" panose="020B0604030504040204" pitchFamily="34" charset="0"/>
              </a:rPr>
              <a:t/>
            </a:r>
            <a:br>
              <a:rPr lang="en-US" dirty="0">
                <a:latin typeface="Verdana" panose="020B0604030504040204" pitchFamily="34" charset="0"/>
                <a:ea typeface="Verdana" panose="020B0604030504040204" pitchFamily="34" charset="0"/>
              </a:rPr>
            </a:br>
            <a:endParaRPr lang="en-US" dirty="0">
              <a:latin typeface="Verdana" panose="020B0604030504040204" pitchFamily="34" charset="0"/>
              <a:ea typeface="Verdana" panose="020B0604030504040204" pitchFamily="34" charset="0"/>
              <a:cs typeface="Verdana"/>
            </a:endParaRPr>
          </a:p>
          <a:p>
            <a:endParaRPr lang="x-none" dirty="0"/>
          </a:p>
        </p:txBody>
      </p:sp>
    </p:spTree>
    <p:extLst>
      <p:ext uri="{BB962C8B-B14F-4D97-AF65-F5344CB8AC3E}">
        <p14:creationId xmlns:p14="http://schemas.microsoft.com/office/powerpoint/2010/main" val="12970153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E10F263C-CE7A-4050-81F1-32E2C1E0CCCD}"/>
              </a:ext>
            </a:extLst>
          </p:cNvPr>
          <p:cNvPicPr>
            <a:picLocks noGrp="1" noChangeAspect="1"/>
          </p:cNvPicPr>
          <p:nvPr>
            <p:ph idx="1"/>
          </p:nvPr>
        </p:nvPicPr>
        <p:blipFill>
          <a:blip r:embed="rId3"/>
          <a:stretch>
            <a:fillRect/>
          </a:stretch>
        </p:blipFill>
        <p:spPr>
          <a:xfrm>
            <a:off x="1392849" y="157241"/>
            <a:ext cx="9269711" cy="6448494"/>
          </a:xfrm>
          <a:prstGeom prst="rect">
            <a:avLst/>
          </a:prstGeom>
        </p:spPr>
      </p:pic>
    </p:spTree>
    <p:extLst>
      <p:ext uri="{BB962C8B-B14F-4D97-AF65-F5344CB8AC3E}">
        <p14:creationId xmlns:p14="http://schemas.microsoft.com/office/powerpoint/2010/main" val="31965668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7DE5A23-696E-42A7-B01A-D1E859F343D9}"/>
              </a:ext>
            </a:extLst>
          </p:cNvPr>
          <p:cNvPicPr>
            <a:picLocks noChangeAspect="1"/>
          </p:cNvPicPr>
          <p:nvPr/>
        </p:nvPicPr>
        <p:blipFill>
          <a:blip r:embed="rId3"/>
          <a:stretch>
            <a:fillRect/>
          </a:stretch>
        </p:blipFill>
        <p:spPr>
          <a:xfrm>
            <a:off x="1665598" y="228600"/>
            <a:ext cx="8860809" cy="6400800"/>
          </a:xfrm>
          <a:prstGeom prst="rect">
            <a:avLst/>
          </a:prstGeom>
        </p:spPr>
      </p:pic>
    </p:spTree>
    <p:extLst>
      <p:ext uri="{BB962C8B-B14F-4D97-AF65-F5344CB8AC3E}">
        <p14:creationId xmlns:p14="http://schemas.microsoft.com/office/powerpoint/2010/main" val="8025599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C68BA7E-96FF-4865-96EF-AE4B6D077FF7}"/>
              </a:ext>
            </a:extLst>
          </p:cNvPr>
          <p:cNvPicPr>
            <a:picLocks noChangeAspect="1"/>
          </p:cNvPicPr>
          <p:nvPr/>
        </p:nvPicPr>
        <p:blipFill rotWithShape="1">
          <a:blip r:embed="rId2"/>
          <a:srcRect b="-126"/>
          <a:stretch/>
        </p:blipFill>
        <p:spPr>
          <a:xfrm>
            <a:off x="2352677" y="4"/>
            <a:ext cx="7458075" cy="6592731"/>
          </a:xfrm>
          <a:prstGeom prst="rect">
            <a:avLst/>
          </a:prstGeom>
        </p:spPr>
      </p:pic>
    </p:spTree>
    <p:extLst>
      <p:ext uri="{BB962C8B-B14F-4D97-AF65-F5344CB8AC3E}">
        <p14:creationId xmlns:p14="http://schemas.microsoft.com/office/powerpoint/2010/main" val="5937849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71D735-6675-411D-9C18-9B30D0EF4783}"/>
              </a:ext>
            </a:extLst>
          </p:cNvPr>
          <p:cNvSpPr>
            <a:spLocks noGrp="1"/>
          </p:cNvSpPr>
          <p:nvPr>
            <p:ph type="title"/>
          </p:nvPr>
        </p:nvSpPr>
        <p:spPr/>
        <p:txBody>
          <a:bodyPr/>
          <a:lstStyle/>
          <a:p>
            <a:r>
              <a:rPr lang="en-US" spc="-9"/>
              <a:t>Instruction</a:t>
            </a:r>
            <a:r>
              <a:rPr lang="en-US"/>
              <a:t> </a:t>
            </a:r>
            <a:r>
              <a:rPr lang="en-US" spc="-13"/>
              <a:t>Set</a:t>
            </a:r>
            <a:endParaRPr lang="x-none"/>
          </a:p>
        </p:txBody>
      </p:sp>
      <p:sp>
        <p:nvSpPr>
          <p:cNvPr id="3" name="Content Placeholder 2">
            <a:extLst>
              <a:ext uri="{FF2B5EF4-FFF2-40B4-BE49-F238E27FC236}">
                <a16:creationId xmlns:a16="http://schemas.microsoft.com/office/drawing/2014/main" xmlns="" id="{8E29F946-CD4B-4122-84B6-973A961F5D51}"/>
              </a:ext>
            </a:extLst>
          </p:cNvPr>
          <p:cNvSpPr>
            <a:spLocks noGrp="1"/>
          </p:cNvSpPr>
          <p:nvPr>
            <p:ph idx="1"/>
          </p:nvPr>
        </p:nvSpPr>
        <p:spPr>
          <a:xfrm>
            <a:off x="1045029" y="1690691"/>
            <a:ext cx="10308771" cy="4802187"/>
          </a:xfrm>
        </p:spPr>
        <p:txBody>
          <a:bodyPr>
            <a:normAutofit fontScale="92500"/>
          </a:bodyPr>
          <a:lstStyle/>
          <a:p>
            <a:r>
              <a:rPr lang="en-US" dirty="0"/>
              <a:t>The complete set of all the instructions in machine code that can be recognized and executed by a central processing unit.</a:t>
            </a:r>
          </a:p>
          <a:p>
            <a:r>
              <a:rPr lang="en-US" spc="-9" dirty="0">
                <a:solidFill>
                  <a:srgbClr val="333333"/>
                </a:solidFill>
              </a:rPr>
              <a:t>CPU </a:t>
            </a:r>
            <a:r>
              <a:rPr lang="en-US" spc="-4" dirty="0">
                <a:solidFill>
                  <a:srgbClr val="333333"/>
                </a:solidFill>
              </a:rPr>
              <a:t>has </a:t>
            </a:r>
            <a:r>
              <a:rPr lang="en-US" dirty="0">
                <a:solidFill>
                  <a:srgbClr val="333333"/>
                </a:solidFill>
              </a:rPr>
              <a:t>built-in </a:t>
            </a:r>
            <a:r>
              <a:rPr lang="en-US" spc="-4" dirty="0">
                <a:solidFill>
                  <a:srgbClr val="333333"/>
                </a:solidFill>
              </a:rPr>
              <a:t>ability </a:t>
            </a:r>
            <a:r>
              <a:rPr lang="en-US" dirty="0">
                <a:solidFill>
                  <a:srgbClr val="333333"/>
                </a:solidFill>
              </a:rPr>
              <a:t>to </a:t>
            </a:r>
            <a:r>
              <a:rPr lang="en-US" spc="-4" dirty="0">
                <a:solidFill>
                  <a:srgbClr val="333333"/>
                </a:solidFill>
              </a:rPr>
              <a:t>execute </a:t>
            </a:r>
            <a:r>
              <a:rPr lang="en-US" dirty="0">
                <a:solidFill>
                  <a:srgbClr val="333333"/>
                </a:solidFill>
              </a:rPr>
              <a:t>a </a:t>
            </a:r>
            <a:r>
              <a:rPr lang="en-US" spc="-4" dirty="0">
                <a:solidFill>
                  <a:srgbClr val="333333"/>
                </a:solidFill>
              </a:rPr>
              <a:t>set</a:t>
            </a:r>
            <a:r>
              <a:rPr lang="en-US" dirty="0">
                <a:solidFill>
                  <a:srgbClr val="333333"/>
                </a:solidFill>
              </a:rPr>
              <a:t> of </a:t>
            </a:r>
            <a:r>
              <a:rPr lang="en-US" spc="-4" dirty="0">
                <a:solidFill>
                  <a:srgbClr val="333333"/>
                </a:solidFill>
              </a:rPr>
              <a:t>machine  instructions, </a:t>
            </a:r>
            <a:r>
              <a:rPr lang="en-US" dirty="0">
                <a:solidFill>
                  <a:srgbClr val="333333"/>
                </a:solidFill>
              </a:rPr>
              <a:t>called its </a:t>
            </a:r>
            <a:r>
              <a:rPr lang="en-US" i="1" spc="-4" dirty="0">
                <a:solidFill>
                  <a:srgbClr val="333333"/>
                </a:solidFill>
              </a:rPr>
              <a:t>instruction</a:t>
            </a:r>
            <a:r>
              <a:rPr lang="en-US" i="1" spc="-53" dirty="0">
                <a:solidFill>
                  <a:srgbClr val="333333"/>
                </a:solidFill>
              </a:rPr>
              <a:t> </a:t>
            </a:r>
            <a:r>
              <a:rPr lang="en-US" i="1" dirty="0">
                <a:solidFill>
                  <a:srgbClr val="333333"/>
                </a:solidFill>
              </a:rPr>
              <a:t>set</a:t>
            </a:r>
            <a:endParaRPr lang="en-US" dirty="0"/>
          </a:p>
          <a:p>
            <a:r>
              <a:rPr lang="en-US" spc="-9" dirty="0">
                <a:solidFill>
                  <a:srgbClr val="333333"/>
                </a:solidFill>
              </a:rPr>
              <a:t>M</a:t>
            </a:r>
            <a:r>
              <a:rPr lang="en-US" spc="4" dirty="0">
                <a:solidFill>
                  <a:srgbClr val="333333"/>
                </a:solidFill>
              </a:rPr>
              <a:t>o</a:t>
            </a:r>
            <a:r>
              <a:rPr lang="en-US" dirty="0">
                <a:solidFill>
                  <a:srgbClr val="333333"/>
                </a:solidFill>
              </a:rPr>
              <a:t>s</a:t>
            </a:r>
            <a:r>
              <a:rPr lang="en-US" spc="-4" dirty="0">
                <a:solidFill>
                  <a:srgbClr val="333333"/>
                </a:solidFill>
              </a:rPr>
              <a:t>t </a:t>
            </a:r>
            <a:r>
              <a:rPr lang="en-US" spc="-13" dirty="0">
                <a:solidFill>
                  <a:srgbClr val="333333"/>
                </a:solidFill>
              </a:rPr>
              <a:t>CP</a:t>
            </a:r>
            <a:r>
              <a:rPr lang="en-US" dirty="0">
                <a:solidFill>
                  <a:srgbClr val="333333"/>
                </a:solidFill>
              </a:rPr>
              <a:t>Us </a:t>
            </a:r>
            <a:r>
              <a:rPr lang="en-US" spc="-13" dirty="0">
                <a:solidFill>
                  <a:srgbClr val="333333"/>
                </a:solidFill>
              </a:rPr>
              <a:t>h</a:t>
            </a:r>
            <a:r>
              <a:rPr lang="en-US" dirty="0">
                <a:solidFill>
                  <a:srgbClr val="333333"/>
                </a:solidFill>
              </a:rPr>
              <a:t>a</a:t>
            </a:r>
            <a:r>
              <a:rPr lang="en-US" spc="-9" dirty="0">
                <a:solidFill>
                  <a:srgbClr val="333333"/>
                </a:solidFill>
              </a:rPr>
              <a:t>v</a:t>
            </a:r>
            <a:r>
              <a:rPr lang="en-US" dirty="0">
                <a:solidFill>
                  <a:srgbClr val="333333"/>
                </a:solidFill>
              </a:rPr>
              <a:t>e 200 </a:t>
            </a:r>
            <a:r>
              <a:rPr lang="en-US" spc="4" dirty="0">
                <a:solidFill>
                  <a:srgbClr val="333333"/>
                </a:solidFill>
              </a:rPr>
              <a:t>o</a:t>
            </a:r>
            <a:r>
              <a:rPr lang="en-US" dirty="0">
                <a:solidFill>
                  <a:srgbClr val="333333"/>
                </a:solidFill>
              </a:rPr>
              <a:t>r m</a:t>
            </a:r>
            <a:r>
              <a:rPr lang="en-US" spc="4" dirty="0">
                <a:solidFill>
                  <a:srgbClr val="333333"/>
                </a:solidFill>
              </a:rPr>
              <a:t>o</a:t>
            </a:r>
            <a:r>
              <a:rPr lang="en-US" dirty="0">
                <a:solidFill>
                  <a:srgbClr val="333333"/>
                </a:solidFill>
              </a:rPr>
              <a:t>re i</a:t>
            </a:r>
            <a:r>
              <a:rPr lang="en-US" spc="-13" dirty="0">
                <a:solidFill>
                  <a:srgbClr val="333333"/>
                </a:solidFill>
              </a:rPr>
              <a:t>n</a:t>
            </a:r>
            <a:r>
              <a:rPr lang="en-US" dirty="0">
                <a:solidFill>
                  <a:srgbClr val="333333"/>
                </a:solidFill>
              </a:rPr>
              <a:t>str</a:t>
            </a:r>
            <a:r>
              <a:rPr lang="en-US" spc="-13" dirty="0">
                <a:solidFill>
                  <a:srgbClr val="333333"/>
                </a:solidFill>
              </a:rPr>
              <a:t>u</a:t>
            </a:r>
            <a:r>
              <a:rPr lang="en-US" dirty="0">
                <a:solidFill>
                  <a:srgbClr val="333333"/>
                </a:solidFill>
              </a:rPr>
              <a:t>ctio</a:t>
            </a:r>
            <a:r>
              <a:rPr lang="en-US" spc="-13" dirty="0">
                <a:solidFill>
                  <a:srgbClr val="333333"/>
                </a:solidFill>
              </a:rPr>
              <a:t>n</a:t>
            </a:r>
            <a:r>
              <a:rPr lang="en-US" dirty="0">
                <a:solidFill>
                  <a:srgbClr val="333333"/>
                </a:solidFill>
              </a:rPr>
              <a:t>s </a:t>
            </a:r>
            <a:r>
              <a:rPr lang="en-US" spc="-4" dirty="0">
                <a:solidFill>
                  <a:srgbClr val="333333"/>
                </a:solidFill>
              </a:rPr>
              <a:t>(s</a:t>
            </a:r>
            <a:r>
              <a:rPr lang="en-US" spc="-13" dirty="0">
                <a:solidFill>
                  <a:srgbClr val="333333"/>
                </a:solidFill>
              </a:rPr>
              <a:t>u</a:t>
            </a:r>
            <a:r>
              <a:rPr lang="en-US" dirty="0">
                <a:solidFill>
                  <a:srgbClr val="333333"/>
                </a:solidFill>
              </a:rPr>
              <a:t>ch as add,</a:t>
            </a:r>
            <a:r>
              <a:rPr lang="en-US" spc="-4" dirty="0">
                <a:solidFill>
                  <a:srgbClr val="333333"/>
                </a:solidFill>
              </a:rPr>
              <a:t> subtract, </a:t>
            </a:r>
            <a:r>
              <a:rPr lang="en-US" dirty="0">
                <a:solidFill>
                  <a:srgbClr val="333333"/>
                </a:solidFill>
              </a:rPr>
              <a:t>compare, </a:t>
            </a:r>
            <a:r>
              <a:rPr lang="en-US" spc="-4" dirty="0">
                <a:solidFill>
                  <a:srgbClr val="333333"/>
                </a:solidFill>
              </a:rPr>
              <a:t>etc.) </a:t>
            </a:r>
            <a:r>
              <a:rPr lang="en-US" dirty="0">
                <a:solidFill>
                  <a:srgbClr val="333333"/>
                </a:solidFill>
              </a:rPr>
              <a:t>in </a:t>
            </a:r>
            <a:r>
              <a:rPr lang="en-US" spc="-4" dirty="0">
                <a:solidFill>
                  <a:srgbClr val="333333"/>
                </a:solidFill>
              </a:rPr>
              <a:t>their instruction</a:t>
            </a:r>
            <a:r>
              <a:rPr lang="en-US" dirty="0">
                <a:solidFill>
                  <a:srgbClr val="333333"/>
                </a:solidFill>
              </a:rPr>
              <a:t> set</a:t>
            </a:r>
          </a:p>
          <a:p>
            <a:r>
              <a:rPr lang="en-US" spc="-13" dirty="0">
                <a:solidFill>
                  <a:srgbClr val="333333"/>
                </a:solidFill>
              </a:rPr>
              <a:t>CP</a:t>
            </a:r>
            <a:r>
              <a:rPr lang="en-US" dirty="0">
                <a:solidFill>
                  <a:srgbClr val="333333"/>
                </a:solidFill>
              </a:rPr>
              <a:t>Us made </a:t>
            </a:r>
            <a:r>
              <a:rPr lang="en-US" spc="4" dirty="0">
                <a:solidFill>
                  <a:srgbClr val="333333"/>
                </a:solidFill>
              </a:rPr>
              <a:t>by </a:t>
            </a:r>
            <a:r>
              <a:rPr lang="en-US" dirty="0">
                <a:solidFill>
                  <a:srgbClr val="333333"/>
                </a:solidFill>
              </a:rPr>
              <a:t>different </a:t>
            </a:r>
            <a:r>
              <a:rPr lang="en-US" spc="-4" dirty="0">
                <a:solidFill>
                  <a:srgbClr val="333333"/>
                </a:solidFill>
              </a:rPr>
              <a:t>manufacturers </a:t>
            </a:r>
            <a:r>
              <a:rPr lang="en-US" spc="-9" dirty="0">
                <a:solidFill>
                  <a:srgbClr val="333333"/>
                </a:solidFill>
              </a:rPr>
              <a:t>have </a:t>
            </a:r>
            <a:r>
              <a:rPr lang="en-US" spc="-4" dirty="0">
                <a:solidFill>
                  <a:srgbClr val="333333"/>
                </a:solidFill>
              </a:rPr>
              <a:t>different instruction</a:t>
            </a:r>
            <a:r>
              <a:rPr lang="en-US" spc="-26" dirty="0">
                <a:solidFill>
                  <a:srgbClr val="333333"/>
                </a:solidFill>
              </a:rPr>
              <a:t> </a:t>
            </a:r>
            <a:r>
              <a:rPr lang="en-US" dirty="0">
                <a:solidFill>
                  <a:srgbClr val="333333"/>
                </a:solidFill>
              </a:rPr>
              <a:t>sets</a:t>
            </a:r>
          </a:p>
          <a:p>
            <a:r>
              <a:rPr lang="en-US" spc="-4" dirty="0">
                <a:solidFill>
                  <a:srgbClr val="333333"/>
                </a:solidFill>
              </a:rPr>
              <a:t>Manufacturers tend </a:t>
            </a:r>
            <a:r>
              <a:rPr lang="en-US" dirty="0">
                <a:solidFill>
                  <a:srgbClr val="333333"/>
                </a:solidFill>
              </a:rPr>
              <a:t>to </a:t>
            </a:r>
            <a:r>
              <a:rPr lang="en-US" spc="-9" dirty="0">
                <a:solidFill>
                  <a:srgbClr val="333333"/>
                </a:solidFill>
              </a:rPr>
              <a:t>group </a:t>
            </a:r>
            <a:r>
              <a:rPr lang="en-US" spc="-4" dirty="0">
                <a:solidFill>
                  <a:srgbClr val="333333"/>
                </a:solidFill>
              </a:rPr>
              <a:t>their </a:t>
            </a:r>
            <a:r>
              <a:rPr lang="en-US" spc="-9" dirty="0">
                <a:solidFill>
                  <a:srgbClr val="333333"/>
                </a:solidFill>
              </a:rPr>
              <a:t>CPUs </a:t>
            </a:r>
            <a:r>
              <a:rPr lang="en-US" spc="-4" dirty="0">
                <a:solidFill>
                  <a:srgbClr val="333333"/>
                </a:solidFill>
              </a:rPr>
              <a:t>into </a:t>
            </a:r>
            <a:r>
              <a:rPr lang="en-US" dirty="0">
                <a:solidFill>
                  <a:srgbClr val="333333"/>
                </a:solidFill>
              </a:rPr>
              <a:t>“families” </a:t>
            </a:r>
            <a:r>
              <a:rPr lang="en-US" spc="-9" dirty="0">
                <a:solidFill>
                  <a:srgbClr val="333333"/>
                </a:solidFill>
              </a:rPr>
              <a:t>having  </a:t>
            </a:r>
            <a:r>
              <a:rPr lang="en-US" dirty="0">
                <a:solidFill>
                  <a:srgbClr val="333333"/>
                </a:solidFill>
              </a:rPr>
              <a:t>similar </a:t>
            </a:r>
            <a:r>
              <a:rPr lang="en-US" spc="-4" dirty="0">
                <a:solidFill>
                  <a:srgbClr val="333333"/>
                </a:solidFill>
              </a:rPr>
              <a:t>instruction</a:t>
            </a:r>
            <a:r>
              <a:rPr lang="en-US" spc="-31" dirty="0">
                <a:solidFill>
                  <a:srgbClr val="333333"/>
                </a:solidFill>
              </a:rPr>
              <a:t> </a:t>
            </a:r>
            <a:r>
              <a:rPr lang="en-US" dirty="0">
                <a:solidFill>
                  <a:srgbClr val="333333"/>
                </a:solidFill>
              </a:rPr>
              <a:t>sets</a:t>
            </a:r>
          </a:p>
          <a:p>
            <a:r>
              <a:rPr lang="en-US" spc="-4" dirty="0">
                <a:solidFill>
                  <a:srgbClr val="333333"/>
                </a:solidFill>
              </a:rPr>
              <a:t>New </a:t>
            </a:r>
            <a:r>
              <a:rPr lang="en-US" spc="-9" dirty="0">
                <a:solidFill>
                  <a:srgbClr val="333333"/>
                </a:solidFill>
              </a:rPr>
              <a:t>CPU </a:t>
            </a:r>
            <a:r>
              <a:rPr lang="en-US" spc="-4" dirty="0">
                <a:solidFill>
                  <a:srgbClr val="333333"/>
                </a:solidFill>
              </a:rPr>
              <a:t>whose instruction set includes instruction </a:t>
            </a:r>
            <a:r>
              <a:rPr lang="en-US" dirty="0">
                <a:solidFill>
                  <a:srgbClr val="333333"/>
                </a:solidFill>
              </a:rPr>
              <a:t>set of its  </a:t>
            </a:r>
            <a:r>
              <a:rPr lang="en-US" spc="-4" dirty="0">
                <a:solidFill>
                  <a:srgbClr val="333333"/>
                </a:solidFill>
              </a:rPr>
              <a:t>predecessor </a:t>
            </a:r>
            <a:r>
              <a:rPr lang="en-US" spc="-9" dirty="0">
                <a:solidFill>
                  <a:srgbClr val="333333"/>
                </a:solidFill>
              </a:rPr>
              <a:t>CPU </a:t>
            </a:r>
            <a:r>
              <a:rPr lang="en-US" dirty="0">
                <a:solidFill>
                  <a:srgbClr val="333333"/>
                </a:solidFill>
              </a:rPr>
              <a:t>is said to be </a:t>
            </a:r>
            <a:r>
              <a:rPr lang="en-US" i="1" spc="-4" dirty="0">
                <a:solidFill>
                  <a:srgbClr val="333333"/>
                </a:solidFill>
              </a:rPr>
              <a:t>backward compatible </a:t>
            </a:r>
            <a:r>
              <a:rPr lang="en-US" spc="-4" dirty="0">
                <a:solidFill>
                  <a:srgbClr val="333333"/>
                </a:solidFill>
              </a:rPr>
              <a:t>with </a:t>
            </a:r>
            <a:r>
              <a:rPr lang="en-US" dirty="0">
                <a:solidFill>
                  <a:srgbClr val="333333"/>
                </a:solidFill>
              </a:rPr>
              <a:t>its  </a:t>
            </a:r>
            <a:r>
              <a:rPr lang="en-US" spc="-4" dirty="0">
                <a:solidFill>
                  <a:srgbClr val="333333"/>
                </a:solidFill>
              </a:rPr>
              <a:t>predecessor</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x-none" dirty="0"/>
          </a:p>
        </p:txBody>
      </p:sp>
    </p:spTree>
    <p:extLst>
      <p:ext uri="{BB962C8B-B14F-4D97-AF65-F5344CB8AC3E}">
        <p14:creationId xmlns:p14="http://schemas.microsoft.com/office/powerpoint/2010/main" val="3791644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88E21-D73F-453A-8E20-21EAF16E129D}"/>
              </a:ext>
            </a:extLst>
          </p:cNvPr>
          <p:cNvSpPr>
            <a:spLocks noGrp="1"/>
          </p:cNvSpPr>
          <p:nvPr>
            <p:ph type="title"/>
          </p:nvPr>
        </p:nvSpPr>
        <p:spPr/>
        <p:txBody>
          <a:bodyPr/>
          <a:lstStyle/>
          <a:p>
            <a:r>
              <a:rPr lang="en-US" spc="-9" dirty="0"/>
              <a:t>Registers</a:t>
            </a:r>
            <a:endParaRPr lang="x-none" dirty="0"/>
          </a:p>
        </p:txBody>
      </p:sp>
      <p:sp>
        <p:nvSpPr>
          <p:cNvPr id="3" name="Content Placeholder 2">
            <a:extLst>
              <a:ext uri="{FF2B5EF4-FFF2-40B4-BE49-F238E27FC236}">
                <a16:creationId xmlns:a16="http://schemas.microsoft.com/office/drawing/2014/main" xmlns="" id="{B2EB23AB-7A5F-4944-BEC7-0944076D5ECE}"/>
              </a:ext>
            </a:extLst>
          </p:cNvPr>
          <p:cNvSpPr>
            <a:spLocks noGrp="1"/>
          </p:cNvSpPr>
          <p:nvPr>
            <p:ph idx="1"/>
          </p:nvPr>
        </p:nvSpPr>
        <p:spPr/>
        <p:txBody>
          <a:bodyPr/>
          <a:lstStyle/>
          <a:p>
            <a:pPr marL="468406" marR="4483" indent="-457200" algn="just">
              <a:spcBef>
                <a:spcPts val="79"/>
              </a:spcBef>
              <a:buClr>
                <a:schemeClr val="tx1"/>
              </a:buClr>
              <a:tabLst>
                <a:tab pos="315462" algn="l"/>
              </a:tabLst>
            </a:pPr>
            <a:r>
              <a:rPr lang="en-US" spc="-9" dirty="0">
                <a:solidFill>
                  <a:srgbClr val="333333"/>
                </a:solidFill>
              </a:rPr>
              <a:t>Special </a:t>
            </a:r>
            <a:r>
              <a:rPr lang="en-US" b="1" spc="-9" dirty="0">
                <a:solidFill>
                  <a:srgbClr val="333333"/>
                </a:solidFill>
              </a:rPr>
              <a:t>memory </a:t>
            </a:r>
            <a:r>
              <a:rPr lang="en-US" b="1" dirty="0">
                <a:solidFill>
                  <a:srgbClr val="333333"/>
                </a:solidFill>
              </a:rPr>
              <a:t>units</a:t>
            </a:r>
            <a:r>
              <a:rPr lang="en-US" dirty="0">
                <a:solidFill>
                  <a:srgbClr val="333333"/>
                </a:solidFill>
              </a:rPr>
              <a:t>, </a:t>
            </a:r>
            <a:r>
              <a:rPr lang="en-US" spc="-4" dirty="0">
                <a:solidFill>
                  <a:srgbClr val="333333"/>
                </a:solidFill>
              </a:rPr>
              <a:t>called </a:t>
            </a:r>
            <a:r>
              <a:rPr lang="en-US" spc="-9" dirty="0">
                <a:solidFill>
                  <a:srgbClr val="333333"/>
                </a:solidFill>
              </a:rPr>
              <a:t>registers, </a:t>
            </a:r>
            <a:r>
              <a:rPr lang="en-US" spc="-4" dirty="0">
                <a:solidFill>
                  <a:srgbClr val="333333"/>
                </a:solidFill>
              </a:rPr>
              <a:t>are </a:t>
            </a:r>
            <a:r>
              <a:rPr lang="en-US" spc="-9" dirty="0">
                <a:solidFill>
                  <a:srgbClr val="333333"/>
                </a:solidFill>
              </a:rPr>
              <a:t>used </a:t>
            </a:r>
            <a:r>
              <a:rPr lang="en-US" spc="-4" dirty="0">
                <a:solidFill>
                  <a:srgbClr val="333333"/>
                </a:solidFill>
              </a:rPr>
              <a:t>to  </a:t>
            </a:r>
            <a:r>
              <a:rPr lang="en-US" dirty="0">
                <a:solidFill>
                  <a:srgbClr val="333333"/>
                </a:solidFill>
              </a:rPr>
              <a:t>hold </a:t>
            </a:r>
            <a:r>
              <a:rPr lang="en-US" spc="-9" dirty="0">
                <a:solidFill>
                  <a:srgbClr val="333333"/>
                </a:solidFill>
              </a:rPr>
              <a:t>information on </a:t>
            </a:r>
            <a:r>
              <a:rPr lang="en-US" spc="-4" dirty="0">
                <a:solidFill>
                  <a:srgbClr val="333333"/>
                </a:solidFill>
              </a:rPr>
              <a:t>a </a:t>
            </a:r>
            <a:r>
              <a:rPr lang="en-US" spc="-9" dirty="0">
                <a:solidFill>
                  <a:srgbClr val="333333"/>
                </a:solidFill>
              </a:rPr>
              <a:t>temporary </a:t>
            </a:r>
            <a:r>
              <a:rPr lang="en-US" dirty="0">
                <a:solidFill>
                  <a:srgbClr val="333333"/>
                </a:solidFill>
              </a:rPr>
              <a:t>basis </a:t>
            </a:r>
            <a:r>
              <a:rPr lang="en-US" spc="-4" dirty="0">
                <a:solidFill>
                  <a:srgbClr val="333333"/>
                </a:solidFill>
              </a:rPr>
              <a:t>as</a:t>
            </a:r>
            <a:r>
              <a:rPr lang="en-US" spc="521" dirty="0">
                <a:solidFill>
                  <a:srgbClr val="333333"/>
                </a:solidFill>
              </a:rPr>
              <a:t> </a:t>
            </a:r>
            <a:r>
              <a:rPr lang="en-US" spc="-4" dirty="0">
                <a:solidFill>
                  <a:srgbClr val="333333"/>
                </a:solidFill>
              </a:rPr>
              <a:t>the  instructions </a:t>
            </a:r>
            <a:r>
              <a:rPr lang="en-US" spc="-9" dirty="0">
                <a:solidFill>
                  <a:srgbClr val="333333"/>
                </a:solidFill>
              </a:rPr>
              <a:t>are interpreted </a:t>
            </a:r>
            <a:r>
              <a:rPr lang="en-US" spc="-4" dirty="0">
                <a:solidFill>
                  <a:srgbClr val="333333"/>
                </a:solidFill>
              </a:rPr>
              <a:t>and </a:t>
            </a:r>
            <a:r>
              <a:rPr lang="en-US" spc="-9" dirty="0">
                <a:solidFill>
                  <a:srgbClr val="333333"/>
                </a:solidFill>
              </a:rPr>
              <a:t>executed </a:t>
            </a:r>
            <a:r>
              <a:rPr lang="en-US" dirty="0">
                <a:solidFill>
                  <a:srgbClr val="333333"/>
                </a:solidFill>
              </a:rPr>
              <a:t>by </a:t>
            </a:r>
            <a:r>
              <a:rPr lang="en-US" spc="-4" dirty="0">
                <a:solidFill>
                  <a:srgbClr val="333333"/>
                </a:solidFill>
              </a:rPr>
              <a:t>the</a:t>
            </a:r>
            <a:r>
              <a:rPr lang="en-US" spc="22" dirty="0">
                <a:solidFill>
                  <a:srgbClr val="333333"/>
                </a:solidFill>
              </a:rPr>
              <a:t> </a:t>
            </a:r>
            <a:r>
              <a:rPr lang="en-US" spc="-9" dirty="0">
                <a:solidFill>
                  <a:srgbClr val="333333"/>
                </a:solidFill>
              </a:rPr>
              <a:t>CPU</a:t>
            </a:r>
            <a:endParaRPr lang="en-US" dirty="0"/>
          </a:p>
          <a:p>
            <a:pPr marL="468406" marR="10086" indent="-457200" algn="just">
              <a:spcBef>
                <a:spcPts val="953"/>
              </a:spcBef>
              <a:buClr>
                <a:schemeClr val="tx1"/>
              </a:buClr>
              <a:tabLst>
                <a:tab pos="315462" algn="l"/>
              </a:tabLst>
            </a:pPr>
            <a:r>
              <a:rPr lang="en-US" spc="-9" dirty="0">
                <a:solidFill>
                  <a:srgbClr val="333333"/>
                </a:solidFill>
              </a:rPr>
              <a:t>Registers are part of </a:t>
            </a:r>
            <a:r>
              <a:rPr lang="en-US" spc="-4" dirty="0">
                <a:solidFill>
                  <a:srgbClr val="333333"/>
                </a:solidFill>
              </a:rPr>
              <a:t>the </a:t>
            </a:r>
            <a:r>
              <a:rPr lang="en-US" spc="-9" dirty="0">
                <a:solidFill>
                  <a:srgbClr val="333333"/>
                </a:solidFill>
              </a:rPr>
              <a:t>CPU (not </a:t>
            </a:r>
            <a:r>
              <a:rPr lang="en-US" dirty="0">
                <a:solidFill>
                  <a:srgbClr val="333333"/>
                </a:solidFill>
              </a:rPr>
              <a:t>main </a:t>
            </a:r>
            <a:r>
              <a:rPr lang="en-US" spc="-9" dirty="0">
                <a:solidFill>
                  <a:srgbClr val="333333"/>
                </a:solidFill>
              </a:rPr>
              <a:t>memory) of </a:t>
            </a:r>
            <a:r>
              <a:rPr lang="en-US" spc="-4" dirty="0">
                <a:solidFill>
                  <a:srgbClr val="333333"/>
                </a:solidFill>
              </a:rPr>
              <a:t>a  </a:t>
            </a:r>
            <a:r>
              <a:rPr lang="en-US" spc="-9" dirty="0">
                <a:solidFill>
                  <a:srgbClr val="333333"/>
                </a:solidFill>
              </a:rPr>
              <a:t>computer and is super fast memory.</a:t>
            </a:r>
            <a:endParaRPr lang="en-US" dirty="0"/>
          </a:p>
          <a:p>
            <a:pPr marL="468406" marR="7284" indent="-457200" algn="just">
              <a:spcBef>
                <a:spcPts val="931"/>
              </a:spcBef>
              <a:buClr>
                <a:schemeClr val="tx1"/>
              </a:buClr>
              <a:tabLst>
                <a:tab pos="315462" algn="l"/>
              </a:tabLst>
            </a:pPr>
            <a:r>
              <a:rPr lang="en-US" spc="-4" dirty="0">
                <a:solidFill>
                  <a:srgbClr val="333333"/>
                </a:solidFill>
              </a:rPr>
              <a:t>The length </a:t>
            </a:r>
            <a:r>
              <a:rPr lang="en-US" spc="-9" dirty="0">
                <a:solidFill>
                  <a:srgbClr val="333333"/>
                </a:solidFill>
              </a:rPr>
              <a:t>of </a:t>
            </a:r>
            <a:r>
              <a:rPr lang="en-US" spc="-4" dirty="0">
                <a:solidFill>
                  <a:srgbClr val="333333"/>
                </a:solidFill>
              </a:rPr>
              <a:t>a </a:t>
            </a:r>
            <a:r>
              <a:rPr lang="en-US" spc="-9" dirty="0">
                <a:solidFill>
                  <a:srgbClr val="333333"/>
                </a:solidFill>
              </a:rPr>
              <a:t>register, sometimes </a:t>
            </a:r>
            <a:r>
              <a:rPr lang="en-US" dirty="0">
                <a:solidFill>
                  <a:srgbClr val="333333"/>
                </a:solidFill>
              </a:rPr>
              <a:t>called </a:t>
            </a:r>
            <a:r>
              <a:rPr lang="en-US" spc="-4" dirty="0">
                <a:solidFill>
                  <a:srgbClr val="333333"/>
                </a:solidFill>
              </a:rPr>
              <a:t>its </a:t>
            </a:r>
            <a:r>
              <a:rPr lang="en-US" i="1" spc="-13" dirty="0">
                <a:solidFill>
                  <a:srgbClr val="333333"/>
                </a:solidFill>
              </a:rPr>
              <a:t>word </a:t>
            </a:r>
            <a:r>
              <a:rPr lang="en-US" i="1" spc="-9" dirty="0">
                <a:solidFill>
                  <a:srgbClr val="333333"/>
                </a:solidFill>
              </a:rPr>
              <a:t>size</a:t>
            </a:r>
            <a:r>
              <a:rPr lang="en-US" spc="-9" dirty="0">
                <a:solidFill>
                  <a:srgbClr val="333333"/>
                </a:solidFill>
              </a:rPr>
              <a:t>, </a:t>
            </a:r>
            <a:r>
              <a:rPr lang="en-US" spc="-4" dirty="0">
                <a:solidFill>
                  <a:srgbClr val="333333"/>
                </a:solidFill>
              </a:rPr>
              <a:t>equals the </a:t>
            </a:r>
            <a:r>
              <a:rPr lang="en-US" spc="-9" dirty="0">
                <a:solidFill>
                  <a:srgbClr val="333333"/>
                </a:solidFill>
              </a:rPr>
              <a:t>number of </a:t>
            </a:r>
            <a:r>
              <a:rPr lang="en-US" dirty="0">
                <a:solidFill>
                  <a:srgbClr val="333333"/>
                </a:solidFill>
              </a:rPr>
              <a:t>bits it </a:t>
            </a:r>
            <a:r>
              <a:rPr lang="en-US" spc="-9" dirty="0">
                <a:solidFill>
                  <a:srgbClr val="333333"/>
                </a:solidFill>
              </a:rPr>
              <a:t>can</a:t>
            </a:r>
            <a:r>
              <a:rPr lang="en-US" spc="-18" dirty="0">
                <a:solidFill>
                  <a:srgbClr val="333333"/>
                </a:solidFill>
              </a:rPr>
              <a:t> </a:t>
            </a:r>
            <a:r>
              <a:rPr lang="en-US" spc="-13" dirty="0">
                <a:solidFill>
                  <a:srgbClr val="333333"/>
                </a:solidFill>
              </a:rPr>
              <a:t>store</a:t>
            </a:r>
            <a:endParaRPr lang="en-US" dirty="0"/>
          </a:p>
          <a:p>
            <a:pPr marL="468406" marR="7845" indent="-457200" algn="just">
              <a:spcBef>
                <a:spcPts val="953"/>
              </a:spcBef>
              <a:buClr>
                <a:schemeClr val="tx1"/>
              </a:buClr>
              <a:tabLst>
                <a:tab pos="315462" algn="l"/>
              </a:tabLst>
            </a:pPr>
            <a:r>
              <a:rPr lang="en-US" dirty="0">
                <a:solidFill>
                  <a:srgbClr val="333333"/>
                </a:solidFill>
              </a:rPr>
              <a:t>With </a:t>
            </a:r>
            <a:r>
              <a:rPr lang="en-US" spc="-13" dirty="0">
                <a:solidFill>
                  <a:srgbClr val="333333"/>
                </a:solidFill>
              </a:rPr>
              <a:t>all </a:t>
            </a:r>
            <a:r>
              <a:rPr lang="en-US" spc="-9" dirty="0">
                <a:solidFill>
                  <a:srgbClr val="333333"/>
                </a:solidFill>
              </a:rPr>
              <a:t>other parameters </a:t>
            </a:r>
            <a:r>
              <a:rPr lang="en-US" dirty="0">
                <a:solidFill>
                  <a:srgbClr val="333333"/>
                </a:solidFill>
              </a:rPr>
              <a:t>being </a:t>
            </a:r>
            <a:r>
              <a:rPr lang="en-US" spc="-4" dirty="0">
                <a:solidFill>
                  <a:srgbClr val="333333"/>
                </a:solidFill>
              </a:rPr>
              <a:t>the </a:t>
            </a:r>
            <a:r>
              <a:rPr lang="en-US" spc="-9" dirty="0">
                <a:solidFill>
                  <a:srgbClr val="333333"/>
                </a:solidFill>
              </a:rPr>
              <a:t>same, </a:t>
            </a:r>
            <a:r>
              <a:rPr lang="en-US" spc="-4" dirty="0">
                <a:solidFill>
                  <a:srgbClr val="333333"/>
                </a:solidFill>
              </a:rPr>
              <a:t>a CPU </a:t>
            </a:r>
            <a:r>
              <a:rPr lang="en-US" spc="-9" dirty="0">
                <a:solidFill>
                  <a:srgbClr val="333333"/>
                </a:solidFill>
              </a:rPr>
              <a:t>with  </a:t>
            </a:r>
            <a:r>
              <a:rPr lang="en-US" spc="-4" dirty="0">
                <a:solidFill>
                  <a:srgbClr val="333333"/>
                </a:solidFill>
              </a:rPr>
              <a:t>32-bit </a:t>
            </a:r>
            <a:r>
              <a:rPr lang="en-US" spc="-9" dirty="0">
                <a:solidFill>
                  <a:srgbClr val="333333"/>
                </a:solidFill>
              </a:rPr>
              <a:t>registers can process </a:t>
            </a:r>
            <a:r>
              <a:rPr lang="en-US" spc="-4" dirty="0">
                <a:solidFill>
                  <a:srgbClr val="333333"/>
                </a:solidFill>
              </a:rPr>
              <a:t>data twice larger than  </a:t>
            </a:r>
            <a:r>
              <a:rPr lang="en-US" spc="-9" dirty="0">
                <a:solidFill>
                  <a:srgbClr val="333333"/>
                </a:solidFill>
              </a:rPr>
              <a:t>one </a:t>
            </a:r>
            <a:r>
              <a:rPr lang="en-US" dirty="0">
                <a:solidFill>
                  <a:srgbClr val="333333"/>
                </a:solidFill>
              </a:rPr>
              <a:t>with </a:t>
            </a:r>
            <a:r>
              <a:rPr lang="en-US" spc="-4" dirty="0">
                <a:solidFill>
                  <a:srgbClr val="333333"/>
                </a:solidFill>
              </a:rPr>
              <a:t>16-bit</a:t>
            </a:r>
            <a:r>
              <a:rPr lang="en-US" spc="-9" dirty="0">
                <a:solidFill>
                  <a:srgbClr val="333333"/>
                </a:solidFill>
              </a:rPr>
              <a:t> </a:t>
            </a:r>
            <a:r>
              <a:rPr lang="en-US" spc="-13" dirty="0">
                <a:solidFill>
                  <a:srgbClr val="333333"/>
                </a:solidFill>
              </a:rPr>
              <a:t>registers</a:t>
            </a:r>
            <a:endParaRPr lang="en-US" dirty="0"/>
          </a:p>
        </p:txBody>
      </p:sp>
    </p:spTree>
    <p:extLst>
      <p:ext uri="{BB962C8B-B14F-4D97-AF65-F5344CB8AC3E}">
        <p14:creationId xmlns:p14="http://schemas.microsoft.com/office/powerpoint/2010/main" val="7926908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B6E9C8-1BBB-43FE-8C63-289C6B99B3DA}"/>
              </a:ext>
            </a:extLst>
          </p:cNvPr>
          <p:cNvSpPr>
            <a:spLocks noGrp="1"/>
          </p:cNvSpPr>
          <p:nvPr>
            <p:ph type="title"/>
          </p:nvPr>
        </p:nvSpPr>
        <p:spPr/>
        <p:txBody>
          <a:bodyPr/>
          <a:lstStyle/>
          <a:p>
            <a:r>
              <a:rPr lang="en-US" dirty="0"/>
              <a:t>CPU Registers</a:t>
            </a:r>
            <a:endParaRPr lang="x-none" dirty="0"/>
          </a:p>
        </p:txBody>
      </p:sp>
      <p:sp>
        <p:nvSpPr>
          <p:cNvPr id="3" name="Content Placeholder 2">
            <a:extLst>
              <a:ext uri="{FF2B5EF4-FFF2-40B4-BE49-F238E27FC236}">
                <a16:creationId xmlns:a16="http://schemas.microsoft.com/office/drawing/2014/main" xmlns="" id="{8D47104E-B71F-47B3-8C92-13321A370FFE}"/>
              </a:ext>
            </a:extLst>
          </p:cNvPr>
          <p:cNvSpPr>
            <a:spLocks noGrp="1"/>
          </p:cNvSpPr>
          <p:nvPr>
            <p:ph idx="1"/>
          </p:nvPr>
        </p:nvSpPr>
        <p:spPr>
          <a:xfrm>
            <a:off x="1045031" y="1825625"/>
            <a:ext cx="10940143" cy="4667250"/>
          </a:xfrm>
        </p:spPr>
        <p:txBody>
          <a:bodyPr>
            <a:normAutofit fontScale="92500" lnSpcReduction="20000"/>
          </a:bodyPr>
          <a:lstStyle/>
          <a:p>
            <a:pPr fontAlgn="base"/>
            <a:r>
              <a:rPr lang="en-US" b="1" dirty="0">
                <a:solidFill>
                  <a:srgbClr val="0070C0"/>
                </a:solidFill>
              </a:rPr>
              <a:t>Accumulator:</a:t>
            </a:r>
            <a:r>
              <a:rPr lang="en-US" dirty="0"/>
              <a:t> Stores the results of calculations made by ALU.</a:t>
            </a:r>
          </a:p>
          <a:p>
            <a:pPr fontAlgn="base"/>
            <a:r>
              <a:rPr lang="en-US" b="1" dirty="0">
                <a:solidFill>
                  <a:srgbClr val="0070C0"/>
                </a:solidFill>
              </a:rPr>
              <a:t>Program Counter (PC):</a:t>
            </a:r>
            <a:r>
              <a:rPr lang="en-US" dirty="0"/>
              <a:t> Keeps track of the memory location of the next instructions to be dealt with. The PC then passes this next address to Memory Address Register (MAR).</a:t>
            </a:r>
          </a:p>
          <a:p>
            <a:pPr fontAlgn="base"/>
            <a:r>
              <a:rPr lang="en-US" b="1" dirty="0">
                <a:solidFill>
                  <a:srgbClr val="0070C0"/>
                </a:solidFill>
              </a:rPr>
              <a:t>Memory Address Register (MAR):</a:t>
            </a:r>
            <a:r>
              <a:rPr lang="en-US" dirty="0"/>
              <a:t> Holds the address of the location in memory, which contains data, that is required by the current instruction being executed. simply MAR points to the memory location that contains data required.</a:t>
            </a:r>
          </a:p>
          <a:p>
            <a:pPr fontAlgn="base"/>
            <a:r>
              <a:rPr lang="en-US" b="1" dirty="0">
                <a:solidFill>
                  <a:srgbClr val="0070C0"/>
                </a:solidFill>
              </a:rPr>
              <a:t>Memory Data Register (MDR):</a:t>
            </a:r>
            <a:r>
              <a:rPr lang="en-US" dirty="0"/>
              <a:t> It stores instructions fetched from memory or any data that is to be transferred to, and stored in, memory.</a:t>
            </a:r>
          </a:p>
          <a:p>
            <a:pPr fontAlgn="base"/>
            <a:r>
              <a:rPr lang="en-US" b="1" dirty="0">
                <a:solidFill>
                  <a:srgbClr val="0070C0"/>
                </a:solidFill>
              </a:rPr>
              <a:t>Current Instruction Register (CIR):</a:t>
            </a:r>
            <a:r>
              <a:rPr lang="en-US" dirty="0"/>
              <a:t> Holds the </a:t>
            </a:r>
            <a:r>
              <a:rPr lang="en-US" b="1" dirty="0"/>
              <a:t>instruction</a:t>
            </a:r>
            <a:r>
              <a:rPr lang="en-US" dirty="0"/>
              <a:t> currently being executed or decoded.</a:t>
            </a:r>
          </a:p>
          <a:p>
            <a:pPr fontAlgn="base"/>
            <a:r>
              <a:rPr lang="en-US" b="1" dirty="0">
                <a:solidFill>
                  <a:srgbClr val="0070C0"/>
                </a:solidFill>
              </a:rPr>
              <a:t>Instruction Buffer Register (IBR):</a:t>
            </a:r>
            <a:r>
              <a:rPr lang="en-US" dirty="0"/>
              <a:t> The instruction that is not to be executed immediately is placed in the instruction buffer register IBR.</a:t>
            </a:r>
          </a:p>
          <a:p>
            <a:endParaRPr lang="en-US" dirty="0"/>
          </a:p>
          <a:p>
            <a:endParaRPr lang="x-none" dirty="0"/>
          </a:p>
        </p:txBody>
      </p:sp>
    </p:spTree>
    <p:extLst>
      <p:ext uri="{BB962C8B-B14F-4D97-AF65-F5344CB8AC3E}">
        <p14:creationId xmlns:p14="http://schemas.microsoft.com/office/powerpoint/2010/main" val="24209474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C95380-33E5-45FB-BDE6-C186E9D99A34}"/>
              </a:ext>
            </a:extLst>
          </p:cNvPr>
          <p:cNvSpPr>
            <a:spLocks noGrp="1"/>
          </p:cNvSpPr>
          <p:nvPr>
            <p:ph type="title"/>
          </p:nvPr>
        </p:nvSpPr>
        <p:spPr/>
        <p:txBody>
          <a:bodyPr/>
          <a:lstStyle/>
          <a:p>
            <a:r>
              <a:rPr lang="en-US" dirty="0"/>
              <a:t>CPU Registers</a:t>
            </a:r>
            <a:endParaRPr lang="x-none" dirty="0"/>
          </a:p>
        </p:txBody>
      </p:sp>
      <p:pic>
        <p:nvPicPr>
          <p:cNvPr id="4" name="Picture 2" descr="https://cdncontribute.geeksforgeeks.org/wp-content/uploads/vn_cpu.png">
            <a:extLst>
              <a:ext uri="{FF2B5EF4-FFF2-40B4-BE49-F238E27FC236}">
                <a16:creationId xmlns:a16="http://schemas.microsoft.com/office/drawing/2014/main" xmlns="" id="{25F85E5B-F6FF-48DC-BF24-66F75F11AD3C}"/>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59472" y="1077203"/>
            <a:ext cx="9073056" cy="541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4760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DC7797-1242-4C38-A4DC-8BD44DA640D9}"/>
              </a:ext>
            </a:extLst>
          </p:cNvPr>
          <p:cNvSpPr>
            <a:spLocks noGrp="1"/>
          </p:cNvSpPr>
          <p:nvPr>
            <p:ph type="title"/>
          </p:nvPr>
        </p:nvSpPr>
        <p:spPr/>
        <p:txBody>
          <a:bodyPr/>
          <a:lstStyle/>
          <a:p>
            <a:r>
              <a:rPr lang="en-US" spc="-9" dirty="0"/>
              <a:t>Fetch decode execute cycle</a:t>
            </a:r>
            <a:endParaRPr lang="x-none" dirty="0"/>
          </a:p>
        </p:txBody>
      </p:sp>
      <p:sp>
        <p:nvSpPr>
          <p:cNvPr id="3" name="Content Placeholder 2">
            <a:extLst>
              <a:ext uri="{FF2B5EF4-FFF2-40B4-BE49-F238E27FC236}">
                <a16:creationId xmlns:a16="http://schemas.microsoft.com/office/drawing/2014/main" xmlns="" id="{0EABD3B9-28AD-4ADC-A7DA-4FE8CC5FC522}"/>
              </a:ext>
            </a:extLst>
          </p:cNvPr>
          <p:cNvSpPr>
            <a:spLocks noGrp="1"/>
          </p:cNvSpPr>
          <p:nvPr>
            <p:ph idx="1"/>
          </p:nvPr>
        </p:nvSpPr>
        <p:spPr/>
        <p:txBody>
          <a:bodyPr/>
          <a:lstStyle/>
          <a:p>
            <a:r>
              <a:rPr lang="en-US" b="1" u="sng" dirty="0"/>
              <a:t>Fetch :</a:t>
            </a:r>
          </a:p>
          <a:p>
            <a:pPr algn="ctr"/>
            <a:r>
              <a:rPr lang="en-US" dirty="0"/>
              <a:t>Get an instruction from main memory</a:t>
            </a:r>
          </a:p>
          <a:p>
            <a:r>
              <a:rPr lang="en-US" b="1" u="sng" dirty="0"/>
              <a:t>Decode:</a:t>
            </a:r>
          </a:p>
          <a:p>
            <a:pPr algn="ctr"/>
            <a:r>
              <a:rPr lang="en-US" dirty="0"/>
              <a:t>Translate it into computer command</a:t>
            </a:r>
          </a:p>
          <a:p>
            <a:r>
              <a:rPr lang="en-US" b="1" u="sng" dirty="0"/>
              <a:t>Execute:</a:t>
            </a:r>
          </a:p>
          <a:p>
            <a:pPr algn="ctr"/>
            <a:r>
              <a:rPr lang="en-US" dirty="0"/>
              <a:t>Actual processing of command</a:t>
            </a:r>
          </a:p>
          <a:p>
            <a:r>
              <a:rPr lang="en-US" b="1" u="sng" dirty="0"/>
              <a:t>Store/Write back:</a:t>
            </a:r>
          </a:p>
          <a:p>
            <a:pPr algn="ctr"/>
            <a:r>
              <a:rPr lang="en-US" dirty="0"/>
              <a:t>Write result to memory.</a:t>
            </a:r>
          </a:p>
          <a:p>
            <a:pPr algn="ctr"/>
            <a:endParaRPr lang="en-US" dirty="0"/>
          </a:p>
          <a:p>
            <a:endParaRPr lang="x-none" dirty="0"/>
          </a:p>
        </p:txBody>
      </p:sp>
    </p:spTree>
    <p:extLst>
      <p:ext uri="{BB962C8B-B14F-4D97-AF65-F5344CB8AC3E}">
        <p14:creationId xmlns:p14="http://schemas.microsoft.com/office/powerpoint/2010/main" val="14271480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643168-A6E8-4B5A-8C56-D24B32CED74A}"/>
              </a:ext>
            </a:extLst>
          </p:cNvPr>
          <p:cNvSpPr>
            <a:spLocks noGrp="1"/>
          </p:cNvSpPr>
          <p:nvPr>
            <p:ph type="title"/>
          </p:nvPr>
        </p:nvSpPr>
        <p:spPr/>
        <p:txBody>
          <a:bodyPr/>
          <a:lstStyle/>
          <a:p>
            <a:r>
              <a:rPr lang="en-US" spc="-9" dirty="0"/>
              <a:t>Fetch decode execute cycle</a:t>
            </a:r>
            <a:endParaRPr lang="x-none" dirty="0"/>
          </a:p>
        </p:txBody>
      </p:sp>
      <p:pic>
        <p:nvPicPr>
          <p:cNvPr id="4" name="Picture 2" descr="Image result for fetch decode execute cycle animation">
            <a:extLst>
              <a:ext uri="{FF2B5EF4-FFF2-40B4-BE49-F238E27FC236}">
                <a16:creationId xmlns:a16="http://schemas.microsoft.com/office/drawing/2014/main" xmlns="" id="{6053695F-2F31-4F7B-9F5F-5022ED77C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379" y="1690688"/>
            <a:ext cx="5379247" cy="432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7548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917010-DC8B-431D-BB54-FA4D0A624D21}"/>
              </a:ext>
            </a:extLst>
          </p:cNvPr>
          <p:cNvSpPr>
            <a:spLocks noGrp="1"/>
          </p:cNvSpPr>
          <p:nvPr>
            <p:ph type="title"/>
          </p:nvPr>
        </p:nvSpPr>
        <p:spPr/>
        <p:txBody>
          <a:bodyPr/>
          <a:lstStyle/>
          <a:p>
            <a:r>
              <a:rPr lang="en-US" dirty="0">
                <a:solidFill>
                  <a:srgbClr val="000000"/>
                </a:solidFill>
              </a:rPr>
              <a:t>The Fetch/Execute Cycle</a:t>
            </a:r>
            <a:endParaRPr lang="x-none" dirty="0"/>
          </a:p>
        </p:txBody>
      </p:sp>
      <p:sp>
        <p:nvSpPr>
          <p:cNvPr id="3" name="Content Placeholder 2">
            <a:extLst>
              <a:ext uri="{FF2B5EF4-FFF2-40B4-BE49-F238E27FC236}">
                <a16:creationId xmlns:a16="http://schemas.microsoft.com/office/drawing/2014/main" xmlns="" id="{7CEE870C-69B1-40BE-AD91-FA952E8001FA}"/>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“Instruction Execution Engine”…a machine that cycles through a series of operations</a:t>
            </a:r>
          </a:p>
          <a:p>
            <a:pPr>
              <a:spcBef>
                <a:spcPts val="800"/>
              </a:spcBef>
              <a:buFont typeface="Arial" charset="0"/>
              <a:buChar char="•"/>
            </a:pPr>
            <a:r>
              <a:rPr lang="en-US" sz="3200" b="1" dirty="0">
                <a:solidFill>
                  <a:srgbClr val="000000"/>
                </a:solidFill>
              </a:rPr>
              <a:t>Series is called: Fetch/Execute Cycle</a:t>
            </a:r>
          </a:p>
          <a:p>
            <a:pPr lvl="1">
              <a:spcBef>
                <a:spcPts val="700"/>
              </a:spcBef>
              <a:buFont typeface="Arial" charset="0"/>
              <a:buChar char="–"/>
            </a:pPr>
            <a:r>
              <a:rPr lang="en-US" sz="2800" dirty="0">
                <a:solidFill>
                  <a:srgbClr val="000000"/>
                </a:solidFill>
              </a:rPr>
              <a:t>Get the next instruction</a:t>
            </a:r>
          </a:p>
          <a:p>
            <a:pPr lvl="1">
              <a:spcBef>
                <a:spcPts val="700"/>
              </a:spcBef>
              <a:buFont typeface="Arial" charset="0"/>
              <a:buChar char="–"/>
            </a:pPr>
            <a:r>
              <a:rPr lang="en-US" sz="2800" dirty="0">
                <a:solidFill>
                  <a:srgbClr val="000000"/>
                </a:solidFill>
              </a:rPr>
              <a:t>Figure out what to do</a:t>
            </a:r>
          </a:p>
          <a:p>
            <a:pPr lvl="1">
              <a:spcBef>
                <a:spcPts val="700"/>
              </a:spcBef>
              <a:buFont typeface="Arial" charset="0"/>
              <a:buChar char="–"/>
            </a:pPr>
            <a:r>
              <a:rPr lang="en-US" sz="2800" dirty="0">
                <a:solidFill>
                  <a:srgbClr val="000000"/>
                </a:solidFill>
              </a:rPr>
              <a:t>Gathering the data needed to do it</a:t>
            </a:r>
          </a:p>
          <a:p>
            <a:pPr lvl="1">
              <a:spcBef>
                <a:spcPts val="700"/>
              </a:spcBef>
              <a:buFont typeface="Arial" charset="0"/>
              <a:buChar char="–"/>
            </a:pPr>
            <a:r>
              <a:rPr lang="en-US" sz="2800" dirty="0">
                <a:solidFill>
                  <a:srgbClr val="000000"/>
                </a:solidFill>
              </a:rPr>
              <a:t>Do it</a:t>
            </a:r>
          </a:p>
          <a:p>
            <a:pPr lvl="1">
              <a:spcBef>
                <a:spcPts val="700"/>
              </a:spcBef>
              <a:buFont typeface="Arial" charset="0"/>
              <a:buChar char="–"/>
            </a:pPr>
            <a:r>
              <a:rPr lang="en-US" sz="2800" dirty="0">
                <a:solidFill>
                  <a:srgbClr val="000000"/>
                </a:solidFill>
              </a:rPr>
              <a:t>Save the result, and </a:t>
            </a:r>
          </a:p>
          <a:p>
            <a:pPr lvl="1">
              <a:spcBef>
                <a:spcPts val="700"/>
              </a:spcBef>
              <a:buFont typeface="Arial" charset="0"/>
              <a:buChar char="–"/>
            </a:pPr>
            <a:r>
              <a:rPr lang="en-US" sz="2800" dirty="0">
                <a:solidFill>
                  <a:srgbClr val="000000"/>
                </a:solidFill>
              </a:rPr>
              <a:t>Repeat (billions of times/second)!</a:t>
            </a:r>
          </a:p>
          <a:p>
            <a:endParaRPr lang="x-none" dirty="0"/>
          </a:p>
        </p:txBody>
      </p:sp>
    </p:spTree>
    <p:extLst>
      <p:ext uri="{BB962C8B-B14F-4D97-AF65-F5344CB8AC3E}">
        <p14:creationId xmlns:p14="http://schemas.microsoft.com/office/powerpoint/2010/main" val="676380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8A6401-0BD3-45A1-9CCC-57C3FD7158AA}"/>
              </a:ext>
            </a:extLst>
          </p:cNvPr>
          <p:cNvSpPr>
            <a:spLocks noGrp="1"/>
          </p:cNvSpPr>
          <p:nvPr>
            <p:ph type="title"/>
          </p:nvPr>
        </p:nvSpPr>
        <p:spPr/>
        <p:txBody>
          <a:bodyPr/>
          <a:lstStyle/>
          <a:p>
            <a:r>
              <a:rPr lang="en-US" dirty="0">
                <a:solidFill>
                  <a:srgbClr val="000000"/>
                </a:solidFill>
              </a:rPr>
              <a:t>A Five-Step Cycle</a:t>
            </a:r>
            <a:endParaRPr lang="x-none" dirty="0"/>
          </a:p>
        </p:txBody>
      </p:sp>
      <p:sp>
        <p:nvSpPr>
          <p:cNvPr id="3" name="Content Placeholder 2">
            <a:extLst>
              <a:ext uri="{FF2B5EF4-FFF2-40B4-BE49-F238E27FC236}">
                <a16:creationId xmlns:a16="http://schemas.microsoft.com/office/drawing/2014/main" xmlns="" id="{FC798408-0D7B-4C4B-B63A-1717ACA87635}"/>
              </a:ext>
            </a:extLst>
          </p:cNvPr>
          <p:cNvSpPr>
            <a:spLocks noGrp="1"/>
          </p:cNvSpPr>
          <p:nvPr>
            <p:ph idx="1"/>
          </p:nvPr>
        </p:nvSpPr>
        <p:spPr>
          <a:xfrm>
            <a:off x="1045031" y="1825628"/>
            <a:ext cx="6123215" cy="4869089"/>
          </a:xfrm>
        </p:spPr>
        <p:txBody>
          <a:bodyPr>
            <a:normAutofit lnSpcReduction="10000"/>
          </a:bodyPr>
          <a:lstStyle/>
          <a:p>
            <a:pPr>
              <a:spcBef>
                <a:spcPts val="800"/>
              </a:spcBef>
              <a:buFont typeface="Arial" charset="0"/>
              <a:buChar char="•"/>
            </a:pPr>
            <a:r>
              <a:rPr lang="en-US" b="1" dirty="0">
                <a:solidFill>
                  <a:srgbClr val="000000"/>
                </a:solidFill>
              </a:rPr>
              <a:t>These operations are repeated in a never-ending sequence</a:t>
            </a:r>
          </a:p>
          <a:p>
            <a:pPr>
              <a:spcBef>
                <a:spcPts val="2000"/>
              </a:spcBef>
              <a:buFont typeface="Arial" charset="0"/>
              <a:buChar char="•"/>
            </a:pPr>
            <a:r>
              <a:rPr lang="en-US" sz="3200" b="1" dirty="0">
                <a:solidFill>
                  <a:srgbClr val="000000"/>
                </a:solidFill>
              </a:rPr>
              <a:t>A five-step cycle:</a:t>
            </a:r>
          </a:p>
          <a:p>
            <a:pPr lvl="1">
              <a:spcBef>
                <a:spcPts val="1750"/>
              </a:spcBef>
              <a:buFont typeface="Arial" charset="0"/>
              <a:buAutoNum type="arabicPeriod"/>
            </a:pPr>
            <a:r>
              <a:rPr lang="en-US" sz="2800" dirty="0">
                <a:solidFill>
                  <a:srgbClr val="000000"/>
                </a:solidFill>
              </a:rPr>
              <a:t>Instruction Fetch (IF)</a:t>
            </a:r>
          </a:p>
          <a:p>
            <a:pPr lvl="1">
              <a:spcBef>
                <a:spcPts val="1750"/>
              </a:spcBef>
              <a:buFont typeface="Arial" charset="0"/>
              <a:buAutoNum type="arabicPeriod"/>
            </a:pPr>
            <a:r>
              <a:rPr lang="en-US" sz="2800" dirty="0">
                <a:solidFill>
                  <a:srgbClr val="000000"/>
                </a:solidFill>
              </a:rPr>
              <a:t>Instruction Decode (ID)</a:t>
            </a:r>
          </a:p>
          <a:p>
            <a:pPr lvl="1">
              <a:spcBef>
                <a:spcPts val="1750"/>
              </a:spcBef>
              <a:buFont typeface="Arial" charset="0"/>
              <a:buAutoNum type="arabicPeriod"/>
            </a:pPr>
            <a:r>
              <a:rPr lang="en-US" sz="2800" dirty="0">
                <a:solidFill>
                  <a:srgbClr val="000000"/>
                </a:solidFill>
              </a:rPr>
              <a:t>Data Fetch (DF) / Operand Fetch (OF)</a:t>
            </a:r>
          </a:p>
          <a:p>
            <a:pPr lvl="1">
              <a:spcBef>
                <a:spcPts val="1750"/>
              </a:spcBef>
              <a:buFont typeface="Arial" charset="0"/>
              <a:buAutoNum type="arabicPeriod"/>
            </a:pPr>
            <a:r>
              <a:rPr lang="en-US" sz="2800" dirty="0">
                <a:solidFill>
                  <a:srgbClr val="000000"/>
                </a:solidFill>
              </a:rPr>
              <a:t>Instruction Execution (EX)</a:t>
            </a:r>
          </a:p>
          <a:p>
            <a:pPr lvl="1">
              <a:spcBef>
                <a:spcPts val="1750"/>
              </a:spcBef>
              <a:buFont typeface="Arial" charset="0"/>
              <a:buAutoNum type="arabicPeriod"/>
            </a:pPr>
            <a:r>
              <a:rPr lang="en-US" sz="2800" dirty="0">
                <a:solidFill>
                  <a:srgbClr val="000000"/>
                </a:solidFill>
              </a:rPr>
              <a:t>Result Return (RR) / Store (ST)</a:t>
            </a:r>
          </a:p>
          <a:p>
            <a:pPr>
              <a:spcBef>
                <a:spcPts val="800"/>
              </a:spcBef>
              <a:buFont typeface="Arial" charset="0"/>
              <a:buChar char="•"/>
            </a:pPr>
            <a:endParaRPr lang="en-US" b="1" dirty="0">
              <a:solidFill>
                <a:srgbClr val="000000"/>
              </a:solidFill>
            </a:endParaRPr>
          </a:p>
          <a:p>
            <a:endParaRPr lang="x-none" dirty="0"/>
          </a:p>
        </p:txBody>
      </p:sp>
      <p:pic>
        <p:nvPicPr>
          <p:cNvPr id="4" name="Picture 3">
            <a:extLst>
              <a:ext uri="{FF2B5EF4-FFF2-40B4-BE49-F238E27FC236}">
                <a16:creationId xmlns:a16="http://schemas.microsoft.com/office/drawing/2014/main" xmlns="" id="{D7F60804-873C-472F-A404-A2A2D0C82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8246" y="2730253"/>
            <a:ext cx="4890911" cy="3054755"/>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500381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594A99-796E-4AC5-A76A-09BB24CF16CD}"/>
              </a:ext>
            </a:extLst>
          </p:cNvPr>
          <p:cNvSpPr>
            <a:spLocks noGrp="1"/>
          </p:cNvSpPr>
          <p:nvPr>
            <p:ph type="title"/>
          </p:nvPr>
        </p:nvSpPr>
        <p:spPr/>
        <p:txBody>
          <a:bodyPr/>
          <a:lstStyle/>
          <a:p>
            <a:r>
              <a:rPr lang="en-US" dirty="0">
                <a:solidFill>
                  <a:srgbClr val="000000"/>
                </a:solidFill>
              </a:rPr>
              <a:t>A Five-Step Cycle</a:t>
            </a:r>
            <a:endParaRPr lang="x-none" dirty="0"/>
          </a:p>
        </p:txBody>
      </p:sp>
      <p:pic>
        <p:nvPicPr>
          <p:cNvPr id="4" name="Content Placeholder 3">
            <a:extLst>
              <a:ext uri="{FF2B5EF4-FFF2-40B4-BE49-F238E27FC236}">
                <a16:creationId xmlns:a16="http://schemas.microsoft.com/office/drawing/2014/main" xmlns="" id="{820C083C-77E8-45FB-AB48-73FD0D1703A5}"/>
              </a:ext>
            </a:extLst>
          </p:cNvPr>
          <p:cNvPicPr>
            <a:picLocks noGrp="1" noChangeAspect="1"/>
          </p:cNvPicPr>
          <p:nvPr>
            <p:ph idx="1"/>
          </p:nvPr>
        </p:nvPicPr>
        <p:blipFill>
          <a:blip r:embed="rId2"/>
          <a:stretch>
            <a:fillRect/>
          </a:stretch>
        </p:blipFill>
        <p:spPr>
          <a:xfrm>
            <a:off x="2082122" y="1527402"/>
            <a:ext cx="8027761" cy="4521702"/>
          </a:xfrm>
          <a:prstGeom prst="rect">
            <a:avLst/>
          </a:prstGeom>
        </p:spPr>
      </p:pic>
    </p:spTree>
    <p:extLst>
      <p:ext uri="{BB962C8B-B14F-4D97-AF65-F5344CB8AC3E}">
        <p14:creationId xmlns:p14="http://schemas.microsoft.com/office/powerpoint/2010/main" val="17297802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5EEE68-34EE-4CFA-A88F-591177D1F6AA}"/>
              </a:ext>
            </a:extLst>
          </p:cNvPr>
          <p:cNvSpPr>
            <a:spLocks noGrp="1"/>
          </p:cNvSpPr>
          <p:nvPr>
            <p:ph type="title"/>
          </p:nvPr>
        </p:nvSpPr>
        <p:spPr/>
        <p:txBody>
          <a:bodyPr/>
          <a:lstStyle/>
          <a:p>
            <a:r>
              <a:rPr lang="en-US" dirty="0">
                <a:solidFill>
                  <a:srgbClr val="000000"/>
                </a:solidFill>
              </a:rPr>
              <a:t>ADD 800, 428, 884</a:t>
            </a:r>
            <a:endParaRPr lang="x-none" dirty="0"/>
          </a:p>
        </p:txBody>
      </p:sp>
      <p:pic>
        <p:nvPicPr>
          <p:cNvPr id="4" name="Picture 2">
            <a:extLst>
              <a:ext uri="{FF2B5EF4-FFF2-40B4-BE49-F238E27FC236}">
                <a16:creationId xmlns:a16="http://schemas.microsoft.com/office/drawing/2014/main" xmlns="" id="{2C9633E6-ADD1-4446-B2D0-55CCC9A224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09887" y="2310606"/>
            <a:ext cx="6372225" cy="3257550"/>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872163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4AF3B0-F988-432B-B33D-3F795200CBDB}"/>
              </a:ext>
            </a:extLst>
          </p:cNvPr>
          <p:cNvSpPr>
            <a:spLocks noGrp="1"/>
          </p:cNvSpPr>
          <p:nvPr>
            <p:ph type="title"/>
          </p:nvPr>
        </p:nvSpPr>
        <p:spPr/>
        <p:txBody>
          <a:bodyPr/>
          <a:lstStyle/>
          <a:p>
            <a:r>
              <a:rPr lang="en-US" dirty="0">
                <a:solidFill>
                  <a:srgbClr val="000000"/>
                </a:solidFill>
              </a:rPr>
              <a:t>Instruction Fetch (IF)</a:t>
            </a:r>
            <a:endParaRPr lang="x-none" dirty="0"/>
          </a:p>
        </p:txBody>
      </p:sp>
      <p:sp>
        <p:nvSpPr>
          <p:cNvPr id="3" name="Content Placeholder 2">
            <a:extLst>
              <a:ext uri="{FF2B5EF4-FFF2-40B4-BE49-F238E27FC236}">
                <a16:creationId xmlns:a16="http://schemas.microsoft.com/office/drawing/2014/main" xmlns="" id="{BC8809D1-26DE-4AD5-BFA5-6B0B416B3F3E}"/>
              </a:ext>
            </a:extLst>
          </p:cNvPr>
          <p:cNvSpPr>
            <a:spLocks noGrp="1"/>
          </p:cNvSpPr>
          <p:nvPr>
            <p:ph idx="1"/>
          </p:nvPr>
        </p:nvSpPr>
        <p:spPr/>
        <p:txBody>
          <a:bodyPr/>
          <a:lstStyle/>
          <a:p>
            <a:pPr>
              <a:spcBef>
                <a:spcPts val="800"/>
              </a:spcBef>
              <a:buFont typeface="Arial" charset="0"/>
              <a:buChar char="•"/>
            </a:pPr>
            <a:r>
              <a:rPr lang="en-US" dirty="0">
                <a:solidFill>
                  <a:srgbClr val="000000"/>
                </a:solidFill>
              </a:rPr>
              <a:t>Execution begins by moving the instruction at the address given by the (</a:t>
            </a:r>
            <a:r>
              <a:rPr lang="en-US" i="1" dirty="0">
                <a:solidFill>
                  <a:srgbClr val="000000"/>
                </a:solidFill>
              </a:rPr>
              <a:t>PC 2200</a:t>
            </a:r>
            <a:r>
              <a:rPr lang="en-US" dirty="0">
                <a:solidFill>
                  <a:srgbClr val="000000"/>
                </a:solidFill>
              </a:rPr>
              <a:t>) from memory to the control unit</a:t>
            </a:r>
          </a:p>
          <a:p>
            <a:pPr>
              <a:spcBef>
                <a:spcPts val="800"/>
              </a:spcBef>
              <a:buFont typeface="Arial" charset="0"/>
              <a:buChar char="•"/>
            </a:pPr>
            <a:r>
              <a:rPr lang="en-US" dirty="0">
                <a:solidFill>
                  <a:srgbClr val="000000"/>
                </a:solidFill>
              </a:rPr>
              <a:t>Once instruction is fetched, the PC can be changed for fetching the next instruction</a:t>
            </a:r>
          </a:p>
          <a:p>
            <a:endParaRPr lang="x-none" dirty="0"/>
          </a:p>
        </p:txBody>
      </p:sp>
    </p:spTree>
    <p:extLst>
      <p:ext uri="{BB962C8B-B14F-4D97-AF65-F5344CB8AC3E}">
        <p14:creationId xmlns:p14="http://schemas.microsoft.com/office/powerpoint/2010/main" val="260567767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E43572-4701-4222-9686-F37CCD61E147}"/>
              </a:ext>
            </a:extLst>
          </p:cNvPr>
          <p:cNvSpPr>
            <a:spLocks noGrp="1"/>
          </p:cNvSpPr>
          <p:nvPr>
            <p:ph type="title"/>
          </p:nvPr>
        </p:nvSpPr>
        <p:spPr/>
        <p:txBody>
          <a:bodyPr/>
          <a:lstStyle/>
          <a:p>
            <a:r>
              <a:rPr lang="en-US" dirty="0">
                <a:solidFill>
                  <a:srgbClr val="000000"/>
                </a:solidFill>
              </a:rPr>
              <a:t>IF</a:t>
            </a:r>
            <a:endParaRPr lang="x-none" dirty="0"/>
          </a:p>
        </p:txBody>
      </p:sp>
      <p:pic>
        <p:nvPicPr>
          <p:cNvPr id="4" name="Picture 2">
            <a:extLst>
              <a:ext uri="{FF2B5EF4-FFF2-40B4-BE49-F238E27FC236}">
                <a16:creationId xmlns:a16="http://schemas.microsoft.com/office/drawing/2014/main" xmlns="" id="{B4A64D2F-122A-47EB-B290-C6F1375A6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5834" y="527095"/>
            <a:ext cx="7040337" cy="580381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6455348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95D55E-87E3-4712-8A3F-B3E78E404B0A}"/>
              </a:ext>
            </a:extLst>
          </p:cNvPr>
          <p:cNvSpPr>
            <a:spLocks noGrp="1"/>
          </p:cNvSpPr>
          <p:nvPr>
            <p:ph type="title"/>
          </p:nvPr>
        </p:nvSpPr>
        <p:spPr/>
        <p:txBody>
          <a:bodyPr/>
          <a:lstStyle/>
          <a:p>
            <a:r>
              <a:rPr lang="en-US" dirty="0">
                <a:solidFill>
                  <a:srgbClr val="000000"/>
                </a:solidFill>
              </a:rPr>
              <a:t>Instruction Decode (ID)</a:t>
            </a:r>
            <a:endParaRPr lang="x-none" dirty="0"/>
          </a:p>
        </p:txBody>
      </p:sp>
      <p:sp>
        <p:nvSpPr>
          <p:cNvPr id="3" name="Content Placeholder 2">
            <a:extLst>
              <a:ext uri="{FF2B5EF4-FFF2-40B4-BE49-F238E27FC236}">
                <a16:creationId xmlns:a16="http://schemas.microsoft.com/office/drawing/2014/main" xmlns="" id="{C2307A3B-B73A-43D7-90DB-E766BE9B0D70}"/>
              </a:ext>
            </a:extLst>
          </p:cNvPr>
          <p:cNvSpPr>
            <a:spLocks noGrp="1"/>
          </p:cNvSpPr>
          <p:nvPr>
            <p:ph idx="1"/>
          </p:nvPr>
        </p:nvSpPr>
        <p:spPr/>
        <p:txBody>
          <a:bodyPr>
            <a:normAutofit lnSpcReduction="10000"/>
          </a:bodyPr>
          <a:lstStyle/>
          <a:p>
            <a:pPr>
              <a:spcBef>
                <a:spcPts val="800"/>
              </a:spcBef>
              <a:buFont typeface="Arial" charset="0"/>
              <a:buChar char="•"/>
            </a:pPr>
            <a:r>
              <a:rPr lang="en-US" sz="2600" b="1" dirty="0">
                <a:solidFill>
                  <a:srgbClr val="000000"/>
                </a:solidFill>
              </a:rPr>
              <a:t>ALU is set up for the operation</a:t>
            </a:r>
          </a:p>
          <a:p>
            <a:pPr>
              <a:spcBef>
                <a:spcPts val="800"/>
              </a:spcBef>
              <a:buFont typeface="Arial" charset="0"/>
              <a:buChar char="•"/>
            </a:pPr>
            <a:r>
              <a:rPr lang="en-US" sz="2600" b="1" dirty="0">
                <a:solidFill>
                  <a:srgbClr val="000000"/>
                </a:solidFill>
              </a:rPr>
              <a:t>Decoder finds the memory address of the instruction's data (</a:t>
            </a:r>
            <a:r>
              <a:rPr lang="en-US" sz="2600" b="1" i="1" dirty="0">
                <a:solidFill>
                  <a:srgbClr val="000000"/>
                </a:solidFill>
              </a:rPr>
              <a:t>source operands</a:t>
            </a:r>
            <a:r>
              <a:rPr lang="en-US" sz="2600" b="1" dirty="0">
                <a:solidFill>
                  <a:srgbClr val="000000"/>
                </a:solidFill>
              </a:rPr>
              <a:t>)</a:t>
            </a:r>
          </a:p>
          <a:p>
            <a:pPr lvl="1">
              <a:spcBef>
                <a:spcPts val="700"/>
              </a:spcBef>
              <a:buFont typeface="Wingdings" panose="05000000000000000000" pitchFamily="2" charset="2"/>
              <a:buChar char="Ø"/>
            </a:pPr>
            <a:r>
              <a:rPr lang="en-US" sz="2600" dirty="0">
                <a:solidFill>
                  <a:srgbClr val="000000"/>
                </a:solidFill>
              </a:rPr>
              <a:t>Most instructions operate on two data values stored in memory (like ADD), so most instructions have addresses for two source operands</a:t>
            </a:r>
          </a:p>
          <a:p>
            <a:pPr lvl="1">
              <a:spcBef>
                <a:spcPts val="700"/>
              </a:spcBef>
              <a:buFont typeface="Wingdings" panose="05000000000000000000" pitchFamily="2" charset="2"/>
              <a:buChar char="Ø"/>
            </a:pPr>
            <a:r>
              <a:rPr lang="en-US" sz="2600" dirty="0">
                <a:solidFill>
                  <a:srgbClr val="000000"/>
                </a:solidFill>
              </a:rPr>
              <a:t>These addresses are passed to the circuit that fetches them from memory during the next step</a:t>
            </a:r>
          </a:p>
          <a:p>
            <a:pPr lvl="1">
              <a:spcBef>
                <a:spcPts val="800"/>
              </a:spcBef>
              <a:buFont typeface="Wingdings" panose="05000000000000000000" pitchFamily="2" charset="2"/>
              <a:buChar char="Ø"/>
            </a:pPr>
            <a:r>
              <a:rPr lang="en-US" sz="2600" dirty="0">
                <a:solidFill>
                  <a:srgbClr val="000000"/>
                </a:solidFill>
              </a:rPr>
              <a:t>Decoder finds the </a:t>
            </a:r>
            <a:r>
              <a:rPr lang="en-US" sz="2600" i="1" dirty="0">
                <a:solidFill>
                  <a:srgbClr val="000000"/>
                </a:solidFill>
              </a:rPr>
              <a:t>destination address </a:t>
            </a:r>
            <a:r>
              <a:rPr lang="en-US" sz="2600" dirty="0">
                <a:solidFill>
                  <a:srgbClr val="000000"/>
                </a:solidFill>
              </a:rPr>
              <a:t>for the Result Return step and places the address in the RR circuit</a:t>
            </a:r>
          </a:p>
          <a:p>
            <a:pPr lvl="1">
              <a:spcBef>
                <a:spcPts val="800"/>
              </a:spcBef>
              <a:buFont typeface="Wingdings" panose="05000000000000000000" pitchFamily="2" charset="2"/>
              <a:buChar char="Ø"/>
            </a:pPr>
            <a:r>
              <a:rPr lang="en-US" sz="2600" dirty="0">
                <a:solidFill>
                  <a:srgbClr val="000000"/>
                </a:solidFill>
              </a:rPr>
              <a:t>Decoder determines what operation the ALU will perform (ADD), and sets up the ALU</a:t>
            </a:r>
          </a:p>
          <a:p>
            <a:pPr lvl="1">
              <a:spcBef>
                <a:spcPts val="700"/>
              </a:spcBef>
              <a:buFont typeface="Arial" charset="0"/>
              <a:buChar char="–"/>
            </a:pPr>
            <a:endParaRPr lang="en-US" sz="2800" dirty="0">
              <a:solidFill>
                <a:srgbClr val="000000"/>
              </a:solidFill>
            </a:endParaRPr>
          </a:p>
          <a:p>
            <a:endParaRPr lang="x-none" dirty="0"/>
          </a:p>
        </p:txBody>
      </p:sp>
    </p:spTree>
    <p:extLst>
      <p:ext uri="{BB962C8B-B14F-4D97-AF65-F5344CB8AC3E}">
        <p14:creationId xmlns:p14="http://schemas.microsoft.com/office/powerpoint/2010/main" val="26229921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2B1447-CD24-4A94-B77A-019C7C1A0C76}"/>
              </a:ext>
            </a:extLst>
          </p:cNvPr>
          <p:cNvSpPr>
            <a:spLocks noGrp="1"/>
          </p:cNvSpPr>
          <p:nvPr>
            <p:ph type="title"/>
          </p:nvPr>
        </p:nvSpPr>
        <p:spPr/>
        <p:txBody>
          <a:bodyPr/>
          <a:lstStyle/>
          <a:p>
            <a:r>
              <a:rPr lang="en-US" dirty="0">
                <a:solidFill>
                  <a:srgbClr val="000000"/>
                </a:solidFill>
              </a:rPr>
              <a:t>ID</a:t>
            </a:r>
            <a:endParaRPr lang="x-none" dirty="0"/>
          </a:p>
        </p:txBody>
      </p:sp>
      <p:pic>
        <p:nvPicPr>
          <p:cNvPr id="4" name="Picture 2">
            <a:extLst>
              <a:ext uri="{FF2B5EF4-FFF2-40B4-BE49-F238E27FC236}">
                <a16:creationId xmlns:a16="http://schemas.microsoft.com/office/drawing/2014/main" xmlns="" id="{92418C35-1F44-4A64-8FC0-887147C257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90937" y="1910556"/>
            <a:ext cx="4810125" cy="40576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8505538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CFAB16-F88B-451E-96F4-C963F213D08E}"/>
              </a:ext>
            </a:extLst>
          </p:cNvPr>
          <p:cNvSpPr>
            <a:spLocks noGrp="1"/>
          </p:cNvSpPr>
          <p:nvPr>
            <p:ph type="title"/>
          </p:nvPr>
        </p:nvSpPr>
        <p:spPr/>
        <p:txBody>
          <a:bodyPr/>
          <a:lstStyle/>
          <a:p>
            <a:r>
              <a:rPr lang="en-US" dirty="0">
                <a:solidFill>
                  <a:srgbClr val="000000"/>
                </a:solidFill>
              </a:rPr>
              <a:t>Data Fetch (DF)</a:t>
            </a:r>
            <a:endParaRPr lang="x-none" dirty="0"/>
          </a:p>
        </p:txBody>
      </p:sp>
      <p:sp>
        <p:nvSpPr>
          <p:cNvPr id="3" name="Content Placeholder 2">
            <a:extLst>
              <a:ext uri="{FF2B5EF4-FFF2-40B4-BE49-F238E27FC236}">
                <a16:creationId xmlns:a16="http://schemas.microsoft.com/office/drawing/2014/main" xmlns="" id="{C48BFBAB-A855-4A75-B8A6-7E068178E4D4}"/>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data values to be operated on are retrieved from memory</a:t>
            </a:r>
          </a:p>
          <a:p>
            <a:pPr>
              <a:spcBef>
                <a:spcPts val="800"/>
              </a:spcBef>
              <a:buFont typeface="Arial" charset="0"/>
              <a:buChar char="•"/>
            </a:pPr>
            <a:r>
              <a:rPr lang="en-US" dirty="0">
                <a:solidFill>
                  <a:srgbClr val="000000"/>
                </a:solidFill>
              </a:rPr>
              <a:t>Bits at specified memory locations are copied into locations in the ALU circuitry</a:t>
            </a:r>
          </a:p>
          <a:p>
            <a:pPr>
              <a:spcBef>
                <a:spcPts val="800"/>
              </a:spcBef>
              <a:buFont typeface="Arial" charset="0"/>
              <a:buChar char="•"/>
            </a:pPr>
            <a:r>
              <a:rPr lang="en-US" dirty="0">
                <a:solidFill>
                  <a:srgbClr val="000000"/>
                </a:solidFill>
              </a:rPr>
              <a:t>Data values remain in memory (they are not destroyed)</a:t>
            </a:r>
          </a:p>
          <a:p>
            <a:endParaRPr lang="x-none" dirty="0"/>
          </a:p>
        </p:txBody>
      </p:sp>
    </p:spTree>
    <p:extLst>
      <p:ext uri="{BB962C8B-B14F-4D97-AF65-F5344CB8AC3E}">
        <p14:creationId xmlns:p14="http://schemas.microsoft.com/office/powerpoint/2010/main" val="49398525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E03611-65ED-4CBA-B74C-6F467C2D0288}"/>
              </a:ext>
            </a:extLst>
          </p:cNvPr>
          <p:cNvSpPr>
            <a:spLocks noGrp="1"/>
          </p:cNvSpPr>
          <p:nvPr>
            <p:ph type="title"/>
          </p:nvPr>
        </p:nvSpPr>
        <p:spPr/>
        <p:txBody>
          <a:bodyPr/>
          <a:lstStyle/>
          <a:p>
            <a:r>
              <a:rPr lang="en-US" dirty="0">
                <a:solidFill>
                  <a:srgbClr val="000000"/>
                </a:solidFill>
              </a:rPr>
              <a:t>DF</a:t>
            </a:r>
            <a:endParaRPr lang="x-none" dirty="0"/>
          </a:p>
        </p:txBody>
      </p:sp>
      <p:pic>
        <p:nvPicPr>
          <p:cNvPr id="4" name="Picture 2">
            <a:extLst>
              <a:ext uri="{FF2B5EF4-FFF2-40B4-BE49-F238E27FC236}">
                <a16:creationId xmlns:a16="http://schemas.microsoft.com/office/drawing/2014/main" xmlns="" id="{9F0593D4-BD4F-4C4C-8E9F-BF7F78DCED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41256" y="840528"/>
            <a:ext cx="7109491" cy="517695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942848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C418C2-99AB-4516-97EA-323C4EE2CB2A}"/>
              </a:ext>
            </a:extLst>
          </p:cNvPr>
          <p:cNvSpPr>
            <a:spLocks noGrp="1"/>
          </p:cNvSpPr>
          <p:nvPr>
            <p:ph type="title"/>
          </p:nvPr>
        </p:nvSpPr>
        <p:spPr/>
        <p:txBody>
          <a:bodyPr/>
          <a:lstStyle/>
          <a:p>
            <a:r>
              <a:rPr lang="en-US" dirty="0">
                <a:solidFill>
                  <a:srgbClr val="000000"/>
                </a:solidFill>
              </a:rPr>
              <a:t>Instruction Execution (EX)</a:t>
            </a:r>
            <a:endParaRPr lang="x-none" dirty="0"/>
          </a:p>
        </p:txBody>
      </p:sp>
      <p:sp>
        <p:nvSpPr>
          <p:cNvPr id="3" name="Content Placeholder 2">
            <a:extLst>
              <a:ext uri="{FF2B5EF4-FFF2-40B4-BE49-F238E27FC236}">
                <a16:creationId xmlns:a16="http://schemas.microsoft.com/office/drawing/2014/main" xmlns="" id="{3994BF44-ECF5-4952-8606-34FA378E54A3}"/>
              </a:ext>
            </a:extLst>
          </p:cNvPr>
          <p:cNvSpPr>
            <a:spLocks noGrp="1"/>
          </p:cNvSpPr>
          <p:nvPr>
            <p:ph idx="1"/>
          </p:nvPr>
        </p:nvSpPr>
        <p:spPr/>
        <p:txBody>
          <a:bodyPr/>
          <a:lstStyle/>
          <a:p>
            <a:pPr>
              <a:spcBef>
                <a:spcPts val="800"/>
              </a:spcBef>
              <a:buFont typeface="Arial" charset="0"/>
              <a:buChar char="•"/>
            </a:pPr>
            <a:r>
              <a:rPr lang="en-US" dirty="0">
                <a:solidFill>
                  <a:srgbClr val="000000"/>
                </a:solidFill>
              </a:rPr>
              <a:t>For this ADD instruction, the addition circuit adds the two source operands together to produce their sum</a:t>
            </a:r>
          </a:p>
          <a:p>
            <a:pPr>
              <a:spcBef>
                <a:spcPts val="800"/>
              </a:spcBef>
              <a:buFont typeface="Arial" charset="0"/>
              <a:buChar char="•"/>
            </a:pPr>
            <a:r>
              <a:rPr lang="en-US" dirty="0">
                <a:solidFill>
                  <a:srgbClr val="000000"/>
                </a:solidFill>
              </a:rPr>
              <a:t>Sum is held in the ALU circuitry</a:t>
            </a:r>
          </a:p>
          <a:p>
            <a:pPr>
              <a:spcBef>
                <a:spcPts val="800"/>
              </a:spcBef>
              <a:buFont typeface="Arial" charset="0"/>
              <a:buChar char="•"/>
            </a:pPr>
            <a:r>
              <a:rPr lang="en-US" dirty="0">
                <a:solidFill>
                  <a:srgbClr val="000000"/>
                </a:solidFill>
              </a:rPr>
              <a:t>This is the actual computation</a:t>
            </a:r>
          </a:p>
          <a:p>
            <a:endParaRPr lang="x-none" dirty="0"/>
          </a:p>
        </p:txBody>
      </p:sp>
    </p:spTree>
    <p:extLst>
      <p:ext uri="{BB962C8B-B14F-4D97-AF65-F5344CB8AC3E}">
        <p14:creationId xmlns:p14="http://schemas.microsoft.com/office/powerpoint/2010/main" val="8690446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34E395-73E6-4D11-9ED8-E12DC2808E44}"/>
              </a:ext>
            </a:extLst>
          </p:cNvPr>
          <p:cNvSpPr>
            <a:spLocks noGrp="1"/>
          </p:cNvSpPr>
          <p:nvPr>
            <p:ph type="title"/>
          </p:nvPr>
        </p:nvSpPr>
        <p:spPr/>
        <p:txBody>
          <a:bodyPr/>
          <a:lstStyle/>
          <a:p>
            <a:r>
              <a:rPr lang="en-US" dirty="0">
                <a:solidFill>
                  <a:srgbClr val="000000"/>
                </a:solidFill>
              </a:rPr>
              <a:t>EX</a:t>
            </a:r>
            <a:endParaRPr lang="x-none" dirty="0"/>
          </a:p>
        </p:txBody>
      </p:sp>
      <p:pic>
        <p:nvPicPr>
          <p:cNvPr id="4" name="Picture 2">
            <a:extLst>
              <a:ext uri="{FF2B5EF4-FFF2-40B4-BE49-F238E27FC236}">
                <a16:creationId xmlns:a16="http://schemas.microsoft.com/office/drawing/2014/main" xmlns="" id="{7EBD9F72-C2C9-4DEB-B7EC-12DDFB2881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78903" y="930335"/>
            <a:ext cx="6834196" cy="49973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521404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3585B3-C2B6-46A7-922C-5ECD6EB8C96F}"/>
              </a:ext>
            </a:extLst>
          </p:cNvPr>
          <p:cNvSpPr>
            <a:spLocks noGrp="1"/>
          </p:cNvSpPr>
          <p:nvPr>
            <p:ph type="title"/>
          </p:nvPr>
        </p:nvSpPr>
        <p:spPr/>
        <p:txBody>
          <a:bodyPr/>
          <a:lstStyle/>
          <a:p>
            <a:r>
              <a:rPr lang="en-US" dirty="0">
                <a:solidFill>
                  <a:srgbClr val="000000"/>
                </a:solidFill>
              </a:rPr>
              <a:t>Return Result (RR)</a:t>
            </a:r>
            <a:endParaRPr lang="x-none" dirty="0"/>
          </a:p>
        </p:txBody>
      </p:sp>
      <p:sp>
        <p:nvSpPr>
          <p:cNvPr id="3" name="Content Placeholder 2">
            <a:extLst>
              <a:ext uri="{FF2B5EF4-FFF2-40B4-BE49-F238E27FC236}">
                <a16:creationId xmlns:a16="http://schemas.microsoft.com/office/drawing/2014/main" xmlns="" id="{1F3E673A-9605-4A2D-9D6D-61254568392C}"/>
              </a:ext>
            </a:extLst>
          </p:cNvPr>
          <p:cNvSpPr>
            <a:spLocks noGrp="1"/>
          </p:cNvSpPr>
          <p:nvPr>
            <p:ph idx="1"/>
          </p:nvPr>
        </p:nvSpPr>
        <p:spPr/>
        <p:txBody>
          <a:bodyPr/>
          <a:lstStyle/>
          <a:p>
            <a:pPr>
              <a:spcBef>
                <a:spcPts val="800"/>
              </a:spcBef>
              <a:buFont typeface="Arial" charset="0"/>
              <a:buChar char="•"/>
            </a:pPr>
            <a:r>
              <a:rPr lang="en-US" dirty="0">
                <a:solidFill>
                  <a:srgbClr val="000000"/>
                </a:solidFill>
              </a:rPr>
              <a:t>RR returns the result of EX to the memory location specified by the destination address. </a:t>
            </a:r>
          </a:p>
          <a:p>
            <a:pPr>
              <a:spcBef>
                <a:spcPts val="800"/>
              </a:spcBef>
              <a:buFont typeface="Arial" charset="0"/>
              <a:buChar char="•"/>
            </a:pPr>
            <a:r>
              <a:rPr lang="en-US" dirty="0">
                <a:solidFill>
                  <a:srgbClr val="000000"/>
                </a:solidFill>
              </a:rPr>
              <a:t>Once the result is stored, the cycle begins again</a:t>
            </a:r>
          </a:p>
          <a:p>
            <a:endParaRPr lang="x-none" dirty="0"/>
          </a:p>
        </p:txBody>
      </p:sp>
    </p:spTree>
    <p:extLst>
      <p:ext uri="{BB962C8B-B14F-4D97-AF65-F5344CB8AC3E}">
        <p14:creationId xmlns:p14="http://schemas.microsoft.com/office/powerpoint/2010/main" val="281974101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26DA59-863B-4E3D-BD77-96D6D6E423FA}"/>
              </a:ext>
            </a:extLst>
          </p:cNvPr>
          <p:cNvSpPr>
            <a:spLocks noGrp="1"/>
          </p:cNvSpPr>
          <p:nvPr>
            <p:ph type="title"/>
          </p:nvPr>
        </p:nvSpPr>
        <p:spPr/>
        <p:txBody>
          <a:bodyPr/>
          <a:lstStyle/>
          <a:p>
            <a:r>
              <a:rPr lang="en-US" dirty="0">
                <a:solidFill>
                  <a:srgbClr val="000000"/>
                </a:solidFill>
              </a:rPr>
              <a:t>RR</a:t>
            </a:r>
            <a:endParaRPr lang="x-none" dirty="0"/>
          </a:p>
        </p:txBody>
      </p:sp>
      <p:pic>
        <p:nvPicPr>
          <p:cNvPr id="4" name="Picture 2">
            <a:extLst>
              <a:ext uri="{FF2B5EF4-FFF2-40B4-BE49-F238E27FC236}">
                <a16:creationId xmlns:a16="http://schemas.microsoft.com/office/drawing/2014/main" xmlns="" id="{E5CC9C87-849A-447C-8F5E-6800D9F7A8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19994" y="1039276"/>
            <a:ext cx="6152017" cy="477945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58673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952607-15B9-4F71-B321-431FA760788E}"/>
              </a:ext>
            </a:extLst>
          </p:cNvPr>
          <p:cNvSpPr>
            <a:spLocks noGrp="1"/>
          </p:cNvSpPr>
          <p:nvPr>
            <p:ph type="title"/>
          </p:nvPr>
        </p:nvSpPr>
        <p:spPr/>
        <p:txBody>
          <a:bodyPr/>
          <a:lstStyle/>
          <a:p>
            <a:r>
              <a:rPr lang="en-US" dirty="0">
                <a:solidFill>
                  <a:srgbClr val="000000"/>
                </a:solidFill>
              </a:rPr>
              <a:t>Cycling the Fetch/Execute Cycle</a:t>
            </a:r>
            <a:endParaRPr lang="x-none" dirty="0"/>
          </a:p>
        </p:txBody>
      </p:sp>
      <p:sp>
        <p:nvSpPr>
          <p:cNvPr id="3" name="Content Placeholder 2">
            <a:extLst>
              <a:ext uri="{FF2B5EF4-FFF2-40B4-BE49-F238E27FC236}">
                <a16:creationId xmlns:a16="http://schemas.microsoft.com/office/drawing/2014/main" xmlns="" id="{D9B29CC3-AD82-4ED8-98CD-0C9B8F66D5C6}"/>
              </a:ext>
            </a:extLst>
          </p:cNvPr>
          <p:cNvSpPr>
            <a:spLocks noGrp="1"/>
          </p:cNvSpPr>
          <p:nvPr>
            <p:ph idx="1"/>
          </p:nvPr>
        </p:nvSpPr>
        <p:spPr/>
        <p:txBody>
          <a:bodyPr/>
          <a:lstStyle/>
          <a:p>
            <a:pPr>
              <a:spcBef>
                <a:spcPts val="800"/>
              </a:spcBef>
              <a:buFont typeface="Arial" charset="0"/>
              <a:buChar char="•"/>
            </a:pPr>
            <a:r>
              <a:rPr lang="en-US" dirty="0">
                <a:solidFill>
                  <a:srgbClr val="000000"/>
                </a:solidFill>
              </a:rPr>
              <a:t>ADD is representative of the complexity of computer instructions…some are slightly simpler, some slightly more complex</a:t>
            </a:r>
          </a:p>
          <a:p>
            <a:pPr>
              <a:spcBef>
                <a:spcPts val="800"/>
              </a:spcBef>
              <a:buFont typeface="Arial" charset="0"/>
              <a:buChar char="•"/>
            </a:pPr>
            <a:r>
              <a:rPr lang="en-US" dirty="0">
                <a:solidFill>
                  <a:srgbClr val="000000"/>
                </a:solidFill>
              </a:rPr>
              <a:t>Computers achieve success at what they can do with speed. </a:t>
            </a:r>
          </a:p>
          <a:p>
            <a:pPr>
              <a:spcBef>
                <a:spcPts val="800"/>
              </a:spcBef>
              <a:buFont typeface="Arial" charset="0"/>
              <a:buChar char="•"/>
            </a:pPr>
            <a:r>
              <a:rPr lang="en-US" dirty="0">
                <a:solidFill>
                  <a:srgbClr val="000000"/>
                </a:solidFill>
              </a:rPr>
              <a:t>They show their impressive capabilities by executing many simple instructions per second</a:t>
            </a:r>
          </a:p>
          <a:p>
            <a:endParaRPr lang="x-none" dirty="0"/>
          </a:p>
        </p:txBody>
      </p:sp>
    </p:spTree>
    <p:extLst>
      <p:ext uri="{BB962C8B-B14F-4D97-AF65-F5344CB8AC3E}">
        <p14:creationId xmlns:p14="http://schemas.microsoft.com/office/powerpoint/2010/main" val="356477662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69F43-5C1A-4F5D-95CC-95692619D7AB}"/>
              </a:ext>
            </a:extLst>
          </p:cNvPr>
          <p:cNvSpPr>
            <a:spLocks noGrp="1"/>
          </p:cNvSpPr>
          <p:nvPr>
            <p:ph type="title"/>
          </p:nvPr>
        </p:nvSpPr>
        <p:spPr/>
        <p:txBody>
          <a:bodyPr/>
          <a:lstStyle/>
          <a:p>
            <a:r>
              <a:rPr lang="en-US" dirty="0">
                <a:solidFill>
                  <a:srgbClr val="000000"/>
                </a:solidFill>
              </a:rPr>
              <a:t>Many, Many Simple Operations</a:t>
            </a:r>
            <a:endParaRPr lang="x-none" dirty="0"/>
          </a:p>
        </p:txBody>
      </p:sp>
      <p:sp>
        <p:nvSpPr>
          <p:cNvPr id="3" name="Content Placeholder 2">
            <a:extLst>
              <a:ext uri="{FF2B5EF4-FFF2-40B4-BE49-F238E27FC236}">
                <a16:creationId xmlns:a16="http://schemas.microsoft.com/office/drawing/2014/main" xmlns="" id="{9142FE0D-4606-4966-B649-759A1AEE7C88}"/>
              </a:ext>
            </a:extLst>
          </p:cNvPr>
          <p:cNvSpPr>
            <a:spLocks noGrp="1"/>
          </p:cNvSpPr>
          <p:nvPr>
            <p:ph idx="1"/>
          </p:nvPr>
        </p:nvSpPr>
        <p:spPr/>
        <p:txBody>
          <a:bodyPr/>
          <a:lstStyle/>
          <a:p>
            <a:pPr>
              <a:spcBef>
                <a:spcPts val="700"/>
              </a:spcBef>
              <a:buFont typeface="Arial" charset="0"/>
              <a:buChar char="•"/>
            </a:pPr>
            <a:r>
              <a:rPr lang="en-US" dirty="0">
                <a:solidFill>
                  <a:srgbClr val="000000"/>
                </a:solidFill>
              </a:rPr>
              <a:t>Computers “know” very few instructions</a:t>
            </a:r>
          </a:p>
          <a:p>
            <a:pPr>
              <a:spcBef>
                <a:spcPts val="700"/>
              </a:spcBef>
              <a:buFont typeface="Arial" charset="0"/>
              <a:buChar char="•"/>
            </a:pPr>
            <a:r>
              <a:rPr lang="en-US" dirty="0">
                <a:solidFill>
                  <a:srgbClr val="000000"/>
                </a:solidFill>
              </a:rPr>
              <a:t>The decoder hardware in the controller recognizes, and the ALU performs, only about 100 different instructions (with a lot of duplication)</a:t>
            </a:r>
          </a:p>
          <a:p>
            <a:pPr>
              <a:spcBef>
                <a:spcPts val="700"/>
              </a:spcBef>
              <a:buFont typeface="Arial" charset="0"/>
              <a:buChar char="•"/>
            </a:pPr>
            <a:r>
              <a:rPr lang="en-US" dirty="0">
                <a:solidFill>
                  <a:srgbClr val="000000"/>
                </a:solidFill>
              </a:rPr>
              <a:t>There are only about 20 different kinds of operations. </a:t>
            </a:r>
          </a:p>
          <a:p>
            <a:pPr>
              <a:spcBef>
                <a:spcPts val="700"/>
              </a:spcBef>
              <a:buFont typeface="Arial" charset="0"/>
              <a:buChar char="•"/>
            </a:pPr>
            <a:r>
              <a:rPr lang="en-US" dirty="0">
                <a:solidFill>
                  <a:srgbClr val="000000"/>
                </a:solidFill>
              </a:rPr>
              <a:t>Everything that computers do must be reduced to some combination of these primitive, hardwired instructions</a:t>
            </a:r>
          </a:p>
          <a:p>
            <a:endParaRPr lang="x-none" dirty="0"/>
          </a:p>
        </p:txBody>
      </p:sp>
    </p:spTree>
    <p:extLst>
      <p:ext uri="{BB962C8B-B14F-4D97-AF65-F5344CB8AC3E}">
        <p14:creationId xmlns:p14="http://schemas.microsoft.com/office/powerpoint/2010/main" val="2378177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57CD0-9BC4-4040-A765-F7DADC02C2B8}"/>
              </a:ext>
            </a:extLst>
          </p:cNvPr>
          <p:cNvSpPr>
            <a:spLocks noGrp="1"/>
          </p:cNvSpPr>
          <p:nvPr>
            <p:ph type="title"/>
          </p:nvPr>
        </p:nvSpPr>
        <p:spPr/>
        <p:txBody>
          <a:bodyPr/>
          <a:lstStyle/>
          <a:p>
            <a:r>
              <a:rPr lang="en-US" dirty="0"/>
              <a:t>Processor and Memory</a:t>
            </a:r>
            <a:endParaRPr lang="x-none" dirty="0"/>
          </a:p>
        </p:txBody>
      </p:sp>
    </p:spTree>
    <p:extLst>
      <p:ext uri="{BB962C8B-B14F-4D97-AF65-F5344CB8AC3E}">
        <p14:creationId xmlns:p14="http://schemas.microsoft.com/office/powerpoint/2010/main" val="39270545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056CC6-3181-44AB-A7C2-D6211D776190}"/>
              </a:ext>
            </a:extLst>
          </p:cNvPr>
          <p:cNvSpPr>
            <a:spLocks noGrp="1"/>
          </p:cNvSpPr>
          <p:nvPr>
            <p:ph type="title"/>
          </p:nvPr>
        </p:nvSpPr>
        <p:spPr/>
        <p:txBody>
          <a:bodyPr/>
          <a:lstStyle/>
          <a:p>
            <a:r>
              <a:rPr lang="en-US" dirty="0">
                <a:solidFill>
                  <a:srgbClr val="000000"/>
                </a:solidFill>
              </a:rPr>
              <a:t>Memory</a:t>
            </a:r>
            <a:endParaRPr lang="x-none" dirty="0"/>
          </a:p>
        </p:txBody>
      </p:sp>
      <p:sp>
        <p:nvSpPr>
          <p:cNvPr id="3" name="Content Placeholder 2">
            <a:extLst>
              <a:ext uri="{FF2B5EF4-FFF2-40B4-BE49-F238E27FC236}">
                <a16:creationId xmlns:a16="http://schemas.microsoft.com/office/drawing/2014/main" xmlns="" id="{F1739944-6EC4-4EEB-B830-368E2B682D2B}"/>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Memory stores both the program while it is running and the data on which the program operates</a:t>
            </a:r>
          </a:p>
          <a:p>
            <a:pPr>
              <a:spcBef>
                <a:spcPts val="800"/>
              </a:spcBef>
              <a:buFont typeface="Arial" charset="0"/>
              <a:buChar char="•"/>
            </a:pPr>
            <a:r>
              <a:rPr lang="en-US" sz="3200" b="1" dirty="0">
                <a:solidFill>
                  <a:srgbClr val="000000"/>
                </a:solidFill>
              </a:rPr>
              <a:t>Properties of memory:</a:t>
            </a:r>
          </a:p>
          <a:p>
            <a:pPr lvl="1">
              <a:spcBef>
                <a:spcPts val="700"/>
              </a:spcBef>
              <a:buFont typeface="Arial" charset="0"/>
              <a:buChar char="–"/>
            </a:pPr>
            <a:r>
              <a:rPr lang="en-US" sz="2800" b="1" dirty="0">
                <a:solidFill>
                  <a:srgbClr val="000000"/>
                </a:solidFill>
              </a:rPr>
              <a:t>Discrete locations</a:t>
            </a:r>
          </a:p>
          <a:p>
            <a:pPr lvl="2">
              <a:spcBef>
                <a:spcPts val="700"/>
              </a:spcBef>
              <a:buFont typeface="Arial" charset="0"/>
              <a:buChar char="–"/>
            </a:pPr>
            <a:r>
              <a:rPr lang="en-US" sz="2400" dirty="0">
                <a:solidFill>
                  <a:srgbClr val="000000"/>
                </a:solidFill>
              </a:rPr>
              <a:t>Memory is organized as a sequence of discrete locations</a:t>
            </a:r>
          </a:p>
          <a:p>
            <a:pPr lvl="2">
              <a:spcBef>
                <a:spcPts val="700"/>
              </a:spcBef>
              <a:buFont typeface="Arial" charset="0"/>
              <a:buChar char="–"/>
            </a:pPr>
            <a:r>
              <a:rPr lang="en-US" sz="2400" dirty="0">
                <a:solidFill>
                  <a:srgbClr val="000000"/>
                </a:solidFill>
              </a:rPr>
              <a:t>In modern memory, each location is composed of 1 byte (8 bits)</a:t>
            </a:r>
          </a:p>
          <a:p>
            <a:endParaRPr lang="x-none" dirty="0"/>
          </a:p>
        </p:txBody>
      </p:sp>
    </p:spTree>
    <p:extLst>
      <p:ext uri="{BB962C8B-B14F-4D97-AF65-F5344CB8AC3E}">
        <p14:creationId xmlns:p14="http://schemas.microsoft.com/office/powerpoint/2010/main" val="157485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9293D5-764F-48F7-A865-8AD570F264DB}"/>
              </a:ext>
            </a:extLst>
          </p:cNvPr>
          <p:cNvSpPr>
            <a:spLocks noGrp="1"/>
          </p:cNvSpPr>
          <p:nvPr>
            <p:ph type="title"/>
          </p:nvPr>
        </p:nvSpPr>
        <p:spPr/>
        <p:txBody>
          <a:bodyPr/>
          <a:lstStyle/>
          <a:p>
            <a:r>
              <a:rPr lang="en-US" dirty="0">
                <a:solidFill>
                  <a:srgbClr val="000000"/>
                </a:solidFill>
              </a:rPr>
              <a:t>Memory</a:t>
            </a:r>
            <a:endParaRPr lang="x-none" dirty="0"/>
          </a:p>
        </p:txBody>
      </p:sp>
      <p:sp>
        <p:nvSpPr>
          <p:cNvPr id="3" name="Content Placeholder 2">
            <a:extLst>
              <a:ext uri="{FF2B5EF4-FFF2-40B4-BE49-F238E27FC236}">
                <a16:creationId xmlns:a16="http://schemas.microsoft.com/office/drawing/2014/main" xmlns="" id="{DA8A1A0D-28C7-42D0-BE24-70D670B9D335}"/>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Addresses</a:t>
            </a:r>
          </a:p>
          <a:p>
            <a:pPr lvl="1">
              <a:spcBef>
                <a:spcPts val="700"/>
              </a:spcBef>
              <a:buFont typeface="Arial" charset="0"/>
              <a:buChar char="–"/>
            </a:pPr>
            <a:r>
              <a:rPr lang="en-US" sz="2800" dirty="0">
                <a:solidFill>
                  <a:srgbClr val="000000"/>
                </a:solidFill>
              </a:rPr>
              <a:t>Every memory location has an address, whole numbers starting at 0</a:t>
            </a:r>
          </a:p>
          <a:p>
            <a:pPr>
              <a:spcBef>
                <a:spcPts val="800"/>
              </a:spcBef>
              <a:buFont typeface="Arial" charset="0"/>
              <a:buChar char="•"/>
            </a:pPr>
            <a:r>
              <a:rPr lang="en-US" sz="3200" b="1" dirty="0">
                <a:solidFill>
                  <a:srgbClr val="000000"/>
                </a:solidFill>
              </a:rPr>
              <a:t>Values</a:t>
            </a:r>
          </a:p>
          <a:p>
            <a:pPr lvl="1">
              <a:spcBef>
                <a:spcPts val="700"/>
              </a:spcBef>
              <a:buFont typeface="Arial" charset="0"/>
              <a:buChar char="–"/>
            </a:pPr>
            <a:r>
              <a:rPr lang="en-US" sz="2800" dirty="0">
                <a:solidFill>
                  <a:srgbClr val="000000"/>
                </a:solidFill>
              </a:rPr>
              <a:t>Memory locations record or store values</a:t>
            </a:r>
          </a:p>
          <a:p>
            <a:pPr>
              <a:spcBef>
                <a:spcPts val="800"/>
              </a:spcBef>
              <a:buFont typeface="Arial" charset="0"/>
              <a:buChar char="•"/>
            </a:pPr>
            <a:r>
              <a:rPr lang="en-US" sz="3200" b="1" dirty="0">
                <a:solidFill>
                  <a:srgbClr val="000000"/>
                </a:solidFill>
              </a:rPr>
              <a:t>Finite capacity</a:t>
            </a:r>
          </a:p>
          <a:p>
            <a:pPr lvl="1">
              <a:spcBef>
                <a:spcPts val="700"/>
              </a:spcBef>
              <a:buFont typeface="Arial" charset="0"/>
              <a:buChar char="–"/>
            </a:pPr>
            <a:r>
              <a:rPr lang="en-US" sz="2800" dirty="0">
                <a:solidFill>
                  <a:srgbClr val="000000"/>
                </a:solidFill>
              </a:rPr>
              <a:t>Memory locations have a finite capacity (limited size),</a:t>
            </a:r>
          </a:p>
          <a:p>
            <a:pPr lvl="1">
              <a:spcBef>
                <a:spcPts val="700"/>
              </a:spcBef>
              <a:buFont typeface="Arial" charset="0"/>
              <a:buChar char="–"/>
            </a:pPr>
            <a:r>
              <a:rPr lang="en-US" sz="2800" dirty="0">
                <a:solidFill>
                  <a:srgbClr val="000000"/>
                </a:solidFill>
              </a:rPr>
              <a:t>Data may not “fit” in the memory location</a:t>
            </a:r>
          </a:p>
          <a:p>
            <a:pPr marL="0" indent="0">
              <a:buNone/>
            </a:pPr>
            <a:endParaRPr lang="x-none" dirty="0"/>
          </a:p>
        </p:txBody>
      </p:sp>
    </p:spTree>
    <p:extLst>
      <p:ext uri="{BB962C8B-B14F-4D97-AF65-F5344CB8AC3E}">
        <p14:creationId xmlns:p14="http://schemas.microsoft.com/office/powerpoint/2010/main" val="39112872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66F408-D70B-4896-A767-9F82461FB7D3}"/>
              </a:ext>
            </a:extLst>
          </p:cNvPr>
          <p:cNvSpPr>
            <a:spLocks noGrp="1"/>
          </p:cNvSpPr>
          <p:nvPr>
            <p:ph type="title"/>
          </p:nvPr>
        </p:nvSpPr>
        <p:spPr/>
        <p:txBody>
          <a:bodyPr/>
          <a:lstStyle/>
          <a:p>
            <a:r>
              <a:rPr lang="en-US" dirty="0">
                <a:solidFill>
                  <a:srgbClr val="000000"/>
                </a:solidFill>
              </a:rPr>
              <a:t>Byte-Size Memory Location</a:t>
            </a:r>
            <a:endParaRPr lang="x-none" dirty="0"/>
          </a:p>
        </p:txBody>
      </p:sp>
      <p:sp>
        <p:nvSpPr>
          <p:cNvPr id="3" name="Content Placeholder 2">
            <a:extLst>
              <a:ext uri="{FF2B5EF4-FFF2-40B4-BE49-F238E27FC236}">
                <a16:creationId xmlns:a16="http://schemas.microsoft.com/office/drawing/2014/main" xmlns="" id="{55F5DFFC-122D-4F20-B37E-E0A9DC4044FD}"/>
              </a:ext>
            </a:extLst>
          </p:cNvPr>
          <p:cNvSpPr>
            <a:spLocks noGrp="1"/>
          </p:cNvSpPr>
          <p:nvPr>
            <p:ph idx="1"/>
          </p:nvPr>
        </p:nvSpPr>
        <p:spPr/>
        <p:txBody>
          <a:bodyPr/>
          <a:lstStyle/>
          <a:p>
            <a:pPr>
              <a:spcBef>
                <a:spcPts val="800"/>
              </a:spcBef>
              <a:buFont typeface="Arial" charset="0"/>
              <a:buChar char="•"/>
            </a:pPr>
            <a:r>
              <a:rPr lang="en-US" dirty="0">
                <a:solidFill>
                  <a:srgbClr val="000000"/>
                </a:solidFill>
              </a:rPr>
              <a:t>Common visualization of computer memory</a:t>
            </a:r>
          </a:p>
          <a:p>
            <a:pPr>
              <a:spcBef>
                <a:spcPts val="800"/>
              </a:spcBef>
              <a:buFont typeface="Arial" charset="0"/>
              <a:buChar char="•"/>
            </a:pPr>
            <a:r>
              <a:rPr lang="en-US" dirty="0">
                <a:solidFill>
                  <a:srgbClr val="000000"/>
                </a:solidFill>
              </a:rPr>
              <a:t>Discrete locations are shown as boxes holding 1-byte each</a:t>
            </a:r>
          </a:p>
          <a:p>
            <a:pPr>
              <a:spcBef>
                <a:spcPts val="800"/>
              </a:spcBef>
              <a:buFont typeface="Arial" charset="0"/>
              <a:buChar char="•"/>
            </a:pPr>
            <a:endParaRPr lang="en-US" dirty="0">
              <a:solidFill>
                <a:srgbClr val="000000"/>
              </a:solidFill>
            </a:endParaRPr>
          </a:p>
          <a:p>
            <a:pPr>
              <a:spcBef>
                <a:spcPts val="800"/>
              </a:spcBef>
              <a:buFont typeface="Arial" charset="0"/>
              <a:buChar char="•"/>
            </a:pPr>
            <a:endParaRPr lang="en-US" dirty="0">
              <a:solidFill>
                <a:srgbClr val="000000"/>
              </a:solidFill>
            </a:endParaRPr>
          </a:p>
          <a:p>
            <a:pPr>
              <a:spcBef>
                <a:spcPts val="800"/>
              </a:spcBef>
              <a:buFont typeface="Arial" charset="0"/>
              <a:buChar char="•"/>
            </a:pPr>
            <a:endParaRPr lang="en-US" dirty="0">
              <a:solidFill>
                <a:srgbClr val="000000"/>
              </a:solidFill>
            </a:endParaRPr>
          </a:p>
          <a:p>
            <a:pPr>
              <a:spcBef>
                <a:spcPts val="800"/>
              </a:spcBef>
              <a:buFont typeface="Arial" charset="0"/>
              <a:buChar char="•"/>
            </a:pPr>
            <a:r>
              <a:rPr lang="en-US" dirty="0">
                <a:solidFill>
                  <a:srgbClr val="000000"/>
                </a:solidFill>
              </a:rPr>
              <a:t>Address of location is displayed above the box and the contents of location is shown in the box</a:t>
            </a:r>
          </a:p>
          <a:p>
            <a:pPr>
              <a:spcBef>
                <a:spcPts val="800"/>
              </a:spcBef>
              <a:buFont typeface="Arial" charset="0"/>
              <a:buChar char="•"/>
            </a:pPr>
            <a:endParaRPr lang="en-US" dirty="0">
              <a:solidFill>
                <a:srgbClr val="000000"/>
              </a:solidFill>
            </a:endParaRPr>
          </a:p>
          <a:p>
            <a:endParaRPr lang="x-none" dirty="0"/>
          </a:p>
        </p:txBody>
      </p:sp>
      <p:pic>
        <p:nvPicPr>
          <p:cNvPr id="4" name="Picture 2">
            <a:extLst>
              <a:ext uri="{FF2B5EF4-FFF2-40B4-BE49-F238E27FC236}">
                <a16:creationId xmlns:a16="http://schemas.microsoft.com/office/drawing/2014/main" xmlns="" id="{EFCBC461-DB1D-4190-96DF-890580DD0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735" y="2905989"/>
            <a:ext cx="10177359" cy="109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949275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E2730A-F472-4E95-91DF-443B0C626E65}"/>
              </a:ext>
            </a:extLst>
          </p:cNvPr>
          <p:cNvSpPr>
            <a:spLocks noGrp="1"/>
          </p:cNvSpPr>
          <p:nvPr>
            <p:ph type="title"/>
          </p:nvPr>
        </p:nvSpPr>
        <p:spPr/>
        <p:txBody>
          <a:bodyPr/>
          <a:lstStyle/>
          <a:p>
            <a:r>
              <a:rPr lang="en-US" dirty="0">
                <a:solidFill>
                  <a:srgbClr val="000000"/>
                </a:solidFill>
              </a:rPr>
              <a:t>Byte-Size Memory Location</a:t>
            </a:r>
            <a:endParaRPr lang="x-none" dirty="0"/>
          </a:p>
        </p:txBody>
      </p:sp>
      <p:sp>
        <p:nvSpPr>
          <p:cNvPr id="3" name="Content Placeholder 2">
            <a:extLst>
              <a:ext uri="{FF2B5EF4-FFF2-40B4-BE49-F238E27FC236}">
                <a16:creationId xmlns:a16="http://schemas.microsoft.com/office/drawing/2014/main" xmlns="" id="{63DE98A6-2C39-47B2-A6EB-3004FE8740B2}"/>
              </a:ext>
            </a:extLst>
          </p:cNvPr>
          <p:cNvSpPr>
            <a:spLocks noGrp="1"/>
          </p:cNvSpPr>
          <p:nvPr>
            <p:ph idx="1"/>
          </p:nvPr>
        </p:nvSpPr>
        <p:spPr/>
        <p:txBody>
          <a:bodyPr/>
          <a:lstStyle/>
          <a:p>
            <a:pPr>
              <a:spcBef>
                <a:spcPts val="800"/>
              </a:spcBef>
              <a:buFont typeface="Arial" charset="0"/>
              <a:buChar char="•"/>
            </a:pPr>
            <a:r>
              <a:rPr lang="en-US" dirty="0">
                <a:solidFill>
                  <a:srgbClr val="000000"/>
                </a:solidFill>
              </a:rPr>
              <a:t>That </a:t>
            </a:r>
            <a:r>
              <a:rPr lang="en-US" b="1" dirty="0">
                <a:solidFill>
                  <a:srgbClr val="000000"/>
                </a:solidFill>
              </a:rPr>
              <a:t>1-byte memory </a:t>
            </a:r>
            <a:r>
              <a:rPr lang="en-US" dirty="0">
                <a:solidFill>
                  <a:srgbClr val="000000"/>
                </a:solidFill>
              </a:rPr>
              <a:t>location can store one ASCII character or a number less than 256</a:t>
            </a:r>
          </a:p>
          <a:p>
            <a:pPr>
              <a:spcBef>
                <a:spcPts val="800"/>
              </a:spcBef>
              <a:buFont typeface="Arial" charset="0"/>
              <a:buChar char="•"/>
            </a:pPr>
            <a:r>
              <a:rPr lang="en-US" dirty="0">
                <a:solidFill>
                  <a:srgbClr val="000000"/>
                </a:solidFill>
              </a:rPr>
              <a:t>Blocks of </a:t>
            </a:r>
            <a:r>
              <a:rPr lang="en-US" b="1" dirty="0">
                <a:solidFill>
                  <a:srgbClr val="000000"/>
                </a:solidFill>
              </a:rPr>
              <a:t>four bytes are </a:t>
            </a:r>
            <a:r>
              <a:rPr lang="en-US" dirty="0">
                <a:solidFill>
                  <a:srgbClr val="000000"/>
                </a:solidFill>
              </a:rPr>
              <a:t>used as a unit so often that they are called memory words.</a:t>
            </a:r>
          </a:p>
          <a:p>
            <a:pPr>
              <a:spcBef>
                <a:spcPts val="800"/>
              </a:spcBef>
              <a:buNone/>
            </a:pPr>
            <a:endParaRPr lang="en-US" b="1" dirty="0">
              <a:solidFill>
                <a:srgbClr val="000000"/>
              </a:solidFill>
            </a:endParaRPr>
          </a:p>
          <a:p>
            <a:endParaRPr lang="x-none" dirty="0"/>
          </a:p>
        </p:txBody>
      </p:sp>
    </p:spTree>
    <p:extLst>
      <p:ext uri="{BB962C8B-B14F-4D97-AF65-F5344CB8AC3E}">
        <p14:creationId xmlns:p14="http://schemas.microsoft.com/office/powerpoint/2010/main" val="3061670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C8EA5E-6142-4260-AC66-83B0587182E6}"/>
              </a:ext>
            </a:extLst>
          </p:cNvPr>
          <p:cNvSpPr>
            <a:spLocks noGrp="1"/>
          </p:cNvSpPr>
          <p:nvPr>
            <p:ph type="title"/>
          </p:nvPr>
        </p:nvSpPr>
        <p:spPr/>
        <p:txBody>
          <a:bodyPr/>
          <a:lstStyle/>
          <a:p>
            <a:r>
              <a:rPr lang="en-US" dirty="0"/>
              <a:t>RAM</a:t>
            </a:r>
            <a:endParaRPr lang="x-none" dirty="0"/>
          </a:p>
        </p:txBody>
      </p:sp>
      <p:sp>
        <p:nvSpPr>
          <p:cNvPr id="3" name="Content Placeholder 2">
            <a:extLst>
              <a:ext uri="{FF2B5EF4-FFF2-40B4-BE49-F238E27FC236}">
                <a16:creationId xmlns:a16="http://schemas.microsoft.com/office/drawing/2014/main" xmlns="" id="{70DDBED7-4414-4892-92FA-5101675586FC}"/>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Computer memory is called random access memory (RAM)</a:t>
            </a:r>
          </a:p>
          <a:p>
            <a:pPr lvl="1">
              <a:spcBef>
                <a:spcPts val="700"/>
              </a:spcBef>
              <a:buFont typeface="Arial" charset="0"/>
              <a:buChar char="–"/>
            </a:pPr>
            <a:r>
              <a:rPr lang="en-US" sz="2800" dirty="0">
                <a:solidFill>
                  <a:srgbClr val="000000"/>
                </a:solidFill>
              </a:rPr>
              <a:t>“Random access” is out-of-date and simply means that the computer can refer to the memory locations in any order</a:t>
            </a:r>
          </a:p>
          <a:p>
            <a:pPr>
              <a:spcBef>
                <a:spcPts val="800"/>
              </a:spcBef>
              <a:buFont typeface="Arial" charset="0"/>
              <a:buChar char="•"/>
            </a:pPr>
            <a:r>
              <a:rPr lang="en-US" sz="3200" b="1" dirty="0">
                <a:solidFill>
                  <a:srgbClr val="000000"/>
                </a:solidFill>
              </a:rPr>
              <a:t>RAM is measured in megabytes (MB) or gigabytes (GB)</a:t>
            </a:r>
          </a:p>
          <a:p>
            <a:pPr>
              <a:spcBef>
                <a:spcPts val="800"/>
              </a:spcBef>
              <a:buFont typeface="Arial" charset="0"/>
              <a:buChar char="•"/>
            </a:pPr>
            <a:r>
              <a:rPr lang="en-US" sz="3200" b="1" dirty="0">
                <a:solidFill>
                  <a:srgbClr val="000000"/>
                </a:solidFill>
              </a:rPr>
              <a:t>Lots of memory is need to handle the space required of programs and data</a:t>
            </a:r>
          </a:p>
          <a:p>
            <a:endParaRPr lang="x-none" dirty="0"/>
          </a:p>
        </p:txBody>
      </p:sp>
    </p:spTree>
    <p:extLst>
      <p:ext uri="{BB962C8B-B14F-4D97-AF65-F5344CB8AC3E}">
        <p14:creationId xmlns:p14="http://schemas.microsoft.com/office/powerpoint/2010/main" val="225020497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24D524-E344-4995-8979-C2DA6ACE4598}"/>
              </a:ext>
            </a:extLst>
          </p:cNvPr>
          <p:cNvSpPr>
            <a:spLocks noGrp="1"/>
          </p:cNvSpPr>
          <p:nvPr>
            <p:ph type="title"/>
          </p:nvPr>
        </p:nvSpPr>
        <p:spPr/>
        <p:txBody>
          <a:bodyPr/>
          <a:lstStyle/>
          <a:p>
            <a:r>
              <a:rPr lang="en-US" spc="-9" dirty="0"/>
              <a:t>Storage </a:t>
            </a:r>
            <a:r>
              <a:rPr lang="en-US" spc="-4" dirty="0"/>
              <a:t>Evaluation</a:t>
            </a:r>
            <a:r>
              <a:rPr lang="en-US" spc="31" dirty="0"/>
              <a:t> </a:t>
            </a:r>
            <a:r>
              <a:rPr lang="en-US" spc="-4" dirty="0"/>
              <a:t>Criteria</a:t>
            </a:r>
            <a:endParaRPr lang="x-none" dirty="0"/>
          </a:p>
        </p:txBody>
      </p:sp>
      <p:graphicFrame>
        <p:nvGraphicFramePr>
          <p:cNvPr id="4" name="object 4">
            <a:extLst>
              <a:ext uri="{FF2B5EF4-FFF2-40B4-BE49-F238E27FC236}">
                <a16:creationId xmlns:a16="http://schemas.microsoft.com/office/drawing/2014/main" xmlns="" id="{5BF8DD95-8D6C-4715-8BBC-66279AB0272E}"/>
              </a:ext>
            </a:extLst>
          </p:cNvPr>
          <p:cNvGraphicFramePr>
            <a:graphicFrameLocks noGrp="1"/>
          </p:cNvGraphicFramePr>
          <p:nvPr>
            <p:extLst>
              <p:ext uri="{D42A27DB-BD31-4B8C-83A1-F6EECF244321}">
                <p14:modId xmlns:p14="http://schemas.microsoft.com/office/powerpoint/2010/main" val="3495355687"/>
              </p:ext>
            </p:extLst>
          </p:nvPr>
        </p:nvGraphicFramePr>
        <p:xfrm>
          <a:off x="1300371" y="1658030"/>
          <a:ext cx="9591260" cy="4580260"/>
        </p:xfrm>
        <a:graphic>
          <a:graphicData uri="http://schemas.openxmlformats.org/drawingml/2006/table">
            <a:tbl>
              <a:tblPr firstRow="1" bandRow="1">
                <a:tableStyleId>{2D5ABB26-0587-4C30-8999-92F81FD0307C}</a:tableStyleId>
              </a:tblPr>
              <a:tblGrid>
                <a:gridCol w="2519804">
                  <a:extLst>
                    <a:ext uri="{9D8B030D-6E8A-4147-A177-3AD203B41FA5}">
                      <a16:colId xmlns:a16="http://schemas.microsoft.com/office/drawing/2014/main" xmlns="" val="20000"/>
                    </a:ext>
                  </a:extLst>
                </a:gridCol>
                <a:gridCol w="2543031">
                  <a:extLst>
                    <a:ext uri="{9D8B030D-6E8A-4147-A177-3AD203B41FA5}">
                      <a16:colId xmlns:a16="http://schemas.microsoft.com/office/drawing/2014/main" xmlns="" val="20001"/>
                    </a:ext>
                  </a:extLst>
                </a:gridCol>
                <a:gridCol w="1476660">
                  <a:extLst>
                    <a:ext uri="{9D8B030D-6E8A-4147-A177-3AD203B41FA5}">
                      <a16:colId xmlns:a16="http://schemas.microsoft.com/office/drawing/2014/main" xmlns="" val="20002"/>
                    </a:ext>
                  </a:extLst>
                </a:gridCol>
                <a:gridCol w="3051765">
                  <a:extLst>
                    <a:ext uri="{9D8B030D-6E8A-4147-A177-3AD203B41FA5}">
                      <a16:colId xmlns:a16="http://schemas.microsoft.com/office/drawing/2014/main" xmlns="" val="20003"/>
                    </a:ext>
                  </a:extLst>
                </a:gridCol>
              </a:tblGrid>
              <a:tr h="649199">
                <a:tc>
                  <a:txBody>
                    <a:bodyPr/>
                    <a:lstStyle/>
                    <a:p>
                      <a:pPr marL="26034" algn="ctr">
                        <a:lnSpc>
                          <a:spcPct val="100000"/>
                        </a:lnSpc>
                        <a:spcBef>
                          <a:spcPts val="1415"/>
                        </a:spcBef>
                      </a:pPr>
                      <a:r>
                        <a:rPr sz="1600" b="1" spc="-5" dirty="0">
                          <a:solidFill>
                            <a:srgbClr val="333333"/>
                          </a:solidFill>
                          <a:latin typeface="Verdana"/>
                          <a:cs typeface="Verdana"/>
                        </a:rPr>
                        <a:t>Property</a:t>
                      </a:r>
                      <a:endParaRPr sz="1600" dirty="0">
                        <a:latin typeface="Verdana"/>
                        <a:cs typeface="Verdana"/>
                      </a:endParaRPr>
                    </a:p>
                  </a:txBody>
                  <a:tcPr marL="0" marR="0" marT="158563"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22860" algn="ctr">
                        <a:lnSpc>
                          <a:spcPct val="100000"/>
                        </a:lnSpc>
                        <a:spcBef>
                          <a:spcPts val="1415"/>
                        </a:spcBef>
                      </a:pPr>
                      <a:r>
                        <a:rPr sz="1600" b="1" spc="-10" dirty="0">
                          <a:solidFill>
                            <a:srgbClr val="333333"/>
                          </a:solidFill>
                          <a:latin typeface="Verdana"/>
                          <a:cs typeface="Verdana"/>
                        </a:rPr>
                        <a:t>Desirable</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235585" marR="186690" indent="-21590" algn="ctr">
                        <a:lnSpc>
                          <a:spcPct val="100000"/>
                        </a:lnSpc>
                        <a:spcBef>
                          <a:spcPts val="360"/>
                        </a:spcBef>
                      </a:pPr>
                      <a:r>
                        <a:rPr sz="1600" b="1" dirty="0">
                          <a:solidFill>
                            <a:srgbClr val="333333"/>
                          </a:solidFill>
                          <a:latin typeface="Verdana"/>
                          <a:cs typeface="Verdana"/>
                        </a:rPr>
                        <a:t>P</a:t>
                      </a:r>
                      <a:r>
                        <a:rPr sz="1600" b="1" spc="-10" dirty="0">
                          <a:solidFill>
                            <a:srgbClr val="333333"/>
                          </a:solidFill>
                          <a:latin typeface="Verdana"/>
                          <a:cs typeface="Verdana"/>
                        </a:rPr>
                        <a:t>r</a:t>
                      </a:r>
                      <a:r>
                        <a:rPr sz="1600" b="1" spc="0" dirty="0">
                          <a:solidFill>
                            <a:srgbClr val="333333"/>
                          </a:solidFill>
                          <a:latin typeface="Verdana"/>
                          <a:cs typeface="Verdana"/>
                        </a:rPr>
                        <a:t>i</a:t>
                      </a:r>
                      <a:r>
                        <a:rPr sz="1600" b="1" spc="-10" dirty="0">
                          <a:solidFill>
                            <a:srgbClr val="333333"/>
                          </a:solidFill>
                          <a:latin typeface="Verdana"/>
                          <a:cs typeface="Verdana"/>
                        </a:rPr>
                        <a:t>m</a:t>
                      </a:r>
                      <a:r>
                        <a:rPr sz="1600" b="1" dirty="0">
                          <a:solidFill>
                            <a:srgbClr val="333333"/>
                          </a:solidFill>
                          <a:latin typeface="Verdana"/>
                          <a:cs typeface="Verdana"/>
                        </a:rPr>
                        <a:t>a</a:t>
                      </a:r>
                      <a:r>
                        <a:rPr sz="1600" b="1" spc="-10" dirty="0">
                          <a:solidFill>
                            <a:srgbClr val="333333"/>
                          </a:solidFill>
                          <a:latin typeface="Verdana"/>
                          <a:cs typeface="Verdana"/>
                        </a:rPr>
                        <a:t>r</a:t>
                      </a:r>
                      <a:r>
                        <a:rPr sz="1600" b="1" dirty="0">
                          <a:solidFill>
                            <a:srgbClr val="333333"/>
                          </a:solidFill>
                          <a:latin typeface="Verdana"/>
                          <a:cs typeface="Verdana"/>
                        </a:rPr>
                        <a:t>y  </a:t>
                      </a:r>
                      <a:r>
                        <a:rPr sz="1600" b="1" spc="-10" dirty="0">
                          <a:solidFill>
                            <a:srgbClr val="333333"/>
                          </a:solidFill>
                          <a:latin typeface="Verdana"/>
                          <a:cs typeface="Verdana"/>
                        </a:rPr>
                        <a:t>storage</a:t>
                      </a:r>
                      <a:endParaRPr sz="1600" dirty="0">
                        <a:latin typeface="Verdana"/>
                        <a:cs typeface="Verdana"/>
                      </a:endParaRPr>
                    </a:p>
                  </a:txBody>
                  <a:tcPr marL="0" marR="0" marT="4034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B8CAE6"/>
                    </a:solidFill>
                  </a:tcPr>
                </a:tc>
                <a:tc>
                  <a:txBody>
                    <a:bodyPr/>
                    <a:lstStyle/>
                    <a:p>
                      <a:pPr marL="445770" marR="231140" indent="-186055" algn="ctr">
                        <a:lnSpc>
                          <a:spcPct val="100000"/>
                        </a:lnSpc>
                        <a:spcBef>
                          <a:spcPts val="360"/>
                        </a:spcBef>
                      </a:pPr>
                      <a:r>
                        <a:rPr sz="1600" b="1" spc="-10" dirty="0">
                          <a:solidFill>
                            <a:srgbClr val="333333"/>
                          </a:solidFill>
                          <a:latin typeface="Verdana"/>
                          <a:cs typeface="Verdana"/>
                        </a:rPr>
                        <a:t>S</a:t>
                      </a:r>
                      <a:r>
                        <a:rPr sz="1600" b="1" dirty="0">
                          <a:solidFill>
                            <a:srgbClr val="333333"/>
                          </a:solidFill>
                          <a:latin typeface="Verdana"/>
                          <a:cs typeface="Verdana"/>
                        </a:rPr>
                        <a:t>ec</a:t>
                      </a:r>
                      <a:r>
                        <a:rPr sz="1600" b="1" spc="5" dirty="0">
                          <a:solidFill>
                            <a:srgbClr val="333333"/>
                          </a:solidFill>
                          <a:latin typeface="Verdana"/>
                          <a:cs typeface="Verdana"/>
                        </a:rPr>
                        <a:t>o</a:t>
                      </a:r>
                      <a:r>
                        <a:rPr sz="1600" b="1" spc="-10" dirty="0">
                          <a:solidFill>
                            <a:srgbClr val="333333"/>
                          </a:solidFill>
                          <a:latin typeface="Verdana"/>
                          <a:cs typeface="Verdana"/>
                        </a:rPr>
                        <a:t>nd</a:t>
                      </a:r>
                      <a:r>
                        <a:rPr sz="1600" b="1" spc="15" dirty="0">
                          <a:solidFill>
                            <a:srgbClr val="333333"/>
                          </a:solidFill>
                          <a:latin typeface="Verdana"/>
                          <a:cs typeface="Verdana"/>
                        </a:rPr>
                        <a:t>a</a:t>
                      </a:r>
                      <a:r>
                        <a:rPr sz="1600" b="1" spc="-10" dirty="0">
                          <a:solidFill>
                            <a:srgbClr val="333333"/>
                          </a:solidFill>
                          <a:latin typeface="Verdana"/>
                          <a:cs typeface="Verdana"/>
                        </a:rPr>
                        <a:t>r</a:t>
                      </a:r>
                      <a:r>
                        <a:rPr sz="1600" b="1" dirty="0">
                          <a:solidFill>
                            <a:srgbClr val="333333"/>
                          </a:solidFill>
                          <a:latin typeface="Verdana"/>
                          <a:cs typeface="Verdana"/>
                        </a:rPr>
                        <a:t>y  </a:t>
                      </a:r>
                      <a:r>
                        <a:rPr sz="1600" b="1" spc="-10" dirty="0">
                          <a:solidFill>
                            <a:srgbClr val="333333"/>
                          </a:solidFill>
                          <a:latin typeface="Verdana"/>
                          <a:cs typeface="Verdana"/>
                        </a:rPr>
                        <a:t>storage</a:t>
                      </a:r>
                      <a:endParaRPr sz="1600" dirty="0">
                        <a:latin typeface="Verdana"/>
                        <a:cs typeface="Verdana"/>
                      </a:endParaRPr>
                    </a:p>
                  </a:txBody>
                  <a:tcPr marL="0" marR="0" marT="40341"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B8CAE6"/>
                    </a:solidFill>
                  </a:tcPr>
                </a:tc>
                <a:extLst>
                  <a:ext uri="{0D108BD9-81ED-4DB2-BD59-A6C34878D82A}">
                    <a16:rowId xmlns:a16="http://schemas.microsoft.com/office/drawing/2014/main" xmlns="" val="10000"/>
                  </a:ext>
                </a:extLst>
              </a:tr>
              <a:tr h="840481">
                <a:tc>
                  <a:txBody>
                    <a:bodyPr/>
                    <a:lstStyle/>
                    <a:p>
                      <a:pPr marL="509905" marR="476250" indent="24130" algn="ctr">
                        <a:lnSpc>
                          <a:spcPct val="100000"/>
                        </a:lnSpc>
                        <a:spcBef>
                          <a:spcPts val="1080"/>
                        </a:spcBef>
                      </a:pPr>
                      <a:r>
                        <a:rPr sz="1600" spc="-5" dirty="0">
                          <a:solidFill>
                            <a:srgbClr val="333333"/>
                          </a:solidFill>
                          <a:latin typeface="Verdana"/>
                          <a:cs typeface="Verdana"/>
                        </a:rPr>
                        <a:t>Storage  </a:t>
                      </a:r>
                      <a:r>
                        <a:rPr sz="1600" dirty="0">
                          <a:solidFill>
                            <a:srgbClr val="333333"/>
                          </a:solidFill>
                          <a:latin typeface="Verdana"/>
                          <a:cs typeface="Verdana"/>
                        </a:rPr>
                        <a:t>ca</a:t>
                      </a:r>
                      <a:r>
                        <a:rPr sz="1600" spc="0" dirty="0">
                          <a:solidFill>
                            <a:srgbClr val="333333"/>
                          </a:solidFill>
                          <a:latin typeface="Verdana"/>
                          <a:cs typeface="Verdana"/>
                        </a:rPr>
                        <a:t>p</a:t>
                      </a:r>
                      <a:r>
                        <a:rPr sz="1600" dirty="0">
                          <a:solidFill>
                            <a:srgbClr val="333333"/>
                          </a:solidFill>
                          <a:latin typeface="Verdana"/>
                          <a:cs typeface="Verdana"/>
                        </a:rPr>
                        <a:t>ac</a:t>
                      </a:r>
                      <a:r>
                        <a:rPr sz="1600" spc="5" dirty="0">
                          <a:solidFill>
                            <a:srgbClr val="333333"/>
                          </a:solidFill>
                          <a:latin typeface="Verdana"/>
                          <a:cs typeface="Verdana"/>
                        </a:rPr>
                        <a:t>it</a:t>
                      </a:r>
                      <a:r>
                        <a:rPr sz="1600" dirty="0">
                          <a:solidFill>
                            <a:srgbClr val="333333"/>
                          </a:solidFill>
                          <a:latin typeface="Verdana"/>
                          <a:cs typeface="Verdana"/>
                        </a:rPr>
                        <a:t>y</a:t>
                      </a:r>
                      <a:endParaRPr sz="1600" dirty="0">
                        <a:latin typeface="Verdana"/>
                        <a:cs typeface="Verdana"/>
                      </a:endParaRPr>
                    </a:p>
                  </a:txBody>
                  <a:tcPr marL="0" marR="0" marT="121024"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27305" algn="ctr">
                        <a:lnSpc>
                          <a:spcPct val="100000"/>
                        </a:lnSpc>
                      </a:pPr>
                      <a:r>
                        <a:rPr sz="1600" dirty="0">
                          <a:solidFill>
                            <a:srgbClr val="333333"/>
                          </a:solidFill>
                          <a:latin typeface="Verdana"/>
                          <a:cs typeface="Verdana"/>
                        </a:rPr>
                        <a:t>Large </a:t>
                      </a:r>
                      <a:r>
                        <a:rPr sz="1600" spc="-5" dirty="0">
                          <a:solidFill>
                            <a:srgbClr val="333333"/>
                          </a:solidFill>
                          <a:latin typeface="Verdana"/>
                          <a:cs typeface="Verdana"/>
                        </a:rPr>
                        <a:t>storage</a:t>
                      </a:r>
                      <a:r>
                        <a:rPr sz="1600" spc="-15" dirty="0">
                          <a:solidFill>
                            <a:srgbClr val="333333"/>
                          </a:solidFill>
                          <a:latin typeface="Verdana"/>
                          <a:cs typeface="Verdana"/>
                        </a:rPr>
                        <a:t> </a:t>
                      </a:r>
                      <a:r>
                        <a:rPr sz="1600" spc="-5" dirty="0">
                          <a:solidFill>
                            <a:srgbClr val="333333"/>
                          </a:solidFill>
                          <a:latin typeface="Verdana"/>
                          <a:cs typeface="Verdana"/>
                        </a:rPr>
                        <a:t>capacity</a:t>
                      </a:r>
                      <a:endParaRPr sz="1600" dirty="0">
                        <a:latin typeface="Verdana"/>
                        <a:cs typeface="Verdana"/>
                      </a:endParaRPr>
                    </a:p>
                  </a:txBody>
                  <a:tcPr marL="0" marR="0" marT="336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19685" algn="ctr">
                        <a:lnSpc>
                          <a:spcPct val="100000"/>
                        </a:lnSpc>
                      </a:pPr>
                      <a:r>
                        <a:rPr sz="1600" spc="-5" dirty="0">
                          <a:solidFill>
                            <a:srgbClr val="333333"/>
                          </a:solidFill>
                          <a:latin typeface="Verdana"/>
                          <a:cs typeface="Verdana"/>
                        </a:rPr>
                        <a:t>Small</a:t>
                      </a:r>
                      <a:endParaRPr sz="1600" dirty="0">
                        <a:latin typeface="Verdana"/>
                        <a:cs typeface="Verdana"/>
                      </a:endParaRPr>
                    </a:p>
                  </a:txBody>
                  <a:tcPr marL="0" marR="0" marT="336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
                        </a:spcBef>
                      </a:pPr>
                      <a:endParaRPr sz="1600" dirty="0">
                        <a:latin typeface="Times New Roman"/>
                        <a:cs typeface="Times New Roman"/>
                      </a:endParaRPr>
                    </a:p>
                    <a:p>
                      <a:pPr marL="22225" algn="ctr">
                        <a:lnSpc>
                          <a:spcPct val="100000"/>
                        </a:lnSpc>
                      </a:pPr>
                      <a:r>
                        <a:rPr sz="1600" dirty="0">
                          <a:solidFill>
                            <a:srgbClr val="333333"/>
                          </a:solidFill>
                          <a:latin typeface="Verdana"/>
                          <a:cs typeface="Verdana"/>
                        </a:rPr>
                        <a:t>Large</a:t>
                      </a:r>
                      <a:endParaRPr sz="1600" dirty="0">
                        <a:latin typeface="Verdana"/>
                        <a:cs typeface="Verdana"/>
                      </a:endParaRPr>
                    </a:p>
                  </a:txBody>
                  <a:tcPr marL="0" marR="0" marT="3362"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xmlns="" val="10001"/>
                  </a:ext>
                </a:extLst>
              </a:tr>
              <a:tr h="404462">
                <a:tc>
                  <a:txBody>
                    <a:bodyPr/>
                    <a:lstStyle/>
                    <a:p>
                      <a:pPr marL="27305" algn="ctr">
                        <a:lnSpc>
                          <a:spcPct val="100000"/>
                        </a:lnSpc>
                        <a:spcBef>
                          <a:spcPts val="455"/>
                        </a:spcBef>
                      </a:pPr>
                      <a:r>
                        <a:rPr sz="1600" spc="-5" dirty="0">
                          <a:solidFill>
                            <a:srgbClr val="333333"/>
                          </a:solidFill>
                          <a:latin typeface="Verdana"/>
                          <a:cs typeface="Verdana"/>
                        </a:rPr>
                        <a:t>Access</a:t>
                      </a:r>
                      <a:r>
                        <a:rPr sz="1600" spc="-30" dirty="0">
                          <a:solidFill>
                            <a:srgbClr val="333333"/>
                          </a:solidFill>
                          <a:latin typeface="Verdana"/>
                          <a:cs typeface="Verdana"/>
                        </a:rPr>
                        <a:t> </a:t>
                      </a:r>
                      <a:r>
                        <a:rPr sz="1600" dirty="0">
                          <a:solidFill>
                            <a:srgbClr val="333333"/>
                          </a:solidFill>
                          <a:latin typeface="Verdana"/>
                          <a:cs typeface="Verdana"/>
                        </a:rPr>
                        <a:t>Time</a:t>
                      </a:r>
                      <a:endParaRPr sz="1600" dirty="0">
                        <a:latin typeface="Verdana"/>
                        <a:cs typeface="Verdana"/>
                      </a:endParaRPr>
                    </a:p>
                  </a:txBody>
                  <a:tcPr marL="0" marR="0" marT="5098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7305" algn="ctr">
                        <a:lnSpc>
                          <a:spcPct val="100000"/>
                        </a:lnSpc>
                        <a:spcBef>
                          <a:spcPts val="455"/>
                        </a:spcBef>
                      </a:pPr>
                      <a:r>
                        <a:rPr sz="1600" spc="-5" dirty="0">
                          <a:solidFill>
                            <a:srgbClr val="333333"/>
                          </a:solidFill>
                          <a:latin typeface="Verdana"/>
                          <a:cs typeface="Verdana"/>
                        </a:rPr>
                        <a:t>Fast </a:t>
                      </a:r>
                      <a:r>
                        <a:rPr sz="1600" dirty="0">
                          <a:solidFill>
                            <a:srgbClr val="333333"/>
                          </a:solidFill>
                          <a:latin typeface="Verdana"/>
                          <a:cs typeface="Verdana"/>
                        </a:rPr>
                        <a:t>access</a:t>
                      </a:r>
                      <a:r>
                        <a:rPr sz="1600" spc="-20" dirty="0">
                          <a:solidFill>
                            <a:srgbClr val="333333"/>
                          </a:solidFill>
                          <a:latin typeface="Verdana"/>
                          <a:cs typeface="Verdana"/>
                        </a:rPr>
                        <a:t> </a:t>
                      </a:r>
                      <a:r>
                        <a:rPr sz="1600" dirty="0">
                          <a:solidFill>
                            <a:srgbClr val="333333"/>
                          </a:solidFill>
                          <a:latin typeface="Verdana"/>
                          <a:cs typeface="Verdana"/>
                        </a:rPr>
                        <a:t>time</a:t>
                      </a:r>
                      <a:endParaRPr sz="1600" dirty="0">
                        <a:latin typeface="Verdana"/>
                        <a:cs typeface="Verdana"/>
                      </a:endParaRPr>
                    </a:p>
                  </a:txBody>
                  <a:tcPr marL="0" marR="0" marT="509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0" algn="ctr">
                        <a:lnSpc>
                          <a:spcPct val="100000"/>
                        </a:lnSpc>
                        <a:spcBef>
                          <a:spcPts val="455"/>
                        </a:spcBef>
                      </a:pPr>
                      <a:r>
                        <a:rPr sz="1600" spc="-5" dirty="0">
                          <a:solidFill>
                            <a:srgbClr val="333333"/>
                          </a:solidFill>
                          <a:latin typeface="Verdana"/>
                          <a:cs typeface="Verdana"/>
                        </a:rPr>
                        <a:t>Fast</a:t>
                      </a:r>
                      <a:endParaRPr sz="1600" dirty="0">
                        <a:latin typeface="Verdana"/>
                        <a:cs typeface="Verdana"/>
                      </a:endParaRPr>
                    </a:p>
                  </a:txBody>
                  <a:tcPr marL="0" marR="0" marT="5098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algn="ctr">
                        <a:lnSpc>
                          <a:spcPct val="100000"/>
                        </a:lnSpc>
                        <a:spcBef>
                          <a:spcPts val="455"/>
                        </a:spcBef>
                      </a:pPr>
                      <a:r>
                        <a:rPr sz="1600" dirty="0">
                          <a:solidFill>
                            <a:srgbClr val="333333"/>
                          </a:solidFill>
                          <a:latin typeface="Verdana"/>
                          <a:cs typeface="Verdana"/>
                        </a:rPr>
                        <a:t>Slow</a:t>
                      </a:r>
                      <a:endParaRPr sz="1600" dirty="0">
                        <a:latin typeface="Verdana"/>
                        <a:cs typeface="Verdana"/>
                      </a:endParaRPr>
                    </a:p>
                  </a:txBody>
                  <a:tcPr marL="0" marR="0" marT="5098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xmlns="" val="10002"/>
                  </a:ext>
                </a:extLst>
              </a:tr>
              <a:tr h="649199">
                <a:tc>
                  <a:txBody>
                    <a:bodyPr/>
                    <a:lstStyle/>
                    <a:p>
                      <a:pPr marL="553085" marR="127635" indent="-390525" algn="ctr">
                        <a:lnSpc>
                          <a:spcPct val="100000"/>
                        </a:lnSpc>
                        <a:spcBef>
                          <a:spcPts val="335"/>
                        </a:spcBef>
                      </a:pPr>
                      <a:r>
                        <a:rPr sz="1600" spc="-5" dirty="0">
                          <a:solidFill>
                            <a:srgbClr val="333333"/>
                          </a:solidFill>
                          <a:latin typeface="Verdana"/>
                          <a:cs typeface="Verdana"/>
                        </a:rPr>
                        <a:t>Cost </a:t>
                      </a:r>
                      <a:r>
                        <a:rPr sz="1600" dirty="0">
                          <a:solidFill>
                            <a:srgbClr val="333333"/>
                          </a:solidFill>
                          <a:latin typeface="Verdana"/>
                          <a:cs typeface="Verdana"/>
                        </a:rPr>
                        <a:t>per </a:t>
                      </a:r>
                      <a:r>
                        <a:rPr sz="1600" spc="-5" dirty="0">
                          <a:solidFill>
                            <a:srgbClr val="333333"/>
                          </a:solidFill>
                          <a:latin typeface="Verdana"/>
                          <a:cs typeface="Verdana"/>
                        </a:rPr>
                        <a:t>bit</a:t>
                      </a:r>
                      <a:r>
                        <a:rPr sz="1600" spc="-50" dirty="0">
                          <a:solidFill>
                            <a:srgbClr val="333333"/>
                          </a:solidFill>
                          <a:latin typeface="Verdana"/>
                          <a:cs typeface="Verdana"/>
                        </a:rPr>
                        <a:t> </a:t>
                      </a:r>
                      <a:r>
                        <a:rPr sz="1600" dirty="0">
                          <a:solidFill>
                            <a:srgbClr val="333333"/>
                          </a:solidFill>
                          <a:latin typeface="Verdana"/>
                          <a:cs typeface="Verdana"/>
                        </a:rPr>
                        <a:t>of  </a:t>
                      </a:r>
                      <a:r>
                        <a:rPr sz="1600" spc="-5" dirty="0">
                          <a:solidFill>
                            <a:srgbClr val="333333"/>
                          </a:solidFill>
                          <a:latin typeface="Verdana"/>
                          <a:cs typeface="Verdana"/>
                        </a:rPr>
                        <a:t>storage</a:t>
                      </a:r>
                      <a:endParaRPr sz="1600" dirty="0">
                        <a:latin typeface="Verdana"/>
                        <a:cs typeface="Verdana"/>
                      </a:endParaRPr>
                    </a:p>
                  </a:txBody>
                  <a:tcPr marL="0" marR="0" marT="3754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0" algn="ctr">
                        <a:lnSpc>
                          <a:spcPct val="100000"/>
                        </a:lnSpc>
                        <a:spcBef>
                          <a:spcPts val="1415"/>
                        </a:spcBef>
                      </a:pPr>
                      <a:r>
                        <a:rPr sz="1600" spc="-5" dirty="0">
                          <a:solidFill>
                            <a:srgbClr val="333333"/>
                          </a:solidFill>
                          <a:latin typeface="Verdana"/>
                          <a:cs typeface="Verdana"/>
                        </a:rPr>
                        <a:t>Lower </a:t>
                      </a:r>
                      <a:r>
                        <a:rPr sz="1600" dirty="0">
                          <a:solidFill>
                            <a:srgbClr val="333333"/>
                          </a:solidFill>
                          <a:latin typeface="Verdana"/>
                          <a:cs typeface="Verdana"/>
                        </a:rPr>
                        <a:t>cost per</a:t>
                      </a:r>
                      <a:r>
                        <a:rPr sz="1600" spc="-25" dirty="0">
                          <a:solidFill>
                            <a:srgbClr val="333333"/>
                          </a:solidFill>
                          <a:latin typeface="Verdana"/>
                          <a:cs typeface="Verdana"/>
                        </a:rPr>
                        <a:t> </a:t>
                      </a:r>
                      <a:r>
                        <a:rPr sz="1600" spc="-5" dirty="0">
                          <a:solidFill>
                            <a:srgbClr val="333333"/>
                          </a:solidFill>
                          <a:latin typeface="Verdana"/>
                          <a:cs typeface="Verdana"/>
                        </a:rPr>
                        <a:t>bit</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gn="ctr">
                        <a:lnSpc>
                          <a:spcPct val="100000"/>
                        </a:lnSpc>
                        <a:spcBef>
                          <a:spcPts val="1415"/>
                        </a:spcBef>
                      </a:pPr>
                      <a:r>
                        <a:rPr sz="1600" dirty="0">
                          <a:solidFill>
                            <a:srgbClr val="333333"/>
                          </a:solidFill>
                          <a:latin typeface="Verdana"/>
                          <a:cs typeface="Verdana"/>
                        </a:rPr>
                        <a:t>High</a:t>
                      </a:r>
                      <a:endParaRPr sz="1600" dirty="0">
                        <a:latin typeface="Verdana"/>
                        <a:cs typeface="Verdana"/>
                      </a:endParaRPr>
                    </a:p>
                  </a:txBody>
                  <a:tcPr marL="0" marR="0" marT="15856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765" algn="ctr">
                        <a:lnSpc>
                          <a:spcPct val="100000"/>
                        </a:lnSpc>
                        <a:spcBef>
                          <a:spcPts val="1415"/>
                        </a:spcBef>
                      </a:pPr>
                      <a:r>
                        <a:rPr sz="1600" dirty="0">
                          <a:solidFill>
                            <a:srgbClr val="333333"/>
                          </a:solidFill>
                          <a:latin typeface="Verdana"/>
                          <a:cs typeface="Verdana"/>
                        </a:rPr>
                        <a:t>Low</a:t>
                      </a:r>
                      <a:endParaRPr sz="1600" dirty="0">
                        <a:latin typeface="Verdana"/>
                        <a:cs typeface="Verdana"/>
                      </a:endParaRPr>
                    </a:p>
                  </a:txBody>
                  <a:tcPr marL="0" marR="0" marT="158563"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xmlns="" val="10003"/>
                  </a:ext>
                </a:extLst>
              </a:tr>
              <a:tr h="553034">
                <a:tc>
                  <a:txBody>
                    <a:bodyPr/>
                    <a:lstStyle/>
                    <a:p>
                      <a:pPr marL="29845" algn="ctr">
                        <a:lnSpc>
                          <a:spcPct val="100000"/>
                        </a:lnSpc>
                        <a:spcBef>
                          <a:spcPts val="645"/>
                        </a:spcBef>
                      </a:pPr>
                      <a:r>
                        <a:rPr sz="1600" dirty="0">
                          <a:solidFill>
                            <a:srgbClr val="333333"/>
                          </a:solidFill>
                          <a:latin typeface="Verdana"/>
                          <a:cs typeface="Verdana"/>
                        </a:rPr>
                        <a:t>Volatility</a:t>
                      </a:r>
                      <a:endParaRPr sz="1600" dirty="0">
                        <a:latin typeface="Verdana"/>
                        <a:cs typeface="Verdana"/>
                      </a:endParaRPr>
                    </a:p>
                  </a:txBody>
                  <a:tcPr marL="0" marR="0" marT="72278"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4130" algn="ctr">
                        <a:lnSpc>
                          <a:spcPct val="100000"/>
                        </a:lnSpc>
                        <a:spcBef>
                          <a:spcPts val="645"/>
                        </a:spcBef>
                      </a:pPr>
                      <a:r>
                        <a:rPr sz="1600" spc="-5" dirty="0">
                          <a:solidFill>
                            <a:srgbClr val="333333"/>
                          </a:solidFill>
                          <a:latin typeface="Verdana"/>
                          <a:cs typeface="Verdana"/>
                        </a:rPr>
                        <a:t>Non-volatile</a:t>
                      </a:r>
                      <a:endParaRPr sz="1600" dirty="0">
                        <a:latin typeface="Verdana"/>
                        <a:cs typeface="Verdana"/>
                      </a:endParaRPr>
                    </a:p>
                  </a:txBody>
                  <a:tcPr marL="0" marR="0" marT="722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320" algn="ctr">
                        <a:lnSpc>
                          <a:spcPct val="100000"/>
                        </a:lnSpc>
                        <a:spcBef>
                          <a:spcPts val="645"/>
                        </a:spcBef>
                      </a:pPr>
                      <a:r>
                        <a:rPr sz="1600" spc="-5" dirty="0">
                          <a:solidFill>
                            <a:srgbClr val="333333"/>
                          </a:solidFill>
                          <a:latin typeface="Verdana"/>
                          <a:cs typeface="Verdana"/>
                        </a:rPr>
                        <a:t>Volatile</a:t>
                      </a:r>
                      <a:endParaRPr sz="1600" dirty="0">
                        <a:latin typeface="Verdana"/>
                        <a:cs typeface="Verdana"/>
                      </a:endParaRPr>
                    </a:p>
                  </a:txBody>
                  <a:tcPr marL="0" marR="0" marT="722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860" algn="ctr">
                        <a:lnSpc>
                          <a:spcPct val="100000"/>
                        </a:lnSpc>
                        <a:spcBef>
                          <a:spcPts val="645"/>
                        </a:spcBef>
                      </a:pPr>
                      <a:r>
                        <a:rPr sz="1600" spc="-5" dirty="0">
                          <a:solidFill>
                            <a:srgbClr val="333333"/>
                          </a:solidFill>
                          <a:latin typeface="Verdana"/>
                          <a:cs typeface="Verdana"/>
                        </a:rPr>
                        <a:t>Non-volatile</a:t>
                      </a:r>
                      <a:endParaRPr sz="1600" dirty="0">
                        <a:latin typeface="Verdana"/>
                        <a:cs typeface="Verdana"/>
                      </a:endParaRPr>
                    </a:p>
                  </a:txBody>
                  <a:tcPr marL="0" marR="0" marT="72278"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xmlns="" val="10004"/>
                  </a:ext>
                </a:extLst>
              </a:tr>
              <a:tr h="1483885">
                <a:tc>
                  <a:txBody>
                    <a:bodyPr/>
                    <a:lstStyle/>
                    <a:p>
                      <a:pPr algn="ctr">
                        <a:lnSpc>
                          <a:spcPct val="100000"/>
                        </a:lnSpc>
                      </a:pPr>
                      <a:endParaRPr sz="1900" dirty="0">
                        <a:latin typeface="Times New Roman"/>
                        <a:cs typeface="Times New Roman"/>
                      </a:endParaRPr>
                    </a:p>
                    <a:p>
                      <a:pPr algn="ctr">
                        <a:lnSpc>
                          <a:spcPct val="100000"/>
                        </a:lnSpc>
                        <a:spcBef>
                          <a:spcPts val="55"/>
                        </a:spcBef>
                      </a:pPr>
                      <a:endParaRPr sz="1600" dirty="0">
                        <a:latin typeface="Times New Roman"/>
                        <a:cs typeface="Times New Roman"/>
                      </a:endParaRPr>
                    </a:p>
                    <a:p>
                      <a:pPr marL="24765" algn="ctr">
                        <a:lnSpc>
                          <a:spcPct val="100000"/>
                        </a:lnSpc>
                      </a:pPr>
                      <a:r>
                        <a:rPr sz="1600" spc="-5" dirty="0">
                          <a:solidFill>
                            <a:srgbClr val="333333"/>
                          </a:solidFill>
                          <a:latin typeface="Verdana"/>
                          <a:cs typeface="Verdana"/>
                        </a:rPr>
                        <a:t>Access</a:t>
                      </a:r>
                      <a:endParaRPr sz="1600" dirty="0">
                        <a:latin typeface="Verdana"/>
                        <a:cs typeface="Verdana"/>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pPr>
                      <a:endParaRPr sz="1900" dirty="0">
                        <a:latin typeface="Times New Roman"/>
                        <a:cs typeface="Times New Roman"/>
                      </a:endParaRPr>
                    </a:p>
                    <a:p>
                      <a:pPr algn="ctr">
                        <a:lnSpc>
                          <a:spcPct val="100000"/>
                        </a:lnSpc>
                        <a:spcBef>
                          <a:spcPts val="55"/>
                        </a:spcBef>
                      </a:pPr>
                      <a:endParaRPr sz="1600" dirty="0">
                        <a:latin typeface="Times New Roman"/>
                        <a:cs typeface="Times New Roman"/>
                      </a:endParaRPr>
                    </a:p>
                    <a:p>
                      <a:pPr marL="27305" algn="ctr">
                        <a:lnSpc>
                          <a:spcPct val="100000"/>
                        </a:lnSpc>
                      </a:pPr>
                      <a:r>
                        <a:rPr sz="1600" spc="-5" dirty="0">
                          <a:solidFill>
                            <a:srgbClr val="333333"/>
                          </a:solidFill>
                          <a:latin typeface="Verdana"/>
                          <a:cs typeface="Verdana"/>
                        </a:rPr>
                        <a:t>Random</a:t>
                      </a:r>
                      <a:r>
                        <a:rPr sz="1600" spc="-20" dirty="0">
                          <a:solidFill>
                            <a:srgbClr val="333333"/>
                          </a:solidFill>
                          <a:latin typeface="Verdana"/>
                          <a:cs typeface="Verdana"/>
                        </a:rPr>
                        <a:t> </a:t>
                      </a:r>
                      <a:r>
                        <a:rPr lang="en-US" sz="1600" dirty="0">
                          <a:solidFill>
                            <a:srgbClr val="333333"/>
                          </a:solidFill>
                          <a:latin typeface="Verdana"/>
                          <a:cs typeface="Verdana"/>
                        </a:rPr>
                        <a:t>access</a:t>
                      </a:r>
                      <a:endParaRPr sz="1600" dirty="0">
                        <a:latin typeface="Verdana"/>
                        <a:cs typeface="Verdan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10"/>
                        </a:spcBef>
                      </a:pPr>
                      <a:endParaRPr sz="2700" dirty="0">
                        <a:latin typeface="Times New Roman"/>
                        <a:cs typeface="Times New Roman"/>
                      </a:endParaRPr>
                    </a:p>
                    <a:p>
                      <a:pPr marL="347980" marR="220345" indent="-97790" algn="ctr">
                        <a:lnSpc>
                          <a:spcPct val="100000"/>
                        </a:lnSpc>
                      </a:pPr>
                      <a:r>
                        <a:rPr sz="1600" dirty="0">
                          <a:solidFill>
                            <a:srgbClr val="333333"/>
                          </a:solidFill>
                          <a:latin typeface="Verdana"/>
                          <a:cs typeface="Verdana"/>
                        </a:rPr>
                        <a:t>Ra</a:t>
                      </a:r>
                      <a:r>
                        <a:rPr sz="1600" spc="-15" dirty="0">
                          <a:solidFill>
                            <a:srgbClr val="333333"/>
                          </a:solidFill>
                          <a:latin typeface="Verdana"/>
                          <a:cs typeface="Verdana"/>
                        </a:rPr>
                        <a:t>n</a:t>
                      </a:r>
                      <a:r>
                        <a:rPr sz="1600" spc="0" dirty="0">
                          <a:solidFill>
                            <a:srgbClr val="333333"/>
                          </a:solidFill>
                          <a:latin typeface="Verdana"/>
                          <a:cs typeface="Verdana"/>
                        </a:rPr>
                        <a:t>do</a:t>
                      </a:r>
                      <a:r>
                        <a:rPr sz="1600" dirty="0">
                          <a:solidFill>
                            <a:srgbClr val="333333"/>
                          </a:solidFill>
                          <a:latin typeface="Verdana"/>
                          <a:cs typeface="Verdana"/>
                        </a:rPr>
                        <a:t>m  access</a:t>
                      </a:r>
                      <a:endParaRPr sz="1600" dirty="0">
                        <a:latin typeface="Verdana"/>
                        <a:cs typeface="Verdana"/>
                      </a:endParaRPr>
                    </a:p>
                  </a:txBody>
                  <a:tcPr marL="0" marR="0" marT="1121"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341630" marR="313055" indent="1270" algn="ctr">
                        <a:lnSpc>
                          <a:spcPct val="100299"/>
                        </a:lnSpc>
                        <a:spcBef>
                          <a:spcPts val="330"/>
                        </a:spcBef>
                      </a:pPr>
                      <a:endParaRPr lang="en-US" sz="1600" spc="-5" dirty="0">
                        <a:solidFill>
                          <a:srgbClr val="333333"/>
                        </a:solidFill>
                        <a:latin typeface="Verdana"/>
                        <a:cs typeface="Verdana"/>
                      </a:endParaRPr>
                    </a:p>
                    <a:p>
                      <a:pPr marL="341630" marR="313055" indent="1270" algn="ctr">
                        <a:lnSpc>
                          <a:spcPct val="100299"/>
                        </a:lnSpc>
                        <a:spcBef>
                          <a:spcPts val="330"/>
                        </a:spcBef>
                      </a:pPr>
                      <a:r>
                        <a:rPr sz="1600" spc="-5" dirty="0">
                          <a:solidFill>
                            <a:srgbClr val="333333"/>
                          </a:solidFill>
                          <a:latin typeface="Verdana"/>
                          <a:cs typeface="Verdana"/>
                        </a:rPr>
                        <a:t>Pseudo-random</a:t>
                      </a:r>
                      <a:r>
                        <a:rPr lang="en-US" sz="1600" spc="-5" dirty="0">
                          <a:solidFill>
                            <a:srgbClr val="333333"/>
                          </a:solidFill>
                          <a:latin typeface="Verdana"/>
                          <a:cs typeface="Verdana"/>
                        </a:rPr>
                        <a:t> </a:t>
                      </a:r>
                      <a:r>
                        <a:rPr sz="1600" spc="-5" dirty="0">
                          <a:solidFill>
                            <a:srgbClr val="333333"/>
                          </a:solidFill>
                          <a:latin typeface="Verdana"/>
                          <a:cs typeface="Verdana"/>
                        </a:rPr>
                        <a:t>access </a:t>
                      </a:r>
                      <a:r>
                        <a:rPr sz="1600" dirty="0">
                          <a:solidFill>
                            <a:srgbClr val="333333"/>
                          </a:solidFill>
                          <a:latin typeface="Verdana"/>
                          <a:cs typeface="Verdana"/>
                        </a:rPr>
                        <a:t>or  s</a:t>
                      </a:r>
                      <a:r>
                        <a:rPr sz="1600" spc="0" dirty="0">
                          <a:solidFill>
                            <a:srgbClr val="333333"/>
                          </a:solidFill>
                          <a:latin typeface="Verdana"/>
                          <a:cs typeface="Verdana"/>
                        </a:rPr>
                        <a:t>eq</a:t>
                      </a:r>
                      <a:r>
                        <a:rPr sz="1600" spc="-15" dirty="0">
                          <a:solidFill>
                            <a:srgbClr val="333333"/>
                          </a:solidFill>
                          <a:latin typeface="Verdana"/>
                          <a:cs typeface="Verdana"/>
                        </a:rPr>
                        <a:t>u</a:t>
                      </a:r>
                      <a:r>
                        <a:rPr sz="1600" spc="0" dirty="0">
                          <a:solidFill>
                            <a:srgbClr val="333333"/>
                          </a:solidFill>
                          <a:latin typeface="Verdana"/>
                          <a:cs typeface="Verdana"/>
                        </a:rPr>
                        <a:t>e</a:t>
                      </a:r>
                      <a:r>
                        <a:rPr sz="1600" spc="-15" dirty="0">
                          <a:solidFill>
                            <a:srgbClr val="333333"/>
                          </a:solidFill>
                          <a:latin typeface="Verdana"/>
                          <a:cs typeface="Verdana"/>
                        </a:rPr>
                        <a:t>n</a:t>
                      </a:r>
                      <a:r>
                        <a:rPr sz="1600" spc="5" dirty="0">
                          <a:solidFill>
                            <a:srgbClr val="333333"/>
                          </a:solidFill>
                          <a:latin typeface="Verdana"/>
                          <a:cs typeface="Verdana"/>
                        </a:rPr>
                        <a:t>ti</a:t>
                      </a:r>
                      <a:r>
                        <a:rPr sz="1600" dirty="0">
                          <a:solidFill>
                            <a:srgbClr val="333333"/>
                          </a:solidFill>
                          <a:latin typeface="Verdana"/>
                          <a:cs typeface="Verdana"/>
                        </a:rPr>
                        <a:t>al</a:t>
                      </a:r>
                      <a:r>
                        <a:rPr lang="en-US" sz="1600" dirty="0">
                          <a:solidFill>
                            <a:srgbClr val="333333"/>
                          </a:solidFill>
                          <a:latin typeface="Verdana"/>
                          <a:cs typeface="Verdana"/>
                        </a:rPr>
                        <a:t> </a:t>
                      </a:r>
                      <a:r>
                        <a:rPr sz="1600" dirty="0">
                          <a:solidFill>
                            <a:srgbClr val="333333"/>
                          </a:solidFill>
                          <a:latin typeface="Verdana"/>
                          <a:cs typeface="Verdana"/>
                        </a:rPr>
                        <a:t>access</a:t>
                      </a:r>
                      <a:endParaRPr sz="1600" dirty="0">
                        <a:latin typeface="Verdana"/>
                        <a:cs typeface="Verdana"/>
                      </a:endParaRPr>
                    </a:p>
                  </a:txBody>
                  <a:tcPr marL="0" marR="0" marT="36979"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55370668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6EA8B5-AB0A-4EE9-834F-5F6F36CB72D3}"/>
              </a:ext>
            </a:extLst>
          </p:cNvPr>
          <p:cNvSpPr>
            <a:spLocks noGrp="1"/>
          </p:cNvSpPr>
          <p:nvPr>
            <p:ph type="title"/>
          </p:nvPr>
        </p:nvSpPr>
        <p:spPr/>
        <p:txBody>
          <a:bodyPr/>
          <a:lstStyle/>
          <a:p>
            <a:r>
              <a:rPr lang="en-US" spc="-9" dirty="0"/>
              <a:t>Memory</a:t>
            </a:r>
            <a:r>
              <a:rPr lang="en-US" spc="-13" dirty="0"/>
              <a:t> </a:t>
            </a:r>
            <a:r>
              <a:rPr lang="en-US" spc="-4" dirty="0"/>
              <a:t>Capacity</a:t>
            </a:r>
            <a:endParaRPr lang="x-none" dirty="0"/>
          </a:p>
        </p:txBody>
      </p:sp>
      <p:sp>
        <p:nvSpPr>
          <p:cNvPr id="3" name="Content Placeholder 2">
            <a:extLst>
              <a:ext uri="{FF2B5EF4-FFF2-40B4-BE49-F238E27FC236}">
                <a16:creationId xmlns:a16="http://schemas.microsoft.com/office/drawing/2014/main" xmlns="" id="{86045C7C-490E-4E73-9B88-5DA129492F53}"/>
              </a:ext>
            </a:extLst>
          </p:cNvPr>
          <p:cNvSpPr>
            <a:spLocks noGrp="1"/>
          </p:cNvSpPr>
          <p:nvPr>
            <p:ph idx="1"/>
          </p:nvPr>
        </p:nvSpPr>
        <p:spPr/>
        <p:txBody>
          <a:bodyPr/>
          <a:lstStyle/>
          <a:p>
            <a:pPr marL="317704" marR="4483" indent="-306497">
              <a:spcBef>
                <a:spcPts val="79"/>
              </a:spcBef>
              <a:buClr>
                <a:srgbClr val="FF3300"/>
              </a:buClr>
              <a:buFont typeface="Wingdings"/>
              <a:buChar char=""/>
              <a:tabLst>
                <a:tab pos="317704" algn="l"/>
                <a:tab pos="318264" algn="l"/>
              </a:tabLst>
            </a:pPr>
            <a:r>
              <a:rPr lang="en-US" spc="-9" dirty="0">
                <a:solidFill>
                  <a:srgbClr val="333333"/>
                </a:solidFill>
                <a:latin typeface="Verdana"/>
                <a:cs typeface="Verdana"/>
              </a:rPr>
              <a:t>Memory </a:t>
            </a:r>
            <a:r>
              <a:rPr lang="en-US" spc="-4" dirty="0">
                <a:solidFill>
                  <a:srgbClr val="333333"/>
                </a:solidFill>
                <a:latin typeface="Verdana"/>
                <a:cs typeface="Verdana"/>
              </a:rPr>
              <a:t>capacity </a:t>
            </a:r>
            <a:r>
              <a:rPr lang="en-US" spc="-9" dirty="0">
                <a:solidFill>
                  <a:srgbClr val="333333"/>
                </a:solidFill>
                <a:latin typeface="Verdana"/>
                <a:cs typeface="Verdana"/>
              </a:rPr>
              <a:t>of </a:t>
            </a:r>
            <a:r>
              <a:rPr lang="en-US" spc="-4" dirty="0">
                <a:solidFill>
                  <a:srgbClr val="333333"/>
                </a:solidFill>
                <a:latin typeface="Verdana"/>
                <a:cs typeface="Verdana"/>
              </a:rPr>
              <a:t>a </a:t>
            </a:r>
            <a:r>
              <a:rPr lang="en-US" spc="-9" dirty="0">
                <a:solidFill>
                  <a:srgbClr val="333333"/>
                </a:solidFill>
                <a:latin typeface="Verdana"/>
                <a:cs typeface="Verdana"/>
              </a:rPr>
              <a:t>computer </a:t>
            </a:r>
            <a:r>
              <a:rPr lang="en-US" dirty="0">
                <a:solidFill>
                  <a:srgbClr val="333333"/>
                </a:solidFill>
                <a:latin typeface="Verdana"/>
                <a:cs typeface="Verdana"/>
              </a:rPr>
              <a:t>is </a:t>
            </a:r>
            <a:r>
              <a:rPr lang="en-US" spc="-9" dirty="0">
                <a:solidFill>
                  <a:srgbClr val="333333"/>
                </a:solidFill>
                <a:latin typeface="Verdana"/>
                <a:cs typeface="Verdana"/>
              </a:rPr>
              <a:t>equal </a:t>
            </a:r>
            <a:r>
              <a:rPr lang="en-US" spc="-4" dirty="0">
                <a:solidFill>
                  <a:srgbClr val="333333"/>
                </a:solidFill>
                <a:latin typeface="Verdana"/>
                <a:cs typeface="Verdana"/>
              </a:rPr>
              <a:t>to the </a:t>
            </a:r>
            <a:r>
              <a:rPr lang="en-US" spc="-9" dirty="0">
                <a:solidFill>
                  <a:srgbClr val="333333"/>
                </a:solidFill>
                <a:latin typeface="Verdana"/>
                <a:cs typeface="Verdana"/>
              </a:rPr>
              <a:t>number  </a:t>
            </a:r>
            <a:r>
              <a:rPr lang="en-US" spc="-13" dirty="0">
                <a:solidFill>
                  <a:srgbClr val="333333"/>
                </a:solidFill>
                <a:latin typeface="Verdana"/>
                <a:cs typeface="Verdana"/>
              </a:rPr>
              <a:t>of </a:t>
            </a:r>
            <a:r>
              <a:rPr lang="en-US" spc="-4" dirty="0">
                <a:solidFill>
                  <a:srgbClr val="333333"/>
                </a:solidFill>
                <a:latin typeface="Verdana"/>
                <a:cs typeface="Verdana"/>
              </a:rPr>
              <a:t>bytes that </a:t>
            </a:r>
            <a:r>
              <a:rPr lang="en-US" spc="-9" dirty="0">
                <a:solidFill>
                  <a:srgbClr val="333333"/>
                </a:solidFill>
                <a:latin typeface="Verdana"/>
                <a:cs typeface="Verdana"/>
              </a:rPr>
              <a:t>can </a:t>
            </a:r>
            <a:r>
              <a:rPr lang="en-US" spc="-4" dirty="0">
                <a:solidFill>
                  <a:srgbClr val="333333"/>
                </a:solidFill>
                <a:latin typeface="Verdana"/>
                <a:cs typeface="Verdana"/>
              </a:rPr>
              <a:t>be </a:t>
            </a:r>
            <a:r>
              <a:rPr lang="en-US" spc="-9" dirty="0">
                <a:solidFill>
                  <a:srgbClr val="333333"/>
                </a:solidFill>
                <a:latin typeface="Verdana"/>
                <a:cs typeface="Verdana"/>
              </a:rPr>
              <a:t>stored </a:t>
            </a:r>
            <a:r>
              <a:rPr lang="en-US" dirty="0">
                <a:solidFill>
                  <a:srgbClr val="333333"/>
                </a:solidFill>
                <a:latin typeface="Verdana"/>
                <a:cs typeface="Verdana"/>
              </a:rPr>
              <a:t>in its </a:t>
            </a:r>
            <a:r>
              <a:rPr lang="en-US" spc="-9" dirty="0">
                <a:solidFill>
                  <a:srgbClr val="333333"/>
                </a:solidFill>
                <a:latin typeface="Verdana"/>
                <a:cs typeface="Verdana"/>
              </a:rPr>
              <a:t>primary</a:t>
            </a:r>
            <a:r>
              <a:rPr lang="en-US" spc="4" dirty="0">
                <a:solidFill>
                  <a:srgbClr val="333333"/>
                </a:solidFill>
                <a:latin typeface="Verdana"/>
                <a:cs typeface="Verdana"/>
              </a:rPr>
              <a:t> </a:t>
            </a:r>
            <a:r>
              <a:rPr lang="en-US" spc="-4" dirty="0">
                <a:solidFill>
                  <a:srgbClr val="333333"/>
                </a:solidFill>
                <a:latin typeface="Verdana"/>
                <a:cs typeface="Verdana"/>
              </a:rPr>
              <a:t>storage</a:t>
            </a:r>
            <a:endParaRPr lang="en-US" dirty="0">
              <a:latin typeface="Verdana"/>
              <a:cs typeface="Verdana"/>
            </a:endParaRPr>
          </a:p>
          <a:p>
            <a:pPr marL="317704" indent="-306497">
              <a:spcBef>
                <a:spcPts val="1460"/>
              </a:spcBef>
              <a:buClr>
                <a:srgbClr val="FF3300"/>
              </a:buClr>
              <a:buFont typeface="Wingdings"/>
              <a:buChar char=""/>
              <a:tabLst>
                <a:tab pos="317704" algn="l"/>
                <a:tab pos="318264" algn="l"/>
              </a:tabLst>
            </a:pPr>
            <a:r>
              <a:rPr lang="en-US" spc="-13" dirty="0">
                <a:solidFill>
                  <a:srgbClr val="333333"/>
                </a:solidFill>
                <a:latin typeface="Verdana"/>
                <a:cs typeface="Verdana"/>
              </a:rPr>
              <a:t>Its </a:t>
            </a:r>
            <a:r>
              <a:rPr lang="en-US" dirty="0">
                <a:solidFill>
                  <a:srgbClr val="333333"/>
                </a:solidFill>
                <a:latin typeface="Verdana"/>
                <a:cs typeface="Verdana"/>
              </a:rPr>
              <a:t>units</a:t>
            </a:r>
            <a:r>
              <a:rPr lang="en-US" spc="-18" dirty="0">
                <a:solidFill>
                  <a:srgbClr val="333333"/>
                </a:solidFill>
                <a:latin typeface="Verdana"/>
                <a:cs typeface="Verdana"/>
              </a:rPr>
              <a:t> are:</a:t>
            </a:r>
            <a:endParaRPr lang="en-US" dirty="0">
              <a:latin typeface="Verdana"/>
              <a:cs typeface="Verdana"/>
            </a:endParaRPr>
          </a:p>
          <a:p>
            <a:pPr marL="1100476">
              <a:spcBef>
                <a:spcPts val="1482"/>
              </a:spcBef>
              <a:tabLst>
                <a:tab pos="3181519" algn="l"/>
                <a:tab pos="3434226" algn="l"/>
              </a:tabLst>
            </a:pPr>
            <a:r>
              <a:rPr lang="en-US" spc="-4" dirty="0">
                <a:solidFill>
                  <a:srgbClr val="333333"/>
                </a:solidFill>
                <a:latin typeface="Verdana"/>
                <a:cs typeface="Verdana"/>
              </a:rPr>
              <a:t>Kilobytes</a:t>
            </a:r>
            <a:r>
              <a:rPr lang="en-US" dirty="0">
                <a:solidFill>
                  <a:srgbClr val="333333"/>
                </a:solidFill>
                <a:latin typeface="Verdana"/>
                <a:cs typeface="Verdana"/>
              </a:rPr>
              <a:t> </a:t>
            </a:r>
            <a:r>
              <a:rPr lang="en-US" spc="-4" dirty="0">
                <a:solidFill>
                  <a:srgbClr val="333333"/>
                </a:solidFill>
                <a:latin typeface="Verdana"/>
                <a:cs typeface="Verdana"/>
              </a:rPr>
              <a:t>(KB)	:	</a:t>
            </a:r>
            <a:r>
              <a:rPr lang="en-US" spc="-9" dirty="0">
                <a:solidFill>
                  <a:srgbClr val="333333"/>
                </a:solidFill>
                <a:latin typeface="Verdana"/>
                <a:cs typeface="Verdana"/>
              </a:rPr>
              <a:t>1024 </a:t>
            </a:r>
            <a:r>
              <a:rPr lang="en-US" spc="-4" dirty="0">
                <a:solidFill>
                  <a:srgbClr val="333333"/>
                </a:solidFill>
                <a:latin typeface="Verdana"/>
                <a:cs typeface="Verdana"/>
              </a:rPr>
              <a:t>(2</a:t>
            </a:r>
            <a:r>
              <a:rPr lang="en-US" spc="-6" baseline="25641" dirty="0">
                <a:solidFill>
                  <a:srgbClr val="333333"/>
                </a:solidFill>
                <a:latin typeface="Verdana"/>
                <a:cs typeface="Verdana"/>
              </a:rPr>
              <a:t>10</a:t>
            </a:r>
            <a:r>
              <a:rPr lang="en-US" spc="-4" dirty="0">
                <a:solidFill>
                  <a:srgbClr val="333333"/>
                </a:solidFill>
                <a:latin typeface="Verdana"/>
                <a:cs typeface="Verdana"/>
              </a:rPr>
              <a:t>)</a:t>
            </a:r>
            <a:r>
              <a:rPr lang="en-US" dirty="0">
                <a:solidFill>
                  <a:srgbClr val="333333"/>
                </a:solidFill>
                <a:latin typeface="Verdana"/>
                <a:cs typeface="Verdana"/>
              </a:rPr>
              <a:t> </a:t>
            </a:r>
            <a:r>
              <a:rPr lang="en-US" spc="-9" dirty="0">
                <a:solidFill>
                  <a:srgbClr val="333333"/>
                </a:solidFill>
                <a:latin typeface="Verdana"/>
                <a:cs typeface="Verdana"/>
              </a:rPr>
              <a:t>bytes</a:t>
            </a:r>
            <a:endParaRPr lang="en-US" dirty="0">
              <a:latin typeface="Verdana"/>
              <a:cs typeface="Verdana"/>
            </a:endParaRPr>
          </a:p>
          <a:p>
            <a:pPr>
              <a:spcBef>
                <a:spcPts val="40"/>
              </a:spcBef>
            </a:pPr>
            <a:endParaRPr lang="en-US" sz="3200" dirty="0">
              <a:latin typeface="Times New Roman"/>
              <a:cs typeface="Times New Roman"/>
            </a:endParaRPr>
          </a:p>
          <a:p>
            <a:pPr marL="1067978">
              <a:tabLst>
                <a:tab pos="3181519" algn="l"/>
                <a:tab pos="3434226" algn="l"/>
              </a:tabLst>
            </a:pPr>
            <a:r>
              <a:rPr lang="en-US" spc="-9" dirty="0">
                <a:solidFill>
                  <a:srgbClr val="333333"/>
                </a:solidFill>
                <a:latin typeface="Verdana"/>
                <a:cs typeface="Verdana"/>
              </a:rPr>
              <a:t>Megabytes</a:t>
            </a:r>
            <a:r>
              <a:rPr lang="en-US" spc="4" dirty="0">
                <a:solidFill>
                  <a:srgbClr val="333333"/>
                </a:solidFill>
                <a:latin typeface="Verdana"/>
                <a:cs typeface="Verdana"/>
              </a:rPr>
              <a:t> </a:t>
            </a:r>
            <a:r>
              <a:rPr lang="en-US" spc="-4" dirty="0">
                <a:solidFill>
                  <a:srgbClr val="333333"/>
                </a:solidFill>
                <a:latin typeface="Verdana"/>
                <a:cs typeface="Verdana"/>
              </a:rPr>
              <a:t>(MB)	:	</a:t>
            </a:r>
            <a:r>
              <a:rPr lang="en-US" spc="-9" dirty="0">
                <a:solidFill>
                  <a:srgbClr val="333333"/>
                </a:solidFill>
                <a:latin typeface="Verdana"/>
                <a:cs typeface="Verdana"/>
              </a:rPr>
              <a:t>1,048,576 </a:t>
            </a:r>
            <a:r>
              <a:rPr lang="en-US" spc="-4" dirty="0">
                <a:solidFill>
                  <a:srgbClr val="333333"/>
                </a:solidFill>
                <a:latin typeface="Verdana"/>
                <a:cs typeface="Verdana"/>
              </a:rPr>
              <a:t>(2</a:t>
            </a:r>
            <a:r>
              <a:rPr lang="en-US" spc="-6" baseline="25641" dirty="0">
                <a:solidFill>
                  <a:srgbClr val="333333"/>
                </a:solidFill>
                <a:latin typeface="Verdana"/>
                <a:cs typeface="Verdana"/>
              </a:rPr>
              <a:t>20</a:t>
            </a:r>
            <a:r>
              <a:rPr lang="en-US" spc="-4" dirty="0">
                <a:solidFill>
                  <a:srgbClr val="333333"/>
                </a:solidFill>
                <a:latin typeface="Verdana"/>
                <a:cs typeface="Verdana"/>
              </a:rPr>
              <a:t>)</a:t>
            </a:r>
            <a:r>
              <a:rPr lang="en-US" spc="22" dirty="0">
                <a:solidFill>
                  <a:srgbClr val="333333"/>
                </a:solidFill>
                <a:latin typeface="Verdana"/>
                <a:cs typeface="Verdana"/>
              </a:rPr>
              <a:t> </a:t>
            </a:r>
            <a:r>
              <a:rPr lang="en-US" spc="-4" dirty="0">
                <a:solidFill>
                  <a:srgbClr val="333333"/>
                </a:solidFill>
                <a:latin typeface="Verdana"/>
                <a:cs typeface="Verdana"/>
              </a:rPr>
              <a:t>bytes</a:t>
            </a:r>
            <a:endParaRPr lang="en-US" dirty="0">
              <a:latin typeface="Verdana"/>
              <a:cs typeface="Verdana"/>
            </a:endParaRPr>
          </a:p>
          <a:p>
            <a:pPr>
              <a:spcBef>
                <a:spcPts val="35"/>
              </a:spcBef>
            </a:pPr>
            <a:endParaRPr lang="en-US" sz="3200" dirty="0">
              <a:latin typeface="Times New Roman"/>
              <a:cs typeface="Times New Roman"/>
            </a:endParaRPr>
          </a:p>
          <a:p>
            <a:pPr marL="1067978">
              <a:tabLst>
                <a:tab pos="3181519" algn="l"/>
                <a:tab pos="3434226" algn="l"/>
              </a:tabLst>
            </a:pPr>
            <a:r>
              <a:rPr lang="en-US" spc="-4" dirty="0">
                <a:solidFill>
                  <a:srgbClr val="333333"/>
                </a:solidFill>
                <a:latin typeface="Verdana"/>
                <a:cs typeface="Verdana"/>
              </a:rPr>
              <a:t>Gigabytes</a:t>
            </a:r>
            <a:r>
              <a:rPr lang="en-US" dirty="0">
                <a:solidFill>
                  <a:srgbClr val="333333"/>
                </a:solidFill>
                <a:latin typeface="Verdana"/>
                <a:cs typeface="Verdana"/>
              </a:rPr>
              <a:t> </a:t>
            </a:r>
            <a:r>
              <a:rPr lang="en-US" spc="-4" dirty="0">
                <a:solidFill>
                  <a:srgbClr val="333333"/>
                </a:solidFill>
                <a:latin typeface="Verdana"/>
                <a:cs typeface="Verdana"/>
              </a:rPr>
              <a:t>(GB)	:	1,073,741824 (2</a:t>
            </a:r>
            <a:r>
              <a:rPr lang="en-US" spc="-6" baseline="25641" dirty="0">
                <a:solidFill>
                  <a:srgbClr val="333333"/>
                </a:solidFill>
                <a:latin typeface="Verdana"/>
                <a:cs typeface="Verdana"/>
              </a:rPr>
              <a:t>30</a:t>
            </a:r>
            <a:r>
              <a:rPr lang="en-US" spc="-4" dirty="0">
                <a:solidFill>
                  <a:srgbClr val="333333"/>
                </a:solidFill>
                <a:latin typeface="Verdana"/>
                <a:cs typeface="Verdana"/>
              </a:rPr>
              <a:t>)</a:t>
            </a:r>
            <a:r>
              <a:rPr lang="en-US" dirty="0">
                <a:solidFill>
                  <a:srgbClr val="333333"/>
                </a:solidFill>
                <a:latin typeface="Verdana"/>
                <a:cs typeface="Verdana"/>
              </a:rPr>
              <a:t> </a:t>
            </a:r>
            <a:r>
              <a:rPr lang="en-US" spc="-9" dirty="0">
                <a:solidFill>
                  <a:srgbClr val="333333"/>
                </a:solidFill>
                <a:latin typeface="Verdana"/>
                <a:cs typeface="Verdana"/>
              </a:rPr>
              <a:t>bytes</a:t>
            </a:r>
            <a:endParaRPr lang="en-US" dirty="0">
              <a:latin typeface="Verdana"/>
              <a:cs typeface="Verdana"/>
            </a:endParaRPr>
          </a:p>
          <a:p>
            <a:endParaRPr lang="x-none" dirty="0"/>
          </a:p>
        </p:txBody>
      </p:sp>
    </p:spTree>
    <p:extLst>
      <p:ext uri="{BB962C8B-B14F-4D97-AF65-F5344CB8AC3E}">
        <p14:creationId xmlns:p14="http://schemas.microsoft.com/office/powerpoint/2010/main" val="13035576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9D83F7-95E8-4AD3-938F-C3D577A67D12}"/>
              </a:ext>
            </a:extLst>
          </p:cNvPr>
          <p:cNvSpPr>
            <a:spLocks noGrp="1"/>
          </p:cNvSpPr>
          <p:nvPr>
            <p:ph type="title"/>
          </p:nvPr>
        </p:nvSpPr>
        <p:spPr/>
        <p:txBody>
          <a:bodyPr/>
          <a:lstStyle/>
          <a:p>
            <a:r>
              <a:rPr lang="en-US" dirty="0"/>
              <a:t>Control unit-CU</a:t>
            </a:r>
            <a:endParaRPr lang="x-none" dirty="0"/>
          </a:p>
        </p:txBody>
      </p:sp>
      <p:sp>
        <p:nvSpPr>
          <p:cNvPr id="3" name="Content Placeholder 2">
            <a:extLst>
              <a:ext uri="{FF2B5EF4-FFF2-40B4-BE49-F238E27FC236}">
                <a16:creationId xmlns:a16="http://schemas.microsoft.com/office/drawing/2014/main" xmlns="" id="{5388E02D-43AE-4A11-820C-D4C137A938F0}"/>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a:t>
            </a:r>
            <a:r>
              <a:rPr lang="en-US" b="1" dirty="0">
                <a:solidFill>
                  <a:srgbClr val="000000"/>
                </a:solidFill>
              </a:rPr>
              <a:t>control unit </a:t>
            </a:r>
            <a:r>
              <a:rPr lang="en-US" dirty="0">
                <a:solidFill>
                  <a:srgbClr val="000000"/>
                </a:solidFill>
              </a:rPr>
              <a:t>of a computer is where the Fetch/Execute Cycle occurs</a:t>
            </a:r>
          </a:p>
          <a:p>
            <a:pPr>
              <a:spcBef>
                <a:spcPts val="800"/>
              </a:spcBef>
              <a:buFont typeface="Arial" charset="0"/>
              <a:buChar char="•"/>
            </a:pPr>
            <a:r>
              <a:rPr lang="en-US" dirty="0">
                <a:solidFill>
                  <a:srgbClr val="000000"/>
                </a:solidFill>
              </a:rPr>
              <a:t>Its circuitry </a:t>
            </a:r>
            <a:r>
              <a:rPr lang="en-US" i="1" dirty="0">
                <a:solidFill>
                  <a:srgbClr val="000000"/>
                </a:solidFill>
              </a:rPr>
              <a:t>fetches</a:t>
            </a:r>
            <a:r>
              <a:rPr lang="en-US" dirty="0">
                <a:solidFill>
                  <a:srgbClr val="000000"/>
                </a:solidFill>
              </a:rPr>
              <a:t> an instruction from memory and performs the other operations of the Fetch/Execute Cycle on it</a:t>
            </a:r>
          </a:p>
          <a:p>
            <a:pPr>
              <a:spcBef>
                <a:spcPts val="800"/>
              </a:spcBef>
              <a:buFont typeface="Arial" charset="0"/>
              <a:buChar char="•"/>
            </a:pPr>
            <a:r>
              <a:rPr lang="en-US" dirty="0">
                <a:solidFill>
                  <a:srgbClr val="000000"/>
                </a:solidFill>
              </a:rPr>
              <a:t>A typical machine instruction has the form</a:t>
            </a:r>
            <a:br>
              <a:rPr lang="en-US" dirty="0">
                <a:solidFill>
                  <a:srgbClr val="000000"/>
                </a:solidFill>
              </a:rPr>
            </a:br>
            <a:r>
              <a:rPr lang="en-US" dirty="0">
                <a:solidFill>
                  <a:srgbClr val="000000"/>
                </a:solidFill>
              </a:rPr>
              <a:t>ADD 4000, 2000, 2080</a:t>
            </a:r>
          </a:p>
          <a:p>
            <a:endParaRPr lang="x-none" dirty="0"/>
          </a:p>
        </p:txBody>
      </p:sp>
    </p:spTree>
    <p:extLst>
      <p:ext uri="{BB962C8B-B14F-4D97-AF65-F5344CB8AC3E}">
        <p14:creationId xmlns:p14="http://schemas.microsoft.com/office/powerpoint/2010/main" val="13751612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2A1669-BC2F-4BD3-BC1E-D02D430E2B75}"/>
              </a:ext>
            </a:extLst>
          </p:cNvPr>
          <p:cNvSpPr>
            <a:spLocks noGrp="1"/>
          </p:cNvSpPr>
          <p:nvPr>
            <p:ph type="title"/>
          </p:nvPr>
        </p:nvSpPr>
        <p:spPr/>
        <p:txBody>
          <a:bodyPr/>
          <a:lstStyle/>
          <a:p>
            <a:r>
              <a:rPr lang="en-US" dirty="0"/>
              <a:t>Task</a:t>
            </a:r>
            <a:endParaRPr lang="x-none" dirty="0"/>
          </a:p>
        </p:txBody>
      </p:sp>
      <p:sp>
        <p:nvSpPr>
          <p:cNvPr id="3" name="Content Placeholder 2">
            <a:extLst>
              <a:ext uri="{FF2B5EF4-FFF2-40B4-BE49-F238E27FC236}">
                <a16:creationId xmlns:a16="http://schemas.microsoft.com/office/drawing/2014/main" xmlns="" id="{693D63EE-97BF-4E81-9F36-0335E756C7AD}"/>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ADD 4000, 2000, 2080</a:t>
            </a:r>
          </a:p>
          <a:p>
            <a:pPr lvl="1">
              <a:spcBef>
                <a:spcPts val="700"/>
              </a:spcBef>
              <a:buFont typeface="Arial" charset="0"/>
              <a:buChar char="–"/>
            </a:pPr>
            <a:r>
              <a:rPr lang="en-US" sz="2800" dirty="0">
                <a:solidFill>
                  <a:srgbClr val="000000"/>
                </a:solidFill>
              </a:rPr>
              <a:t>Looks like those three numbers should be added together</a:t>
            </a:r>
          </a:p>
          <a:p>
            <a:pPr lvl="1">
              <a:spcBef>
                <a:spcPts val="700"/>
              </a:spcBef>
              <a:buFont typeface="Arial" charset="0"/>
              <a:buChar char="–"/>
            </a:pPr>
            <a:r>
              <a:rPr lang="en-US" sz="2800" dirty="0">
                <a:solidFill>
                  <a:srgbClr val="000000"/>
                </a:solidFill>
              </a:rPr>
              <a:t>What it really means is that whatever numbers are stored in memory locations 2000 and 2080 be added together, and the result be stored in location 4000</a:t>
            </a:r>
          </a:p>
          <a:p>
            <a:endParaRPr lang="x-none" dirty="0"/>
          </a:p>
        </p:txBody>
      </p:sp>
    </p:spTree>
    <p:extLst>
      <p:ext uri="{BB962C8B-B14F-4D97-AF65-F5344CB8AC3E}">
        <p14:creationId xmlns:p14="http://schemas.microsoft.com/office/powerpoint/2010/main" val="6329156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348FA2-73C3-4E30-AACC-30AFD4D74487}"/>
              </a:ext>
            </a:extLst>
          </p:cNvPr>
          <p:cNvSpPr>
            <a:spLocks noGrp="1"/>
          </p:cNvSpPr>
          <p:nvPr>
            <p:ph type="title"/>
          </p:nvPr>
        </p:nvSpPr>
        <p:spPr/>
        <p:txBody>
          <a:bodyPr/>
          <a:lstStyle/>
          <a:p>
            <a:r>
              <a:rPr lang="en-US" dirty="0"/>
              <a:t>task</a:t>
            </a:r>
            <a:endParaRPr lang="x-none" dirty="0"/>
          </a:p>
        </p:txBody>
      </p:sp>
      <p:pic>
        <p:nvPicPr>
          <p:cNvPr id="4" name="Picture 2">
            <a:extLst>
              <a:ext uri="{FF2B5EF4-FFF2-40B4-BE49-F238E27FC236}">
                <a16:creationId xmlns:a16="http://schemas.microsoft.com/office/drawing/2014/main" xmlns="" id="{846B847A-E52C-4CAA-B445-F1362DD8B1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800350" y="1958181"/>
            <a:ext cx="6591300" cy="3962400"/>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4263785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CC7178-0523-470D-A133-393EA757E024}"/>
              </a:ext>
            </a:extLst>
          </p:cNvPr>
          <p:cNvSpPr>
            <a:spLocks noGrp="1"/>
          </p:cNvSpPr>
          <p:nvPr>
            <p:ph type="title"/>
          </p:nvPr>
        </p:nvSpPr>
        <p:spPr/>
        <p:txBody>
          <a:bodyPr/>
          <a:lstStyle/>
          <a:p>
            <a:r>
              <a:rPr lang="en-AU" dirty="0"/>
              <a:t>Storage Hierarchy</a:t>
            </a:r>
            <a:endParaRPr lang="x-none" dirty="0"/>
          </a:p>
        </p:txBody>
      </p:sp>
      <p:sp>
        <p:nvSpPr>
          <p:cNvPr id="3" name="Content Placeholder 2">
            <a:extLst>
              <a:ext uri="{FF2B5EF4-FFF2-40B4-BE49-F238E27FC236}">
                <a16:creationId xmlns:a16="http://schemas.microsoft.com/office/drawing/2014/main" xmlns="" id="{A89CF04C-80A3-485A-9166-675F470A91F6}"/>
              </a:ext>
            </a:extLst>
          </p:cNvPr>
          <p:cNvSpPr>
            <a:spLocks noGrp="1"/>
          </p:cNvSpPr>
          <p:nvPr>
            <p:ph idx="1"/>
          </p:nvPr>
        </p:nvSpPr>
        <p:spPr>
          <a:xfrm>
            <a:off x="1045029" y="1825625"/>
            <a:ext cx="4882243" cy="4353106"/>
          </a:xfrm>
        </p:spPr>
        <p:txBody>
          <a:bodyPr/>
          <a:lstStyle/>
          <a:p>
            <a:r>
              <a:rPr lang="en-AU" dirty="0"/>
              <a:t>Capacity and access are inversely proportional to each other </a:t>
            </a:r>
            <a:endParaRPr lang="en-US" dirty="0"/>
          </a:p>
          <a:p>
            <a:endParaRPr lang="x-none" dirty="0"/>
          </a:p>
        </p:txBody>
      </p:sp>
      <p:pic>
        <p:nvPicPr>
          <p:cNvPr id="4" name="Picture 3">
            <a:extLst>
              <a:ext uri="{FF2B5EF4-FFF2-40B4-BE49-F238E27FC236}">
                <a16:creationId xmlns:a16="http://schemas.microsoft.com/office/drawing/2014/main" xmlns="" id="{4B484E05-DFAF-4375-AE98-A6B9B7CC99A6}"/>
              </a:ext>
            </a:extLst>
          </p:cNvPr>
          <p:cNvPicPr>
            <a:picLocks noChangeAspect="1"/>
          </p:cNvPicPr>
          <p:nvPr/>
        </p:nvPicPr>
        <p:blipFill>
          <a:blip r:embed="rId2"/>
          <a:stretch>
            <a:fillRect/>
          </a:stretch>
        </p:blipFill>
        <p:spPr>
          <a:xfrm>
            <a:off x="5927273" y="1258524"/>
            <a:ext cx="6028271" cy="4920207"/>
          </a:xfrm>
          <a:prstGeom prst="rect">
            <a:avLst/>
          </a:prstGeom>
        </p:spPr>
      </p:pic>
    </p:spTree>
    <p:extLst>
      <p:ext uri="{BB962C8B-B14F-4D97-AF65-F5344CB8AC3E}">
        <p14:creationId xmlns:p14="http://schemas.microsoft.com/office/powerpoint/2010/main" val="49192626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5890D3-04B3-4E9D-BE5E-1E7928E9670C}"/>
              </a:ext>
            </a:extLst>
          </p:cNvPr>
          <p:cNvSpPr>
            <a:spLocks noGrp="1"/>
          </p:cNvSpPr>
          <p:nvPr>
            <p:ph type="title"/>
          </p:nvPr>
        </p:nvSpPr>
        <p:spPr/>
        <p:txBody>
          <a:bodyPr/>
          <a:lstStyle/>
          <a:p>
            <a:r>
              <a:rPr lang="en-US" dirty="0">
                <a:solidFill>
                  <a:srgbClr val="000000"/>
                </a:solidFill>
              </a:rPr>
              <a:t>The Program Counter (PC)</a:t>
            </a:r>
            <a:endParaRPr lang="x-none" dirty="0"/>
          </a:p>
        </p:txBody>
      </p:sp>
      <p:sp>
        <p:nvSpPr>
          <p:cNvPr id="3" name="Content Placeholder 2">
            <a:extLst>
              <a:ext uri="{FF2B5EF4-FFF2-40B4-BE49-F238E27FC236}">
                <a16:creationId xmlns:a16="http://schemas.microsoft.com/office/drawing/2014/main" xmlns="" id="{4C3AA611-AAB0-4DB8-B0C3-3E1C61A762C8}"/>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How does the computer determine which instruction it should execute next?</a:t>
            </a:r>
          </a:p>
          <a:p>
            <a:pPr>
              <a:spcBef>
                <a:spcPts val="800"/>
              </a:spcBef>
              <a:buFont typeface="Arial" charset="0"/>
              <a:buChar char="•"/>
            </a:pPr>
            <a:r>
              <a:rPr lang="en-US" sz="3200" b="1" dirty="0">
                <a:solidFill>
                  <a:srgbClr val="000000"/>
                </a:solidFill>
              </a:rPr>
              <a:t>Address of the Next Instruction </a:t>
            </a:r>
          </a:p>
          <a:p>
            <a:pPr lvl="1">
              <a:spcBef>
                <a:spcPts val="700"/>
              </a:spcBef>
              <a:buFont typeface="Arial" charset="0"/>
              <a:buChar char="–"/>
            </a:pPr>
            <a:r>
              <a:rPr lang="en-US" sz="2800" dirty="0">
                <a:solidFill>
                  <a:srgbClr val="000000"/>
                </a:solidFill>
              </a:rPr>
              <a:t>The instruction is stored in memory and the computer has its address</a:t>
            </a:r>
          </a:p>
          <a:p>
            <a:pPr lvl="1">
              <a:spcBef>
                <a:spcPts val="700"/>
              </a:spcBef>
              <a:buFont typeface="Arial" charset="0"/>
              <a:buChar char="–"/>
            </a:pPr>
            <a:r>
              <a:rPr lang="en-US" sz="2800" dirty="0">
                <a:solidFill>
                  <a:srgbClr val="000000"/>
                </a:solidFill>
              </a:rPr>
              <a:t>Computers use the address (known as the </a:t>
            </a:r>
            <a:r>
              <a:rPr lang="en-US" sz="2800" i="1" dirty="0">
                <a:solidFill>
                  <a:srgbClr val="000000"/>
                </a:solidFill>
              </a:rPr>
              <a:t>program counter </a:t>
            </a:r>
            <a:r>
              <a:rPr lang="en-US" sz="2800" dirty="0">
                <a:solidFill>
                  <a:srgbClr val="000000"/>
                </a:solidFill>
              </a:rPr>
              <a:t>or</a:t>
            </a:r>
            <a:r>
              <a:rPr lang="en-US" sz="2800" i="1" dirty="0">
                <a:solidFill>
                  <a:srgbClr val="000000"/>
                </a:solidFill>
              </a:rPr>
              <a:t> PC)</a:t>
            </a:r>
            <a:r>
              <a:rPr lang="en-US" sz="2800" dirty="0">
                <a:solidFill>
                  <a:srgbClr val="000000"/>
                </a:solidFill>
              </a:rPr>
              <a:t> to keep track of the next instruction</a:t>
            </a:r>
          </a:p>
          <a:p>
            <a:endParaRPr lang="x-none" dirty="0"/>
          </a:p>
        </p:txBody>
      </p:sp>
    </p:spTree>
    <p:extLst>
      <p:ext uri="{BB962C8B-B14F-4D97-AF65-F5344CB8AC3E}">
        <p14:creationId xmlns:p14="http://schemas.microsoft.com/office/powerpoint/2010/main" val="17963530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1E4DE3-5614-42DD-8641-8CCA94055775}"/>
              </a:ext>
            </a:extLst>
          </p:cNvPr>
          <p:cNvSpPr>
            <a:spLocks noGrp="1"/>
          </p:cNvSpPr>
          <p:nvPr>
            <p:ph type="title"/>
          </p:nvPr>
        </p:nvSpPr>
        <p:spPr/>
        <p:txBody>
          <a:bodyPr/>
          <a:lstStyle/>
          <a:p>
            <a:r>
              <a:rPr lang="en-US" dirty="0">
                <a:solidFill>
                  <a:srgbClr val="000000"/>
                </a:solidFill>
              </a:rPr>
              <a:t>The Program Counter</a:t>
            </a:r>
            <a:endParaRPr lang="x-none" dirty="0"/>
          </a:p>
        </p:txBody>
      </p:sp>
      <p:sp>
        <p:nvSpPr>
          <p:cNvPr id="3" name="Content Placeholder 2">
            <a:extLst>
              <a:ext uri="{FF2B5EF4-FFF2-40B4-BE49-F238E27FC236}">
                <a16:creationId xmlns:a16="http://schemas.microsoft.com/office/drawing/2014/main" xmlns="" id="{08DACE87-340C-4919-9FB2-04E3C12CF272}"/>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computer gets ready to process the next instruction</a:t>
            </a:r>
          </a:p>
          <a:p>
            <a:pPr>
              <a:spcBef>
                <a:spcPts val="800"/>
              </a:spcBef>
              <a:buFont typeface="Arial" charset="0"/>
              <a:buChar char="•"/>
            </a:pPr>
            <a:r>
              <a:rPr lang="en-US" dirty="0">
                <a:solidFill>
                  <a:srgbClr val="000000"/>
                </a:solidFill>
              </a:rPr>
              <a:t>It assumes that the next instruction is the next instruction in sequence</a:t>
            </a:r>
          </a:p>
          <a:p>
            <a:pPr>
              <a:spcBef>
                <a:spcPts val="800"/>
              </a:spcBef>
              <a:buFont typeface="Arial" charset="0"/>
              <a:buChar char="•"/>
            </a:pPr>
            <a:r>
              <a:rPr lang="en-US" dirty="0">
                <a:solidFill>
                  <a:srgbClr val="000000"/>
                </a:solidFill>
              </a:rPr>
              <a:t>Because instructions use 4 bytes of memory, the next instruction must be at the memory address PC + 4 or 4 bytes further along the sequence</a:t>
            </a:r>
          </a:p>
          <a:p>
            <a:endParaRPr lang="x-none" dirty="0"/>
          </a:p>
        </p:txBody>
      </p:sp>
    </p:spTree>
    <p:extLst>
      <p:ext uri="{BB962C8B-B14F-4D97-AF65-F5344CB8AC3E}">
        <p14:creationId xmlns:p14="http://schemas.microsoft.com/office/powerpoint/2010/main" val="19787401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BAFAD5-D207-405B-A76B-822BDC6DED37}"/>
              </a:ext>
            </a:extLst>
          </p:cNvPr>
          <p:cNvSpPr>
            <a:spLocks noGrp="1"/>
          </p:cNvSpPr>
          <p:nvPr>
            <p:ph type="title"/>
          </p:nvPr>
        </p:nvSpPr>
        <p:spPr/>
        <p:txBody>
          <a:bodyPr/>
          <a:lstStyle/>
          <a:p>
            <a:r>
              <a:rPr lang="en-US" dirty="0">
                <a:solidFill>
                  <a:srgbClr val="000000"/>
                </a:solidFill>
              </a:rPr>
              <a:t>The Computer Clock</a:t>
            </a:r>
            <a:endParaRPr lang="x-none" dirty="0"/>
          </a:p>
        </p:txBody>
      </p:sp>
      <p:sp>
        <p:nvSpPr>
          <p:cNvPr id="3" name="Content Placeholder 2">
            <a:extLst>
              <a:ext uri="{FF2B5EF4-FFF2-40B4-BE49-F238E27FC236}">
                <a16:creationId xmlns:a16="http://schemas.microsoft.com/office/drawing/2014/main" xmlns="" id="{D4A573CE-A628-4438-B50B-45CDE0A7F02A}"/>
              </a:ext>
            </a:extLst>
          </p:cNvPr>
          <p:cNvSpPr>
            <a:spLocks noGrp="1"/>
          </p:cNvSpPr>
          <p:nvPr>
            <p:ph idx="1"/>
          </p:nvPr>
        </p:nvSpPr>
        <p:spPr/>
        <p:txBody>
          <a:bodyPr/>
          <a:lstStyle/>
          <a:p>
            <a:pPr>
              <a:spcBef>
                <a:spcPts val="800"/>
              </a:spcBef>
              <a:buFont typeface="Arial" charset="0"/>
              <a:buChar char="•"/>
            </a:pPr>
            <a:r>
              <a:rPr lang="en-US" dirty="0">
                <a:solidFill>
                  <a:srgbClr val="000000"/>
                </a:solidFill>
              </a:rPr>
              <a:t>Computers are instruction execution engines. </a:t>
            </a:r>
          </a:p>
          <a:p>
            <a:pPr>
              <a:spcBef>
                <a:spcPts val="800"/>
              </a:spcBef>
              <a:buNone/>
            </a:pPr>
            <a:endParaRPr lang="en-US" dirty="0">
              <a:solidFill>
                <a:srgbClr val="000000"/>
              </a:solidFill>
            </a:endParaRPr>
          </a:p>
          <a:p>
            <a:pPr>
              <a:spcBef>
                <a:spcPts val="800"/>
              </a:spcBef>
              <a:buFont typeface="Arial" charset="0"/>
              <a:buChar char="•"/>
            </a:pPr>
            <a:r>
              <a:rPr lang="en-US" dirty="0">
                <a:solidFill>
                  <a:srgbClr val="000000"/>
                </a:solidFill>
              </a:rPr>
              <a:t>Since the computer does one instruction per cycle in principle, the speed of a computer depends on the number of Fetch/Execute Cycles it completes per second.</a:t>
            </a:r>
          </a:p>
          <a:p>
            <a:pPr marL="0" indent="0">
              <a:buNone/>
            </a:pPr>
            <a:endParaRPr lang="x-none" dirty="0"/>
          </a:p>
        </p:txBody>
      </p:sp>
    </p:spTree>
    <p:extLst>
      <p:ext uri="{BB962C8B-B14F-4D97-AF65-F5344CB8AC3E}">
        <p14:creationId xmlns:p14="http://schemas.microsoft.com/office/powerpoint/2010/main" val="86486789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18FA7D-087C-4665-BCD1-AE4BED2A0D6C}"/>
              </a:ext>
            </a:extLst>
          </p:cNvPr>
          <p:cNvSpPr>
            <a:spLocks noGrp="1"/>
          </p:cNvSpPr>
          <p:nvPr>
            <p:ph type="title"/>
          </p:nvPr>
        </p:nvSpPr>
        <p:spPr/>
        <p:txBody>
          <a:bodyPr/>
          <a:lstStyle/>
          <a:p>
            <a:r>
              <a:rPr lang="en-US" dirty="0">
                <a:solidFill>
                  <a:srgbClr val="000000"/>
                </a:solidFill>
              </a:rPr>
              <a:t>The Computer Clock</a:t>
            </a:r>
            <a:endParaRPr lang="x-none" dirty="0"/>
          </a:p>
        </p:txBody>
      </p:sp>
      <p:sp>
        <p:nvSpPr>
          <p:cNvPr id="3" name="Content Placeholder 2">
            <a:extLst>
              <a:ext uri="{FF2B5EF4-FFF2-40B4-BE49-F238E27FC236}">
                <a16:creationId xmlns:a16="http://schemas.microsoft.com/office/drawing/2014/main" xmlns="" id="{324EB4EC-878F-4479-98E1-B3C299171372}"/>
              </a:ext>
            </a:extLst>
          </p:cNvPr>
          <p:cNvSpPr>
            <a:spLocks noGrp="1"/>
          </p:cNvSpPr>
          <p:nvPr>
            <p:ph idx="1"/>
          </p:nvPr>
        </p:nvSpPr>
        <p:spPr/>
        <p:txBody>
          <a:bodyPr/>
          <a:lstStyle/>
          <a:p>
            <a:pPr>
              <a:spcBef>
                <a:spcPts val="800"/>
              </a:spcBef>
              <a:buFont typeface="Arial" charset="0"/>
              <a:buChar char="•"/>
            </a:pPr>
            <a:r>
              <a:rPr lang="en-US" dirty="0">
                <a:solidFill>
                  <a:srgbClr val="000000"/>
                </a:solidFill>
              </a:rPr>
              <a:t>The rate of the Fetch/Execute Cycle is determined by the computer’s clock, and it is measured in megahertz, or millions (mega) of cycles per second (hertz). </a:t>
            </a:r>
          </a:p>
          <a:p>
            <a:pPr>
              <a:spcBef>
                <a:spcPts val="800"/>
              </a:spcBef>
              <a:buFont typeface="Arial" charset="0"/>
              <a:buChar char="•"/>
            </a:pPr>
            <a:r>
              <a:rPr lang="en-US" dirty="0">
                <a:solidFill>
                  <a:srgbClr val="000000"/>
                </a:solidFill>
              </a:rPr>
              <a:t>A 1,000 MHz clock ticks a billion (in American English) times per second, which is one gigahertz (1 GHz)</a:t>
            </a:r>
          </a:p>
          <a:p>
            <a:endParaRPr lang="x-none" dirty="0"/>
          </a:p>
        </p:txBody>
      </p:sp>
    </p:spTree>
    <p:extLst>
      <p:ext uri="{BB962C8B-B14F-4D97-AF65-F5344CB8AC3E}">
        <p14:creationId xmlns:p14="http://schemas.microsoft.com/office/powerpoint/2010/main" val="4996583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157133-40AE-4910-82EF-0E443B1029D2}"/>
              </a:ext>
            </a:extLst>
          </p:cNvPr>
          <p:cNvSpPr>
            <a:spLocks noGrp="1"/>
          </p:cNvSpPr>
          <p:nvPr>
            <p:ph type="title"/>
          </p:nvPr>
        </p:nvSpPr>
        <p:spPr/>
        <p:txBody>
          <a:bodyPr/>
          <a:lstStyle/>
          <a:p>
            <a:r>
              <a:rPr lang="en-US" dirty="0">
                <a:solidFill>
                  <a:srgbClr val="000000"/>
                </a:solidFill>
              </a:rPr>
              <a:t>Standard Prefixes</a:t>
            </a:r>
            <a:endParaRPr lang="x-none" dirty="0"/>
          </a:p>
        </p:txBody>
      </p:sp>
      <p:pic>
        <p:nvPicPr>
          <p:cNvPr id="5" name="Picture 2">
            <a:extLst>
              <a:ext uri="{FF2B5EF4-FFF2-40B4-BE49-F238E27FC236}">
                <a16:creationId xmlns:a16="http://schemas.microsoft.com/office/drawing/2014/main" xmlns="" id="{73737358-8093-41A0-942F-3C3BA66182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23987" y="2058194"/>
            <a:ext cx="9344025" cy="3762375"/>
          </a:xfrm>
          <a:prstGeom prst="rect">
            <a:avLst/>
          </a:prstGeom>
          <a:noFill/>
          <a:ln w="9360" cap="sq">
            <a:solidFill>
              <a:srgbClr val="262673"/>
            </a:solidFill>
            <a:miter lim="800000"/>
            <a:headEnd/>
            <a:tailEnd/>
          </a:ln>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5842937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58E50F-60F5-4F67-87E7-49498710F443}"/>
              </a:ext>
            </a:extLst>
          </p:cNvPr>
          <p:cNvSpPr>
            <a:spLocks noGrp="1"/>
          </p:cNvSpPr>
          <p:nvPr>
            <p:ph type="title"/>
          </p:nvPr>
        </p:nvSpPr>
        <p:spPr/>
        <p:txBody>
          <a:bodyPr/>
          <a:lstStyle/>
          <a:p>
            <a:r>
              <a:rPr lang="en-US" dirty="0">
                <a:solidFill>
                  <a:srgbClr val="000000"/>
                </a:solidFill>
              </a:rPr>
              <a:t>One Cycle per Clock Tick</a:t>
            </a:r>
            <a:endParaRPr lang="x-none" dirty="0"/>
          </a:p>
        </p:txBody>
      </p:sp>
      <p:sp>
        <p:nvSpPr>
          <p:cNvPr id="3" name="Content Placeholder 2">
            <a:extLst>
              <a:ext uri="{FF2B5EF4-FFF2-40B4-BE49-F238E27FC236}">
                <a16:creationId xmlns:a16="http://schemas.microsoft.com/office/drawing/2014/main" xmlns="" id="{881CE57C-C517-4974-B673-B4A6BB68AC6A}"/>
              </a:ext>
            </a:extLst>
          </p:cNvPr>
          <p:cNvSpPr>
            <a:spLocks noGrp="1"/>
          </p:cNvSpPr>
          <p:nvPr>
            <p:ph idx="1"/>
          </p:nvPr>
        </p:nvSpPr>
        <p:spPr/>
        <p:txBody>
          <a:bodyPr/>
          <a:lstStyle/>
          <a:p>
            <a:pPr>
              <a:spcBef>
                <a:spcPts val="800"/>
              </a:spcBef>
              <a:buFont typeface="Arial" charset="0"/>
              <a:buChar char="•"/>
            </a:pPr>
            <a:r>
              <a:rPr lang="en-US" dirty="0">
                <a:solidFill>
                  <a:srgbClr val="000000"/>
                </a:solidFill>
              </a:rPr>
              <a:t>A computer with a 1 GHz clock has one billionth of a second—one nanosecond—between clock ticks to run the Fetch/Execute Cycle. </a:t>
            </a:r>
          </a:p>
          <a:p>
            <a:pPr>
              <a:spcBef>
                <a:spcPts val="800"/>
              </a:spcBef>
              <a:buFont typeface="Arial" charset="0"/>
              <a:buChar char="•"/>
            </a:pPr>
            <a:r>
              <a:rPr lang="en-US" dirty="0">
                <a:solidFill>
                  <a:srgbClr val="000000"/>
                </a:solidFill>
              </a:rPr>
              <a:t>In that amount of time, light travels about one foot (~30 cm).</a:t>
            </a:r>
          </a:p>
          <a:p>
            <a:pPr>
              <a:spcBef>
                <a:spcPts val="800"/>
              </a:spcBef>
              <a:buFont typeface="Arial" charset="0"/>
              <a:buChar char="•"/>
            </a:pPr>
            <a:r>
              <a:rPr lang="en-US" dirty="0">
                <a:solidFill>
                  <a:srgbClr val="000000"/>
                </a:solidFill>
              </a:rPr>
              <a:t>Modern computers </a:t>
            </a:r>
            <a:r>
              <a:rPr lang="en-US" i="1" dirty="0">
                <a:solidFill>
                  <a:srgbClr val="000000"/>
                </a:solidFill>
              </a:rPr>
              <a:t>try</a:t>
            </a:r>
            <a:r>
              <a:rPr lang="en-US" dirty="0">
                <a:solidFill>
                  <a:srgbClr val="000000"/>
                </a:solidFill>
              </a:rPr>
              <a:t> to start an instruction on each clock tick. </a:t>
            </a:r>
          </a:p>
          <a:p>
            <a:endParaRPr lang="x-none" dirty="0"/>
          </a:p>
        </p:txBody>
      </p:sp>
    </p:spTree>
    <p:extLst>
      <p:ext uri="{BB962C8B-B14F-4D97-AF65-F5344CB8AC3E}">
        <p14:creationId xmlns:p14="http://schemas.microsoft.com/office/powerpoint/2010/main" val="2647148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4914F0-4E75-47AB-B686-F77B97D62B11}"/>
              </a:ext>
            </a:extLst>
          </p:cNvPr>
          <p:cNvSpPr>
            <a:spLocks noGrp="1"/>
          </p:cNvSpPr>
          <p:nvPr>
            <p:ph type="title"/>
          </p:nvPr>
        </p:nvSpPr>
        <p:spPr/>
        <p:txBody>
          <a:bodyPr/>
          <a:lstStyle/>
          <a:p>
            <a:r>
              <a:rPr lang="en-US" dirty="0">
                <a:solidFill>
                  <a:srgbClr val="000000"/>
                </a:solidFill>
              </a:rPr>
              <a:t>Computer’s View of Software</a:t>
            </a:r>
            <a:endParaRPr lang="x-none" dirty="0"/>
          </a:p>
        </p:txBody>
      </p:sp>
      <p:sp>
        <p:nvSpPr>
          <p:cNvPr id="3" name="Content Placeholder 2">
            <a:extLst>
              <a:ext uri="{FF2B5EF4-FFF2-40B4-BE49-F238E27FC236}">
                <a16:creationId xmlns:a16="http://schemas.microsoft.com/office/drawing/2014/main" xmlns="" id="{D57F9D10-6992-4152-9F38-3B967F024F3B}"/>
              </a:ext>
            </a:extLst>
          </p:cNvPr>
          <p:cNvSpPr>
            <a:spLocks noGrp="1"/>
          </p:cNvSpPr>
          <p:nvPr>
            <p:ph idx="1"/>
          </p:nvPr>
        </p:nvSpPr>
        <p:spPr/>
        <p:txBody>
          <a:bodyPr/>
          <a:lstStyle/>
          <a:p>
            <a:r>
              <a:rPr lang="en-US" b="1" dirty="0">
                <a:solidFill>
                  <a:srgbClr val="000000"/>
                </a:solidFill>
              </a:rPr>
              <a:t>A program “sees” software as a long sequence of 4-byte groups of bits </a:t>
            </a:r>
            <a:br>
              <a:rPr lang="en-US" b="1" dirty="0">
                <a:solidFill>
                  <a:srgbClr val="000000"/>
                </a:solidFill>
              </a:rPr>
            </a:br>
            <a:r>
              <a:rPr lang="en-US" b="1" dirty="0">
                <a:solidFill>
                  <a:srgbClr val="000000"/>
                </a:solidFill>
              </a:rPr>
              <a:t>(0's and 1’s)</a:t>
            </a:r>
          </a:p>
          <a:p>
            <a:endParaRPr lang="en-US" b="1" dirty="0">
              <a:solidFill>
                <a:srgbClr val="000000"/>
              </a:solidFill>
            </a:endParaRPr>
          </a:p>
          <a:p>
            <a:endParaRPr lang="en-US" b="1" dirty="0">
              <a:solidFill>
                <a:srgbClr val="000000"/>
              </a:solidFill>
            </a:endParaRPr>
          </a:p>
          <a:p>
            <a:endParaRPr lang="en-US" b="1" dirty="0">
              <a:solidFill>
                <a:srgbClr val="000000"/>
              </a:solidFill>
            </a:endParaRPr>
          </a:p>
          <a:p>
            <a:endParaRPr lang="en-US" b="1" dirty="0">
              <a:solidFill>
                <a:srgbClr val="000000"/>
              </a:solidFill>
            </a:endParaRPr>
          </a:p>
          <a:p>
            <a:r>
              <a:rPr lang="en-US" dirty="0">
                <a:solidFill>
                  <a:srgbClr val="000000"/>
                </a:solidFill>
              </a:rPr>
              <a:t>This binary object file can be hundreds of thousands to millions of words long</a:t>
            </a:r>
          </a:p>
          <a:p>
            <a:endParaRPr lang="en-US" b="1" dirty="0">
              <a:solidFill>
                <a:srgbClr val="000000"/>
              </a:solidFill>
            </a:endParaRPr>
          </a:p>
          <a:p>
            <a:endParaRPr lang="x-none" dirty="0"/>
          </a:p>
        </p:txBody>
      </p:sp>
      <p:pic>
        <p:nvPicPr>
          <p:cNvPr id="4" name="Picture 3">
            <a:extLst>
              <a:ext uri="{FF2B5EF4-FFF2-40B4-BE49-F238E27FC236}">
                <a16:creationId xmlns:a16="http://schemas.microsoft.com/office/drawing/2014/main" xmlns="" id="{9955CC83-D9AC-4415-AA4C-4BCE5A9DCE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1" y="3200400"/>
            <a:ext cx="9334500" cy="1143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9417989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7F3482-546F-4F1C-B5B9-C67CA708D1D9}"/>
              </a:ext>
            </a:extLst>
          </p:cNvPr>
          <p:cNvSpPr>
            <a:spLocks noGrp="1"/>
          </p:cNvSpPr>
          <p:nvPr>
            <p:ph type="title"/>
          </p:nvPr>
        </p:nvSpPr>
        <p:spPr/>
        <p:txBody>
          <a:bodyPr/>
          <a:lstStyle/>
          <a:p>
            <a:r>
              <a:rPr lang="en-US" dirty="0">
                <a:solidFill>
                  <a:srgbClr val="000000"/>
                </a:solidFill>
              </a:rPr>
              <a:t>Computer’s View of Software</a:t>
            </a:r>
            <a:endParaRPr lang="x-none" dirty="0"/>
          </a:p>
        </p:txBody>
      </p:sp>
      <p:sp>
        <p:nvSpPr>
          <p:cNvPr id="3" name="Content Placeholder 2">
            <a:extLst>
              <a:ext uri="{FF2B5EF4-FFF2-40B4-BE49-F238E27FC236}">
                <a16:creationId xmlns:a16="http://schemas.microsoft.com/office/drawing/2014/main" xmlns="" id="{69817C6C-A0F4-49A9-A75E-0C6EE2EEAB33}"/>
              </a:ext>
            </a:extLst>
          </p:cNvPr>
          <p:cNvSpPr>
            <a:spLocks noGrp="1"/>
          </p:cNvSpPr>
          <p:nvPr>
            <p:ph idx="1"/>
          </p:nvPr>
        </p:nvSpPr>
        <p:spPr/>
        <p:txBody>
          <a:bodyPr/>
          <a:lstStyle/>
          <a:p>
            <a:pPr>
              <a:spcBef>
                <a:spcPts val="800"/>
              </a:spcBef>
              <a:buFont typeface="Arial" charset="0"/>
              <a:buChar char="•"/>
            </a:pPr>
            <a:r>
              <a:rPr lang="en-US" sz="3200" b="1" dirty="0">
                <a:solidFill>
                  <a:srgbClr val="000000"/>
                </a:solidFill>
              </a:rPr>
              <a:t>Once installed, the computer runs the software by:</a:t>
            </a:r>
          </a:p>
          <a:p>
            <a:pPr lvl="1">
              <a:spcBef>
                <a:spcPts val="700"/>
              </a:spcBef>
              <a:buFont typeface="Arial" charset="0"/>
              <a:buChar char="•"/>
            </a:pPr>
            <a:r>
              <a:rPr lang="en-US" sz="2800" dirty="0">
                <a:solidFill>
                  <a:srgbClr val="000000"/>
                </a:solidFill>
              </a:rPr>
              <a:t>copying the binary instructions into the RAM </a:t>
            </a:r>
          </a:p>
          <a:p>
            <a:pPr lvl="1">
              <a:spcBef>
                <a:spcPts val="700"/>
              </a:spcBef>
              <a:buFont typeface="Arial" charset="0"/>
              <a:buChar char="•"/>
            </a:pPr>
            <a:r>
              <a:rPr lang="en-US" sz="2800" dirty="0">
                <a:solidFill>
                  <a:srgbClr val="000000"/>
                </a:solidFill>
              </a:rPr>
              <a:t>interpreting them using the Fetch/Execute Cycle. </a:t>
            </a:r>
          </a:p>
          <a:p>
            <a:pPr>
              <a:spcBef>
                <a:spcPts val="800"/>
              </a:spcBef>
              <a:buFont typeface="Arial" charset="0"/>
              <a:buChar char="•"/>
            </a:pPr>
            <a:r>
              <a:rPr lang="en-US" sz="3200" b="1" dirty="0">
                <a:solidFill>
                  <a:srgbClr val="000000"/>
                </a:solidFill>
              </a:rPr>
              <a:t>It does whatever the instructions tell it to do</a:t>
            </a:r>
          </a:p>
          <a:p>
            <a:endParaRPr lang="x-none" dirty="0"/>
          </a:p>
        </p:txBody>
      </p:sp>
    </p:spTree>
    <p:extLst>
      <p:ext uri="{BB962C8B-B14F-4D97-AF65-F5344CB8AC3E}">
        <p14:creationId xmlns:p14="http://schemas.microsoft.com/office/powerpoint/2010/main" val="16628818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F4AB17-CAEA-4266-A694-439F494DF9C3}"/>
              </a:ext>
            </a:extLst>
          </p:cNvPr>
          <p:cNvSpPr>
            <a:spLocks noGrp="1"/>
          </p:cNvSpPr>
          <p:nvPr>
            <p:ph type="title"/>
          </p:nvPr>
        </p:nvSpPr>
        <p:spPr/>
        <p:txBody>
          <a:bodyPr/>
          <a:lstStyle/>
          <a:p>
            <a:r>
              <a:rPr lang="en-US" spc="-4" dirty="0"/>
              <a:t>Processor</a:t>
            </a:r>
            <a:r>
              <a:rPr lang="en-US" spc="-26" dirty="0"/>
              <a:t> </a:t>
            </a:r>
            <a:r>
              <a:rPr lang="en-US" spc="-13" dirty="0"/>
              <a:t>Speed</a:t>
            </a:r>
            <a:endParaRPr lang="x-none" dirty="0"/>
          </a:p>
        </p:txBody>
      </p:sp>
      <p:sp>
        <p:nvSpPr>
          <p:cNvPr id="3" name="Content Placeholder 2">
            <a:extLst>
              <a:ext uri="{FF2B5EF4-FFF2-40B4-BE49-F238E27FC236}">
                <a16:creationId xmlns:a16="http://schemas.microsoft.com/office/drawing/2014/main" xmlns="" id="{C9DE39D8-AD2F-401F-B0A2-6C68EE50D56E}"/>
              </a:ext>
            </a:extLst>
          </p:cNvPr>
          <p:cNvSpPr>
            <a:spLocks noGrp="1"/>
          </p:cNvSpPr>
          <p:nvPr>
            <p:ph idx="1"/>
          </p:nvPr>
        </p:nvSpPr>
        <p:spPr/>
        <p:txBody>
          <a:bodyPr>
            <a:normAutofit/>
          </a:bodyPr>
          <a:lstStyle/>
          <a:p>
            <a:pPr marL="468407" marR="4483" indent="-457200" algn="just">
              <a:spcBef>
                <a:spcPts val="88"/>
              </a:spcBef>
              <a:buClr>
                <a:schemeClr val="tx1"/>
              </a:buClr>
              <a:tabLst>
                <a:tab pos="318264" algn="l"/>
              </a:tabLst>
            </a:pPr>
            <a:r>
              <a:rPr lang="en-US" spc="-4" dirty="0">
                <a:solidFill>
                  <a:srgbClr val="333333"/>
                </a:solidFill>
              </a:rPr>
              <a:t>Computer has </a:t>
            </a:r>
            <a:r>
              <a:rPr lang="en-US" dirty="0">
                <a:solidFill>
                  <a:srgbClr val="333333"/>
                </a:solidFill>
              </a:rPr>
              <a:t>a built-in </a:t>
            </a:r>
            <a:r>
              <a:rPr lang="en-US" b="1" i="1" dirty="0">
                <a:solidFill>
                  <a:srgbClr val="333333"/>
                </a:solidFill>
              </a:rPr>
              <a:t>system clock </a:t>
            </a:r>
            <a:r>
              <a:rPr lang="en-US" spc="-4" dirty="0">
                <a:solidFill>
                  <a:srgbClr val="333333"/>
                </a:solidFill>
              </a:rPr>
              <a:t>that </a:t>
            </a:r>
            <a:r>
              <a:rPr lang="en-US" dirty="0">
                <a:solidFill>
                  <a:srgbClr val="333333"/>
                </a:solidFill>
              </a:rPr>
              <a:t>emits millions of  </a:t>
            </a:r>
            <a:r>
              <a:rPr lang="en-US" spc="-4" dirty="0">
                <a:solidFill>
                  <a:srgbClr val="333333"/>
                </a:solidFill>
              </a:rPr>
              <a:t>regularly </a:t>
            </a:r>
            <a:r>
              <a:rPr lang="en-US" dirty="0">
                <a:solidFill>
                  <a:srgbClr val="333333"/>
                </a:solidFill>
              </a:rPr>
              <a:t>spaced electric </a:t>
            </a:r>
            <a:r>
              <a:rPr lang="en-US" spc="-4" dirty="0">
                <a:solidFill>
                  <a:srgbClr val="333333"/>
                </a:solidFill>
              </a:rPr>
              <a:t>pulses </a:t>
            </a:r>
            <a:r>
              <a:rPr lang="en-US" dirty="0">
                <a:solidFill>
                  <a:srgbClr val="333333"/>
                </a:solidFill>
              </a:rPr>
              <a:t>per </a:t>
            </a:r>
            <a:r>
              <a:rPr lang="en-US" spc="-4" dirty="0">
                <a:solidFill>
                  <a:srgbClr val="333333"/>
                </a:solidFill>
              </a:rPr>
              <a:t>second (known </a:t>
            </a:r>
            <a:r>
              <a:rPr lang="en-US" dirty="0">
                <a:solidFill>
                  <a:srgbClr val="333333"/>
                </a:solidFill>
              </a:rPr>
              <a:t>as  </a:t>
            </a:r>
            <a:r>
              <a:rPr lang="en-US" i="1" dirty="0">
                <a:solidFill>
                  <a:srgbClr val="333333"/>
                </a:solidFill>
              </a:rPr>
              <a:t>clock</a:t>
            </a:r>
            <a:r>
              <a:rPr lang="en-US" i="1" spc="-13" dirty="0">
                <a:solidFill>
                  <a:srgbClr val="333333"/>
                </a:solidFill>
              </a:rPr>
              <a:t> </a:t>
            </a:r>
            <a:r>
              <a:rPr lang="en-US" i="1" spc="-4" dirty="0">
                <a:solidFill>
                  <a:srgbClr val="333333"/>
                </a:solidFill>
              </a:rPr>
              <a:t>cycles)</a:t>
            </a:r>
            <a:endParaRPr lang="en-US" dirty="0"/>
          </a:p>
          <a:p>
            <a:pPr marL="468407" marR="6724" indent="-457200" algn="just">
              <a:spcBef>
                <a:spcPts val="869"/>
              </a:spcBef>
              <a:buClr>
                <a:schemeClr val="tx1"/>
              </a:buClr>
              <a:tabLst>
                <a:tab pos="318264" algn="l"/>
              </a:tabLst>
            </a:pPr>
            <a:r>
              <a:rPr lang="en-US" spc="-9" dirty="0">
                <a:solidFill>
                  <a:srgbClr val="333333"/>
                </a:solidFill>
              </a:rPr>
              <a:t>It </a:t>
            </a:r>
            <a:r>
              <a:rPr lang="en-US" spc="-4" dirty="0">
                <a:solidFill>
                  <a:srgbClr val="333333"/>
                </a:solidFill>
              </a:rPr>
              <a:t>takes one cycle </a:t>
            </a:r>
            <a:r>
              <a:rPr lang="en-US" dirty="0">
                <a:solidFill>
                  <a:srgbClr val="333333"/>
                </a:solidFill>
              </a:rPr>
              <a:t>to </a:t>
            </a:r>
            <a:r>
              <a:rPr lang="en-US" spc="-4" dirty="0">
                <a:solidFill>
                  <a:srgbClr val="333333"/>
                </a:solidFill>
              </a:rPr>
              <a:t>perform </a:t>
            </a:r>
            <a:r>
              <a:rPr lang="en-US" dirty="0">
                <a:solidFill>
                  <a:srgbClr val="333333"/>
                </a:solidFill>
              </a:rPr>
              <a:t>a basic </a:t>
            </a:r>
            <a:r>
              <a:rPr lang="en-US" spc="-4" dirty="0">
                <a:solidFill>
                  <a:srgbClr val="333333"/>
                </a:solidFill>
              </a:rPr>
              <a:t>operation, such </a:t>
            </a:r>
            <a:r>
              <a:rPr lang="en-US" dirty="0">
                <a:solidFill>
                  <a:srgbClr val="333333"/>
                </a:solidFill>
              </a:rPr>
              <a:t>as  </a:t>
            </a:r>
            <a:r>
              <a:rPr lang="en-US" spc="-4" dirty="0">
                <a:solidFill>
                  <a:srgbClr val="333333"/>
                </a:solidFill>
              </a:rPr>
              <a:t>moving </a:t>
            </a:r>
            <a:r>
              <a:rPr lang="en-US" dirty="0">
                <a:solidFill>
                  <a:srgbClr val="333333"/>
                </a:solidFill>
              </a:rPr>
              <a:t>a </a:t>
            </a:r>
            <a:r>
              <a:rPr lang="en-US" spc="-4" dirty="0">
                <a:solidFill>
                  <a:srgbClr val="333333"/>
                </a:solidFill>
              </a:rPr>
              <a:t>byte </a:t>
            </a:r>
            <a:r>
              <a:rPr lang="en-US" dirty="0">
                <a:solidFill>
                  <a:srgbClr val="333333"/>
                </a:solidFill>
              </a:rPr>
              <a:t>of data </a:t>
            </a:r>
            <a:r>
              <a:rPr lang="en-US" spc="-4" dirty="0">
                <a:solidFill>
                  <a:srgbClr val="333333"/>
                </a:solidFill>
              </a:rPr>
              <a:t>from one </a:t>
            </a:r>
            <a:r>
              <a:rPr lang="en-US" dirty="0">
                <a:solidFill>
                  <a:srgbClr val="333333"/>
                </a:solidFill>
              </a:rPr>
              <a:t>memory location to  </a:t>
            </a:r>
            <a:r>
              <a:rPr lang="en-US" spc="-4" dirty="0">
                <a:solidFill>
                  <a:srgbClr val="333333"/>
                </a:solidFill>
              </a:rPr>
              <a:t>another</a:t>
            </a:r>
            <a:endParaRPr lang="en-US" dirty="0"/>
          </a:p>
          <a:p>
            <a:pPr>
              <a:buClr>
                <a:schemeClr val="tx1"/>
              </a:buClr>
            </a:pPr>
            <a:r>
              <a:rPr lang="en-US" dirty="0">
                <a:solidFill>
                  <a:srgbClr val="333333"/>
                </a:solidFill>
              </a:rPr>
              <a:t>Normally, </a:t>
            </a:r>
            <a:r>
              <a:rPr lang="en-US" spc="-4" dirty="0">
                <a:solidFill>
                  <a:srgbClr val="333333"/>
                </a:solidFill>
              </a:rPr>
              <a:t>several </a:t>
            </a:r>
            <a:r>
              <a:rPr lang="en-US" dirty="0">
                <a:solidFill>
                  <a:srgbClr val="333333"/>
                </a:solidFill>
              </a:rPr>
              <a:t>clock c</a:t>
            </a:r>
            <a:r>
              <a:rPr lang="en-US" spc="-9" dirty="0">
                <a:solidFill>
                  <a:srgbClr val="333333"/>
                </a:solidFill>
              </a:rPr>
              <a:t>y</a:t>
            </a:r>
            <a:r>
              <a:rPr lang="en-US" dirty="0">
                <a:solidFill>
                  <a:srgbClr val="333333"/>
                </a:solidFill>
              </a:rPr>
              <a:t>cles are req</a:t>
            </a:r>
            <a:r>
              <a:rPr lang="en-US" spc="-13" dirty="0">
                <a:solidFill>
                  <a:srgbClr val="333333"/>
                </a:solidFill>
              </a:rPr>
              <a:t>u</a:t>
            </a:r>
            <a:r>
              <a:rPr lang="en-US" dirty="0">
                <a:solidFill>
                  <a:srgbClr val="333333"/>
                </a:solidFill>
              </a:rPr>
              <a:t>ired to </a:t>
            </a:r>
            <a:r>
              <a:rPr lang="en-US" spc="-9" dirty="0">
                <a:solidFill>
                  <a:srgbClr val="333333"/>
                </a:solidFill>
              </a:rPr>
              <a:t>f</a:t>
            </a:r>
            <a:r>
              <a:rPr lang="en-US" dirty="0">
                <a:solidFill>
                  <a:srgbClr val="333333"/>
                </a:solidFill>
              </a:rPr>
              <a:t>etc</a:t>
            </a:r>
            <a:r>
              <a:rPr lang="en-US" spc="-13" dirty="0">
                <a:solidFill>
                  <a:srgbClr val="333333"/>
                </a:solidFill>
              </a:rPr>
              <a:t>h</a:t>
            </a:r>
            <a:r>
              <a:rPr lang="en-US" dirty="0">
                <a:solidFill>
                  <a:srgbClr val="333333"/>
                </a:solidFill>
              </a:rPr>
              <a:t>, decode, </a:t>
            </a:r>
            <a:r>
              <a:rPr lang="en-US" spc="-9" dirty="0">
                <a:solidFill>
                  <a:srgbClr val="333333"/>
                </a:solidFill>
              </a:rPr>
              <a:t>and </a:t>
            </a:r>
            <a:r>
              <a:rPr lang="en-US" spc="-4" dirty="0">
                <a:solidFill>
                  <a:srgbClr val="333333"/>
                </a:solidFill>
              </a:rPr>
              <a:t>execute a </a:t>
            </a:r>
            <a:r>
              <a:rPr lang="en-US" dirty="0">
                <a:solidFill>
                  <a:srgbClr val="333333"/>
                </a:solidFill>
              </a:rPr>
              <a:t>single </a:t>
            </a:r>
            <a:r>
              <a:rPr lang="en-US" spc="-4" dirty="0">
                <a:solidFill>
                  <a:srgbClr val="333333"/>
                </a:solidFill>
              </a:rPr>
              <a:t>program</a:t>
            </a:r>
            <a:r>
              <a:rPr lang="en-US" spc="13" dirty="0">
                <a:solidFill>
                  <a:srgbClr val="333333"/>
                </a:solidFill>
              </a:rPr>
              <a:t> </a:t>
            </a:r>
            <a:r>
              <a:rPr lang="en-US" spc="-4" dirty="0">
                <a:solidFill>
                  <a:srgbClr val="333333"/>
                </a:solidFill>
              </a:rPr>
              <a:t>instruction</a:t>
            </a:r>
            <a:endParaRPr lang="en-US" dirty="0"/>
          </a:p>
          <a:p>
            <a:pPr marL="468407" indent="-457200">
              <a:spcBef>
                <a:spcPts val="865"/>
              </a:spcBef>
              <a:buClr>
                <a:schemeClr val="tx1"/>
              </a:buClr>
              <a:tabLst>
                <a:tab pos="317704" algn="l"/>
                <a:tab pos="318264" algn="l"/>
              </a:tabLst>
            </a:pPr>
            <a:r>
              <a:rPr lang="en-US" spc="-4" dirty="0">
                <a:solidFill>
                  <a:srgbClr val="333333"/>
                </a:solidFill>
              </a:rPr>
              <a:t>Hence, </a:t>
            </a:r>
            <a:r>
              <a:rPr lang="en-US" dirty="0">
                <a:solidFill>
                  <a:srgbClr val="333333"/>
                </a:solidFill>
              </a:rPr>
              <a:t>shorter </a:t>
            </a:r>
            <a:r>
              <a:rPr lang="en-US" spc="-4" dirty="0">
                <a:solidFill>
                  <a:srgbClr val="333333"/>
                </a:solidFill>
              </a:rPr>
              <a:t>the </a:t>
            </a:r>
            <a:r>
              <a:rPr lang="en-US" dirty="0">
                <a:solidFill>
                  <a:srgbClr val="333333"/>
                </a:solidFill>
              </a:rPr>
              <a:t>clock cycle, faster </a:t>
            </a:r>
            <a:r>
              <a:rPr lang="en-US" spc="-4" dirty="0">
                <a:solidFill>
                  <a:srgbClr val="333333"/>
                </a:solidFill>
              </a:rPr>
              <a:t>the</a:t>
            </a:r>
            <a:r>
              <a:rPr lang="en-US" spc="-49" dirty="0">
                <a:solidFill>
                  <a:srgbClr val="333333"/>
                </a:solidFill>
              </a:rPr>
              <a:t> </a:t>
            </a:r>
            <a:r>
              <a:rPr lang="en-US" dirty="0">
                <a:solidFill>
                  <a:srgbClr val="333333"/>
                </a:solidFill>
              </a:rPr>
              <a:t>processor</a:t>
            </a:r>
            <a:endParaRPr lang="en-US" dirty="0"/>
          </a:p>
          <a:p>
            <a:pPr marL="468407" marR="4483" indent="-457200" algn="just">
              <a:lnSpc>
                <a:spcPct val="100600"/>
              </a:lnSpc>
              <a:spcBef>
                <a:spcPts val="838"/>
              </a:spcBef>
              <a:buClr>
                <a:schemeClr val="tx1"/>
              </a:buClr>
              <a:tabLst>
                <a:tab pos="318264" algn="l"/>
              </a:tabLst>
            </a:pPr>
            <a:r>
              <a:rPr lang="en-US" spc="-4" dirty="0">
                <a:solidFill>
                  <a:srgbClr val="333333"/>
                </a:solidFill>
              </a:rPr>
              <a:t>Clock </a:t>
            </a:r>
            <a:r>
              <a:rPr lang="en-US" dirty="0">
                <a:solidFill>
                  <a:srgbClr val="333333"/>
                </a:solidFill>
              </a:rPr>
              <a:t>speed </a:t>
            </a:r>
            <a:r>
              <a:rPr lang="en-US" spc="-4" dirty="0">
                <a:solidFill>
                  <a:srgbClr val="333333"/>
                </a:solidFill>
              </a:rPr>
              <a:t>(number </a:t>
            </a:r>
            <a:r>
              <a:rPr lang="en-US" dirty="0">
                <a:solidFill>
                  <a:srgbClr val="333333"/>
                </a:solidFill>
              </a:rPr>
              <a:t>of clock </a:t>
            </a:r>
            <a:r>
              <a:rPr lang="en-US" spc="-4" dirty="0">
                <a:solidFill>
                  <a:srgbClr val="333333"/>
                </a:solidFill>
              </a:rPr>
              <a:t>cycles </a:t>
            </a:r>
            <a:r>
              <a:rPr lang="en-US" dirty="0">
                <a:solidFill>
                  <a:srgbClr val="333333"/>
                </a:solidFill>
              </a:rPr>
              <a:t>per </a:t>
            </a:r>
            <a:r>
              <a:rPr lang="en-US" spc="-4" dirty="0">
                <a:solidFill>
                  <a:srgbClr val="333333"/>
                </a:solidFill>
              </a:rPr>
              <a:t>second) </a:t>
            </a:r>
            <a:r>
              <a:rPr lang="en-US" dirty="0">
                <a:solidFill>
                  <a:srgbClr val="333333"/>
                </a:solidFill>
              </a:rPr>
              <a:t>is  </a:t>
            </a:r>
            <a:r>
              <a:rPr lang="en-US" spc="-4" dirty="0">
                <a:solidFill>
                  <a:srgbClr val="333333"/>
                </a:solidFill>
              </a:rPr>
              <a:t>measured </a:t>
            </a:r>
            <a:r>
              <a:rPr lang="en-US" dirty="0">
                <a:solidFill>
                  <a:srgbClr val="333333"/>
                </a:solidFill>
              </a:rPr>
              <a:t>in </a:t>
            </a:r>
            <a:r>
              <a:rPr lang="en-US" spc="-4" dirty="0">
                <a:solidFill>
                  <a:srgbClr val="333333"/>
                </a:solidFill>
              </a:rPr>
              <a:t>Megahertz (10</a:t>
            </a:r>
            <a:r>
              <a:rPr lang="en-US" spc="-6" baseline="23148" dirty="0">
                <a:solidFill>
                  <a:srgbClr val="333333"/>
                </a:solidFill>
              </a:rPr>
              <a:t>6 </a:t>
            </a:r>
            <a:r>
              <a:rPr lang="en-US" spc="-4" dirty="0">
                <a:solidFill>
                  <a:srgbClr val="333333"/>
                </a:solidFill>
              </a:rPr>
              <a:t>cycles/sec) </a:t>
            </a:r>
            <a:r>
              <a:rPr lang="en-US" dirty="0">
                <a:solidFill>
                  <a:srgbClr val="333333"/>
                </a:solidFill>
              </a:rPr>
              <a:t>or </a:t>
            </a:r>
            <a:r>
              <a:rPr lang="en-US" spc="-4" dirty="0">
                <a:solidFill>
                  <a:srgbClr val="333333"/>
                </a:solidFill>
              </a:rPr>
              <a:t>Gigahertz (10</a:t>
            </a:r>
            <a:r>
              <a:rPr lang="en-US" spc="-6" baseline="23148" dirty="0">
                <a:solidFill>
                  <a:srgbClr val="333333"/>
                </a:solidFill>
              </a:rPr>
              <a:t>9 </a:t>
            </a:r>
            <a:r>
              <a:rPr lang="en-US" sz="1800" spc="-4" dirty="0">
                <a:solidFill>
                  <a:srgbClr val="333333"/>
                </a:solidFill>
              </a:rPr>
              <a:t> </a:t>
            </a:r>
            <a:r>
              <a:rPr lang="en-US" spc="-4" dirty="0">
                <a:solidFill>
                  <a:srgbClr val="333333"/>
                </a:solidFill>
              </a:rPr>
              <a:t>cycles/sec)</a:t>
            </a:r>
            <a:endParaRPr lang="en-US" dirty="0"/>
          </a:p>
          <a:p>
            <a:endParaRPr lang="en-US" dirty="0"/>
          </a:p>
          <a:p>
            <a:endParaRPr lang="x-none" dirty="0"/>
          </a:p>
        </p:txBody>
      </p:sp>
    </p:spTree>
    <p:extLst>
      <p:ext uri="{BB962C8B-B14F-4D97-AF65-F5344CB8AC3E}">
        <p14:creationId xmlns:p14="http://schemas.microsoft.com/office/powerpoint/2010/main" val="2405480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5EE7C2-8788-4B2D-8FE4-4A586BC01A6E}"/>
              </a:ext>
            </a:extLst>
          </p:cNvPr>
          <p:cNvSpPr>
            <a:spLocks noGrp="1"/>
          </p:cNvSpPr>
          <p:nvPr>
            <p:ph type="title"/>
          </p:nvPr>
        </p:nvSpPr>
        <p:spPr/>
        <p:txBody>
          <a:bodyPr/>
          <a:lstStyle/>
          <a:p>
            <a:r>
              <a:rPr lang="en-US" dirty="0"/>
              <a:t>ACTIVITY</a:t>
            </a:r>
            <a:endParaRPr lang="x-none" dirty="0"/>
          </a:p>
        </p:txBody>
      </p:sp>
      <p:sp>
        <p:nvSpPr>
          <p:cNvPr id="3" name="Content Placeholder 2">
            <a:extLst>
              <a:ext uri="{FF2B5EF4-FFF2-40B4-BE49-F238E27FC236}">
                <a16:creationId xmlns:a16="http://schemas.microsoft.com/office/drawing/2014/main" xmlns="" id="{53ABAE1A-354F-41A8-BC42-8B14239AE8D7}"/>
              </a:ext>
            </a:extLst>
          </p:cNvPr>
          <p:cNvSpPr>
            <a:spLocks noGrp="1"/>
          </p:cNvSpPr>
          <p:nvPr>
            <p:ph idx="1"/>
          </p:nvPr>
        </p:nvSpPr>
        <p:spPr/>
        <p:txBody>
          <a:bodyPr>
            <a:normAutofit/>
          </a:bodyPr>
          <a:lstStyle/>
          <a:p>
            <a:r>
              <a:rPr lang="en-US" dirty="0"/>
              <a:t>Develop fetch and execute cycle with instructions, manipulating registers memory and change the state of memory. </a:t>
            </a:r>
          </a:p>
          <a:p>
            <a:r>
              <a:rPr lang="en-US" dirty="0">
                <a:solidFill>
                  <a:srgbClr val="000000"/>
                </a:solidFill>
              </a:rPr>
              <a:t>ADD X, Y, Z</a:t>
            </a:r>
          </a:p>
          <a:p>
            <a:pPr marL="0" indent="0">
              <a:buNone/>
            </a:pPr>
            <a:r>
              <a:rPr lang="en-US" dirty="0">
                <a:solidFill>
                  <a:srgbClr val="000000"/>
                </a:solidFill>
              </a:rPr>
              <a:t>X=27</a:t>
            </a:r>
          </a:p>
          <a:p>
            <a:pPr marL="0" indent="0">
              <a:buNone/>
            </a:pPr>
            <a:r>
              <a:rPr lang="en-US" dirty="0">
                <a:solidFill>
                  <a:srgbClr val="000000"/>
                </a:solidFill>
              </a:rPr>
              <a:t>Y=56</a:t>
            </a:r>
          </a:p>
          <a:p>
            <a:pPr marL="0" indent="0">
              <a:buNone/>
            </a:pPr>
            <a:r>
              <a:rPr lang="en-US" dirty="0">
                <a:solidFill>
                  <a:srgbClr val="000000"/>
                </a:solidFill>
              </a:rPr>
              <a:t>Z=60</a:t>
            </a:r>
          </a:p>
          <a:p>
            <a:pPr marL="0" indent="0">
              <a:buNone/>
            </a:pPr>
            <a:r>
              <a:rPr lang="en-US" dirty="0">
                <a:solidFill>
                  <a:srgbClr val="000000"/>
                </a:solidFill>
              </a:rPr>
              <a:t>!! Convert XYZ in to 8bit address</a:t>
            </a:r>
          </a:p>
        </p:txBody>
      </p:sp>
    </p:spTree>
    <p:extLst>
      <p:ext uri="{BB962C8B-B14F-4D97-AF65-F5344CB8AC3E}">
        <p14:creationId xmlns:p14="http://schemas.microsoft.com/office/powerpoint/2010/main" val="119680372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A1211B-22CC-4E8C-A8E3-D53F66750C02}"/>
              </a:ext>
            </a:extLst>
          </p:cNvPr>
          <p:cNvSpPr>
            <a:spLocks noGrp="1"/>
          </p:cNvSpPr>
          <p:nvPr>
            <p:ph type="title"/>
          </p:nvPr>
        </p:nvSpPr>
        <p:spPr/>
        <p:txBody>
          <a:bodyPr/>
          <a:lstStyle/>
          <a:p>
            <a:r>
              <a:rPr lang="en-US" dirty="0"/>
              <a:t>Recommended</a:t>
            </a:r>
            <a:endParaRPr lang="x-none" dirty="0"/>
          </a:p>
        </p:txBody>
      </p:sp>
      <p:sp>
        <p:nvSpPr>
          <p:cNvPr id="3" name="Content Placeholder 2">
            <a:extLst>
              <a:ext uri="{FF2B5EF4-FFF2-40B4-BE49-F238E27FC236}">
                <a16:creationId xmlns:a16="http://schemas.microsoft.com/office/drawing/2014/main" xmlns="" id="{949AE23F-165B-41E7-A795-F2E4B9537CCB}"/>
              </a:ext>
            </a:extLst>
          </p:cNvPr>
          <p:cNvSpPr>
            <a:spLocks noGrp="1"/>
          </p:cNvSpPr>
          <p:nvPr>
            <p:ph idx="1"/>
          </p:nvPr>
        </p:nvSpPr>
        <p:spPr/>
        <p:txBody>
          <a:bodyPr/>
          <a:lstStyle/>
          <a:p>
            <a:r>
              <a:rPr lang="en-US" dirty="0">
                <a:hlinkClick r:id="rId2"/>
              </a:rPr>
              <a:t>https://www.futurelearn.com/courses/how-computers-work/0/steps/49284</a:t>
            </a:r>
            <a:endParaRPr lang="x-none" dirty="0"/>
          </a:p>
        </p:txBody>
      </p:sp>
    </p:spTree>
    <p:extLst>
      <p:ext uri="{BB962C8B-B14F-4D97-AF65-F5344CB8AC3E}">
        <p14:creationId xmlns:p14="http://schemas.microsoft.com/office/powerpoint/2010/main" val="342275614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4B23EB71-1E20-4D30-BDA8-B9128D4AABD9}"/>
              </a:ext>
            </a:extLst>
          </p:cNvPr>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169430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5339</TotalTime>
  <Words>2757</Words>
  <Application>Microsoft Office PowerPoint</Application>
  <PresentationFormat>Custom</PresentationFormat>
  <Paragraphs>463</Paragraphs>
  <Slides>74</Slides>
  <Notes>17</Notes>
  <HiddenSlides>7</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Apothecary</vt:lpstr>
      <vt:lpstr>PowerPoint Presentation</vt:lpstr>
      <vt:lpstr>Computer Organization</vt:lpstr>
      <vt:lpstr>Computer Organization</vt:lpstr>
      <vt:lpstr>Parts of the Computer System</vt:lpstr>
      <vt:lpstr>Parts of the Computer System</vt:lpstr>
      <vt:lpstr>1.Hardware</vt:lpstr>
      <vt:lpstr>Essential Computer Hardware</vt:lpstr>
      <vt:lpstr>Inside the box</vt:lpstr>
      <vt:lpstr>Mother-board</vt:lpstr>
      <vt:lpstr>Central Processing Unit</vt:lpstr>
      <vt:lpstr>Arithmetic Logic Unit- ALU</vt:lpstr>
      <vt:lpstr>How an ALU Works</vt:lpstr>
      <vt:lpstr>Control Unit (CU)</vt:lpstr>
      <vt:lpstr>RAM&amp;ROM</vt:lpstr>
      <vt:lpstr>Storage devices</vt:lpstr>
      <vt:lpstr>I/O devices</vt:lpstr>
      <vt:lpstr>Software</vt:lpstr>
      <vt:lpstr>Software</vt:lpstr>
      <vt:lpstr>Basic organization of computer system</vt:lpstr>
      <vt:lpstr>Basic organization of computer system</vt:lpstr>
      <vt:lpstr>Von Neumann Basic Structure</vt:lpstr>
      <vt:lpstr>PowerPoint Presentation</vt:lpstr>
      <vt:lpstr>PROCESSOR AND MEMORY</vt:lpstr>
      <vt:lpstr>Basic Processor &amp; Memory Architecture  of a Computer System</vt:lpstr>
      <vt:lpstr>Computer BUS</vt:lpstr>
      <vt:lpstr>PowerPoint Presentation</vt:lpstr>
      <vt:lpstr>PowerPoint Presentation</vt:lpstr>
      <vt:lpstr>PowerPoint Presentation</vt:lpstr>
      <vt:lpstr>Instruction Set</vt:lpstr>
      <vt:lpstr>Registers</vt:lpstr>
      <vt:lpstr>CPU Registers</vt:lpstr>
      <vt:lpstr>CPU Registers</vt:lpstr>
      <vt:lpstr>Fetch decode execute cycle</vt:lpstr>
      <vt:lpstr>Fetch decode execute cycle</vt:lpstr>
      <vt:lpstr>The Fetch/Execute Cycle</vt:lpstr>
      <vt:lpstr>A Five-Step Cycle</vt:lpstr>
      <vt:lpstr>A Five-Step Cycle</vt:lpstr>
      <vt:lpstr>ADD 800, 428, 884</vt:lpstr>
      <vt:lpstr>Instruction Fetch (IF)</vt:lpstr>
      <vt:lpstr>IF</vt:lpstr>
      <vt:lpstr>Instruction Decode (ID)</vt:lpstr>
      <vt:lpstr>ID</vt:lpstr>
      <vt:lpstr>Data Fetch (DF)</vt:lpstr>
      <vt:lpstr>DF</vt:lpstr>
      <vt:lpstr>Instruction Execution (EX)</vt:lpstr>
      <vt:lpstr>EX</vt:lpstr>
      <vt:lpstr>Return Result (RR)</vt:lpstr>
      <vt:lpstr>RR</vt:lpstr>
      <vt:lpstr>Cycling the Fetch/Execute Cycle</vt:lpstr>
      <vt:lpstr>Many, Many Simple Operations</vt:lpstr>
      <vt:lpstr>Processor and Memory</vt:lpstr>
      <vt:lpstr>Memory</vt:lpstr>
      <vt:lpstr>Memory</vt:lpstr>
      <vt:lpstr>Byte-Size Memory Location</vt:lpstr>
      <vt:lpstr>Byte-Size Memory Location</vt:lpstr>
      <vt:lpstr>RAM</vt:lpstr>
      <vt:lpstr>Storage Evaluation Criteria</vt:lpstr>
      <vt:lpstr>Memory Capacity</vt:lpstr>
      <vt:lpstr>Control unit-CU</vt:lpstr>
      <vt:lpstr>Task</vt:lpstr>
      <vt:lpstr>task</vt:lpstr>
      <vt:lpstr>Storage Hierarchy</vt:lpstr>
      <vt:lpstr>The Program Counter (PC)</vt:lpstr>
      <vt:lpstr>The Program Counter</vt:lpstr>
      <vt:lpstr>The Computer Clock</vt:lpstr>
      <vt:lpstr>The Computer Clock</vt:lpstr>
      <vt:lpstr>Standard Prefixes</vt:lpstr>
      <vt:lpstr>One Cycle per Clock Tick</vt:lpstr>
      <vt:lpstr>Computer’s View of Software</vt:lpstr>
      <vt:lpstr>Computer’s View of Software</vt:lpstr>
      <vt:lpstr>Processor Speed</vt:lpstr>
      <vt:lpstr>ACTIVITY</vt:lpstr>
      <vt:lpstr>Recommended</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TEHREEM IFTIKHAR</dc:creator>
  <cp:lastModifiedBy>Waqas</cp:lastModifiedBy>
  <cp:revision>459</cp:revision>
  <dcterms:created xsi:type="dcterms:W3CDTF">2019-08-18T10:36:22Z</dcterms:created>
  <dcterms:modified xsi:type="dcterms:W3CDTF">2019-09-03T08:48:22Z</dcterms:modified>
</cp:coreProperties>
</file>