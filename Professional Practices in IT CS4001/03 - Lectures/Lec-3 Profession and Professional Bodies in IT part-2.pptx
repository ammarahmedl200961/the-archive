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5" r:id="rId21"/>
    <p:sldId id="276" r:id="rId22"/>
    <p:sldId id="277" r:id="rId23"/>
    <p:sldId id="279" r:id="rId24"/>
    <p:sldId id="280" r:id="rId25"/>
    <p:sldId id="281" r:id="rId26"/>
    <p:sldId id="282" r:id="rId27"/>
    <p:sldId id="283" r:id="rId28"/>
    <p:sldId id="284" r:id="rId2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2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ED58A-E4E7-28CE-30CF-A8C1DEED3E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1EB278C0-267E-F3EB-D111-E335B1298B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6519C1CC-94C0-BCE9-7F6C-12224A01F287}"/>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5" name="Footer Placeholder 4">
            <a:extLst>
              <a:ext uri="{FF2B5EF4-FFF2-40B4-BE49-F238E27FC236}">
                <a16:creationId xmlns:a16="http://schemas.microsoft.com/office/drawing/2014/main" id="{DCB6D2E9-4B13-98F6-6A63-29E639D7E24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2EAD0541-2456-BBC0-200B-3B9696A392FA}"/>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1559496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82091-D123-57AA-2DB3-9011AF59968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68A9C451-47C8-687D-C395-4F845F4602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1B35B-71FE-D1A2-03D5-95FB5D3FEE14}"/>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5" name="Footer Placeholder 4">
            <a:extLst>
              <a:ext uri="{FF2B5EF4-FFF2-40B4-BE49-F238E27FC236}">
                <a16:creationId xmlns:a16="http://schemas.microsoft.com/office/drawing/2014/main" id="{20A2DC8A-9209-6215-853A-1C59A2469B3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6085BE1-A222-DF20-EB07-A03A7130C53E}"/>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234522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2CC46-7A86-58A2-BBD3-27DBB46C48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ED248521-509D-746A-21BE-AC4C79EB7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8F9499F-E885-883A-6CDA-0EEF5742B6E5}"/>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5" name="Footer Placeholder 4">
            <a:extLst>
              <a:ext uri="{FF2B5EF4-FFF2-40B4-BE49-F238E27FC236}">
                <a16:creationId xmlns:a16="http://schemas.microsoft.com/office/drawing/2014/main" id="{D1953153-40B2-1D59-3EC6-5C98431E08C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EE3EDD65-1521-61FA-1329-4B70FB3AC0DA}"/>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616245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AE4C0-4995-45F2-07F2-0EEAE88CE40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016EFD5D-3F48-8C13-BBBB-B2B8BA33FAD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F3A3889D-9F02-005A-A1C5-DF5739EC53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9260FDA1-D390-F2AB-BD85-D6BE8ADBA694}"/>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6" name="Footer Placeholder 5">
            <a:extLst>
              <a:ext uri="{FF2B5EF4-FFF2-40B4-BE49-F238E27FC236}">
                <a16:creationId xmlns:a16="http://schemas.microsoft.com/office/drawing/2014/main" id="{2E48C4C6-7E8D-935B-60CE-933057404A1D}"/>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250A70D-E8DF-9700-F83C-3C6139874947}"/>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4824379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4673C-9284-945E-3CEF-63727F0A5B77}"/>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95FF9B3D-18AF-EA4F-8991-1BCF418E2E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B4346F-0274-6271-55B9-2A610A6FCCA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FF291D38-5CEB-837E-0CFB-0E60B26789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6D9EDC-A3B4-927B-D261-C064C3480BB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1DF8091F-6637-F8B8-0A41-1C68194328C6}"/>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8" name="Footer Placeholder 7">
            <a:extLst>
              <a:ext uri="{FF2B5EF4-FFF2-40B4-BE49-F238E27FC236}">
                <a16:creationId xmlns:a16="http://schemas.microsoft.com/office/drawing/2014/main" id="{5312862E-5F4A-B816-9793-B50ADA6D9807}"/>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4B6AFEFC-78F5-C40F-CC3B-8BC836930C1A}"/>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684523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E205D-CA5C-2E71-047F-B255F2CDA322}"/>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4ED8BEB-F70D-DAFB-065E-79084A767E09}"/>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4" name="Footer Placeholder 3">
            <a:extLst>
              <a:ext uri="{FF2B5EF4-FFF2-40B4-BE49-F238E27FC236}">
                <a16:creationId xmlns:a16="http://schemas.microsoft.com/office/drawing/2014/main" id="{244BD391-C2B3-F392-EFE1-A0A6143D949E}"/>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C47BBEFB-393D-383B-518B-C94915D89580}"/>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2891958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B87132-2ECB-145F-5714-C8E92208C489}"/>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3" name="Footer Placeholder 2">
            <a:extLst>
              <a:ext uri="{FF2B5EF4-FFF2-40B4-BE49-F238E27FC236}">
                <a16:creationId xmlns:a16="http://schemas.microsoft.com/office/drawing/2014/main" id="{62CCD92B-B86E-EBD9-03D5-ED14ADA26DFD}"/>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CFD65B8F-7251-BF00-8EE1-DA699AFDBF05}"/>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651190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ED56A-AD5B-0454-40D8-C6F83EEEF9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3B871959-5BE0-327D-6808-F71BAD859F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AD6B6C49-6979-35C9-B7FA-9C7975B98F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52BF6B-F52B-568D-82DF-65C2F75D3757}"/>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6" name="Footer Placeholder 5">
            <a:extLst>
              <a:ext uri="{FF2B5EF4-FFF2-40B4-BE49-F238E27FC236}">
                <a16:creationId xmlns:a16="http://schemas.microsoft.com/office/drawing/2014/main" id="{6805C32C-268B-DD03-24CC-2A9AB25EBAE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2E412A56-186A-CC43-DF7D-810F0A403109}"/>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3245671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E04EC-FCC7-3EAF-18F1-E49B2F4040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7B4C238C-DDBA-B96A-102E-049D4D2199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57F82112-A56B-FB09-CAFE-6490E8725C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50CF3B-F93F-B51A-142A-4A9AAD7A1CBE}"/>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6" name="Footer Placeholder 5">
            <a:extLst>
              <a:ext uri="{FF2B5EF4-FFF2-40B4-BE49-F238E27FC236}">
                <a16:creationId xmlns:a16="http://schemas.microsoft.com/office/drawing/2014/main" id="{72EC2D31-6836-DDCC-FE5E-043C23A0A08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79CC50C1-E814-F596-101F-6DEE982375B3}"/>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4186512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BAF47-147C-699F-5650-D4F1D9EC01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C6243FE-5FD2-53BD-F90A-B730320FC9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A67404-F7F5-E191-08F6-AB262B8D4ED4}"/>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5" name="Footer Placeholder 4">
            <a:extLst>
              <a:ext uri="{FF2B5EF4-FFF2-40B4-BE49-F238E27FC236}">
                <a16:creationId xmlns:a16="http://schemas.microsoft.com/office/drawing/2014/main" id="{1C7A0671-90D8-4F0F-0F6E-B17AD0C047D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A4FDB1-8E7F-5971-FED3-D3B7E5B1DBC6}"/>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2752433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3BB1AD-E31B-689E-63FA-01990CC449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070B5E7-74A9-A140-8D1A-D0FE85948B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378B012-27B0-06D6-4E2E-B88CECC4B8A9}"/>
              </a:ext>
            </a:extLst>
          </p:cNvPr>
          <p:cNvSpPr>
            <a:spLocks noGrp="1"/>
          </p:cNvSpPr>
          <p:nvPr>
            <p:ph type="dt" sz="half" idx="10"/>
          </p:nvPr>
        </p:nvSpPr>
        <p:spPr/>
        <p:txBody>
          <a:bodyPr/>
          <a:lstStyle/>
          <a:p>
            <a:fld id="{F728FAB0-71FC-441C-8C4C-18BC4C57197C}" type="datetimeFigureOut">
              <a:rPr lang="en-PK" smtClean="0"/>
              <a:t>26/08/2024</a:t>
            </a:fld>
            <a:endParaRPr lang="en-PK"/>
          </a:p>
        </p:txBody>
      </p:sp>
      <p:sp>
        <p:nvSpPr>
          <p:cNvPr id="5" name="Footer Placeholder 4">
            <a:extLst>
              <a:ext uri="{FF2B5EF4-FFF2-40B4-BE49-F238E27FC236}">
                <a16:creationId xmlns:a16="http://schemas.microsoft.com/office/drawing/2014/main" id="{DA31615E-79A8-4B44-FD17-78ACE61EAD5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AA130D4-6359-2925-69AB-C2779FFE21B5}"/>
              </a:ext>
            </a:extLst>
          </p:cNvPr>
          <p:cNvSpPr>
            <a:spLocks noGrp="1"/>
          </p:cNvSpPr>
          <p:nvPr>
            <p:ph type="sldNum" sz="quarter" idx="12"/>
          </p:nvPr>
        </p:nvSpPr>
        <p:spPr/>
        <p:txBody>
          <a:bodyPr/>
          <a:lstStyle/>
          <a:p>
            <a:fld id="{EF1C2B19-7080-4BD3-8283-66B1B0485E5D}" type="slidenum">
              <a:rPr lang="en-PK" smtClean="0"/>
              <a:t>‹#›</a:t>
            </a:fld>
            <a:endParaRPr lang="en-PK"/>
          </a:p>
        </p:txBody>
      </p:sp>
    </p:spTree>
    <p:extLst>
      <p:ext uri="{BB962C8B-B14F-4D97-AF65-F5344CB8AC3E}">
        <p14:creationId xmlns:p14="http://schemas.microsoft.com/office/powerpoint/2010/main" val="2884633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605A20-5C5E-D92E-2456-4FEEDE4E15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D34B69A-620F-49A6-5D5C-C6BCFF82BC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E3F580DE-AF52-0F3B-5169-3459EB43E3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28FAB0-71FC-441C-8C4C-18BC4C57197C}" type="datetimeFigureOut">
              <a:rPr lang="en-PK" smtClean="0"/>
              <a:t>26/08/2024</a:t>
            </a:fld>
            <a:endParaRPr lang="en-PK"/>
          </a:p>
        </p:txBody>
      </p:sp>
      <p:sp>
        <p:nvSpPr>
          <p:cNvPr id="5" name="Footer Placeholder 4">
            <a:extLst>
              <a:ext uri="{FF2B5EF4-FFF2-40B4-BE49-F238E27FC236}">
                <a16:creationId xmlns:a16="http://schemas.microsoft.com/office/drawing/2014/main" id="{2E37EB68-FD2E-7770-0E7F-4853E33AC5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59E52A62-37A9-01AE-CE7C-1ECE8487DC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1C2B19-7080-4BD3-8283-66B1B0485E5D}" type="slidenum">
              <a:rPr lang="en-PK" smtClean="0"/>
              <a:t>‹#›</a:t>
            </a:fld>
            <a:endParaRPr lang="en-PK"/>
          </a:p>
        </p:txBody>
      </p:sp>
    </p:spTree>
    <p:extLst>
      <p:ext uri="{BB962C8B-B14F-4D97-AF65-F5344CB8AC3E}">
        <p14:creationId xmlns:p14="http://schemas.microsoft.com/office/powerpoint/2010/main" val="35130032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hyperlink" Target="https://www.acm.org/code-of-ethics#h-1.6-respect-privacy." TargetMode="External"/><Relationship Id="rId3" Type="http://schemas.openxmlformats.org/officeDocument/2006/relationships/hyperlink" Target="https://www.acm.org/code-of-ethics#h-1.1-contribute-to-society-and-to-human-well-being,-acknowledging-that-all-people-are-stakeholders-in-computing." TargetMode="External"/><Relationship Id="rId7" Type="http://schemas.openxmlformats.org/officeDocument/2006/relationships/hyperlink" Target="https://www.acm.org/code-of-ethics#h-1.5-respect-the-work-required-to-produce-new-ideas,-inventions,-creative-works,-and-computing-artifacts." TargetMode="External"/><Relationship Id="rId2" Type="http://schemas.openxmlformats.org/officeDocument/2006/relationships/hyperlink" Target="https://www.acm.org/code-of-ethics#h-1.-general-ethical-principles." TargetMode="External"/><Relationship Id="rId1" Type="http://schemas.openxmlformats.org/officeDocument/2006/relationships/slideLayout" Target="../slideLayouts/slideLayout2.xml"/><Relationship Id="rId6" Type="http://schemas.openxmlformats.org/officeDocument/2006/relationships/hyperlink" Target="https://www.acm.org/code-of-ethics#h-1.4-be-fair-and-take-action-not-to-discriminate." TargetMode="External"/><Relationship Id="rId5" Type="http://schemas.openxmlformats.org/officeDocument/2006/relationships/hyperlink" Target="https://www.acm.org/code-of-ethics#h-1.3-be-honest-and-trustworthy." TargetMode="External"/><Relationship Id="rId4" Type="http://schemas.openxmlformats.org/officeDocument/2006/relationships/hyperlink" Target="https://www.acm.org/code-of-ethics#h-1.2-avoid-harm." TargetMode="External"/><Relationship Id="rId9" Type="http://schemas.openxmlformats.org/officeDocument/2006/relationships/hyperlink" Target="https://www.acm.org/code-of-ethics#h-1.7-honor-confidentiality." TargetMode="External"/></Relationships>
</file>

<file path=ppt/slides/_rels/slide23.xml.rels><?xml version="1.0" encoding="UTF-8" standalone="yes"?>
<Relationships xmlns="http://schemas.openxmlformats.org/package/2006/relationships"><Relationship Id="rId8" Type="http://schemas.openxmlformats.org/officeDocument/2006/relationships/hyperlink" Target="https://www.acm.org/code-of-ethics#h-2.6-perform-work-only-in-areas-of-competence." TargetMode="External"/><Relationship Id="rId3" Type="http://schemas.openxmlformats.org/officeDocument/2006/relationships/hyperlink" Target="https://www.acm.org/code-of-ethics#h-2.1-strive-to-achieve-high-quality-in-both-the-processes-and-products-of-professional-work." TargetMode="External"/><Relationship Id="rId7" Type="http://schemas.openxmlformats.org/officeDocument/2006/relationships/hyperlink" Target="https://www.acm.org/code-of-ethics#h-2.5-give-comprehensive-and-thorough-evaluations-of-computer-systems-and-their-impacts,-including-analysis-of-possible-risks." TargetMode="External"/><Relationship Id="rId2" Type="http://schemas.openxmlformats.org/officeDocument/2006/relationships/hyperlink" Target="https://www.acm.org/code-of-ethics#h-2.-professional-responsibilities." TargetMode="External"/><Relationship Id="rId1" Type="http://schemas.openxmlformats.org/officeDocument/2006/relationships/slideLayout" Target="../slideLayouts/slideLayout2.xml"/><Relationship Id="rId6" Type="http://schemas.openxmlformats.org/officeDocument/2006/relationships/hyperlink" Target="https://www.acm.org/code-of-ethics#h-2.4-accept-and-provide-appropriate-professional-review." TargetMode="External"/><Relationship Id="rId11" Type="http://schemas.openxmlformats.org/officeDocument/2006/relationships/hyperlink" Target="https://www.acm.org/code-of-ethics#h-2.9-design-and-implement-systems-that-are-robustly-and-usably-secure." TargetMode="External"/><Relationship Id="rId5" Type="http://schemas.openxmlformats.org/officeDocument/2006/relationships/hyperlink" Target="https://www.acm.org/code-of-ethics#h-2.3-know-and-respect-existing-rules-pertaining-to-professional-work." TargetMode="External"/><Relationship Id="rId10" Type="http://schemas.openxmlformats.org/officeDocument/2006/relationships/hyperlink" Target="https://www.acm.org/code-of-ethics#h-2.8-access-computing-and-communication-resources-only-when-authorized-or-when-compelled-by-the-public-good." TargetMode="External"/><Relationship Id="rId4" Type="http://schemas.openxmlformats.org/officeDocument/2006/relationships/hyperlink" Target="https://www.acm.org/code-of-ethics#h-2.2-maintain-high-standards-of-professional-competence,-conduct,-and-ethical-practice." TargetMode="External"/><Relationship Id="rId9" Type="http://schemas.openxmlformats.org/officeDocument/2006/relationships/hyperlink" Target="https://www.acm.org/code-of-ethics#h-2.7-foster-public-awareness-and-understanding-of-computing,-related-technologies,-and-their-consequences." TargetMode="External"/></Relationships>
</file>

<file path=ppt/slides/_rels/slide24.xml.rels><?xml version="1.0" encoding="UTF-8" standalone="yes"?>
<Relationships xmlns="http://schemas.openxmlformats.org/package/2006/relationships"><Relationship Id="rId8" Type="http://schemas.openxmlformats.org/officeDocument/2006/relationships/hyperlink" Target="https://www.acm.org/code-of-ethics#h-3.6-use-care-when-modifying-or-retiring-systems." TargetMode="External"/><Relationship Id="rId3" Type="http://schemas.openxmlformats.org/officeDocument/2006/relationships/hyperlink" Target="https://www.acm.org/code-of-ethics#h-3.1-ensure-that-the-public-good-is-the-central-concern-during-all-professional-computing-work." TargetMode="External"/><Relationship Id="rId7" Type="http://schemas.openxmlformats.org/officeDocument/2006/relationships/hyperlink" Target="https://www.acm.org/code-of-ethics#h-3.5-create-opportunities-for-members-of-the-organization-or-group-to-grow-as-professionals." TargetMode="External"/><Relationship Id="rId12" Type="http://schemas.openxmlformats.org/officeDocument/2006/relationships/hyperlink" Target="https://www.acm.org/code-of-ethics#h-4.2-treat-violations-of-the-code-as-inconsistent-with-membership-in-the-acm." TargetMode="External"/><Relationship Id="rId2" Type="http://schemas.openxmlformats.org/officeDocument/2006/relationships/hyperlink" Target="https://www.acm.org/code-of-ethics#h-3.-professional-leadership-principles." TargetMode="External"/><Relationship Id="rId1" Type="http://schemas.openxmlformats.org/officeDocument/2006/relationships/slideLayout" Target="../slideLayouts/slideLayout2.xml"/><Relationship Id="rId6" Type="http://schemas.openxmlformats.org/officeDocument/2006/relationships/hyperlink" Target="https://www.acm.org/code-of-ethics#h-3.4-articulate,-apply,-and-support-policies-and-processes-that-reflect-the-principles-of-the-code." TargetMode="External"/><Relationship Id="rId11" Type="http://schemas.openxmlformats.org/officeDocument/2006/relationships/hyperlink" Target="https://www.acm.org/code-of-ethics#h-4.1-uphold,-promote,-and-respect-the-principles-of-the-code." TargetMode="External"/><Relationship Id="rId5" Type="http://schemas.openxmlformats.org/officeDocument/2006/relationships/hyperlink" Target="https://www.acm.org/code-of-ethics#h-3.3-manage-personnel-and-resources-to-enhance-the-quality-of-working-life." TargetMode="External"/><Relationship Id="rId10" Type="http://schemas.openxmlformats.org/officeDocument/2006/relationships/hyperlink" Target="https://www.acm.org/code-of-ethics#h-4.-compliance-with-the-code." TargetMode="External"/><Relationship Id="rId4" Type="http://schemas.openxmlformats.org/officeDocument/2006/relationships/hyperlink" Target="https://www.acm.org/code-of-ethics#h-3.2-articulate,-encourage-acceptance-of,-and-evaluate-fulfillment-of-social-responsibilities-by-members-of-the-organization-or-group." TargetMode="External"/><Relationship Id="rId9" Type="http://schemas.openxmlformats.org/officeDocument/2006/relationships/hyperlink" Target="https://www.acm.org/code-of-ethics#h-3.7-recognize-and-take-special-care-of-systems-that-become-integrated-into-the-infrastructure-of-society."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8365-CDE9-3030-8A73-387FA41C9A66}"/>
              </a:ext>
            </a:extLst>
          </p:cNvPr>
          <p:cNvSpPr>
            <a:spLocks noGrp="1"/>
          </p:cNvSpPr>
          <p:nvPr>
            <p:ph type="ctrTitle"/>
          </p:nvPr>
        </p:nvSpPr>
        <p:spPr/>
        <p:txBody>
          <a:bodyPr>
            <a:normAutofit/>
          </a:bodyPr>
          <a:lstStyle/>
          <a:p>
            <a:r>
              <a:rPr lang="en-US" sz="8000" b="1" dirty="0"/>
              <a:t>Profession and Professional Bodies</a:t>
            </a:r>
            <a:endParaRPr lang="en-PK" sz="8000" b="1" dirty="0"/>
          </a:p>
        </p:txBody>
      </p:sp>
      <p:sp>
        <p:nvSpPr>
          <p:cNvPr id="3" name="Subtitle 2">
            <a:extLst>
              <a:ext uri="{FF2B5EF4-FFF2-40B4-BE49-F238E27FC236}">
                <a16:creationId xmlns:a16="http://schemas.microsoft.com/office/drawing/2014/main" id="{C1C98120-1215-F422-3830-65B27598141F}"/>
              </a:ext>
            </a:extLst>
          </p:cNvPr>
          <p:cNvSpPr>
            <a:spLocks noGrp="1"/>
          </p:cNvSpPr>
          <p:nvPr>
            <p:ph type="subTitle" idx="1"/>
          </p:nvPr>
        </p:nvSpPr>
        <p:spPr/>
        <p:txBody>
          <a:bodyPr/>
          <a:lstStyle/>
          <a:p>
            <a:endParaRPr lang="en-US" dirty="0"/>
          </a:p>
          <a:p>
            <a:r>
              <a:rPr lang="en-US" sz="4800" b="1" dirty="0"/>
              <a:t>Lecture - 3</a:t>
            </a:r>
            <a:endParaRPr lang="en-PK" sz="4800" b="1" dirty="0"/>
          </a:p>
        </p:txBody>
      </p:sp>
    </p:spTree>
    <p:extLst>
      <p:ext uri="{BB962C8B-B14F-4D97-AF65-F5344CB8AC3E}">
        <p14:creationId xmlns:p14="http://schemas.microsoft.com/office/powerpoint/2010/main" val="1897766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41DDC-C928-E72A-8455-1F3FB57CA4AD}"/>
              </a:ext>
            </a:extLst>
          </p:cNvPr>
          <p:cNvSpPr>
            <a:spLocks noGrp="1"/>
          </p:cNvSpPr>
          <p:nvPr>
            <p:ph type="title"/>
          </p:nvPr>
        </p:nvSpPr>
        <p:spPr>
          <a:xfrm>
            <a:off x="838200" y="365126"/>
            <a:ext cx="10515600" cy="315912"/>
          </a:xfrm>
        </p:spPr>
        <p:txBody>
          <a:bodyPr>
            <a:normAutofit fontScale="90000"/>
          </a:bodyPr>
          <a:lstStyle/>
          <a:p>
            <a:endParaRPr lang="en-PK" dirty="0"/>
          </a:p>
        </p:txBody>
      </p:sp>
      <p:sp>
        <p:nvSpPr>
          <p:cNvPr id="3" name="Content Placeholder 2">
            <a:extLst>
              <a:ext uri="{FF2B5EF4-FFF2-40B4-BE49-F238E27FC236}">
                <a16:creationId xmlns:a16="http://schemas.microsoft.com/office/drawing/2014/main" id="{D568771A-F79F-D709-6886-F0F5AFF4EDD7}"/>
              </a:ext>
            </a:extLst>
          </p:cNvPr>
          <p:cNvSpPr>
            <a:spLocks noGrp="1"/>
          </p:cNvSpPr>
          <p:nvPr>
            <p:ph idx="1"/>
          </p:nvPr>
        </p:nvSpPr>
        <p:spPr>
          <a:xfrm>
            <a:off x="924560" y="1259840"/>
            <a:ext cx="10429240" cy="4917123"/>
          </a:xfrm>
        </p:spPr>
        <p:txBody>
          <a:bodyPr>
            <a:normAutofit lnSpcReduction="10000"/>
          </a:bodyPr>
          <a:lstStyle/>
          <a:p>
            <a:r>
              <a:rPr lang="en-US" dirty="0"/>
              <a:t>Professions: Employment in the law, medicine, military, etc.</a:t>
            </a:r>
          </a:p>
          <a:p>
            <a:r>
              <a:rPr lang="en-US" dirty="0"/>
              <a:t>Collective body</a:t>
            </a:r>
          </a:p>
          <a:p>
            <a:pPr algn="l"/>
            <a:r>
              <a:rPr lang="en-US" b="0" i="0" u="none" strike="noStrike" baseline="0" dirty="0">
                <a:latin typeface="TimesNewRomanPSMT"/>
              </a:rPr>
              <a:t>At least within the UK, three characteristics become apparent:</a:t>
            </a:r>
          </a:p>
          <a:p>
            <a:pPr marL="0" indent="0" algn="l">
              <a:buNone/>
            </a:pPr>
            <a:r>
              <a:rPr lang="en-US" b="0" i="0" u="none" strike="noStrike" baseline="0" dirty="0">
                <a:latin typeface="TimesNewRomanPSMT"/>
              </a:rPr>
              <a:t>	• the collective body controls entry to the profession;</a:t>
            </a:r>
          </a:p>
          <a:p>
            <a:pPr marL="0" indent="0" algn="l">
              <a:buNone/>
            </a:pPr>
            <a:r>
              <a:rPr lang="en-US" b="0" i="0" u="none" strike="noStrike" baseline="0" dirty="0">
                <a:latin typeface="TimesNewRomanPSMT"/>
              </a:rPr>
              <a:t>	• the collective body is self governing and self regulatory, in the 	sense that it establishes and enforces  	a code of conduct on its 	members;</a:t>
            </a:r>
          </a:p>
          <a:p>
            <a:pPr marL="0" indent="0" algn="l">
              <a:buNone/>
            </a:pPr>
            <a:r>
              <a:rPr lang="en-US" b="0" i="0" u="none" strike="noStrike" baseline="0" dirty="0">
                <a:latin typeface="TimesNewRomanPSMT"/>
              </a:rPr>
              <a:t>	• the collective body is established either by a Royal Charter or 	by statute (Act of Parliament) which 	defines the extent of its 	authority and requires it to undertake certain duties and 	responsibilities.</a:t>
            </a:r>
            <a:endParaRPr lang="en-PK" sz="4000" dirty="0"/>
          </a:p>
        </p:txBody>
      </p:sp>
    </p:spTree>
    <p:extLst>
      <p:ext uri="{BB962C8B-B14F-4D97-AF65-F5344CB8AC3E}">
        <p14:creationId xmlns:p14="http://schemas.microsoft.com/office/powerpoint/2010/main" val="2271520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CC39-57D1-E423-0741-0F0F375E1077}"/>
              </a:ext>
            </a:extLst>
          </p:cNvPr>
          <p:cNvSpPr>
            <a:spLocks noGrp="1"/>
          </p:cNvSpPr>
          <p:nvPr>
            <p:ph type="title"/>
          </p:nvPr>
        </p:nvSpPr>
        <p:spPr>
          <a:xfrm>
            <a:off x="838200" y="365126"/>
            <a:ext cx="10515600" cy="315912"/>
          </a:xfrm>
        </p:spPr>
        <p:txBody>
          <a:bodyPr>
            <a:normAutofit fontScale="90000"/>
          </a:bodyPr>
          <a:lstStyle/>
          <a:p>
            <a:endParaRPr lang="en-PK" dirty="0"/>
          </a:p>
        </p:txBody>
      </p:sp>
      <p:sp>
        <p:nvSpPr>
          <p:cNvPr id="3" name="Content Placeholder 2">
            <a:extLst>
              <a:ext uri="{FF2B5EF4-FFF2-40B4-BE49-F238E27FC236}">
                <a16:creationId xmlns:a16="http://schemas.microsoft.com/office/drawing/2014/main" id="{D679D77B-E2DE-EC79-C9A6-C08A590C41F2}"/>
              </a:ext>
            </a:extLst>
          </p:cNvPr>
          <p:cNvSpPr>
            <a:spLocks noGrp="1"/>
          </p:cNvSpPr>
          <p:nvPr>
            <p:ph idx="1"/>
          </p:nvPr>
        </p:nvSpPr>
        <p:spPr>
          <a:xfrm>
            <a:off x="838200" y="955040"/>
            <a:ext cx="10515600" cy="5282883"/>
          </a:xfrm>
        </p:spPr>
        <p:txBody>
          <a:bodyPr>
            <a:normAutofit/>
          </a:bodyPr>
          <a:lstStyle/>
          <a:p>
            <a:pPr algn="l"/>
            <a:r>
              <a:rPr lang="en-US" sz="3200" b="0" i="0" u="none" strike="noStrike" baseline="0" dirty="0">
                <a:latin typeface="TimesNewRomanPSMT"/>
              </a:rPr>
              <a:t>solicitors, barristers, doctors, dentists, accountants, surveyors, architects, engineers and many others fall within the definition; </a:t>
            </a:r>
          </a:p>
          <a:p>
            <a:pPr algn="l"/>
            <a:r>
              <a:rPr lang="en-US" sz="3200" b="0" i="0" u="none" strike="noStrike" baseline="0" dirty="0">
                <a:latin typeface="TimesNewRomanPSMT"/>
              </a:rPr>
              <a:t>Physicists</a:t>
            </a:r>
          </a:p>
          <a:p>
            <a:pPr algn="l"/>
            <a:r>
              <a:rPr lang="en-US" sz="3200" dirty="0">
                <a:latin typeface="TimesNewRomanPSMT"/>
              </a:rPr>
              <a:t>What about school teachers?</a:t>
            </a:r>
          </a:p>
          <a:p>
            <a:pPr algn="l"/>
            <a:r>
              <a:rPr lang="en-US" sz="3200" b="0" i="0" u="none" strike="noStrike" baseline="0" dirty="0">
                <a:latin typeface="TimesNewRomanPSMT"/>
              </a:rPr>
              <a:t>Protection of titles</a:t>
            </a:r>
          </a:p>
          <a:p>
            <a:pPr lvl="1"/>
            <a:r>
              <a:rPr lang="en-US" sz="2800" b="0" i="0" u="none" strike="noStrike" baseline="0" dirty="0">
                <a:latin typeface="TimesNewRomanPSMT"/>
              </a:rPr>
              <a:t>In the USA and some European countries, it is a criminal offence to call oneself an engineer without possession of the appropriate qualifications</a:t>
            </a:r>
          </a:p>
          <a:p>
            <a:pPr algn="l"/>
            <a:endParaRPr lang="en-PK" sz="4400" dirty="0"/>
          </a:p>
        </p:txBody>
      </p:sp>
    </p:spTree>
    <p:extLst>
      <p:ext uri="{BB962C8B-B14F-4D97-AF65-F5344CB8AC3E}">
        <p14:creationId xmlns:p14="http://schemas.microsoft.com/office/powerpoint/2010/main" val="156335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BC04F-F21D-C6A4-B5CD-CE6F80944F5D}"/>
              </a:ext>
            </a:extLst>
          </p:cNvPr>
          <p:cNvSpPr>
            <a:spLocks noGrp="1"/>
          </p:cNvSpPr>
          <p:nvPr>
            <p:ph type="title"/>
          </p:nvPr>
        </p:nvSpPr>
        <p:spPr/>
        <p:txBody>
          <a:bodyPr/>
          <a:lstStyle/>
          <a:p>
            <a:r>
              <a:rPr lang="en-US" dirty="0"/>
              <a:t>Development of Engineering Profession</a:t>
            </a:r>
            <a:endParaRPr lang="en-PK" dirty="0"/>
          </a:p>
        </p:txBody>
      </p:sp>
      <p:sp>
        <p:nvSpPr>
          <p:cNvPr id="3" name="Content Placeholder 2">
            <a:extLst>
              <a:ext uri="{FF2B5EF4-FFF2-40B4-BE49-F238E27FC236}">
                <a16:creationId xmlns:a16="http://schemas.microsoft.com/office/drawing/2014/main" id="{B6557FC0-9D09-1F5A-31A3-C92F22F4C1FD}"/>
              </a:ext>
            </a:extLst>
          </p:cNvPr>
          <p:cNvSpPr>
            <a:spLocks noGrp="1"/>
          </p:cNvSpPr>
          <p:nvPr>
            <p:ph idx="1"/>
          </p:nvPr>
        </p:nvSpPr>
        <p:spPr/>
        <p:txBody>
          <a:bodyPr>
            <a:normAutofit fontScale="92500" lnSpcReduction="10000"/>
          </a:bodyPr>
          <a:lstStyle/>
          <a:p>
            <a:pPr algn="l"/>
            <a:r>
              <a:rPr lang="en-US" b="0" i="0" u="none" strike="noStrike" baseline="0" dirty="0">
                <a:latin typeface="TimesNewRomanPSMT"/>
              </a:rPr>
              <a:t>The term “engineer” was first used in the sense of a military engineer, concerned with the building of engines of war and other military construction</a:t>
            </a:r>
          </a:p>
          <a:p>
            <a:pPr algn="l"/>
            <a:r>
              <a:rPr lang="en-US" dirty="0">
                <a:latin typeface="TimesNewRomanPSMT"/>
              </a:rPr>
              <a:t>The term “Civil Engineer” since 18</a:t>
            </a:r>
            <a:r>
              <a:rPr lang="en-US" baseline="30000" dirty="0">
                <a:latin typeface="TimesNewRomanPSMT"/>
              </a:rPr>
              <a:t>th</a:t>
            </a:r>
            <a:r>
              <a:rPr lang="en-US" dirty="0">
                <a:latin typeface="TimesNewRomanPSMT"/>
              </a:rPr>
              <a:t> century</a:t>
            </a:r>
          </a:p>
          <a:p>
            <a:pPr algn="l"/>
            <a:r>
              <a:rPr lang="en-US" dirty="0">
                <a:latin typeface="TimesNewRomanPSMT"/>
              </a:rPr>
              <a:t>1716 Group of Bridges in Roads in France</a:t>
            </a:r>
          </a:p>
          <a:p>
            <a:pPr algn="l"/>
            <a:r>
              <a:rPr lang="en-US" dirty="0">
                <a:latin typeface="TimesNewRomanPSMT"/>
              </a:rPr>
              <a:t>Later, a society of civil engineers in Britain was formed.</a:t>
            </a:r>
          </a:p>
          <a:p>
            <a:pPr algn="l"/>
            <a:r>
              <a:rPr lang="en-US" dirty="0">
                <a:latin typeface="TimesNewRomanPSMT"/>
              </a:rPr>
              <a:t>1818 The Institution of Civil Engineers in UK, </a:t>
            </a:r>
            <a:r>
              <a:rPr lang="en-US" b="0" i="0" u="none" strike="noStrike" baseline="0" dirty="0">
                <a:latin typeface="TimesNewRomanPSMT"/>
              </a:rPr>
              <a:t>royal charter in 1828</a:t>
            </a:r>
            <a:endParaRPr lang="en-US" dirty="0">
              <a:latin typeface="TimesNewRomanPSMT"/>
            </a:endParaRPr>
          </a:p>
          <a:p>
            <a:pPr algn="l"/>
            <a:r>
              <a:rPr lang="en-US" dirty="0"/>
              <a:t>1847</a:t>
            </a:r>
            <a:r>
              <a:rPr lang="en-US" sz="4000" dirty="0"/>
              <a:t> </a:t>
            </a:r>
            <a:r>
              <a:rPr lang="en-US" b="0" i="0" u="none" strike="noStrike" baseline="0" dirty="0">
                <a:latin typeface="TimesNewRomanPSMT"/>
              </a:rPr>
              <a:t>The Institution of Mechanical Engineers</a:t>
            </a:r>
          </a:p>
          <a:p>
            <a:pPr algn="l"/>
            <a:r>
              <a:rPr lang="en-US" dirty="0">
                <a:latin typeface="TimesNewRomanPSMT"/>
              </a:rPr>
              <a:t>1871 The Institution of Electrical Engineers. Now ~42 such bodies</a:t>
            </a:r>
          </a:p>
          <a:p>
            <a:pPr algn="l"/>
            <a:r>
              <a:rPr lang="en-US" dirty="0">
                <a:latin typeface="TimesNewRomanPSMT"/>
              </a:rPr>
              <a:t>1957 The British Computer Society (BCS), Royal Charter in 1984</a:t>
            </a:r>
            <a:endParaRPr lang="en-PK" dirty="0"/>
          </a:p>
        </p:txBody>
      </p:sp>
    </p:spTree>
    <p:extLst>
      <p:ext uri="{BB962C8B-B14F-4D97-AF65-F5344CB8AC3E}">
        <p14:creationId xmlns:p14="http://schemas.microsoft.com/office/powerpoint/2010/main" val="3982611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B9560-1D01-0876-C43C-2C08F820F260}"/>
              </a:ext>
            </a:extLst>
          </p:cNvPr>
          <p:cNvSpPr>
            <a:spLocks noGrp="1"/>
          </p:cNvSpPr>
          <p:nvPr>
            <p:ph type="title"/>
          </p:nvPr>
        </p:nvSpPr>
        <p:spPr/>
        <p:txBody>
          <a:bodyPr/>
          <a:lstStyle/>
          <a:p>
            <a:r>
              <a:rPr lang="en-US" dirty="0"/>
              <a:t>Professional Qualifications</a:t>
            </a:r>
            <a:endParaRPr lang="en-PK" dirty="0"/>
          </a:p>
        </p:txBody>
      </p:sp>
      <p:sp>
        <p:nvSpPr>
          <p:cNvPr id="3" name="Content Placeholder 2">
            <a:extLst>
              <a:ext uri="{FF2B5EF4-FFF2-40B4-BE49-F238E27FC236}">
                <a16:creationId xmlns:a16="http://schemas.microsoft.com/office/drawing/2014/main" id="{6A8E7D68-1EEE-CFE3-CC07-8E0D15C78606}"/>
              </a:ext>
            </a:extLst>
          </p:cNvPr>
          <p:cNvSpPr>
            <a:spLocks noGrp="1"/>
          </p:cNvSpPr>
          <p:nvPr>
            <p:ph idx="1"/>
          </p:nvPr>
        </p:nvSpPr>
        <p:spPr/>
        <p:txBody>
          <a:bodyPr/>
          <a:lstStyle/>
          <a:p>
            <a:r>
              <a:rPr lang="en-US" dirty="0"/>
              <a:t>In Britain, BEng and MEng.</a:t>
            </a:r>
          </a:p>
          <a:p>
            <a:r>
              <a:rPr lang="en-US" dirty="0"/>
              <a:t>Bachelor degree from an accredited educational institute, in some cases a professional exam</a:t>
            </a:r>
          </a:p>
          <a:p>
            <a:r>
              <a:rPr lang="en-US" dirty="0"/>
              <a:t>Grades of member</a:t>
            </a:r>
          </a:p>
          <a:p>
            <a:pPr lvl="1"/>
            <a:r>
              <a:rPr lang="en-US" dirty="0"/>
              <a:t>Member and Fellow</a:t>
            </a:r>
          </a:p>
          <a:p>
            <a:pPr lvl="1"/>
            <a:r>
              <a:rPr lang="en-US" dirty="0"/>
              <a:t>Registered Engineer and Professional Engineer (PEC)</a:t>
            </a:r>
          </a:p>
          <a:p>
            <a:pPr lvl="1"/>
            <a:r>
              <a:rPr lang="en-US" dirty="0"/>
              <a:t>Member, Senior member, and Fellow (IEEE)</a:t>
            </a:r>
          </a:p>
          <a:p>
            <a:pPr lvl="1"/>
            <a:r>
              <a:rPr lang="en-US" dirty="0"/>
              <a:t>Incorporated Member, Chartered member (IET)</a:t>
            </a:r>
          </a:p>
          <a:p>
            <a:pPr lvl="1"/>
            <a:r>
              <a:rPr lang="en-US" dirty="0"/>
              <a:t>Associate, Licentiate, Affiliate, Student, etc.</a:t>
            </a:r>
            <a:endParaRPr lang="en-PK" dirty="0"/>
          </a:p>
        </p:txBody>
      </p:sp>
    </p:spTree>
    <p:extLst>
      <p:ext uri="{BB962C8B-B14F-4D97-AF65-F5344CB8AC3E}">
        <p14:creationId xmlns:p14="http://schemas.microsoft.com/office/powerpoint/2010/main" val="826258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4986-76C4-81E2-D4C2-ECAAF5D73FFE}"/>
              </a:ext>
            </a:extLst>
          </p:cNvPr>
          <p:cNvSpPr>
            <a:spLocks noGrp="1"/>
          </p:cNvSpPr>
          <p:nvPr>
            <p:ph type="title"/>
          </p:nvPr>
        </p:nvSpPr>
        <p:spPr/>
        <p:txBody>
          <a:bodyPr/>
          <a:lstStyle/>
          <a:p>
            <a:r>
              <a:rPr lang="en-US" dirty="0"/>
              <a:t>Course Accreditation</a:t>
            </a:r>
            <a:endParaRPr lang="en-PK" dirty="0"/>
          </a:p>
        </p:txBody>
      </p:sp>
      <p:sp>
        <p:nvSpPr>
          <p:cNvPr id="3" name="Content Placeholder 2">
            <a:extLst>
              <a:ext uri="{FF2B5EF4-FFF2-40B4-BE49-F238E27FC236}">
                <a16:creationId xmlns:a16="http://schemas.microsoft.com/office/drawing/2014/main" id="{94FBD4B6-9D4E-EA58-D5D1-26B190C56DEC}"/>
              </a:ext>
            </a:extLst>
          </p:cNvPr>
          <p:cNvSpPr>
            <a:spLocks noGrp="1"/>
          </p:cNvSpPr>
          <p:nvPr>
            <p:ph idx="1"/>
          </p:nvPr>
        </p:nvSpPr>
        <p:spPr/>
        <p:txBody>
          <a:bodyPr/>
          <a:lstStyle/>
          <a:p>
            <a:r>
              <a:rPr lang="en-US" dirty="0"/>
              <a:t>The accreditation process, especially the PEC, the UK.</a:t>
            </a:r>
          </a:p>
          <a:p>
            <a:endParaRPr lang="en-US" dirty="0"/>
          </a:p>
          <a:p>
            <a:endParaRPr lang="en-PK" dirty="0"/>
          </a:p>
        </p:txBody>
      </p:sp>
    </p:spTree>
    <p:extLst>
      <p:ext uri="{BB962C8B-B14F-4D97-AF65-F5344CB8AC3E}">
        <p14:creationId xmlns:p14="http://schemas.microsoft.com/office/powerpoint/2010/main" val="1337418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B8E7B-D3FB-2F2A-DA71-AEC38E9F6923}"/>
              </a:ext>
            </a:extLst>
          </p:cNvPr>
          <p:cNvSpPr>
            <a:spLocks noGrp="1"/>
          </p:cNvSpPr>
          <p:nvPr>
            <p:ph type="title"/>
          </p:nvPr>
        </p:nvSpPr>
        <p:spPr/>
        <p:txBody>
          <a:bodyPr/>
          <a:lstStyle/>
          <a:p>
            <a:r>
              <a:rPr lang="en-US" dirty="0"/>
              <a:t>The Engineering Applications Requirements in the Educational Institutions in UK</a:t>
            </a:r>
            <a:endParaRPr lang="en-PK" dirty="0"/>
          </a:p>
        </p:txBody>
      </p:sp>
      <p:sp>
        <p:nvSpPr>
          <p:cNvPr id="3" name="Content Placeholder 2">
            <a:extLst>
              <a:ext uri="{FF2B5EF4-FFF2-40B4-BE49-F238E27FC236}">
                <a16:creationId xmlns:a16="http://schemas.microsoft.com/office/drawing/2014/main" id="{53DC448B-4537-9EA2-A084-85B81B9DAFC6}"/>
              </a:ext>
            </a:extLst>
          </p:cNvPr>
          <p:cNvSpPr>
            <a:spLocks noGrp="1"/>
          </p:cNvSpPr>
          <p:nvPr>
            <p:ph idx="1"/>
          </p:nvPr>
        </p:nvSpPr>
        <p:spPr/>
        <p:txBody>
          <a:bodyPr>
            <a:normAutofit/>
          </a:bodyPr>
          <a:lstStyle/>
          <a:p>
            <a:pPr algn="l"/>
            <a:endParaRPr lang="en-US" b="0" i="0" u="none" strike="noStrike" baseline="0" dirty="0">
              <a:latin typeface="TimesNewRomanPSMT"/>
            </a:endParaRPr>
          </a:p>
          <a:p>
            <a:pPr algn="l"/>
            <a:r>
              <a:rPr lang="en-US" b="0" i="0" u="none" strike="noStrike" baseline="0" dirty="0">
                <a:latin typeface="TimesNewRomanPSMT"/>
              </a:rPr>
              <a:t>EA1 an introduction to the properties, fabrication and use of materials;</a:t>
            </a:r>
          </a:p>
          <a:p>
            <a:pPr algn="l"/>
            <a:r>
              <a:rPr lang="en-US" b="0" i="0" u="none" strike="noStrike" baseline="0" dirty="0">
                <a:latin typeface="TimesNewRomanPSMT"/>
              </a:rPr>
              <a:t>EA2 application of engineering principles to the solution of practical problems based upon engineering systems and processes;</a:t>
            </a:r>
          </a:p>
          <a:p>
            <a:pPr algn="l"/>
            <a:r>
              <a:rPr lang="en-US" b="0" i="0" u="none" strike="noStrike" baseline="0" dirty="0">
                <a:latin typeface="TimesNewRomanPSMT"/>
              </a:rPr>
              <a:t>EA3 a structured introduction to industry under supervision and involving a range of practical assignments;</a:t>
            </a:r>
          </a:p>
          <a:p>
            <a:pPr algn="l"/>
            <a:r>
              <a:rPr lang="en-US" b="0" i="0" u="none" strike="noStrike" baseline="0" dirty="0">
                <a:latin typeface="TimesNewRomanPSMT"/>
              </a:rPr>
              <a:t>EA4 specific preparation for a first responsible post and a period carrying responsibility in that post with decreasingly close supervision.</a:t>
            </a:r>
            <a:endParaRPr lang="en-PK" sz="4000" dirty="0"/>
          </a:p>
        </p:txBody>
      </p:sp>
    </p:spTree>
    <p:extLst>
      <p:ext uri="{BB962C8B-B14F-4D97-AF65-F5344CB8AC3E}">
        <p14:creationId xmlns:p14="http://schemas.microsoft.com/office/powerpoint/2010/main" val="2199248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4BEB9-0C42-1AD0-E975-0EAF61E124B8}"/>
              </a:ext>
            </a:extLst>
          </p:cNvPr>
          <p:cNvSpPr>
            <a:spLocks noGrp="1"/>
          </p:cNvSpPr>
          <p:nvPr>
            <p:ph type="title"/>
          </p:nvPr>
        </p:nvSpPr>
        <p:spPr/>
        <p:txBody>
          <a:bodyPr/>
          <a:lstStyle/>
          <a:p>
            <a:r>
              <a:rPr lang="en-US" sz="4000" b="1" u="none" strike="noStrike" baseline="0" dirty="0"/>
              <a:t>The BCS Professional Development Scheme</a:t>
            </a:r>
            <a:endParaRPr lang="en-PK" dirty="0"/>
          </a:p>
        </p:txBody>
      </p:sp>
      <p:sp>
        <p:nvSpPr>
          <p:cNvPr id="3" name="Content Placeholder 2">
            <a:extLst>
              <a:ext uri="{FF2B5EF4-FFF2-40B4-BE49-F238E27FC236}">
                <a16:creationId xmlns:a16="http://schemas.microsoft.com/office/drawing/2014/main" id="{7BB46E51-D800-B2AC-C8A7-4A309281C9C6}"/>
              </a:ext>
            </a:extLst>
          </p:cNvPr>
          <p:cNvSpPr>
            <a:spLocks noGrp="1"/>
          </p:cNvSpPr>
          <p:nvPr>
            <p:ph idx="1"/>
          </p:nvPr>
        </p:nvSpPr>
        <p:spPr/>
        <p:txBody>
          <a:bodyPr/>
          <a:lstStyle/>
          <a:p>
            <a:r>
              <a:rPr lang="en-US" dirty="0"/>
              <a:t>Log book</a:t>
            </a:r>
          </a:p>
          <a:p>
            <a:r>
              <a:rPr lang="en-US" dirty="0"/>
              <a:t>Matrix, cell</a:t>
            </a:r>
          </a:p>
          <a:p>
            <a:endParaRPr lang="en-PK" dirty="0"/>
          </a:p>
        </p:txBody>
      </p:sp>
    </p:spTree>
    <p:extLst>
      <p:ext uri="{BB962C8B-B14F-4D97-AF65-F5344CB8AC3E}">
        <p14:creationId xmlns:p14="http://schemas.microsoft.com/office/powerpoint/2010/main" val="833386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9F36C-0015-A4DB-7FCB-B3389764E2BC}"/>
              </a:ext>
            </a:extLst>
          </p:cNvPr>
          <p:cNvSpPr>
            <a:spLocks noGrp="1"/>
          </p:cNvSpPr>
          <p:nvPr>
            <p:ph type="title"/>
          </p:nvPr>
        </p:nvSpPr>
        <p:spPr/>
        <p:txBody>
          <a:bodyPr/>
          <a:lstStyle/>
          <a:p>
            <a:r>
              <a:rPr lang="en-US" dirty="0"/>
              <a:t>Washington Accord </a:t>
            </a:r>
            <a:endParaRPr lang="en-PK" dirty="0"/>
          </a:p>
        </p:txBody>
      </p:sp>
      <p:sp>
        <p:nvSpPr>
          <p:cNvPr id="3" name="Content Placeholder 2">
            <a:extLst>
              <a:ext uri="{FF2B5EF4-FFF2-40B4-BE49-F238E27FC236}">
                <a16:creationId xmlns:a16="http://schemas.microsoft.com/office/drawing/2014/main" id="{2DAC9F9D-EBB8-14D0-C903-FF27A232CD7A}"/>
              </a:ext>
            </a:extLst>
          </p:cNvPr>
          <p:cNvSpPr>
            <a:spLocks noGrp="1"/>
          </p:cNvSpPr>
          <p:nvPr>
            <p:ph idx="1"/>
          </p:nvPr>
        </p:nvSpPr>
        <p:spPr/>
        <p:txBody>
          <a:bodyPr>
            <a:normAutofit lnSpcReduction="10000"/>
          </a:bodyPr>
          <a:lstStyle/>
          <a:p>
            <a:pPr algn="l"/>
            <a:r>
              <a:rPr lang="en-US" dirty="0"/>
              <a:t>In 1989, the national engineering associations of Australia, Canada, Ireland, New Zealand, and the United States signed what is known as the Washington Accord</a:t>
            </a:r>
          </a:p>
          <a:p>
            <a:pPr algn="l"/>
            <a:r>
              <a:rPr lang="en-US" dirty="0"/>
              <a:t>2017, June 21. Pakistan became a full member of Washington Accord</a:t>
            </a:r>
          </a:p>
          <a:p>
            <a:pPr algn="l"/>
            <a:r>
              <a:rPr lang="en-US" dirty="0"/>
              <a:t>A multi-lateral agreement between bodies responsible for accreditation or recognition of tertiary-level engineering qualifications within their jurisdictions who have chosen to work collectively to assist the mobility of professional engineers</a:t>
            </a:r>
          </a:p>
          <a:p>
            <a:pPr algn="l"/>
            <a:r>
              <a:rPr lang="en-US" dirty="0"/>
              <a:t>Equivalency of academic requirements </a:t>
            </a:r>
          </a:p>
          <a:p>
            <a:pPr algn="l"/>
            <a:r>
              <a:rPr lang="en-US" dirty="0"/>
              <a:t>23 countries are signatory of the Washington Accord as of today</a:t>
            </a:r>
            <a:endParaRPr lang="en-PK" dirty="0"/>
          </a:p>
        </p:txBody>
      </p:sp>
    </p:spTree>
    <p:extLst>
      <p:ext uri="{BB962C8B-B14F-4D97-AF65-F5344CB8AC3E}">
        <p14:creationId xmlns:p14="http://schemas.microsoft.com/office/powerpoint/2010/main" val="1292926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B0651-A008-DEEA-1EAB-03962C12CB81}"/>
              </a:ext>
            </a:extLst>
          </p:cNvPr>
          <p:cNvSpPr>
            <a:spLocks noGrp="1"/>
          </p:cNvSpPr>
          <p:nvPr>
            <p:ph type="title"/>
          </p:nvPr>
        </p:nvSpPr>
        <p:spPr/>
        <p:txBody>
          <a:bodyPr/>
          <a:lstStyle/>
          <a:p>
            <a:r>
              <a:rPr lang="en-US" dirty="0"/>
              <a:t>The position of Software Engineering in USA</a:t>
            </a:r>
            <a:endParaRPr lang="en-PK" dirty="0"/>
          </a:p>
        </p:txBody>
      </p:sp>
      <p:sp>
        <p:nvSpPr>
          <p:cNvPr id="3" name="Content Placeholder 2">
            <a:extLst>
              <a:ext uri="{FF2B5EF4-FFF2-40B4-BE49-F238E27FC236}">
                <a16:creationId xmlns:a16="http://schemas.microsoft.com/office/drawing/2014/main" id="{A2695F56-95D7-310B-A696-ABAA7A9B6D1C}"/>
              </a:ext>
            </a:extLst>
          </p:cNvPr>
          <p:cNvSpPr>
            <a:spLocks noGrp="1"/>
          </p:cNvSpPr>
          <p:nvPr>
            <p:ph idx="1"/>
          </p:nvPr>
        </p:nvSpPr>
        <p:spPr/>
        <p:txBody>
          <a:bodyPr>
            <a:normAutofit/>
          </a:bodyPr>
          <a:lstStyle/>
          <a:p>
            <a:r>
              <a:rPr lang="en-US" dirty="0"/>
              <a:t>Registered in some other discipline.</a:t>
            </a:r>
          </a:p>
          <a:p>
            <a:r>
              <a:rPr lang="en-US" dirty="0"/>
              <a:t>A software Engineering Company that employes at least one engineer</a:t>
            </a:r>
          </a:p>
          <a:p>
            <a:r>
              <a:rPr lang="en-US" dirty="0"/>
              <a:t>The term “Software Engineering” became widespread in mid 1990</a:t>
            </a:r>
          </a:p>
          <a:p>
            <a:r>
              <a:rPr lang="en-US" dirty="0"/>
              <a:t>Sun Microsystems and Microsoft started awarding qualifications like “Certified Systems Engineer”, “Network Engineer” and so.</a:t>
            </a:r>
          </a:p>
          <a:p>
            <a:pPr algn="l"/>
            <a:r>
              <a:rPr lang="en-US" dirty="0"/>
              <a:t>Texas forced universities to stop offering degrees in software engineering</a:t>
            </a:r>
          </a:p>
          <a:p>
            <a:pPr algn="l"/>
            <a:r>
              <a:rPr lang="en-US" dirty="0"/>
              <a:t>The Texas Board of Professional Engineers was the first licensing board to approve the registration of software engineers, in June 1998.</a:t>
            </a:r>
            <a:endParaRPr lang="en-PK" dirty="0"/>
          </a:p>
        </p:txBody>
      </p:sp>
    </p:spTree>
    <p:extLst>
      <p:ext uri="{BB962C8B-B14F-4D97-AF65-F5344CB8AC3E}">
        <p14:creationId xmlns:p14="http://schemas.microsoft.com/office/powerpoint/2010/main" val="15199164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DF8B6-BC21-112F-64EA-57D10F65E7B2}"/>
              </a:ext>
            </a:extLst>
          </p:cNvPr>
          <p:cNvSpPr>
            <a:spLocks noGrp="1"/>
          </p:cNvSpPr>
          <p:nvPr>
            <p:ph type="title"/>
          </p:nvPr>
        </p:nvSpPr>
        <p:spPr/>
        <p:txBody>
          <a:bodyPr/>
          <a:lstStyle/>
          <a:p>
            <a:r>
              <a:rPr lang="en-US" sz="4000" b="1" u="none" strike="noStrike" baseline="0" dirty="0"/>
              <a:t>Professional bodies and accreditation in the USA</a:t>
            </a:r>
            <a:endParaRPr lang="en-PK" b="1" dirty="0"/>
          </a:p>
        </p:txBody>
      </p:sp>
      <p:sp>
        <p:nvSpPr>
          <p:cNvPr id="3" name="Content Placeholder 2">
            <a:extLst>
              <a:ext uri="{FF2B5EF4-FFF2-40B4-BE49-F238E27FC236}">
                <a16:creationId xmlns:a16="http://schemas.microsoft.com/office/drawing/2014/main" id="{B97E632D-77D2-3F67-4E55-789523356D9C}"/>
              </a:ext>
            </a:extLst>
          </p:cNvPr>
          <p:cNvSpPr>
            <a:spLocks noGrp="1"/>
          </p:cNvSpPr>
          <p:nvPr>
            <p:ph idx="1"/>
          </p:nvPr>
        </p:nvSpPr>
        <p:spPr/>
        <p:txBody>
          <a:bodyPr/>
          <a:lstStyle/>
          <a:p>
            <a:r>
              <a:rPr lang="en-US" dirty="0"/>
              <a:t>ACM and IEEE in USA and BCS and IEE (now IET) in Britain</a:t>
            </a:r>
          </a:p>
          <a:p>
            <a:r>
              <a:rPr lang="en-US" dirty="0"/>
              <a:t>A range of technical journals</a:t>
            </a:r>
          </a:p>
          <a:p>
            <a:pPr algn="l"/>
            <a:r>
              <a:rPr lang="en-US" dirty="0"/>
              <a:t>Accreditation Board for Engineering and Technology (ABET). ABET is a federation of 28 professional engineering and technical societies.</a:t>
            </a:r>
          </a:p>
          <a:p>
            <a:r>
              <a:rPr lang="en-US" dirty="0"/>
              <a:t>Computer Sciences Accreditation Board (CSAB)</a:t>
            </a:r>
          </a:p>
          <a:p>
            <a:endParaRPr lang="en-PK" dirty="0"/>
          </a:p>
        </p:txBody>
      </p:sp>
    </p:spTree>
    <p:extLst>
      <p:ext uri="{BB962C8B-B14F-4D97-AF65-F5344CB8AC3E}">
        <p14:creationId xmlns:p14="http://schemas.microsoft.com/office/powerpoint/2010/main" val="3736656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39D4-1085-FAD0-55DE-A47D921E8BA5}"/>
              </a:ext>
            </a:extLst>
          </p:cNvPr>
          <p:cNvSpPr>
            <a:spLocks noGrp="1"/>
          </p:cNvSpPr>
          <p:nvPr>
            <p:ph type="title"/>
          </p:nvPr>
        </p:nvSpPr>
        <p:spPr>
          <a:xfrm>
            <a:off x="838200" y="365126"/>
            <a:ext cx="10515600" cy="315912"/>
          </a:xfrm>
        </p:spPr>
        <p:txBody>
          <a:bodyPr>
            <a:normAutofit fontScale="90000"/>
          </a:bodyPr>
          <a:lstStyle/>
          <a:p>
            <a:endParaRPr lang="en-PK" dirty="0"/>
          </a:p>
        </p:txBody>
      </p:sp>
      <p:sp>
        <p:nvSpPr>
          <p:cNvPr id="3" name="Content Placeholder 2">
            <a:extLst>
              <a:ext uri="{FF2B5EF4-FFF2-40B4-BE49-F238E27FC236}">
                <a16:creationId xmlns:a16="http://schemas.microsoft.com/office/drawing/2014/main" id="{1E591F48-6BD4-D331-AF99-6F10E28497F4}"/>
              </a:ext>
            </a:extLst>
          </p:cNvPr>
          <p:cNvSpPr>
            <a:spLocks noGrp="1"/>
          </p:cNvSpPr>
          <p:nvPr>
            <p:ph idx="1"/>
          </p:nvPr>
        </p:nvSpPr>
        <p:spPr>
          <a:xfrm>
            <a:off x="838200" y="1158240"/>
            <a:ext cx="10515600" cy="5018723"/>
          </a:xfrm>
        </p:spPr>
        <p:txBody>
          <a:bodyPr>
            <a:normAutofit/>
          </a:bodyPr>
          <a:lstStyle/>
          <a:p>
            <a:r>
              <a:rPr lang="en-US" sz="3200" u="none" strike="noStrike" baseline="0" dirty="0">
                <a:latin typeface="+mj-lt"/>
              </a:rPr>
              <a:t>Certification of engineering artefacts</a:t>
            </a:r>
          </a:p>
          <a:p>
            <a:endParaRPr lang="en-PK" sz="4400" dirty="0">
              <a:latin typeface="+mj-lt"/>
            </a:endParaRPr>
          </a:p>
        </p:txBody>
      </p:sp>
    </p:spTree>
    <p:extLst>
      <p:ext uri="{BB962C8B-B14F-4D97-AF65-F5344CB8AC3E}">
        <p14:creationId xmlns:p14="http://schemas.microsoft.com/office/powerpoint/2010/main" val="615644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584BB-A855-57EB-3294-E481B645B9B7}"/>
              </a:ext>
            </a:extLst>
          </p:cNvPr>
          <p:cNvSpPr>
            <a:spLocks noGrp="1"/>
          </p:cNvSpPr>
          <p:nvPr>
            <p:ph type="title"/>
          </p:nvPr>
        </p:nvSpPr>
        <p:spPr/>
        <p:txBody>
          <a:bodyPr/>
          <a:lstStyle/>
          <a:p>
            <a:r>
              <a:rPr lang="en-US" sz="6000" b="1" i="0" u="none" strike="noStrike" baseline="0" dirty="0"/>
              <a:t>Ethics and software engineering</a:t>
            </a:r>
            <a:endParaRPr lang="en-PK" dirty="0"/>
          </a:p>
        </p:txBody>
      </p:sp>
      <p:sp>
        <p:nvSpPr>
          <p:cNvPr id="3" name="Content Placeholder 2">
            <a:extLst>
              <a:ext uri="{FF2B5EF4-FFF2-40B4-BE49-F238E27FC236}">
                <a16:creationId xmlns:a16="http://schemas.microsoft.com/office/drawing/2014/main" id="{1715BC54-DF97-BA9C-E668-7FD91AAA4E0A}"/>
              </a:ext>
            </a:extLst>
          </p:cNvPr>
          <p:cNvSpPr>
            <a:spLocks noGrp="1"/>
          </p:cNvSpPr>
          <p:nvPr>
            <p:ph idx="1"/>
          </p:nvPr>
        </p:nvSpPr>
        <p:spPr/>
        <p:txBody>
          <a:bodyPr/>
          <a:lstStyle/>
          <a:p>
            <a:r>
              <a:rPr lang="en-US" b="0" i="0" u="none" strike="noStrike" baseline="0" dirty="0"/>
              <a:t>Ethics is the study of right and wrong in relation to human actions</a:t>
            </a:r>
          </a:p>
          <a:p>
            <a:r>
              <a:rPr lang="en-US" dirty="0"/>
              <a:t>Meta-ethics: the study of general principles</a:t>
            </a:r>
          </a:p>
          <a:p>
            <a:r>
              <a:rPr lang="en-US" dirty="0"/>
              <a:t>Moral theory: ethical systems themselves</a:t>
            </a:r>
          </a:p>
          <a:p>
            <a:r>
              <a:rPr lang="en-US" dirty="0"/>
              <a:t>Practical or applied ethics: the application of ethical systems to the analysis of a particular situation</a:t>
            </a:r>
          </a:p>
          <a:p>
            <a:r>
              <a:rPr lang="en-US" dirty="0"/>
              <a:t>Peculiar ethical issues related to the software engineering</a:t>
            </a:r>
            <a:endParaRPr lang="en-PK" dirty="0"/>
          </a:p>
        </p:txBody>
      </p:sp>
    </p:spTree>
    <p:extLst>
      <p:ext uri="{BB962C8B-B14F-4D97-AF65-F5344CB8AC3E}">
        <p14:creationId xmlns:p14="http://schemas.microsoft.com/office/powerpoint/2010/main" val="2536708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A0103-AB28-6714-7F47-57E44701E7EF}"/>
              </a:ext>
            </a:extLst>
          </p:cNvPr>
          <p:cNvSpPr>
            <a:spLocks noGrp="1"/>
          </p:cNvSpPr>
          <p:nvPr>
            <p:ph type="title"/>
          </p:nvPr>
        </p:nvSpPr>
        <p:spPr/>
        <p:txBody>
          <a:bodyPr/>
          <a:lstStyle/>
          <a:p>
            <a:r>
              <a:rPr lang="en-US" b="1" dirty="0"/>
              <a:t>Strands in the Ethical Thinking</a:t>
            </a:r>
            <a:endParaRPr lang="en-PK" b="1" dirty="0"/>
          </a:p>
        </p:txBody>
      </p:sp>
      <p:sp>
        <p:nvSpPr>
          <p:cNvPr id="3" name="Content Placeholder 2">
            <a:extLst>
              <a:ext uri="{FF2B5EF4-FFF2-40B4-BE49-F238E27FC236}">
                <a16:creationId xmlns:a16="http://schemas.microsoft.com/office/drawing/2014/main" id="{EA1A03B6-F3C8-77F6-77F0-4770A95FBD29}"/>
              </a:ext>
            </a:extLst>
          </p:cNvPr>
          <p:cNvSpPr>
            <a:spLocks noGrp="1"/>
          </p:cNvSpPr>
          <p:nvPr>
            <p:ph idx="1"/>
          </p:nvPr>
        </p:nvSpPr>
        <p:spPr/>
        <p:txBody>
          <a:bodyPr/>
          <a:lstStyle/>
          <a:p>
            <a:r>
              <a:rPr lang="en-US" dirty="0"/>
              <a:t>Greece 2,500 years ago, or China 5,000 years ago</a:t>
            </a:r>
          </a:p>
          <a:p>
            <a:r>
              <a:rPr lang="en-US" dirty="0"/>
              <a:t>Rules and consequences</a:t>
            </a:r>
          </a:p>
          <a:p>
            <a:r>
              <a:rPr lang="en-US" dirty="0"/>
              <a:t>Consequentialism</a:t>
            </a:r>
          </a:p>
          <a:p>
            <a:pPr algn="l"/>
            <a:r>
              <a:rPr lang="en-US" dirty="0"/>
              <a:t>Utilitarianism: That action is best, which procures the greatest happiness for the greatest numbers</a:t>
            </a:r>
          </a:p>
          <a:p>
            <a:pPr algn="l"/>
            <a:r>
              <a:rPr lang="en-US" dirty="0"/>
              <a:t>Actions are right in proportion as they tend to promote pleasure or happiness</a:t>
            </a:r>
          </a:p>
          <a:p>
            <a:pPr algn="l"/>
            <a:endParaRPr lang="en-PK" dirty="0"/>
          </a:p>
        </p:txBody>
      </p:sp>
    </p:spTree>
    <p:extLst>
      <p:ext uri="{BB962C8B-B14F-4D97-AF65-F5344CB8AC3E}">
        <p14:creationId xmlns:p14="http://schemas.microsoft.com/office/powerpoint/2010/main" val="718350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0C6F3-178A-2653-5C2B-75D6351A5C88}"/>
              </a:ext>
            </a:extLst>
          </p:cNvPr>
          <p:cNvSpPr>
            <a:spLocks noGrp="1"/>
          </p:cNvSpPr>
          <p:nvPr>
            <p:ph type="title"/>
          </p:nvPr>
        </p:nvSpPr>
        <p:spPr/>
        <p:txBody>
          <a:bodyPr/>
          <a:lstStyle/>
          <a:p>
            <a:r>
              <a:rPr lang="en-US" dirty="0"/>
              <a:t>Sources of Moral Authority</a:t>
            </a:r>
            <a:endParaRPr lang="en-PK" dirty="0"/>
          </a:p>
        </p:txBody>
      </p:sp>
      <p:sp>
        <p:nvSpPr>
          <p:cNvPr id="3" name="Content Placeholder 2">
            <a:extLst>
              <a:ext uri="{FF2B5EF4-FFF2-40B4-BE49-F238E27FC236}">
                <a16:creationId xmlns:a16="http://schemas.microsoft.com/office/drawing/2014/main" id="{122B5FB9-E3F7-572D-53AF-A96CBBD2B6A7}"/>
              </a:ext>
            </a:extLst>
          </p:cNvPr>
          <p:cNvSpPr>
            <a:spLocks noGrp="1"/>
          </p:cNvSpPr>
          <p:nvPr>
            <p:ph idx="1"/>
          </p:nvPr>
        </p:nvSpPr>
        <p:spPr/>
        <p:txBody>
          <a:bodyPr/>
          <a:lstStyle/>
          <a:p>
            <a:r>
              <a:rPr lang="en-US" dirty="0"/>
              <a:t>Individual</a:t>
            </a:r>
          </a:p>
          <a:p>
            <a:r>
              <a:rPr lang="en-US" dirty="0"/>
              <a:t>Or the larger unit, the organization or the society</a:t>
            </a:r>
          </a:p>
          <a:p>
            <a:endParaRPr lang="en-PK" dirty="0"/>
          </a:p>
        </p:txBody>
      </p:sp>
    </p:spTree>
    <p:extLst>
      <p:ext uri="{BB962C8B-B14F-4D97-AF65-F5344CB8AC3E}">
        <p14:creationId xmlns:p14="http://schemas.microsoft.com/office/powerpoint/2010/main" val="7735665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C3E34-8D43-D214-C8F5-FA289FFA087E}"/>
              </a:ext>
            </a:extLst>
          </p:cNvPr>
          <p:cNvSpPr>
            <a:spLocks noGrp="1"/>
          </p:cNvSpPr>
          <p:nvPr>
            <p:ph type="title"/>
          </p:nvPr>
        </p:nvSpPr>
        <p:spPr/>
        <p:txBody>
          <a:bodyPr/>
          <a:lstStyle/>
          <a:p>
            <a:r>
              <a:rPr lang="en-US" sz="5400" b="1" u="none" strike="noStrike" baseline="0" dirty="0"/>
              <a:t>Absolutism v relativism</a:t>
            </a:r>
            <a:endParaRPr lang="en-PK" dirty="0"/>
          </a:p>
        </p:txBody>
      </p:sp>
      <p:sp>
        <p:nvSpPr>
          <p:cNvPr id="3" name="Content Placeholder 2">
            <a:extLst>
              <a:ext uri="{FF2B5EF4-FFF2-40B4-BE49-F238E27FC236}">
                <a16:creationId xmlns:a16="http://schemas.microsoft.com/office/drawing/2014/main" id="{C94C8F3A-3740-219A-87A9-873C15B7D11A}"/>
              </a:ext>
            </a:extLst>
          </p:cNvPr>
          <p:cNvSpPr>
            <a:spLocks noGrp="1"/>
          </p:cNvSpPr>
          <p:nvPr>
            <p:ph idx="1"/>
          </p:nvPr>
        </p:nvSpPr>
        <p:spPr/>
        <p:txBody>
          <a:bodyPr>
            <a:normAutofit/>
          </a:bodyPr>
          <a:lstStyle/>
          <a:p>
            <a:pPr algn="l"/>
            <a:r>
              <a:rPr lang="en-US" b="0" i="0" u="none" strike="noStrike" baseline="0" dirty="0"/>
              <a:t>Absolutists believe that ethics and moral laws are the same at all times, in all places, and in all societies. </a:t>
            </a:r>
          </a:p>
          <a:p>
            <a:pPr algn="l"/>
            <a:r>
              <a:rPr lang="en-US" b="0" i="0" u="none" strike="noStrike" baseline="0" dirty="0"/>
              <a:t>Relativists believe that they depend on time, place and circumstances.</a:t>
            </a:r>
          </a:p>
          <a:p>
            <a:pPr algn="l"/>
            <a:r>
              <a:rPr lang="en-US" dirty="0"/>
              <a:t>intolerance and chauvinism</a:t>
            </a:r>
          </a:p>
          <a:p>
            <a:pPr algn="l"/>
            <a:r>
              <a:rPr lang="en-US" dirty="0"/>
              <a:t>most of us in practice, adopt a half-and-half position over Professional issues in software engineering to relativism. We accept the absolute validity of certain rules but recognize that many others depend on the society in which we find ourselves.</a:t>
            </a:r>
            <a:endParaRPr lang="en-PK" dirty="0"/>
          </a:p>
        </p:txBody>
      </p:sp>
    </p:spTree>
    <p:extLst>
      <p:ext uri="{BB962C8B-B14F-4D97-AF65-F5344CB8AC3E}">
        <p14:creationId xmlns:p14="http://schemas.microsoft.com/office/powerpoint/2010/main" val="3647726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658AF-5E6C-2ABE-3BA7-3B79E490CFC4}"/>
              </a:ext>
            </a:extLst>
          </p:cNvPr>
          <p:cNvSpPr>
            <a:spLocks noGrp="1"/>
          </p:cNvSpPr>
          <p:nvPr>
            <p:ph type="title"/>
          </p:nvPr>
        </p:nvSpPr>
        <p:spPr/>
        <p:txBody>
          <a:bodyPr/>
          <a:lstStyle/>
          <a:p>
            <a:r>
              <a:rPr lang="en-US" sz="5400" b="1" u="none" strike="noStrike" baseline="0" dirty="0"/>
              <a:t>The doctrine of double effect</a:t>
            </a:r>
            <a:endParaRPr lang="en-PK" dirty="0"/>
          </a:p>
        </p:txBody>
      </p:sp>
      <p:sp>
        <p:nvSpPr>
          <p:cNvPr id="3" name="Content Placeholder 2">
            <a:extLst>
              <a:ext uri="{FF2B5EF4-FFF2-40B4-BE49-F238E27FC236}">
                <a16:creationId xmlns:a16="http://schemas.microsoft.com/office/drawing/2014/main" id="{6EEA87F9-8A3B-3018-FF46-6D22F88425C8}"/>
              </a:ext>
            </a:extLst>
          </p:cNvPr>
          <p:cNvSpPr>
            <a:spLocks noGrp="1"/>
          </p:cNvSpPr>
          <p:nvPr>
            <p:ph idx="1"/>
          </p:nvPr>
        </p:nvSpPr>
        <p:spPr/>
        <p:txBody>
          <a:bodyPr>
            <a:normAutofit/>
          </a:bodyPr>
          <a:lstStyle/>
          <a:p>
            <a:pPr algn="l"/>
            <a:r>
              <a:rPr lang="en-US" sz="3200" b="0" i="0" u="none" strike="noStrike" baseline="0" dirty="0"/>
              <a:t>According to this doctrine, the foreseeable effects of an action can be divided into those that are intended and those that are merely foreseen but not intended.</a:t>
            </a:r>
          </a:p>
          <a:p>
            <a:pPr algn="l"/>
            <a:endParaRPr lang="en-PK" sz="4400" dirty="0"/>
          </a:p>
        </p:txBody>
      </p:sp>
    </p:spTree>
    <p:extLst>
      <p:ext uri="{BB962C8B-B14F-4D97-AF65-F5344CB8AC3E}">
        <p14:creationId xmlns:p14="http://schemas.microsoft.com/office/powerpoint/2010/main" val="644733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552E-F758-AD37-40A7-BBB57228844E}"/>
              </a:ext>
            </a:extLst>
          </p:cNvPr>
          <p:cNvSpPr>
            <a:spLocks noGrp="1"/>
          </p:cNvSpPr>
          <p:nvPr>
            <p:ph type="title"/>
          </p:nvPr>
        </p:nvSpPr>
        <p:spPr/>
        <p:txBody>
          <a:bodyPr/>
          <a:lstStyle/>
          <a:p>
            <a:r>
              <a:rPr lang="en-US" dirty="0" err="1"/>
              <a:t>Prefessional</a:t>
            </a:r>
            <a:r>
              <a:rPr lang="en-US" dirty="0"/>
              <a:t> Codes of conduct</a:t>
            </a:r>
            <a:endParaRPr lang="en-PK" dirty="0"/>
          </a:p>
        </p:txBody>
      </p:sp>
      <p:sp>
        <p:nvSpPr>
          <p:cNvPr id="3" name="Content Placeholder 2">
            <a:extLst>
              <a:ext uri="{FF2B5EF4-FFF2-40B4-BE49-F238E27FC236}">
                <a16:creationId xmlns:a16="http://schemas.microsoft.com/office/drawing/2014/main" id="{9F3A459F-AA88-25A3-9191-E77FFD2E4DD0}"/>
              </a:ext>
            </a:extLst>
          </p:cNvPr>
          <p:cNvSpPr>
            <a:spLocks noGrp="1"/>
          </p:cNvSpPr>
          <p:nvPr>
            <p:ph idx="1"/>
          </p:nvPr>
        </p:nvSpPr>
        <p:spPr/>
        <p:txBody>
          <a:bodyPr/>
          <a:lstStyle/>
          <a:p>
            <a:r>
              <a:rPr lang="en-US" u="none" strike="noStrike" baseline="0" dirty="0">
                <a:cs typeface="Times New Roman" panose="02020603050405020304" pitchFamily="18" charset="0"/>
              </a:rPr>
              <a:t>Codes of ethics and codes of conduct</a:t>
            </a:r>
          </a:p>
          <a:p>
            <a:pPr algn="l"/>
            <a:r>
              <a:rPr lang="en-US" b="0" i="0" u="none" strike="noStrike" baseline="0" dirty="0"/>
              <a:t>1. Its provisions must be in the public interest and not be inconsistent with the law of the land.</a:t>
            </a:r>
          </a:p>
          <a:p>
            <a:pPr algn="l"/>
            <a:r>
              <a:rPr lang="en-US" b="0" i="0" u="none" strike="noStrike" baseline="0" dirty="0"/>
              <a:t>2. Its provisions must be generally acceptable to members of the profession.</a:t>
            </a:r>
          </a:p>
          <a:p>
            <a:pPr algn="l"/>
            <a:r>
              <a:rPr lang="en-US" b="0" i="0" u="none" strike="noStrike" baseline="0" dirty="0"/>
              <a:t>3. It must be precise, in the sense that it should be possible to establish convincingly whether or not an act violates the code.</a:t>
            </a:r>
          </a:p>
          <a:p>
            <a:pPr algn="l"/>
            <a:r>
              <a:rPr lang="en-US" b="0" i="0" u="none" strike="noStrike" baseline="0" dirty="0"/>
              <a:t>4. Its scope should be limited to professional conduct.</a:t>
            </a:r>
          </a:p>
          <a:p>
            <a:pPr algn="l"/>
            <a:r>
              <a:rPr lang="en-US" b="0" i="0" u="none" strike="noStrike" baseline="0" dirty="0"/>
              <a:t>5. It should be accurately worded.</a:t>
            </a:r>
            <a:endParaRPr lang="en-PK" sz="4000" dirty="0">
              <a:cs typeface="Times New Roman" panose="02020603050405020304" pitchFamily="18" charset="0"/>
            </a:endParaRPr>
          </a:p>
        </p:txBody>
      </p:sp>
    </p:spTree>
    <p:extLst>
      <p:ext uri="{BB962C8B-B14F-4D97-AF65-F5344CB8AC3E}">
        <p14:creationId xmlns:p14="http://schemas.microsoft.com/office/powerpoint/2010/main" val="2653169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FB5BA-59DA-596F-944E-E62BF4062770}"/>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51D7A062-66B1-1185-F2A8-088048DCF032}"/>
              </a:ext>
            </a:extLst>
          </p:cNvPr>
          <p:cNvSpPr>
            <a:spLocks noGrp="1"/>
          </p:cNvSpPr>
          <p:nvPr>
            <p:ph idx="1"/>
          </p:nvPr>
        </p:nvSpPr>
        <p:spPr/>
        <p:txBody>
          <a:bodyPr>
            <a:normAutofit/>
          </a:bodyPr>
          <a:lstStyle/>
          <a:p>
            <a:pPr algn="l"/>
            <a:r>
              <a:rPr lang="en-US" b="0" i="1" u="none" strike="noStrike" baseline="0" dirty="0"/>
              <a:t>As an ACM member I will…</a:t>
            </a:r>
          </a:p>
          <a:p>
            <a:pPr algn="l"/>
            <a:r>
              <a:rPr lang="en-US" b="0" i="0" u="none" strike="noStrike" baseline="0" dirty="0"/>
              <a:t>1.1 Contribute to society and human well-being;</a:t>
            </a:r>
          </a:p>
          <a:p>
            <a:pPr algn="l"/>
            <a:r>
              <a:rPr lang="en-US" b="0" i="0" u="none" strike="noStrike" baseline="0" dirty="0"/>
              <a:t>1.2 Avoid harm to others;</a:t>
            </a:r>
          </a:p>
          <a:p>
            <a:pPr algn="l"/>
            <a:r>
              <a:rPr lang="en-US" b="0" i="0" u="none" strike="noStrike" baseline="0" dirty="0"/>
              <a:t>1.3 Be honest and trustworthy.</a:t>
            </a:r>
          </a:p>
          <a:p>
            <a:pPr algn="l"/>
            <a:r>
              <a:rPr lang="en-US" dirty="0"/>
              <a:t>the first rule in the BCS Code:</a:t>
            </a:r>
          </a:p>
          <a:p>
            <a:pPr algn="l"/>
            <a:r>
              <a:rPr lang="en-US" dirty="0"/>
              <a:t>Members shall in their professional practice safeguard public health and safety and have regard to the protection of the environment</a:t>
            </a:r>
            <a:endParaRPr lang="en-PK" dirty="0"/>
          </a:p>
        </p:txBody>
      </p:sp>
    </p:spTree>
    <p:extLst>
      <p:ext uri="{BB962C8B-B14F-4D97-AF65-F5344CB8AC3E}">
        <p14:creationId xmlns:p14="http://schemas.microsoft.com/office/powerpoint/2010/main" val="3712428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A0C11-6508-7F15-35E4-48793A2A4D5A}"/>
              </a:ext>
            </a:extLst>
          </p:cNvPr>
          <p:cNvSpPr>
            <a:spLocks noGrp="1"/>
          </p:cNvSpPr>
          <p:nvPr>
            <p:ph type="title"/>
          </p:nvPr>
        </p:nvSpPr>
        <p:spPr/>
        <p:txBody>
          <a:bodyPr/>
          <a:lstStyle/>
          <a:p>
            <a:pPr algn="ctr"/>
            <a:r>
              <a:rPr lang="en-US" b="1" dirty="0"/>
              <a:t>IEEE CODE OF CONDUCT</a:t>
            </a:r>
            <a:endParaRPr lang="en-PK" b="1" dirty="0"/>
          </a:p>
        </p:txBody>
      </p:sp>
      <p:sp>
        <p:nvSpPr>
          <p:cNvPr id="3" name="Content Placeholder 2">
            <a:extLst>
              <a:ext uri="{FF2B5EF4-FFF2-40B4-BE49-F238E27FC236}">
                <a16:creationId xmlns:a16="http://schemas.microsoft.com/office/drawing/2014/main" id="{50BE167D-2DDE-447B-0678-62337C230A30}"/>
              </a:ext>
            </a:extLst>
          </p:cNvPr>
          <p:cNvSpPr>
            <a:spLocks noGrp="1"/>
          </p:cNvSpPr>
          <p:nvPr>
            <p:ph idx="1"/>
          </p:nvPr>
        </p:nvSpPr>
        <p:spPr>
          <a:xfrm>
            <a:off x="838200" y="1404851"/>
            <a:ext cx="10515600" cy="4772112"/>
          </a:xfrm>
        </p:spPr>
        <p:txBody>
          <a:bodyPr>
            <a:normAutofit fontScale="77500" lnSpcReduction="20000"/>
          </a:bodyPr>
          <a:lstStyle/>
          <a:p>
            <a:pPr marL="0" indent="0">
              <a:buNone/>
            </a:pPr>
            <a:r>
              <a:rPr lang="en-US" dirty="0"/>
              <a:t>1. Be respectful of others • We will be respectful of others, including IEEE members and IEEE employees, and will act in a professional manner while participating in IEEE activities. • We will be respectful of the privacy of others and the protection of their personal information and data.</a:t>
            </a:r>
          </a:p>
          <a:p>
            <a:endParaRPr lang="en-US" dirty="0"/>
          </a:p>
          <a:p>
            <a:pPr marL="0" indent="0">
              <a:buNone/>
            </a:pPr>
            <a:r>
              <a:rPr lang="en-US" dirty="0"/>
              <a:t>2. Treat people fairly • We will not engage in harassment of any kind, including sexual harassment, or bullying behavior whether in person, via cybertechnology or otherwise. • We will not discriminate against any person because of characteristics protected by law (e.g., age, ancestry, color, disability or handicap, national origin, race, religion, gender, sexual or affectional orientation, gender identity, gender expression, appearance, matriculation, political affiliation, marital status, veteran status). </a:t>
            </a:r>
          </a:p>
          <a:p>
            <a:endParaRPr lang="en-US" dirty="0"/>
          </a:p>
          <a:p>
            <a:pPr marL="0" indent="0">
              <a:buNone/>
            </a:pPr>
            <a:r>
              <a:rPr lang="en-US" dirty="0"/>
              <a:t>3. Avoid injuring others, their property, reputation or employment • We will avoid injuring others, their property, data, reputation, or employment by false or malicious action. • We will not engage in or participate in the spreading of any malicious rumors, defamation or any other verbal or physical abuses, against an IEEE member, employee or other person, whether on the Internet or otherwise.</a:t>
            </a:r>
          </a:p>
          <a:p>
            <a:pPr marL="0" indent="0">
              <a:buNone/>
            </a:pPr>
            <a:endParaRPr lang="en-PK" dirty="0"/>
          </a:p>
        </p:txBody>
      </p:sp>
    </p:spTree>
    <p:extLst>
      <p:ext uri="{BB962C8B-B14F-4D97-AF65-F5344CB8AC3E}">
        <p14:creationId xmlns:p14="http://schemas.microsoft.com/office/powerpoint/2010/main" val="2186247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A12742-48FA-2FA5-546F-4422942120AF}"/>
              </a:ext>
            </a:extLst>
          </p:cNvPr>
          <p:cNvSpPr txBox="1"/>
          <p:nvPr/>
        </p:nvSpPr>
        <p:spPr>
          <a:xfrm>
            <a:off x="1203960" y="939168"/>
            <a:ext cx="9784080" cy="4247317"/>
          </a:xfrm>
          <a:prstGeom prst="rect">
            <a:avLst/>
          </a:prstGeom>
          <a:noFill/>
        </p:spPr>
        <p:txBody>
          <a:bodyPr wrap="square">
            <a:spAutoFit/>
          </a:bodyPr>
          <a:lstStyle/>
          <a:p>
            <a:r>
              <a:rPr lang="en-US" dirty="0"/>
              <a:t>4. Refrain from retaliation • We will not retaliate against any IEEE member, employee or other person who reports an act of misconduct, or who reports any violation of the IEEE Code of Ethics or this Code of Conduct. • We will not retaliate against any person who makes IEEE aware of the violation of any laws, rules or regulations in connection with IEEE activities.</a:t>
            </a:r>
          </a:p>
          <a:p>
            <a:endParaRPr lang="en-US" dirty="0"/>
          </a:p>
          <a:p>
            <a:r>
              <a:rPr lang="en-US" dirty="0"/>
              <a:t>5. Comply with applicable laws in all countries where IEEE does business and with the IEEE policies and procedures • We will comply with all applicable laws, rules and regulations governing IEEE’s business conduct worldwide and all relevant procedures established by IEEE whenever and wherever we are acting on behalf of IEEE, or participating in IEEE activities, including but not limited to the following: a) Rejecting bribery in all forms. b) Avoiding real or perceived conflicts of interest whenever possible, and disclosing them to affected parties when they do exist. c) Protecting confidential information belonging to IEEE and personal information belonging to IEEE members, employees and other persons. d) Not agreeing with competing persons to fix prices or reduce price competition through allocation of customers or markets, manipulate bids in any competitive bidding process, or engage in other acts that result in restraining trade. e) Not misusing or infringing the intellectual property of others.</a:t>
            </a:r>
            <a:endParaRPr lang="en-PK" dirty="0"/>
          </a:p>
        </p:txBody>
      </p:sp>
    </p:spTree>
    <p:extLst>
      <p:ext uri="{BB962C8B-B14F-4D97-AF65-F5344CB8AC3E}">
        <p14:creationId xmlns:p14="http://schemas.microsoft.com/office/powerpoint/2010/main" val="4346236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4797A-9250-5166-734D-A82445A60A70}"/>
              </a:ext>
            </a:extLst>
          </p:cNvPr>
          <p:cNvSpPr>
            <a:spLocks noGrp="1"/>
          </p:cNvSpPr>
          <p:nvPr>
            <p:ph type="title"/>
          </p:nvPr>
        </p:nvSpPr>
        <p:spPr/>
        <p:txBody>
          <a:bodyPr/>
          <a:lstStyle/>
          <a:p>
            <a:r>
              <a:rPr lang="en-US" dirty="0"/>
              <a:t>ACM Code of Ethics and Professional Conduct</a:t>
            </a:r>
            <a:endParaRPr lang="en-PK" dirty="0"/>
          </a:p>
        </p:txBody>
      </p:sp>
      <p:sp>
        <p:nvSpPr>
          <p:cNvPr id="3" name="Content Placeholder 2">
            <a:extLst>
              <a:ext uri="{FF2B5EF4-FFF2-40B4-BE49-F238E27FC236}">
                <a16:creationId xmlns:a16="http://schemas.microsoft.com/office/drawing/2014/main" id="{F16E27F9-E214-F387-29D9-806D54488521}"/>
              </a:ext>
            </a:extLst>
          </p:cNvPr>
          <p:cNvSpPr>
            <a:spLocks noGrp="1"/>
          </p:cNvSpPr>
          <p:nvPr>
            <p:ph idx="1"/>
          </p:nvPr>
        </p:nvSpPr>
        <p:spPr/>
        <p:txBody>
          <a:bodyPr>
            <a:normAutofit fontScale="25000" lnSpcReduction="20000"/>
          </a:bodyPr>
          <a:lstStyle/>
          <a:p>
            <a:pPr algn="l">
              <a:buFont typeface="Arial" panose="020B0604020202020204" pitchFamily="34" charset="0"/>
              <a:buChar char="•"/>
            </a:pPr>
            <a:r>
              <a:rPr lang="en-US" sz="11200" b="0" i="0" u="none" strike="noStrike" dirty="0">
                <a:solidFill>
                  <a:srgbClr val="005A83"/>
                </a:solidFill>
                <a:effectLst/>
                <a:latin typeface="inherit"/>
                <a:hlinkClick r:id="rId2"/>
              </a:rPr>
              <a:t>1. GENERAL ETHICAL PRINCIPLES.</a:t>
            </a:r>
            <a:endParaRPr lang="en-US" sz="11200" b="0" i="0" dirty="0">
              <a:solidFill>
                <a:srgbClr val="222222"/>
              </a:solidFill>
              <a:effectLst/>
              <a:latin typeface="inherit"/>
            </a:endParaRPr>
          </a:p>
          <a:p>
            <a:pPr algn="l">
              <a:buFont typeface="Arial" panose="020B0604020202020204" pitchFamily="34" charset="0"/>
              <a:buChar char="•"/>
            </a:pPr>
            <a:r>
              <a:rPr lang="en-US" sz="11200" b="0" i="0" u="none" strike="noStrike" dirty="0">
                <a:solidFill>
                  <a:srgbClr val="005A83"/>
                </a:solidFill>
                <a:effectLst/>
                <a:latin typeface="inherit"/>
                <a:hlinkClick r:id="rId3"/>
              </a:rPr>
              <a:t>1.1 Contribute to society and to human well-being, acknowledging that all people are stakeholders in computing.</a:t>
            </a:r>
            <a:endParaRPr lang="en-US" sz="11200" b="0" i="0" dirty="0">
              <a:solidFill>
                <a:srgbClr val="222222"/>
              </a:solidFill>
              <a:effectLst/>
              <a:latin typeface="inherit"/>
            </a:endParaRPr>
          </a:p>
          <a:p>
            <a:pPr algn="l">
              <a:buFont typeface="Arial" panose="020B0604020202020204" pitchFamily="34" charset="0"/>
              <a:buChar char="•"/>
            </a:pPr>
            <a:r>
              <a:rPr lang="en-US" sz="11200" b="0" i="0" u="none" strike="noStrike" dirty="0">
                <a:solidFill>
                  <a:srgbClr val="005A83"/>
                </a:solidFill>
                <a:effectLst/>
                <a:latin typeface="inherit"/>
                <a:hlinkClick r:id="rId4"/>
              </a:rPr>
              <a:t>1.2 Avoid harm.</a:t>
            </a:r>
            <a:endParaRPr lang="en-US" sz="11200" b="0" i="0" dirty="0">
              <a:solidFill>
                <a:srgbClr val="222222"/>
              </a:solidFill>
              <a:effectLst/>
              <a:latin typeface="inherit"/>
            </a:endParaRPr>
          </a:p>
          <a:p>
            <a:pPr algn="l">
              <a:buFont typeface="Arial" panose="020B0604020202020204" pitchFamily="34" charset="0"/>
              <a:buChar char="•"/>
            </a:pPr>
            <a:r>
              <a:rPr lang="en-US" sz="11200" b="0" i="0" u="none" strike="noStrike" dirty="0">
                <a:solidFill>
                  <a:srgbClr val="005A83"/>
                </a:solidFill>
                <a:effectLst/>
                <a:latin typeface="inherit"/>
                <a:hlinkClick r:id="rId5"/>
              </a:rPr>
              <a:t>1.3 Be honest and trustworthy.</a:t>
            </a:r>
            <a:endParaRPr lang="en-US" sz="11200" b="0" i="0" dirty="0">
              <a:solidFill>
                <a:srgbClr val="222222"/>
              </a:solidFill>
              <a:effectLst/>
              <a:latin typeface="inherit"/>
            </a:endParaRPr>
          </a:p>
          <a:p>
            <a:pPr algn="l">
              <a:buFont typeface="Arial" panose="020B0604020202020204" pitchFamily="34" charset="0"/>
              <a:buChar char="•"/>
            </a:pPr>
            <a:r>
              <a:rPr lang="en-US" sz="11200" b="0" i="0" u="none" strike="noStrike" dirty="0">
                <a:solidFill>
                  <a:srgbClr val="005A83"/>
                </a:solidFill>
                <a:effectLst/>
                <a:latin typeface="inherit"/>
                <a:hlinkClick r:id="rId6"/>
              </a:rPr>
              <a:t>1.4 Be fair and take action not to discriminate.</a:t>
            </a:r>
            <a:endParaRPr lang="en-US" sz="11200" b="0" i="0" dirty="0">
              <a:solidFill>
                <a:srgbClr val="222222"/>
              </a:solidFill>
              <a:effectLst/>
              <a:latin typeface="inherit"/>
            </a:endParaRPr>
          </a:p>
          <a:p>
            <a:pPr algn="l">
              <a:buFont typeface="Arial" panose="020B0604020202020204" pitchFamily="34" charset="0"/>
              <a:buChar char="•"/>
            </a:pPr>
            <a:r>
              <a:rPr lang="en-US" sz="11200" b="0" i="0" u="none" strike="noStrike" dirty="0">
                <a:solidFill>
                  <a:srgbClr val="005A83"/>
                </a:solidFill>
                <a:effectLst/>
                <a:latin typeface="inherit"/>
                <a:hlinkClick r:id="rId7"/>
              </a:rPr>
              <a:t>1.5 Respect the work required to produce new ideas, inventions, creative works, and computing artifacts.</a:t>
            </a:r>
            <a:endParaRPr lang="en-US" sz="11200" b="0" i="0" dirty="0">
              <a:solidFill>
                <a:srgbClr val="222222"/>
              </a:solidFill>
              <a:effectLst/>
              <a:latin typeface="inherit"/>
            </a:endParaRPr>
          </a:p>
          <a:p>
            <a:pPr algn="l">
              <a:buFont typeface="Arial" panose="020B0604020202020204" pitchFamily="34" charset="0"/>
              <a:buChar char="•"/>
            </a:pPr>
            <a:r>
              <a:rPr lang="en-US" sz="11200" b="0" i="0" u="none" strike="noStrike" dirty="0">
                <a:solidFill>
                  <a:srgbClr val="005A83"/>
                </a:solidFill>
                <a:effectLst/>
                <a:latin typeface="inherit"/>
                <a:hlinkClick r:id="rId8"/>
              </a:rPr>
              <a:t>1.6 Respect privacy.</a:t>
            </a:r>
            <a:endParaRPr lang="en-US" sz="11200" b="0" i="0" dirty="0">
              <a:solidFill>
                <a:srgbClr val="222222"/>
              </a:solidFill>
              <a:effectLst/>
              <a:latin typeface="inherit"/>
            </a:endParaRPr>
          </a:p>
          <a:p>
            <a:pPr algn="l">
              <a:buFont typeface="Arial" panose="020B0604020202020204" pitchFamily="34" charset="0"/>
              <a:buChar char="•"/>
            </a:pPr>
            <a:r>
              <a:rPr lang="en-US" sz="11200" b="0" i="0" u="none" strike="noStrike" dirty="0">
                <a:solidFill>
                  <a:srgbClr val="005A83"/>
                </a:solidFill>
                <a:effectLst/>
                <a:latin typeface="inherit"/>
                <a:hlinkClick r:id="rId9"/>
              </a:rPr>
              <a:t>1.7 Honor confidentiality.</a:t>
            </a:r>
            <a:endParaRPr lang="en-US" sz="11200" b="0" i="0" dirty="0">
              <a:solidFill>
                <a:srgbClr val="222222"/>
              </a:solidFill>
              <a:effectLst/>
              <a:latin typeface="inherit"/>
            </a:endParaRPr>
          </a:p>
          <a:p>
            <a:endParaRPr lang="en-PK" dirty="0"/>
          </a:p>
        </p:txBody>
      </p:sp>
    </p:spTree>
    <p:extLst>
      <p:ext uri="{BB962C8B-B14F-4D97-AF65-F5344CB8AC3E}">
        <p14:creationId xmlns:p14="http://schemas.microsoft.com/office/powerpoint/2010/main" val="1223158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D9617-3537-40B5-22E9-762D2A907253}"/>
              </a:ext>
            </a:extLst>
          </p:cNvPr>
          <p:cNvSpPr>
            <a:spLocks noGrp="1"/>
          </p:cNvSpPr>
          <p:nvPr>
            <p:ph type="title"/>
          </p:nvPr>
        </p:nvSpPr>
        <p:spPr>
          <a:xfrm>
            <a:off x="838200" y="365126"/>
            <a:ext cx="10515600" cy="175202"/>
          </a:xfrm>
        </p:spPr>
        <p:txBody>
          <a:bodyPr>
            <a:normAutofit fontScale="90000"/>
          </a:bodyPr>
          <a:lstStyle/>
          <a:p>
            <a:endParaRPr lang="en-PK" dirty="0"/>
          </a:p>
        </p:txBody>
      </p:sp>
      <p:sp>
        <p:nvSpPr>
          <p:cNvPr id="3" name="Content Placeholder 2">
            <a:extLst>
              <a:ext uri="{FF2B5EF4-FFF2-40B4-BE49-F238E27FC236}">
                <a16:creationId xmlns:a16="http://schemas.microsoft.com/office/drawing/2014/main" id="{413BFCEF-2138-8A86-4773-092A92F172F0}"/>
              </a:ext>
            </a:extLst>
          </p:cNvPr>
          <p:cNvSpPr>
            <a:spLocks noGrp="1"/>
          </p:cNvSpPr>
          <p:nvPr>
            <p:ph idx="1"/>
          </p:nvPr>
        </p:nvSpPr>
        <p:spPr>
          <a:xfrm>
            <a:off x="838200" y="540328"/>
            <a:ext cx="10515600" cy="5636635"/>
          </a:xfrm>
        </p:spPr>
        <p:txBody>
          <a:bodyPr>
            <a:normAutofit fontScale="25000" lnSpcReduction="20000"/>
          </a:bodyPr>
          <a:lstStyle/>
          <a:p>
            <a:pPr algn="l">
              <a:buFont typeface="Arial" panose="020B0604020202020204" pitchFamily="34" charset="0"/>
              <a:buChar char="•"/>
            </a:pPr>
            <a:r>
              <a:rPr lang="en-US" sz="9600" b="0" i="0" u="none" strike="noStrike" dirty="0">
                <a:solidFill>
                  <a:srgbClr val="005A83"/>
                </a:solidFill>
                <a:effectLst/>
                <a:latin typeface="inherit"/>
                <a:hlinkClick r:id="rId2"/>
              </a:rPr>
              <a:t>2. PROFESSIONAL RESPONSIBILITIES.</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3"/>
              </a:rPr>
              <a:t>2.1 Strive to achieve high quality in both the processes and products of professional work.</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4"/>
              </a:rPr>
              <a:t>2.2 Maintain high standards of professional competence, conduct, and ethical practice.</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5"/>
              </a:rPr>
              <a:t>2.3 Know and respect existing rules pertaining to professional work.</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6"/>
              </a:rPr>
              <a:t>2.4 Accept and provide appropriate professional review.</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7"/>
              </a:rPr>
              <a:t>2.5 Give comprehensive and thorough evaluations of computer systems and their impacts, including analysis of possible risks.</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8"/>
              </a:rPr>
              <a:t>2.6 Perform work only in areas of competence.</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9"/>
              </a:rPr>
              <a:t>2.7 Foster public awareness and understanding of computing, related technologies, and their consequences.</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10"/>
              </a:rPr>
              <a:t>2.8 Access computing and communication resources only when authorized or when compelled by the public good.</a:t>
            </a:r>
            <a:endParaRPr lang="en-US" sz="9600" b="0" i="0" dirty="0">
              <a:solidFill>
                <a:srgbClr val="222222"/>
              </a:solidFill>
              <a:effectLst/>
              <a:latin typeface="inherit"/>
            </a:endParaRPr>
          </a:p>
          <a:p>
            <a:pPr algn="l">
              <a:buFont typeface="Arial" panose="020B0604020202020204" pitchFamily="34" charset="0"/>
              <a:buChar char="•"/>
            </a:pPr>
            <a:r>
              <a:rPr lang="en-US" sz="9600" b="0" i="0" u="none" strike="noStrike" dirty="0">
                <a:solidFill>
                  <a:srgbClr val="005A83"/>
                </a:solidFill>
                <a:effectLst/>
                <a:latin typeface="inherit"/>
                <a:hlinkClick r:id="rId11"/>
              </a:rPr>
              <a:t>2.9 Design and implement systems that are robustly and usably secure.</a:t>
            </a:r>
            <a:endParaRPr lang="en-US" sz="9600" b="0" i="0" dirty="0">
              <a:solidFill>
                <a:srgbClr val="222222"/>
              </a:solidFill>
              <a:effectLst/>
              <a:latin typeface="inherit"/>
            </a:endParaRPr>
          </a:p>
          <a:p>
            <a:endParaRPr lang="en-PK" dirty="0"/>
          </a:p>
        </p:txBody>
      </p:sp>
    </p:spTree>
    <p:extLst>
      <p:ext uri="{BB962C8B-B14F-4D97-AF65-F5344CB8AC3E}">
        <p14:creationId xmlns:p14="http://schemas.microsoft.com/office/powerpoint/2010/main" val="184352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90B7E-CA19-FAE5-3E30-4C40059746D1}"/>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0529088-3118-B097-E95C-2A65C9083408}"/>
              </a:ext>
            </a:extLst>
          </p:cNvPr>
          <p:cNvSpPr>
            <a:spLocks noGrp="1"/>
          </p:cNvSpPr>
          <p:nvPr>
            <p:ph idx="1"/>
          </p:nvPr>
        </p:nvSpPr>
        <p:spPr>
          <a:xfrm>
            <a:off x="838200" y="814647"/>
            <a:ext cx="10515600" cy="5362316"/>
          </a:xfrm>
        </p:spPr>
        <p:txBody>
          <a:bodyPr>
            <a:normAutofit fontScale="77500" lnSpcReduction="20000"/>
          </a:bodyPr>
          <a:lstStyle/>
          <a:p>
            <a:pPr algn="l">
              <a:buFont typeface="Arial" panose="020B0604020202020204" pitchFamily="34" charset="0"/>
              <a:buChar char="•"/>
            </a:pPr>
            <a:r>
              <a:rPr lang="en-US" sz="2800" b="0" i="0" u="none" strike="noStrike" dirty="0">
                <a:solidFill>
                  <a:srgbClr val="005A83"/>
                </a:solidFill>
                <a:effectLst/>
                <a:latin typeface="inherit"/>
                <a:hlinkClick r:id="rId2"/>
              </a:rPr>
              <a:t>3. PROFESSIONAL LEADERSHIP PRINCIPLES.</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3"/>
              </a:rPr>
              <a:t>3.1 Ensure that the public good is the central concern during all professional computing work.</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4"/>
              </a:rPr>
              <a:t>3.2 Articulate, encourage acceptance of, and evaluate fulfillment of social responsibilities by members of the organization or group.</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5"/>
              </a:rPr>
              <a:t>3.3 Manage personnel and resources to enhance the quality of working life.</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6"/>
              </a:rPr>
              <a:t>3.4 Articulate, apply, and support policies and processes that reflect the principles of the Code.</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7"/>
              </a:rPr>
              <a:t>3.5 Create opportunities for members of the organization or group to grow as professionals.</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8"/>
              </a:rPr>
              <a:t>3.6 Use care when modifying or retiring systems.</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9"/>
              </a:rPr>
              <a:t>3.7 Recognize and take special care of systems that become integrated into the infrastructure of society.</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10"/>
              </a:rPr>
              <a:t>4. COMPLIANCE WITH THE CODE.</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11"/>
              </a:rPr>
              <a:t>4.1 Uphold, promote, and respect the principles of the Code.</a:t>
            </a:r>
            <a:endParaRPr lang="en-US" sz="2800" b="0" i="0" dirty="0">
              <a:solidFill>
                <a:srgbClr val="222222"/>
              </a:solidFill>
              <a:effectLst/>
              <a:latin typeface="inherit"/>
            </a:endParaRPr>
          </a:p>
          <a:p>
            <a:pPr algn="l">
              <a:buFont typeface="Arial" panose="020B0604020202020204" pitchFamily="34" charset="0"/>
              <a:buChar char="•"/>
            </a:pPr>
            <a:r>
              <a:rPr lang="en-US" sz="2800" b="0" i="0" u="none" strike="noStrike" dirty="0">
                <a:solidFill>
                  <a:srgbClr val="005A83"/>
                </a:solidFill>
                <a:effectLst/>
                <a:latin typeface="inherit"/>
                <a:hlinkClick r:id="rId12"/>
              </a:rPr>
              <a:t>4.2 Treat violations of the Code as </a:t>
            </a:r>
            <a:endParaRPr lang="en-US" sz="2800" b="0" i="0" dirty="0">
              <a:solidFill>
                <a:srgbClr val="222222"/>
              </a:solidFill>
              <a:effectLst/>
              <a:latin typeface="inherit"/>
            </a:endParaRPr>
          </a:p>
          <a:p>
            <a:endParaRPr lang="en-PK" dirty="0"/>
          </a:p>
        </p:txBody>
      </p:sp>
    </p:spTree>
    <p:extLst>
      <p:ext uri="{BB962C8B-B14F-4D97-AF65-F5344CB8AC3E}">
        <p14:creationId xmlns:p14="http://schemas.microsoft.com/office/powerpoint/2010/main" val="2248397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1BFE5-2A3D-A3EF-D3E8-9B63293311A9}"/>
              </a:ext>
            </a:extLst>
          </p:cNvPr>
          <p:cNvSpPr>
            <a:spLocks noGrp="1"/>
          </p:cNvSpPr>
          <p:nvPr>
            <p:ph type="title"/>
          </p:nvPr>
        </p:nvSpPr>
        <p:spPr/>
        <p:txBody>
          <a:bodyPr/>
          <a:lstStyle/>
          <a:p>
            <a:pPr algn="ctr"/>
            <a:r>
              <a:rPr lang="en-US" b="1" dirty="0"/>
              <a:t>BCS Code of Conduct</a:t>
            </a:r>
            <a:endParaRPr lang="en-PK" b="1" dirty="0"/>
          </a:p>
        </p:txBody>
      </p:sp>
      <p:sp>
        <p:nvSpPr>
          <p:cNvPr id="3" name="Content Placeholder 2">
            <a:extLst>
              <a:ext uri="{FF2B5EF4-FFF2-40B4-BE49-F238E27FC236}">
                <a16:creationId xmlns:a16="http://schemas.microsoft.com/office/drawing/2014/main" id="{F584E28D-CB5D-76FE-59DF-A7E26FD26374}"/>
              </a:ext>
            </a:extLst>
          </p:cNvPr>
          <p:cNvSpPr>
            <a:spLocks noGrp="1"/>
          </p:cNvSpPr>
          <p:nvPr>
            <p:ph idx="1"/>
          </p:nvPr>
        </p:nvSpPr>
        <p:spPr/>
        <p:txBody>
          <a:bodyPr>
            <a:normAutofit fontScale="85000" lnSpcReduction="10000"/>
          </a:bodyPr>
          <a:lstStyle/>
          <a:p>
            <a:r>
              <a:rPr lang="en-US" dirty="0"/>
              <a:t>This Code of Conduct: • sets out the professional standards required by BCS as a condition of membership. • applies to all members, irrespective of their membership grade, the role they fulfil, or the jurisdiction where they are employed or discharge their contractual obligations. • governs the conduct of the individual, not the nature of the business or ethics of any Relevant Authority* . </a:t>
            </a:r>
          </a:p>
          <a:p>
            <a:endParaRPr lang="en-US" dirty="0"/>
          </a:p>
          <a:p>
            <a:pPr marL="0" indent="0">
              <a:buNone/>
            </a:pPr>
            <a:r>
              <a:rPr lang="en-US" dirty="0"/>
              <a:t>1. Public Interest You shall: a. have due regard for public health, privacy, security and wellbeing of others and the environment. b. have due regard for the legitimate rights of Third Parties. c. conduct your professional activities without discrimination on the grounds of sex, sexual orientation, marital status, nationality, </a:t>
            </a:r>
            <a:r>
              <a:rPr lang="en-US" dirty="0" err="1"/>
              <a:t>colour</a:t>
            </a:r>
            <a:r>
              <a:rPr lang="en-US" dirty="0"/>
              <a:t>, race, ethnic origin, religion, age or disability, or of any other condition or requirement. d. promote equal access to the benefits of IT and seek to promote the inclusion of all sectors in society wherever opportunities arise.</a:t>
            </a:r>
            <a:endParaRPr lang="en-PK" dirty="0"/>
          </a:p>
        </p:txBody>
      </p:sp>
    </p:spTree>
    <p:extLst>
      <p:ext uri="{BB962C8B-B14F-4D97-AF65-F5344CB8AC3E}">
        <p14:creationId xmlns:p14="http://schemas.microsoft.com/office/powerpoint/2010/main" val="151544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AFD79E-991F-F6D2-C88B-0AB66CA5C21D}"/>
              </a:ext>
            </a:extLst>
          </p:cNvPr>
          <p:cNvSpPr txBox="1"/>
          <p:nvPr/>
        </p:nvSpPr>
        <p:spPr>
          <a:xfrm>
            <a:off x="947652" y="415880"/>
            <a:ext cx="9975272" cy="6124754"/>
          </a:xfrm>
          <a:prstGeom prst="rect">
            <a:avLst/>
          </a:prstGeom>
          <a:noFill/>
        </p:spPr>
        <p:txBody>
          <a:bodyPr wrap="square">
            <a:spAutoFit/>
          </a:bodyPr>
          <a:lstStyle/>
          <a:p>
            <a:r>
              <a:rPr lang="en-US" sz="2800" dirty="0"/>
              <a:t>2. Professional Competence and Integrity You shall: a. only undertake to do work or provide a service that is within your professional competence. b. NOT claim any level of competence that you do not possess. c. develop your professional knowledge, skills and competence on a continuing basis, maintaining awareness of technological developments, procedures, and standards that are relevant to your field. d. ensure that you have the knowledge and understanding of Legislation* and that you comply with such Legislation, in carrying out your professional responsibilities. e. respect and value alternative viewpoints and, seek, accept and offer honest criticisms of work. f. avoid injuring others, their property, reputation, or employment by false or malicious or negligent action or inaction. g. reject and will not make any offer of bribery or unethical inducement.</a:t>
            </a:r>
            <a:endParaRPr lang="en-PK" sz="2800" dirty="0"/>
          </a:p>
        </p:txBody>
      </p:sp>
    </p:spTree>
    <p:extLst>
      <p:ext uri="{BB962C8B-B14F-4D97-AF65-F5344CB8AC3E}">
        <p14:creationId xmlns:p14="http://schemas.microsoft.com/office/powerpoint/2010/main" val="567371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AF5AA7-7EB3-6829-E827-9D335F8E5641}"/>
              </a:ext>
            </a:extLst>
          </p:cNvPr>
          <p:cNvSpPr txBox="1"/>
          <p:nvPr/>
        </p:nvSpPr>
        <p:spPr>
          <a:xfrm>
            <a:off x="1062644" y="302359"/>
            <a:ext cx="10066712" cy="6555641"/>
          </a:xfrm>
          <a:prstGeom prst="rect">
            <a:avLst/>
          </a:prstGeom>
          <a:noFill/>
        </p:spPr>
        <p:txBody>
          <a:bodyPr wrap="square">
            <a:spAutoFit/>
          </a:bodyPr>
          <a:lstStyle/>
          <a:p>
            <a:r>
              <a:rPr lang="en-US" sz="2800" dirty="0"/>
              <a:t>3. Duty to Relevant Authority You shall: a. carry out your professional responsibilities with due care and diligence in accordance with the Relevant Authority’s requirements whilst exercising your professional judgement at all times. b. seek to avoid any situation that may give rise to a conflict of interest between you and your Relevant Authority. c. accept professional responsibility for your work and for the work of colleagues who are defined in a given context as working under your supervision. d. NOT disclose or </a:t>
            </a:r>
            <a:r>
              <a:rPr lang="en-US" sz="2800" dirty="0" err="1"/>
              <a:t>authorise</a:t>
            </a:r>
            <a:r>
              <a:rPr lang="en-US" sz="2800" dirty="0"/>
              <a:t> to be disclosed, or use for personal gain, or to benefit a third party, confidential information except with the permission of your Relevant Authority, or as required by Legislation. e. NOT misrepresent or withhold information on the performance of products, systems or services (unless lawfully bound by a duty of confidentiality not to disclose such information), or take advantage of the lack of relevant knowledge or inexperience of others.</a:t>
            </a:r>
            <a:endParaRPr lang="en-PK" sz="2800" dirty="0"/>
          </a:p>
        </p:txBody>
      </p:sp>
    </p:spTree>
    <p:extLst>
      <p:ext uri="{BB962C8B-B14F-4D97-AF65-F5344CB8AC3E}">
        <p14:creationId xmlns:p14="http://schemas.microsoft.com/office/powerpoint/2010/main" val="10895201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05942F-DBDC-54E4-58F2-F8382B2DB1D8}"/>
              </a:ext>
            </a:extLst>
          </p:cNvPr>
          <p:cNvSpPr txBox="1"/>
          <p:nvPr/>
        </p:nvSpPr>
        <p:spPr>
          <a:xfrm>
            <a:off x="889462" y="446176"/>
            <a:ext cx="10482349" cy="5509200"/>
          </a:xfrm>
          <a:prstGeom prst="rect">
            <a:avLst/>
          </a:prstGeom>
          <a:noFill/>
        </p:spPr>
        <p:txBody>
          <a:bodyPr wrap="square">
            <a:spAutoFit/>
          </a:bodyPr>
          <a:lstStyle/>
          <a:p>
            <a:r>
              <a:rPr lang="en-US" sz="3200" dirty="0"/>
              <a:t>4. Duty to the Profession You shall: a. accept your personal duty to uphold the reputation of the profession and not take any action which could bring the profession into disrepute. b. seek to improve professional standards through participation in their development, use and enforcement. c. uphold the reputation and good standing of BCS, the Chartered Institute for IT. d. act with integrity and respect in your professional relationships with all members of BCS and with members of other professions with whom you work in a professional capacity. e. encourage and support fellow members in their professional development.</a:t>
            </a:r>
            <a:endParaRPr lang="en-PK" sz="3200" dirty="0"/>
          </a:p>
        </p:txBody>
      </p:sp>
    </p:spTree>
    <p:extLst>
      <p:ext uri="{BB962C8B-B14F-4D97-AF65-F5344CB8AC3E}">
        <p14:creationId xmlns:p14="http://schemas.microsoft.com/office/powerpoint/2010/main" val="4173432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3201</TotalTime>
  <Words>2504</Words>
  <Application>Microsoft Office PowerPoint</Application>
  <PresentationFormat>Widescreen</PresentationFormat>
  <Paragraphs>143</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Calibri Light</vt:lpstr>
      <vt:lpstr>inherit</vt:lpstr>
      <vt:lpstr>Times New Roman</vt:lpstr>
      <vt:lpstr>TimesNewRomanPSMT</vt:lpstr>
      <vt:lpstr>Office Theme</vt:lpstr>
      <vt:lpstr>Profession and Professional Bodies</vt:lpstr>
      <vt:lpstr>PowerPoint Presentation</vt:lpstr>
      <vt:lpstr>PowerPoint Presentation</vt:lpstr>
      <vt:lpstr>Development of Engineering Profession</vt:lpstr>
      <vt:lpstr>Professional Qualifications</vt:lpstr>
      <vt:lpstr>Course Accreditation</vt:lpstr>
      <vt:lpstr>The Engineering Applications Requirements in the Educational Institutions in UK</vt:lpstr>
      <vt:lpstr>The BCS Professional Development Scheme</vt:lpstr>
      <vt:lpstr>Washington Accord </vt:lpstr>
      <vt:lpstr>The position of Software Engineering in USA</vt:lpstr>
      <vt:lpstr>Professional bodies and accreditation in the USA</vt:lpstr>
      <vt:lpstr>PowerPoint Presentation</vt:lpstr>
      <vt:lpstr>Ethics and software engineering</vt:lpstr>
      <vt:lpstr>Strands in the Ethical Thinking</vt:lpstr>
      <vt:lpstr>Sources of Moral Authority</vt:lpstr>
      <vt:lpstr>Absolutism v relativism</vt:lpstr>
      <vt:lpstr>The doctrine of double effect</vt:lpstr>
      <vt:lpstr>Prefessional Codes of conduct</vt:lpstr>
      <vt:lpstr>PowerPoint Presentation</vt:lpstr>
      <vt:lpstr>IEEE CODE OF CONDUCT</vt:lpstr>
      <vt:lpstr>PowerPoint Presentation</vt:lpstr>
      <vt:lpstr>ACM Code of Ethics and Professional Conduct</vt:lpstr>
      <vt:lpstr>PowerPoint Presentation</vt:lpstr>
      <vt:lpstr>PowerPoint Presentation</vt:lpstr>
      <vt:lpstr>BCS Code of Conduct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 and Professional Bodies</dc:title>
  <dc:creator>Rajeel Amjad</dc:creator>
  <cp:lastModifiedBy>Amjad Hussain</cp:lastModifiedBy>
  <cp:revision>3</cp:revision>
  <dcterms:created xsi:type="dcterms:W3CDTF">2023-08-28T07:46:12Z</dcterms:created>
  <dcterms:modified xsi:type="dcterms:W3CDTF">2024-08-26T18:19:37Z</dcterms:modified>
</cp:coreProperties>
</file>